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1"/>
  </p:notesMasterIdLst>
  <p:sldIdLst>
    <p:sldId id="259" r:id="rId2"/>
    <p:sldId id="481" r:id="rId3"/>
    <p:sldId id="333" r:id="rId4"/>
    <p:sldId id="264" r:id="rId5"/>
    <p:sldId id="334" r:id="rId6"/>
    <p:sldId id="335" r:id="rId7"/>
    <p:sldId id="336" r:id="rId8"/>
    <p:sldId id="575" r:id="rId9"/>
    <p:sldId id="576" r:id="rId10"/>
    <p:sldId id="348" r:id="rId11"/>
    <p:sldId id="489" r:id="rId12"/>
    <p:sldId id="490" r:id="rId13"/>
    <p:sldId id="351" r:id="rId14"/>
    <p:sldId id="577" r:id="rId15"/>
    <p:sldId id="578" r:id="rId16"/>
    <p:sldId id="493" r:id="rId17"/>
    <p:sldId id="579" r:id="rId18"/>
    <p:sldId id="494" r:id="rId19"/>
    <p:sldId id="495" r:id="rId20"/>
    <p:sldId id="580" r:id="rId21"/>
    <p:sldId id="581" r:id="rId22"/>
    <p:sldId id="496" r:id="rId23"/>
    <p:sldId id="499" r:id="rId24"/>
    <p:sldId id="500" r:id="rId25"/>
    <p:sldId id="502" r:id="rId26"/>
    <p:sldId id="501" r:id="rId27"/>
    <p:sldId id="503" r:id="rId28"/>
    <p:sldId id="504" r:id="rId29"/>
    <p:sldId id="505" r:id="rId30"/>
    <p:sldId id="509" r:id="rId31"/>
    <p:sldId id="506" r:id="rId32"/>
    <p:sldId id="510" r:id="rId33"/>
    <p:sldId id="508" r:id="rId34"/>
    <p:sldId id="511" r:id="rId35"/>
    <p:sldId id="374" r:id="rId36"/>
    <p:sldId id="375" r:id="rId37"/>
    <p:sldId id="376" r:id="rId38"/>
    <p:sldId id="377" r:id="rId39"/>
    <p:sldId id="378" r:id="rId40"/>
    <p:sldId id="379" r:id="rId41"/>
    <p:sldId id="583" r:id="rId42"/>
    <p:sldId id="584" r:id="rId43"/>
    <p:sldId id="585" r:id="rId44"/>
    <p:sldId id="586" r:id="rId45"/>
    <p:sldId id="587" r:id="rId46"/>
    <p:sldId id="588" r:id="rId47"/>
    <p:sldId id="519" r:id="rId48"/>
    <p:sldId id="589" r:id="rId49"/>
    <p:sldId id="590" r:id="rId50"/>
    <p:sldId id="591" r:id="rId51"/>
    <p:sldId id="592" r:id="rId52"/>
    <p:sldId id="593" r:id="rId53"/>
    <p:sldId id="594" r:id="rId54"/>
    <p:sldId id="595" r:id="rId55"/>
    <p:sldId id="387" r:id="rId56"/>
    <p:sldId id="388" r:id="rId57"/>
    <p:sldId id="596" r:id="rId58"/>
    <p:sldId id="597" r:id="rId59"/>
    <p:sldId id="598" r:id="rId60"/>
    <p:sldId id="599" r:id="rId61"/>
    <p:sldId id="600" r:id="rId62"/>
    <p:sldId id="526" r:id="rId63"/>
    <p:sldId id="527" r:id="rId64"/>
    <p:sldId id="601" r:id="rId65"/>
    <p:sldId id="396" r:id="rId66"/>
    <p:sldId id="530" r:id="rId67"/>
    <p:sldId id="531" r:id="rId68"/>
    <p:sldId id="533" r:id="rId69"/>
    <p:sldId id="534" r:id="rId70"/>
    <p:sldId id="536" r:id="rId71"/>
    <p:sldId id="419" r:id="rId72"/>
    <p:sldId id="420" r:id="rId73"/>
    <p:sldId id="421" r:id="rId74"/>
    <p:sldId id="603" r:id="rId75"/>
    <p:sldId id="605" r:id="rId76"/>
    <p:sldId id="607" r:id="rId77"/>
    <p:sldId id="611" r:id="rId78"/>
    <p:sldId id="612" r:id="rId79"/>
    <p:sldId id="615" r:id="rId80"/>
    <p:sldId id="616" r:id="rId81"/>
    <p:sldId id="625" r:id="rId82"/>
    <p:sldId id="624" r:id="rId83"/>
    <p:sldId id="627" r:id="rId84"/>
    <p:sldId id="628" r:id="rId85"/>
    <p:sldId id="629" r:id="rId86"/>
    <p:sldId id="630" r:id="rId87"/>
    <p:sldId id="631" r:id="rId88"/>
    <p:sldId id="632" r:id="rId89"/>
    <p:sldId id="411" r:id="rId90"/>
    <p:sldId id="561" r:id="rId91"/>
    <p:sldId id="634" r:id="rId92"/>
    <p:sldId id="562" r:id="rId93"/>
    <p:sldId id="563" r:id="rId94"/>
    <p:sldId id="635" r:id="rId95"/>
    <p:sldId id="438" r:id="rId96"/>
    <p:sldId id="439" r:id="rId97"/>
    <p:sldId id="440" r:id="rId98"/>
    <p:sldId id="441" r:id="rId99"/>
    <p:sldId id="547" r:id="rId100"/>
    <p:sldId id="546" r:id="rId101"/>
    <p:sldId id="550" r:id="rId102"/>
    <p:sldId id="551" r:id="rId103"/>
    <p:sldId id="552" r:id="rId104"/>
    <p:sldId id="553" r:id="rId105"/>
    <p:sldId id="554" r:id="rId106"/>
    <p:sldId id="555" r:id="rId107"/>
    <p:sldId id="556" r:id="rId108"/>
    <p:sldId id="557" r:id="rId109"/>
    <p:sldId id="558" r:id="rId110"/>
    <p:sldId id="559" r:id="rId111"/>
    <p:sldId id="560" r:id="rId112"/>
    <p:sldId id="407" r:id="rId113"/>
    <p:sldId id="408" r:id="rId114"/>
    <p:sldId id="409" r:id="rId115"/>
    <p:sldId id="564" r:id="rId116"/>
    <p:sldId id="565" r:id="rId117"/>
    <p:sldId id="566" r:id="rId118"/>
    <p:sldId id="567" r:id="rId119"/>
    <p:sldId id="568" r:id="rId120"/>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0" d="100"/>
          <a:sy n="100" d="100"/>
        </p:scale>
        <p:origin x="303" y="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234CBF-F2A7-4204-8063-9BFDC9C0A20E}" type="datetimeFigureOut">
              <a:rPr lang="zh-CN" altLang="en-US" smtClean="0"/>
              <a:t>2025/9/18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93859C8-35D3-4E84-A3D2-815F7F7E38B7}" type="slidenum">
              <a:rPr lang="zh-CN" altLang="en-US" smtClean="0"/>
              <a:t>‹#›</a:t>
            </a:fld>
            <a:endParaRPr lang="zh-CN" altLang="en-US"/>
          </a:p>
        </p:txBody>
      </p:sp>
    </p:spTree>
    <p:extLst>
      <p:ext uri="{BB962C8B-B14F-4D97-AF65-F5344CB8AC3E}">
        <p14:creationId xmlns:p14="http://schemas.microsoft.com/office/powerpoint/2010/main" val="3611835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732840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73385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055724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081129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55B11C4-7618-49BA-A742-440409CFAB34}" type="datetimeFigureOut">
              <a:rPr lang="zh-CN" altLang="en-US" smtClean="0"/>
              <a:t>2025/9/18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247008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55B11C4-7618-49BA-A742-440409CFAB34}" type="datetimeFigureOut">
              <a:rPr lang="zh-CN" altLang="en-US" smtClean="0"/>
              <a:t>2025/9/18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687866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55B11C4-7618-49BA-A742-440409CFAB34}" type="datetimeFigureOut">
              <a:rPr lang="zh-CN" altLang="en-US" smtClean="0"/>
              <a:t>2025/9/18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1909344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1249733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883141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156022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4046055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A55B11C4-7618-49BA-A742-440409CFAB34}" type="datetimeFigureOut">
              <a:rPr lang="zh-CN" altLang="en-US" smtClean="0"/>
              <a:t>2025/9/18</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12930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ctrTitle"/>
          </p:nvPr>
        </p:nvSpPr>
        <p:spPr>
          <a:xfrm>
            <a:off x="2062673" y="287383"/>
            <a:ext cx="5018657" cy="693965"/>
          </a:xfrm>
        </p:spPr>
        <p:txBody>
          <a:bodyPr>
            <a:normAutofit fontScale="90000"/>
          </a:bodyPr>
          <a:lstStyle/>
          <a:p>
            <a:pPr eaLnBrk="1" hangingPunct="1"/>
            <a:r>
              <a:rPr lang="zh-CN" altLang="en-US" b="1" dirty="0">
                <a:latin typeface="黑体" pitchFamily="49" charset="-122"/>
                <a:ea typeface="黑体" pitchFamily="49" charset="-122"/>
                <a:cs typeface="+mn-cs"/>
              </a:rPr>
              <a:t>第</a:t>
            </a:r>
            <a:r>
              <a:rPr lang="en-US" altLang="zh-CN" b="1" dirty="0">
                <a:latin typeface="黑体" pitchFamily="49" charset="-122"/>
                <a:ea typeface="黑体" pitchFamily="49" charset="-122"/>
                <a:cs typeface="+mn-cs"/>
              </a:rPr>
              <a:t>2</a:t>
            </a:r>
            <a:r>
              <a:rPr lang="zh-CN" altLang="en-US" b="1" dirty="0">
                <a:latin typeface="黑体" pitchFamily="49" charset="-122"/>
                <a:ea typeface="黑体" pitchFamily="49" charset="-122"/>
                <a:cs typeface="+mn-cs"/>
              </a:rPr>
              <a:t>章 线性表</a:t>
            </a:r>
            <a:endParaRPr lang="en-US" altLang="zh-CN" dirty="0"/>
          </a:p>
        </p:txBody>
      </p:sp>
      <p:cxnSp>
        <p:nvCxnSpPr>
          <p:cNvPr id="8" name="直接连接符 7"/>
          <p:cNvCxnSpPr/>
          <p:nvPr/>
        </p:nvCxnSpPr>
        <p:spPr>
          <a:xfrm>
            <a:off x="-1" y="1064623"/>
            <a:ext cx="9144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835696" y="1347614"/>
            <a:ext cx="5957517" cy="584775"/>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3200" dirty="0">
                <a:latin typeface="微软雅黑" pitchFamily="34" charset="-122"/>
                <a:ea typeface="微软雅黑" pitchFamily="34" charset="-122"/>
              </a:rPr>
              <a:t>2.1 </a:t>
            </a:r>
            <a:r>
              <a:rPr lang="zh-CN" altLang="en-US" sz="3200" dirty="0">
                <a:latin typeface="微软雅黑" pitchFamily="34" charset="-122"/>
                <a:ea typeface="微软雅黑" pitchFamily="34" charset="-122"/>
              </a:rPr>
              <a:t>线性表及其逻辑结构</a:t>
            </a:r>
          </a:p>
        </p:txBody>
      </p:sp>
      <p:sp>
        <p:nvSpPr>
          <p:cNvPr id="10" name="矩形 9"/>
          <p:cNvSpPr/>
          <p:nvPr/>
        </p:nvSpPr>
        <p:spPr>
          <a:xfrm>
            <a:off x="1835696" y="2053009"/>
            <a:ext cx="5957517" cy="584775"/>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marL="0" lvl="1" algn="just"/>
            <a:r>
              <a:rPr lang="zh-CN" altLang="en-US" sz="3200" dirty="0">
                <a:latin typeface="微软雅黑" pitchFamily="34" charset="-122"/>
                <a:ea typeface="微软雅黑" pitchFamily="34" charset="-122"/>
              </a:rPr>
              <a:t>2.2 线性表的顺序存储结构</a:t>
            </a:r>
          </a:p>
        </p:txBody>
      </p:sp>
      <p:sp>
        <p:nvSpPr>
          <p:cNvPr id="11" name="矩形 10"/>
          <p:cNvSpPr/>
          <p:nvPr/>
        </p:nvSpPr>
        <p:spPr>
          <a:xfrm>
            <a:off x="1835696" y="2719215"/>
            <a:ext cx="5957517" cy="584775"/>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marL="0" lvl="1" algn="just"/>
            <a:r>
              <a:rPr lang="zh-CN" altLang="en-US" sz="3200" dirty="0">
                <a:latin typeface="微软雅黑" pitchFamily="34" charset="-122"/>
                <a:ea typeface="微软雅黑" pitchFamily="34" charset="-122"/>
              </a:rPr>
              <a:t>2.3 线性表的链式存储结构</a:t>
            </a:r>
          </a:p>
        </p:txBody>
      </p:sp>
      <p:sp>
        <p:nvSpPr>
          <p:cNvPr id="12" name="矩形 11"/>
          <p:cNvSpPr/>
          <p:nvPr/>
        </p:nvSpPr>
        <p:spPr>
          <a:xfrm>
            <a:off x="1835696" y="3432674"/>
            <a:ext cx="5957517" cy="584775"/>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marL="0" lvl="1" algn="just"/>
            <a:r>
              <a:rPr lang="zh-CN" altLang="en-US" sz="3200" dirty="0">
                <a:latin typeface="微软雅黑" pitchFamily="34" charset="-122"/>
                <a:ea typeface="微软雅黑" pitchFamily="34" charset="-122"/>
              </a:rPr>
              <a:t>2.4 线性表的应用</a:t>
            </a:r>
          </a:p>
        </p:txBody>
      </p:sp>
      <p:sp>
        <p:nvSpPr>
          <p:cNvPr id="3" name="矩形 2">
            <a:extLst>
              <a:ext uri="{FF2B5EF4-FFF2-40B4-BE49-F238E27FC236}">
                <a16:creationId xmlns:a16="http://schemas.microsoft.com/office/drawing/2014/main" id="{2A7A2135-2C05-A715-FE6D-ABCB35466D03}"/>
              </a:ext>
            </a:extLst>
          </p:cNvPr>
          <p:cNvSpPr/>
          <p:nvPr/>
        </p:nvSpPr>
        <p:spPr>
          <a:xfrm>
            <a:off x="1835696" y="4129115"/>
            <a:ext cx="5957517" cy="584775"/>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marL="0" lvl="1" algn="just"/>
            <a:r>
              <a:rPr lang="zh-CN" altLang="en-US" sz="3200" dirty="0">
                <a:latin typeface="微软雅黑" pitchFamily="34" charset="-122"/>
                <a:ea typeface="微软雅黑" pitchFamily="34" charset="-122"/>
              </a:rPr>
              <a:t>2.</a:t>
            </a:r>
            <a:r>
              <a:rPr lang="en-US" altLang="zh-CN" sz="3200" dirty="0">
                <a:latin typeface="微软雅黑" pitchFamily="34" charset="-122"/>
                <a:ea typeface="微软雅黑" pitchFamily="34" charset="-122"/>
              </a:rPr>
              <a:t>5</a:t>
            </a:r>
            <a:r>
              <a:rPr lang="zh-CN" altLang="en-US" sz="3200" dirty="0">
                <a:latin typeface="微软雅黑" pitchFamily="34" charset="-122"/>
                <a:ea typeface="微软雅黑" pitchFamily="34" charset="-122"/>
              </a:rPr>
              <a:t> 有序表</a:t>
            </a:r>
          </a:p>
        </p:txBody>
      </p:sp>
    </p:spTree>
    <p:extLst>
      <p:ext uri="{BB962C8B-B14F-4D97-AF65-F5344CB8AC3E}">
        <p14:creationId xmlns:p14="http://schemas.microsoft.com/office/powerpoint/2010/main" val="30190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16325" y="869523"/>
            <a:ext cx="400279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2.1.1 </a:t>
            </a:r>
            <a:r>
              <a:rPr lang="zh-CN" altLang="en-US" sz="2800" b="1" dirty="0">
                <a:solidFill>
                  <a:schemeClr val="bg1"/>
                </a:solidFill>
                <a:latin typeface="经典粗黑简" pitchFamily="49" charset="-122"/>
                <a:ea typeface="经典粗黑简" pitchFamily="49" charset="-122"/>
                <a:cs typeface="经典粗黑简" pitchFamily="49" charset="-122"/>
              </a:rPr>
              <a:t>线性表的定义</a:t>
            </a:r>
          </a:p>
        </p:txBody>
      </p:sp>
      <p:sp>
        <p:nvSpPr>
          <p:cNvPr id="9" name="Rectangle 2"/>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2.1 </a:t>
            </a:r>
            <a:r>
              <a:rPr lang="zh-CN" altLang="en-US" sz="3700" b="1" dirty="0">
                <a:latin typeface="黑体" pitchFamily="49" charset="-122"/>
                <a:ea typeface="黑体" pitchFamily="49" charset="-122"/>
                <a:cs typeface="+mn-cs"/>
              </a:rPr>
              <a:t>线性表及其逻辑结构</a:t>
            </a:r>
          </a:p>
        </p:txBody>
      </p:sp>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20869" y="1442269"/>
            <a:ext cx="8496944" cy="769441"/>
          </a:xfrm>
          <a:prstGeom prst="rect">
            <a:avLst/>
          </a:prstGeom>
        </p:spPr>
        <p:txBody>
          <a:bodyPr wrap="square">
            <a:spAutoFit/>
          </a:bodyPr>
          <a:lstStyle/>
          <a:p>
            <a:r>
              <a:rPr lang="zh-CN" altLang="en-US" sz="2400" b="1" dirty="0">
                <a:solidFill>
                  <a:srgbClr val="FF0000"/>
                </a:solidFill>
                <a:latin typeface="方正特雅宋_GBK" pitchFamily="2" charset="-122"/>
                <a:ea typeface="方正特雅宋_GBK" pitchFamily="2" charset="-122"/>
              </a:rPr>
              <a:t>数据结构(</a:t>
            </a:r>
            <a:r>
              <a:rPr lang="en-US" altLang="zh-CN" sz="2400" b="1" dirty="0">
                <a:solidFill>
                  <a:srgbClr val="FF0000"/>
                </a:solidFill>
                <a:latin typeface="方正特雅宋_GBK" pitchFamily="2" charset="-122"/>
                <a:ea typeface="方正特雅宋_GBK" pitchFamily="2" charset="-122"/>
              </a:rPr>
              <a:t>Data Structure) ：</a:t>
            </a:r>
            <a:r>
              <a:rPr lang="zh-CN" altLang="en-US" sz="2000" dirty="0">
                <a:latin typeface="微软雅黑" pitchFamily="34" charset="-122"/>
                <a:ea typeface="微软雅黑" pitchFamily="34" charset="-122"/>
                <a:cs typeface="经典粗黑简" pitchFamily="49" charset="-122"/>
              </a:rPr>
              <a:t>是相互之间存在一种或多种特定关系的数据元素的集合。</a:t>
            </a:r>
          </a:p>
        </p:txBody>
      </p:sp>
      <p:sp>
        <p:nvSpPr>
          <p:cNvPr id="8" name="Rectangle 6"/>
          <p:cNvSpPr>
            <a:spLocks noChangeArrowheads="1"/>
          </p:cNvSpPr>
          <p:nvPr/>
        </p:nvSpPr>
        <p:spPr bwMode="auto">
          <a:xfrm>
            <a:off x="800161" y="2226538"/>
            <a:ext cx="31699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000" dirty="0">
                <a:latin typeface="微软雅黑" pitchFamily="34" charset="-122"/>
                <a:ea typeface="微软雅黑" pitchFamily="34" charset="-122"/>
                <a:cs typeface="经典粗黑简" pitchFamily="49" charset="-122"/>
              </a:rPr>
              <a:t>四种类型的基本数据结构：</a:t>
            </a:r>
          </a:p>
        </p:txBody>
      </p:sp>
      <p:sp>
        <p:nvSpPr>
          <p:cNvPr id="12" name="矩形 11"/>
          <p:cNvSpPr/>
          <p:nvPr/>
        </p:nvSpPr>
        <p:spPr>
          <a:xfrm>
            <a:off x="1122551" y="3080436"/>
            <a:ext cx="6096000" cy="369332"/>
          </a:xfrm>
          <a:prstGeom prst="rect">
            <a:avLst/>
          </a:prstGeom>
        </p:spPr>
        <p:txBody>
          <a:bodyPr>
            <a:spAutoFit/>
          </a:bodyPr>
          <a:lstStyle/>
          <a:p>
            <a:r>
              <a:rPr lang="en-US" altLang="zh-CN" dirty="0">
                <a:latin typeface="微软雅黑" pitchFamily="34" charset="-122"/>
                <a:ea typeface="微软雅黑" pitchFamily="34" charset="-122"/>
                <a:cs typeface="经典粗黑简" pitchFamily="49" charset="-122"/>
              </a:rPr>
              <a:t>Ⅱ</a:t>
            </a:r>
            <a:r>
              <a:rPr lang="zh-CN" altLang="en-US" dirty="0">
                <a:latin typeface="微软雅黑" pitchFamily="34" charset="-122"/>
                <a:ea typeface="微软雅黑" pitchFamily="34" charset="-122"/>
                <a:cs typeface="经典粗黑简" pitchFamily="49" charset="-122"/>
              </a:rPr>
              <a:t>、树形结构（</a:t>
            </a:r>
            <a:r>
              <a:rPr lang="en-US" altLang="zh-CN" dirty="0">
                <a:latin typeface="微软雅黑" pitchFamily="34" charset="-122"/>
                <a:ea typeface="微软雅黑" pitchFamily="34" charset="-122"/>
                <a:cs typeface="经典粗黑简" pitchFamily="49" charset="-122"/>
              </a:rPr>
              <a:t>Tree</a:t>
            </a:r>
            <a:r>
              <a:rPr lang="zh-CN" altLang="en-US" dirty="0">
                <a:latin typeface="微软雅黑" pitchFamily="34" charset="-122"/>
                <a:ea typeface="微软雅黑" pitchFamily="34" charset="-122"/>
                <a:cs typeface="经典粗黑简" pitchFamily="49" charset="-122"/>
              </a:rPr>
              <a:t>）：</a:t>
            </a:r>
          </a:p>
        </p:txBody>
      </p:sp>
      <p:grpSp>
        <p:nvGrpSpPr>
          <p:cNvPr id="13" name="组合 12"/>
          <p:cNvGrpSpPr/>
          <p:nvPr/>
        </p:nvGrpSpPr>
        <p:grpSpPr>
          <a:xfrm rot="16200000">
            <a:off x="4633128" y="2034373"/>
            <a:ext cx="165116" cy="1506581"/>
            <a:chOff x="557347" y="4028837"/>
            <a:chExt cx="252549" cy="1759128"/>
          </a:xfrm>
        </p:grpSpPr>
        <p:sp>
          <p:nvSpPr>
            <p:cNvPr id="14" name="椭圆 13"/>
            <p:cNvSpPr/>
            <p:nvPr/>
          </p:nvSpPr>
          <p:spPr>
            <a:xfrm>
              <a:off x="557347" y="4028837"/>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557347" y="4411452"/>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557347" y="4786483"/>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557347" y="5144653"/>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557347" y="5535416"/>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a:stCxn id="14" idx="4"/>
              <a:endCxn id="15" idx="0"/>
            </p:cNvCxnSpPr>
            <p:nvPr/>
          </p:nvCxnSpPr>
          <p:spPr>
            <a:xfrm>
              <a:off x="683622" y="4281386"/>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83622" y="4664001"/>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6" idx="4"/>
            </p:cNvCxnSpPr>
            <p:nvPr/>
          </p:nvCxnSpPr>
          <p:spPr>
            <a:xfrm rot="5400000">
              <a:off x="627299" y="5095355"/>
              <a:ext cx="11264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96683" y="5405350"/>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矩形 22"/>
          <p:cNvSpPr/>
          <p:nvPr/>
        </p:nvSpPr>
        <p:spPr>
          <a:xfrm>
            <a:off x="1122551" y="2631194"/>
            <a:ext cx="2635658" cy="369332"/>
          </a:xfrm>
          <a:prstGeom prst="rect">
            <a:avLst/>
          </a:prstGeom>
        </p:spPr>
        <p:txBody>
          <a:bodyPr wrap="none">
            <a:spAutoFit/>
          </a:bodyPr>
          <a:lstStyle/>
          <a:p>
            <a:r>
              <a:rPr lang="en-US" altLang="zh-CN" dirty="0">
                <a:latin typeface="微软雅黑" pitchFamily="34" charset="-122"/>
                <a:ea typeface="微软雅黑" pitchFamily="34" charset="-122"/>
                <a:cs typeface="经典粗黑简" pitchFamily="49" charset="-122"/>
              </a:rPr>
              <a:t>Ⅰ</a:t>
            </a:r>
            <a:r>
              <a:rPr lang="zh-CN" altLang="en-US" dirty="0">
                <a:latin typeface="微软雅黑" pitchFamily="34" charset="-122"/>
                <a:ea typeface="微软雅黑" pitchFamily="34" charset="-122"/>
                <a:cs typeface="经典粗黑简" pitchFamily="49" charset="-122"/>
              </a:rPr>
              <a:t>、线性结构（</a:t>
            </a:r>
            <a:r>
              <a:rPr lang="en-US" altLang="zh-CN" dirty="0">
                <a:latin typeface="微软雅黑" pitchFamily="34" charset="-122"/>
                <a:ea typeface="微软雅黑" pitchFamily="34" charset="-122"/>
                <a:cs typeface="经典粗黑简" pitchFamily="49" charset="-122"/>
              </a:rPr>
              <a:t>List</a:t>
            </a:r>
            <a:r>
              <a:rPr lang="zh-CN" altLang="en-US" dirty="0">
                <a:latin typeface="微软雅黑" pitchFamily="34" charset="-122"/>
                <a:ea typeface="微软雅黑" pitchFamily="34" charset="-122"/>
                <a:cs typeface="经典粗黑简" pitchFamily="49" charset="-122"/>
              </a:rPr>
              <a:t>）：</a:t>
            </a:r>
          </a:p>
        </p:txBody>
      </p:sp>
      <p:sp>
        <p:nvSpPr>
          <p:cNvPr id="24" name="矩形 23"/>
          <p:cNvSpPr/>
          <p:nvPr/>
        </p:nvSpPr>
        <p:spPr>
          <a:xfrm>
            <a:off x="1122551" y="3585141"/>
            <a:ext cx="6096000" cy="369332"/>
          </a:xfrm>
          <a:prstGeom prst="rect">
            <a:avLst/>
          </a:prstGeom>
        </p:spPr>
        <p:txBody>
          <a:bodyPr>
            <a:spAutoFit/>
          </a:bodyPr>
          <a:lstStyle/>
          <a:p>
            <a:r>
              <a:rPr lang="en-US" altLang="zh-CN" dirty="0">
                <a:latin typeface="微软雅黑" pitchFamily="34" charset="-122"/>
                <a:ea typeface="微软雅黑" pitchFamily="34" charset="-122"/>
                <a:cs typeface="经典粗黑简" pitchFamily="49" charset="-122"/>
              </a:rPr>
              <a:t>Ⅲ</a:t>
            </a:r>
            <a:r>
              <a:rPr lang="zh-CN" altLang="en-US" dirty="0">
                <a:latin typeface="微软雅黑" pitchFamily="34" charset="-122"/>
                <a:ea typeface="微软雅黑" pitchFamily="34" charset="-122"/>
                <a:cs typeface="经典粗黑简" pitchFamily="49" charset="-122"/>
              </a:rPr>
              <a:t>、图形结构</a:t>
            </a:r>
            <a:r>
              <a:rPr lang="zh-CN" altLang="en-US" dirty="0">
                <a:latin typeface="微软雅黑" pitchFamily="34" charset="-122"/>
                <a:ea typeface="微软雅黑" pitchFamily="34" charset="-122"/>
                <a:cs typeface="经典粗黑简" pitchFamily="49" charset="-122"/>
                <a:sym typeface="Wingdings" pitchFamily="2" charset="2"/>
              </a:rPr>
              <a:t>（</a:t>
            </a:r>
            <a:r>
              <a:rPr lang="en-US" altLang="zh-CN" dirty="0">
                <a:latin typeface="微软雅黑" pitchFamily="34" charset="-122"/>
                <a:ea typeface="微软雅黑" pitchFamily="34" charset="-122"/>
                <a:cs typeface="经典粗黑简" pitchFamily="49" charset="-122"/>
                <a:sym typeface="Wingdings" pitchFamily="2" charset="2"/>
              </a:rPr>
              <a:t>Graph</a:t>
            </a:r>
            <a:r>
              <a:rPr lang="zh-CN" altLang="en-US" dirty="0">
                <a:latin typeface="微软雅黑" pitchFamily="34" charset="-122"/>
                <a:ea typeface="微软雅黑" pitchFamily="34" charset="-122"/>
                <a:cs typeface="经典粗黑简" pitchFamily="49" charset="-122"/>
                <a:sym typeface="Wingdings" pitchFamily="2" charset="2"/>
              </a:rPr>
              <a:t>）：</a:t>
            </a:r>
            <a:endParaRPr lang="zh-CN" altLang="en-US" dirty="0">
              <a:latin typeface="微软雅黑" pitchFamily="34" charset="-122"/>
              <a:ea typeface="微软雅黑" pitchFamily="34" charset="-122"/>
              <a:cs typeface="经典粗黑简" pitchFamily="49" charset="-122"/>
            </a:endParaRPr>
          </a:p>
        </p:txBody>
      </p:sp>
      <p:sp>
        <p:nvSpPr>
          <p:cNvPr id="25" name="矩形 24"/>
          <p:cNvSpPr/>
          <p:nvPr/>
        </p:nvSpPr>
        <p:spPr>
          <a:xfrm>
            <a:off x="1122552" y="4186955"/>
            <a:ext cx="2151551" cy="369332"/>
          </a:xfrm>
          <a:prstGeom prst="rect">
            <a:avLst/>
          </a:prstGeom>
        </p:spPr>
        <p:txBody>
          <a:bodyPr wrap="none">
            <a:spAutoFit/>
          </a:bodyPr>
          <a:lstStyle/>
          <a:p>
            <a:r>
              <a:rPr lang="en-US" altLang="zh-CN" dirty="0">
                <a:latin typeface="微软雅黑" pitchFamily="34" charset="-122"/>
                <a:ea typeface="微软雅黑" pitchFamily="34" charset="-122"/>
                <a:cs typeface="经典粗黑简" pitchFamily="49" charset="-122"/>
              </a:rPr>
              <a:t>Ⅵ</a:t>
            </a:r>
            <a:r>
              <a:rPr lang="zh-CN" altLang="en-US" dirty="0">
                <a:latin typeface="微软雅黑" pitchFamily="34" charset="-122"/>
                <a:ea typeface="微软雅黑" pitchFamily="34" charset="-122"/>
                <a:cs typeface="经典粗黑简" pitchFamily="49" charset="-122"/>
              </a:rPr>
              <a:t>、集合（</a:t>
            </a:r>
            <a:r>
              <a:rPr lang="en-US" altLang="zh-CN" dirty="0">
                <a:latin typeface="微软雅黑" pitchFamily="34" charset="-122"/>
                <a:ea typeface="微软雅黑" pitchFamily="34" charset="-122"/>
                <a:cs typeface="经典粗黑简" pitchFamily="49" charset="-122"/>
              </a:rPr>
              <a:t>Set</a:t>
            </a:r>
            <a:r>
              <a:rPr lang="zh-CN" altLang="en-US" dirty="0">
                <a:latin typeface="微软雅黑" pitchFamily="34" charset="-122"/>
                <a:ea typeface="微软雅黑" pitchFamily="34" charset="-122"/>
                <a:cs typeface="经典粗黑简" pitchFamily="49" charset="-122"/>
              </a:rPr>
              <a:t>）：</a:t>
            </a:r>
          </a:p>
        </p:txBody>
      </p:sp>
      <p:grpSp>
        <p:nvGrpSpPr>
          <p:cNvPr id="26" name="Group 9"/>
          <p:cNvGrpSpPr>
            <a:grpSpLocks/>
          </p:cNvGrpSpPr>
          <p:nvPr/>
        </p:nvGrpSpPr>
        <p:grpSpPr bwMode="auto">
          <a:xfrm>
            <a:off x="4047022" y="3022690"/>
            <a:ext cx="1404256" cy="426235"/>
            <a:chOff x="3198" y="2704"/>
            <a:chExt cx="1451" cy="1180"/>
          </a:xfrm>
        </p:grpSpPr>
        <p:sp>
          <p:nvSpPr>
            <p:cNvPr id="27" name="Oval 10"/>
            <p:cNvSpPr>
              <a:spLocks noChangeArrowheads="1"/>
            </p:cNvSpPr>
            <p:nvPr/>
          </p:nvSpPr>
          <p:spPr bwMode="auto">
            <a:xfrm>
              <a:off x="3923" y="2704"/>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 name="Oval 11"/>
            <p:cNvSpPr>
              <a:spLocks noChangeArrowheads="1"/>
            </p:cNvSpPr>
            <p:nvPr/>
          </p:nvSpPr>
          <p:spPr bwMode="auto">
            <a:xfrm>
              <a:off x="3560" y="3022"/>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 name="Oval 12"/>
            <p:cNvSpPr>
              <a:spLocks noChangeArrowheads="1"/>
            </p:cNvSpPr>
            <p:nvPr/>
          </p:nvSpPr>
          <p:spPr bwMode="auto">
            <a:xfrm>
              <a:off x="4332" y="3022"/>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0" name="Oval 13"/>
            <p:cNvSpPr>
              <a:spLocks noChangeArrowheads="1"/>
            </p:cNvSpPr>
            <p:nvPr/>
          </p:nvSpPr>
          <p:spPr bwMode="auto">
            <a:xfrm>
              <a:off x="3198" y="3385"/>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1" name="Oval 14"/>
            <p:cNvSpPr>
              <a:spLocks noChangeArrowheads="1"/>
            </p:cNvSpPr>
            <p:nvPr/>
          </p:nvSpPr>
          <p:spPr bwMode="auto">
            <a:xfrm>
              <a:off x="3560" y="3386"/>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Tahoma" pitchFamily="34" charset="0"/>
              </a:endParaRPr>
            </a:p>
          </p:txBody>
        </p:sp>
        <p:sp>
          <p:nvSpPr>
            <p:cNvPr id="32" name="Oval 15"/>
            <p:cNvSpPr>
              <a:spLocks noChangeArrowheads="1"/>
            </p:cNvSpPr>
            <p:nvPr/>
          </p:nvSpPr>
          <p:spPr bwMode="auto">
            <a:xfrm>
              <a:off x="4241" y="3385"/>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4" name="Oval 16"/>
            <p:cNvSpPr>
              <a:spLocks noChangeArrowheads="1"/>
            </p:cNvSpPr>
            <p:nvPr/>
          </p:nvSpPr>
          <p:spPr bwMode="auto">
            <a:xfrm>
              <a:off x="4513" y="3339"/>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 name="Oval 17"/>
            <p:cNvSpPr>
              <a:spLocks noChangeArrowheads="1"/>
            </p:cNvSpPr>
            <p:nvPr/>
          </p:nvSpPr>
          <p:spPr bwMode="auto">
            <a:xfrm>
              <a:off x="3560" y="3748"/>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Tahoma" pitchFamily="34" charset="0"/>
              </a:endParaRPr>
            </a:p>
          </p:txBody>
        </p:sp>
        <p:sp>
          <p:nvSpPr>
            <p:cNvPr id="36" name="Oval 18"/>
            <p:cNvSpPr>
              <a:spLocks noChangeArrowheads="1"/>
            </p:cNvSpPr>
            <p:nvPr/>
          </p:nvSpPr>
          <p:spPr bwMode="auto">
            <a:xfrm>
              <a:off x="3878" y="3386"/>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Tahoma" pitchFamily="34" charset="0"/>
              </a:endParaRPr>
            </a:p>
          </p:txBody>
        </p:sp>
        <p:sp>
          <p:nvSpPr>
            <p:cNvPr id="37" name="Line 19"/>
            <p:cNvSpPr>
              <a:spLocks noChangeShapeType="1"/>
            </p:cNvSpPr>
            <p:nvPr/>
          </p:nvSpPr>
          <p:spPr bwMode="auto">
            <a:xfrm>
              <a:off x="4059" y="2795"/>
              <a:ext cx="318"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20"/>
            <p:cNvSpPr>
              <a:spLocks noChangeShapeType="1"/>
            </p:cNvSpPr>
            <p:nvPr/>
          </p:nvSpPr>
          <p:spPr bwMode="auto">
            <a:xfrm flipV="1">
              <a:off x="4286" y="3158"/>
              <a:ext cx="91"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21"/>
            <p:cNvSpPr>
              <a:spLocks noChangeShapeType="1"/>
            </p:cNvSpPr>
            <p:nvPr/>
          </p:nvSpPr>
          <p:spPr bwMode="auto">
            <a:xfrm>
              <a:off x="4422" y="3158"/>
              <a:ext cx="182"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22"/>
            <p:cNvSpPr>
              <a:spLocks noChangeShapeType="1"/>
            </p:cNvSpPr>
            <p:nvPr/>
          </p:nvSpPr>
          <p:spPr bwMode="auto">
            <a:xfrm>
              <a:off x="3696" y="3113"/>
              <a:ext cx="273"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23"/>
            <p:cNvSpPr>
              <a:spLocks noChangeShapeType="1"/>
            </p:cNvSpPr>
            <p:nvPr/>
          </p:nvSpPr>
          <p:spPr bwMode="auto">
            <a:xfrm>
              <a:off x="3651" y="3521"/>
              <a:ext cx="0"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24"/>
            <p:cNvSpPr>
              <a:spLocks noChangeShapeType="1"/>
            </p:cNvSpPr>
            <p:nvPr/>
          </p:nvSpPr>
          <p:spPr bwMode="auto">
            <a:xfrm flipV="1">
              <a:off x="3243" y="3113"/>
              <a:ext cx="318"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25"/>
            <p:cNvSpPr>
              <a:spLocks noChangeShapeType="1"/>
            </p:cNvSpPr>
            <p:nvPr/>
          </p:nvSpPr>
          <p:spPr bwMode="auto">
            <a:xfrm flipH="1">
              <a:off x="3606" y="3158"/>
              <a:ext cx="45"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26"/>
            <p:cNvSpPr>
              <a:spLocks noChangeShapeType="1"/>
            </p:cNvSpPr>
            <p:nvPr/>
          </p:nvSpPr>
          <p:spPr bwMode="auto">
            <a:xfrm flipH="1">
              <a:off x="3651" y="2795"/>
              <a:ext cx="273"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5" name="Group 9"/>
          <p:cNvGrpSpPr>
            <a:grpSpLocks/>
          </p:cNvGrpSpPr>
          <p:nvPr/>
        </p:nvGrpSpPr>
        <p:grpSpPr bwMode="auto">
          <a:xfrm>
            <a:off x="4000239" y="3516109"/>
            <a:ext cx="1624811" cy="451073"/>
            <a:chOff x="385" y="2704"/>
            <a:chExt cx="1542" cy="953"/>
          </a:xfrm>
        </p:grpSpPr>
        <p:sp>
          <p:nvSpPr>
            <p:cNvPr id="46" name="Oval 10"/>
            <p:cNvSpPr>
              <a:spLocks noChangeArrowheads="1"/>
            </p:cNvSpPr>
            <p:nvPr/>
          </p:nvSpPr>
          <p:spPr bwMode="auto">
            <a:xfrm>
              <a:off x="431" y="2795"/>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 name="Oval 11"/>
            <p:cNvSpPr>
              <a:spLocks noChangeArrowheads="1"/>
            </p:cNvSpPr>
            <p:nvPr/>
          </p:nvSpPr>
          <p:spPr bwMode="auto">
            <a:xfrm>
              <a:off x="1292" y="2795"/>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8" name="Oval 12"/>
            <p:cNvSpPr>
              <a:spLocks noChangeArrowheads="1"/>
            </p:cNvSpPr>
            <p:nvPr/>
          </p:nvSpPr>
          <p:spPr bwMode="auto">
            <a:xfrm>
              <a:off x="385" y="3294"/>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 name="Oval 13"/>
            <p:cNvSpPr>
              <a:spLocks noChangeArrowheads="1"/>
            </p:cNvSpPr>
            <p:nvPr/>
          </p:nvSpPr>
          <p:spPr bwMode="auto">
            <a:xfrm>
              <a:off x="884" y="2976"/>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0" name="Oval 14"/>
            <p:cNvSpPr>
              <a:spLocks noChangeArrowheads="1"/>
            </p:cNvSpPr>
            <p:nvPr/>
          </p:nvSpPr>
          <p:spPr bwMode="auto">
            <a:xfrm>
              <a:off x="1474" y="3249"/>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 name="Oval 15"/>
            <p:cNvSpPr>
              <a:spLocks noChangeArrowheads="1"/>
            </p:cNvSpPr>
            <p:nvPr/>
          </p:nvSpPr>
          <p:spPr bwMode="auto">
            <a:xfrm>
              <a:off x="839" y="3521"/>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 name="Oval 16"/>
            <p:cNvSpPr>
              <a:spLocks noChangeArrowheads="1"/>
            </p:cNvSpPr>
            <p:nvPr/>
          </p:nvSpPr>
          <p:spPr bwMode="auto">
            <a:xfrm>
              <a:off x="1791" y="2704"/>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 name="Line 17"/>
            <p:cNvSpPr>
              <a:spLocks noChangeShapeType="1"/>
            </p:cNvSpPr>
            <p:nvPr/>
          </p:nvSpPr>
          <p:spPr bwMode="auto">
            <a:xfrm>
              <a:off x="567" y="2886"/>
              <a:ext cx="317" cy="1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18"/>
            <p:cNvSpPr>
              <a:spLocks noChangeShapeType="1"/>
            </p:cNvSpPr>
            <p:nvPr/>
          </p:nvSpPr>
          <p:spPr bwMode="auto">
            <a:xfrm flipV="1">
              <a:off x="975" y="3339"/>
              <a:ext cx="499"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19"/>
            <p:cNvSpPr>
              <a:spLocks noChangeShapeType="1"/>
            </p:cNvSpPr>
            <p:nvPr/>
          </p:nvSpPr>
          <p:spPr bwMode="auto">
            <a:xfrm>
              <a:off x="521" y="2931"/>
              <a:ext cx="409" cy="59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Line 20"/>
            <p:cNvSpPr>
              <a:spLocks noChangeShapeType="1"/>
            </p:cNvSpPr>
            <p:nvPr/>
          </p:nvSpPr>
          <p:spPr bwMode="auto">
            <a:xfrm flipH="1">
              <a:off x="476" y="2931"/>
              <a:ext cx="0" cy="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21"/>
            <p:cNvSpPr>
              <a:spLocks noChangeShapeType="1"/>
            </p:cNvSpPr>
            <p:nvPr/>
          </p:nvSpPr>
          <p:spPr bwMode="auto">
            <a:xfrm>
              <a:off x="521" y="3385"/>
              <a:ext cx="318"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22"/>
            <p:cNvSpPr>
              <a:spLocks noChangeShapeType="1"/>
            </p:cNvSpPr>
            <p:nvPr/>
          </p:nvSpPr>
          <p:spPr bwMode="auto">
            <a:xfrm flipV="1">
              <a:off x="1429" y="2795"/>
              <a:ext cx="362"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23"/>
            <p:cNvSpPr>
              <a:spLocks noChangeShapeType="1"/>
            </p:cNvSpPr>
            <p:nvPr/>
          </p:nvSpPr>
          <p:spPr bwMode="auto">
            <a:xfrm>
              <a:off x="1429" y="2886"/>
              <a:ext cx="90" cy="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24"/>
            <p:cNvSpPr>
              <a:spLocks noChangeShapeType="1"/>
            </p:cNvSpPr>
            <p:nvPr/>
          </p:nvSpPr>
          <p:spPr bwMode="auto">
            <a:xfrm>
              <a:off x="1020" y="3067"/>
              <a:ext cx="454"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25"/>
            <p:cNvSpPr>
              <a:spLocks noChangeShapeType="1"/>
            </p:cNvSpPr>
            <p:nvPr/>
          </p:nvSpPr>
          <p:spPr bwMode="auto">
            <a:xfrm flipV="1">
              <a:off x="1020" y="2886"/>
              <a:ext cx="272" cy="1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26"/>
            <p:cNvSpPr>
              <a:spLocks noChangeShapeType="1"/>
            </p:cNvSpPr>
            <p:nvPr/>
          </p:nvSpPr>
          <p:spPr bwMode="auto">
            <a:xfrm flipV="1">
              <a:off x="1610" y="2840"/>
              <a:ext cx="227" cy="4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3" name="组合 62"/>
          <p:cNvGrpSpPr/>
          <p:nvPr/>
        </p:nvGrpSpPr>
        <p:grpSpPr>
          <a:xfrm>
            <a:off x="4167290" y="4146781"/>
            <a:ext cx="1312364" cy="443945"/>
            <a:chOff x="8717635" y="5707941"/>
            <a:chExt cx="1487716" cy="702003"/>
          </a:xfrm>
        </p:grpSpPr>
        <p:sp>
          <p:nvSpPr>
            <p:cNvPr id="64" name="椭圆 63"/>
            <p:cNvSpPr/>
            <p:nvPr/>
          </p:nvSpPr>
          <p:spPr>
            <a:xfrm rot="16200000">
              <a:off x="8715704" y="5821484"/>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rot="16200000">
              <a:off x="8924037" y="6046446"/>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rot="16200000">
              <a:off x="9130247" y="5819949"/>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16200000">
              <a:off x="9436696" y="5709872"/>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rot="16200000">
              <a:off x="9360133" y="5951564"/>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rot="16200000">
              <a:off x="9676857" y="5904013"/>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rot="16200000">
              <a:off x="9192681" y="6191721"/>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rot="16200000">
              <a:off x="9987128" y="5930026"/>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2" name="矩形 71"/>
          <p:cNvSpPr/>
          <p:nvPr/>
        </p:nvSpPr>
        <p:spPr>
          <a:xfrm>
            <a:off x="6228184" y="3211596"/>
            <a:ext cx="522515" cy="1323439"/>
          </a:xfrm>
          <a:prstGeom prst="rect">
            <a:avLst/>
          </a:prstGeom>
        </p:spPr>
        <p:txBody>
          <a:bodyPr wrap="square">
            <a:spAutoFit/>
          </a:bodyPr>
          <a:lstStyle/>
          <a:p>
            <a:r>
              <a:rPr lang="zh-CN" altLang="en-US" sz="1600" dirty="0">
                <a:latin typeface="微软雅黑" pitchFamily="34" charset="-122"/>
                <a:ea typeface="微软雅黑" pitchFamily="34" charset="-122"/>
                <a:cs typeface="经典粗黑简" pitchFamily="49" charset="-122"/>
              </a:rPr>
              <a:t>非线性结构</a:t>
            </a:r>
          </a:p>
        </p:txBody>
      </p:sp>
      <p:sp>
        <p:nvSpPr>
          <p:cNvPr id="73" name="右大括号 72"/>
          <p:cNvSpPr/>
          <p:nvPr/>
        </p:nvSpPr>
        <p:spPr>
          <a:xfrm>
            <a:off x="5796136" y="3176226"/>
            <a:ext cx="250920" cy="145316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 name="矩形 73"/>
          <p:cNvSpPr/>
          <p:nvPr/>
        </p:nvSpPr>
        <p:spPr>
          <a:xfrm>
            <a:off x="5722132" y="2570813"/>
            <a:ext cx="3195682" cy="646331"/>
          </a:xfrm>
          <a:prstGeom prst="rect">
            <a:avLst/>
          </a:prstGeom>
        </p:spPr>
        <p:txBody>
          <a:bodyPr wrap="square">
            <a:spAutoFit/>
          </a:bodyPr>
          <a:lstStyle/>
          <a:p>
            <a:r>
              <a:rPr lang="zh-CN" altLang="en-US" dirty="0">
                <a:latin typeface="微软雅黑" pitchFamily="34" charset="-122"/>
                <a:ea typeface="微软雅黑" pitchFamily="34" charset="-122"/>
                <a:cs typeface="经典粗黑简" pitchFamily="49" charset="-122"/>
              </a:rPr>
              <a:t>主要包括</a:t>
            </a:r>
            <a:r>
              <a:rPr lang="zh-CN" altLang="zh-CN" dirty="0">
                <a:latin typeface="微软雅黑" pitchFamily="34" charset="-122"/>
                <a:ea typeface="微软雅黑" pitchFamily="34" charset="-122"/>
                <a:cs typeface="经典粗黑简" pitchFamily="49" charset="-122"/>
              </a:rPr>
              <a:t>线性表、栈、队列、串和数组</a:t>
            </a:r>
            <a:endParaRPr lang="zh-CN" altLang="en-US" dirty="0">
              <a:latin typeface="微软雅黑" pitchFamily="34" charset="-122"/>
              <a:ea typeface="微软雅黑" pitchFamily="34" charset="-122"/>
              <a:cs typeface="经典粗黑简" pitchFamily="49" charset="-122"/>
            </a:endParaRPr>
          </a:p>
        </p:txBody>
      </p:sp>
    </p:spTree>
    <p:extLst>
      <p:ext uri="{BB962C8B-B14F-4D97-AF65-F5344CB8AC3E}">
        <p14:creationId xmlns:p14="http://schemas.microsoft.com/office/powerpoint/2010/main" val="544411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2" grpId="0"/>
      <p:bldP spid="23" grpId="0"/>
      <p:bldP spid="24" grpId="0"/>
      <p:bldP spid="25" grpId="0"/>
      <p:bldP spid="72" grpId="0"/>
      <p:bldP spid="73" grpId="0" animBg="1"/>
      <p:bldP spid="7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20869" y="1442269"/>
            <a:ext cx="8496944" cy="769441"/>
          </a:xfrm>
          <a:prstGeom prst="rect">
            <a:avLst/>
          </a:prstGeom>
        </p:spPr>
        <p:txBody>
          <a:bodyPr wrap="square">
            <a:spAutoFit/>
          </a:bodyPr>
          <a:lstStyle/>
          <a:p>
            <a:r>
              <a:rPr lang="zh-CN" altLang="en-US" sz="2400" b="1" dirty="0">
                <a:solidFill>
                  <a:srgbClr val="FF0000"/>
                </a:solidFill>
                <a:latin typeface="方正特雅宋_GBK" pitchFamily="2" charset="-122"/>
                <a:ea typeface="方正特雅宋_GBK" pitchFamily="2" charset="-122"/>
              </a:rPr>
              <a:t>数据结构(</a:t>
            </a:r>
            <a:r>
              <a:rPr lang="en-US" altLang="zh-CN" sz="2400" b="1" dirty="0">
                <a:solidFill>
                  <a:srgbClr val="FF0000"/>
                </a:solidFill>
                <a:latin typeface="方正特雅宋_GBK" pitchFamily="2" charset="-122"/>
                <a:ea typeface="方正特雅宋_GBK" pitchFamily="2" charset="-122"/>
              </a:rPr>
              <a:t>Data Structure) ：</a:t>
            </a:r>
            <a:r>
              <a:rPr lang="zh-CN" altLang="en-US" sz="2000" dirty="0">
                <a:latin typeface="微软雅黑" pitchFamily="34" charset="-122"/>
                <a:ea typeface="微软雅黑" pitchFamily="34" charset="-122"/>
                <a:cs typeface="经典粗黑简" pitchFamily="49" charset="-122"/>
              </a:rPr>
              <a:t>是相互之间存在一种或多种特定关系的数据元素的集合。</a:t>
            </a:r>
          </a:p>
        </p:txBody>
      </p:sp>
      <p:sp>
        <p:nvSpPr>
          <p:cNvPr id="14" name="Rectangle 6"/>
          <p:cNvSpPr>
            <a:spLocks noChangeArrowheads="1"/>
          </p:cNvSpPr>
          <p:nvPr/>
        </p:nvSpPr>
        <p:spPr bwMode="auto">
          <a:xfrm>
            <a:off x="770961" y="2171640"/>
            <a:ext cx="31699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000" dirty="0">
                <a:latin typeface="微软雅黑" pitchFamily="34" charset="-122"/>
                <a:ea typeface="微软雅黑" pitchFamily="34" charset="-122"/>
                <a:cs typeface="经典粗黑简" pitchFamily="49" charset="-122"/>
              </a:rPr>
              <a:t>四种类型的基本数据结构：</a:t>
            </a:r>
          </a:p>
        </p:txBody>
      </p:sp>
      <p:grpSp>
        <p:nvGrpSpPr>
          <p:cNvPr id="16" name="组合 15"/>
          <p:cNvGrpSpPr/>
          <p:nvPr/>
        </p:nvGrpSpPr>
        <p:grpSpPr>
          <a:xfrm rot="16200000">
            <a:off x="4633128" y="1948514"/>
            <a:ext cx="165116" cy="1506581"/>
            <a:chOff x="557347" y="4028837"/>
            <a:chExt cx="252549" cy="1759128"/>
          </a:xfrm>
        </p:grpSpPr>
        <p:sp>
          <p:nvSpPr>
            <p:cNvPr id="17" name="椭圆 16"/>
            <p:cNvSpPr/>
            <p:nvPr/>
          </p:nvSpPr>
          <p:spPr>
            <a:xfrm>
              <a:off x="557347" y="4028837"/>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557347" y="4411452"/>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557347" y="4786483"/>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557347" y="5144653"/>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557347" y="5535416"/>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a:stCxn id="17" idx="4"/>
              <a:endCxn id="18" idx="0"/>
            </p:cNvCxnSpPr>
            <p:nvPr/>
          </p:nvCxnSpPr>
          <p:spPr>
            <a:xfrm>
              <a:off x="683622" y="4281386"/>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683622" y="4664001"/>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9" idx="4"/>
            </p:cNvCxnSpPr>
            <p:nvPr/>
          </p:nvCxnSpPr>
          <p:spPr>
            <a:xfrm rot="5400000">
              <a:off x="627299" y="5095355"/>
              <a:ext cx="11264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96683" y="5405350"/>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矩形 25"/>
          <p:cNvSpPr/>
          <p:nvPr/>
        </p:nvSpPr>
        <p:spPr>
          <a:xfrm>
            <a:off x="1122551" y="2545336"/>
            <a:ext cx="2635658" cy="369332"/>
          </a:xfrm>
          <a:prstGeom prst="rect">
            <a:avLst/>
          </a:prstGeom>
        </p:spPr>
        <p:txBody>
          <a:bodyPr wrap="none">
            <a:spAutoFit/>
          </a:bodyPr>
          <a:lstStyle/>
          <a:p>
            <a:r>
              <a:rPr lang="en-US" altLang="zh-CN" dirty="0">
                <a:latin typeface="微软雅黑" pitchFamily="34" charset="-122"/>
                <a:ea typeface="微软雅黑" pitchFamily="34" charset="-122"/>
                <a:cs typeface="经典粗黑简" pitchFamily="49" charset="-122"/>
              </a:rPr>
              <a:t>Ⅰ</a:t>
            </a:r>
            <a:r>
              <a:rPr lang="zh-CN" altLang="en-US" dirty="0">
                <a:latin typeface="微软雅黑" pitchFamily="34" charset="-122"/>
                <a:ea typeface="微软雅黑" pitchFamily="34" charset="-122"/>
                <a:cs typeface="经典粗黑简" pitchFamily="49" charset="-122"/>
              </a:rPr>
              <a:t>、线性结构（</a:t>
            </a:r>
            <a:r>
              <a:rPr lang="en-US" altLang="zh-CN" dirty="0">
                <a:latin typeface="微软雅黑" pitchFamily="34" charset="-122"/>
                <a:ea typeface="微软雅黑" pitchFamily="34" charset="-122"/>
                <a:cs typeface="经典粗黑简" pitchFamily="49" charset="-122"/>
              </a:rPr>
              <a:t>List</a:t>
            </a:r>
            <a:r>
              <a:rPr lang="zh-CN" altLang="en-US" dirty="0">
                <a:latin typeface="微软雅黑" pitchFamily="34" charset="-122"/>
                <a:ea typeface="微软雅黑" pitchFamily="34" charset="-122"/>
                <a:cs typeface="经典粗黑简" pitchFamily="49" charset="-122"/>
              </a:rPr>
              <a:t>）：</a:t>
            </a:r>
          </a:p>
        </p:txBody>
      </p:sp>
      <p:sp>
        <p:nvSpPr>
          <p:cNvPr id="76" name="矩形 75"/>
          <p:cNvSpPr/>
          <p:nvPr/>
        </p:nvSpPr>
        <p:spPr>
          <a:xfrm>
            <a:off x="5722132" y="2406836"/>
            <a:ext cx="3195682" cy="646331"/>
          </a:xfrm>
          <a:prstGeom prst="rect">
            <a:avLst/>
          </a:prstGeom>
        </p:spPr>
        <p:txBody>
          <a:bodyPr wrap="square">
            <a:spAutoFit/>
          </a:bodyPr>
          <a:lstStyle/>
          <a:p>
            <a:r>
              <a:rPr lang="zh-CN" altLang="en-US" dirty="0">
                <a:latin typeface="微软雅黑" pitchFamily="34" charset="-122"/>
                <a:ea typeface="微软雅黑" pitchFamily="34" charset="-122"/>
                <a:cs typeface="经典粗黑简" pitchFamily="49" charset="-122"/>
              </a:rPr>
              <a:t>主要包括</a:t>
            </a:r>
            <a:r>
              <a:rPr lang="zh-CN" altLang="zh-CN" dirty="0">
                <a:latin typeface="微软雅黑" pitchFamily="34" charset="-122"/>
                <a:ea typeface="微软雅黑" pitchFamily="34" charset="-122"/>
                <a:cs typeface="经典粗黑简" pitchFamily="49" charset="-122"/>
              </a:rPr>
              <a:t>线性表、栈、队列、串和数组</a:t>
            </a:r>
            <a:endParaRPr lang="zh-CN" altLang="en-US" dirty="0">
              <a:latin typeface="微软雅黑" pitchFamily="34" charset="-122"/>
              <a:ea typeface="微软雅黑" pitchFamily="34" charset="-122"/>
              <a:cs typeface="经典粗黑简" pitchFamily="49" charset="-122"/>
            </a:endParaRPr>
          </a:p>
        </p:txBody>
      </p:sp>
      <p:sp>
        <p:nvSpPr>
          <p:cNvPr id="84" name="矩形 83"/>
          <p:cNvSpPr/>
          <p:nvPr/>
        </p:nvSpPr>
        <p:spPr>
          <a:xfrm>
            <a:off x="1556213" y="2946777"/>
            <a:ext cx="6256147" cy="369332"/>
          </a:xfrm>
          <a:prstGeom prst="rect">
            <a:avLst/>
          </a:prstGeom>
        </p:spPr>
        <p:txBody>
          <a:bodyPr wrap="square">
            <a:spAutoFit/>
          </a:bodyPr>
          <a:lstStyle/>
          <a:p>
            <a:r>
              <a:rPr lang="zh-CN" altLang="en-US" dirty="0">
                <a:latin typeface="微软雅黑" pitchFamily="34" charset="-122"/>
                <a:ea typeface="微软雅黑" pitchFamily="34" charset="-122"/>
                <a:cs typeface="经典粗黑简" pitchFamily="49" charset="-122"/>
              </a:rPr>
              <a:t>在</a:t>
            </a:r>
            <a:r>
              <a:rPr lang="zh-CN" altLang="zh-CN" dirty="0">
                <a:latin typeface="微软雅黑" pitchFamily="34" charset="-122"/>
                <a:ea typeface="微软雅黑" pitchFamily="34" charset="-122"/>
                <a:cs typeface="经典粗黑简" pitchFamily="49" charset="-122"/>
              </a:rPr>
              <a:t>数据元素</a:t>
            </a:r>
            <a:r>
              <a:rPr lang="zh-CN" altLang="en-US" dirty="0">
                <a:latin typeface="微软雅黑" pitchFamily="34" charset="-122"/>
                <a:ea typeface="微软雅黑" pitchFamily="34" charset="-122"/>
                <a:cs typeface="经典粗黑简" pitchFamily="49" charset="-122"/>
              </a:rPr>
              <a:t>的</a:t>
            </a:r>
            <a:r>
              <a:rPr lang="zh-CN" altLang="zh-CN" dirty="0">
                <a:latin typeface="微软雅黑" pitchFamily="34" charset="-122"/>
                <a:ea typeface="微软雅黑" pitchFamily="34" charset="-122"/>
                <a:cs typeface="经典粗黑简" pitchFamily="49" charset="-122"/>
              </a:rPr>
              <a:t>非空有限集合中，线性结构</a:t>
            </a:r>
            <a:r>
              <a:rPr lang="zh-CN" altLang="en-US" dirty="0">
                <a:latin typeface="微软雅黑" pitchFamily="34" charset="-122"/>
                <a:ea typeface="微软雅黑" pitchFamily="34" charset="-122"/>
                <a:cs typeface="经典粗黑简" pitchFamily="49" charset="-122"/>
              </a:rPr>
              <a:t>具有如下</a:t>
            </a:r>
            <a:r>
              <a:rPr lang="zh-CN" altLang="zh-CN" dirty="0">
                <a:latin typeface="微软雅黑" pitchFamily="34" charset="-122"/>
                <a:ea typeface="微软雅黑" pitchFamily="34" charset="-122"/>
                <a:cs typeface="经典粗黑简" pitchFamily="49" charset="-122"/>
              </a:rPr>
              <a:t>的特点：</a:t>
            </a:r>
          </a:p>
        </p:txBody>
      </p:sp>
      <p:sp>
        <p:nvSpPr>
          <p:cNvPr id="85" name="矩形 84"/>
          <p:cNvSpPr/>
          <p:nvPr/>
        </p:nvSpPr>
        <p:spPr>
          <a:xfrm>
            <a:off x="2739959" y="3216807"/>
            <a:ext cx="4867691" cy="369332"/>
          </a:xfrm>
          <a:prstGeom prst="rect">
            <a:avLst/>
          </a:prstGeom>
        </p:spPr>
        <p:txBody>
          <a:bodyPr wrap="square">
            <a:spAutoFit/>
          </a:bodyPr>
          <a:lstStyle/>
          <a:p>
            <a:r>
              <a:rPr lang="zh-CN" altLang="en-US" dirty="0">
                <a:latin typeface="微软雅黑" pitchFamily="34" charset="-122"/>
                <a:ea typeface="微软雅黑" pitchFamily="34" charset="-122"/>
                <a:cs typeface="经典粗黑简" pitchFamily="49" charset="-122"/>
              </a:rPr>
              <a:t>（</a:t>
            </a:r>
            <a:r>
              <a:rPr lang="en-US" altLang="zh-CN" dirty="0">
                <a:latin typeface="微软雅黑" pitchFamily="34" charset="-122"/>
                <a:ea typeface="微软雅黑" pitchFamily="34" charset="-122"/>
                <a:cs typeface="经典粗黑简" pitchFamily="49" charset="-122"/>
              </a:rPr>
              <a:t>1</a:t>
            </a:r>
            <a:r>
              <a:rPr lang="zh-CN" altLang="en-US" dirty="0">
                <a:latin typeface="微软雅黑" pitchFamily="34" charset="-122"/>
                <a:ea typeface="微软雅黑" pitchFamily="34" charset="-122"/>
                <a:cs typeface="经典粗黑简" pitchFamily="49" charset="-122"/>
              </a:rPr>
              <a:t>）</a:t>
            </a:r>
            <a:r>
              <a:rPr lang="zh-CN" altLang="zh-CN" dirty="0">
                <a:latin typeface="微软雅黑" pitchFamily="34" charset="-122"/>
                <a:ea typeface="微软雅黑" pitchFamily="34" charset="-122"/>
                <a:cs typeface="经典粗黑简" pitchFamily="49" charset="-122"/>
              </a:rPr>
              <a:t>存在唯一的“第一个”数据元素；</a:t>
            </a:r>
          </a:p>
        </p:txBody>
      </p:sp>
      <p:sp>
        <p:nvSpPr>
          <p:cNvPr id="86" name="矩形 85"/>
          <p:cNvSpPr/>
          <p:nvPr/>
        </p:nvSpPr>
        <p:spPr>
          <a:xfrm>
            <a:off x="2739959" y="3505092"/>
            <a:ext cx="5477291" cy="369332"/>
          </a:xfrm>
          <a:prstGeom prst="rect">
            <a:avLst/>
          </a:prstGeom>
        </p:spPr>
        <p:txBody>
          <a:bodyPr wrap="square">
            <a:spAutoFit/>
          </a:bodyPr>
          <a:lstStyle/>
          <a:p>
            <a:r>
              <a:rPr lang="zh-CN" altLang="en-US" dirty="0">
                <a:latin typeface="微软雅黑" pitchFamily="34" charset="-122"/>
                <a:ea typeface="微软雅黑" pitchFamily="34" charset="-122"/>
                <a:cs typeface="经典粗黑简" pitchFamily="49" charset="-122"/>
              </a:rPr>
              <a:t>（</a:t>
            </a:r>
            <a:r>
              <a:rPr lang="en-US" altLang="zh-CN" dirty="0">
                <a:latin typeface="微软雅黑" pitchFamily="34" charset="-122"/>
                <a:ea typeface="微软雅黑" pitchFamily="34" charset="-122"/>
                <a:cs typeface="经典粗黑简" pitchFamily="49" charset="-122"/>
              </a:rPr>
              <a:t>2</a:t>
            </a:r>
            <a:r>
              <a:rPr lang="zh-CN" altLang="en-US" dirty="0">
                <a:latin typeface="微软雅黑" pitchFamily="34" charset="-122"/>
                <a:ea typeface="微软雅黑" pitchFamily="34" charset="-122"/>
                <a:cs typeface="经典粗黑简" pitchFamily="49" charset="-122"/>
              </a:rPr>
              <a:t>）</a:t>
            </a:r>
            <a:r>
              <a:rPr lang="zh-CN" altLang="zh-CN" dirty="0">
                <a:latin typeface="微软雅黑" pitchFamily="34" charset="-122"/>
                <a:ea typeface="微软雅黑" pitchFamily="34" charset="-122"/>
                <a:cs typeface="经典粗黑简" pitchFamily="49" charset="-122"/>
              </a:rPr>
              <a:t>存在唯一的“最后一个”数据元素；</a:t>
            </a:r>
            <a:r>
              <a:rPr lang="en-US" altLang="zh-CN" dirty="0">
                <a:latin typeface="微软雅黑" pitchFamily="34" charset="-122"/>
                <a:ea typeface="微软雅黑" pitchFamily="34" charset="-122"/>
                <a:cs typeface="经典粗黑简" pitchFamily="49" charset="-122"/>
              </a:rPr>
              <a:t> </a:t>
            </a:r>
            <a:endParaRPr lang="zh-CN" altLang="zh-CN" dirty="0">
              <a:latin typeface="微软雅黑" pitchFamily="34" charset="-122"/>
              <a:ea typeface="微软雅黑" pitchFamily="34" charset="-122"/>
              <a:cs typeface="经典粗黑简" pitchFamily="49" charset="-122"/>
            </a:endParaRPr>
          </a:p>
        </p:txBody>
      </p:sp>
      <p:sp>
        <p:nvSpPr>
          <p:cNvPr id="87" name="矩形 86"/>
          <p:cNvSpPr/>
          <p:nvPr/>
        </p:nvSpPr>
        <p:spPr>
          <a:xfrm>
            <a:off x="2739958" y="3849467"/>
            <a:ext cx="6177856" cy="646331"/>
          </a:xfrm>
          <a:prstGeom prst="rect">
            <a:avLst/>
          </a:prstGeom>
        </p:spPr>
        <p:txBody>
          <a:bodyPr wrap="square">
            <a:spAutoFit/>
          </a:bodyPr>
          <a:lstStyle/>
          <a:p>
            <a:r>
              <a:rPr lang="zh-CN" altLang="en-US" dirty="0">
                <a:latin typeface="微软雅黑" pitchFamily="34" charset="-122"/>
                <a:ea typeface="微软雅黑" pitchFamily="34" charset="-122"/>
                <a:cs typeface="经典粗黑简" pitchFamily="49" charset="-122"/>
              </a:rPr>
              <a:t>（</a:t>
            </a:r>
            <a:r>
              <a:rPr lang="en-US" altLang="zh-CN" dirty="0">
                <a:latin typeface="微软雅黑" pitchFamily="34" charset="-122"/>
                <a:ea typeface="微软雅黑" pitchFamily="34" charset="-122"/>
                <a:cs typeface="经典粗黑简" pitchFamily="49" charset="-122"/>
              </a:rPr>
              <a:t>3</a:t>
            </a:r>
            <a:r>
              <a:rPr lang="zh-CN" altLang="en-US" dirty="0">
                <a:latin typeface="微软雅黑" pitchFamily="34" charset="-122"/>
                <a:ea typeface="微软雅黑" pitchFamily="34" charset="-122"/>
                <a:cs typeface="经典粗黑简" pitchFamily="49" charset="-122"/>
              </a:rPr>
              <a:t>）</a:t>
            </a:r>
            <a:r>
              <a:rPr lang="zh-CN" altLang="zh-CN" dirty="0">
                <a:latin typeface="微软雅黑" pitchFamily="34" charset="-122"/>
                <a:ea typeface="微软雅黑" pitchFamily="34" charset="-122"/>
                <a:cs typeface="经典粗黑简" pitchFamily="49" charset="-122"/>
              </a:rPr>
              <a:t>除第一个数据元素之外，集合中的每一个数据元素都只有一个</a:t>
            </a:r>
            <a:r>
              <a:rPr lang="zh-CN" altLang="zh-CN" dirty="0">
                <a:solidFill>
                  <a:srgbClr val="FF0000"/>
                </a:solidFill>
                <a:latin typeface="微软雅黑" pitchFamily="34" charset="-122"/>
                <a:ea typeface="微软雅黑" pitchFamily="34" charset="-122"/>
                <a:cs typeface="经典粗黑简" pitchFamily="49" charset="-122"/>
              </a:rPr>
              <a:t>前驱</a:t>
            </a:r>
            <a:r>
              <a:rPr lang="zh-CN" altLang="zh-CN" dirty="0">
                <a:latin typeface="微软雅黑" pitchFamily="34" charset="-122"/>
                <a:ea typeface="微软雅黑" pitchFamily="34" charset="-122"/>
                <a:cs typeface="经典粗黑简" pitchFamily="49" charset="-122"/>
              </a:rPr>
              <a:t>；</a:t>
            </a:r>
          </a:p>
        </p:txBody>
      </p:sp>
      <p:sp>
        <p:nvSpPr>
          <p:cNvPr id="88" name="矩形 87"/>
          <p:cNvSpPr/>
          <p:nvPr/>
        </p:nvSpPr>
        <p:spPr>
          <a:xfrm>
            <a:off x="2739959" y="4373691"/>
            <a:ext cx="6296538" cy="646331"/>
          </a:xfrm>
          <a:prstGeom prst="rect">
            <a:avLst/>
          </a:prstGeom>
        </p:spPr>
        <p:txBody>
          <a:bodyPr wrap="square">
            <a:spAutoFit/>
          </a:bodyPr>
          <a:lstStyle/>
          <a:p>
            <a:r>
              <a:rPr lang="zh-CN" altLang="en-US" dirty="0">
                <a:latin typeface="微软雅黑" pitchFamily="34" charset="-122"/>
                <a:ea typeface="微软雅黑" pitchFamily="34" charset="-122"/>
                <a:cs typeface="经典粗黑简" pitchFamily="49" charset="-122"/>
              </a:rPr>
              <a:t>（</a:t>
            </a:r>
            <a:r>
              <a:rPr lang="en-US" altLang="zh-CN" dirty="0">
                <a:latin typeface="微软雅黑" pitchFamily="34" charset="-122"/>
                <a:ea typeface="微软雅黑" pitchFamily="34" charset="-122"/>
                <a:cs typeface="经典粗黑简" pitchFamily="49" charset="-122"/>
              </a:rPr>
              <a:t>4</a:t>
            </a:r>
            <a:r>
              <a:rPr lang="zh-CN" altLang="en-US" dirty="0">
                <a:latin typeface="微软雅黑" pitchFamily="34" charset="-122"/>
                <a:ea typeface="微软雅黑" pitchFamily="34" charset="-122"/>
                <a:cs typeface="经典粗黑简" pitchFamily="49" charset="-122"/>
              </a:rPr>
              <a:t>）</a:t>
            </a:r>
            <a:r>
              <a:rPr lang="zh-CN" altLang="zh-CN" dirty="0">
                <a:latin typeface="微软雅黑" pitchFamily="34" charset="-122"/>
                <a:ea typeface="微软雅黑" pitchFamily="34" charset="-122"/>
                <a:cs typeface="经典粗黑简" pitchFamily="49" charset="-122"/>
              </a:rPr>
              <a:t>除最后一个数据元素之外，集合中的每一个数据元素都只有一个</a:t>
            </a:r>
            <a:r>
              <a:rPr lang="zh-CN" altLang="zh-CN" dirty="0">
                <a:solidFill>
                  <a:srgbClr val="FF0000"/>
                </a:solidFill>
                <a:latin typeface="微软雅黑" pitchFamily="34" charset="-122"/>
                <a:ea typeface="微软雅黑" pitchFamily="34" charset="-122"/>
                <a:cs typeface="经典粗黑简" pitchFamily="49" charset="-122"/>
              </a:rPr>
              <a:t>后继</a:t>
            </a:r>
            <a:r>
              <a:rPr lang="zh-CN" altLang="zh-CN" dirty="0">
                <a:latin typeface="微软雅黑" pitchFamily="34" charset="-122"/>
                <a:ea typeface="微软雅黑" pitchFamily="34" charset="-122"/>
                <a:cs typeface="经典粗黑简" pitchFamily="49" charset="-122"/>
              </a:rPr>
              <a:t>。</a:t>
            </a:r>
          </a:p>
        </p:txBody>
      </p:sp>
      <p:sp>
        <p:nvSpPr>
          <p:cNvPr id="89" name="Rectangle 6"/>
          <p:cNvSpPr>
            <a:spLocks noChangeArrowheads="1"/>
          </p:cNvSpPr>
          <p:nvPr/>
        </p:nvSpPr>
        <p:spPr bwMode="auto">
          <a:xfrm>
            <a:off x="162200" y="3795886"/>
            <a:ext cx="20335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dirty="0">
                <a:latin typeface="微软雅黑" pitchFamily="34" charset="-122"/>
                <a:ea typeface="微软雅黑" pitchFamily="34" charset="-122"/>
                <a:cs typeface="经典粗黑简" pitchFamily="49" charset="-122"/>
              </a:rPr>
              <a:t>“一对一”的关系</a:t>
            </a:r>
          </a:p>
        </p:txBody>
      </p:sp>
      <p:sp>
        <p:nvSpPr>
          <p:cNvPr id="90" name="左大括号 89"/>
          <p:cNvSpPr/>
          <p:nvPr/>
        </p:nvSpPr>
        <p:spPr>
          <a:xfrm>
            <a:off x="2159728" y="3283534"/>
            <a:ext cx="235305" cy="1463696"/>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9" name="直接连接符 28"/>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0694FE89-2717-EF2E-1D98-5747CB43605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2.1 </a:t>
            </a:r>
            <a:r>
              <a:rPr lang="zh-CN" altLang="en-US" sz="3700" b="1" dirty="0">
                <a:latin typeface="黑体" pitchFamily="49" charset="-122"/>
                <a:ea typeface="黑体" pitchFamily="49" charset="-122"/>
                <a:cs typeface="+mn-cs"/>
              </a:rPr>
              <a:t>线性表及其逻辑结构</a:t>
            </a:r>
          </a:p>
        </p:txBody>
      </p:sp>
      <p:sp>
        <p:nvSpPr>
          <p:cNvPr id="3" name="矩形 2">
            <a:extLst>
              <a:ext uri="{FF2B5EF4-FFF2-40B4-BE49-F238E27FC236}">
                <a16:creationId xmlns:a16="http://schemas.microsoft.com/office/drawing/2014/main" id="{84B8594A-40AD-6C2D-2BAD-5D6CC5F50431}"/>
              </a:ext>
            </a:extLst>
          </p:cNvPr>
          <p:cNvSpPr/>
          <p:nvPr/>
        </p:nvSpPr>
        <p:spPr>
          <a:xfrm>
            <a:off x="416325" y="869523"/>
            <a:ext cx="400279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2.1.1 </a:t>
            </a:r>
            <a:r>
              <a:rPr lang="zh-CN" altLang="en-US" sz="2800" b="1" dirty="0">
                <a:solidFill>
                  <a:schemeClr val="bg1"/>
                </a:solidFill>
                <a:latin typeface="经典粗黑简" pitchFamily="49" charset="-122"/>
                <a:ea typeface="经典粗黑简" pitchFamily="49" charset="-122"/>
                <a:cs typeface="经典粗黑简" pitchFamily="49" charset="-122"/>
              </a:rPr>
              <a:t>线性表的定义</a:t>
            </a:r>
          </a:p>
        </p:txBody>
      </p:sp>
    </p:spTree>
    <p:extLst>
      <p:ext uri="{BB962C8B-B14F-4D97-AF65-F5344CB8AC3E}">
        <p14:creationId xmlns:p14="http://schemas.microsoft.com/office/powerpoint/2010/main" val="981309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86" grpId="0"/>
      <p:bldP spid="87" grpId="0"/>
      <p:bldP spid="88" grpId="0"/>
      <p:bldP spid="89" grpId="0"/>
      <p:bldP spid="9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txBox="1">
            <a:spLocks noChangeArrowheads="1"/>
          </p:cNvSpPr>
          <p:nvPr/>
        </p:nvSpPr>
        <p:spPr>
          <a:xfrm>
            <a:off x="1031087" y="1600201"/>
            <a:ext cx="6997298" cy="3774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95000"/>
              </a:lnSpc>
              <a:spcBef>
                <a:spcPct val="10000"/>
              </a:spcBef>
              <a:buClr>
                <a:schemeClr val="tx1"/>
              </a:buClr>
              <a:buFont typeface="Wingdings" pitchFamily="2" charset="2"/>
              <a:buNone/>
            </a:pPr>
            <a:r>
              <a:rPr lang="zh-CN" altLang="en-US" sz="2000" dirty="0">
                <a:latin typeface="微软雅黑" pitchFamily="34" charset="-122"/>
                <a:ea typeface="微软雅黑" pitchFamily="34" charset="-122"/>
                <a:cs typeface="经典粗黑简" pitchFamily="49" charset="-122"/>
              </a:rPr>
              <a:t>一个</a:t>
            </a:r>
            <a:r>
              <a:rPr lang="zh-CN" altLang="en-US" sz="2000" dirty="0">
                <a:solidFill>
                  <a:srgbClr val="FF0000"/>
                </a:solidFill>
                <a:latin typeface="微软雅黑" pitchFamily="34" charset="-122"/>
                <a:ea typeface="微软雅黑" pitchFamily="34" charset="-122"/>
                <a:cs typeface="经典粗黑简" pitchFamily="49" charset="-122"/>
              </a:rPr>
              <a:t>线性表（</a:t>
            </a:r>
            <a:r>
              <a:rPr lang="en-US" altLang="zh-CN" sz="2000" dirty="0" err="1">
                <a:solidFill>
                  <a:srgbClr val="FF0000"/>
                </a:solidFill>
                <a:latin typeface="微软雅黑" pitchFamily="34" charset="-122"/>
                <a:ea typeface="微软雅黑" pitchFamily="34" charset="-122"/>
                <a:cs typeface="经典粗黑简" pitchFamily="49" charset="-122"/>
              </a:rPr>
              <a:t>Linear_List</a:t>
            </a:r>
            <a:r>
              <a:rPr lang="zh-CN" altLang="en-US" sz="2000" dirty="0">
                <a:solidFill>
                  <a:srgbClr val="FF0000"/>
                </a:solidFill>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是有</a:t>
            </a:r>
            <a:r>
              <a:rPr lang="en-US" altLang="zh-CN" sz="2000" dirty="0">
                <a:latin typeface="微软雅黑" pitchFamily="34" charset="-122"/>
                <a:ea typeface="微软雅黑" pitchFamily="34" charset="-122"/>
                <a:cs typeface="经典粗黑简" pitchFamily="49" charset="-122"/>
              </a:rPr>
              <a:t>n</a:t>
            </a:r>
            <a:r>
              <a:rPr lang="zh-CN" altLang="en-US" sz="2000" dirty="0">
                <a:latin typeface="微软雅黑" pitchFamily="34" charset="-122"/>
                <a:ea typeface="微软雅黑" pitchFamily="34" charset="-122"/>
                <a:cs typeface="经典粗黑简" pitchFamily="49" charset="-122"/>
              </a:rPr>
              <a:t>个数据元素的</a:t>
            </a:r>
            <a:r>
              <a:rPr lang="zh-CN" altLang="en-US" sz="2000" dirty="0">
                <a:solidFill>
                  <a:srgbClr val="FF0000"/>
                </a:solidFill>
                <a:latin typeface="微软雅黑" pitchFamily="34" charset="-122"/>
                <a:ea typeface="微软雅黑" pitchFamily="34" charset="-122"/>
                <a:cs typeface="经典粗黑简" pitchFamily="49" charset="-122"/>
              </a:rPr>
              <a:t>有限</a:t>
            </a:r>
            <a:r>
              <a:rPr lang="zh-CN" altLang="en-US" sz="2000" dirty="0">
                <a:latin typeface="微软雅黑" pitchFamily="34" charset="-122"/>
                <a:ea typeface="微软雅黑" pitchFamily="34" charset="-122"/>
                <a:cs typeface="经典粗黑简" pitchFamily="49" charset="-122"/>
              </a:rPr>
              <a:t>序列：</a:t>
            </a:r>
          </a:p>
          <a:p>
            <a:pPr marL="457200" indent="-457200">
              <a:lnSpc>
                <a:spcPct val="95000"/>
              </a:lnSpc>
              <a:spcBef>
                <a:spcPct val="10000"/>
              </a:spcBef>
              <a:buClr>
                <a:schemeClr val="tx1"/>
              </a:buClr>
              <a:buFont typeface="Wingdings" pitchFamily="2" charset="2"/>
              <a:buNone/>
            </a:pPr>
            <a:r>
              <a:rPr lang="zh-CN" altLang="en-US" sz="2000" dirty="0">
                <a:latin typeface="微软雅黑" pitchFamily="34" charset="-122"/>
                <a:ea typeface="微软雅黑" pitchFamily="34" charset="-122"/>
                <a:cs typeface="经典粗黑简" pitchFamily="49" charset="-122"/>
              </a:rPr>
              <a:t>                            </a:t>
            </a:r>
            <a:endParaRPr lang="en-US" altLang="zh-CN" sz="2000" dirty="0">
              <a:latin typeface="微软雅黑" pitchFamily="34" charset="-122"/>
              <a:ea typeface="微软雅黑" pitchFamily="34" charset="-122"/>
              <a:cs typeface="经典粗黑简" pitchFamily="49" charset="-122"/>
            </a:endParaRPr>
          </a:p>
        </p:txBody>
      </p:sp>
      <p:sp>
        <p:nvSpPr>
          <p:cNvPr id="17" name="矩形 16"/>
          <p:cNvSpPr/>
          <p:nvPr/>
        </p:nvSpPr>
        <p:spPr>
          <a:xfrm>
            <a:off x="1161714" y="2463738"/>
            <a:ext cx="7442734" cy="707886"/>
          </a:xfrm>
          <a:prstGeom prst="rect">
            <a:avLst/>
          </a:prstGeom>
        </p:spPr>
        <p:txBody>
          <a:bodyPr wrap="square">
            <a:spAutoFit/>
          </a:bodyPr>
          <a:lstStyle/>
          <a:p>
            <a:r>
              <a:rPr lang="zh-CN" altLang="zh-CN" sz="2000" dirty="0">
                <a:latin typeface="微软雅黑" pitchFamily="34" charset="-122"/>
                <a:ea typeface="微软雅黑" pitchFamily="34" charset="-122"/>
                <a:cs typeface="经典粗黑简" pitchFamily="49" charset="-122"/>
              </a:rPr>
              <a:t>例如，英文字母表（</a:t>
            </a:r>
            <a:r>
              <a:rPr lang="en-US" altLang="zh-CN" sz="2000" dirty="0">
                <a:latin typeface="微软雅黑" pitchFamily="34" charset="-122"/>
                <a:ea typeface="微软雅黑" pitchFamily="34" charset="-122"/>
                <a:cs typeface="经典粗黑简" pitchFamily="49" charset="-122"/>
              </a:rPr>
              <a:t>A</a:t>
            </a:r>
            <a:r>
              <a:rPr lang="zh-CN" altLang="zh-CN"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B</a:t>
            </a:r>
            <a:r>
              <a:rPr lang="zh-CN" altLang="zh-CN"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C</a:t>
            </a:r>
            <a:r>
              <a:rPr lang="zh-CN" altLang="zh-CN"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Z</a:t>
            </a:r>
            <a:r>
              <a:rPr lang="zh-CN" altLang="zh-CN" sz="2000" dirty="0">
                <a:latin typeface="微软雅黑" pitchFamily="34" charset="-122"/>
                <a:ea typeface="微软雅黑" pitchFamily="34" charset="-122"/>
                <a:cs typeface="经典粗黑简" pitchFamily="49" charset="-122"/>
              </a:rPr>
              <a:t>）是一个线性表，表中的数据元素是单个字母。</a:t>
            </a:r>
            <a:endParaRPr lang="zh-CN" altLang="en-US" sz="2000" dirty="0">
              <a:latin typeface="微软雅黑" pitchFamily="34" charset="-122"/>
              <a:ea typeface="微软雅黑" pitchFamily="34" charset="-122"/>
              <a:cs typeface="经典粗黑简" pitchFamily="49" charset="-122"/>
            </a:endParaRPr>
          </a:p>
        </p:txBody>
      </p:sp>
      <p:sp>
        <p:nvSpPr>
          <p:cNvPr id="18" name="矩形 17"/>
          <p:cNvSpPr/>
          <p:nvPr/>
        </p:nvSpPr>
        <p:spPr>
          <a:xfrm>
            <a:off x="1161715" y="3225236"/>
            <a:ext cx="7370726" cy="707886"/>
          </a:xfrm>
          <a:prstGeom prst="rect">
            <a:avLst/>
          </a:prstGeom>
        </p:spPr>
        <p:txBody>
          <a:bodyPr wrap="square">
            <a:spAutoFit/>
          </a:bodyPr>
          <a:lstStyle/>
          <a:p>
            <a:r>
              <a:rPr lang="zh-CN" altLang="zh-CN" sz="2000" dirty="0">
                <a:latin typeface="微软雅黑" pitchFamily="34" charset="-122"/>
                <a:ea typeface="微软雅黑" pitchFamily="34" charset="-122"/>
                <a:cs typeface="经典粗黑简" pitchFamily="49" charset="-122"/>
              </a:rPr>
              <a:t>又如（</a:t>
            </a:r>
            <a:r>
              <a:rPr lang="en-US" altLang="zh-CN" sz="2000" dirty="0">
                <a:latin typeface="微软雅黑" pitchFamily="34" charset="-122"/>
                <a:ea typeface="微软雅黑" pitchFamily="34" charset="-122"/>
                <a:cs typeface="经典粗黑简" pitchFamily="49" charset="-122"/>
              </a:rPr>
              <a:t>1</a:t>
            </a:r>
            <a:r>
              <a:rPr lang="zh-CN" altLang="zh-CN"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2</a:t>
            </a:r>
            <a:r>
              <a:rPr lang="zh-CN" altLang="zh-CN"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3</a:t>
            </a:r>
            <a:r>
              <a:rPr lang="zh-CN" altLang="zh-CN"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50</a:t>
            </a:r>
            <a:r>
              <a:rPr lang="zh-CN" altLang="zh-CN" sz="2000" dirty="0">
                <a:latin typeface="微软雅黑" pitchFamily="34" charset="-122"/>
                <a:ea typeface="微软雅黑" pitchFamily="34" charset="-122"/>
                <a:cs typeface="经典粗黑简" pitchFamily="49" charset="-122"/>
              </a:rPr>
              <a:t>）也是一个线性表，表中的数据元素是整数。</a:t>
            </a:r>
            <a:endParaRPr lang="zh-CN" altLang="en-US" sz="2000" dirty="0">
              <a:latin typeface="微软雅黑" pitchFamily="34" charset="-122"/>
              <a:ea typeface="微软雅黑" pitchFamily="34" charset="-122"/>
              <a:cs typeface="经典粗黑简" pitchFamily="49" charset="-122"/>
            </a:endParaRPr>
          </a:p>
        </p:txBody>
      </p:sp>
      <p:sp>
        <p:nvSpPr>
          <p:cNvPr id="19" name="矩形 18"/>
          <p:cNvSpPr/>
          <p:nvPr/>
        </p:nvSpPr>
        <p:spPr>
          <a:xfrm>
            <a:off x="1161714" y="3845054"/>
            <a:ext cx="6650646" cy="400110"/>
          </a:xfrm>
          <a:prstGeom prst="rect">
            <a:avLst/>
          </a:prstGeom>
        </p:spPr>
        <p:txBody>
          <a:bodyPr wrap="square">
            <a:spAutoFit/>
          </a:bodyPr>
          <a:lstStyle/>
          <a:p>
            <a:r>
              <a:rPr lang="zh-CN" altLang="zh-CN" sz="2000" dirty="0">
                <a:latin typeface="微软雅黑" pitchFamily="34" charset="-122"/>
                <a:ea typeface="微软雅黑" pitchFamily="34" charset="-122"/>
                <a:cs typeface="经典粗黑简" pitchFamily="49" charset="-122"/>
              </a:rPr>
              <a:t>这两个</a:t>
            </a:r>
            <a:r>
              <a:rPr lang="zh-CN" altLang="en-US" sz="2000" dirty="0">
                <a:latin typeface="微软雅黑" pitchFamily="34" charset="-122"/>
                <a:ea typeface="微软雅黑" pitchFamily="34" charset="-122"/>
                <a:cs typeface="经典粗黑简" pitchFamily="49" charset="-122"/>
              </a:rPr>
              <a:t>例子表明：</a:t>
            </a:r>
            <a:r>
              <a:rPr lang="zh-CN" altLang="zh-CN" sz="2000" dirty="0">
                <a:latin typeface="微软雅黑" pitchFamily="34" charset="-122"/>
                <a:ea typeface="微软雅黑" pitchFamily="34" charset="-122"/>
                <a:cs typeface="经典粗黑简" pitchFamily="49" charset="-122"/>
              </a:rPr>
              <a:t>线性表的元素都是</a:t>
            </a:r>
            <a:r>
              <a:rPr lang="zh-CN" altLang="en-US" sz="2000" dirty="0">
                <a:solidFill>
                  <a:srgbClr val="FF0000"/>
                </a:solidFill>
                <a:latin typeface="微软雅黑" pitchFamily="34" charset="-122"/>
                <a:ea typeface="微软雅黑" pitchFamily="34" charset="-122"/>
                <a:cs typeface="经典粗黑简" pitchFamily="49" charset="-122"/>
              </a:rPr>
              <a:t>原子类型</a:t>
            </a:r>
            <a:r>
              <a:rPr lang="zh-CN" altLang="zh-CN" sz="2000" dirty="0">
                <a:latin typeface="微软雅黑" pitchFamily="34" charset="-122"/>
                <a:ea typeface="微软雅黑" pitchFamily="34" charset="-122"/>
                <a:cs typeface="经典粗黑简" pitchFamily="49" charset="-122"/>
              </a:rPr>
              <a:t>数据组成。</a:t>
            </a:r>
            <a:endParaRPr lang="zh-CN" altLang="en-US" sz="2000" dirty="0">
              <a:latin typeface="微软雅黑" pitchFamily="34" charset="-122"/>
              <a:ea typeface="微软雅黑" pitchFamily="34" charset="-122"/>
              <a:cs typeface="经典粗黑简" pitchFamily="49" charset="-122"/>
            </a:endParaRPr>
          </a:p>
        </p:txBody>
      </p:sp>
      <p:sp>
        <p:nvSpPr>
          <p:cNvPr id="20" name="矩形 19"/>
          <p:cNvSpPr/>
          <p:nvPr/>
        </p:nvSpPr>
        <p:spPr>
          <a:xfrm>
            <a:off x="1462816" y="1981892"/>
            <a:ext cx="6218369" cy="501676"/>
          </a:xfrm>
          <a:prstGeom prst="rect">
            <a:avLst/>
          </a:prstGeom>
        </p:spPr>
        <p:txBody>
          <a:bodyPr wrap="none">
            <a:spAutoFit/>
          </a:bodyPr>
          <a:lstStyle/>
          <a:p>
            <a:pPr marL="457200" indent="-457200">
              <a:lnSpc>
                <a:spcPct val="95000"/>
              </a:lnSpc>
              <a:spcBef>
                <a:spcPct val="10000"/>
              </a:spcBef>
              <a:buClr>
                <a:schemeClr val="tx1"/>
              </a:buClr>
              <a:buFont typeface="Wingdings" pitchFamily="2" charset="2"/>
              <a:buNone/>
            </a:pPr>
            <a:r>
              <a:rPr lang="zh-CN" altLang="en-US" sz="2800" dirty="0">
                <a:latin typeface="微软雅黑" pitchFamily="34" charset="-122"/>
                <a:ea typeface="微软雅黑" pitchFamily="34" charset="-122"/>
                <a:cs typeface="经典粗黑简" pitchFamily="49" charset="-122"/>
              </a:rPr>
              <a:t>(</a:t>
            </a:r>
            <a:r>
              <a:rPr lang="en-US" altLang="zh-CN" sz="2800" dirty="0">
                <a:latin typeface="微软雅黑" pitchFamily="34" charset="-122"/>
                <a:ea typeface="微软雅黑" pitchFamily="34" charset="-122"/>
                <a:cs typeface="经典粗黑简" pitchFamily="49" charset="-122"/>
              </a:rPr>
              <a:t>a</a:t>
            </a:r>
            <a:r>
              <a:rPr lang="en-US" altLang="zh-CN" sz="2800" baseline="-25000" dirty="0">
                <a:latin typeface="微软雅黑" pitchFamily="34" charset="-122"/>
                <a:ea typeface="微软雅黑" pitchFamily="34" charset="-122"/>
                <a:cs typeface="经典粗黑简" pitchFamily="49" charset="-122"/>
              </a:rPr>
              <a:t>1</a:t>
            </a:r>
            <a:r>
              <a:rPr lang="en-US" altLang="zh-CN" sz="2800" dirty="0">
                <a:latin typeface="微软雅黑" pitchFamily="34" charset="-122"/>
                <a:ea typeface="微软雅黑" pitchFamily="34" charset="-122"/>
                <a:cs typeface="经典粗黑简" pitchFamily="49" charset="-122"/>
              </a:rPr>
              <a:t>，a</a:t>
            </a:r>
            <a:r>
              <a:rPr lang="en-US" altLang="zh-CN" sz="2800" baseline="-25000" dirty="0">
                <a:latin typeface="微软雅黑" pitchFamily="34" charset="-122"/>
                <a:ea typeface="微软雅黑" pitchFamily="34" charset="-122"/>
                <a:cs typeface="经典粗黑简" pitchFamily="49" charset="-122"/>
              </a:rPr>
              <a:t>2</a:t>
            </a:r>
            <a:r>
              <a:rPr lang="en-US" altLang="zh-CN" sz="2800" dirty="0">
                <a:latin typeface="微软雅黑" pitchFamily="34" charset="-122"/>
                <a:ea typeface="微软雅黑" pitchFamily="34" charset="-122"/>
                <a:cs typeface="经典粗黑简" pitchFamily="49" charset="-122"/>
              </a:rPr>
              <a:t>，…， a</a:t>
            </a:r>
            <a:r>
              <a:rPr lang="en-US" altLang="zh-CN" sz="2800" baseline="-25000" dirty="0">
                <a:latin typeface="微软雅黑" pitchFamily="34" charset="-122"/>
                <a:ea typeface="微软雅黑" pitchFamily="34" charset="-122"/>
                <a:cs typeface="经典粗黑简" pitchFamily="49" charset="-122"/>
              </a:rPr>
              <a:t>i-1 </a:t>
            </a:r>
            <a:r>
              <a:rPr lang="zh-CN" altLang="en-US" sz="2800" dirty="0">
                <a:latin typeface="微软雅黑" pitchFamily="34" charset="-122"/>
                <a:ea typeface="微软雅黑" pitchFamily="34" charset="-122"/>
                <a:cs typeface="经典粗黑简" pitchFamily="49" charset="-122"/>
              </a:rPr>
              <a:t>，</a:t>
            </a:r>
            <a:r>
              <a:rPr lang="en-US" altLang="zh-CN" sz="2800" dirty="0" err="1">
                <a:latin typeface="微软雅黑" pitchFamily="34" charset="-122"/>
                <a:ea typeface="微软雅黑" pitchFamily="34" charset="-122"/>
                <a:cs typeface="经典粗黑简" pitchFamily="49" charset="-122"/>
              </a:rPr>
              <a:t>a</a:t>
            </a:r>
            <a:r>
              <a:rPr lang="en-US" altLang="zh-CN" sz="2800" baseline="-25000" dirty="0" err="1">
                <a:latin typeface="微软雅黑" pitchFamily="34" charset="-122"/>
                <a:ea typeface="微软雅黑" pitchFamily="34" charset="-122"/>
                <a:cs typeface="经典粗黑简" pitchFamily="49" charset="-122"/>
              </a:rPr>
              <a:t>i</a:t>
            </a:r>
            <a:r>
              <a:rPr lang="zh-CN" altLang="en-US" sz="2800" dirty="0">
                <a:latin typeface="微软雅黑" pitchFamily="34" charset="-122"/>
                <a:ea typeface="微软雅黑" pitchFamily="34" charset="-122"/>
                <a:cs typeface="经典粗黑简" pitchFamily="49" charset="-122"/>
              </a:rPr>
              <a:t>，</a:t>
            </a:r>
            <a:r>
              <a:rPr lang="en-US" altLang="zh-CN" sz="2800" baseline="-25000" dirty="0">
                <a:latin typeface="微软雅黑" pitchFamily="34" charset="-122"/>
                <a:ea typeface="微软雅黑" pitchFamily="34" charset="-122"/>
                <a:cs typeface="经典粗黑简" pitchFamily="49" charset="-122"/>
              </a:rPr>
              <a:t> </a:t>
            </a:r>
            <a:r>
              <a:rPr lang="en-US" altLang="zh-CN" sz="2800" dirty="0">
                <a:latin typeface="微软雅黑" pitchFamily="34" charset="-122"/>
                <a:ea typeface="微软雅黑" pitchFamily="34" charset="-122"/>
                <a:cs typeface="经典粗黑简" pitchFamily="49" charset="-122"/>
              </a:rPr>
              <a:t>a</a:t>
            </a:r>
            <a:r>
              <a:rPr lang="en-US" altLang="zh-CN" sz="2800" baseline="-25000" dirty="0">
                <a:latin typeface="微软雅黑" pitchFamily="34" charset="-122"/>
                <a:ea typeface="微软雅黑" pitchFamily="34" charset="-122"/>
                <a:cs typeface="经典粗黑简" pitchFamily="49" charset="-122"/>
              </a:rPr>
              <a:t>i+1 </a:t>
            </a:r>
            <a:r>
              <a:rPr lang="en-US" altLang="zh-CN" sz="2800" dirty="0">
                <a:latin typeface="微软雅黑" pitchFamily="34" charset="-122"/>
                <a:ea typeface="微软雅黑" pitchFamily="34" charset="-122"/>
                <a:cs typeface="经典粗黑简" pitchFamily="49" charset="-122"/>
              </a:rPr>
              <a:t>，…，a</a:t>
            </a:r>
            <a:r>
              <a:rPr lang="en-US" altLang="zh-CN" sz="2800" baseline="-25000" dirty="0">
                <a:latin typeface="微软雅黑" pitchFamily="34" charset="-122"/>
                <a:ea typeface="微软雅黑" pitchFamily="34" charset="-122"/>
                <a:cs typeface="经典粗黑简" pitchFamily="49" charset="-122"/>
              </a:rPr>
              <a:t>n</a:t>
            </a:r>
            <a:r>
              <a:rPr lang="en-US" altLang="zh-CN" sz="2800" dirty="0">
                <a:latin typeface="微软雅黑" pitchFamily="34" charset="-122"/>
                <a:ea typeface="微软雅黑" pitchFamily="34" charset="-122"/>
                <a:cs typeface="经典粗黑简" pitchFamily="49" charset="-122"/>
              </a:rPr>
              <a:t>)</a:t>
            </a:r>
          </a:p>
        </p:txBody>
      </p:sp>
      <p:cxnSp>
        <p:nvCxnSpPr>
          <p:cNvPr id="13" name="直接连接符 1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5FAC9C7E-2300-320D-0CDF-E98E9A4494CC}"/>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2.1 </a:t>
            </a:r>
            <a:r>
              <a:rPr lang="zh-CN" altLang="en-US" sz="3700" b="1" dirty="0">
                <a:latin typeface="黑体" pitchFamily="49" charset="-122"/>
                <a:ea typeface="黑体" pitchFamily="49" charset="-122"/>
                <a:cs typeface="+mn-cs"/>
              </a:rPr>
              <a:t>线性表及其逻辑结构</a:t>
            </a:r>
          </a:p>
        </p:txBody>
      </p:sp>
      <p:sp>
        <p:nvSpPr>
          <p:cNvPr id="3" name="矩形 2">
            <a:extLst>
              <a:ext uri="{FF2B5EF4-FFF2-40B4-BE49-F238E27FC236}">
                <a16:creationId xmlns:a16="http://schemas.microsoft.com/office/drawing/2014/main" id="{7608EF9B-B8D4-23F2-1D9B-E9C1BBC153E4}"/>
              </a:ext>
            </a:extLst>
          </p:cNvPr>
          <p:cNvSpPr/>
          <p:nvPr/>
        </p:nvSpPr>
        <p:spPr>
          <a:xfrm>
            <a:off x="416325" y="869523"/>
            <a:ext cx="400279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2.1.1 </a:t>
            </a:r>
            <a:r>
              <a:rPr lang="zh-CN" altLang="en-US" sz="2800" b="1" dirty="0">
                <a:solidFill>
                  <a:schemeClr val="bg1"/>
                </a:solidFill>
                <a:latin typeface="经典粗黑简" pitchFamily="49" charset="-122"/>
                <a:ea typeface="经典粗黑简" pitchFamily="49" charset="-122"/>
                <a:cs typeface="经典粗黑简" pitchFamily="49" charset="-122"/>
              </a:rPr>
              <a:t>线性表的定义</a:t>
            </a:r>
          </a:p>
        </p:txBody>
      </p:sp>
    </p:spTree>
    <p:extLst>
      <p:ext uri="{BB962C8B-B14F-4D97-AF65-F5344CB8AC3E}">
        <p14:creationId xmlns:p14="http://schemas.microsoft.com/office/powerpoint/2010/main" val="589386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txBox="1">
            <a:spLocks noChangeArrowheads="1"/>
          </p:cNvSpPr>
          <p:nvPr/>
        </p:nvSpPr>
        <p:spPr>
          <a:xfrm>
            <a:off x="1031087" y="1509632"/>
            <a:ext cx="6997298" cy="3774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95000"/>
              </a:lnSpc>
              <a:spcBef>
                <a:spcPct val="10000"/>
              </a:spcBef>
              <a:buClr>
                <a:schemeClr val="tx1"/>
              </a:buClr>
              <a:buFont typeface="Wingdings" pitchFamily="2" charset="2"/>
              <a:buNone/>
            </a:pPr>
            <a:r>
              <a:rPr lang="zh-CN" altLang="en-US" sz="2000" dirty="0">
                <a:latin typeface="微软雅黑" pitchFamily="34" charset="-122"/>
                <a:ea typeface="微软雅黑" pitchFamily="34" charset="-122"/>
                <a:cs typeface="经典粗黑简" pitchFamily="49" charset="-122"/>
              </a:rPr>
              <a:t>一个</a:t>
            </a:r>
            <a:r>
              <a:rPr lang="zh-CN" altLang="en-US" sz="2000" dirty="0">
                <a:solidFill>
                  <a:srgbClr val="FF0000"/>
                </a:solidFill>
                <a:latin typeface="微软雅黑" pitchFamily="34" charset="-122"/>
                <a:ea typeface="微软雅黑" pitchFamily="34" charset="-122"/>
                <a:cs typeface="经典粗黑简" pitchFamily="49" charset="-122"/>
              </a:rPr>
              <a:t>线性表（</a:t>
            </a:r>
            <a:r>
              <a:rPr lang="en-US" altLang="zh-CN" sz="2000" dirty="0" err="1">
                <a:solidFill>
                  <a:srgbClr val="FF0000"/>
                </a:solidFill>
                <a:latin typeface="微软雅黑" pitchFamily="34" charset="-122"/>
                <a:ea typeface="微软雅黑" pitchFamily="34" charset="-122"/>
                <a:cs typeface="经典粗黑简" pitchFamily="49" charset="-122"/>
              </a:rPr>
              <a:t>Linear_List</a:t>
            </a:r>
            <a:r>
              <a:rPr lang="zh-CN" altLang="en-US" sz="2000" dirty="0">
                <a:solidFill>
                  <a:srgbClr val="FF0000"/>
                </a:solidFill>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是有</a:t>
            </a:r>
            <a:r>
              <a:rPr lang="en-US" altLang="zh-CN" sz="2000" dirty="0">
                <a:latin typeface="微软雅黑" pitchFamily="34" charset="-122"/>
                <a:ea typeface="微软雅黑" pitchFamily="34" charset="-122"/>
                <a:cs typeface="经典粗黑简" pitchFamily="49" charset="-122"/>
              </a:rPr>
              <a:t>n</a:t>
            </a:r>
            <a:r>
              <a:rPr lang="zh-CN" altLang="en-US" sz="2000" dirty="0">
                <a:latin typeface="微软雅黑" pitchFamily="34" charset="-122"/>
                <a:ea typeface="微软雅黑" pitchFamily="34" charset="-122"/>
                <a:cs typeface="经典粗黑简" pitchFamily="49" charset="-122"/>
              </a:rPr>
              <a:t>个数据元素的</a:t>
            </a:r>
            <a:r>
              <a:rPr lang="zh-CN" altLang="en-US" sz="2000" dirty="0">
                <a:solidFill>
                  <a:srgbClr val="FF0000"/>
                </a:solidFill>
                <a:latin typeface="微软雅黑" pitchFamily="34" charset="-122"/>
                <a:ea typeface="微软雅黑" pitchFamily="34" charset="-122"/>
                <a:cs typeface="经典粗黑简" pitchFamily="49" charset="-122"/>
              </a:rPr>
              <a:t>有限</a:t>
            </a:r>
            <a:r>
              <a:rPr lang="zh-CN" altLang="en-US" sz="2000" dirty="0">
                <a:latin typeface="微软雅黑" pitchFamily="34" charset="-122"/>
                <a:ea typeface="微软雅黑" pitchFamily="34" charset="-122"/>
                <a:cs typeface="经典粗黑简" pitchFamily="49" charset="-122"/>
              </a:rPr>
              <a:t>序列：</a:t>
            </a:r>
          </a:p>
          <a:p>
            <a:pPr marL="457200" indent="-457200">
              <a:lnSpc>
                <a:spcPct val="95000"/>
              </a:lnSpc>
              <a:spcBef>
                <a:spcPct val="10000"/>
              </a:spcBef>
              <a:buClr>
                <a:schemeClr val="tx1"/>
              </a:buClr>
              <a:buFont typeface="Wingdings" pitchFamily="2" charset="2"/>
              <a:buNone/>
            </a:pPr>
            <a:r>
              <a:rPr lang="zh-CN" altLang="en-US" sz="2000" dirty="0">
                <a:latin typeface="微软雅黑" pitchFamily="34" charset="-122"/>
                <a:ea typeface="微软雅黑" pitchFamily="34" charset="-122"/>
                <a:cs typeface="经典粗黑简" pitchFamily="49" charset="-122"/>
              </a:rPr>
              <a:t>                            </a:t>
            </a:r>
            <a:endParaRPr lang="en-US" altLang="zh-CN" sz="2000" dirty="0">
              <a:latin typeface="微软雅黑" pitchFamily="34" charset="-122"/>
              <a:ea typeface="微软雅黑" pitchFamily="34" charset="-122"/>
              <a:cs typeface="经典粗黑简" pitchFamily="49" charset="-122"/>
            </a:endParaRPr>
          </a:p>
        </p:txBody>
      </p:sp>
      <p:sp>
        <p:nvSpPr>
          <p:cNvPr id="20" name="矩形 19"/>
          <p:cNvSpPr/>
          <p:nvPr/>
        </p:nvSpPr>
        <p:spPr>
          <a:xfrm>
            <a:off x="1462816" y="1779662"/>
            <a:ext cx="5349541" cy="443198"/>
          </a:xfrm>
          <a:prstGeom prst="rect">
            <a:avLst/>
          </a:prstGeom>
        </p:spPr>
        <p:txBody>
          <a:bodyPr wrap="none">
            <a:spAutoFit/>
          </a:bodyPr>
          <a:lstStyle/>
          <a:p>
            <a:pPr marL="457200" indent="-457200">
              <a:lnSpc>
                <a:spcPct val="95000"/>
              </a:lnSpc>
              <a:spcBef>
                <a:spcPct val="10000"/>
              </a:spcBef>
              <a:buClr>
                <a:schemeClr val="tx1"/>
              </a:buClr>
              <a:buFont typeface="Wingdings" pitchFamily="2" charset="2"/>
              <a:buNone/>
            </a:pPr>
            <a:r>
              <a:rPr lang="zh-CN" altLang="en-US"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1</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2</a:t>
            </a:r>
            <a:r>
              <a:rPr lang="en-US" altLang="zh-CN" sz="2400" dirty="0">
                <a:latin typeface="微软雅黑" pitchFamily="34" charset="-122"/>
                <a:ea typeface="微软雅黑" pitchFamily="34" charset="-122"/>
                <a:cs typeface="经典粗黑简" pitchFamily="49" charset="-122"/>
              </a:rPr>
              <a:t>，…， a</a:t>
            </a:r>
            <a:r>
              <a:rPr lang="en-US" altLang="zh-CN" sz="2400" baseline="-25000" dirty="0">
                <a:latin typeface="微软雅黑" pitchFamily="34" charset="-122"/>
                <a:ea typeface="微软雅黑" pitchFamily="34" charset="-122"/>
                <a:cs typeface="经典粗黑简" pitchFamily="49" charset="-122"/>
              </a:rPr>
              <a:t>i-1 </a:t>
            </a:r>
            <a:r>
              <a:rPr lang="zh-CN" altLang="en-US" sz="2400" dirty="0">
                <a:latin typeface="微软雅黑" pitchFamily="34" charset="-122"/>
                <a:ea typeface="微软雅黑" pitchFamily="34" charset="-122"/>
                <a:cs typeface="经典粗黑简" pitchFamily="49" charset="-122"/>
              </a:rPr>
              <a:t>，</a:t>
            </a:r>
            <a:r>
              <a:rPr lang="en-US" altLang="zh-CN" sz="2400" dirty="0" err="1">
                <a:latin typeface="微软雅黑" pitchFamily="34" charset="-122"/>
                <a:ea typeface="微软雅黑" pitchFamily="34" charset="-122"/>
                <a:cs typeface="经典粗黑简" pitchFamily="49" charset="-122"/>
              </a:rPr>
              <a:t>a</a:t>
            </a:r>
            <a:r>
              <a:rPr lang="en-US" altLang="zh-CN" sz="2400" baseline="-25000" dirty="0" err="1">
                <a:latin typeface="微软雅黑" pitchFamily="34" charset="-122"/>
                <a:ea typeface="微软雅黑" pitchFamily="34" charset="-122"/>
                <a:cs typeface="经典粗黑简" pitchFamily="49" charset="-122"/>
              </a:rPr>
              <a:t>i</a:t>
            </a:r>
            <a:r>
              <a:rPr lang="zh-CN" altLang="en-US" sz="2400" dirty="0">
                <a:latin typeface="微软雅黑" pitchFamily="34" charset="-122"/>
                <a:ea typeface="微软雅黑" pitchFamily="34" charset="-122"/>
                <a:cs typeface="经典粗黑简" pitchFamily="49" charset="-122"/>
              </a:rPr>
              <a:t>，</a:t>
            </a:r>
            <a:r>
              <a:rPr lang="en-US" altLang="zh-CN" sz="2400" baseline="-25000" dirty="0">
                <a:latin typeface="微软雅黑" pitchFamily="34" charset="-122"/>
                <a:ea typeface="微软雅黑" pitchFamily="34" charset="-122"/>
                <a:cs typeface="经典粗黑简" pitchFamily="49" charset="-122"/>
              </a:rPr>
              <a:t> </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i+1 </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n</a:t>
            </a:r>
            <a:r>
              <a:rPr lang="en-US" altLang="zh-CN" sz="2400" dirty="0">
                <a:latin typeface="微软雅黑" pitchFamily="34" charset="-122"/>
                <a:ea typeface="微软雅黑" pitchFamily="34" charset="-122"/>
                <a:cs typeface="经典粗黑简" pitchFamily="49" charset="-122"/>
              </a:rPr>
              <a:t>)</a:t>
            </a:r>
          </a:p>
        </p:txBody>
      </p:sp>
      <p:sp>
        <p:nvSpPr>
          <p:cNvPr id="11" name="矩形 10"/>
          <p:cNvSpPr/>
          <p:nvPr/>
        </p:nvSpPr>
        <p:spPr>
          <a:xfrm>
            <a:off x="611992" y="2139702"/>
            <a:ext cx="8136473" cy="646331"/>
          </a:xfrm>
          <a:prstGeom prst="rect">
            <a:avLst/>
          </a:prstGeom>
        </p:spPr>
        <p:txBody>
          <a:bodyPr wrap="square">
            <a:spAutoFit/>
          </a:bodyPr>
          <a:lstStyle/>
          <a:p>
            <a:r>
              <a:rPr lang="zh-CN" altLang="zh-CN" dirty="0">
                <a:latin typeface="微软雅黑" pitchFamily="34" charset="-122"/>
                <a:ea typeface="微软雅黑" pitchFamily="34" charset="-122"/>
                <a:cs typeface="经典粗黑简" pitchFamily="49" charset="-122"/>
              </a:rPr>
              <a:t>在比较复杂的线性表中，一个数据元素可以</a:t>
            </a:r>
            <a:r>
              <a:rPr lang="zh-CN" altLang="en-US" dirty="0">
                <a:latin typeface="微软雅黑" pitchFamily="34" charset="-122"/>
                <a:ea typeface="微软雅黑" pitchFamily="34" charset="-122"/>
                <a:cs typeface="经典粗黑简" pitchFamily="49" charset="-122"/>
              </a:rPr>
              <a:t>是</a:t>
            </a:r>
            <a:r>
              <a:rPr lang="zh-CN" altLang="en-US" dirty="0">
                <a:solidFill>
                  <a:srgbClr val="FF0000"/>
                </a:solidFill>
                <a:latin typeface="微软雅黑" pitchFamily="34" charset="-122"/>
                <a:ea typeface="微软雅黑" pitchFamily="34" charset="-122"/>
                <a:cs typeface="经典粗黑简" pitchFamily="49" charset="-122"/>
              </a:rPr>
              <a:t>结构类型</a:t>
            </a:r>
            <a:r>
              <a:rPr lang="zh-CN" altLang="en-US" dirty="0">
                <a:latin typeface="微软雅黑" pitchFamily="34" charset="-122"/>
                <a:ea typeface="微软雅黑" pitchFamily="34" charset="-122"/>
                <a:cs typeface="经典粗黑简" pitchFamily="49" charset="-122"/>
              </a:rPr>
              <a:t>数据，它</a:t>
            </a:r>
            <a:r>
              <a:rPr lang="zh-CN" altLang="zh-CN" dirty="0">
                <a:latin typeface="微软雅黑" pitchFamily="34" charset="-122"/>
                <a:ea typeface="微软雅黑" pitchFamily="34" charset="-122"/>
                <a:cs typeface="经典粗黑简" pitchFamily="49" charset="-122"/>
              </a:rPr>
              <a:t>由若干个数据项组成。</a:t>
            </a:r>
            <a:endParaRPr lang="zh-CN" altLang="en-US" dirty="0">
              <a:latin typeface="微软雅黑" pitchFamily="34" charset="-122"/>
              <a:ea typeface="微软雅黑" pitchFamily="34" charset="-122"/>
              <a:cs typeface="经典粗黑简" pitchFamily="49" charset="-122"/>
            </a:endParaRPr>
          </a:p>
        </p:txBody>
      </p:sp>
      <p:graphicFrame>
        <p:nvGraphicFramePr>
          <p:cNvPr id="12" name="表格 11"/>
          <p:cNvGraphicFramePr>
            <a:graphicFrameLocks noGrp="1"/>
          </p:cNvGraphicFramePr>
          <p:nvPr>
            <p:extLst>
              <p:ext uri="{D42A27DB-BD31-4B8C-83A1-F6EECF244321}">
                <p14:modId xmlns:p14="http://schemas.microsoft.com/office/powerpoint/2010/main" val="3885819714"/>
              </p:ext>
            </p:extLst>
          </p:nvPr>
        </p:nvGraphicFramePr>
        <p:xfrm>
          <a:off x="611560" y="2740715"/>
          <a:ext cx="8020595" cy="1758309"/>
        </p:xfrm>
        <a:graphic>
          <a:graphicData uri="http://schemas.openxmlformats.org/drawingml/2006/table">
            <a:tbl>
              <a:tblPr firstRow="1" bandRow="1">
                <a:tableStyleId>{5940675A-B579-460E-94D1-54222C63F5DA}</a:tableStyleId>
              </a:tblPr>
              <a:tblGrid>
                <a:gridCol w="975360">
                  <a:extLst>
                    <a:ext uri="{9D8B030D-6E8A-4147-A177-3AD203B41FA5}">
                      <a16:colId xmlns:a16="http://schemas.microsoft.com/office/drawing/2014/main" val="20000"/>
                    </a:ext>
                  </a:extLst>
                </a:gridCol>
                <a:gridCol w="809897">
                  <a:extLst>
                    <a:ext uri="{9D8B030D-6E8A-4147-A177-3AD203B41FA5}">
                      <a16:colId xmlns:a16="http://schemas.microsoft.com/office/drawing/2014/main" val="20001"/>
                    </a:ext>
                  </a:extLst>
                </a:gridCol>
                <a:gridCol w="1123406">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715589">
                  <a:extLst>
                    <a:ext uri="{9D8B030D-6E8A-4147-A177-3AD203B41FA5}">
                      <a16:colId xmlns:a16="http://schemas.microsoft.com/office/drawing/2014/main" val="20004"/>
                    </a:ext>
                  </a:extLst>
                </a:gridCol>
                <a:gridCol w="1166949">
                  <a:extLst>
                    <a:ext uri="{9D8B030D-6E8A-4147-A177-3AD203B41FA5}">
                      <a16:colId xmlns:a16="http://schemas.microsoft.com/office/drawing/2014/main" val="20005"/>
                    </a:ext>
                  </a:extLst>
                </a:gridCol>
                <a:gridCol w="1132114">
                  <a:extLst>
                    <a:ext uri="{9D8B030D-6E8A-4147-A177-3AD203B41FA5}">
                      <a16:colId xmlns:a16="http://schemas.microsoft.com/office/drawing/2014/main" val="20006"/>
                    </a:ext>
                  </a:extLst>
                </a:gridCol>
              </a:tblGrid>
              <a:tr h="348609">
                <a:tc>
                  <a:txBody>
                    <a:bodyPr/>
                    <a:lstStyle/>
                    <a:p>
                      <a:pPr algn="ctr"/>
                      <a:r>
                        <a:rPr lang="zh-CN" altLang="en-US" sz="1400" dirty="0"/>
                        <a:t>学号</a:t>
                      </a:r>
                    </a:p>
                  </a:txBody>
                  <a:tcPr marT="34290" marB="34290"/>
                </a:tc>
                <a:tc>
                  <a:txBody>
                    <a:bodyPr/>
                    <a:lstStyle/>
                    <a:p>
                      <a:pPr algn="ctr"/>
                      <a:r>
                        <a:rPr lang="zh-CN" altLang="en-US" sz="1400" dirty="0"/>
                        <a:t>姓名</a:t>
                      </a:r>
                    </a:p>
                  </a:txBody>
                  <a:tcPr marT="34290" marB="34290"/>
                </a:tc>
                <a:tc>
                  <a:txBody>
                    <a:bodyPr/>
                    <a:lstStyle/>
                    <a:p>
                      <a:pPr algn="ctr"/>
                      <a:r>
                        <a:rPr lang="zh-CN" altLang="en-US" sz="1400" dirty="0"/>
                        <a:t>高等数学</a:t>
                      </a:r>
                    </a:p>
                  </a:txBody>
                  <a:tcPr marT="34290" marB="34290"/>
                </a:tc>
                <a:tc>
                  <a:txBody>
                    <a:bodyPr/>
                    <a:lstStyle/>
                    <a:p>
                      <a:pPr algn="ctr"/>
                      <a:r>
                        <a:rPr lang="zh-CN" altLang="en-US" sz="1400" dirty="0"/>
                        <a:t>大学物理</a:t>
                      </a:r>
                    </a:p>
                  </a:txBody>
                  <a:tcPr marT="34290" marB="34290"/>
                </a:tc>
                <a:tc>
                  <a:txBody>
                    <a:bodyPr/>
                    <a:lstStyle/>
                    <a:p>
                      <a:pPr algn="ctr"/>
                      <a:r>
                        <a:rPr lang="en-US" altLang="zh-CN" sz="1400" dirty="0"/>
                        <a:t>C</a:t>
                      </a:r>
                      <a:r>
                        <a:rPr lang="zh-CN" altLang="en-US" sz="1400" dirty="0"/>
                        <a:t>语言程序设计</a:t>
                      </a:r>
                    </a:p>
                  </a:txBody>
                  <a:tcPr marT="34290" marB="34290">
                    <a:solidFill>
                      <a:srgbClr val="FFC000"/>
                    </a:solidFill>
                  </a:tcPr>
                </a:tc>
                <a:tc>
                  <a:txBody>
                    <a:bodyPr/>
                    <a:lstStyle/>
                    <a:p>
                      <a:pPr algn="ctr"/>
                      <a:r>
                        <a:rPr lang="zh-CN" altLang="en-US" sz="1400" dirty="0"/>
                        <a:t>离散数学</a:t>
                      </a:r>
                    </a:p>
                  </a:txBody>
                  <a:tcPr marT="34290" marB="34290"/>
                </a:tc>
                <a:tc>
                  <a:txBody>
                    <a:bodyPr/>
                    <a:lstStyle/>
                    <a:p>
                      <a:pPr algn="ctr"/>
                      <a:r>
                        <a:rPr lang="zh-CN" altLang="en-US" sz="1400" dirty="0"/>
                        <a:t>数据结构</a:t>
                      </a:r>
                    </a:p>
                  </a:txBody>
                  <a:tcPr marT="34290" marB="34290"/>
                </a:tc>
                <a:extLst>
                  <a:ext uri="{0D108BD9-81ED-4DB2-BD59-A6C34878D82A}">
                    <a16:rowId xmlns:a16="http://schemas.microsoft.com/office/drawing/2014/main" val="10000"/>
                  </a:ext>
                </a:extLst>
              </a:tr>
              <a:tr h="278130">
                <a:tc>
                  <a:txBody>
                    <a:bodyPr/>
                    <a:lstStyle/>
                    <a:p>
                      <a:pPr algn="ctr"/>
                      <a:r>
                        <a:rPr lang="en-US" altLang="zh-CN" sz="1400" dirty="0"/>
                        <a:t>C0001</a:t>
                      </a:r>
                      <a:endParaRPr lang="zh-CN" altLang="en-US" sz="1400" dirty="0"/>
                    </a:p>
                  </a:txBody>
                  <a:tcPr marT="34290" marB="34290"/>
                </a:tc>
                <a:tc>
                  <a:txBody>
                    <a:bodyPr/>
                    <a:lstStyle/>
                    <a:p>
                      <a:pPr algn="ctr"/>
                      <a:r>
                        <a:rPr lang="zh-CN" altLang="en-US" sz="1400" dirty="0"/>
                        <a:t>张三</a:t>
                      </a:r>
                    </a:p>
                  </a:txBody>
                  <a:tcPr marT="34290" marB="34290"/>
                </a:tc>
                <a:tc>
                  <a:txBody>
                    <a:bodyPr/>
                    <a:lstStyle/>
                    <a:p>
                      <a:pPr algn="ctr"/>
                      <a:r>
                        <a:rPr lang="en-US" altLang="zh-CN" sz="1400" dirty="0"/>
                        <a:t>90</a:t>
                      </a:r>
                      <a:endParaRPr lang="zh-CN" altLang="en-US" sz="1400" dirty="0"/>
                    </a:p>
                  </a:txBody>
                  <a:tcPr marT="34290" marB="34290"/>
                </a:tc>
                <a:tc>
                  <a:txBody>
                    <a:bodyPr/>
                    <a:lstStyle/>
                    <a:p>
                      <a:pPr algn="ctr"/>
                      <a:r>
                        <a:rPr lang="en-US" altLang="zh-CN" sz="1400" dirty="0"/>
                        <a:t>96</a:t>
                      </a:r>
                      <a:endParaRPr lang="zh-CN" altLang="en-US" sz="1400" dirty="0"/>
                    </a:p>
                  </a:txBody>
                  <a:tcPr marT="34290" marB="34290"/>
                </a:tc>
                <a:tc>
                  <a:txBody>
                    <a:bodyPr/>
                    <a:lstStyle/>
                    <a:p>
                      <a:pPr algn="ctr"/>
                      <a:r>
                        <a:rPr lang="en-US" altLang="zh-CN" sz="1400" dirty="0"/>
                        <a:t>95</a:t>
                      </a:r>
                      <a:endParaRPr lang="zh-CN" altLang="en-US" sz="1400" dirty="0"/>
                    </a:p>
                  </a:txBody>
                  <a:tcPr marT="34290" marB="34290">
                    <a:solidFill>
                      <a:srgbClr val="FFC000"/>
                    </a:solidFill>
                  </a:tcPr>
                </a:tc>
                <a:tc>
                  <a:txBody>
                    <a:bodyPr/>
                    <a:lstStyle/>
                    <a:p>
                      <a:pPr algn="ctr"/>
                      <a:r>
                        <a:rPr lang="en-US" altLang="zh-CN" sz="1400" dirty="0"/>
                        <a:t>89</a:t>
                      </a:r>
                      <a:endParaRPr lang="zh-CN" altLang="en-US" sz="1400" dirty="0"/>
                    </a:p>
                  </a:txBody>
                  <a:tcPr marT="34290" marB="34290"/>
                </a:tc>
                <a:tc>
                  <a:txBody>
                    <a:bodyPr/>
                    <a:lstStyle/>
                    <a:p>
                      <a:pPr algn="ctr"/>
                      <a:endParaRPr lang="zh-CN" altLang="en-US" sz="1400"/>
                    </a:p>
                  </a:txBody>
                  <a:tcPr marT="34290" marB="34290"/>
                </a:tc>
                <a:extLst>
                  <a:ext uri="{0D108BD9-81ED-4DB2-BD59-A6C34878D82A}">
                    <a16:rowId xmlns:a16="http://schemas.microsoft.com/office/drawing/2014/main" val="10001"/>
                  </a:ext>
                </a:extLst>
              </a:tr>
              <a:tr h="27813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C0002</a:t>
                      </a:r>
                      <a:endParaRPr lang="zh-CN" altLang="en-US" sz="1400" dirty="0"/>
                    </a:p>
                  </a:txBody>
                  <a:tcPr marT="34290" marB="34290"/>
                </a:tc>
                <a:tc>
                  <a:txBody>
                    <a:bodyPr/>
                    <a:lstStyle/>
                    <a:p>
                      <a:pPr algn="ctr"/>
                      <a:r>
                        <a:rPr lang="zh-CN" altLang="en-US" sz="1400" dirty="0"/>
                        <a:t>李四</a:t>
                      </a:r>
                    </a:p>
                  </a:txBody>
                  <a:tcPr marT="34290" marB="34290"/>
                </a:tc>
                <a:tc>
                  <a:txBody>
                    <a:bodyPr/>
                    <a:lstStyle/>
                    <a:p>
                      <a:pPr algn="ctr"/>
                      <a:r>
                        <a:rPr lang="en-US" altLang="zh-CN" sz="1400" dirty="0"/>
                        <a:t>77</a:t>
                      </a:r>
                      <a:endParaRPr lang="zh-CN" altLang="en-US" sz="1400" dirty="0"/>
                    </a:p>
                  </a:txBody>
                  <a:tcPr marT="34290" marB="34290"/>
                </a:tc>
                <a:tc>
                  <a:txBody>
                    <a:bodyPr/>
                    <a:lstStyle/>
                    <a:p>
                      <a:pPr algn="ctr"/>
                      <a:r>
                        <a:rPr lang="en-US" altLang="zh-CN" sz="1400" dirty="0"/>
                        <a:t>85</a:t>
                      </a:r>
                      <a:endParaRPr lang="zh-CN" altLang="en-US" sz="1400" dirty="0"/>
                    </a:p>
                  </a:txBody>
                  <a:tcPr marT="34290" marB="34290"/>
                </a:tc>
                <a:tc>
                  <a:txBody>
                    <a:bodyPr/>
                    <a:lstStyle/>
                    <a:p>
                      <a:pPr algn="ctr"/>
                      <a:r>
                        <a:rPr lang="en-US" altLang="zh-CN" sz="1400" dirty="0"/>
                        <a:t>88</a:t>
                      </a:r>
                      <a:endParaRPr lang="zh-CN" altLang="en-US" sz="1400" dirty="0"/>
                    </a:p>
                  </a:txBody>
                  <a:tcPr marT="34290" marB="34290">
                    <a:solidFill>
                      <a:srgbClr val="FFC000"/>
                    </a:solidFill>
                  </a:tcPr>
                </a:tc>
                <a:tc>
                  <a:txBody>
                    <a:bodyPr/>
                    <a:lstStyle/>
                    <a:p>
                      <a:pPr algn="ctr"/>
                      <a:r>
                        <a:rPr lang="en-US" altLang="zh-CN" sz="1400" dirty="0"/>
                        <a:t>70</a:t>
                      </a:r>
                      <a:endParaRPr lang="zh-CN" altLang="en-US" sz="1400" dirty="0"/>
                    </a:p>
                  </a:txBody>
                  <a:tcPr marT="34290" marB="34290"/>
                </a:tc>
                <a:tc>
                  <a:txBody>
                    <a:bodyPr/>
                    <a:lstStyle/>
                    <a:p>
                      <a:pPr algn="ctr"/>
                      <a:endParaRPr lang="zh-CN" altLang="en-US" sz="1400" dirty="0"/>
                    </a:p>
                  </a:txBody>
                  <a:tcPr marT="34290" marB="34290"/>
                </a:tc>
                <a:extLst>
                  <a:ext uri="{0D108BD9-81ED-4DB2-BD59-A6C34878D82A}">
                    <a16:rowId xmlns:a16="http://schemas.microsoft.com/office/drawing/2014/main" val="10002"/>
                  </a:ext>
                </a:extLst>
              </a:tr>
              <a:tr h="27813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C0003</a:t>
                      </a:r>
                      <a:endParaRPr lang="zh-CN" altLang="en-US" sz="1400" dirty="0"/>
                    </a:p>
                  </a:txBody>
                  <a:tcPr marT="34290" marB="34290">
                    <a:solidFill>
                      <a:srgbClr val="FFC000"/>
                    </a:solidFill>
                  </a:tcPr>
                </a:tc>
                <a:tc>
                  <a:txBody>
                    <a:bodyPr/>
                    <a:lstStyle/>
                    <a:p>
                      <a:pPr algn="ctr"/>
                      <a:r>
                        <a:rPr lang="zh-CN" altLang="en-US" sz="1400" dirty="0"/>
                        <a:t>王五</a:t>
                      </a:r>
                    </a:p>
                  </a:txBody>
                  <a:tcPr marT="34290" marB="34290">
                    <a:solidFill>
                      <a:srgbClr val="FFC000"/>
                    </a:solidFill>
                  </a:tcPr>
                </a:tc>
                <a:tc>
                  <a:txBody>
                    <a:bodyPr/>
                    <a:lstStyle/>
                    <a:p>
                      <a:pPr algn="ctr"/>
                      <a:r>
                        <a:rPr lang="en-US" altLang="zh-CN" sz="1400" dirty="0"/>
                        <a:t>80</a:t>
                      </a:r>
                      <a:endParaRPr lang="zh-CN" altLang="en-US" sz="1400" dirty="0"/>
                    </a:p>
                  </a:txBody>
                  <a:tcPr marT="34290" marB="34290">
                    <a:solidFill>
                      <a:srgbClr val="FFC000"/>
                    </a:solidFill>
                  </a:tcPr>
                </a:tc>
                <a:tc>
                  <a:txBody>
                    <a:bodyPr/>
                    <a:lstStyle/>
                    <a:p>
                      <a:pPr algn="ctr"/>
                      <a:r>
                        <a:rPr lang="en-US" altLang="zh-CN" sz="1400" dirty="0"/>
                        <a:t>90</a:t>
                      </a:r>
                      <a:endParaRPr lang="zh-CN" altLang="en-US" sz="1400" dirty="0"/>
                    </a:p>
                  </a:txBody>
                  <a:tcPr marT="34290" marB="34290">
                    <a:solidFill>
                      <a:srgbClr val="FFC000"/>
                    </a:solidFill>
                  </a:tcPr>
                </a:tc>
                <a:tc>
                  <a:txBody>
                    <a:bodyPr/>
                    <a:lstStyle/>
                    <a:p>
                      <a:pPr algn="ctr"/>
                      <a:r>
                        <a:rPr lang="en-US" altLang="zh-CN" sz="1400" dirty="0"/>
                        <a:t>90</a:t>
                      </a:r>
                      <a:endParaRPr lang="zh-CN" altLang="en-US" sz="1400" dirty="0"/>
                    </a:p>
                  </a:txBody>
                  <a:tcPr marT="34290" marB="34290">
                    <a:solidFill>
                      <a:srgbClr val="FFC000"/>
                    </a:solidFill>
                  </a:tcPr>
                </a:tc>
                <a:tc>
                  <a:txBody>
                    <a:bodyPr/>
                    <a:lstStyle/>
                    <a:p>
                      <a:pPr algn="ctr"/>
                      <a:r>
                        <a:rPr lang="en-US" altLang="zh-CN" sz="1400" dirty="0"/>
                        <a:t>95</a:t>
                      </a:r>
                      <a:endParaRPr lang="zh-CN" altLang="en-US" sz="1400" dirty="0"/>
                    </a:p>
                  </a:txBody>
                  <a:tcPr marT="34290" marB="34290">
                    <a:solidFill>
                      <a:srgbClr val="FFC000"/>
                    </a:solidFill>
                  </a:tcPr>
                </a:tc>
                <a:tc>
                  <a:txBody>
                    <a:bodyPr/>
                    <a:lstStyle/>
                    <a:p>
                      <a:pPr algn="ctr"/>
                      <a:endParaRPr lang="zh-CN" altLang="en-US" sz="1400" dirty="0"/>
                    </a:p>
                  </a:txBody>
                  <a:tcPr marT="34290" marB="34290">
                    <a:solidFill>
                      <a:srgbClr val="FFC000"/>
                    </a:solidFill>
                  </a:tcPr>
                </a:tc>
                <a:extLst>
                  <a:ext uri="{0D108BD9-81ED-4DB2-BD59-A6C34878D82A}">
                    <a16:rowId xmlns:a16="http://schemas.microsoft.com/office/drawing/2014/main" val="10003"/>
                  </a:ext>
                </a:extLst>
              </a:tr>
              <a:tr h="27813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C0004</a:t>
                      </a:r>
                      <a:endParaRPr lang="zh-CN" altLang="en-US" sz="1400" dirty="0"/>
                    </a:p>
                  </a:txBody>
                  <a:tcPr marT="34290" marB="34290"/>
                </a:tc>
                <a:tc>
                  <a:txBody>
                    <a:bodyPr/>
                    <a:lstStyle/>
                    <a:p>
                      <a:pPr algn="ctr"/>
                      <a:r>
                        <a:rPr lang="zh-CN" altLang="en-US" sz="1400" dirty="0"/>
                        <a:t>刘六</a:t>
                      </a:r>
                    </a:p>
                  </a:txBody>
                  <a:tcPr marT="34290" marB="34290"/>
                </a:tc>
                <a:tc>
                  <a:txBody>
                    <a:bodyPr/>
                    <a:lstStyle/>
                    <a:p>
                      <a:pPr algn="ctr"/>
                      <a:r>
                        <a:rPr lang="en-US" altLang="zh-CN" sz="1400" dirty="0"/>
                        <a:t>78</a:t>
                      </a:r>
                      <a:endParaRPr lang="zh-CN" altLang="en-US" sz="1400" dirty="0"/>
                    </a:p>
                  </a:txBody>
                  <a:tcPr marT="34290" marB="34290"/>
                </a:tc>
                <a:tc>
                  <a:txBody>
                    <a:bodyPr/>
                    <a:lstStyle/>
                    <a:p>
                      <a:pPr algn="ctr"/>
                      <a:r>
                        <a:rPr lang="en-US" altLang="zh-CN" sz="1400" dirty="0"/>
                        <a:t>89</a:t>
                      </a:r>
                      <a:endParaRPr lang="zh-CN" altLang="en-US" sz="1400" dirty="0"/>
                    </a:p>
                  </a:txBody>
                  <a:tcPr marT="34290" marB="34290"/>
                </a:tc>
                <a:tc>
                  <a:txBody>
                    <a:bodyPr/>
                    <a:lstStyle/>
                    <a:p>
                      <a:pPr algn="ctr"/>
                      <a:r>
                        <a:rPr lang="en-US" altLang="zh-CN" sz="1400" dirty="0"/>
                        <a:t>85</a:t>
                      </a:r>
                      <a:endParaRPr lang="zh-CN" altLang="en-US" sz="1400" dirty="0"/>
                    </a:p>
                  </a:txBody>
                  <a:tcPr marT="34290" marB="34290">
                    <a:solidFill>
                      <a:srgbClr val="FFC000"/>
                    </a:solidFill>
                  </a:tcPr>
                </a:tc>
                <a:tc>
                  <a:txBody>
                    <a:bodyPr/>
                    <a:lstStyle/>
                    <a:p>
                      <a:pPr algn="ctr"/>
                      <a:r>
                        <a:rPr lang="en-US" altLang="zh-CN" sz="1400" dirty="0"/>
                        <a:t>80</a:t>
                      </a:r>
                      <a:endParaRPr lang="zh-CN" altLang="en-US" sz="1400" dirty="0"/>
                    </a:p>
                  </a:txBody>
                  <a:tcPr marT="34290" marB="34290"/>
                </a:tc>
                <a:tc>
                  <a:txBody>
                    <a:bodyPr/>
                    <a:lstStyle/>
                    <a:p>
                      <a:pPr algn="ctr"/>
                      <a:endParaRPr lang="zh-CN" altLang="en-US" sz="1400" dirty="0"/>
                    </a:p>
                  </a:txBody>
                  <a:tcPr marT="34290" marB="34290"/>
                </a:tc>
                <a:extLst>
                  <a:ext uri="{0D108BD9-81ED-4DB2-BD59-A6C34878D82A}">
                    <a16:rowId xmlns:a16="http://schemas.microsoft.com/office/drawing/2014/main" val="10004"/>
                  </a:ext>
                </a:extLst>
              </a:tr>
              <a:tr h="27813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C0005</a:t>
                      </a:r>
                      <a:endParaRPr lang="zh-CN" altLang="en-US" sz="1400" dirty="0"/>
                    </a:p>
                  </a:txBody>
                  <a:tcPr marT="34290" marB="34290"/>
                </a:tc>
                <a:tc>
                  <a:txBody>
                    <a:bodyPr/>
                    <a:lstStyle/>
                    <a:p>
                      <a:pPr algn="ctr"/>
                      <a:r>
                        <a:rPr lang="zh-CN" altLang="en-US" sz="1400" dirty="0"/>
                        <a:t>陈七</a:t>
                      </a:r>
                    </a:p>
                  </a:txBody>
                  <a:tcPr marT="34290" marB="34290"/>
                </a:tc>
                <a:tc>
                  <a:txBody>
                    <a:bodyPr/>
                    <a:lstStyle/>
                    <a:p>
                      <a:pPr algn="ctr"/>
                      <a:r>
                        <a:rPr lang="en-US" altLang="zh-CN" sz="1400" dirty="0"/>
                        <a:t>95</a:t>
                      </a:r>
                      <a:endParaRPr lang="zh-CN" altLang="en-US" sz="1400" dirty="0"/>
                    </a:p>
                  </a:txBody>
                  <a:tcPr marT="34290" marB="34290"/>
                </a:tc>
                <a:tc>
                  <a:txBody>
                    <a:bodyPr/>
                    <a:lstStyle/>
                    <a:p>
                      <a:pPr algn="ctr"/>
                      <a:r>
                        <a:rPr lang="en-US" altLang="zh-CN" sz="1400" dirty="0"/>
                        <a:t>90</a:t>
                      </a:r>
                      <a:endParaRPr lang="zh-CN" altLang="en-US" sz="1400" dirty="0"/>
                    </a:p>
                  </a:txBody>
                  <a:tcPr marT="34290" marB="34290"/>
                </a:tc>
                <a:tc>
                  <a:txBody>
                    <a:bodyPr/>
                    <a:lstStyle/>
                    <a:p>
                      <a:pPr algn="ctr"/>
                      <a:r>
                        <a:rPr lang="en-US" altLang="zh-CN" sz="1400" dirty="0"/>
                        <a:t>97</a:t>
                      </a:r>
                      <a:endParaRPr lang="zh-CN" altLang="en-US" sz="1400" dirty="0"/>
                    </a:p>
                  </a:txBody>
                  <a:tcPr marT="34290" marB="34290">
                    <a:solidFill>
                      <a:srgbClr val="FFC000"/>
                    </a:solidFill>
                  </a:tcPr>
                </a:tc>
                <a:tc>
                  <a:txBody>
                    <a:bodyPr/>
                    <a:lstStyle/>
                    <a:p>
                      <a:pPr algn="ctr"/>
                      <a:r>
                        <a:rPr lang="en-US" altLang="zh-CN" sz="1400" dirty="0"/>
                        <a:t>89</a:t>
                      </a:r>
                      <a:endParaRPr lang="zh-CN" altLang="en-US" sz="1400" dirty="0"/>
                    </a:p>
                  </a:txBody>
                  <a:tcPr marT="34290" marB="34290"/>
                </a:tc>
                <a:tc>
                  <a:txBody>
                    <a:bodyPr/>
                    <a:lstStyle/>
                    <a:p>
                      <a:pPr algn="ctr"/>
                      <a:endParaRPr lang="zh-CN" altLang="en-US" sz="1400" dirty="0"/>
                    </a:p>
                  </a:txBody>
                  <a:tcPr marT="34290" marB="34290"/>
                </a:tc>
                <a:extLst>
                  <a:ext uri="{0D108BD9-81ED-4DB2-BD59-A6C34878D82A}">
                    <a16:rowId xmlns:a16="http://schemas.microsoft.com/office/drawing/2014/main" val="10005"/>
                  </a:ext>
                </a:extLst>
              </a:tr>
            </a:tbl>
          </a:graphicData>
        </a:graphic>
      </p:graphicFrame>
      <p:sp>
        <p:nvSpPr>
          <p:cNvPr id="13" name="矩形 12"/>
          <p:cNvSpPr/>
          <p:nvPr/>
        </p:nvSpPr>
        <p:spPr>
          <a:xfrm>
            <a:off x="883865" y="4475896"/>
            <a:ext cx="4672687"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含有大量记录的线性表称为文件</a:t>
            </a:r>
            <a:r>
              <a:rPr lang="en-US" altLang="zh-CN" sz="2000" dirty="0">
                <a:latin typeface="微软雅黑" pitchFamily="34" charset="-122"/>
                <a:ea typeface="微软雅黑" pitchFamily="34" charset="-122"/>
                <a:cs typeface="经典粗黑简" pitchFamily="49" charset="-122"/>
              </a:rPr>
              <a:t>(File)</a:t>
            </a:r>
            <a:r>
              <a:rPr lang="zh-CN" altLang="zh-CN" sz="2000" dirty="0">
                <a:latin typeface="微软雅黑" pitchFamily="34" charset="-122"/>
                <a:ea typeface="微软雅黑" pitchFamily="34" charset="-122"/>
                <a:cs typeface="经典粗黑简" pitchFamily="49" charset="-122"/>
              </a:rPr>
              <a:t>。</a:t>
            </a:r>
            <a:endParaRPr lang="zh-CN" altLang="en-US" sz="2000" dirty="0">
              <a:latin typeface="微软雅黑" pitchFamily="34" charset="-122"/>
              <a:ea typeface="微软雅黑" pitchFamily="34" charset="-122"/>
              <a:cs typeface="经典粗黑简" pitchFamily="49" charset="-122"/>
            </a:endParaRPr>
          </a:p>
        </p:txBody>
      </p:sp>
      <p:cxnSp>
        <p:nvCxnSpPr>
          <p:cNvPr id="18" name="直接连接符 17"/>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E2D04617-2EA3-F385-AEBA-D55C6AE9F1FB}"/>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2.1 </a:t>
            </a:r>
            <a:r>
              <a:rPr lang="zh-CN" altLang="en-US" sz="3700" b="1" dirty="0">
                <a:latin typeface="黑体" pitchFamily="49" charset="-122"/>
                <a:ea typeface="黑体" pitchFamily="49" charset="-122"/>
                <a:cs typeface="+mn-cs"/>
              </a:rPr>
              <a:t>线性表及其逻辑结构</a:t>
            </a:r>
          </a:p>
        </p:txBody>
      </p:sp>
      <p:sp>
        <p:nvSpPr>
          <p:cNvPr id="3" name="矩形 2">
            <a:extLst>
              <a:ext uri="{FF2B5EF4-FFF2-40B4-BE49-F238E27FC236}">
                <a16:creationId xmlns:a16="http://schemas.microsoft.com/office/drawing/2014/main" id="{F0E4CA6D-1D2C-2D57-1D58-DC25A242C8D5}"/>
              </a:ext>
            </a:extLst>
          </p:cNvPr>
          <p:cNvSpPr/>
          <p:nvPr/>
        </p:nvSpPr>
        <p:spPr>
          <a:xfrm>
            <a:off x="416325" y="869523"/>
            <a:ext cx="400279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2.1.1 </a:t>
            </a:r>
            <a:r>
              <a:rPr lang="zh-CN" altLang="en-US" sz="2800" b="1" dirty="0">
                <a:solidFill>
                  <a:schemeClr val="bg1"/>
                </a:solidFill>
                <a:latin typeface="经典粗黑简" pitchFamily="49" charset="-122"/>
                <a:ea typeface="经典粗黑简" pitchFamily="49" charset="-122"/>
                <a:cs typeface="经典粗黑简" pitchFamily="49" charset="-122"/>
              </a:rPr>
              <a:t>线性表的定义</a:t>
            </a:r>
          </a:p>
        </p:txBody>
      </p:sp>
    </p:spTree>
    <p:extLst>
      <p:ext uri="{BB962C8B-B14F-4D97-AF65-F5344CB8AC3E}">
        <p14:creationId xmlns:p14="http://schemas.microsoft.com/office/powerpoint/2010/main" val="772817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txBox="1">
            <a:spLocks noChangeArrowheads="1"/>
          </p:cNvSpPr>
          <p:nvPr/>
        </p:nvSpPr>
        <p:spPr>
          <a:xfrm>
            <a:off x="1031087" y="1482337"/>
            <a:ext cx="6997298" cy="3774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95000"/>
              </a:lnSpc>
              <a:spcBef>
                <a:spcPct val="10000"/>
              </a:spcBef>
              <a:buClr>
                <a:schemeClr val="tx1"/>
              </a:buClr>
              <a:buFont typeface="Wingdings" pitchFamily="2" charset="2"/>
              <a:buNone/>
            </a:pPr>
            <a:r>
              <a:rPr lang="zh-CN" altLang="en-US" sz="2000" dirty="0">
                <a:latin typeface="微软雅黑" pitchFamily="34" charset="-122"/>
                <a:ea typeface="微软雅黑" pitchFamily="34" charset="-122"/>
                <a:cs typeface="经典粗黑简" pitchFamily="49" charset="-122"/>
              </a:rPr>
              <a:t>一个</a:t>
            </a:r>
            <a:r>
              <a:rPr lang="zh-CN" altLang="en-US" sz="2000" dirty="0">
                <a:solidFill>
                  <a:srgbClr val="FF0000"/>
                </a:solidFill>
                <a:latin typeface="微软雅黑" pitchFamily="34" charset="-122"/>
                <a:ea typeface="微软雅黑" pitchFamily="34" charset="-122"/>
                <a:cs typeface="经典粗黑简" pitchFamily="49" charset="-122"/>
              </a:rPr>
              <a:t>线性表（</a:t>
            </a:r>
            <a:r>
              <a:rPr lang="en-US" altLang="zh-CN" sz="2000" dirty="0" err="1">
                <a:solidFill>
                  <a:srgbClr val="FF0000"/>
                </a:solidFill>
                <a:latin typeface="微软雅黑" pitchFamily="34" charset="-122"/>
                <a:ea typeface="微软雅黑" pitchFamily="34" charset="-122"/>
                <a:cs typeface="经典粗黑简" pitchFamily="49" charset="-122"/>
              </a:rPr>
              <a:t>Linear_List</a:t>
            </a:r>
            <a:r>
              <a:rPr lang="zh-CN" altLang="en-US" sz="2000" dirty="0">
                <a:solidFill>
                  <a:srgbClr val="FF0000"/>
                </a:solidFill>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是有</a:t>
            </a:r>
            <a:r>
              <a:rPr lang="en-US" altLang="zh-CN" sz="2000" dirty="0">
                <a:latin typeface="微软雅黑" pitchFamily="34" charset="-122"/>
                <a:ea typeface="微软雅黑" pitchFamily="34" charset="-122"/>
                <a:cs typeface="经典粗黑简" pitchFamily="49" charset="-122"/>
              </a:rPr>
              <a:t>n</a:t>
            </a:r>
            <a:r>
              <a:rPr lang="zh-CN" altLang="en-US" sz="2000" dirty="0">
                <a:latin typeface="微软雅黑" pitchFamily="34" charset="-122"/>
                <a:ea typeface="微软雅黑" pitchFamily="34" charset="-122"/>
                <a:cs typeface="经典粗黑简" pitchFamily="49" charset="-122"/>
              </a:rPr>
              <a:t>个数据元素的</a:t>
            </a:r>
            <a:r>
              <a:rPr lang="zh-CN" altLang="en-US" sz="2000" dirty="0">
                <a:solidFill>
                  <a:srgbClr val="FF0000"/>
                </a:solidFill>
                <a:latin typeface="微软雅黑" pitchFamily="34" charset="-122"/>
                <a:ea typeface="微软雅黑" pitchFamily="34" charset="-122"/>
                <a:cs typeface="经典粗黑简" pitchFamily="49" charset="-122"/>
              </a:rPr>
              <a:t>有限</a:t>
            </a:r>
            <a:r>
              <a:rPr lang="zh-CN" altLang="en-US" sz="2000" dirty="0">
                <a:latin typeface="微软雅黑" pitchFamily="34" charset="-122"/>
                <a:ea typeface="微软雅黑" pitchFamily="34" charset="-122"/>
                <a:cs typeface="经典粗黑简" pitchFamily="49" charset="-122"/>
              </a:rPr>
              <a:t>序列：</a:t>
            </a:r>
          </a:p>
          <a:p>
            <a:pPr marL="457200" indent="-457200">
              <a:lnSpc>
                <a:spcPct val="95000"/>
              </a:lnSpc>
              <a:spcBef>
                <a:spcPct val="10000"/>
              </a:spcBef>
              <a:buClr>
                <a:schemeClr val="tx1"/>
              </a:buClr>
              <a:buFont typeface="Wingdings" pitchFamily="2" charset="2"/>
              <a:buNone/>
            </a:pPr>
            <a:r>
              <a:rPr lang="zh-CN" altLang="en-US" sz="2000" dirty="0">
                <a:latin typeface="微软雅黑" pitchFamily="34" charset="-122"/>
                <a:ea typeface="微软雅黑" pitchFamily="34" charset="-122"/>
                <a:cs typeface="经典粗黑简" pitchFamily="49" charset="-122"/>
              </a:rPr>
              <a:t>                            </a:t>
            </a:r>
            <a:endParaRPr lang="en-US" altLang="zh-CN" sz="2000" dirty="0">
              <a:latin typeface="微软雅黑" pitchFamily="34" charset="-122"/>
              <a:ea typeface="微软雅黑" pitchFamily="34" charset="-122"/>
              <a:cs typeface="经典粗黑简" pitchFamily="49" charset="-122"/>
            </a:endParaRPr>
          </a:p>
        </p:txBody>
      </p:sp>
      <p:sp>
        <p:nvSpPr>
          <p:cNvPr id="20" name="矩形 19"/>
          <p:cNvSpPr/>
          <p:nvPr/>
        </p:nvSpPr>
        <p:spPr>
          <a:xfrm>
            <a:off x="1462816" y="1752367"/>
            <a:ext cx="5349541" cy="443198"/>
          </a:xfrm>
          <a:prstGeom prst="rect">
            <a:avLst/>
          </a:prstGeom>
        </p:spPr>
        <p:txBody>
          <a:bodyPr wrap="none">
            <a:spAutoFit/>
          </a:bodyPr>
          <a:lstStyle/>
          <a:p>
            <a:pPr marL="457200" indent="-457200">
              <a:lnSpc>
                <a:spcPct val="95000"/>
              </a:lnSpc>
              <a:spcBef>
                <a:spcPct val="10000"/>
              </a:spcBef>
              <a:buClr>
                <a:schemeClr val="tx1"/>
              </a:buClr>
              <a:buFont typeface="Wingdings" pitchFamily="2" charset="2"/>
              <a:buNone/>
            </a:pPr>
            <a:r>
              <a:rPr lang="zh-CN" altLang="en-US"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1</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2</a:t>
            </a:r>
            <a:r>
              <a:rPr lang="en-US" altLang="zh-CN" sz="2400" dirty="0">
                <a:latin typeface="微软雅黑" pitchFamily="34" charset="-122"/>
                <a:ea typeface="微软雅黑" pitchFamily="34" charset="-122"/>
                <a:cs typeface="经典粗黑简" pitchFamily="49" charset="-122"/>
              </a:rPr>
              <a:t>，…， a</a:t>
            </a:r>
            <a:r>
              <a:rPr lang="en-US" altLang="zh-CN" sz="2400" baseline="-25000" dirty="0">
                <a:latin typeface="微软雅黑" pitchFamily="34" charset="-122"/>
                <a:ea typeface="微软雅黑" pitchFamily="34" charset="-122"/>
                <a:cs typeface="经典粗黑简" pitchFamily="49" charset="-122"/>
              </a:rPr>
              <a:t>i-1 </a:t>
            </a:r>
            <a:r>
              <a:rPr lang="zh-CN" altLang="en-US" sz="2400" dirty="0">
                <a:latin typeface="微软雅黑" pitchFamily="34" charset="-122"/>
                <a:ea typeface="微软雅黑" pitchFamily="34" charset="-122"/>
                <a:cs typeface="经典粗黑简" pitchFamily="49" charset="-122"/>
              </a:rPr>
              <a:t>，</a:t>
            </a:r>
            <a:r>
              <a:rPr lang="en-US" altLang="zh-CN" sz="2400" dirty="0" err="1">
                <a:latin typeface="微软雅黑" pitchFamily="34" charset="-122"/>
                <a:ea typeface="微软雅黑" pitchFamily="34" charset="-122"/>
                <a:cs typeface="经典粗黑简" pitchFamily="49" charset="-122"/>
              </a:rPr>
              <a:t>a</a:t>
            </a:r>
            <a:r>
              <a:rPr lang="en-US" altLang="zh-CN" sz="2400" baseline="-25000" dirty="0" err="1">
                <a:latin typeface="微软雅黑" pitchFamily="34" charset="-122"/>
                <a:ea typeface="微软雅黑" pitchFamily="34" charset="-122"/>
                <a:cs typeface="经典粗黑简" pitchFamily="49" charset="-122"/>
              </a:rPr>
              <a:t>i</a:t>
            </a:r>
            <a:r>
              <a:rPr lang="zh-CN" altLang="en-US" sz="2400" dirty="0">
                <a:latin typeface="微软雅黑" pitchFamily="34" charset="-122"/>
                <a:ea typeface="微软雅黑" pitchFamily="34" charset="-122"/>
                <a:cs typeface="经典粗黑简" pitchFamily="49" charset="-122"/>
              </a:rPr>
              <a:t>，</a:t>
            </a:r>
            <a:r>
              <a:rPr lang="en-US" altLang="zh-CN" sz="2400" baseline="-25000" dirty="0">
                <a:latin typeface="微软雅黑" pitchFamily="34" charset="-122"/>
                <a:ea typeface="微软雅黑" pitchFamily="34" charset="-122"/>
                <a:cs typeface="经典粗黑简" pitchFamily="49" charset="-122"/>
              </a:rPr>
              <a:t> </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i+1 </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n</a:t>
            </a:r>
            <a:r>
              <a:rPr lang="en-US" altLang="zh-CN" sz="2400" dirty="0">
                <a:latin typeface="微软雅黑" pitchFamily="34" charset="-122"/>
                <a:ea typeface="微软雅黑" pitchFamily="34" charset="-122"/>
                <a:cs typeface="经典粗黑简" pitchFamily="49" charset="-122"/>
              </a:rPr>
              <a:t>)</a:t>
            </a:r>
          </a:p>
        </p:txBody>
      </p:sp>
      <p:sp>
        <p:nvSpPr>
          <p:cNvPr id="14" name="矩形 13"/>
          <p:cNvSpPr/>
          <p:nvPr/>
        </p:nvSpPr>
        <p:spPr>
          <a:xfrm>
            <a:off x="912219" y="2184415"/>
            <a:ext cx="8124277"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(2)</a:t>
            </a:r>
            <a:r>
              <a:rPr lang="zh-CN" altLang="en-US" sz="2000" dirty="0">
                <a:latin typeface="微软雅黑" pitchFamily="34" charset="-122"/>
                <a:ea typeface="微软雅黑" pitchFamily="34" charset="-122"/>
                <a:cs typeface="经典粗黑简" pitchFamily="49" charset="-122"/>
              </a:rPr>
              <a:t>、</a:t>
            </a:r>
            <a:r>
              <a:rPr lang="zh-CN" altLang="zh-CN" sz="2000" dirty="0">
                <a:latin typeface="微软雅黑" pitchFamily="34" charset="-122"/>
                <a:ea typeface="微软雅黑" pitchFamily="34" charset="-122"/>
                <a:cs typeface="经典粗黑简" pitchFamily="49" charset="-122"/>
              </a:rPr>
              <a:t>线性表中数据元素</a:t>
            </a:r>
            <a:r>
              <a:rPr lang="zh-CN" altLang="en-US" sz="2000" dirty="0">
                <a:latin typeface="微软雅黑" pitchFamily="34" charset="-122"/>
                <a:ea typeface="微软雅黑" pitchFamily="34" charset="-122"/>
                <a:cs typeface="经典粗黑简" pitchFamily="49" charset="-122"/>
              </a:rPr>
              <a:t>之间的关系：相邻数据元素之间存在着</a:t>
            </a:r>
            <a:r>
              <a:rPr lang="zh-CN" altLang="en-US" sz="2000" dirty="0">
                <a:solidFill>
                  <a:srgbClr val="FF0000"/>
                </a:solidFill>
                <a:latin typeface="微软雅黑" pitchFamily="34" charset="-122"/>
                <a:ea typeface="微软雅黑" pitchFamily="34" charset="-122"/>
                <a:cs typeface="经典粗黑简" pitchFamily="49" charset="-122"/>
              </a:rPr>
              <a:t>序偶关系</a:t>
            </a:r>
            <a:r>
              <a:rPr lang="zh-CN" altLang="en-US" sz="2000" dirty="0">
                <a:latin typeface="微软雅黑" pitchFamily="34" charset="-122"/>
                <a:ea typeface="微软雅黑" pitchFamily="34" charset="-122"/>
                <a:cs typeface="经典粗黑简" pitchFamily="49" charset="-122"/>
              </a:rPr>
              <a:t>。</a:t>
            </a:r>
          </a:p>
        </p:txBody>
      </p:sp>
      <p:sp>
        <p:nvSpPr>
          <p:cNvPr id="17" name="矩形 16"/>
          <p:cNvSpPr/>
          <p:nvPr/>
        </p:nvSpPr>
        <p:spPr>
          <a:xfrm>
            <a:off x="905691" y="2508452"/>
            <a:ext cx="7986789" cy="1015663"/>
          </a:xfrm>
          <a:prstGeom prst="rect">
            <a:avLst/>
          </a:prstGeom>
        </p:spPr>
        <p:txBody>
          <a:bodyPr wrap="square">
            <a:spAutoFit/>
          </a:bodyPr>
          <a:lstStyle/>
          <a:p>
            <a:r>
              <a:rPr lang="en-US" altLang="zh-CN" sz="2000" dirty="0">
                <a:latin typeface="黑体" pitchFamily="49" charset="-122"/>
                <a:ea typeface="黑体" pitchFamily="49" charset="-122"/>
              </a:rPr>
              <a:t>     </a:t>
            </a:r>
            <a:r>
              <a:rPr lang="zh-CN" altLang="zh-CN" sz="2000" dirty="0">
                <a:latin typeface="黑体" pitchFamily="49" charset="-122"/>
                <a:ea typeface="黑体" pitchFamily="49" charset="-122"/>
              </a:rPr>
              <a:t>通常，</a:t>
            </a:r>
            <a:r>
              <a:rPr lang="zh-CN" altLang="en-US" sz="2000" dirty="0">
                <a:latin typeface="黑体" pitchFamily="49" charset="-122"/>
                <a:ea typeface="黑体" pitchFamily="49" charset="-122"/>
              </a:rPr>
              <a:t>一个</a:t>
            </a:r>
            <a:r>
              <a:rPr lang="zh-CN" altLang="zh-CN" sz="2000" dirty="0">
                <a:latin typeface="黑体" pitchFamily="49" charset="-122"/>
                <a:ea typeface="黑体" pitchFamily="49" charset="-122"/>
              </a:rPr>
              <a:t>非空线性表</a:t>
            </a:r>
            <a:r>
              <a:rPr lang="zh-CN" altLang="en-US" sz="2000" dirty="0">
                <a:latin typeface="黑体" pitchFamily="49" charset="-122"/>
                <a:ea typeface="黑体" pitchFamily="49" charset="-122"/>
                <a:cs typeface="经典粗黑简" pitchFamily="49" charset="-122"/>
              </a:rPr>
              <a:t>(</a:t>
            </a:r>
            <a:r>
              <a:rPr lang="en-US" altLang="zh-CN" sz="2000" dirty="0">
                <a:latin typeface="黑体" pitchFamily="49" charset="-122"/>
                <a:ea typeface="黑体" pitchFamily="49" charset="-122"/>
                <a:cs typeface="经典粗黑简" pitchFamily="49" charset="-122"/>
              </a:rPr>
              <a:t>a</a:t>
            </a:r>
            <a:r>
              <a:rPr lang="en-US" altLang="zh-CN" sz="2000" baseline="-25000" dirty="0">
                <a:latin typeface="黑体" pitchFamily="49" charset="-122"/>
                <a:ea typeface="黑体" pitchFamily="49" charset="-122"/>
                <a:cs typeface="经典粗黑简" pitchFamily="49" charset="-122"/>
              </a:rPr>
              <a:t>1</a:t>
            </a:r>
            <a:r>
              <a:rPr lang="en-US" altLang="zh-CN" sz="2000" dirty="0">
                <a:latin typeface="黑体" pitchFamily="49" charset="-122"/>
                <a:ea typeface="黑体" pitchFamily="49" charset="-122"/>
                <a:cs typeface="经典粗黑简" pitchFamily="49" charset="-122"/>
              </a:rPr>
              <a:t>，a</a:t>
            </a:r>
            <a:r>
              <a:rPr lang="en-US" altLang="zh-CN" sz="2000" baseline="-25000" dirty="0">
                <a:latin typeface="黑体" pitchFamily="49" charset="-122"/>
                <a:ea typeface="黑体" pitchFamily="49" charset="-122"/>
                <a:cs typeface="经典粗黑简" pitchFamily="49" charset="-122"/>
              </a:rPr>
              <a:t>2</a:t>
            </a:r>
            <a:r>
              <a:rPr lang="en-US" altLang="zh-CN" sz="2000" dirty="0">
                <a:latin typeface="黑体" pitchFamily="49" charset="-122"/>
                <a:ea typeface="黑体" pitchFamily="49" charset="-122"/>
                <a:cs typeface="经典粗黑简" pitchFamily="49" charset="-122"/>
              </a:rPr>
              <a:t>，…， a</a:t>
            </a:r>
            <a:r>
              <a:rPr lang="en-US" altLang="zh-CN" sz="2000" baseline="-25000" dirty="0">
                <a:latin typeface="黑体" pitchFamily="49" charset="-122"/>
                <a:ea typeface="黑体" pitchFamily="49" charset="-122"/>
                <a:cs typeface="经典粗黑简" pitchFamily="49" charset="-122"/>
              </a:rPr>
              <a:t>i-1 </a:t>
            </a:r>
            <a:r>
              <a:rPr lang="zh-CN" altLang="en-US" sz="2000" dirty="0">
                <a:latin typeface="黑体" pitchFamily="49" charset="-122"/>
                <a:ea typeface="黑体" pitchFamily="49" charset="-122"/>
                <a:cs typeface="经典粗黑简" pitchFamily="49" charset="-122"/>
              </a:rPr>
              <a:t>，</a:t>
            </a:r>
            <a:r>
              <a:rPr lang="en-US" altLang="zh-CN" sz="2000" dirty="0" err="1">
                <a:latin typeface="黑体" pitchFamily="49" charset="-122"/>
                <a:ea typeface="黑体" pitchFamily="49" charset="-122"/>
                <a:cs typeface="经典粗黑简" pitchFamily="49" charset="-122"/>
              </a:rPr>
              <a:t>a</a:t>
            </a:r>
            <a:r>
              <a:rPr lang="en-US" altLang="zh-CN" sz="2000" baseline="-25000" dirty="0" err="1">
                <a:latin typeface="黑体" pitchFamily="49" charset="-122"/>
                <a:ea typeface="黑体" pitchFamily="49" charset="-122"/>
                <a:cs typeface="经典粗黑简" pitchFamily="49" charset="-122"/>
              </a:rPr>
              <a:t>i</a:t>
            </a:r>
            <a:r>
              <a:rPr lang="zh-CN" altLang="en-US" sz="2000" dirty="0">
                <a:latin typeface="黑体" pitchFamily="49" charset="-122"/>
                <a:ea typeface="黑体" pitchFamily="49" charset="-122"/>
                <a:cs typeface="经典粗黑简" pitchFamily="49" charset="-122"/>
              </a:rPr>
              <a:t>，</a:t>
            </a:r>
            <a:r>
              <a:rPr lang="en-US" altLang="zh-CN" sz="2000" baseline="-25000" dirty="0">
                <a:latin typeface="黑体" pitchFamily="49" charset="-122"/>
                <a:ea typeface="黑体" pitchFamily="49" charset="-122"/>
                <a:cs typeface="经典粗黑简" pitchFamily="49" charset="-122"/>
              </a:rPr>
              <a:t> </a:t>
            </a:r>
            <a:r>
              <a:rPr lang="en-US" altLang="zh-CN" sz="2000" dirty="0">
                <a:latin typeface="黑体" pitchFamily="49" charset="-122"/>
                <a:ea typeface="黑体" pitchFamily="49" charset="-122"/>
                <a:cs typeface="经典粗黑简" pitchFamily="49" charset="-122"/>
              </a:rPr>
              <a:t>a</a:t>
            </a:r>
            <a:r>
              <a:rPr lang="en-US" altLang="zh-CN" sz="2000" baseline="-25000" dirty="0">
                <a:latin typeface="黑体" pitchFamily="49" charset="-122"/>
                <a:ea typeface="黑体" pitchFamily="49" charset="-122"/>
                <a:cs typeface="经典粗黑简" pitchFamily="49" charset="-122"/>
              </a:rPr>
              <a:t>i+1 </a:t>
            </a:r>
            <a:r>
              <a:rPr lang="en-US" altLang="zh-CN" sz="2000" dirty="0">
                <a:latin typeface="黑体" pitchFamily="49" charset="-122"/>
                <a:ea typeface="黑体" pitchFamily="49" charset="-122"/>
                <a:cs typeface="经典粗黑简" pitchFamily="49" charset="-122"/>
              </a:rPr>
              <a:t>，…，a</a:t>
            </a:r>
            <a:r>
              <a:rPr lang="en-US" altLang="zh-CN" sz="2000" baseline="-25000" dirty="0">
                <a:latin typeface="黑体" pitchFamily="49" charset="-122"/>
                <a:ea typeface="黑体" pitchFamily="49" charset="-122"/>
                <a:cs typeface="经典粗黑简" pitchFamily="49" charset="-122"/>
              </a:rPr>
              <a:t>n</a:t>
            </a:r>
            <a:r>
              <a:rPr lang="en-US" altLang="zh-CN" sz="2000" dirty="0">
                <a:latin typeface="黑体" pitchFamily="49" charset="-122"/>
                <a:ea typeface="黑体" pitchFamily="49" charset="-122"/>
                <a:cs typeface="经典粗黑简" pitchFamily="49" charset="-122"/>
              </a:rPr>
              <a:t>)</a:t>
            </a:r>
            <a:r>
              <a:rPr lang="zh-CN" altLang="zh-CN" sz="2000" dirty="0">
                <a:latin typeface="黑体" pitchFamily="49" charset="-122"/>
                <a:ea typeface="黑体" pitchFamily="49" charset="-122"/>
              </a:rPr>
              <a:t>，其中</a:t>
            </a:r>
            <a:r>
              <a:rPr lang="en-US" altLang="zh-CN" sz="2000" dirty="0">
                <a:latin typeface="黑体" pitchFamily="49" charset="-122"/>
                <a:ea typeface="黑体" pitchFamily="49" charset="-122"/>
              </a:rPr>
              <a:t>a</a:t>
            </a:r>
            <a:r>
              <a:rPr lang="en-US" altLang="zh-CN" sz="2000" baseline="-25000" dirty="0">
                <a:latin typeface="黑体" pitchFamily="49" charset="-122"/>
                <a:ea typeface="黑体" pitchFamily="49" charset="-122"/>
              </a:rPr>
              <a:t>1</a:t>
            </a:r>
            <a:r>
              <a:rPr lang="zh-CN" altLang="zh-CN" sz="2000" dirty="0">
                <a:latin typeface="黑体" pitchFamily="49" charset="-122"/>
                <a:ea typeface="黑体" pitchFamily="49" charset="-122"/>
              </a:rPr>
              <a:t>是线性表的第一个元素</a:t>
            </a:r>
            <a:r>
              <a:rPr lang="zh-CN" altLang="en-US" sz="2000" dirty="0">
                <a:latin typeface="黑体" pitchFamily="49" charset="-122"/>
                <a:ea typeface="黑体" pitchFamily="49" charset="-122"/>
              </a:rPr>
              <a:t>，称为</a:t>
            </a:r>
            <a:r>
              <a:rPr lang="zh-CN" altLang="en-US" sz="2000" b="1" dirty="0">
                <a:solidFill>
                  <a:srgbClr val="FF0000"/>
                </a:solidFill>
                <a:latin typeface="黑体" pitchFamily="49" charset="-122"/>
                <a:ea typeface="黑体" pitchFamily="49" charset="-122"/>
              </a:rPr>
              <a:t>表头</a:t>
            </a:r>
            <a:r>
              <a:rPr lang="zh-CN" altLang="zh-CN" sz="2000" dirty="0">
                <a:latin typeface="黑体" pitchFamily="49" charset="-122"/>
                <a:ea typeface="黑体" pitchFamily="49" charset="-122"/>
              </a:rPr>
              <a:t>，</a:t>
            </a:r>
            <a:r>
              <a:rPr lang="en-US" altLang="zh-CN" sz="2000" dirty="0" err="1">
                <a:latin typeface="黑体" pitchFamily="49" charset="-122"/>
                <a:ea typeface="黑体" pitchFamily="49" charset="-122"/>
              </a:rPr>
              <a:t>a</a:t>
            </a:r>
            <a:r>
              <a:rPr lang="en-US" altLang="zh-CN" sz="2000" baseline="-25000" dirty="0" err="1">
                <a:latin typeface="黑体" pitchFamily="49" charset="-122"/>
                <a:ea typeface="黑体" pitchFamily="49" charset="-122"/>
              </a:rPr>
              <a:t>i</a:t>
            </a:r>
            <a:r>
              <a:rPr lang="zh-CN" altLang="zh-CN" sz="2000" dirty="0">
                <a:latin typeface="黑体" pitchFamily="49" charset="-122"/>
                <a:ea typeface="黑体" pitchFamily="49" charset="-122"/>
              </a:rPr>
              <a:t>是第</a:t>
            </a:r>
            <a:r>
              <a:rPr lang="en-US" altLang="zh-CN" sz="2000" dirty="0">
                <a:latin typeface="黑体" pitchFamily="49" charset="-122"/>
                <a:ea typeface="黑体" pitchFamily="49" charset="-122"/>
              </a:rPr>
              <a:t>i</a:t>
            </a:r>
            <a:r>
              <a:rPr lang="zh-CN" altLang="zh-CN" sz="2000" dirty="0">
                <a:latin typeface="黑体" pitchFamily="49" charset="-122"/>
                <a:ea typeface="黑体" pitchFamily="49" charset="-122"/>
              </a:rPr>
              <a:t>个元素，</a:t>
            </a:r>
            <a:r>
              <a:rPr lang="en-US" altLang="zh-CN" sz="2000" dirty="0">
                <a:latin typeface="黑体" pitchFamily="49" charset="-122"/>
                <a:ea typeface="黑体" pitchFamily="49" charset="-122"/>
              </a:rPr>
              <a:t>a</a:t>
            </a:r>
            <a:r>
              <a:rPr lang="en-US" altLang="zh-CN" sz="2000" baseline="-25000" dirty="0">
                <a:latin typeface="黑体" pitchFamily="49" charset="-122"/>
                <a:ea typeface="黑体" pitchFamily="49" charset="-122"/>
              </a:rPr>
              <a:t>n</a:t>
            </a:r>
            <a:r>
              <a:rPr lang="zh-CN" altLang="zh-CN" sz="2000" dirty="0">
                <a:latin typeface="黑体" pitchFamily="49" charset="-122"/>
                <a:ea typeface="黑体" pitchFamily="49" charset="-122"/>
              </a:rPr>
              <a:t>是最后一个元素</a:t>
            </a:r>
            <a:r>
              <a:rPr lang="zh-CN" altLang="en-US" sz="2000" dirty="0">
                <a:latin typeface="黑体" pitchFamily="49" charset="-122"/>
                <a:ea typeface="黑体" pitchFamily="49" charset="-122"/>
              </a:rPr>
              <a:t>，称为</a:t>
            </a:r>
            <a:r>
              <a:rPr lang="zh-CN" altLang="en-US" sz="2000" b="1" dirty="0">
                <a:solidFill>
                  <a:srgbClr val="FF0000"/>
                </a:solidFill>
                <a:latin typeface="黑体" pitchFamily="49" charset="-122"/>
                <a:ea typeface="黑体" pitchFamily="49" charset="-122"/>
              </a:rPr>
              <a:t>表尾</a:t>
            </a:r>
            <a:r>
              <a:rPr lang="zh-CN" altLang="zh-CN" sz="2000" dirty="0">
                <a:latin typeface="黑体" pitchFamily="49" charset="-122"/>
                <a:ea typeface="黑体" pitchFamily="49" charset="-122"/>
              </a:rPr>
              <a:t>。</a:t>
            </a:r>
            <a:endParaRPr lang="en-US" altLang="zh-CN" sz="2000" dirty="0">
              <a:latin typeface="黑体" pitchFamily="49" charset="-122"/>
              <a:ea typeface="黑体" pitchFamily="49" charset="-122"/>
            </a:endParaRPr>
          </a:p>
        </p:txBody>
      </p:sp>
      <p:sp>
        <p:nvSpPr>
          <p:cNvPr id="18" name="矩形 17"/>
          <p:cNvSpPr/>
          <p:nvPr/>
        </p:nvSpPr>
        <p:spPr>
          <a:xfrm>
            <a:off x="912219" y="3408551"/>
            <a:ext cx="7836246" cy="1323439"/>
          </a:xfrm>
          <a:prstGeom prst="rect">
            <a:avLst/>
          </a:prstGeom>
        </p:spPr>
        <p:txBody>
          <a:bodyPr wrap="square">
            <a:spAutoFit/>
          </a:bodyPr>
          <a:lstStyle/>
          <a:p>
            <a:r>
              <a:rPr lang="zh-CN" altLang="en-US" sz="2000" dirty="0">
                <a:latin typeface="黑体" pitchFamily="49" charset="-122"/>
                <a:ea typeface="黑体" pitchFamily="49" charset="-122"/>
              </a:rPr>
              <a:t>   序偶</a:t>
            </a:r>
            <a:r>
              <a:rPr lang="en-US" altLang="zh-CN" sz="2000" dirty="0">
                <a:latin typeface="黑体" pitchFamily="49" charset="-122"/>
                <a:ea typeface="黑体" pitchFamily="49" charset="-122"/>
              </a:rPr>
              <a:t>&lt;a</a:t>
            </a:r>
            <a:r>
              <a:rPr lang="en-US" altLang="zh-CN" sz="2000" baseline="-25000" dirty="0">
                <a:latin typeface="黑体" pitchFamily="49" charset="-122"/>
                <a:ea typeface="黑体" pitchFamily="49" charset="-122"/>
              </a:rPr>
              <a:t>i-1</a:t>
            </a:r>
            <a:r>
              <a:rPr lang="zh-CN" altLang="zh-CN" sz="2000" dirty="0">
                <a:latin typeface="黑体" pitchFamily="49" charset="-122"/>
                <a:ea typeface="黑体" pitchFamily="49" charset="-122"/>
              </a:rPr>
              <a:t>，</a:t>
            </a:r>
            <a:r>
              <a:rPr lang="en-US" altLang="zh-CN" sz="2000" dirty="0" err="1">
                <a:latin typeface="黑体" pitchFamily="49" charset="-122"/>
                <a:ea typeface="黑体" pitchFamily="49" charset="-122"/>
              </a:rPr>
              <a:t>a</a:t>
            </a:r>
            <a:r>
              <a:rPr lang="en-US" altLang="zh-CN" sz="2000" baseline="-25000" dirty="0" err="1">
                <a:latin typeface="黑体" pitchFamily="49" charset="-122"/>
                <a:ea typeface="黑体" pitchFamily="49" charset="-122"/>
              </a:rPr>
              <a:t>i</a:t>
            </a:r>
            <a:r>
              <a:rPr lang="en-US" altLang="zh-CN" sz="2000" dirty="0">
                <a:latin typeface="黑体" pitchFamily="49" charset="-122"/>
                <a:ea typeface="黑体" pitchFamily="49" charset="-122"/>
              </a:rPr>
              <a:t>&gt;</a:t>
            </a:r>
            <a:r>
              <a:rPr lang="zh-CN" altLang="en-US" sz="2000" dirty="0">
                <a:latin typeface="黑体" pitchFamily="49" charset="-122"/>
                <a:ea typeface="黑体" pitchFamily="49" charset="-122"/>
              </a:rPr>
              <a:t>表示</a:t>
            </a:r>
            <a:r>
              <a:rPr lang="en-US" altLang="zh-CN" sz="2000" dirty="0" err="1">
                <a:latin typeface="黑体" pitchFamily="49" charset="-122"/>
                <a:ea typeface="黑体" pitchFamily="49" charset="-122"/>
              </a:rPr>
              <a:t>a</a:t>
            </a:r>
            <a:r>
              <a:rPr lang="en-US" altLang="zh-CN" sz="2000" baseline="-25000" dirty="0" err="1">
                <a:latin typeface="黑体" pitchFamily="49" charset="-122"/>
                <a:ea typeface="黑体" pitchFamily="49" charset="-122"/>
              </a:rPr>
              <a:t>i</a:t>
            </a:r>
            <a:r>
              <a:rPr lang="zh-CN" altLang="zh-CN" sz="2000" dirty="0">
                <a:latin typeface="黑体" pitchFamily="49" charset="-122"/>
                <a:ea typeface="黑体" pitchFamily="49" charset="-122"/>
              </a:rPr>
              <a:t>元素的</a:t>
            </a:r>
            <a:r>
              <a:rPr lang="zh-CN" altLang="zh-CN" sz="2000" b="1" dirty="0">
                <a:solidFill>
                  <a:srgbClr val="FF0000"/>
                </a:solidFill>
                <a:latin typeface="黑体" pitchFamily="49" charset="-122"/>
                <a:ea typeface="黑体" pitchFamily="49" charset="-122"/>
              </a:rPr>
              <a:t>直接前驱</a:t>
            </a:r>
            <a:r>
              <a:rPr lang="zh-CN" altLang="zh-CN" sz="2000" dirty="0">
                <a:latin typeface="黑体" pitchFamily="49" charset="-122"/>
                <a:ea typeface="黑体" pitchFamily="49" charset="-122"/>
              </a:rPr>
              <a:t>元素是</a:t>
            </a:r>
            <a:r>
              <a:rPr lang="en-US" altLang="zh-CN" sz="2000" dirty="0">
                <a:latin typeface="黑体" pitchFamily="49" charset="-122"/>
                <a:ea typeface="黑体" pitchFamily="49" charset="-122"/>
              </a:rPr>
              <a:t>a</a:t>
            </a:r>
            <a:r>
              <a:rPr lang="en-US" altLang="zh-CN" sz="2000" baseline="-25000" dirty="0">
                <a:latin typeface="黑体" pitchFamily="49" charset="-122"/>
                <a:ea typeface="黑体" pitchFamily="49" charset="-122"/>
              </a:rPr>
              <a:t>i-1</a:t>
            </a:r>
            <a:r>
              <a:rPr lang="zh-CN" altLang="zh-CN" sz="2000" dirty="0">
                <a:latin typeface="黑体" pitchFamily="49" charset="-122"/>
                <a:ea typeface="黑体" pitchFamily="49" charset="-122"/>
              </a:rPr>
              <a:t>，</a:t>
            </a:r>
            <a:r>
              <a:rPr lang="zh-CN" altLang="en-US" sz="2000" dirty="0">
                <a:latin typeface="黑体" pitchFamily="49" charset="-122"/>
                <a:ea typeface="黑体" pitchFamily="49" charset="-122"/>
              </a:rPr>
              <a:t>序偶</a:t>
            </a:r>
            <a:r>
              <a:rPr lang="en-US" altLang="zh-CN" sz="2000" dirty="0">
                <a:latin typeface="黑体" pitchFamily="49" charset="-122"/>
                <a:ea typeface="黑体" pitchFamily="49" charset="-122"/>
              </a:rPr>
              <a:t>&lt;</a:t>
            </a:r>
            <a:r>
              <a:rPr lang="en-US" altLang="zh-CN" sz="2000" dirty="0" err="1">
                <a:latin typeface="黑体" pitchFamily="49" charset="-122"/>
                <a:ea typeface="黑体" pitchFamily="49" charset="-122"/>
              </a:rPr>
              <a:t>a</a:t>
            </a:r>
            <a:r>
              <a:rPr lang="en-US" altLang="zh-CN" sz="2000" baseline="-25000" dirty="0" err="1">
                <a:latin typeface="黑体" pitchFamily="49" charset="-122"/>
                <a:ea typeface="黑体" pitchFamily="49" charset="-122"/>
              </a:rPr>
              <a:t>i</a:t>
            </a:r>
            <a:r>
              <a:rPr lang="zh-CN" altLang="zh-CN" sz="2000" dirty="0">
                <a:latin typeface="黑体" pitchFamily="49" charset="-122"/>
                <a:ea typeface="黑体" pitchFamily="49" charset="-122"/>
              </a:rPr>
              <a:t>，</a:t>
            </a:r>
            <a:r>
              <a:rPr lang="en-US" altLang="zh-CN" sz="2000" dirty="0">
                <a:latin typeface="黑体" pitchFamily="49" charset="-122"/>
                <a:ea typeface="黑体" pitchFamily="49" charset="-122"/>
              </a:rPr>
              <a:t>a</a:t>
            </a:r>
            <a:r>
              <a:rPr lang="en-US" altLang="zh-CN" sz="2000" baseline="-25000" dirty="0">
                <a:latin typeface="黑体" pitchFamily="49" charset="-122"/>
                <a:ea typeface="黑体" pitchFamily="49" charset="-122"/>
              </a:rPr>
              <a:t>i+1</a:t>
            </a:r>
            <a:r>
              <a:rPr lang="en-US" altLang="zh-CN" sz="2000" dirty="0">
                <a:latin typeface="黑体" pitchFamily="49" charset="-122"/>
                <a:ea typeface="黑体" pitchFamily="49" charset="-122"/>
              </a:rPr>
              <a:t>&gt; </a:t>
            </a:r>
            <a:r>
              <a:rPr lang="zh-CN" altLang="en-US" sz="2000" dirty="0">
                <a:latin typeface="黑体" pitchFamily="49" charset="-122"/>
                <a:ea typeface="黑体" pitchFamily="49" charset="-122"/>
              </a:rPr>
              <a:t>表示</a:t>
            </a:r>
            <a:r>
              <a:rPr lang="en-US" altLang="zh-CN" sz="2000" dirty="0" err="1">
                <a:latin typeface="黑体" pitchFamily="49" charset="-122"/>
                <a:ea typeface="黑体" pitchFamily="49" charset="-122"/>
              </a:rPr>
              <a:t>a</a:t>
            </a:r>
            <a:r>
              <a:rPr lang="en-US" altLang="zh-CN" sz="2000" baseline="-25000" dirty="0" err="1">
                <a:latin typeface="黑体" pitchFamily="49" charset="-122"/>
                <a:ea typeface="黑体" pitchFamily="49" charset="-122"/>
              </a:rPr>
              <a:t>i</a:t>
            </a:r>
            <a:r>
              <a:rPr lang="zh-CN" altLang="zh-CN" sz="2000" dirty="0">
                <a:latin typeface="黑体" pitchFamily="49" charset="-122"/>
                <a:ea typeface="黑体" pitchFamily="49" charset="-122"/>
              </a:rPr>
              <a:t>元素的</a:t>
            </a:r>
            <a:r>
              <a:rPr lang="zh-CN" altLang="zh-CN" sz="2000" b="1" dirty="0">
                <a:solidFill>
                  <a:srgbClr val="FF0000"/>
                </a:solidFill>
                <a:latin typeface="黑体" pitchFamily="49" charset="-122"/>
                <a:ea typeface="黑体" pitchFamily="49" charset="-122"/>
              </a:rPr>
              <a:t>直接后继</a:t>
            </a:r>
            <a:r>
              <a:rPr lang="zh-CN" altLang="zh-CN" sz="2000" dirty="0">
                <a:latin typeface="黑体" pitchFamily="49" charset="-122"/>
                <a:ea typeface="黑体" pitchFamily="49" charset="-122"/>
              </a:rPr>
              <a:t>元素是</a:t>
            </a:r>
            <a:r>
              <a:rPr lang="en-US" altLang="zh-CN" sz="2000" dirty="0">
                <a:latin typeface="黑体" pitchFamily="49" charset="-122"/>
                <a:ea typeface="黑体" pitchFamily="49" charset="-122"/>
              </a:rPr>
              <a:t>a</a:t>
            </a:r>
            <a:r>
              <a:rPr lang="en-US" altLang="zh-CN" sz="2000" baseline="-25000" dirty="0">
                <a:latin typeface="黑体" pitchFamily="49" charset="-122"/>
                <a:ea typeface="黑体" pitchFamily="49" charset="-122"/>
              </a:rPr>
              <a:t>i+1</a:t>
            </a:r>
            <a:r>
              <a:rPr lang="zh-CN" altLang="zh-CN" sz="2000" dirty="0">
                <a:latin typeface="黑体" pitchFamily="49" charset="-122"/>
                <a:ea typeface="黑体" pitchFamily="49" charset="-122"/>
              </a:rPr>
              <a:t>。</a:t>
            </a:r>
            <a:endParaRPr lang="en-US" altLang="zh-CN" sz="2000" dirty="0">
              <a:latin typeface="黑体" pitchFamily="49" charset="-122"/>
              <a:ea typeface="黑体" pitchFamily="49" charset="-122"/>
            </a:endParaRPr>
          </a:p>
          <a:p>
            <a:r>
              <a:rPr lang="en-US" altLang="zh-CN" sz="2000" dirty="0">
                <a:latin typeface="黑体" pitchFamily="49" charset="-122"/>
                <a:ea typeface="黑体" pitchFamily="49" charset="-122"/>
              </a:rPr>
              <a:t>    </a:t>
            </a:r>
            <a:r>
              <a:rPr lang="zh-CN" altLang="zh-CN" sz="2000" dirty="0">
                <a:latin typeface="黑体" pitchFamily="49" charset="-122"/>
                <a:ea typeface="黑体" pitchFamily="49" charset="-122"/>
              </a:rPr>
              <a:t>除了</a:t>
            </a:r>
            <a:r>
              <a:rPr lang="en-US" altLang="zh-CN" sz="2000" dirty="0">
                <a:latin typeface="黑体" pitchFamily="49" charset="-122"/>
                <a:ea typeface="黑体" pitchFamily="49" charset="-122"/>
              </a:rPr>
              <a:t>a</a:t>
            </a:r>
            <a:r>
              <a:rPr lang="en-US" altLang="zh-CN" sz="2000" baseline="-25000" dirty="0">
                <a:latin typeface="黑体" pitchFamily="49" charset="-122"/>
                <a:ea typeface="黑体" pitchFamily="49" charset="-122"/>
              </a:rPr>
              <a:t>1</a:t>
            </a:r>
            <a:r>
              <a:rPr lang="zh-CN" altLang="zh-CN" sz="2000" dirty="0">
                <a:latin typeface="黑体" pitchFamily="49" charset="-122"/>
                <a:ea typeface="黑体" pitchFamily="49" charset="-122"/>
              </a:rPr>
              <a:t>之外，每个</a:t>
            </a:r>
            <a:r>
              <a:rPr lang="en-US" altLang="zh-CN" sz="2000" dirty="0" err="1">
                <a:latin typeface="黑体" pitchFamily="49" charset="-122"/>
                <a:ea typeface="黑体" pitchFamily="49" charset="-122"/>
              </a:rPr>
              <a:t>a</a:t>
            </a:r>
            <a:r>
              <a:rPr lang="en-US" altLang="zh-CN" sz="2000" baseline="-25000" dirty="0" err="1">
                <a:latin typeface="黑体" pitchFamily="49" charset="-122"/>
                <a:ea typeface="黑体" pitchFamily="49" charset="-122"/>
              </a:rPr>
              <a:t>i</a:t>
            </a:r>
            <a:r>
              <a:rPr lang="zh-CN" altLang="zh-CN" sz="2000" dirty="0">
                <a:latin typeface="黑体" pitchFamily="49" charset="-122"/>
                <a:ea typeface="黑体" pitchFamily="49" charset="-122"/>
              </a:rPr>
              <a:t>都有且仅有一个直接前趋，</a:t>
            </a:r>
            <a:r>
              <a:rPr lang="en-US" altLang="zh-CN" sz="2000" dirty="0">
                <a:latin typeface="黑体" pitchFamily="49" charset="-122"/>
                <a:ea typeface="黑体" pitchFamily="49" charset="-122"/>
              </a:rPr>
              <a:t>a</a:t>
            </a:r>
            <a:r>
              <a:rPr lang="en-US" altLang="zh-CN" sz="2000" baseline="-25000" dirty="0">
                <a:latin typeface="黑体" pitchFamily="49" charset="-122"/>
                <a:ea typeface="黑体" pitchFamily="49" charset="-122"/>
              </a:rPr>
              <a:t>1</a:t>
            </a:r>
            <a:r>
              <a:rPr lang="zh-CN" altLang="zh-CN" sz="2000" dirty="0">
                <a:latin typeface="黑体" pitchFamily="49" charset="-122"/>
                <a:ea typeface="黑体" pitchFamily="49" charset="-122"/>
              </a:rPr>
              <a:t>没有前趋</a:t>
            </a:r>
            <a:r>
              <a:rPr lang="zh-CN" altLang="en-US" sz="2000" dirty="0">
                <a:latin typeface="黑体" pitchFamily="49" charset="-122"/>
                <a:ea typeface="黑体" pitchFamily="49" charset="-122"/>
              </a:rPr>
              <a:t>；</a:t>
            </a:r>
            <a:endParaRPr lang="en-US" altLang="zh-CN" sz="2000" dirty="0">
              <a:latin typeface="黑体" pitchFamily="49" charset="-122"/>
              <a:ea typeface="黑体" pitchFamily="49" charset="-122"/>
            </a:endParaRPr>
          </a:p>
          <a:p>
            <a:r>
              <a:rPr lang="en-US" altLang="zh-CN" sz="2000" dirty="0">
                <a:latin typeface="黑体" pitchFamily="49" charset="-122"/>
                <a:ea typeface="黑体" pitchFamily="49" charset="-122"/>
              </a:rPr>
              <a:t>    </a:t>
            </a:r>
            <a:r>
              <a:rPr lang="zh-CN" altLang="zh-CN" sz="2000" dirty="0">
                <a:latin typeface="黑体" pitchFamily="49" charset="-122"/>
                <a:ea typeface="黑体" pitchFamily="49" charset="-122"/>
              </a:rPr>
              <a:t>除了</a:t>
            </a:r>
            <a:r>
              <a:rPr lang="en-US" altLang="zh-CN" sz="2000" dirty="0">
                <a:latin typeface="黑体" pitchFamily="49" charset="-122"/>
                <a:ea typeface="黑体" pitchFamily="49" charset="-122"/>
              </a:rPr>
              <a:t>a</a:t>
            </a:r>
            <a:r>
              <a:rPr lang="en-US" altLang="zh-CN" sz="2000" baseline="-25000" dirty="0">
                <a:latin typeface="黑体" pitchFamily="49" charset="-122"/>
                <a:ea typeface="黑体" pitchFamily="49" charset="-122"/>
              </a:rPr>
              <a:t>n</a:t>
            </a:r>
            <a:r>
              <a:rPr lang="zh-CN" altLang="zh-CN" sz="2000" dirty="0">
                <a:latin typeface="黑体" pitchFamily="49" charset="-122"/>
                <a:ea typeface="黑体" pitchFamily="49" charset="-122"/>
              </a:rPr>
              <a:t>之外，每个</a:t>
            </a:r>
            <a:r>
              <a:rPr lang="en-US" altLang="zh-CN" sz="2000" dirty="0" err="1">
                <a:latin typeface="黑体" pitchFamily="49" charset="-122"/>
                <a:ea typeface="黑体" pitchFamily="49" charset="-122"/>
              </a:rPr>
              <a:t>a</a:t>
            </a:r>
            <a:r>
              <a:rPr lang="en-US" altLang="zh-CN" sz="2000" baseline="-25000" dirty="0" err="1">
                <a:latin typeface="黑体" pitchFamily="49" charset="-122"/>
                <a:ea typeface="黑体" pitchFamily="49" charset="-122"/>
              </a:rPr>
              <a:t>i</a:t>
            </a:r>
            <a:r>
              <a:rPr lang="zh-CN" altLang="zh-CN" sz="2000" dirty="0">
                <a:latin typeface="黑体" pitchFamily="49" charset="-122"/>
                <a:ea typeface="黑体" pitchFamily="49" charset="-122"/>
              </a:rPr>
              <a:t>都有且仅有一个直接后继，</a:t>
            </a:r>
            <a:r>
              <a:rPr lang="en-US" altLang="zh-CN" sz="2000" dirty="0">
                <a:latin typeface="黑体" pitchFamily="49" charset="-122"/>
                <a:ea typeface="黑体" pitchFamily="49" charset="-122"/>
              </a:rPr>
              <a:t>a</a:t>
            </a:r>
            <a:r>
              <a:rPr lang="en-US" altLang="zh-CN" sz="2000" baseline="-25000" dirty="0">
                <a:latin typeface="黑体" pitchFamily="49" charset="-122"/>
                <a:ea typeface="黑体" pitchFamily="49" charset="-122"/>
              </a:rPr>
              <a:t>n</a:t>
            </a:r>
            <a:r>
              <a:rPr lang="zh-CN" altLang="zh-CN" sz="2000" dirty="0">
                <a:latin typeface="黑体" pitchFamily="49" charset="-122"/>
                <a:ea typeface="黑体" pitchFamily="49" charset="-122"/>
              </a:rPr>
              <a:t>没有后继。</a:t>
            </a:r>
            <a:endParaRPr lang="zh-CN" altLang="en-US" sz="2000" dirty="0">
              <a:latin typeface="黑体" pitchFamily="49" charset="-122"/>
              <a:ea typeface="黑体" pitchFamily="49" charset="-122"/>
            </a:endParaRPr>
          </a:p>
        </p:txBody>
      </p:sp>
      <p:cxnSp>
        <p:nvCxnSpPr>
          <p:cNvPr id="13" name="直接连接符 1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7C421B60-9C08-ED7F-862F-A07B5ADCA943}"/>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2.1 </a:t>
            </a:r>
            <a:r>
              <a:rPr lang="zh-CN" altLang="en-US" sz="3700" b="1" dirty="0">
                <a:latin typeface="黑体" pitchFamily="49" charset="-122"/>
                <a:ea typeface="黑体" pitchFamily="49" charset="-122"/>
                <a:cs typeface="+mn-cs"/>
              </a:rPr>
              <a:t>线性表及其逻辑结构</a:t>
            </a:r>
          </a:p>
        </p:txBody>
      </p:sp>
      <p:sp>
        <p:nvSpPr>
          <p:cNvPr id="3" name="矩形 2">
            <a:extLst>
              <a:ext uri="{FF2B5EF4-FFF2-40B4-BE49-F238E27FC236}">
                <a16:creationId xmlns:a16="http://schemas.microsoft.com/office/drawing/2014/main" id="{16554FCC-89DB-5218-73FB-973368E007D4}"/>
              </a:ext>
            </a:extLst>
          </p:cNvPr>
          <p:cNvSpPr/>
          <p:nvPr/>
        </p:nvSpPr>
        <p:spPr>
          <a:xfrm>
            <a:off x="416325" y="869523"/>
            <a:ext cx="400279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2.1.1 </a:t>
            </a:r>
            <a:r>
              <a:rPr lang="zh-CN" altLang="en-US" sz="2800" b="1" dirty="0">
                <a:solidFill>
                  <a:schemeClr val="bg1"/>
                </a:solidFill>
                <a:latin typeface="经典粗黑简" pitchFamily="49" charset="-122"/>
                <a:ea typeface="经典粗黑简" pitchFamily="49" charset="-122"/>
                <a:cs typeface="经典粗黑简" pitchFamily="49" charset="-122"/>
              </a:rPr>
              <a:t>线性表的定义</a:t>
            </a:r>
          </a:p>
        </p:txBody>
      </p:sp>
    </p:spTree>
    <p:extLst>
      <p:ext uri="{BB962C8B-B14F-4D97-AF65-F5344CB8AC3E}">
        <p14:creationId xmlns:p14="http://schemas.microsoft.com/office/powerpoint/2010/main" val="389103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txBox="1">
            <a:spLocks noChangeArrowheads="1"/>
          </p:cNvSpPr>
          <p:nvPr/>
        </p:nvSpPr>
        <p:spPr>
          <a:xfrm>
            <a:off x="1031087" y="1600201"/>
            <a:ext cx="6997298" cy="3774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95000"/>
              </a:lnSpc>
              <a:spcBef>
                <a:spcPct val="10000"/>
              </a:spcBef>
              <a:buClr>
                <a:schemeClr val="tx1"/>
              </a:buClr>
              <a:buFont typeface="Wingdings" pitchFamily="2" charset="2"/>
              <a:buNone/>
            </a:pPr>
            <a:r>
              <a:rPr lang="zh-CN" altLang="en-US" sz="2000" dirty="0">
                <a:latin typeface="微软雅黑" pitchFamily="34" charset="-122"/>
                <a:ea typeface="微软雅黑" pitchFamily="34" charset="-122"/>
                <a:cs typeface="经典粗黑简" pitchFamily="49" charset="-122"/>
              </a:rPr>
              <a:t>一个</a:t>
            </a:r>
            <a:r>
              <a:rPr lang="zh-CN" altLang="en-US" sz="2000" dirty="0">
                <a:solidFill>
                  <a:srgbClr val="FF0000"/>
                </a:solidFill>
                <a:latin typeface="微软雅黑" pitchFamily="34" charset="-122"/>
                <a:ea typeface="微软雅黑" pitchFamily="34" charset="-122"/>
                <a:cs typeface="经典粗黑简" pitchFamily="49" charset="-122"/>
              </a:rPr>
              <a:t>线性表（</a:t>
            </a:r>
            <a:r>
              <a:rPr lang="en-US" altLang="zh-CN" sz="2000" dirty="0" err="1">
                <a:solidFill>
                  <a:srgbClr val="FF0000"/>
                </a:solidFill>
                <a:latin typeface="微软雅黑" pitchFamily="34" charset="-122"/>
                <a:ea typeface="微软雅黑" pitchFamily="34" charset="-122"/>
                <a:cs typeface="经典粗黑简" pitchFamily="49" charset="-122"/>
              </a:rPr>
              <a:t>Linear_List</a:t>
            </a:r>
            <a:r>
              <a:rPr lang="zh-CN" altLang="en-US" sz="2000" dirty="0">
                <a:solidFill>
                  <a:srgbClr val="FF0000"/>
                </a:solidFill>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是有</a:t>
            </a:r>
            <a:r>
              <a:rPr lang="en-US" altLang="zh-CN" sz="2000" dirty="0">
                <a:latin typeface="微软雅黑" pitchFamily="34" charset="-122"/>
                <a:ea typeface="微软雅黑" pitchFamily="34" charset="-122"/>
                <a:cs typeface="经典粗黑简" pitchFamily="49" charset="-122"/>
              </a:rPr>
              <a:t>n</a:t>
            </a:r>
            <a:r>
              <a:rPr lang="zh-CN" altLang="en-US" sz="2000" dirty="0">
                <a:latin typeface="微软雅黑" pitchFamily="34" charset="-122"/>
                <a:ea typeface="微软雅黑" pitchFamily="34" charset="-122"/>
                <a:cs typeface="经典粗黑简" pitchFamily="49" charset="-122"/>
              </a:rPr>
              <a:t>个数据元素的</a:t>
            </a:r>
            <a:r>
              <a:rPr lang="zh-CN" altLang="en-US" sz="2000" dirty="0">
                <a:solidFill>
                  <a:srgbClr val="FF0000"/>
                </a:solidFill>
                <a:latin typeface="微软雅黑" pitchFamily="34" charset="-122"/>
                <a:ea typeface="微软雅黑" pitchFamily="34" charset="-122"/>
                <a:cs typeface="经典粗黑简" pitchFamily="49" charset="-122"/>
              </a:rPr>
              <a:t>有限</a:t>
            </a:r>
            <a:r>
              <a:rPr lang="zh-CN" altLang="en-US" sz="2000" dirty="0">
                <a:latin typeface="微软雅黑" pitchFamily="34" charset="-122"/>
                <a:ea typeface="微软雅黑" pitchFamily="34" charset="-122"/>
                <a:cs typeface="经典粗黑简" pitchFamily="49" charset="-122"/>
              </a:rPr>
              <a:t>序列：</a:t>
            </a:r>
          </a:p>
          <a:p>
            <a:pPr marL="457200" indent="-457200">
              <a:lnSpc>
                <a:spcPct val="95000"/>
              </a:lnSpc>
              <a:spcBef>
                <a:spcPct val="10000"/>
              </a:spcBef>
              <a:buClr>
                <a:schemeClr val="tx1"/>
              </a:buClr>
              <a:buFont typeface="Wingdings" pitchFamily="2" charset="2"/>
              <a:buNone/>
            </a:pPr>
            <a:r>
              <a:rPr lang="zh-CN" altLang="en-US" sz="2000" dirty="0">
                <a:latin typeface="微软雅黑" pitchFamily="34" charset="-122"/>
                <a:ea typeface="微软雅黑" pitchFamily="34" charset="-122"/>
                <a:cs typeface="经典粗黑简" pitchFamily="49" charset="-122"/>
              </a:rPr>
              <a:t>                            </a:t>
            </a:r>
            <a:endParaRPr lang="en-US" altLang="zh-CN" sz="2000" dirty="0">
              <a:latin typeface="微软雅黑" pitchFamily="34" charset="-122"/>
              <a:ea typeface="微软雅黑" pitchFamily="34" charset="-122"/>
              <a:cs typeface="经典粗黑简" pitchFamily="49" charset="-122"/>
            </a:endParaRPr>
          </a:p>
        </p:txBody>
      </p:sp>
      <p:sp>
        <p:nvSpPr>
          <p:cNvPr id="20" name="矩形 19"/>
          <p:cNvSpPr/>
          <p:nvPr/>
        </p:nvSpPr>
        <p:spPr>
          <a:xfrm>
            <a:off x="1462816" y="1981892"/>
            <a:ext cx="6218369" cy="501676"/>
          </a:xfrm>
          <a:prstGeom prst="rect">
            <a:avLst/>
          </a:prstGeom>
        </p:spPr>
        <p:txBody>
          <a:bodyPr wrap="none">
            <a:spAutoFit/>
          </a:bodyPr>
          <a:lstStyle/>
          <a:p>
            <a:pPr marL="457200" indent="-457200">
              <a:lnSpc>
                <a:spcPct val="95000"/>
              </a:lnSpc>
              <a:spcBef>
                <a:spcPct val="10000"/>
              </a:spcBef>
              <a:buClr>
                <a:schemeClr val="tx1"/>
              </a:buClr>
              <a:buFont typeface="Wingdings" pitchFamily="2" charset="2"/>
              <a:buNone/>
            </a:pPr>
            <a:r>
              <a:rPr lang="zh-CN" altLang="en-US" sz="2800" dirty="0">
                <a:latin typeface="微软雅黑" pitchFamily="34" charset="-122"/>
                <a:ea typeface="微软雅黑" pitchFamily="34" charset="-122"/>
                <a:cs typeface="经典粗黑简" pitchFamily="49" charset="-122"/>
              </a:rPr>
              <a:t>(</a:t>
            </a:r>
            <a:r>
              <a:rPr lang="en-US" altLang="zh-CN" sz="2800" dirty="0">
                <a:latin typeface="微软雅黑" pitchFamily="34" charset="-122"/>
                <a:ea typeface="微软雅黑" pitchFamily="34" charset="-122"/>
                <a:cs typeface="经典粗黑简" pitchFamily="49" charset="-122"/>
              </a:rPr>
              <a:t>a</a:t>
            </a:r>
            <a:r>
              <a:rPr lang="en-US" altLang="zh-CN" sz="2800" baseline="-25000" dirty="0">
                <a:latin typeface="微软雅黑" pitchFamily="34" charset="-122"/>
                <a:ea typeface="微软雅黑" pitchFamily="34" charset="-122"/>
                <a:cs typeface="经典粗黑简" pitchFamily="49" charset="-122"/>
              </a:rPr>
              <a:t>1</a:t>
            </a:r>
            <a:r>
              <a:rPr lang="en-US" altLang="zh-CN" sz="2800" dirty="0">
                <a:latin typeface="微软雅黑" pitchFamily="34" charset="-122"/>
                <a:ea typeface="微软雅黑" pitchFamily="34" charset="-122"/>
                <a:cs typeface="经典粗黑简" pitchFamily="49" charset="-122"/>
              </a:rPr>
              <a:t>，a</a:t>
            </a:r>
            <a:r>
              <a:rPr lang="en-US" altLang="zh-CN" sz="2800" baseline="-25000" dirty="0">
                <a:latin typeface="微软雅黑" pitchFamily="34" charset="-122"/>
                <a:ea typeface="微软雅黑" pitchFamily="34" charset="-122"/>
                <a:cs typeface="经典粗黑简" pitchFamily="49" charset="-122"/>
              </a:rPr>
              <a:t>2</a:t>
            </a:r>
            <a:r>
              <a:rPr lang="en-US" altLang="zh-CN" sz="2800" dirty="0">
                <a:latin typeface="微软雅黑" pitchFamily="34" charset="-122"/>
                <a:ea typeface="微软雅黑" pitchFamily="34" charset="-122"/>
                <a:cs typeface="经典粗黑简" pitchFamily="49" charset="-122"/>
              </a:rPr>
              <a:t>，…， a</a:t>
            </a:r>
            <a:r>
              <a:rPr lang="en-US" altLang="zh-CN" sz="2800" baseline="-25000" dirty="0">
                <a:latin typeface="微软雅黑" pitchFamily="34" charset="-122"/>
                <a:ea typeface="微软雅黑" pitchFamily="34" charset="-122"/>
                <a:cs typeface="经典粗黑简" pitchFamily="49" charset="-122"/>
              </a:rPr>
              <a:t>i-1 </a:t>
            </a:r>
            <a:r>
              <a:rPr lang="zh-CN" altLang="en-US" sz="2800" dirty="0">
                <a:latin typeface="微软雅黑" pitchFamily="34" charset="-122"/>
                <a:ea typeface="微软雅黑" pitchFamily="34" charset="-122"/>
                <a:cs typeface="经典粗黑简" pitchFamily="49" charset="-122"/>
              </a:rPr>
              <a:t>，</a:t>
            </a:r>
            <a:r>
              <a:rPr lang="en-US" altLang="zh-CN" sz="2800" dirty="0" err="1">
                <a:latin typeface="微软雅黑" pitchFamily="34" charset="-122"/>
                <a:ea typeface="微软雅黑" pitchFamily="34" charset="-122"/>
                <a:cs typeface="经典粗黑简" pitchFamily="49" charset="-122"/>
              </a:rPr>
              <a:t>a</a:t>
            </a:r>
            <a:r>
              <a:rPr lang="en-US" altLang="zh-CN" sz="2800" baseline="-25000" dirty="0" err="1">
                <a:latin typeface="微软雅黑" pitchFamily="34" charset="-122"/>
                <a:ea typeface="微软雅黑" pitchFamily="34" charset="-122"/>
                <a:cs typeface="经典粗黑简" pitchFamily="49" charset="-122"/>
              </a:rPr>
              <a:t>i</a:t>
            </a:r>
            <a:r>
              <a:rPr lang="zh-CN" altLang="en-US" sz="2800" dirty="0">
                <a:latin typeface="微软雅黑" pitchFamily="34" charset="-122"/>
                <a:ea typeface="微软雅黑" pitchFamily="34" charset="-122"/>
                <a:cs typeface="经典粗黑简" pitchFamily="49" charset="-122"/>
              </a:rPr>
              <a:t>，</a:t>
            </a:r>
            <a:r>
              <a:rPr lang="en-US" altLang="zh-CN" sz="2800" baseline="-25000" dirty="0">
                <a:latin typeface="微软雅黑" pitchFamily="34" charset="-122"/>
                <a:ea typeface="微软雅黑" pitchFamily="34" charset="-122"/>
                <a:cs typeface="经典粗黑简" pitchFamily="49" charset="-122"/>
              </a:rPr>
              <a:t> </a:t>
            </a:r>
            <a:r>
              <a:rPr lang="en-US" altLang="zh-CN" sz="2800" dirty="0">
                <a:latin typeface="微软雅黑" pitchFamily="34" charset="-122"/>
                <a:ea typeface="微软雅黑" pitchFamily="34" charset="-122"/>
                <a:cs typeface="经典粗黑简" pitchFamily="49" charset="-122"/>
              </a:rPr>
              <a:t>a</a:t>
            </a:r>
            <a:r>
              <a:rPr lang="en-US" altLang="zh-CN" sz="2800" baseline="-25000" dirty="0">
                <a:latin typeface="微软雅黑" pitchFamily="34" charset="-122"/>
                <a:ea typeface="微软雅黑" pitchFamily="34" charset="-122"/>
                <a:cs typeface="经典粗黑简" pitchFamily="49" charset="-122"/>
              </a:rPr>
              <a:t>i+1 </a:t>
            </a:r>
            <a:r>
              <a:rPr lang="en-US" altLang="zh-CN" sz="2800" dirty="0">
                <a:latin typeface="微软雅黑" pitchFamily="34" charset="-122"/>
                <a:ea typeface="微软雅黑" pitchFamily="34" charset="-122"/>
                <a:cs typeface="经典粗黑简" pitchFamily="49" charset="-122"/>
              </a:rPr>
              <a:t>，…，a</a:t>
            </a:r>
            <a:r>
              <a:rPr lang="en-US" altLang="zh-CN" sz="2800" baseline="-25000" dirty="0">
                <a:latin typeface="微软雅黑" pitchFamily="34" charset="-122"/>
                <a:ea typeface="微软雅黑" pitchFamily="34" charset="-122"/>
                <a:cs typeface="经典粗黑简" pitchFamily="49" charset="-122"/>
              </a:rPr>
              <a:t>n</a:t>
            </a:r>
            <a:r>
              <a:rPr lang="en-US" altLang="zh-CN" sz="2800" dirty="0">
                <a:latin typeface="微软雅黑" pitchFamily="34" charset="-122"/>
                <a:ea typeface="微软雅黑" pitchFamily="34" charset="-122"/>
                <a:cs typeface="经典粗黑简" pitchFamily="49" charset="-122"/>
              </a:rPr>
              <a:t>)</a:t>
            </a:r>
          </a:p>
        </p:txBody>
      </p:sp>
      <p:sp>
        <p:nvSpPr>
          <p:cNvPr id="12" name="矩形 11"/>
          <p:cNvSpPr/>
          <p:nvPr/>
        </p:nvSpPr>
        <p:spPr>
          <a:xfrm>
            <a:off x="1400418" y="3514446"/>
            <a:ext cx="6737176" cy="443198"/>
          </a:xfrm>
          <a:prstGeom prst="rect">
            <a:avLst/>
          </a:prstGeom>
        </p:spPr>
        <p:txBody>
          <a:bodyPr wrap="square">
            <a:spAutoFit/>
          </a:bodyPr>
          <a:lstStyle/>
          <a:p>
            <a:pPr lvl="1" indent="-457200">
              <a:lnSpc>
                <a:spcPct val="95000"/>
              </a:lnSpc>
              <a:spcBef>
                <a:spcPct val="10000"/>
              </a:spcBef>
              <a:buClr>
                <a:schemeClr val="tx1"/>
              </a:buClr>
            </a:pPr>
            <a:r>
              <a:rPr lang="zh-CN" altLang="en-US" sz="2400" dirty="0">
                <a:latin typeface="黑体" pitchFamily="49" charset="-122"/>
                <a:ea typeface="黑体" pitchFamily="49" charset="-122"/>
              </a:rPr>
              <a:t>非空线性表中的每个元素都有一个确定的</a:t>
            </a:r>
            <a:r>
              <a:rPr lang="zh-CN" altLang="en-US" sz="2400" dirty="0">
                <a:solidFill>
                  <a:srgbClr val="FF0000"/>
                </a:solidFill>
                <a:latin typeface="黑体" pitchFamily="49" charset="-122"/>
                <a:ea typeface="黑体" pitchFamily="49" charset="-122"/>
              </a:rPr>
              <a:t>位序</a:t>
            </a:r>
            <a:r>
              <a:rPr lang="zh-CN" altLang="en-US" sz="2400" dirty="0">
                <a:latin typeface="黑体" pitchFamily="49" charset="-122"/>
                <a:ea typeface="黑体" pitchFamily="49" charset="-122"/>
              </a:rPr>
              <a:t>。</a:t>
            </a:r>
            <a:endParaRPr lang="zh-CN" altLang="en-US" sz="2400" dirty="0">
              <a:latin typeface="黑体" pitchFamily="49" charset="-122"/>
              <a:ea typeface="黑体" pitchFamily="49" charset="-122"/>
              <a:cs typeface="经典粗黑简" pitchFamily="49" charset="-122"/>
            </a:endParaRPr>
          </a:p>
        </p:txBody>
      </p:sp>
      <p:sp>
        <p:nvSpPr>
          <p:cNvPr id="2" name="矩形 1"/>
          <p:cNvSpPr/>
          <p:nvPr/>
        </p:nvSpPr>
        <p:spPr>
          <a:xfrm>
            <a:off x="1403648" y="2571750"/>
            <a:ext cx="6408712" cy="830997"/>
          </a:xfrm>
          <a:prstGeom prst="rect">
            <a:avLst/>
          </a:prstGeom>
        </p:spPr>
        <p:txBody>
          <a:bodyPr wrap="square">
            <a:spAutoFit/>
          </a:bodyPr>
          <a:lstStyle/>
          <a:p>
            <a:r>
              <a:rPr lang="zh-CN" altLang="en-US" sz="2400" dirty="0">
                <a:latin typeface="黑体" pitchFamily="49" charset="-122"/>
                <a:ea typeface="黑体" pitchFamily="49" charset="-122"/>
              </a:rPr>
              <a:t>一个线性表中元素的个数</a:t>
            </a:r>
            <a:r>
              <a:rPr lang="en-US" altLang="zh-CN" sz="2400" dirty="0">
                <a:latin typeface="黑体" pitchFamily="49" charset="-122"/>
                <a:ea typeface="黑体" pitchFamily="49" charset="-122"/>
              </a:rPr>
              <a:t>n(n≥0)</a:t>
            </a:r>
            <a:r>
              <a:rPr lang="zh-CN" altLang="en-US" sz="2400" dirty="0">
                <a:latin typeface="黑体" pitchFamily="49" charset="-122"/>
                <a:ea typeface="黑体" pitchFamily="49" charset="-122"/>
              </a:rPr>
              <a:t>定义为线性表的</a:t>
            </a:r>
            <a:r>
              <a:rPr lang="zh-CN" altLang="en-US" sz="2400" dirty="0">
                <a:solidFill>
                  <a:srgbClr val="FF0000"/>
                </a:solidFill>
                <a:latin typeface="黑体" pitchFamily="49" charset="-122"/>
                <a:ea typeface="黑体" pitchFamily="49" charset="-122"/>
              </a:rPr>
              <a:t>长度</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n=0</a:t>
            </a:r>
            <a:r>
              <a:rPr lang="zh-CN" altLang="en-US" sz="2400" dirty="0">
                <a:latin typeface="黑体" pitchFamily="49" charset="-122"/>
                <a:ea typeface="黑体" pitchFamily="49" charset="-122"/>
              </a:rPr>
              <a:t>时称为</a:t>
            </a:r>
            <a:r>
              <a:rPr lang="zh-CN" altLang="en-US" sz="2400" dirty="0">
                <a:solidFill>
                  <a:srgbClr val="FF0000"/>
                </a:solidFill>
                <a:latin typeface="黑体" pitchFamily="49" charset="-122"/>
                <a:ea typeface="黑体" pitchFamily="49" charset="-122"/>
              </a:rPr>
              <a:t>空表。</a:t>
            </a:r>
            <a:endParaRPr lang="zh-CN" altLang="en-US" sz="2400" dirty="0">
              <a:latin typeface="黑体" pitchFamily="49" charset="-122"/>
              <a:ea typeface="黑体" pitchFamily="49" charset="-122"/>
            </a:endParaRPr>
          </a:p>
        </p:txBody>
      </p:sp>
      <p:cxnSp>
        <p:nvCxnSpPr>
          <p:cNvPr id="13" name="直接连接符 1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727918D6-5F4B-2166-C4C4-539F5CD38FE9}"/>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2.1 </a:t>
            </a:r>
            <a:r>
              <a:rPr lang="zh-CN" altLang="en-US" sz="3700" b="1" dirty="0">
                <a:latin typeface="黑体" pitchFamily="49" charset="-122"/>
                <a:ea typeface="黑体" pitchFamily="49" charset="-122"/>
                <a:cs typeface="+mn-cs"/>
              </a:rPr>
              <a:t>线性表及其逻辑结构</a:t>
            </a:r>
          </a:p>
        </p:txBody>
      </p:sp>
      <p:sp>
        <p:nvSpPr>
          <p:cNvPr id="4" name="矩形 3">
            <a:extLst>
              <a:ext uri="{FF2B5EF4-FFF2-40B4-BE49-F238E27FC236}">
                <a16:creationId xmlns:a16="http://schemas.microsoft.com/office/drawing/2014/main" id="{7A5E4A07-7E54-704F-A89C-483D26E3BDE1}"/>
              </a:ext>
            </a:extLst>
          </p:cNvPr>
          <p:cNvSpPr/>
          <p:nvPr/>
        </p:nvSpPr>
        <p:spPr>
          <a:xfrm>
            <a:off x="416325" y="869523"/>
            <a:ext cx="400279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2.1.1 </a:t>
            </a:r>
            <a:r>
              <a:rPr lang="zh-CN" altLang="en-US" sz="2800" b="1" dirty="0">
                <a:solidFill>
                  <a:schemeClr val="bg1"/>
                </a:solidFill>
                <a:latin typeface="经典粗黑简" pitchFamily="49" charset="-122"/>
                <a:ea typeface="经典粗黑简" pitchFamily="49" charset="-122"/>
                <a:cs typeface="经典粗黑简" pitchFamily="49" charset="-122"/>
              </a:rPr>
              <a:t>线性表的定义</a:t>
            </a:r>
          </a:p>
        </p:txBody>
      </p:sp>
    </p:spTree>
    <p:extLst>
      <p:ext uri="{BB962C8B-B14F-4D97-AF65-F5344CB8AC3E}">
        <p14:creationId xmlns:p14="http://schemas.microsoft.com/office/powerpoint/2010/main" val="197339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FF15A-EA7C-5C63-C77F-0A45E87AF1BC}"/>
            </a:ext>
          </a:extLst>
        </p:cNvPr>
        <p:cNvGrpSpPr/>
        <p:nvPr/>
      </p:nvGrpSpPr>
      <p:grpSpPr>
        <a:xfrm>
          <a:off x="0" y="0"/>
          <a:ext cx="0" cy="0"/>
          <a:chOff x="0" y="0"/>
          <a:chExt cx="0" cy="0"/>
        </a:xfrm>
      </p:grpSpPr>
      <p:cxnSp>
        <p:nvCxnSpPr>
          <p:cNvPr id="13" name="直接连接符 12">
            <a:extLst>
              <a:ext uri="{FF2B5EF4-FFF2-40B4-BE49-F238E27FC236}">
                <a16:creationId xmlns:a16="http://schemas.microsoft.com/office/drawing/2014/main" id="{6DD2C603-4261-4C86-EBB0-21D1A36C9FBA}"/>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839BB435-D5D5-CF3F-82F8-695920E9B4ED}"/>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2.1 </a:t>
            </a:r>
            <a:r>
              <a:rPr lang="zh-CN" altLang="en-US" sz="3700" b="1" dirty="0">
                <a:latin typeface="黑体" pitchFamily="49" charset="-122"/>
                <a:ea typeface="黑体" pitchFamily="49" charset="-122"/>
                <a:cs typeface="+mn-cs"/>
              </a:rPr>
              <a:t>线性表及其逻辑结构</a:t>
            </a:r>
          </a:p>
        </p:txBody>
      </p:sp>
      <p:sp>
        <p:nvSpPr>
          <p:cNvPr id="4" name="矩形 3">
            <a:extLst>
              <a:ext uri="{FF2B5EF4-FFF2-40B4-BE49-F238E27FC236}">
                <a16:creationId xmlns:a16="http://schemas.microsoft.com/office/drawing/2014/main" id="{A30E0F15-1FAD-F241-DE12-C46957DDD9D7}"/>
              </a:ext>
            </a:extLst>
          </p:cNvPr>
          <p:cNvSpPr/>
          <p:nvPr/>
        </p:nvSpPr>
        <p:spPr>
          <a:xfrm>
            <a:off x="416324" y="869523"/>
            <a:ext cx="5667843"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2.1.2 </a:t>
            </a:r>
            <a:r>
              <a:rPr lang="zh-CN" altLang="en-US" sz="2800" b="1" dirty="0">
                <a:solidFill>
                  <a:schemeClr val="bg1"/>
                </a:solidFill>
                <a:latin typeface="经典粗黑简" pitchFamily="49" charset="-122"/>
                <a:ea typeface="经典粗黑简" pitchFamily="49" charset="-122"/>
                <a:cs typeface="经典粗黑简" pitchFamily="49" charset="-122"/>
              </a:rPr>
              <a:t>线性表的抽象数据类型定义</a:t>
            </a:r>
          </a:p>
        </p:txBody>
      </p:sp>
      <p:sp>
        <p:nvSpPr>
          <p:cNvPr id="7" name="文本框 6">
            <a:extLst>
              <a:ext uri="{FF2B5EF4-FFF2-40B4-BE49-F238E27FC236}">
                <a16:creationId xmlns:a16="http://schemas.microsoft.com/office/drawing/2014/main" id="{4E028381-E718-70D7-DDBE-8E6CF1B012DA}"/>
              </a:ext>
            </a:extLst>
          </p:cNvPr>
          <p:cNvSpPr txBox="1"/>
          <p:nvPr/>
        </p:nvSpPr>
        <p:spPr>
          <a:xfrm>
            <a:off x="1331640" y="1504619"/>
            <a:ext cx="5187281" cy="400110"/>
          </a:xfrm>
          <a:prstGeom prst="rect">
            <a:avLst/>
          </a:prstGeom>
          <a:noFill/>
        </p:spPr>
        <p:txBody>
          <a:bodyPr wrap="square">
            <a:spAutoFit/>
          </a:bodyPr>
          <a:lstStyle/>
          <a:p>
            <a:r>
              <a:rPr lang="zh-CN" altLang="en-US" sz="2000" dirty="0">
                <a:latin typeface="微软雅黑" pitchFamily="34" charset="-122"/>
                <a:ea typeface="微软雅黑" pitchFamily="34" charset="-122"/>
                <a:cs typeface="经典粗黑简" pitchFamily="49" charset="-122"/>
              </a:rPr>
              <a:t>参见书</a:t>
            </a:r>
            <a:r>
              <a:rPr lang="en-US" altLang="zh-CN" sz="2000" dirty="0">
                <a:latin typeface="微软雅黑" pitchFamily="34" charset="-122"/>
                <a:ea typeface="微软雅黑" pitchFamily="34" charset="-122"/>
                <a:cs typeface="经典粗黑简" pitchFamily="49" charset="-122"/>
              </a:rPr>
              <a:t>P30</a:t>
            </a:r>
            <a:r>
              <a:rPr lang="zh-CN" altLang="en-US" sz="2000" dirty="0">
                <a:latin typeface="微软雅黑" pitchFamily="34" charset="-122"/>
                <a:ea typeface="微软雅黑" pitchFamily="34" charset="-122"/>
                <a:cs typeface="经典粗黑简" pitchFamily="49" charset="-122"/>
              </a:rPr>
              <a:t>，其中线性表的</a:t>
            </a:r>
            <a:r>
              <a:rPr lang="en-US" altLang="zh-CN" sz="2000" dirty="0">
                <a:latin typeface="微软雅黑" pitchFamily="34" charset="-122"/>
                <a:ea typeface="微软雅黑" pitchFamily="34" charset="-122"/>
                <a:cs typeface="经典粗黑简" pitchFamily="49" charset="-122"/>
              </a:rPr>
              <a:t>9</a:t>
            </a:r>
            <a:r>
              <a:rPr lang="zh-CN" altLang="en-US" sz="2000" dirty="0">
                <a:latin typeface="微软雅黑" pitchFamily="34" charset="-122"/>
                <a:ea typeface="微软雅黑" pitchFamily="34" charset="-122"/>
                <a:cs typeface="经典粗黑简" pitchFamily="49" charset="-122"/>
              </a:rPr>
              <a:t>个基本运算如下</a:t>
            </a:r>
            <a:r>
              <a:rPr lang="en-US" altLang="zh-CN" sz="2000" dirty="0">
                <a:latin typeface="微软雅黑" pitchFamily="34" charset="-122"/>
                <a:ea typeface="微软雅黑" pitchFamily="34" charset="-122"/>
                <a:cs typeface="经典粗黑简" pitchFamily="49" charset="-122"/>
              </a:rPr>
              <a:t>:</a:t>
            </a:r>
            <a:endParaRPr lang="zh-CN" altLang="en-US" sz="2000" dirty="0">
              <a:latin typeface="微软雅黑" pitchFamily="34" charset="-122"/>
              <a:ea typeface="微软雅黑" pitchFamily="34" charset="-122"/>
              <a:cs typeface="经典粗黑简" pitchFamily="49" charset="-122"/>
            </a:endParaRPr>
          </a:p>
        </p:txBody>
      </p:sp>
      <p:sp>
        <p:nvSpPr>
          <p:cNvPr id="9" name="文本框 8">
            <a:extLst>
              <a:ext uri="{FF2B5EF4-FFF2-40B4-BE49-F238E27FC236}">
                <a16:creationId xmlns:a16="http://schemas.microsoft.com/office/drawing/2014/main" id="{AF6B7BB9-0718-9C95-ED06-6AF096CFB9E3}"/>
              </a:ext>
            </a:extLst>
          </p:cNvPr>
          <p:cNvSpPr txBox="1"/>
          <p:nvPr/>
        </p:nvSpPr>
        <p:spPr>
          <a:xfrm>
            <a:off x="323528" y="2016605"/>
            <a:ext cx="8496944" cy="2345770"/>
          </a:xfrm>
          <a:prstGeom prst="rect">
            <a:avLst/>
          </a:prstGeom>
          <a:noFill/>
        </p:spPr>
        <p:txBody>
          <a:bodyPr wrap="square">
            <a:spAutoFit/>
          </a:bodyPr>
          <a:lstStyle/>
          <a:p>
            <a:pPr marL="457200" indent="-457200" algn="l">
              <a:lnSpc>
                <a:spcPct val="150000"/>
              </a:lnSpc>
            </a:pPr>
            <a:r>
              <a:rPr kumimoji="1" lang="zh-CN" altLang="en-US" dirty="0">
                <a:solidFill>
                  <a:srgbClr val="FF0000"/>
                </a:solidFill>
                <a:latin typeface="Consolas" pitchFamily="49" charset="0"/>
                <a:ea typeface="楷体" pitchFamily="49" charset="-122"/>
                <a:cs typeface="Consolas" pitchFamily="49" charset="0"/>
                <a:sym typeface="Wingdings"/>
              </a:rPr>
              <a:t> </a:t>
            </a:r>
            <a:r>
              <a:rPr lang="zh-CN" altLang="en-US" sz="2000" dirty="0">
                <a:solidFill>
                  <a:srgbClr val="FF0000"/>
                </a:solidFill>
                <a:latin typeface="微软雅黑" pitchFamily="34" charset="-122"/>
                <a:ea typeface="微软雅黑" pitchFamily="34" charset="-122"/>
                <a:cs typeface="经典粗黑简" pitchFamily="49" charset="-122"/>
              </a:rPr>
              <a:t>初始化线性表</a:t>
            </a:r>
            <a:r>
              <a:rPr lang="en-US" altLang="zh-CN" sz="2000" dirty="0" err="1">
                <a:solidFill>
                  <a:srgbClr val="FF0000"/>
                </a:solidFill>
                <a:latin typeface="微软雅黑" pitchFamily="34" charset="-122"/>
                <a:ea typeface="微软雅黑" pitchFamily="34" charset="-122"/>
                <a:cs typeface="经典粗黑简" pitchFamily="49" charset="-122"/>
              </a:rPr>
              <a:t>InitList</a:t>
            </a:r>
            <a:r>
              <a:rPr lang="en-US" altLang="zh-CN" sz="2000" dirty="0">
                <a:solidFill>
                  <a:srgbClr val="FF0000"/>
                </a:solidFill>
                <a:latin typeface="微软雅黑" pitchFamily="34" charset="-122"/>
                <a:ea typeface="微软雅黑" pitchFamily="34" charset="-122"/>
                <a:cs typeface="经典粗黑简" pitchFamily="49" charset="-122"/>
              </a:rPr>
              <a:t>(&amp;L)</a:t>
            </a:r>
            <a:r>
              <a:rPr lang="zh-CN" altLang="en-US" sz="2000" dirty="0">
                <a:latin typeface="微软雅黑" pitchFamily="34" charset="-122"/>
                <a:ea typeface="微软雅黑" pitchFamily="34" charset="-122"/>
                <a:cs typeface="经典粗黑简" pitchFamily="49" charset="-122"/>
              </a:rPr>
              <a:t>：构造一个空的线性表</a:t>
            </a:r>
            <a:r>
              <a:rPr lang="en-US" altLang="zh-CN" sz="2000" dirty="0">
                <a:latin typeface="微软雅黑" pitchFamily="34" charset="-122"/>
                <a:ea typeface="微软雅黑" pitchFamily="34" charset="-122"/>
                <a:cs typeface="经典粗黑简" pitchFamily="49" charset="-122"/>
              </a:rPr>
              <a:t>L</a:t>
            </a:r>
            <a:r>
              <a:rPr lang="zh-CN" altLang="en-US" sz="2000" dirty="0">
                <a:latin typeface="微软雅黑" pitchFamily="34" charset="-122"/>
                <a:ea typeface="微软雅黑" pitchFamily="34" charset="-122"/>
                <a:cs typeface="经典粗黑简" pitchFamily="49" charset="-122"/>
              </a:rPr>
              <a:t>。</a:t>
            </a:r>
          </a:p>
          <a:p>
            <a:pPr marL="457200" indent="-457200" algn="just">
              <a:lnSpc>
                <a:spcPct val="150000"/>
              </a:lnSpc>
            </a:pPr>
            <a:r>
              <a:rPr kumimoji="1" lang="zh-CN" altLang="en-US" dirty="0">
                <a:solidFill>
                  <a:srgbClr val="FF0000"/>
                </a:solidFill>
                <a:latin typeface="Consolas" pitchFamily="49" charset="0"/>
                <a:ea typeface="楷体" pitchFamily="49" charset="-122"/>
                <a:sym typeface="Wingdings"/>
              </a:rPr>
              <a:t></a:t>
            </a:r>
            <a:r>
              <a:rPr lang="zh-CN" altLang="en-US" sz="2000" dirty="0">
                <a:latin typeface="微软雅黑" pitchFamily="34" charset="-122"/>
                <a:ea typeface="微软雅黑" pitchFamily="34" charset="-122"/>
                <a:cs typeface="经典粗黑简" pitchFamily="49" charset="-122"/>
                <a:sym typeface="Wingdings"/>
              </a:rPr>
              <a:t> </a:t>
            </a:r>
            <a:r>
              <a:rPr lang="zh-CN" altLang="en-US" sz="2000" dirty="0">
                <a:solidFill>
                  <a:srgbClr val="FF0000"/>
                </a:solidFill>
                <a:latin typeface="微软雅黑" pitchFamily="34" charset="-122"/>
                <a:ea typeface="微软雅黑" pitchFamily="34" charset="-122"/>
                <a:cs typeface="经典粗黑简" pitchFamily="49" charset="-122"/>
              </a:rPr>
              <a:t>销毁线性表</a:t>
            </a:r>
            <a:r>
              <a:rPr lang="en-US" altLang="zh-CN" sz="2000" dirty="0" err="1">
                <a:solidFill>
                  <a:srgbClr val="FF0000"/>
                </a:solidFill>
                <a:latin typeface="微软雅黑" pitchFamily="34" charset="-122"/>
                <a:ea typeface="微软雅黑" pitchFamily="34" charset="-122"/>
                <a:cs typeface="经典粗黑简" pitchFamily="49" charset="-122"/>
              </a:rPr>
              <a:t>DestroyList</a:t>
            </a:r>
            <a:r>
              <a:rPr lang="en-US" altLang="zh-CN" sz="2000" dirty="0">
                <a:solidFill>
                  <a:srgbClr val="FF0000"/>
                </a:solidFill>
                <a:latin typeface="微软雅黑" pitchFamily="34" charset="-122"/>
                <a:ea typeface="微软雅黑" pitchFamily="34" charset="-122"/>
                <a:cs typeface="经典粗黑简" pitchFamily="49" charset="-122"/>
              </a:rPr>
              <a:t>(&amp;L)</a:t>
            </a:r>
            <a:r>
              <a:rPr lang="zh-CN" altLang="en-US" sz="2000" dirty="0">
                <a:latin typeface="微软雅黑" pitchFamily="34" charset="-122"/>
                <a:ea typeface="微软雅黑" pitchFamily="34" charset="-122"/>
                <a:cs typeface="经典粗黑简" pitchFamily="49" charset="-122"/>
              </a:rPr>
              <a:t>：释放线性表</a:t>
            </a:r>
            <a:r>
              <a:rPr lang="en-US" altLang="zh-CN" sz="2000" dirty="0">
                <a:latin typeface="微软雅黑" pitchFamily="34" charset="-122"/>
                <a:ea typeface="微软雅黑" pitchFamily="34" charset="-122"/>
                <a:cs typeface="经典粗黑简" pitchFamily="49" charset="-122"/>
              </a:rPr>
              <a:t>L</a:t>
            </a:r>
            <a:r>
              <a:rPr lang="zh-CN" altLang="en-US" sz="2000" dirty="0">
                <a:latin typeface="微软雅黑" pitchFamily="34" charset="-122"/>
                <a:ea typeface="微软雅黑" pitchFamily="34" charset="-122"/>
                <a:cs typeface="经典粗黑简" pitchFamily="49" charset="-122"/>
              </a:rPr>
              <a:t>占用的内存空间。</a:t>
            </a:r>
            <a:endParaRPr lang="en-US" altLang="zh-CN" sz="2000" dirty="0">
              <a:latin typeface="微软雅黑" pitchFamily="34" charset="-122"/>
              <a:ea typeface="微软雅黑" pitchFamily="34" charset="-122"/>
              <a:cs typeface="经典粗黑简" pitchFamily="49" charset="-122"/>
            </a:endParaRPr>
          </a:p>
          <a:p>
            <a:pPr marL="457200" indent="-457200" algn="just">
              <a:lnSpc>
                <a:spcPct val="150000"/>
              </a:lnSpc>
            </a:pPr>
            <a:r>
              <a:rPr kumimoji="1" lang="zh-CN" altLang="en-US" dirty="0">
                <a:solidFill>
                  <a:srgbClr val="FF0000"/>
                </a:solidFill>
                <a:latin typeface="Consolas" pitchFamily="49" charset="0"/>
                <a:ea typeface="楷体" pitchFamily="49" charset="-122"/>
                <a:sym typeface="Wingdings"/>
              </a:rPr>
              <a:t> </a:t>
            </a:r>
            <a:r>
              <a:rPr lang="zh-CN" altLang="en-US" sz="2000" dirty="0">
                <a:solidFill>
                  <a:srgbClr val="FF0000"/>
                </a:solidFill>
                <a:latin typeface="微软雅黑" pitchFamily="34" charset="-122"/>
                <a:ea typeface="微软雅黑" pitchFamily="34" charset="-122"/>
                <a:cs typeface="经典粗黑简" pitchFamily="49" charset="-122"/>
              </a:rPr>
              <a:t>判线性表是否为空表</a:t>
            </a:r>
            <a:r>
              <a:rPr lang="en-US" altLang="zh-CN" sz="2000" dirty="0" err="1">
                <a:solidFill>
                  <a:srgbClr val="FF0000"/>
                </a:solidFill>
                <a:latin typeface="微软雅黑" pitchFamily="34" charset="-122"/>
                <a:ea typeface="微软雅黑" pitchFamily="34" charset="-122"/>
                <a:cs typeface="经典粗黑简" pitchFamily="49" charset="-122"/>
              </a:rPr>
              <a:t>ListEmpty</a:t>
            </a:r>
            <a:r>
              <a:rPr lang="en-US" altLang="zh-CN" sz="2000" dirty="0">
                <a:solidFill>
                  <a:srgbClr val="FF0000"/>
                </a:solidFill>
                <a:latin typeface="微软雅黑" pitchFamily="34" charset="-122"/>
                <a:ea typeface="微软雅黑" pitchFamily="34" charset="-122"/>
                <a:cs typeface="经典粗黑简" pitchFamily="49" charset="-122"/>
              </a:rPr>
              <a:t>(L)</a:t>
            </a:r>
            <a:r>
              <a:rPr lang="zh-CN" altLang="en-US" sz="2000" dirty="0">
                <a:latin typeface="微软雅黑" pitchFamily="34" charset="-122"/>
                <a:ea typeface="微软雅黑" pitchFamily="34" charset="-122"/>
                <a:cs typeface="经典粗黑简" pitchFamily="49" charset="-122"/>
              </a:rPr>
              <a:t>：若</a:t>
            </a:r>
            <a:r>
              <a:rPr lang="en-US" altLang="zh-CN" sz="2000" dirty="0">
                <a:latin typeface="微软雅黑" pitchFamily="34" charset="-122"/>
                <a:ea typeface="微软雅黑" pitchFamily="34" charset="-122"/>
                <a:cs typeface="经典粗黑简" pitchFamily="49" charset="-122"/>
              </a:rPr>
              <a:t>L</a:t>
            </a:r>
            <a:r>
              <a:rPr lang="zh-CN" altLang="en-US" sz="2000" dirty="0">
                <a:latin typeface="微软雅黑" pitchFamily="34" charset="-122"/>
                <a:ea typeface="微软雅黑" pitchFamily="34" charset="-122"/>
                <a:cs typeface="经典粗黑简" pitchFamily="49" charset="-122"/>
              </a:rPr>
              <a:t>为空表，则返回真，否则返回假。</a:t>
            </a:r>
          </a:p>
          <a:p>
            <a:pPr algn="just">
              <a:lnSpc>
                <a:spcPct val="150000"/>
              </a:lnSpc>
            </a:pPr>
            <a:r>
              <a:rPr kumimoji="1" lang="zh-CN" altLang="en-US" sz="2000" dirty="0">
                <a:solidFill>
                  <a:srgbClr val="FF0000"/>
                </a:solidFill>
                <a:latin typeface="Consolas" pitchFamily="49" charset="0"/>
                <a:ea typeface="楷体" pitchFamily="49" charset="-122"/>
                <a:cs typeface="Consolas" pitchFamily="49" charset="0"/>
                <a:sym typeface="Wingdings"/>
              </a:rPr>
              <a:t> </a:t>
            </a:r>
            <a:r>
              <a:rPr lang="zh-CN" altLang="en-US" sz="2000" dirty="0">
                <a:solidFill>
                  <a:srgbClr val="FF0000"/>
                </a:solidFill>
                <a:latin typeface="微软雅黑" pitchFamily="34" charset="-122"/>
                <a:ea typeface="微软雅黑" pitchFamily="34" charset="-122"/>
                <a:cs typeface="经典粗黑简" pitchFamily="49" charset="-122"/>
              </a:rPr>
              <a:t>求线性表的长度</a:t>
            </a:r>
            <a:r>
              <a:rPr lang="en-US" altLang="zh-CN" sz="2000" dirty="0" err="1">
                <a:solidFill>
                  <a:srgbClr val="FF0000"/>
                </a:solidFill>
                <a:latin typeface="微软雅黑" pitchFamily="34" charset="-122"/>
                <a:ea typeface="微软雅黑" pitchFamily="34" charset="-122"/>
                <a:cs typeface="经典粗黑简" pitchFamily="49" charset="-122"/>
              </a:rPr>
              <a:t>ListLength</a:t>
            </a:r>
            <a:r>
              <a:rPr lang="en-US" altLang="zh-CN" sz="2000" dirty="0">
                <a:solidFill>
                  <a:srgbClr val="FF0000"/>
                </a:solidFill>
                <a:latin typeface="微软雅黑" pitchFamily="34" charset="-122"/>
                <a:ea typeface="微软雅黑" pitchFamily="34" charset="-122"/>
                <a:cs typeface="经典粗黑简" pitchFamily="49" charset="-122"/>
              </a:rPr>
              <a:t>(L)</a:t>
            </a:r>
            <a:r>
              <a:rPr lang="zh-CN" altLang="en-US" sz="2000" dirty="0">
                <a:latin typeface="微软雅黑" pitchFamily="34" charset="-122"/>
                <a:ea typeface="微软雅黑" pitchFamily="34" charset="-122"/>
                <a:cs typeface="经典粗黑简" pitchFamily="49" charset="-122"/>
              </a:rPr>
              <a:t>：返回</a:t>
            </a:r>
            <a:r>
              <a:rPr lang="en-US" altLang="zh-CN" sz="2000" dirty="0">
                <a:latin typeface="微软雅黑" pitchFamily="34" charset="-122"/>
                <a:ea typeface="微软雅黑" pitchFamily="34" charset="-122"/>
                <a:cs typeface="经典粗黑简" pitchFamily="49" charset="-122"/>
              </a:rPr>
              <a:t>L</a:t>
            </a:r>
            <a:r>
              <a:rPr lang="zh-CN" altLang="en-US" sz="2000" dirty="0">
                <a:latin typeface="微软雅黑" pitchFamily="34" charset="-122"/>
                <a:ea typeface="微软雅黑" pitchFamily="34" charset="-122"/>
                <a:cs typeface="经典粗黑简" pitchFamily="49" charset="-122"/>
              </a:rPr>
              <a:t>中元素个数</a:t>
            </a:r>
            <a:r>
              <a:rPr lang="en-US" altLang="zh-CN" sz="2000" dirty="0">
                <a:latin typeface="微软雅黑" pitchFamily="34" charset="-122"/>
                <a:ea typeface="微软雅黑" pitchFamily="34" charset="-122"/>
                <a:cs typeface="经典粗黑简" pitchFamily="49" charset="-122"/>
              </a:rPr>
              <a:t>n</a:t>
            </a:r>
            <a:r>
              <a:rPr lang="zh-CN" altLang="en-US" sz="2000" dirty="0">
                <a:latin typeface="微软雅黑" pitchFamily="34" charset="-122"/>
                <a:ea typeface="微软雅黑" pitchFamily="34" charset="-122"/>
                <a:cs typeface="经典粗黑简" pitchFamily="49" charset="-122"/>
              </a:rPr>
              <a:t>。</a:t>
            </a:r>
            <a:endParaRPr lang="en-US" altLang="zh-CN" sz="2000" dirty="0">
              <a:latin typeface="微软雅黑" pitchFamily="34" charset="-122"/>
              <a:ea typeface="微软雅黑" pitchFamily="34" charset="-122"/>
              <a:cs typeface="经典粗黑简" pitchFamily="49" charset="-122"/>
            </a:endParaRPr>
          </a:p>
          <a:p>
            <a:pPr algn="just">
              <a:lnSpc>
                <a:spcPct val="150000"/>
              </a:lnSpc>
            </a:pPr>
            <a:r>
              <a:rPr kumimoji="1" lang="zh-CN" altLang="en-US" dirty="0">
                <a:solidFill>
                  <a:srgbClr val="FF0000"/>
                </a:solidFill>
                <a:latin typeface="Consolas" pitchFamily="49" charset="0"/>
                <a:ea typeface="楷体" pitchFamily="49" charset="-122"/>
                <a:sym typeface="Wingdings"/>
              </a:rPr>
              <a:t></a:t>
            </a:r>
            <a:r>
              <a:rPr lang="zh-CN" altLang="en-US" sz="2000" dirty="0">
                <a:latin typeface="微软雅黑" pitchFamily="34" charset="-122"/>
                <a:ea typeface="微软雅黑" pitchFamily="34" charset="-122"/>
                <a:cs typeface="经典粗黑简" pitchFamily="49" charset="-122"/>
                <a:sym typeface="Wingdings"/>
              </a:rPr>
              <a:t> </a:t>
            </a:r>
            <a:r>
              <a:rPr lang="zh-CN" altLang="en-US" sz="2000" dirty="0">
                <a:solidFill>
                  <a:srgbClr val="FF0000"/>
                </a:solidFill>
                <a:latin typeface="微软雅黑" pitchFamily="34" charset="-122"/>
                <a:ea typeface="微软雅黑" pitchFamily="34" charset="-122"/>
                <a:cs typeface="经典粗黑简" pitchFamily="49" charset="-122"/>
              </a:rPr>
              <a:t>输出线性表</a:t>
            </a:r>
            <a:r>
              <a:rPr lang="en-US" altLang="zh-CN" sz="2000" dirty="0" err="1">
                <a:solidFill>
                  <a:srgbClr val="FF0000"/>
                </a:solidFill>
                <a:latin typeface="微软雅黑" pitchFamily="34" charset="-122"/>
                <a:ea typeface="微软雅黑" pitchFamily="34" charset="-122"/>
                <a:cs typeface="经典粗黑简" pitchFamily="49" charset="-122"/>
              </a:rPr>
              <a:t>DispList</a:t>
            </a:r>
            <a:r>
              <a:rPr lang="en-US" altLang="zh-CN" sz="2000" dirty="0">
                <a:solidFill>
                  <a:srgbClr val="FF0000"/>
                </a:solidFill>
                <a:latin typeface="微软雅黑" pitchFamily="34" charset="-122"/>
                <a:ea typeface="微软雅黑" pitchFamily="34" charset="-122"/>
                <a:cs typeface="经典粗黑简" pitchFamily="49" charset="-122"/>
              </a:rPr>
              <a:t>(L)</a:t>
            </a:r>
            <a:r>
              <a:rPr lang="zh-CN" altLang="en-US" sz="2000" dirty="0">
                <a:latin typeface="微软雅黑" pitchFamily="34" charset="-122"/>
                <a:ea typeface="微软雅黑" pitchFamily="34" charset="-122"/>
                <a:cs typeface="经典粗黑简" pitchFamily="49" charset="-122"/>
              </a:rPr>
              <a:t>：线性表</a:t>
            </a:r>
            <a:r>
              <a:rPr lang="en-US" altLang="zh-CN" sz="2000" dirty="0">
                <a:latin typeface="微软雅黑" pitchFamily="34" charset="-122"/>
                <a:ea typeface="微软雅黑" pitchFamily="34" charset="-122"/>
                <a:cs typeface="经典粗黑简" pitchFamily="49" charset="-122"/>
              </a:rPr>
              <a:t>L</a:t>
            </a:r>
            <a:r>
              <a:rPr lang="zh-CN" altLang="en-US" sz="2000" dirty="0">
                <a:latin typeface="微软雅黑" pitchFamily="34" charset="-122"/>
                <a:ea typeface="微软雅黑" pitchFamily="34" charset="-122"/>
                <a:cs typeface="经典粗黑简" pitchFamily="49" charset="-122"/>
              </a:rPr>
              <a:t>不为空时，顺序显示</a:t>
            </a:r>
            <a:r>
              <a:rPr lang="en-US" altLang="zh-CN" sz="2000" dirty="0">
                <a:latin typeface="微软雅黑" pitchFamily="34" charset="-122"/>
                <a:ea typeface="微软雅黑" pitchFamily="34" charset="-122"/>
                <a:cs typeface="经典粗黑简" pitchFamily="49" charset="-122"/>
              </a:rPr>
              <a:t>L</a:t>
            </a:r>
            <a:r>
              <a:rPr lang="zh-CN" altLang="en-US" sz="2000" dirty="0">
                <a:latin typeface="微软雅黑" pitchFamily="34" charset="-122"/>
                <a:ea typeface="微软雅黑" pitchFamily="34" charset="-122"/>
                <a:cs typeface="经典粗黑简" pitchFamily="49" charset="-122"/>
              </a:rPr>
              <a:t>中各结点的值域。</a:t>
            </a:r>
          </a:p>
        </p:txBody>
      </p:sp>
    </p:spTree>
    <p:extLst>
      <p:ext uri="{BB962C8B-B14F-4D97-AF65-F5344CB8AC3E}">
        <p14:creationId xmlns:p14="http://schemas.microsoft.com/office/powerpoint/2010/main" val="2463862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7B679-F11D-7FA5-A97F-9DDEB7AA729B}"/>
            </a:ext>
          </a:extLst>
        </p:cNvPr>
        <p:cNvGrpSpPr/>
        <p:nvPr/>
      </p:nvGrpSpPr>
      <p:grpSpPr>
        <a:xfrm>
          <a:off x="0" y="0"/>
          <a:ext cx="0" cy="0"/>
          <a:chOff x="0" y="0"/>
          <a:chExt cx="0" cy="0"/>
        </a:xfrm>
      </p:grpSpPr>
      <p:cxnSp>
        <p:nvCxnSpPr>
          <p:cNvPr id="13" name="直接连接符 12">
            <a:extLst>
              <a:ext uri="{FF2B5EF4-FFF2-40B4-BE49-F238E27FC236}">
                <a16:creationId xmlns:a16="http://schemas.microsoft.com/office/drawing/2014/main" id="{C926ADB9-AF91-FBC4-90A2-CE589B422968}"/>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C4AB4FB-CAF8-A0A9-29E5-D738CFAB8B1D}"/>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2.1 </a:t>
            </a:r>
            <a:r>
              <a:rPr lang="zh-CN" altLang="en-US" sz="3700" b="1" dirty="0">
                <a:latin typeface="黑体" pitchFamily="49" charset="-122"/>
                <a:ea typeface="黑体" pitchFamily="49" charset="-122"/>
                <a:cs typeface="+mn-cs"/>
              </a:rPr>
              <a:t>线性表及其逻辑结构</a:t>
            </a:r>
          </a:p>
        </p:txBody>
      </p:sp>
      <p:sp>
        <p:nvSpPr>
          <p:cNvPr id="4" name="矩形 3">
            <a:extLst>
              <a:ext uri="{FF2B5EF4-FFF2-40B4-BE49-F238E27FC236}">
                <a16:creationId xmlns:a16="http://schemas.microsoft.com/office/drawing/2014/main" id="{A3F2482E-686F-6B2C-9D48-A9BA31C9CE16}"/>
              </a:ext>
            </a:extLst>
          </p:cNvPr>
          <p:cNvSpPr/>
          <p:nvPr/>
        </p:nvSpPr>
        <p:spPr>
          <a:xfrm>
            <a:off x="416324" y="869523"/>
            <a:ext cx="5667843"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2.1.2 </a:t>
            </a:r>
            <a:r>
              <a:rPr lang="zh-CN" altLang="en-US" sz="2800" b="1" dirty="0">
                <a:solidFill>
                  <a:schemeClr val="bg1"/>
                </a:solidFill>
                <a:latin typeface="经典粗黑简" pitchFamily="49" charset="-122"/>
                <a:ea typeface="经典粗黑简" pitchFamily="49" charset="-122"/>
                <a:cs typeface="经典粗黑简" pitchFamily="49" charset="-122"/>
              </a:rPr>
              <a:t>线性表的抽象数据类型定义</a:t>
            </a:r>
          </a:p>
        </p:txBody>
      </p:sp>
      <p:sp>
        <p:nvSpPr>
          <p:cNvPr id="7" name="文本框 6">
            <a:extLst>
              <a:ext uri="{FF2B5EF4-FFF2-40B4-BE49-F238E27FC236}">
                <a16:creationId xmlns:a16="http://schemas.microsoft.com/office/drawing/2014/main" id="{1AC669D3-8099-ECA4-1637-1AA184DCE803}"/>
              </a:ext>
            </a:extLst>
          </p:cNvPr>
          <p:cNvSpPr txBox="1"/>
          <p:nvPr/>
        </p:nvSpPr>
        <p:spPr>
          <a:xfrm>
            <a:off x="1331640" y="1504619"/>
            <a:ext cx="5187281" cy="400110"/>
          </a:xfrm>
          <a:prstGeom prst="rect">
            <a:avLst/>
          </a:prstGeom>
          <a:noFill/>
        </p:spPr>
        <p:txBody>
          <a:bodyPr wrap="square">
            <a:spAutoFit/>
          </a:bodyPr>
          <a:lstStyle/>
          <a:p>
            <a:r>
              <a:rPr lang="zh-CN" altLang="en-US" sz="2000" dirty="0">
                <a:latin typeface="微软雅黑" pitchFamily="34" charset="-122"/>
                <a:ea typeface="微软雅黑" pitchFamily="34" charset="-122"/>
                <a:cs typeface="经典粗黑简" pitchFamily="49" charset="-122"/>
              </a:rPr>
              <a:t>参见书</a:t>
            </a:r>
            <a:r>
              <a:rPr lang="en-US" altLang="zh-CN" sz="2000" dirty="0">
                <a:latin typeface="微软雅黑" pitchFamily="34" charset="-122"/>
                <a:ea typeface="微软雅黑" pitchFamily="34" charset="-122"/>
                <a:cs typeface="经典粗黑简" pitchFamily="49" charset="-122"/>
              </a:rPr>
              <a:t>P30</a:t>
            </a:r>
            <a:r>
              <a:rPr lang="zh-CN" altLang="en-US" sz="2000" dirty="0">
                <a:latin typeface="微软雅黑" pitchFamily="34" charset="-122"/>
                <a:ea typeface="微软雅黑" pitchFamily="34" charset="-122"/>
                <a:cs typeface="经典粗黑简" pitchFamily="49" charset="-122"/>
              </a:rPr>
              <a:t>，其中线性表的</a:t>
            </a:r>
            <a:r>
              <a:rPr lang="en-US" altLang="zh-CN" sz="2000" dirty="0">
                <a:latin typeface="微软雅黑" pitchFamily="34" charset="-122"/>
                <a:ea typeface="微软雅黑" pitchFamily="34" charset="-122"/>
                <a:cs typeface="经典粗黑简" pitchFamily="49" charset="-122"/>
              </a:rPr>
              <a:t>9</a:t>
            </a:r>
            <a:r>
              <a:rPr lang="zh-CN" altLang="en-US" sz="2000" dirty="0">
                <a:latin typeface="微软雅黑" pitchFamily="34" charset="-122"/>
                <a:ea typeface="微软雅黑" pitchFamily="34" charset="-122"/>
                <a:cs typeface="经典粗黑简" pitchFamily="49" charset="-122"/>
              </a:rPr>
              <a:t>个基本运算如下</a:t>
            </a:r>
            <a:r>
              <a:rPr lang="en-US" altLang="zh-CN" sz="2000" dirty="0">
                <a:latin typeface="微软雅黑" pitchFamily="34" charset="-122"/>
                <a:ea typeface="微软雅黑" pitchFamily="34" charset="-122"/>
                <a:cs typeface="经典粗黑简" pitchFamily="49" charset="-122"/>
              </a:rPr>
              <a:t>:</a:t>
            </a:r>
            <a:endParaRPr lang="zh-CN" altLang="en-US" sz="2000" dirty="0">
              <a:latin typeface="微软雅黑" pitchFamily="34" charset="-122"/>
              <a:ea typeface="微软雅黑" pitchFamily="34" charset="-122"/>
              <a:cs typeface="经典粗黑简" pitchFamily="49" charset="-122"/>
            </a:endParaRPr>
          </a:p>
        </p:txBody>
      </p:sp>
      <p:sp>
        <p:nvSpPr>
          <p:cNvPr id="11" name="文本框 10">
            <a:extLst>
              <a:ext uri="{FF2B5EF4-FFF2-40B4-BE49-F238E27FC236}">
                <a16:creationId xmlns:a16="http://schemas.microsoft.com/office/drawing/2014/main" id="{2B6BCDDA-9081-B795-F941-D8D80391532A}"/>
              </a:ext>
            </a:extLst>
          </p:cNvPr>
          <p:cNvSpPr txBox="1"/>
          <p:nvPr/>
        </p:nvSpPr>
        <p:spPr>
          <a:xfrm>
            <a:off x="611560" y="1904729"/>
            <a:ext cx="8184303" cy="3129190"/>
          </a:xfrm>
          <a:prstGeom prst="rect">
            <a:avLst/>
          </a:prstGeom>
          <a:noFill/>
        </p:spPr>
        <p:txBody>
          <a:bodyPr wrap="square">
            <a:spAutoFit/>
          </a:bodyPr>
          <a:lstStyle/>
          <a:p>
            <a:pPr marL="457200" indent="-457200" algn="just">
              <a:lnSpc>
                <a:spcPts val="3000"/>
              </a:lnSpc>
            </a:pPr>
            <a:r>
              <a:rPr kumimoji="1" lang="zh-CN" altLang="en-US" dirty="0">
                <a:solidFill>
                  <a:srgbClr val="FF0000"/>
                </a:solidFill>
                <a:latin typeface="Consolas" pitchFamily="49" charset="0"/>
                <a:ea typeface="楷体" pitchFamily="49" charset="-122"/>
                <a:cs typeface="Consolas" pitchFamily="49" charset="0"/>
                <a:sym typeface="Wingdings"/>
              </a:rPr>
              <a:t> </a:t>
            </a:r>
            <a:r>
              <a:rPr lang="zh-CN" altLang="en-US" sz="2000" dirty="0">
                <a:solidFill>
                  <a:srgbClr val="FF0000"/>
                </a:solidFill>
                <a:latin typeface="微软雅黑" pitchFamily="34" charset="-122"/>
                <a:ea typeface="微软雅黑" pitchFamily="34" charset="-122"/>
                <a:cs typeface="经典粗黑简" pitchFamily="49" charset="-122"/>
              </a:rPr>
              <a:t>求线性表</a:t>
            </a:r>
            <a:r>
              <a:rPr lang="en-US" altLang="zh-CN" sz="2000" dirty="0">
                <a:solidFill>
                  <a:srgbClr val="FF0000"/>
                </a:solidFill>
                <a:latin typeface="微软雅黑" pitchFamily="34" charset="-122"/>
                <a:ea typeface="微软雅黑" pitchFamily="34" charset="-122"/>
                <a:cs typeface="经典粗黑简" pitchFamily="49" charset="-122"/>
              </a:rPr>
              <a:t>L</a:t>
            </a:r>
            <a:r>
              <a:rPr lang="zh-CN" altLang="en-US" sz="2000" dirty="0">
                <a:solidFill>
                  <a:srgbClr val="FF0000"/>
                </a:solidFill>
                <a:latin typeface="微软雅黑" pitchFamily="34" charset="-122"/>
                <a:ea typeface="微软雅黑" pitchFamily="34" charset="-122"/>
                <a:cs typeface="经典粗黑简" pitchFamily="49" charset="-122"/>
              </a:rPr>
              <a:t>中指定位置的某个数据元素</a:t>
            </a:r>
            <a:r>
              <a:rPr lang="en-US" altLang="zh-CN" sz="2000" dirty="0" err="1">
                <a:solidFill>
                  <a:srgbClr val="FF0000"/>
                </a:solidFill>
                <a:latin typeface="微软雅黑" pitchFamily="34" charset="-122"/>
                <a:ea typeface="微软雅黑" pitchFamily="34" charset="-122"/>
                <a:cs typeface="经典粗黑简" pitchFamily="49" charset="-122"/>
              </a:rPr>
              <a:t>GetElem</a:t>
            </a:r>
            <a:r>
              <a:rPr lang="en-US" altLang="zh-CN" sz="2000" dirty="0">
                <a:solidFill>
                  <a:srgbClr val="FF0000"/>
                </a:solidFill>
                <a:latin typeface="微软雅黑" pitchFamily="34" charset="-122"/>
                <a:ea typeface="微软雅黑" pitchFamily="34" charset="-122"/>
                <a:cs typeface="经典粗黑简" pitchFamily="49" charset="-122"/>
              </a:rPr>
              <a:t>(L</a:t>
            </a:r>
            <a:r>
              <a:rPr lang="zh-CN" altLang="en-US" sz="2000" dirty="0">
                <a:solidFill>
                  <a:srgbClr val="FF0000"/>
                </a:solidFill>
                <a:latin typeface="微软雅黑" pitchFamily="34" charset="-122"/>
                <a:ea typeface="微软雅黑" pitchFamily="34" charset="-122"/>
                <a:cs typeface="经典粗黑简" pitchFamily="49" charset="-122"/>
              </a:rPr>
              <a:t>，</a:t>
            </a:r>
            <a:r>
              <a:rPr lang="en-US" altLang="zh-CN" sz="2000" dirty="0" err="1">
                <a:solidFill>
                  <a:srgbClr val="FF0000"/>
                </a:solidFill>
                <a:latin typeface="微软雅黑" pitchFamily="34" charset="-122"/>
                <a:ea typeface="微软雅黑" pitchFamily="34" charset="-122"/>
                <a:cs typeface="经典粗黑简" pitchFamily="49" charset="-122"/>
              </a:rPr>
              <a:t>i</a:t>
            </a:r>
            <a:r>
              <a:rPr lang="zh-CN" altLang="en-US" sz="2000" dirty="0">
                <a:solidFill>
                  <a:srgbClr val="FF0000"/>
                </a:solidFill>
                <a:latin typeface="微软雅黑" pitchFamily="34" charset="-122"/>
                <a:ea typeface="微软雅黑" pitchFamily="34" charset="-122"/>
                <a:cs typeface="经典粗黑简" pitchFamily="49" charset="-122"/>
              </a:rPr>
              <a:t>，</a:t>
            </a:r>
            <a:r>
              <a:rPr lang="en-US" altLang="zh-CN" sz="2000" dirty="0">
                <a:solidFill>
                  <a:srgbClr val="FF0000"/>
                </a:solidFill>
                <a:latin typeface="微软雅黑" pitchFamily="34" charset="-122"/>
                <a:ea typeface="微软雅黑" pitchFamily="34" charset="-122"/>
                <a:cs typeface="经典粗黑简" pitchFamily="49" charset="-122"/>
              </a:rPr>
              <a:t>&amp;e)</a:t>
            </a:r>
            <a:r>
              <a:rPr lang="zh-CN" altLang="en-US" sz="2000" dirty="0">
                <a:latin typeface="微软雅黑" pitchFamily="34" charset="-122"/>
                <a:ea typeface="微软雅黑" pitchFamily="34" charset="-122"/>
                <a:cs typeface="经典粗黑简" pitchFamily="49" charset="-122"/>
              </a:rPr>
              <a:t>：用</a:t>
            </a:r>
            <a:r>
              <a:rPr lang="en-US" altLang="zh-CN" sz="2000" dirty="0">
                <a:latin typeface="微软雅黑" pitchFamily="34" charset="-122"/>
                <a:ea typeface="微软雅黑" pitchFamily="34" charset="-122"/>
                <a:cs typeface="经典粗黑简" pitchFamily="49" charset="-122"/>
              </a:rPr>
              <a:t>e</a:t>
            </a:r>
            <a:r>
              <a:rPr lang="zh-CN" altLang="en-US" sz="2000" dirty="0">
                <a:latin typeface="微软雅黑" pitchFamily="34" charset="-122"/>
                <a:ea typeface="微软雅黑" pitchFamily="34" charset="-122"/>
                <a:cs typeface="经典粗黑简" pitchFamily="49" charset="-122"/>
              </a:rPr>
              <a:t>返回</a:t>
            </a:r>
            <a:r>
              <a:rPr lang="en-US" altLang="zh-CN" sz="2000" dirty="0">
                <a:latin typeface="微软雅黑" pitchFamily="34" charset="-122"/>
                <a:ea typeface="微软雅黑" pitchFamily="34" charset="-122"/>
                <a:cs typeface="经典粗黑简" pitchFamily="49" charset="-122"/>
              </a:rPr>
              <a:t>L</a:t>
            </a:r>
            <a:r>
              <a:rPr lang="zh-CN" altLang="en-US" sz="2000" dirty="0">
                <a:latin typeface="微软雅黑" pitchFamily="34" charset="-122"/>
                <a:ea typeface="微软雅黑" pitchFamily="34" charset="-122"/>
                <a:cs typeface="经典粗黑简" pitchFamily="49" charset="-122"/>
              </a:rPr>
              <a:t>中第 </a:t>
            </a:r>
            <a:r>
              <a:rPr lang="en-US" altLang="zh-CN" sz="2000" dirty="0" err="1">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1≤i≤n</a:t>
            </a:r>
            <a:r>
              <a:rPr lang="zh-CN" altLang="en-US" sz="2000" dirty="0">
                <a:latin typeface="微软雅黑" pitchFamily="34" charset="-122"/>
                <a:ea typeface="微软雅黑" pitchFamily="34" charset="-122"/>
                <a:cs typeface="经典粗黑简" pitchFamily="49" charset="-122"/>
              </a:rPr>
              <a:t>）个元素的值。</a:t>
            </a:r>
            <a:endParaRPr lang="en-US" altLang="zh-CN" sz="2000" dirty="0">
              <a:latin typeface="微软雅黑" pitchFamily="34" charset="-122"/>
              <a:ea typeface="微软雅黑" pitchFamily="34" charset="-122"/>
              <a:cs typeface="经典粗黑简" pitchFamily="49" charset="-122"/>
            </a:endParaRPr>
          </a:p>
          <a:p>
            <a:pPr marL="457200" indent="-457200" algn="just">
              <a:lnSpc>
                <a:spcPts val="3000"/>
              </a:lnSpc>
            </a:pPr>
            <a:r>
              <a:rPr kumimoji="1" lang="en-US" altLang="zh-CN" dirty="0">
                <a:solidFill>
                  <a:srgbClr val="FF0000"/>
                </a:solidFill>
                <a:latin typeface="Consolas" pitchFamily="49" charset="0"/>
                <a:ea typeface="楷体" pitchFamily="49" charset="-122"/>
                <a:sym typeface="Wingdings"/>
              </a:rPr>
              <a:t></a:t>
            </a:r>
            <a:r>
              <a:rPr lang="en-US" altLang="zh-CN" sz="2000" dirty="0">
                <a:latin typeface="微软雅黑" pitchFamily="34" charset="-122"/>
                <a:ea typeface="微软雅黑" pitchFamily="34" charset="-122"/>
                <a:cs typeface="经典粗黑简" pitchFamily="49" charset="-122"/>
                <a:sym typeface="Wingdings"/>
              </a:rPr>
              <a:t> </a:t>
            </a:r>
            <a:r>
              <a:rPr lang="zh-CN" altLang="en-US" sz="2000" dirty="0">
                <a:solidFill>
                  <a:srgbClr val="FF0000"/>
                </a:solidFill>
                <a:latin typeface="微软雅黑" pitchFamily="34" charset="-122"/>
                <a:ea typeface="微软雅黑" pitchFamily="34" charset="-122"/>
                <a:cs typeface="经典粗黑简" pitchFamily="49" charset="-122"/>
              </a:rPr>
              <a:t>定位查找</a:t>
            </a:r>
            <a:r>
              <a:rPr lang="en-US" altLang="zh-CN" sz="2000" dirty="0" err="1">
                <a:solidFill>
                  <a:srgbClr val="FF0000"/>
                </a:solidFill>
                <a:latin typeface="微软雅黑" pitchFamily="34" charset="-122"/>
                <a:ea typeface="微软雅黑" pitchFamily="34" charset="-122"/>
                <a:cs typeface="经典粗黑简" pitchFamily="49" charset="-122"/>
              </a:rPr>
              <a:t>LocateElem</a:t>
            </a:r>
            <a:r>
              <a:rPr lang="en-US" altLang="zh-CN" sz="2000" dirty="0">
                <a:solidFill>
                  <a:srgbClr val="FF0000"/>
                </a:solidFill>
                <a:latin typeface="微软雅黑" pitchFamily="34" charset="-122"/>
                <a:ea typeface="微软雅黑" pitchFamily="34" charset="-122"/>
                <a:cs typeface="经典粗黑简" pitchFamily="49" charset="-122"/>
              </a:rPr>
              <a:t>(L</a:t>
            </a:r>
            <a:r>
              <a:rPr lang="zh-CN" altLang="en-US" sz="2000" dirty="0">
                <a:solidFill>
                  <a:srgbClr val="FF0000"/>
                </a:solidFill>
                <a:latin typeface="微软雅黑" pitchFamily="34" charset="-122"/>
                <a:ea typeface="微软雅黑" pitchFamily="34" charset="-122"/>
                <a:cs typeface="经典粗黑简" pitchFamily="49" charset="-122"/>
              </a:rPr>
              <a:t>，</a:t>
            </a:r>
            <a:r>
              <a:rPr lang="en-US" altLang="zh-CN" sz="2000" dirty="0">
                <a:solidFill>
                  <a:srgbClr val="FF0000"/>
                </a:solidFill>
                <a:latin typeface="微软雅黑" pitchFamily="34" charset="-122"/>
                <a:ea typeface="微软雅黑" pitchFamily="34" charset="-122"/>
                <a:cs typeface="经典粗黑简" pitchFamily="49" charset="-122"/>
              </a:rPr>
              <a:t>e)</a:t>
            </a:r>
            <a:r>
              <a:rPr lang="zh-CN" altLang="en-US" sz="2000" dirty="0">
                <a:latin typeface="微软雅黑" pitchFamily="34" charset="-122"/>
                <a:ea typeface="微软雅黑" pitchFamily="34" charset="-122"/>
                <a:cs typeface="经典粗黑简" pitchFamily="49" charset="-122"/>
              </a:rPr>
              <a:t>：返回</a:t>
            </a:r>
            <a:r>
              <a:rPr lang="en-US" altLang="zh-CN" sz="2000" dirty="0">
                <a:latin typeface="微软雅黑" pitchFamily="34" charset="-122"/>
                <a:ea typeface="微软雅黑" pitchFamily="34" charset="-122"/>
                <a:cs typeface="经典粗黑简" pitchFamily="49" charset="-122"/>
              </a:rPr>
              <a:t>L</a:t>
            </a:r>
            <a:r>
              <a:rPr lang="zh-CN" altLang="en-US" sz="2000" dirty="0">
                <a:latin typeface="微软雅黑" pitchFamily="34" charset="-122"/>
                <a:ea typeface="微软雅黑" pitchFamily="34" charset="-122"/>
                <a:cs typeface="经典粗黑简" pitchFamily="49" charset="-122"/>
              </a:rPr>
              <a:t>中第一个值域与</a:t>
            </a:r>
            <a:r>
              <a:rPr lang="en-US" altLang="zh-CN" sz="2000" dirty="0">
                <a:latin typeface="微软雅黑" pitchFamily="34" charset="-122"/>
                <a:ea typeface="微软雅黑" pitchFamily="34" charset="-122"/>
                <a:cs typeface="经典粗黑简" pitchFamily="49" charset="-122"/>
              </a:rPr>
              <a:t>e</a:t>
            </a:r>
            <a:r>
              <a:rPr lang="zh-CN" altLang="en-US" sz="2000" dirty="0">
                <a:latin typeface="微软雅黑" pitchFamily="34" charset="-122"/>
                <a:ea typeface="微软雅黑" pitchFamily="34" charset="-122"/>
                <a:cs typeface="经典粗黑简" pitchFamily="49" charset="-122"/>
              </a:rPr>
              <a:t>相等的逻辑位序。若这样的元素不存在，则返回值为</a:t>
            </a:r>
            <a:r>
              <a:rPr lang="en-US" altLang="zh-CN" sz="2000" dirty="0">
                <a:latin typeface="微软雅黑" pitchFamily="34" charset="-122"/>
                <a:ea typeface="微软雅黑" pitchFamily="34" charset="-122"/>
                <a:cs typeface="经典粗黑简" pitchFamily="49" charset="-122"/>
              </a:rPr>
              <a:t>0</a:t>
            </a:r>
            <a:r>
              <a:rPr lang="zh-CN" altLang="en-US" sz="2000" dirty="0">
                <a:latin typeface="微软雅黑" pitchFamily="34" charset="-122"/>
                <a:ea typeface="微软雅黑" pitchFamily="34" charset="-122"/>
                <a:cs typeface="经典粗黑简" pitchFamily="49" charset="-122"/>
              </a:rPr>
              <a:t>。</a:t>
            </a:r>
          </a:p>
          <a:p>
            <a:pPr marL="457200" indent="-457200" algn="just">
              <a:lnSpc>
                <a:spcPts val="3000"/>
              </a:lnSpc>
            </a:pPr>
            <a:r>
              <a:rPr kumimoji="1" lang="zh-CN" altLang="en-US" dirty="0">
                <a:solidFill>
                  <a:srgbClr val="FF0000"/>
                </a:solidFill>
                <a:latin typeface="Consolas" pitchFamily="49" charset="0"/>
                <a:ea typeface="楷体" pitchFamily="49" charset="-122"/>
                <a:sym typeface="Wingdings"/>
              </a:rPr>
              <a:t></a:t>
            </a:r>
            <a:r>
              <a:rPr lang="zh-CN" altLang="en-US" sz="2000" dirty="0">
                <a:latin typeface="微软雅黑" pitchFamily="34" charset="-122"/>
                <a:ea typeface="微软雅黑" pitchFamily="34" charset="-122"/>
                <a:cs typeface="经典粗黑简" pitchFamily="49" charset="-122"/>
                <a:sym typeface="Wingdings"/>
              </a:rPr>
              <a:t> </a:t>
            </a:r>
            <a:r>
              <a:rPr lang="zh-CN" altLang="en-US" sz="2000" dirty="0">
                <a:solidFill>
                  <a:srgbClr val="FF0000"/>
                </a:solidFill>
                <a:latin typeface="微软雅黑" pitchFamily="34" charset="-122"/>
                <a:ea typeface="微软雅黑" pitchFamily="34" charset="-122"/>
                <a:cs typeface="经典粗黑简" pitchFamily="49" charset="-122"/>
              </a:rPr>
              <a:t>插入一个数据元素</a:t>
            </a:r>
            <a:r>
              <a:rPr lang="en-US" altLang="zh-CN" sz="2000" dirty="0" err="1">
                <a:solidFill>
                  <a:srgbClr val="FF0000"/>
                </a:solidFill>
                <a:latin typeface="微软雅黑" pitchFamily="34" charset="-122"/>
                <a:ea typeface="微软雅黑" pitchFamily="34" charset="-122"/>
                <a:cs typeface="经典粗黑简" pitchFamily="49" charset="-122"/>
              </a:rPr>
              <a:t>ListInsert</a:t>
            </a:r>
            <a:r>
              <a:rPr lang="en-US" altLang="zh-CN" sz="2000" dirty="0">
                <a:solidFill>
                  <a:srgbClr val="FF0000"/>
                </a:solidFill>
                <a:latin typeface="微软雅黑" pitchFamily="34" charset="-122"/>
                <a:ea typeface="微软雅黑" pitchFamily="34" charset="-122"/>
                <a:cs typeface="经典粗黑简" pitchFamily="49" charset="-122"/>
              </a:rPr>
              <a:t>(&amp;L</a:t>
            </a:r>
            <a:r>
              <a:rPr lang="zh-CN" altLang="en-US" sz="2000" dirty="0">
                <a:solidFill>
                  <a:srgbClr val="FF0000"/>
                </a:solidFill>
                <a:latin typeface="微软雅黑" pitchFamily="34" charset="-122"/>
                <a:ea typeface="微软雅黑" pitchFamily="34" charset="-122"/>
                <a:cs typeface="经典粗黑简" pitchFamily="49" charset="-122"/>
              </a:rPr>
              <a:t>，</a:t>
            </a:r>
            <a:r>
              <a:rPr lang="en-US" altLang="zh-CN" sz="2000" dirty="0" err="1">
                <a:solidFill>
                  <a:srgbClr val="FF0000"/>
                </a:solidFill>
                <a:latin typeface="微软雅黑" pitchFamily="34" charset="-122"/>
                <a:ea typeface="微软雅黑" pitchFamily="34" charset="-122"/>
                <a:cs typeface="经典粗黑简" pitchFamily="49" charset="-122"/>
              </a:rPr>
              <a:t>i</a:t>
            </a:r>
            <a:r>
              <a:rPr lang="zh-CN" altLang="en-US" sz="2000" dirty="0">
                <a:solidFill>
                  <a:srgbClr val="FF0000"/>
                </a:solidFill>
                <a:latin typeface="微软雅黑" pitchFamily="34" charset="-122"/>
                <a:ea typeface="微软雅黑" pitchFamily="34" charset="-122"/>
                <a:cs typeface="经典粗黑简" pitchFamily="49" charset="-122"/>
              </a:rPr>
              <a:t>，</a:t>
            </a:r>
            <a:r>
              <a:rPr lang="en-US" altLang="zh-CN" sz="2000" dirty="0">
                <a:solidFill>
                  <a:srgbClr val="FF0000"/>
                </a:solidFill>
                <a:latin typeface="微软雅黑" pitchFamily="34" charset="-122"/>
                <a:ea typeface="微软雅黑" pitchFamily="34" charset="-122"/>
                <a:cs typeface="经典粗黑简" pitchFamily="49" charset="-122"/>
              </a:rPr>
              <a:t>e)</a:t>
            </a:r>
            <a:r>
              <a:rPr lang="zh-CN" altLang="en-US" sz="2000" dirty="0">
                <a:latin typeface="微软雅黑" pitchFamily="34" charset="-122"/>
                <a:ea typeface="微软雅黑" pitchFamily="34" charset="-122"/>
                <a:cs typeface="经典粗黑简" pitchFamily="49" charset="-122"/>
              </a:rPr>
              <a:t>：在</a:t>
            </a:r>
            <a:r>
              <a:rPr lang="en-US" altLang="zh-CN" sz="2000" dirty="0">
                <a:latin typeface="微软雅黑" pitchFamily="34" charset="-122"/>
                <a:ea typeface="微软雅黑" pitchFamily="34" charset="-122"/>
                <a:cs typeface="经典粗黑简" pitchFamily="49" charset="-122"/>
              </a:rPr>
              <a:t>L</a:t>
            </a:r>
            <a:r>
              <a:rPr lang="zh-CN" altLang="en-US" sz="2000" dirty="0">
                <a:latin typeface="微软雅黑" pitchFamily="34" charset="-122"/>
                <a:ea typeface="微软雅黑" pitchFamily="34" charset="-122"/>
                <a:cs typeface="经典粗黑简" pitchFamily="49" charset="-122"/>
              </a:rPr>
              <a:t>的第</a:t>
            </a:r>
            <a:r>
              <a:rPr lang="en-US" altLang="zh-CN" sz="2000" dirty="0" err="1">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1≤i≤n</a:t>
            </a:r>
            <a:r>
              <a:rPr lang="zh-CN" altLang="en-US" sz="2000" dirty="0">
                <a:latin typeface="微软雅黑" pitchFamily="34" charset="-122"/>
                <a:ea typeface="微软雅黑" pitchFamily="34" charset="-122"/>
                <a:cs typeface="经典粗黑简" pitchFamily="49" charset="-122"/>
              </a:rPr>
              <a:t>）个元素之前插入新的元素</a:t>
            </a:r>
            <a:r>
              <a:rPr lang="en-US" altLang="zh-CN" sz="2000" dirty="0">
                <a:latin typeface="微软雅黑" pitchFamily="34" charset="-122"/>
                <a:ea typeface="微软雅黑" pitchFamily="34" charset="-122"/>
                <a:cs typeface="经典粗黑简" pitchFamily="49" charset="-122"/>
              </a:rPr>
              <a:t>e</a:t>
            </a:r>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L</a:t>
            </a:r>
            <a:r>
              <a:rPr lang="zh-CN" altLang="en-US" sz="2000" dirty="0">
                <a:latin typeface="微软雅黑" pitchFamily="34" charset="-122"/>
                <a:ea typeface="微软雅黑" pitchFamily="34" charset="-122"/>
                <a:cs typeface="经典粗黑简" pitchFamily="49" charset="-122"/>
              </a:rPr>
              <a:t>的长度增</a:t>
            </a:r>
            <a:r>
              <a:rPr lang="en-US" altLang="zh-CN" sz="2000" dirty="0">
                <a:latin typeface="微软雅黑" pitchFamily="34" charset="-122"/>
                <a:ea typeface="微软雅黑" pitchFamily="34" charset="-122"/>
                <a:cs typeface="经典粗黑简" pitchFamily="49" charset="-122"/>
              </a:rPr>
              <a:t>1</a:t>
            </a:r>
            <a:r>
              <a:rPr lang="zh-CN" altLang="en-US" sz="2000" dirty="0">
                <a:latin typeface="微软雅黑" pitchFamily="34" charset="-122"/>
                <a:ea typeface="微软雅黑" pitchFamily="34" charset="-122"/>
                <a:cs typeface="经典粗黑简" pitchFamily="49" charset="-122"/>
              </a:rPr>
              <a:t>。</a:t>
            </a:r>
          </a:p>
          <a:p>
            <a:pPr marL="457200" indent="-457200" algn="l">
              <a:lnSpc>
                <a:spcPts val="3000"/>
              </a:lnSpc>
            </a:pPr>
            <a:r>
              <a:rPr kumimoji="1" lang="zh-CN" altLang="en-US" dirty="0">
                <a:solidFill>
                  <a:srgbClr val="FF0000"/>
                </a:solidFill>
                <a:latin typeface="Consolas" pitchFamily="49" charset="0"/>
                <a:ea typeface="楷体" pitchFamily="49" charset="-122"/>
                <a:sym typeface="Wingdings"/>
              </a:rPr>
              <a:t></a:t>
            </a:r>
            <a:r>
              <a:rPr lang="zh-CN" altLang="en-US" sz="2000" dirty="0">
                <a:latin typeface="微软雅黑" pitchFamily="34" charset="-122"/>
                <a:ea typeface="微软雅黑" pitchFamily="34" charset="-122"/>
                <a:cs typeface="经典粗黑简" pitchFamily="49" charset="-122"/>
                <a:sym typeface="Wingdings"/>
              </a:rPr>
              <a:t> </a:t>
            </a:r>
            <a:r>
              <a:rPr lang="zh-CN" altLang="en-US" sz="2000" dirty="0">
                <a:solidFill>
                  <a:srgbClr val="FF0000"/>
                </a:solidFill>
                <a:latin typeface="微软雅黑" pitchFamily="34" charset="-122"/>
                <a:ea typeface="微软雅黑" pitchFamily="34" charset="-122"/>
                <a:cs typeface="经典粗黑简" pitchFamily="49" charset="-122"/>
              </a:rPr>
              <a:t>删除数据元素</a:t>
            </a:r>
            <a:r>
              <a:rPr lang="en-US" altLang="zh-CN" sz="2000" dirty="0" err="1">
                <a:solidFill>
                  <a:srgbClr val="FF0000"/>
                </a:solidFill>
                <a:latin typeface="微软雅黑" pitchFamily="34" charset="-122"/>
                <a:ea typeface="微软雅黑" pitchFamily="34" charset="-122"/>
                <a:cs typeface="经典粗黑简" pitchFamily="49" charset="-122"/>
              </a:rPr>
              <a:t>ListDelete</a:t>
            </a:r>
            <a:r>
              <a:rPr lang="en-US" altLang="zh-CN" sz="2000" dirty="0">
                <a:solidFill>
                  <a:srgbClr val="FF0000"/>
                </a:solidFill>
                <a:latin typeface="微软雅黑" pitchFamily="34" charset="-122"/>
                <a:ea typeface="微软雅黑" pitchFamily="34" charset="-122"/>
                <a:cs typeface="经典粗黑简" pitchFamily="49" charset="-122"/>
              </a:rPr>
              <a:t>(&amp;L</a:t>
            </a:r>
            <a:r>
              <a:rPr lang="zh-CN" altLang="en-US" sz="2000" dirty="0">
                <a:solidFill>
                  <a:srgbClr val="FF0000"/>
                </a:solidFill>
                <a:latin typeface="微软雅黑" pitchFamily="34" charset="-122"/>
                <a:ea typeface="微软雅黑" pitchFamily="34" charset="-122"/>
                <a:cs typeface="经典粗黑简" pitchFamily="49" charset="-122"/>
              </a:rPr>
              <a:t>，</a:t>
            </a:r>
            <a:r>
              <a:rPr lang="en-US" altLang="zh-CN" sz="2000" dirty="0" err="1">
                <a:solidFill>
                  <a:srgbClr val="FF0000"/>
                </a:solidFill>
                <a:latin typeface="微软雅黑" pitchFamily="34" charset="-122"/>
                <a:ea typeface="微软雅黑" pitchFamily="34" charset="-122"/>
                <a:cs typeface="经典粗黑简" pitchFamily="49" charset="-122"/>
              </a:rPr>
              <a:t>i</a:t>
            </a:r>
            <a:r>
              <a:rPr lang="zh-CN" altLang="en-US" sz="2000" dirty="0">
                <a:solidFill>
                  <a:srgbClr val="FF0000"/>
                </a:solidFill>
                <a:latin typeface="微软雅黑" pitchFamily="34" charset="-122"/>
                <a:ea typeface="微软雅黑" pitchFamily="34" charset="-122"/>
                <a:cs typeface="经典粗黑简" pitchFamily="49" charset="-122"/>
              </a:rPr>
              <a:t>，</a:t>
            </a:r>
            <a:r>
              <a:rPr lang="en-US" altLang="zh-CN" sz="2000" dirty="0">
                <a:solidFill>
                  <a:srgbClr val="FF0000"/>
                </a:solidFill>
                <a:latin typeface="微软雅黑" pitchFamily="34" charset="-122"/>
                <a:ea typeface="微软雅黑" pitchFamily="34" charset="-122"/>
                <a:cs typeface="经典粗黑简" pitchFamily="49" charset="-122"/>
              </a:rPr>
              <a:t>&amp;e)</a:t>
            </a:r>
            <a:r>
              <a:rPr lang="zh-CN" altLang="en-US" sz="2000" dirty="0">
                <a:latin typeface="微软雅黑" pitchFamily="34" charset="-122"/>
                <a:ea typeface="微软雅黑" pitchFamily="34" charset="-122"/>
                <a:cs typeface="经典粗黑简" pitchFamily="49" charset="-122"/>
              </a:rPr>
              <a:t>：删除</a:t>
            </a:r>
            <a:r>
              <a:rPr lang="en-US" altLang="zh-CN" sz="2000" dirty="0">
                <a:latin typeface="微软雅黑" pitchFamily="34" charset="-122"/>
                <a:ea typeface="微软雅黑" pitchFamily="34" charset="-122"/>
                <a:cs typeface="经典粗黑简" pitchFamily="49" charset="-122"/>
              </a:rPr>
              <a:t>L</a:t>
            </a:r>
            <a:r>
              <a:rPr lang="zh-CN" altLang="en-US" sz="2000" dirty="0">
                <a:latin typeface="微软雅黑" pitchFamily="34" charset="-122"/>
                <a:ea typeface="微软雅黑" pitchFamily="34" charset="-122"/>
                <a:cs typeface="经典粗黑简" pitchFamily="49" charset="-122"/>
              </a:rPr>
              <a:t>的第</a:t>
            </a:r>
            <a:r>
              <a:rPr lang="en-US" altLang="zh-CN" sz="2000" dirty="0" err="1">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1≤i≤n</a:t>
            </a:r>
            <a:r>
              <a:rPr lang="zh-CN" altLang="en-US" sz="2000" dirty="0">
                <a:latin typeface="微软雅黑" pitchFamily="34" charset="-122"/>
                <a:ea typeface="微软雅黑" pitchFamily="34" charset="-122"/>
                <a:cs typeface="经典粗黑简" pitchFamily="49" charset="-122"/>
              </a:rPr>
              <a:t>）个元素，并用</a:t>
            </a:r>
            <a:r>
              <a:rPr lang="en-US" altLang="zh-CN" sz="2000" dirty="0">
                <a:latin typeface="微软雅黑" pitchFamily="34" charset="-122"/>
                <a:ea typeface="微软雅黑" pitchFamily="34" charset="-122"/>
                <a:cs typeface="经典粗黑简" pitchFamily="49" charset="-122"/>
              </a:rPr>
              <a:t>e</a:t>
            </a:r>
            <a:r>
              <a:rPr lang="zh-CN" altLang="en-US" sz="2000" dirty="0">
                <a:latin typeface="微软雅黑" pitchFamily="34" charset="-122"/>
                <a:ea typeface="微软雅黑" pitchFamily="34" charset="-122"/>
                <a:cs typeface="经典粗黑简" pitchFamily="49" charset="-122"/>
              </a:rPr>
              <a:t>返回其值，</a:t>
            </a:r>
            <a:r>
              <a:rPr lang="en-US" altLang="zh-CN" sz="2000" dirty="0">
                <a:latin typeface="微软雅黑" pitchFamily="34" charset="-122"/>
                <a:ea typeface="微软雅黑" pitchFamily="34" charset="-122"/>
                <a:cs typeface="经典粗黑简" pitchFamily="49" charset="-122"/>
              </a:rPr>
              <a:t>L</a:t>
            </a:r>
            <a:r>
              <a:rPr lang="zh-CN" altLang="en-US" sz="2000" dirty="0">
                <a:latin typeface="微软雅黑" pitchFamily="34" charset="-122"/>
                <a:ea typeface="微软雅黑" pitchFamily="34" charset="-122"/>
                <a:cs typeface="经典粗黑简" pitchFamily="49" charset="-122"/>
              </a:rPr>
              <a:t>的长度减</a:t>
            </a:r>
            <a:r>
              <a:rPr lang="en-US" altLang="zh-CN" sz="2000" dirty="0">
                <a:latin typeface="微软雅黑" pitchFamily="34" charset="-122"/>
                <a:ea typeface="微软雅黑" pitchFamily="34" charset="-122"/>
                <a:cs typeface="经典粗黑简" pitchFamily="49" charset="-122"/>
              </a:rPr>
              <a:t>1</a:t>
            </a:r>
            <a:r>
              <a:rPr lang="zh-CN" altLang="en-US" sz="2000" dirty="0">
                <a:latin typeface="微软雅黑" pitchFamily="34" charset="-122"/>
                <a:ea typeface="微软雅黑" pitchFamily="34" charset="-122"/>
                <a:cs typeface="经典粗黑简" pitchFamily="49" charset="-122"/>
              </a:rPr>
              <a:t>。</a:t>
            </a:r>
          </a:p>
        </p:txBody>
      </p:sp>
    </p:spTree>
    <p:extLst>
      <p:ext uri="{BB962C8B-B14F-4D97-AF65-F5344CB8AC3E}">
        <p14:creationId xmlns:p14="http://schemas.microsoft.com/office/powerpoint/2010/main" val="2045136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95716" y="892085"/>
            <a:ext cx="69685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2.2.1 </a:t>
            </a:r>
            <a:r>
              <a:rPr lang="zh-CN" altLang="en-US" sz="2800" b="1" dirty="0">
                <a:solidFill>
                  <a:schemeClr val="bg1"/>
                </a:solidFill>
                <a:latin typeface="经典粗黑简" pitchFamily="49" charset="-122"/>
                <a:ea typeface="经典粗黑简" pitchFamily="49" charset="-122"/>
                <a:cs typeface="经典粗黑简" pitchFamily="49" charset="-122"/>
              </a:rPr>
              <a:t>线性表的顺序存储结构</a:t>
            </a:r>
            <a:r>
              <a:rPr lang="en-US" altLang="zh-CN" sz="2800" b="1" dirty="0">
                <a:solidFill>
                  <a:schemeClr val="bg1"/>
                </a:solidFill>
                <a:latin typeface="经典粗黑简" pitchFamily="49" charset="-122"/>
                <a:ea typeface="经典粗黑简" pitchFamily="49" charset="-122"/>
                <a:cs typeface="经典粗黑简" pitchFamily="49" charset="-122"/>
              </a:rPr>
              <a:t>——</a:t>
            </a:r>
            <a:r>
              <a:rPr lang="zh-CN" altLang="en-US" sz="2800" b="1" dirty="0">
                <a:solidFill>
                  <a:schemeClr val="bg1"/>
                </a:solidFill>
                <a:latin typeface="经典粗黑简" pitchFamily="49" charset="-122"/>
                <a:ea typeface="经典粗黑简" pitchFamily="49" charset="-122"/>
                <a:cs typeface="经典粗黑简" pitchFamily="49" charset="-122"/>
              </a:rPr>
              <a:t>顺序表</a:t>
            </a:r>
          </a:p>
        </p:txBody>
      </p:sp>
      <p:graphicFrame>
        <p:nvGraphicFramePr>
          <p:cNvPr id="14" name="表格 13"/>
          <p:cNvGraphicFramePr>
            <a:graphicFrameLocks noGrp="1"/>
          </p:cNvGraphicFramePr>
          <p:nvPr>
            <p:extLst>
              <p:ext uri="{D42A27DB-BD31-4B8C-83A1-F6EECF244321}">
                <p14:modId xmlns:p14="http://schemas.microsoft.com/office/powerpoint/2010/main" val="1194028985"/>
              </p:ext>
            </p:extLst>
          </p:nvPr>
        </p:nvGraphicFramePr>
        <p:xfrm>
          <a:off x="6830116" y="2610691"/>
          <a:ext cx="583475" cy="2267128"/>
        </p:xfrm>
        <a:graphic>
          <a:graphicData uri="http://schemas.openxmlformats.org/drawingml/2006/table">
            <a:tbl>
              <a:tblPr firstRow="1" bandRow="1">
                <a:tableStyleId>{5940675A-B579-460E-94D1-54222C63F5DA}</a:tableStyleId>
              </a:tblPr>
              <a:tblGrid>
                <a:gridCol w="583475">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err="1"/>
                        <a:t>a</a:t>
                      </a:r>
                      <a:r>
                        <a:rPr lang="en-US" altLang="zh-CN" sz="1400" baseline="-25000" dirty="0" err="1"/>
                        <a:t>i</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5"/>
                  </a:ext>
                </a:extLst>
              </a:tr>
              <a:tr h="283391">
                <a:tc>
                  <a:txBody>
                    <a:bodyPr/>
                    <a:lstStyle/>
                    <a:p>
                      <a:pPr algn="ctr"/>
                      <a:endParaRPr lang="zh-CN" altLang="en-US" sz="1400" dirty="0"/>
                    </a:p>
                  </a:txBody>
                  <a:tcPr marT="34290" marB="34290">
                    <a:pattFill prst="wdDnDiag">
                      <a:fgClr>
                        <a:schemeClr val="tx1"/>
                      </a:fgClr>
                      <a:bgClr>
                        <a:schemeClr val="bg1"/>
                      </a:bgClr>
                    </a:pattFill>
                  </a:tcPr>
                </a:tc>
                <a:extLst>
                  <a:ext uri="{0D108BD9-81ED-4DB2-BD59-A6C34878D82A}">
                    <a16:rowId xmlns:a16="http://schemas.microsoft.com/office/drawing/2014/main" val="10006"/>
                  </a:ext>
                </a:extLst>
              </a:tr>
              <a:tr h="283391">
                <a:tc>
                  <a:txBody>
                    <a:bodyPr/>
                    <a:lstStyle/>
                    <a:p>
                      <a:pPr algn="ctr"/>
                      <a:endParaRPr lang="zh-CN" altLang="en-US" sz="1400" dirty="0"/>
                    </a:p>
                  </a:txBody>
                  <a:tcPr marT="34290" marB="34290">
                    <a:pattFill prst="wdDnDiag">
                      <a:fgClr>
                        <a:schemeClr val="tx1"/>
                      </a:fgClr>
                      <a:bgClr>
                        <a:schemeClr val="bg1"/>
                      </a:bgClr>
                    </a:pattFill>
                  </a:tcPr>
                </a:tc>
                <a:extLst>
                  <a:ext uri="{0D108BD9-81ED-4DB2-BD59-A6C34878D82A}">
                    <a16:rowId xmlns:a16="http://schemas.microsoft.com/office/drawing/2014/main" val="10007"/>
                  </a:ext>
                </a:extLst>
              </a:tr>
            </a:tbl>
          </a:graphicData>
        </a:graphic>
      </p:graphicFrame>
      <p:graphicFrame>
        <p:nvGraphicFramePr>
          <p:cNvPr id="15" name="表格 14"/>
          <p:cNvGraphicFramePr>
            <a:graphicFrameLocks noGrp="1"/>
          </p:cNvGraphicFramePr>
          <p:nvPr>
            <p:extLst>
              <p:ext uri="{D42A27DB-BD31-4B8C-83A1-F6EECF244321}">
                <p14:modId xmlns:p14="http://schemas.microsoft.com/office/powerpoint/2010/main" val="1259149256"/>
              </p:ext>
            </p:extLst>
          </p:nvPr>
        </p:nvGraphicFramePr>
        <p:xfrm>
          <a:off x="7457133" y="2621155"/>
          <a:ext cx="705395" cy="2267128"/>
        </p:xfrm>
        <a:graphic>
          <a:graphicData uri="http://schemas.openxmlformats.org/drawingml/2006/table">
            <a:tbl>
              <a:tblPr firstRow="1" bandRow="1">
                <a:tableStyleId>{2D5ABB26-0587-4C30-8999-92F81FD0307C}</a:tableStyleId>
              </a:tblPr>
              <a:tblGrid>
                <a:gridCol w="705395">
                  <a:extLst>
                    <a:ext uri="{9D8B030D-6E8A-4147-A177-3AD203B41FA5}">
                      <a16:colId xmlns:a16="http://schemas.microsoft.com/office/drawing/2014/main" val="20000"/>
                    </a:ext>
                  </a:extLst>
                </a:gridCol>
              </a:tblGrid>
              <a:tr h="283391">
                <a:tc>
                  <a:txBody>
                    <a:bodyPr/>
                    <a:lstStyle/>
                    <a:p>
                      <a:pPr algn="ctr"/>
                      <a:r>
                        <a:rPr lang="en-US" altLang="zh-CN" sz="1400" dirty="0"/>
                        <a:t>1</a:t>
                      </a:r>
                      <a:endParaRPr lang="zh-CN" altLang="en-US" sz="1400" dirty="0"/>
                    </a:p>
                  </a:txBody>
                  <a:tcPr marT="34290" marB="34290"/>
                </a:tc>
                <a:extLst>
                  <a:ext uri="{0D108BD9-81ED-4DB2-BD59-A6C34878D82A}">
                    <a16:rowId xmlns:a16="http://schemas.microsoft.com/office/drawing/2014/main" val="10000"/>
                  </a:ext>
                </a:extLst>
              </a:tr>
              <a:tr h="283391">
                <a:tc>
                  <a:txBody>
                    <a:bodyPr/>
                    <a:lstStyle/>
                    <a:p>
                      <a:pPr algn="ctr"/>
                      <a:r>
                        <a:rPr lang="en-US" altLang="zh-CN" sz="1400" dirty="0"/>
                        <a:t>2</a:t>
                      </a:r>
                      <a:endParaRPr lang="zh-CN" altLang="en-US" sz="1400" dirty="0"/>
                    </a:p>
                  </a:txBody>
                  <a:tcPr marT="34290" marB="34290"/>
                </a:tc>
                <a:extLst>
                  <a:ext uri="{0D108BD9-81ED-4DB2-BD59-A6C34878D82A}">
                    <a16:rowId xmlns:a16="http://schemas.microsoft.com/office/drawing/2014/main" val="10001"/>
                  </a:ext>
                </a:extLst>
              </a:tr>
              <a:tr h="283391">
                <a:tc>
                  <a:txBody>
                    <a:bodyPr/>
                    <a:lstStyle/>
                    <a:p>
                      <a:pPr algn="ctr"/>
                      <a:r>
                        <a:rPr lang="en-US" altLang="zh-CN" sz="1400" dirty="0"/>
                        <a:t>……</a:t>
                      </a:r>
                      <a:endParaRPr lang="zh-CN" altLang="en-US" sz="1400" dirty="0"/>
                    </a:p>
                  </a:txBody>
                  <a:tcPr marT="34290" marB="34290"/>
                </a:tc>
                <a:extLst>
                  <a:ext uri="{0D108BD9-81ED-4DB2-BD59-A6C34878D82A}">
                    <a16:rowId xmlns:a16="http://schemas.microsoft.com/office/drawing/2014/main" val="10002"/>
                  </a:ext>
                </a:extLst>
              </a:tr>
              <a:tr h="283391">
                <a:tc>
                  <a:txBody>
                    <a:bodyPr/>
                    <a:lstStyle/>
                    <a:p>
                      <a:pPr algn="ctr"/>
                      <a:r>
                        <a:rPr lang="en-US" altLang="zh-CN" sz="1400" dirty="0"/>
                        <a:t>i</a:t>
                      </a:r>
                      <a:endParaRPr lang="zh-CN" altLang="en-US" sz="1400" dirty="0"/>
                    </a:p>
                  </a:txBody>
                  <a:tcPr marT="34290" marB="34290"/>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tc>
                <a:extLst>
                  <a:ext uri="{0D108BD9-81ED-4DB2-BD59-A6C34878D82A}">
                    <a16:rowId xmlns:a16="http://schemas.microsoft.com/office/drawing/2014/main" val="10004"/>
                  </a:ext>
                </a:extLst>
              </a:tr>
              <a:tr h="283391">
                <a:tc>
                  <a:txBody>
                    <a:bodyPr/>
                    <a:lstStyle/>
                    <a:p>
                      <a:pPr algn="ctr"/>
                      <a:r>
                        <a:rPr lang="en-US" altLang="zh-CN" sz="1400" dirty="0"/>
                        <a:t>n</a:t>
                      </a:r>
                      <a:endParaRPr lang="zh-CN" altLang="en-US" sz="1400" dirty="0"/>
                    </a:p>
                  </a:txBody>
                  <a:tcPr marT="34290" marB="34290"/>
                </a:tc>
                <a:extLst>
                  <a:ext uri="{0D108BD9-81ED-4DB2-BD59-A6C34878D82A}">
                    <a16:rowId xmlns:a16="http://schemas.microsoft.com/office/drawing/2014/main" val="10005"/>
                  </a:ext>
                </a:extLst>
              </a:tr>
              <a:tr h="283391">
                <a:tc>
                  <a:txBody>
                    <a:bodyPr/>
                    <a:lstStyle/>
                    <a:p>
                      <a:pPr algn="ctr"/>
                      <a:endParaRPr lang="zh-CN" altLang="en-US" sz="1400" dirty="0"/>
                    </a:p>
                  </a:txBody>
                  <a:tcPr marT="34290" marB="34290"/>
                </a:tc>
                <a:extLst>
                  <a:ext uri="{0D108BD9-81ED-4DB2-BD59-A6C34878D82A}">
                    <a16:rowId xmlns:a16="http://schemas.microsoft.com/office/drawing/2014/main" val="10006"/>
                  </a:ext>
                </a:extLst>
              </a:tr>
              <a:tr h="283391">
                <a:tc>
                  <a:txBody>
                    <a:bodyPr/>
                    <a:lstStyle/>
                    <a:p>
                      <a:pPr algn="ctr"/>
                      <a:r>
                        <a:rPr lang="en-US" altLang="zh-CN" sz="800" kern="1200" dirty="0" err="1">
                          <a:effectLst/>
                        </a:rPr>
                        <a:t>MaxSize</a:t>
                      </a:r>
                      <a:endParaRPr lang="zh-CN" altLang="en-US" sz="800" dirty="0"/>
                    </a:p>
                  </a:txBody>
                  <a:tcPr marT="34290" marB="34290"/>
                </a:tc>
                <a:extLst>
                  <a:ext uri="{0D108BD9-81ED-4DB2-BD59-A6C34878D82A}">
                    <a16:rowId xmlns:a16="http://schemas.microsoft.com/office/drawing/2014/main" val="10007"/>
                  </a:ext>
                </a:extLst>
              </a:tr>
            </a:tbl>
          </a:graphicData>
        </a:graphic>
      </p:graphicFrame>
      <p:graphicFrame>
        <p:nvGraphicFramePr>
          <p:cNvPr id="16" name="表格 15"/>
          <p:cNvGraphicFramePr>
            <a:graphicFrameLocks noGrp="1"/>
          </p:cNvGraphicFramePr>
          <p:nvPr>
            <p:extLst>
              <p:ext uri="{D42A27DB-BD31-4B8C-83A1-F6EECF244321}">
                <p14:modId xmlns:p14="http://schemas.microsoft.com/office/powerpoint/2010/main" val="2226656730"/>
              </p:ext>
            </p:extLst>
          </p:nvPr>
        </p:nvGraphicFramePr>
        <p:xfrm>
          <a:off x="4957773" y="2628233"/>
          <a:ext cx="1776548" cy="2463797"/>
        </p:xfrm>
        <a:graphic>
          <a:graphicData uri="http://schemas.openxmlformats.org/drawingml/2006/table">
            <a:tbl>
              <a:tblPr firstRow="1" bandRow="1">
                <a:tableStyleId>{2D5ABB26-0587-4C30-8999-92F81FD0307C}</a:tableStyleId>
              </a:tblPr>
              <a:tblGrid>
                <a:gridCol w="1776548">
                  <a:extLst>
                    <a:ext uri="{9D8B030D-6E8A-4147-A177-3AD203B41FA5}">
                      <a16:colId xmlns:a16="http://schemas.microsoft.com/office/drawing/2014/main" val="20000"/>
                    </a:ext>
                  </a:extLst>
                </a:gridCol>
              </a:tblGrid>
              <a:tr h="283391">
                <a:tc>
                  <a:txBody>
                    <a:bodyPr/>
                    <a:lstStyle/>
                    <a:p>
                      <a:pPr marL="0" algn="r" defTabSz="914400" rtl="0" eaLnBrk="1" latinLnBrk="0" hangingPunct="1"/>
                      <a:r>
                        <a:rPr lang="en-US" altLang="zh-CN" sz="1400" kern="1200" dirty="0">
                          <a:solidFill>
                            <a:schemeClr val="tx1"/>
                          </a:solidFill>
                          <a:latin typeface="Chaparral Pro Light" pitchFamily="18" charset="0"/>
                          <a:ea typeface="+mn-ea"/>
                          <a:cs typeface="+mn-cs"/>
                        </a:rPr>
                        <a:t>b</a:t>
                      </a:r>
                      <a:endParaRPr lang="zh-CN" altLang="en-US" sz="1400" kern="1200" dirty="0">
                        <a:solidFill>
                          <a:schemeClr val="tx1"/>
                        </a:solidFill>
                        <a:latin typeface="Chaparral Pro Light" pitchFamily="18" charset="0"/>
                        <a:ea typeface="+mn-ea"/>
                        <a:cs typeface="+mn-cs"/>
                      </a:endParaRPr>
                    </a:p>
                  </a:txBody>
                  <a:tcPr marL="0" marR="180000" marT="34290" marB="34290"/>
                </a:tc>
                <a:extLst>
                  <a:ext uri="{0D108BD9-81ED-4DB2-BD59-A6C34878D82A}">
                    <a16:rowId xmlns:a16="http://schemas.microsoft.com/office/drawing/2014/main" val="10000"/>
                  </a:ext>
                </a:extLst>
              </a:tr>
              <a:tr h="283391">
                <a:tc>
                  <a:txBody>
                    <a:bodyPr/>
                    <a:lstStyle/>
                    <a:p>
                      <a:pPr algn="r"/>
                      <a:r>
                        <a:rPr lang="en-US" altLang="zh-CN" sz="1400" dirty="0" err="1">
                          <a:latin typeface="Chaparral Pro Light" pitchFamily="18" charset="0"/>
                        </a:rPr>
                        <a:t>b+l</a:t>
                      </a:r>
                      <a:endParaRPr lang="zh-CN" altLang="en-US" sz="1400" dirty="0">
                        <a:latin typeface="Chaparral Pro Light" pitchFamily="18" charset="0"/>
                      </a:endParaRPr>
                    </a:p>
                  </a:txBody>
                  <a:tcPr marL="0" marR="180000" marT="34290" marB="34290"/>
                </a:tc>
                <a:extLst>
                  <a:ext uri="{0D108BD9-81ED-4DB2-BD59-A6C34878D82A}">
                    <a16:rowId xmlns:a16="http://schemas.microsoft.com/office/drawing/2014/main" val="10001"/>
                  </a:ext>
                </a:extLst>
              </a:tr>
              <a:tr h="283391">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L="0" marR="180000" marT="34290" marB="34290"/>
                </a:tc>
                <a:extLst>
                  <a:ext uri="{0D108BD9-81ED-4DB2-BD59-A6C34878D82A}">
                    <a16:rowId xmlns:a16="http://schemas.microsoft.com/office/drawing/2014/main" val="10002"/>
                  </a:ext>
                </a:extLst>
              </a:tr>
              <a:tr h="283391">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1400" dirty="0">
                          <a:latin typeface="Chaparral Pro Light" pitchFamily="18" charset="0"/>
                        </a:rPr>
                        <a:t>b+(i-1)l</a:t>
                      </a:r>
                      <a:endParaRPr lang="zh-CN" altLang="en-US" sz="1400" dirty="0">
                        <a:latin typeface="Chaparral Pro Light" pitchFamily="18" charset="0"/>
                      </a:endParaRPr>
                    </a:p>
                  </a:txBody>
                  <a:tcPr marL="0" marR="180000" marT="34290" marB="34290"/>
                </a:tc>
                <a:extLst>
                  <a:ext uri="{0D108BD9-81ED-4DB2-BD59-A6C34878D82A}">
                    <a16:rowId xmlns:a16="http://schemas.microsoft.com/office/drawing/2014/main" val="10003"/>
                  </a:ext>
                </a:extLst>
              </a:tr>
              <a:tr h="283391">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L="0" marR="180000" marT="34290" marB="34290"/>
                </a:tc>
                <a:extLst>
                  <a:ext uri="{0D108BD9-81ED-4DB2-BD59-A6C34878D82A}">
                    <a16:rowId xmlns:a16="http://schemas.microsoft.com/office/drawing/2014/main" val="10004"/>
                  </a:ext>
                </a:extLst>
              </a:tr>
              <a:tr h="283391">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1400" dirty="0">
                          <a:latin typeface="Chaparral Pro Light" pitchFamily="18" charset="0"/>
                        </a:rPr>
                        <a:t>b+(n-1)l</a:t>
                      </a:r>
                      <a:endParaRPr lang="zh-CN" altLang="en-US" sz="1400" dirty="0">
                        <a:latin typeface="Chaparral Pro Light" pitchFamily="18" charset="0"/>
                      </a:endParaRPr>
                    </a:p>
                  </a:txBody>
                  <a:tcPr marL="0" marR="180000" marT="34290" marB="34290"/>
                </a:tc>
                <a:extLst>
                  <a:ext uri="{0D108BD9-81ED-4DB2-BD59-A6C34878D82A}">
                    <a16:rowId xmlns:a16="http://schemas.microsoft.com/office/drawing/2014/main" val="10005"/>
                  </a:ext>
                </a:extLst>
              </a:tr>
              <a:tr h="283391">
                <a:tc>
                  <a:txBody>
                    <a:bodyPr/>
                    <a:lstStyle/>
                    <a:p>
                      <a:pPr algn="r"/>
                      <a:endParaRPr lang="zh-CN" altLang="en-US" sz="1400" dirty="0"/>
                    </a:p>
                  </a:txBody>
                  <a:tcPr marL="0" marR="180000" marT="34290" marB="34290"/>
                </a:tc>
                <a:extLst>
                  <a:ext uri="{0D108BD9-81ED-4DB2-BD59-A6C34878D82A}">
                    <a16:rowId xmlns:a16="http://schemas.microsoft.com/office/drawing/2014/main" val="10006"/>
                  </a:ext>
                </a:extLst>
              </a:tr>
              <a:tr h="48006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1400" dirty="0">
                          <a:latin typeface="Chaparral Pro Light" pitchFamily="18" charset="0"/>
                        </a:rPr>
                        <a:t>b+(</a:t>
                      </a:r>
                      <a:r>
                        <a:rPr lang="en-US" altLang="zh-CN" sz="1400" kern="1200" dirty="0">
                          <a:solidFill>
                            <a:schemeClr val="tx1"/>
                          </a:solidFill>
                          <a:latin typeface="Chaparral Pro Light" pitchFamily="18" charset="0"/>
                          <a:ea typeface="+mn-ea"/>
                          <a:cs typeface="+mn-cs"/>
                        </a:rPr>
                        <a:t>MaxSize</a:t>
                      </a:r>
                      <a:r>
                        <a:rPr lang="en-US" altLang="zh-CN" sz="1400" dirty="0">
                          <a:latin typeface="Chaparral Pro Light" pitchFamily="18" charset="0"/>
                        </a:rPr>
                        <a:t>-1)l</a:t>
                      </a:r>
                      <a:endParaRPr lang="zh-CN" altLang="en-US" sz="1400" dirty="0">
                        <a:latin typeface="Chaparral Pro Light" pitchFamily="18" charset="0"/>
                      </a:endParaRPr>
                    </a:p>
                  </a:txBody>
                  <a:tcPr marL="0" marR="180000" marT="34290" marB="34290"/>
                </a:tc>
                <a:extLst>
                  <a:ext uri="{0D108BD9-81ED-4DB2-BD59-A6C34878D82A}">
                    <a16:rowId xmlns:a16="http://schemas.microsoft.com/office/drawing/2014/main" val="10007"/>
                  </a:ext>
                </a:extLst>
              </a:tr>
            </a:tbl>
          </a:graphicData>
        </a:graphic>
      </p:graphicFrame>
      <p:sp>
        <p:nvSpPr>
          <p:cNvPr id="17" name="矩形 16"/>
          <p:cNvSpPr/>
          <p:nvPr/>
        </p:nvSpPr>
        <p:spPr>
          <a:xfrm>
            <a:off x="5532254" y="2325097"/>
            <a:ext cx="1005403" cy="338554"/>
          </a:xfrm>
          <a:prstGeom prst="rect">
            <a:avLst/>
          </a:prstGeom>
        </p:spPr>
        <p:txBody>
          <a:bodyPr wrap="none">
            <a:spAutoFit/>
          </a:bodyPr>
          <a:lstStyle/>
          <a:p>
            <a:r>
              <a:rPr lang="zh-CN" altLang="zh-CN" sz="1600" dirty="0"/>
              <a:t>存储首址</a:t>
            </a:r>
          </a:p>
        </p:txBody>
      </p:sp>
      <p:sp>
        <p:nvSpPr>
          <p:cNvPr id="18" name="矩形 17"/>
          <p:cNvSpPr/>
          <p:nvPr/>
        </p:nvSpPr>
        <p:spPr>
          <a:xfrm>
            <a:off x="6593026" y="2302693"/>
            <a:ext cx="1005403" cy="338554"/>
          </a:xfrm>
          <a:prstGeom prst="rect">
            <a:avLst/>
          </a:prstGeom>
        </p:spPr>
        <p:txBody>
          <a:bodyPr wrap="none">
            <a:spAutoFit/>
          </a:bodyPr>
          <a:lstStyle/>
          <a:p>
            <a:r>
              <a:rPr lang="zh-CN" altLang="en-US" sz="1600" dirty="0"/>
              <a:t>内存状态</a:t>
            </a:r>
            <a:endParaRPr lang="zh-CN" altLang="zh-CN" sz="1600" dirty="0"/>
          </a:p>
        </p:txBody>
      </p:sp>
      <p:sp>
        <p:nvSpPr>
          <p:cNvPr id="19" name="矩形 18"/>
          <p:cNvSpPr/>
          <p:nvPr/>
        </p:nvSpPr>
        <p:spPr>
          <a:xfrm>
            <a:off x="7527056" y="2289679"/>
            <a:ext cx="595035" cy="338554"/>
          </a:xfrm>
          <a:prstGeom prst="rect">
            <a:avLst/>
          </a:prstGeom>
        </p:spPr>
        <p:txBody>
          <a:bodyPr wrap="none">
            <a:spAutoFit/>
          </a:bodyPr>
          <a:lstStyle/>
          <a:p>
            <a:r>
              <a:rPr lang="zh-CN" altLang="en-US" sz="1600" dirty="0"/>
              <a:t>位序</a:t>
            </a:r>
            <a:endParaRPr lang="zh-CN" altLang="zh-CN" sz="1600" dirty="0"/>
          </a:p>
        </p:txBody>
      </p:sp>
      <p:sp>
        <p:nvSpPr>
          <p:cNvPr id="20" name="右大括号 19"/>
          <p:cNvSpPr/>
          <p:nvPr/>
        </p:nvSpPr>
        <p:spPr>
          <a:xfrm>
            <a:off x="8163937" y="2628233"/>
            <a:ext cx="212655" cy="168724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TextBox 22"/>
          <p:cNvSpPr txBox="1"/>
          <p:nvPr/>
        </p:nvSpPr>
        <p:spPr>
          <a:xfrm>
            <a:off x="8460432" y="3177941"/>
            <a:ext cx="369332" cy="587829"/>
          </a:xfrm>
          <a:prstGeom prst="rect">
            <a:avLst/>
          </a:prstGeom>
          <a:noFill/>
        </p:spPr>
        <p:txBody>
          <a:bodyPr vert="eaVert" wrap="square" rtlCol="0">
            <a:spAutoFit/>
          </a:bodyPr>
          <a:lstStyle/>
          <a:p>
            <a:r>
              <a:rPr lang="zh-CN" altLang="en-US" sz="1200" dirty="0"/>
              <a:t>线性表</a:t>
            </a:r>
          </a:p>
        </p:txBody>
      </p:sp>
      <p:sp>
        <p:nvSpPr>
          <p:cNvPr id="24" name="TextBox 23"/>
          <p:cNvSpPr txBox="1"/>
          <p:nvPr/>
        </p:nvSpPr>
        <p:spPr>
          <a:xfrm>
            <a:off x="8311362" y="4434582"/>
            <a:ext cx="738664" cy="417750"/>
          </a:xfrm>
          <a:prstGeom prst="rect">
            <a:avLst/>
          </a:prstGeom>
          <a:noFill/>
        </p:spPr>
        <p:txBody>
          <a:bodyPr vert="eaVert" wrap="square" rtlCol="0">
            <a:spAutoFit/>
          </a:bodyPr>
          <a:lstStyle/>
          <a:p>
            <a:r>
              <a:rPr lang="zh-CN" altLang="en-US" dirty="0"/>
              <a:t>空闲</a:t>
            </a:r>
          </a:p>
        </p:txBody>
      </p:sp>
      <p:sp>
        <p:nvSpPr>
          <p:cNvPr id="25" name="右大括号 24"/>
          <p:cNvSpPr/>
          <p:nvPr/>
        </p:nvSpPr>
        <p:spPr>
          <a:xfrm>
            <a:off x="8163937" y="4322348"/>
            <a:ext cx="212655" cy="5299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矩形 25"/>
          <p:cNvSpPr/>
          <p:nvPr/>
        </p:nvSpPr>
        <p:spPr>
          <a:xfrm>
            <a:off x="1484648" y="3629298"/>
            <a:ext cx="1482408" cy="461665"/>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逻辑结构</a:t>
            </a:r>
          </a:p>
        </p:txBody>
      </p:sp>
      <p:sp>
        <p:nvSpPr>
          <p:cNvPr id="27" name="矩形 26"/>
          <p:cNvSpPr/>
          <p:nvPr/>
        </p:nvSpPr>
        <p:spPr>
          <a:xfrm>
            <a:off x="3986321" y="3026637"/>
            <a:ext cx="585678" cy="1569660"/>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物理结构</a:t>
            </a:r>
          </a:p>
        </p:txBody>
      </p:sp>
      <p:sp>
        <p:nvSpPr>
          <p:cNvPr id="28" name="矩形 27"/>
          <p:cNvSpPr/>
          <p:nvPr/>
        </p:nvSpPr>
        <p:spPr>
          <a:xfrm>
            <a:off x="577294" y="2523708"/>
            <a:ext cx="3140933" cy="757130"/>
          </a:xfrm>
          <a:prstGeom prst="rect">
            <a:avLst/>
          </a:prstGeom>
        </p:spPr>
        <p:txBody>
          <a:bodyPr wrap="square">
            <a:spAutoFit/>
          </a:bodyPr>
          <a:lstStyle/>
          <a:p>
            <a:pPr lvl="1">
              <a:lnSpc>
                <a:spcPct val="90000"/>
              </a:lnSpc>
            </a:pPr>
            <a:r>
              <a:rPr lang="zh-CN" altLang="en-US" sz="2400" dirty="0">
                <a:latin typeface="微软雅黑" pitchFamily="34" charset="-122"/>
                <a:ea typeface="微软雅黑" pitchFamily="34" charset="-122"/>
                <a:cs typeface="经典粗黑简" pitchFamily="49" charset="-122"/>
              </a:rPr>
              <a:t>线性表 ：</a:t>
            </a:r>
            <a:endParaRPr lang="en-US" altLang="zh-CN" sz="2400" dirty="0">
              <a:latin typeface="微软雅黑" pitchFamily="34" charset="-122"/>
              <a:ea typeface="微软雅黑" pitchFamily="34" charset="-122"/>
              <a:cs typeface="经典粗黑简" pitchFamily="49" charset="-122"/>
            </a:endParaRPr>
          </a:p>
          <a:p>
            <a:pPr lvl="1">
              <a:lnSpc>
                <a:spcPct val="90000"/>
              </a:lnSpc>
            </a:pPr>
            <a:r>
              <a:rPr lang="zh-CN" altLang="en-US"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1</a:t>
            </a:r>
            <a:r>
              <a:rPr lang="en-US" altLang="zh-CN" sz="2400" dirty="0">
                <a:latin typeface="微软雅黑" pitchFamily="34" charset="-122"/>
                <a:ea typeface="微软雅黑" pitchFamily="34" charset="-122"/>
                <a:cs typeface="经典粗黑简" pitchFamily="49" charset="-122"/>
              </a:rPr>
              <a:t>, …, </a:t>
            </a:r>
            <a:r>
              <a:rPr lang="en-US" altLang="zh-CN" sz="2400" dirty="0" err="1">
                <a:latin typeface="微软雅黑" pitchFamily="34" charset="-122"/>
                <a:ea typeface="微软雅黑" pitchFamily="34" charset="-122"/>
                <a:cs typeface="经典粗黑简" pitchFamily="49" charset="-122"/>
              </a:rPr>
              <a:t>a</a:t>
            </a:r>
            <a:r>
              <a:rPr lang="en-US" altLang="zh-CN" sz="2400" baseline="-25000" dirty="0" err="1">
                <a:latin typeface="微软雅黑" pitchFamily="34" charset="-122"/>
                <a:ea typeface="微软雅黑" pitchFamily="34" charset="-122"/>
                <a:cs typeface="经典粗黑简" pitchFamily="49" charset="-122"/>
              </a:rPr>
              <a:t>i</a:t>
            </a:r>
            <a:r>
              <a:rPr lang="en-US" altLang="zh-CN" sz="2400" dirty="0">
                <a:latin typeface="微软雅黑" pitchFamily="34" charset="-122"/>
                <a:ea typeface="微软雅黑" pitchFamily="34" charset="-122"/>
                <a:cs typeface="经典粗黑简" pitchFamily="49" charset="-122"/>
              </a:rPr>
              <a:t>, …, a</a:t>
            </a:r>
            <a:r>
              <a:rPr lang="en-US" altLang="zh-CN" sz="2400" baseline="-25000" dirty="0">
                <a:latin typeface="微软雅黑" pitchFamily="34" charset="-122"/>
                <a:ea typeface="微软雅黑" pitchFamily="34" charset="-122"/>
                <a:cs typeface="经典粗黑简" pitchFamily="49" charset="-122"/>
              </a:rPr>
              <a:t>n</a:t>
            </a:r>
            <a:r>
              <a:rPr lang="en-US" altLang="zh-CN" sz="2400" dirty="0">
                <a:latin typeface="微软雅黑" pitchFamily="34" charset="-122"/>
                <a:ea typeface="微软雅黑" pitchFamily="34" charset="-122"/>
                <a:cs typeface="经典粗黑简" pitchFamily="49" charset="-122"/>
              </a:rPr>
              <a:t>)</a:t>
            </a:r>
          </a:p>
        </p:txBody>
      </p:sp>
      <p:sp>
        <p:nvSpPr>
          <p:cNvPr id="29" name="左大括号 28"/>
          <p:cNvSpPr/>
          <p:nvPr/>
        </p:nvSpPr>
        <p:spPr>
          <a:xfrm>
            <a:off x="4661686" y="2561671"/>
            <a:ext cx="348342" cy="22448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左大括号 29"/>
          <p:cNvSpPr/>
          <p:nvPr/>
        </p:nvSpPr>
        <p:spPr>
          <a:xfrm rot="16200000">
            <a:off x="2139824" y="2339988"/>
            <a:ext cx="204482" cy="237626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矩形 30"/>
          <p:cNvSpPr/>
          <p:nvPr/>
        </p:nvSpPr>
        <p:spPr>
          <a:xfrm>
            <a:off x="1043844" y="1478711"/>
            <a:ext cx="7560604" cy="1015663"/>
          </a:xfrm>
          <a:prstGeom prst="rect">
            <a:avLst/>
          </a:prstGeom>
        </p:spPr>
        <p:txBody>
          <a:bodyPr wrap="square">
            <a:spAutoFit/>
          </a:bodyPr>
          <a:lstStyle/>
          <a:p>
            <a:r>
              <a:rPr lang="zh-CN" altLang="zh-CN" sz="2000" dirty="0">
                <a:solidFill>
                  <a:srgbClr val="FF0000"/>
                </a:solidFill>
                <a:latin typeface="微软雅黑" pitchFamily="34" charset="-122"/>
                <a:ea typeface="微软雅黑" pitchFamily="34" charset="-122"/>
                <a:cs typeface="经典粗黑简" pitchFamily="49" charset="-122"/>
              </a:rPr>
              <a:t>顺序表</a:t>
            </a:r>
            <a:r>
              <a:rPr lang="zh-CN" altLang="en-US" sz="2000" dirty="0">
                <a:solidFill>
                  <a:srgbClr val="FF0000"/>
                </a:solidFill>
                <a:latin typeface="微软雅黑" pitchFamily="34" charset="-122"/>
                <a:ea typeface="微软雅黑" pitchFamily="34" charset="-122"/>
                <a:cs typeface="经典粗黑简" pitchFamily="49" charset="-122"/>
              </a:rPr>
              <a:t>（</a:t>
            </a:r>
            <a:r>
              <a:rPr lang="en-US" altLang="zh-CN" sz="2000" dirty="0">
                <a:solidFill>
                  <a:srgbClr val="FF0000"/>
                </a:solidFill>
                <a:latin typeface="微软雅黑" pitchFamily="34" charset="-122"/>
                <a:ea typeface="微软雅黑" pitchFamily="34" charset="-122"/>
                <a:cs typeface="经典粗黑简" pitchFamily="49" charset="-122"/>
              </a:rPr>
              <a:t>Sequence List</a:t>
            </a:r>
            <a:r>
              <a:rPr lang="zh-CN" altLang="en-US" sz="2000" dirty="0">
                <a:solidFill>
                  <a:srgbClr val="FF0000"/>
                </a:solidFill>
                <a:latin typeface="微软雅黑" pitchFamily="34" charset="-122"/>
                <a:ea typeface="微软雅黑" pitchFamily="34" charset="-122"/>
                <a:cs typeface="经典粗黑简" pitchFamily="49" charset="-122"/>
              </a:rPr>
              <a:t>）</a:t>
            </a:r>
            <a:r>
              <a:rPr lang="en-US" altLang="zh-CN" sz="2000" dirty="0">
                <a:solidFill>
                  <a:srgbClr val="FF0000"/>
                </a:solidFill>
                <a:latin typeface="微软雅黑" pitchFamily="34" charset="-122"/>
                <a:ea typeface="微软雅黑" pitchFamily="34" charset="-122"/>
                <a:cs typeface="经典粗黑简" pitchFamily="49" charset="-122"/>
              </a:rPr>
              <a:t>:</a:t>
            </a:r>
            <a:r>
              <a:rPr lang="zh-CN" altLang="zh-CN" sz="2000" dirty="0">
                <a:latin typeface="微软雅黑" pitchFamily="34" charset="-122"/>
                <a:ea typeface="微软雅黑" pitchFamily="34" charset="-122"/>
                <a:cs typeface="经典粗黑简" pitchFamily="49" charset="-122"/>
              </a:rPr>
              <a:t>是指用顺序存储结构</a:t>
            </a:r>
            <a:r>
              <a:rPr lang="zh-CN" altLang="en-US" sz="2000" dirty="0">
                <a:latin typeface="微软雅黑" pitchFamily="34" charset="-122"/>
                <a:ea typeface="微软雅黑" pitchFamily="34" charset="-122"/>
                <a:cs typeface="经典粗黑简" pitchFamily="49" charset="-122"/>
              </a:rPr>
              <a:t>表示</a:t>
            </a:r>
            <a:r>
              <a:rPr lang="zh-CN" altLang="zh-CN" sz="2000" dirty="0">
                <a:latin typeface="微软雅黑" pitchFamily="34" charset="-122"/>
                <a:ea typeface="微软雅黑" pitchFamily="34" charset="-122"/>
                <a:cs typeface="经典粗黑简" pitchFamily="49" charset="-122"/>
              </a:rPr>
              <a:t>的线性表</a:t>
            </a:r>
            <a:r>
              <a:rPr lang="zh-CN" altLang="en-US" sz="2000" dirty="0">
                <a:latin typeface="微软雅黑" pitchFamily="34" charset="-122"/>
                <a:ea typeface="微软雅黑" pitchFamily="34" charset="-122"/>
                <a:cs typeface="经典粗黑简" pitchFamily="49" charset="-122"/>
              </a:rPr>
              <a:t>，</a:t>
            </a:r>
            <a:r>
              <a:rPr lang="zh-CN" altLang="zh-CN" sz="2000" dirty="0">
                <a:latin typeface="微软雅黑" pitchFamily="34" charset="-122"/>
                <a:ea typeface="微软雅黑" pitchFamily="34" charset="-122"/>
                <a:cs typeface="经典粗黑简" pitchFamily="49" charset="-122"/>
              </a:rPr>
              <a:t>它利用内存中</a:t>
            </a:r>
            <a:r>
              <a:rPr lang="zh-CN" altLang="zh-CN" sz="2000" dirty="0">
                <a:solidFill>
                  <a:srgbClr val="FF0000"/>
                </a:solidFill>
                <a:latin typeface="微软雅黑" pitchFamily="34" charset="-122"/>
                <a:ea typeface="微软雅黑" pitchFamily="34" charset="-122"/>
                <a:cs typeface="经典粗黑简" pitchFamily="49" charset="-122"/>
              </a:rPr>
              <a:t>起始位置确定</a:t>
            </a:r>
            <a:r>
              <a:rPr lang="zh-CN" altLang="zh-CN" sz="2000" dirty="0">
                <a:latin typeface="微软雅黑" pitchFamily="34" charset="-122"/>
                <a:ea typeface="微软雅黑" pitchFamily="34" charset="-122"/>
                <a:cs typeface="经典粗黑简" pitchFamily="49" charset="-122"/>
              </a:rPr>
              <a:t>的</a:t>
            </a:r>
            <a:r>
              <a:rPr lang="zh-CN" altLang="en-US" sz="2000" dirty="0">
                <a:solidFill>
                  <a:srgbClr val="FF0000"/>
                </a:solidFill>
                <a:latin typeface="微软雅黑" pitchFamily="34" charset="-122"/>
                <a:ea typeface="微软雅黑" pitchFamily="34" charset="-122"/>
                <a:cs typeface="经典粗黑简" pitchFamily="49" charset="-122"/>
              </a:rPr>
              <a:t>地址</a:t>
            </a:r>
            <a:r>
              <a:rPr lang="zh-CN" altLang="zh-CN" sz="2000" dirty="0">
                <a:solidFill>
                  <a:srgbClr val="FF0000"/>
                </a:solidFill>
                <a:latin typeface="微软雅黑" pitchFamily="34" charset="-122"/>
                <a:ea typeface="微软雅黑" pitchFamily="34" charset="-122"/>
                <a:cs typeface="经典粗黑简" pitchFamily="49" charset="-122"/>
              </a:rPr>
              <a:t>连续</a:t>
            </a:r>
            <a:r>
              <a:rPr lang="zh-CN" altLang="en-US" sz="2000" dirty="0">
                <a:latin typeface="微软雅黑" pitchFamily="34" charset="-122"/>
                <a:ea typeface="微软雅黑" pitchFamily="34" charset="-122"/>
                <a:cs typeface="经典粗黑简" pitchFamily="49" charset="-122"/>
              </a:rPr>
              <a:t>的</a:t>
            </a:r>
            <a:r>
              <a:rPr lang="zh-CN" altLang="zh-CN" sz="2000" dirty="0">
                <a:solidFill>
                  <a:srgbClr val="FF0000"/>
                </a:solidFill>
                <a:latin typeface="微软雅黑" pitchFamily="34" charset="-122"/>
                <a:ea typeface="微软雅黑" pitchFamily="34" charset="-122"/>
                <a:cs typeface="经典粗黑简" pitchFamily="49" charset="-122"/>
              </a:rPr>
              <a:t>一片</a:t>
            </a:r>
            <a:r>
              <a:rPr lang="zh-CN" altLang="zh-CN" sz="2000" dirty="0">
                <a:latin typeface="微软雅黑" pitchFamily="34" charset="-122"/>
                <a:ea typeface="微软雅黑" pitchFamily="34" charset="-122"/>
                <a:cs typeface="经典粗黑简" pitchFamily="49" charset="-122"/>
              </a:rPr>
              <a:t>存储区域来存放线性表中的所有</a:t>
            </a:r>
            <a:r>
              <a:rPr lang="zh-CN" altLang="en-US" sz="2000" dirty="0">
                <a:latin typeface="微软雅黑" pitchFamily="34" charset="-122"/>
                <a:ea typeface="微软雅黑" pitchFamily="34" charset="-122"/>
                <a:cs typeface="经典粗黑简" pitchFamily="49" charset="-122"/>
              </a:rPr>
              <a:t>数据</a:t>
            </a:r>
            <a:r>
              <a:rPr lang="zh-CN" altLang="zh-CN" sz="2000" dirty="0">
                <a:latin typeface="微软雅黑" pitchFamily="34" charset="-122"/>
                <a:ea typeface="微软雅黑" pitchFamily="34" charset="-122"/>
                <a:cs typeface="经典粗黑简" pitchFamily="49" charset="-122"/>
              </a:rPr>
              <a:t>元素。</a:t>
            </a:r>
            <a:endParaRPr lang="zh-CN" altLang="en-US" sz="2000" dirty="0">
              <a:latin typeface="微软雅黑" pitchFamily="34" charset="-122"/>
              <a:ea typeface="微软雅黑" pitchFamily="34" charset="-122"/>
              <a:cs typeface="经典粗黑简" pitchFamily="49" charset="-122"/>
            </a:endParaRPr>
          </a:p>
        </p:txBody>
      </p:sp>
      <p:cxnSp>
        <p:nvCxnSpPr>
          <p:cNvPr id="22" name="直接连接符 21"/>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2">
            <a:extLst>
              <a:ext uri="{FF2B5EF4-FFF2-40B4-BE49-F238E27FC236}">
                <a16:creationId xmlns:a16="http://schemas.microsoft.com/office/drawing/2014/main" id="{9009A416-93BF-E35A-3D57-E4A0BFA401A5}"/>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5" name="矩形 4">
            <a:extLst>
              <a:ext uri="{FF2B5EF4-FFF2-40B4-BE49-F238E27FC236}">
                <a16:creationId xmlns:a16="http://schemas.microsoft.com/office/drawing/2014/main" id="{5247659D-4590-219C-B021-A77892CA651A}"/>
              </a:ext>
            </a:extLst>
          </p:cNvPr>
          <p:cNvSpPr/>
          <p:nvPr/>
        </p:nvSpPr>
        <p:spPr>
          <a:xfrm>
            <a:off x="353644" y="4251415"/>
            <a:ext cx="3744415" cy="523220"/>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其中：</a:t>
            </a:r>
            <a:r>
              <a:rPr lang="en-US" altLang="zh-CN" sz="2800" dirty="0">
                <a:latin typeface="Chaparral Pro Light" pitchFamily="18" charset="0"/>
              </a:rPr>
              <a:t>l=</a:t>
            </a:r>
            <a:r>
              <a:rPr lang="en-US" altLang="zh-CN" sz="2800" dirty="0" err="1">
                <a:latin typeface="Chaparral Pro Light" pitchFamily="18" charset="0"/>
              </a:rPr>
              <a:t>sizeof</a:t>
            </a:r>
            <a:r>
              <a:rPr lang="en-US" altLang="zh-CN" sz="2800" dirty="0">
                <a:latin typeface="Chaparral Pro Light" pitchFamily="18" charset="0"/>
              </a:rPr>
              <a:t>(</a:t>
            </a:r>
            <a:r>
              <a:rPr lang="en-US" altLang="zh-CN" sz="2800" dirty="0" err="1">
                <a:latin typeface="Chaparral Pro Light" pitchFamily="18" charset="0"/>
              </a:rPr>
              <a:t>ElemType</a:t>
            </a:r>
            <a:r>
              <a:rPr lang="en-US" altLang="zh-CN" sz="2800" dirty="0">
                <a:latin typeface="Chaparral Pro Light" pitchFamily="18" charset="0"/>
              </a:rPr>
              <a:t>)</a:t>
            </a:r>
            <a:endParaRPr lang="zh-CN" altLang="en-US" sz="2800" dirty="0">
              <a:latin typeface="Chaparral Pro Light" pitchFamily="18" charset="0"/>
            </a:endParaRPr>
          </a:p>
        </p:txBody>
      </p:sp>
    </p:spTree>
    <p:extLst>
      <p:ext uri="{BB962C8B-B14F-4D97-AF65-F5344CB8AC3E}">
        <p14:creationId xmlns:p14="http://schemas.microsoft.com/office/powerpoint/2010/main" val="1395095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animBg="1"/>
      <p:bldP spid="23" grpId="0"/>
      <p:bldP spid="24" grpId="0"/>
      <p:bldP spid="25" grpId="0" animBg="1"/>
      <p:bldP spid="26" grpId="0"/>
      <p:bldP spid="27" grpId="0"/>
      <p:bldP spid="28" grpId="0"/>
      <p:bldP spid="29" grpId="0" animBg="1"/>
      <p:bldP spid="30" grpId="0" animBg="1"/>
      <p:bldP spid="31"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直接连接符 21"/>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473180" y="2635608"/>
            <a:ext cx="5176601" cy="646331"/>
          </a:xfrm>
          <a:prstGeom prst="rect">
            <a:avLst/>
          </a:prstGeom>
        </p:spPr>
        <p:txBody>
          <a:bodyPr wrap="square">
            <a:spAutoFit/>
          </a:bodyPr>
          <a:lstStyle/>
          <a:p>
            <a:pPr>
              <a:spcBef>
                <a:spcPts val="13"/>
              </a:spcBef>
            </a:pPr>
            <a:r>
              <a:rPr lang="zh-CN" altLang="en-US" dirty="0">
                <a:latin typeface="微软雅黑" pitchFamily="34" charset="-122"/>
                <a:ea typeface="微软雅黑" pitchFamily="34" charset="-122"/>
                <a:cs typeface="经典粗黑简" pitchFamily="49" charset="-122"/>
              </a:rPr>
              <a:t>①、存储空间的存储单元地址连续（需要一段连续存储空间）；</a:t>
            </a:r>
            <a:endParaRPr lang="en-US" altLang="zh-CN" dirty="0">
              <a:latin typeface="微软雅黑" pitchFamily="34" charset="-122"/>
              <a:ea typeface="微软雅黑" pitchFamily="34" charset="-122"/>
              <a:cs typeface="经典粗黑简" pitchFamily="49" charset="-122"/>
            </a:endParaRPr>
          </a:p>
        </p:txBody>
      </p:sp>
      <p:sp>
        <p:nvSpPr>
          <p:cNvPr id="33" name="矩形 32"/>
          <p:cNvSpPr/>
          <p:nvPr/>
        </p:nvSpPr>
        <p:spPr>
          <a:xfrm>
            <a:off x="451408" y="3165765"/>
            <a:ext cx="5126365" cy="646331"/>
          </a:xfrm>
          <a:prstGeom prst="rect">
            <a:avLst/>
          </a:prstGeom>
        </p:spPr>
        <p:txBody>
          <a:bodyPr wrap="square">
            <a:spAutoFit/>
          </a:bodyPr>
          <a:lstStyle/>
          <a:p>
            <a:pPr>
              <a:spcBef>
                <a:spcPts val="13"/>
              </a:spcBef>
            </a:pPr>
            <a:r>
              <a:rPr lang="zh-CN" altLang="en-US" dirty="0">
                <a:latin typeface="微软雅黑" pitchFamily="34" charset="-122"/>
                <a:ea typeface="微软雅黑" pitchFamily="34" charset="-122"/>
                <a:cs typeface="经典粗黑简" pitchFamily="49" charset="-122"/>
              </a:rPr>
              <a:t>②、逻辑上相邻的数据元素其物理存储位置也相邻</a:t>
            </a:r>
            <a:r>
              <a:rPr lang="zh-CN" altLang="zh-CN" dirty="0">
                <a:latin typeface="微软雅黑" pitchFamily="34" charset="-122"/>
                <a:ea typeface="微软雅黑" pitchFamily="34" charset="-122"/>
                <a:cs typeface="经典粗黑简" pitchFamily="49" charset="-122"/>
              </a:rPr>
              <a:t>，也就是说</a:t>
            </a:r>
            <a:r>
              <a:rPr lang="zh-CN" altLang="en-US" dirty="0">
                <a:latin typeface="微软雅黑" pitchFamily="34" charset="-122"/>
                <a:ea typeface="微软雅黑" pitchFamily="34" charset="-122"/>
                <a:cs typeface="经典粗黑简" pitchFamily="49" charset="-122"/>
              </a:rPr>
              <a:t>顺序</a:t>
            </a:r>
            <a:r>
              <a:rPr lang="zh-CN" altLang="zh-CN" dirty="0">
                <a:latin typeface="微软雅黑" pitchFamily="34" charset="-122"/>
                <a:ea typeface="微软雅黑" pitchFamily="34" charset="-122"/>
                <a:cs typeface="经典粗黑简" pitchFamily="49" charset="-122"/>
              </a:rPr>
              <a:t>表</a:t>
            </a:r>
            <a:r>
              <a:rPr lang="zh-CN" altLang="en-US" dirty="0">
                <a:latin typeface="微软雅黑" pitchFamily="34" charset="-122"/>
                <a:ea typeface="微软雅黑" pitchFamily="34" charset="-122"/>
                <a:cs typeface="经典粗黑简" pitchFamily="49" charset="-122"/>
              </a:rPr>
              <a:t>通过</a:t>
            </a:r>
            <a:r>
              <a:rPr lang="zh-CN" altLang="zh-CN" dirty="0">
                <a:latin typeface="微软雅黑" pitchFamily="34" charset="-122"/>
                <a:ea typeface="微软雅黑" pitchFamily="34" charset="-122"/>
                <a:cs typeface="经典粗黑简" pitchFamily="49" charset="-122"/>
              </a:rPr>
              <a:t>物理关系</a:t>
            </a:r>
            <a:r>
              <a:rPr lang="zh-CN" altLang="en-US" dirty="0">
                <a:latin typeface="微软雅黑" pitchFamily="34" charset="-122"/>
                <a:ea typeface="微软雅黑" pitchFamily="34" charset="-122"/>
                <a:cs typeface="经典粗黑简" pitchFamily="49" charset="-122"/>
              </a:rPr>
              <a:t>表示</a:t>
            </a:r>
            <a:r>
              <a:rPr lang="zh-CN" altLang="zh-CN" dirty="0">
                <a:latin typeface="微软雅黑" pitchFamily="34" charset="-122"/>
                <a:ea typeface="微软雅黑" pitchFamily="34" charset="-122"/>
                <a:cs typeface="经典粗黑简" pitchFamily="49" charset="-122"/>
              </a:rPr>
              <a:t>逻辑关系</a:t>
            </a:r>
            <a:r>
              <a:rPr lang="zh-CN" altLang="en-US" dirty="0">
                <a:latin typeface="微软雅黑" pitchFamily="34" charset="-122"/>
                <a:ea typeface="微软雅黑" pitchFamily="34" charset="-122"/>
                <a:cs typeface="经典粗黑简" pitchFamily="49" charset="-122"/>
              </a:rPr>
              <a:t>；</a:t>
            </a:r>
            <a:endParaRPr lang="en-US" altLang="zh-CN" dirty="0">
              <a:latin typeface="微软雅黑" pitchFamily="34" charset="-122"/>
              <a:ea typeface="微软雅黑" pitchFamily="34" charset="-122"/>
              <a:cs typeface="经典粗黑简" pitchFamily="49" charset="-122"/>
            </a:endParaRPr>
          </a:p>
        </p:txBody>
      </p:sp>
      <p:sp>
        <p:nvSpPr>
          <p:cNvPr id="34" name="矩形 33"/>
          <p:cNvSpPr/>
          <p:nvPr/>
        </p:nvSpPr>
        <p:spPr>
          <a:xfrm>
            <a:off x="451409" y="3695921"/>
            <a:ext cx="3038133" cy="369332"/>
          </a:xfrm>
          <a:prstGeom prst="rect">
            <a:avLst/>
          </a:prstGeom>
        </p:spPr>
        <p:txBody>
          <a:bodyPr wrap="square">
            <a:spAutoFit/>
          </a:bodyPr>
          <a:lstStyle/>
          <a:p>
            <a:pPr>
              <a:spcBef>
                <a:spcPts val="13"/>
              </a:spcBef>
            </a:pPr>
            <a:r>
              <a:rPr lang="zh-CN" altLang="en-US" dirty="0">
                <a:latin typeface="微软雅黑" pitchFamily="34" charset="-122"/>
                <a:ea typeface="微软雅黑" pitchFamily="34" charset="-122"/>
                <a:cs typeface="经典粗黑简" pitchFamily="49" charset="-122"/>
              </a:rPr>
              <a:t>③、存储密度大（100%）；</a:t>
            </a:r>
            <a:endParaRPr lang="en-US" altLang="zh-CN" dirty="0">
              <a:latin typeface="微软雅黑" pitchFamily="34" charset="-122"/>
              <a:ea typeface="微软雅黑" pitchFamily="34" charset="-122"/>
              <a:cs typeface="经典粗黑简" pitchFamily="49" charset="-122"/>
            </a:endParaRPr>
          </a:p>
        </p:txBody>
      </p:sp>
      <p:sp>
        <p:nvSpPr>
          <p:cNvPr id="35" name="矩形 34"/>
          <p:cNvSpPr/>
          <p:nvPr/>
        </p:nvSpPr>
        <p:spPr>
          <a:xfrm>
            <a:off x="473181" y="4018329"/>
            <a:ext cx="2190205" cy="369332"/>
          </a:xfrm>
          <a:prstGeom prst="rect">
            <a:avLst/>
          </a:prstGeom>
        </p:spPr>
        <p:txBody>
          <a:bodyPr wrap="square">
            <a:spAutoFit/>
          </a:bodyPr>
          <a:lstStyle/>
          <a:p>
            <a:pPr>
              <a:spcBef>
                <a:spcPts val="13"/>
              </a:spcBef>
            </a:pPr>
            <a:r>
              <a:rPr lang="zh-CN" altLang="en-US" dirty="0">
                <a:latin typeface="微软雅黑" pitchFamily="34" charset="-122"/>
                <a:ea typeface="微软雅黑" pitchFamily="34" charset="-122"/>
                <a:cs typeface="经典粗黑简" pitchFamily="49" charset="-122"/>
              </a:rPr>
              <a:t>④、随机存取</a:t>
            </a:r>
          </a:p>
        </p:txBody>
      </p:sp>
      <p:graphicFrame>
        <p:nvGraphicFramePr>
          <p:cNvPr id="26" name="表格 25"/>
          <p:cNvGraphicFramePr>
            <a:graphicFrameLocks noGrp="1"/>
          </p:cNvGraphicFramePr>
          <p:nvPr>
            <p:extLst>
              <p:ext uri="{D42A27DB-BD31-4B8C-83A1-F6EECF244321}">
                <p14:modId xmlns:p14="http://schemas.microsoft.com/office/powerpoint/2010/main" val="822680870"/>
              </p:ext>
            </p:extLst>
          </p:nvPr>
        </p:nvGraphicFramePr>
        <p:xfrm>
          <a:off x="6830116" y="2610691"/>
          <a:ext cx="583475" cy="2267128"/>
        </p:xfrm>
        <a:graphic>
          <a:graphicData uri="http://schemas.openxmlformats.org/drawingml/2006/table">
            <a:tbl>
              <a:tblPr firstRow="1" bandRow="1">
                <a:tableStyleId>{5940675A-B579-460E-94D1-54222C63F5DA}</a:tableStyleId>
              </a:tblPr>
              <a:tblGrid>
                <a:gridCol w="583475">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err="1"/>
                        <a:t>a</a:t>
                      </a:r>
                      <a:r>
                        <a:rPr lang="en-US" altLang="zh-CN" sz="1400" baseline="-25000" dirty="0" err="1"/>
                        <a:t>i</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5"/>
                  </a:ext>
                </a:extLst>
              </a:tr>
              <a:tr h="283391">
                <a:tc>
                  <a:txBody>
                    <a:bodyPr/>
                    <a:lstStyle/>
                    <a:p>
                      <a:pPr algn="ctr"/>
                      <a:endParaRPr lang="zh-CN" altLang="en-US" sz="1400" dirty="0"/>
                    </a:p>
                  </a:txBody>
                  <a:tcPr marT="34290" marB="34290">
                    <a:pattFill prst="wdDnDiag">
                      <a:fgClr>
                        <a:schemeClr val="tx1"/>
                      </a:fgClr>
                      <a:bgClr>
                        <a:schemeClr val="bg1"/>
                      </a:bgClr>
                    </a:pattFill>
                  </a:tcPr>
                </a:tc>
                <a:extLst>
                  <a:ext uri="{0D108BD9-81ED-4DB2-BD59-A6C34878D82A}">
                    <a16:rowId xmlns:a16="http://schemas.microsoft.com/office/drawing/2014/main" val="10006"/>
                  </a:ext>
                </a:extLst>
              </a:tr>
              <a:tr h="283391">
                <a:tc>
                  <a:txBody>
                    <a:bodyPr/>
                    <a:lstStyle/>
                    <a:p>
                      <a:pPr algn="ctr"/>
                      <a:endParaRPr lang="zh-CN" altLang="en-US" sz="1400" dirty="0"/>
                    </a:p>
                  </a:txBody>
                  <a:tcPr marT="34290" marB="34290">
                    <a:pattFill prst="wdDnDiag">
                      <a:fgClr>
                        <a:schemeClr val="tx1"/>
                      </a:fgClr>
                      <a:bgClr>
                        <a:schemeClr val="bg1"/>
                      </a:bgClr>
                    </a:pattFill>
                  </a:tcPr>
                </a:tc>
                <a:extLst>
                  <a:ext uri="{0D108BD9-81ED-4DB2-BD59-A6C34878D82A}">
                    <a16:rowId xmlns:a16="http://schemas.microsoft.com/office/drawing/2014/main" val="10007"/>
                  </a:ext>
                </a:extLst>
              </a:tr>
            </a:tbl>
          </a:graphicData>
        </a:graphic>
      </p:graphicFrame>
      <p:sp>
        <p:nvSpPr>
          <p:cNvPr id="37" name="右大括号 36"/>
          <p:cNvSpPr/>
          <p:nvPr/>
        </p:nvSpPr>
        <p:spPr>
          <a:xfrm>
            <a:off x="8163937" y="2628233"/>
            <a:ext cx="212655" cy="168724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TextBox 37"/>
          <p:cNvSpPr txBox="1"/>
          <p:nvPr/>
        </p:nvSpPr>
        <p:spPr>
          <a:xfrm>
            <a:off x="8460432" y="3177941"/>
            <a:ext cx="369332" cy="587829"/>
          </a:xfrm>
          <a:prstGeom prst="rect">
            <a:avLst/>
          </a:prstGeom>
          <a:noFill/>
        </p:spPr>
        <p:txBody>
          <a:bodyPr vert="eaVert" wrap="square" rtlCol="0">
            <a:spAutoFit/>
          </a:bodyPr>
          <a:lstStyle/>
          <a:p>
            <a:r>
              <a:rPr lang="zh-CN" altLang="en-US" sz="1200" dirty="0"/>
              <a:t>线性表</a:t>
            </a:r>
          </a:p>
        </p:txBody>
      </p:sp>
      <p:sp>
        <p:nvSpPr>
          <p:cNvPr id="39" name="TextBox 38"/>
          <p:cNvSpPr txBox="1"/>
          <p:nvPr/>
        </p:nvSpPr>
        <p:spPr>
          <a:xfrm>
            <a:off x="8311362" y="4434582"/>
            <a:ext cx="738664" cy="417750"/>
          </a:xfrm>
          <a:prstGeom prst="rect">
            <a:avLst/>
          </a:prstGeom>
          <a:noFill/>
        </p:spPr>
        <p:txBody>
          <a:bodyPr vert="eaVert" wrap="square" rtlCol="0">
            <a:spAutoFit/>
          </a:bodyPr>
          <a:lstStyle/>
          <a:p>
            <a:r>
              <a:rPr lang="zh-CN" altLang="en-US" dirty="0"/>
              <a:t>空闲</a:t>
            </a:r>
          </a:p>
        </p:txBody>
      </p:sp>
      <p:sp>
        <p:nvSpPr>
          <p:cNvPr id="40" name="右大括号 39"/>
          <p:cNvSpPr/>
          <p:nvPr/>
        </p:nvSpPr>
        <p:spPr>
          <a:xfrm>
            <a:off x="8163937" y="4322348"/>
            <a:ext cx="212655" cy="5299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Rectangle 2">
            <a:extLst>
              <a:ext uri="{FF2B5EF4-FFF2-40B4-BE49-F238E27FC236}">
                <a16:creationId xmlns:a16="http://schemas.microsoft.com/office/drawing/2014/main" id="{FAD3E35D-032E-5A21-BE62-64EB17131417}"/>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4" name="矩形 3">
            <a:extLst>
              <a:ext uri="{FF2B5EF4-FFF2-40B4-BE49-F238E27FC236}">
                <a16:creationId xmlns:a16="http://schemas.microsoft.com/office/drawing/2014/main" id="{121132CE-C0D4-B44B-B49F-5039FA2CEA91}"/>
              </a:ext>
            </a:extLst>
          </p:cNvPr>
          <p:cNvSpPr/>
          <p:nvPr/>
        </p:nvSpPr>
        <p:spPr>
          <a:xfrm>
            <a:off x="195716" y="892085"/>
            <a:ext cx="69685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2.2.1 </a:t>
            </a:r>
            <a:r>
              <a:rPr lang="zh-CN" altLang="en-US" sz="2800" b="1" dirty="0">
                <a:solidFill>
                  <a:schemeClr val="bg1"/>
                </a:solidFill>
                <a:latin typeface="经典粗黑简" pitchFamily="49" charset="-122"/>
                <a:ea typeface="经典粗黑简" pitchFamily="49" charset="-122"/>
                <a:cs typeface="经典粗黑简" pitchFamily="49" charset="-122"/>
              </a:rPr>
              <a:t>线性表的顺序存储结构</a:t>
            </a:r>
            <a:r>
              <a:rPr lang="en-US" altLang="zh-CN" sz="2800" b="1" dirty="0">
                <a:solidFill>
                  <a:schemeClr val="bg1"/>
                </a:solidFill>
                <a:latin typeface="经典粗黑简" pitchFamily="49" charset="-122"/>
                <a:ea typeface="经典粗黑简" pitchFamily="49" charset="-122"/>
                <a:cs typeface="经典粗黑简" pitchFamily="49" charset="-122"/>
              </a:rPr>
              <a:t>——</a:t>
            </a:r>
            <a:r>
              <a:rPr lang="zh-CN" altLang="en-US" sz="2800" b="1" dirty="0">
                <a:solidFill>
                  <a:schemeClr val="bg1"/>
                </a:solidFill>
                <a:latin typeface="经典粗黑简" pitchFamily="49" charset="-122"/>
                <a:ea typeface="经典粗黑简" pitchFamily="49" charset="-122"/>
                <a:cs typeface="经典粗黑简" pitchFamily="49" charset="-122"/>
              </a:rPr>
              <a:t>顺序表</a:t>
            </a:r>
          </a:p>
        </p:txBody>
      </p:sp>
      <p:sp>
        <p:nvSpPr>
          <p:cNvPr id="5" name="矩形 4">
            <a:extLst>
              <a:ext uri="{FF2B5EF4-FFF2-40B4-BE49-F238E27FC236}">
                <a16:creationId xmlns:a16="http://schemas.microsoft.com/office/drawing/2014/main" id="{00A7A93A-AF0D-C191-F75D-0EDB9FE8D32D}"/>
              </a:ext>
            </a:extLst>
          </p:cNvPr>
          <p:cNvSpPr/>
          <p:nvPr/>
        </p:nvSpPr>
        <p:spPr>
          <a:xfrm>
            <a:off x="1043844" y="1478711"/>
            <a:ext cx="7560604" cy="1015663"/>
          </a:xfrm>
          <a:prstGeom prst="rect">
            <a:avLst/>
          </a:prstGeom>
        </p:spPr>
        <p:txBody>
          <a:bodyPr wrap="square">
            <a:spAutoFit/>
          </a:bodyPr>
          <a:lstStyle/>
          <a:p>
            <a:r>
              <a:rPr lang="zh-CN" altLang="zh-CN" sz="2000" dirty="0">
                <a:solidFill>
                  <a:srgbClr val="FF0000"/>
                </a:solidFill>
                <a:latin typeface="微软雅黑" pitchFamily="34" charset="-122"/>
                <a:ea typeface="微软雅黑" pitchFamily="34" charset="-122"/>
                <a:cs typeface="经典粗黑简" pitchFamily="49" charset="-122"/>
              </a:rPr>
              <a:t>顺序表</a:t>
            </a:r>
            <a:r>
              <a:rPr lang="zh-CN" altLang="en-US" sz="2000" dirty="0">
                <a:solidFill>
                  <a:srgbClr val="FF0000"/>
                </a:solidFill>
                <a:latin typeface="微软雅黑" pitchFamily="34" charset="-122"/>
                <a:ea typeface="微软雅黑" pitchFamily="34" charset="-122"/>
                <a:cs typeface="经典粗黑简" pitchFamily="49" charset="-122"/>
              </a:rPr>
              <a:t>（</a:t>
            </a:r>
            <a:r>
              <a:rPr lang="en-US" altLang="zh-CN" sz="2000" dirty="0">
                <a:solidFill>
                  <a:srgbClr val="FF0000"/>
                </a:solidFill>
                <a:latin typeface="微软雅黑" pitchFamily="34" charset="-122"/>
                <a:ea typeface="微软雅黑" pitchFamily="34" charset="-122"/>
                <a:cs typeface="经典粗黑简" pitchFamily="49" charset="-122"/>
              </a:rPr>
              <a:t>Sequence List</a:t>
            </a:r>
            <a:r>
              <a:rPr lang="zh-CN" altLang="en-US" sz="2000" dirty="0">
                <a:solidFill>
                  <a:srgbClr val="FF0000"/>
                </a:solidFill>
                <a:latin typeface="微软雅黑" pitchFamily="34" charset="-122"/>
                <a:ea typeface="微软雅黑" pitchFamily="34" charset="-122"/>
                <a:cs typeface="经典粗黑简" pitchFamily="49" charset="-122"/>
              </a:rPr>
              <a:t>）</a:t>
            </a:r>
            <a:r>
              <a:rPr lang="en-US" altLang="zh-CN" sz="2000" dirty="0">
                <a:solidFill>
                  <a:srgbClr val="FF0000"/>
                </a:solidFill>
                <a:latin typeface="微软雅黑" pitchFamily="34" charset="-122"/>
                <a:ea typeface="微软雅黑" pitchFamily="34" charset="-122"/>
                <a:cs typeface="经典粗黑简" pitchFamily="49" charset="-122"/>
              </a:rPr>
              <a:t>:</a:t>
            </a:r>
            <a:r>
              <a:rPr lang="zh-CN" altLang="zh-CN" sz="2000" dirty="0">
                <a:latin typeface="微软雅黑" pitchFamily="34" charset="-122"/>
                <a:ea typeface="微软雅黑" pitchFamily="34" charset="-122"/>
                <a:cs typeface="经典粗黑简" pitchFamily="49" charset="-122"/>
              </a:rPr>
              <a:t>是指用顺序存储结构</a:t>
            </a:r>
            <a:r>
              <a:rPr lang="zh-CN" altLang="en-US" sz="2000" dirty="0">
                <a:latin typeface="微软雅黑" pitchFamily="34" charset="-122"/>
                <a:ea typeface="微软雅黑" pitchFamily="34" charset="-122"/>
                <a:cs typeface="经典粗黑简" pitchFamily="49" charset="-122"/>
              </a:rPr>
              <a:t>表示</a:t>
            </a:r>
            <a:r>
              <a:rPr lang="zh-CN" altLang="zh-CN" sz="2000" dirty="0">
                <a:latin typeface="微软雅黑" pitchFamily="34" charset="-122"/>
                <a:ea typeface="微软雅黑" pitchFamily="34" charset="-122"/>
                <a:cs typeface="经典粗黑简" pitchFamily="49" charset="-122"/>
              </a:rPr>
              <a:t>的线性表</a:t>
            </a:r>
            <a:r>
              <a:rPr lang="zh-CN" altLang="en-US" sz="2000" dirty="0">
                <a:latin typeface="微软雅黑" pitchFamily="34" charset="-122"/>
                <a:ea typeface="微软雅黑" pitchFamily="34" charset="-122"/>
                <a:cs typeface="经典粗黑简" pitchFamily="49" charset="-122"/>
              </a:rPr>
              <a:t>，</a:t>
            </a:r>
            <a:r>
              <a:rPr lang="zh-CN" altLang="zh-CN" sz="2000" dirty="0">
                <a:latin typeface="微软雅黑" pitchFamily="34" charset="-122"/>
                <a:ea typeface="微软雅黑" pitchFamily="34" charset="-122"/>
                <a:cs typeface="经典粗黑简" pitchFamily="49" charset="-122"/>
              </a:rPr>
              <a:t>它利用内存中</a:t>
            </a:r>
            <a:r>
              <a:rPr lang="zh-CN" altLang="zh-CN" sz="2000" dirty="0">
                <a:solidFill>
                  <a:srgbClr val="FF0000"/>
                </a:solidFill>
                <a:latin typeface="微软雅黑" pitchFamily="34" charset="-122"/>
                <a:ea typeface="微软雅黑" pitchFamily="34" charset="-122"/>
                <a:cs typeface="经典粗黑简" pitchFamily="49" charset="-122"/>
              </a:rPr>
              <a:t>起始位置确定</a:t>
            </a:r>
            <a:r>
              <a:rPr lang="zh-CN" altLang="zh-CN" sz="2000" dirty="0">
                <a:latin typeface="微软雅黑" pitchFamily="34" charset="-122"/>
                <a:ea typeface="微软雅黑" pitchFamily="34" charset="-122"/>
                <a:cs typeface="经典粗黑简" pitchFamily="49" charset="-122"/>
              </a:rPr>
              <a:t>的</a:t>
            </a:r>
            <a:r>
              <a:rPr lang="zh-CN" altLang="en-US" sz="2000" dirty="0">
                <a:solidFill>
                  <a:srgbClr val="FF0000"/>
                </a:solidFill>
                <a:latin typeface="微软雅黑" pitchFamily="34" charset="-122"/>
                <a:ea typeface="微软雅黑" pitchFamily="34" charset="-122"/>
                <a:cs typeface="经典粗黑简" pitchFamily="49" charset="-122"/>
              </a:rPr>
              <a:t>地址</a:t>
            </a:r>
            <a:r>
              <a:rPr lang="zh-CN" altLang="zh-CN" sz="2000" dirty="0">
                <a:solidFill>
                  <a:srgbClr val="FF0000"/>
                </a:solidFill>
                <a:latin typeface="微软雅黑" pitchFamily="34" charset="-122"/>
                <a:ea typeface="微软雅黑" pitchFamily="34" charset="-122"/>
                <a:cs typeface="经典粗黑简" pitchFamily="49" charset="-122"/>
              </a:rPr>
              <a:t>连续</a:t>
            </a:r>
            <a:r>
              <a:rPr lang="zh-CN" altLang="en-US" sz="2000" dirty="0">
                <a:latin typeface="微软雅黑" pitchFamily="34" charset="-122"/>
                <a:ea typeface="微软雅黑" pitchFamily="34" charset="-122"/>
                <a:cs typeface="经典粗黑简" pitchFamily="49" charset="-122"/>
              </a:rPr>
              <a:t>的</a:t>
            </a:r>
            <a:r>
              <a:rPr lang="zh-CN" altLang="zh-CN" sz="2000" dirty="0">
                <a:solidFill>
                  <a:srgbClr val="FF0000"/>
                </a:solidFill>
                <a:latin typeface="微软雅黑" pitchFamily="34" charset="-122"/>
                <a:ea typeface="微软雅黑" pitchFamily="34" charset="-122"/>
                <a:cs typeface="经典粗黑简" pitchFamily="49" charset="-122"/>
              </a:rPr>
              <a:t>一片</a:t>
            </a:r>
            <a:r>
              <a:rPr lang="zh-CN" altLang="zh-CN" sz="2000" dirty="0">
                <a:latin typeface="微软雅黑" pitchFamily="34" charset="-122"/>
                <a:ea typeface="微软雅黑" pitchFamily="34" charset="-122"/>
                <a:cs typeface="经典粗黑简" pitchFamily="49" charset="-122"/>
              </a:rPr>
              <a:t>存储区域来存放线性表中的所有</a:t>
            </a:r>
            <a:r>
              <a:rPr lang="zh-CN" altLang="en-US" sz="2000" dirty="0">
                <a:latin typeface="微软雅黑" pitchFamily="34" charset="-122"/>
                <a:ea typeface="微软雅黑" pitchFamily="34" charset="-122"/>
                <a:cs typeface="经典粗黑简" pitchFamily="49" charset="-122"/>
              </a:rPr>
              <a:t>数据</a:t>
            </a:r>
            <a:r>
              <a:rPr lang="zh-CN" altLang="zh-CN" sz="2000" dirty="0">
                <a:latin typeface="微软雅黑" pitchFamily="34" charset="-122"/>
                <a:ea typeface="微软雅黑" pitchFamily="34" charset="-122"/>
                <a:cs typeface="经典粗黑简" pitchFamily="49" charset="-122"/>
              </a:rPr>
              <a:t>元素。</a:t>
            </a:r>
            <a:endParaRPr lang="zh-CN" altLang="en-US" sz="2000" dirty="0">
              <a:latin typeface="微软雅黑" pitchFamily="34" charset="-122"/>
              <a:ea typeface="微软雅黑" pitchFamily="34" charset="-122"/>
              <a:cs typeface="经典粗黑简" pitchFamily="49" charset="-122"/>
            </a:endParaRPr>
          </a:p>
        </p:txBody>
      </p:sp>
      <p:graphicFrame>
        <p:nvGraphicFramePr>
          <p:cNvPr id="6" name="表格 5">
            <a:extLst>
              <a:ext uri="{FF2B5EF4-FFF2-40B4-BE49-F238E27FC236}">
                <a16:creationId xmlns:a16="http://schemas.microsoft.com/office/drawing/2014/main" id="{CFB31ADF-CC60-96DB-F418-40BABE132925}"/>
              </a:ext>
            </a:extLst>
          </p:cNvPr>
          <p:cNvGraphicFramePr>
            <a:graphicFrameLocks noGrp="1"/>
          </p:cNvGraphicFramePr>
          <p:nvPr>
            <p:extLst>
              <p:ext uri="{D42A27DB-BD31-4B8C-83A1-F6EECF244321}">
                <p14:modId xmlns:p14="http://schemas.microsoft.com/office/powerpoint/2010/main" val="1942312240"/>
              </p:ext>
            </p:extLst>
          </p:nvPr>
        </p:nvGraphicFramePr>
        <p:xfrm>
          <a:off x="4957773" y="2628233"/>
          <a:ext cx="1776548" cy="2463797"/>
        </p:xfrm>
        <a:graphic>
          <a:graphicData uri="http://schemas.openxmlformats.org/drawingml/2006/table">
            <a:tbl>
              <a:tblPr firstRow="1" bandRow="1">
                <a:tableStyleId>{2D5ABB26-0587-4C30-8999-92F81FD0307C}</a:tableStyleId>
              </a:tblPr>
              <a:tblGrid>
                <a:gridCol w="1776548">
                  <a:extLst>
                    <a:ext uri="{9D8B030D-6E8A-4147-A177-3AD203B41FA5}">
                      <a16:colId xmlns:a16="http://schemas.microsoft.com/office/drawing/2014/main" val="20000"/>
                    </a:ext>
                  </a:extLst>
                </a:gridCol>
              </a:tblGrid>
              <a:tr h="283391">
                <a:tc>
                  <a:txBody>
                    <a:bodyPr/>
                    <a:lstStyle/>
                    <a:p>
                      <a:pPr marL="0" algn="r" defTabSz="914400" rtl="0" eaLnBrk="1" latinLnBrk="0" hangingPunct="1"/>
                      <a:r>
                        <a:rPr lang="en-US" altLang="zh-CN" sz="1400" kern="1200" dirty="0">
                          <a:solidFill>
                            <a:schemeClr val="tx1"/>
                          </a:solidFill>
                          <a:latin typeface="Chaparral Pro Light" pitchFamily="18" charset="0"/>
                          <a:ea typeface="+mn-ea"/>
                          <a:cs typeface="+mn-cs"/>
                        </a:rPr>
                        <a:t>b</a:t>
                      </a:r>
                      <a:endParaRPr lang="zh-CN" altLang="en-US" sz="1400" kern="1200" dirty="0">
                        <a:solidFill>
                          <a:schemeClr val="tx1"/>
                        </a:solidFill>
                        <a:latin typeface="Chaparral Pro Light" pitchFamily="18" charset="0"/>
                        <a:ea typeface="+mn-ea"/>
                        <a:cs typeface="+mn-cs"/>
                      </a:endParaRPr>
                    </a:p>
                  </a:txBody>
                  <a:tcPr marL="0" marR="180000" marT="34290" marB="34290"/>
                </a:tc>
                <a:extLst>
                  <a:ext uri="{0D108BD9-81ED-4DB2-BD59-A6C34878D82A}">
                    <a16:rowId xmlns:a16="http://schemas.microsoft.com/office/drawing/2014/main" val="10000"/>
                  </a:ext>
                </a:extLst>
              </a:tr>
              <a:tr h="283391">
                <a:tc>
                  <a:txBody>
                    <a:bodyPr/>
                    <a:lstStyle/>
                    <a:p>
                      <a:pPr algn="r"/>
                      <a:r>
                        <a:rPr lang="en-US" altLang="zh-CN" sz="1400" dirty="0" err="1">
                          <a:latin typeface="Chaparral Pro Light" pitchFamily="18" charset="0"/>
                        </a:rPr>
                        <a:t>b+l</a:t>
                      </a:r>
                      <a:endParaRPr lang="zh-CN" altLang="en-US" sz="1400" dirty="0">
                        <a:latin typeface="Chaparral Pro Light" pitchFamily="18" charset="0"/>
                      </a:endParaRPr>
                    </a:p>
                  </a:txBody>
                  <a:tcPr marL="0" marR="180000" marT="34290" marB="34290"/>
                </a:tc>
                <a:extLst>
                  <a:ext uri="{0D108BD9-81ED-4DB2-BD59-A6C34878D82A}">
                    <a16:rowId xmlns:a16="http://schemas.microsoft.com/office/drawing/2014/main" val="10001"/>
                  </a:ext>
                </a:extLst>
              </a:tr>
              <a:tr h="283391">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L="0" marR="180000" marT="34290" marB="34290"/>
                </a:tc>
                <a:extLst>
                  <a:ext uri="{0D108BD9-81ED-4DB2-BD59-A6C34878D82A}">
                    <a16:rowId xmlns:a16="http://schemas.microsoft.com/office/drawing/2014/main" val="10002"/>
                  </a:ext>
                </a:extLst>
              </a:tr>
              <a:tr h="283391">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1400" dirty="0">
                          <a:latin typeface="Chaparral Pro Light" pitchFamily="18" charset="0"/>
                        </a:rPr>
                        <a:t>b+(i-1)l</a:t>
                      </a:r>
                      <a:endParaRPr lang="zh-CN" altLang="en-US" sz="1400" dirty="0">
                        <a:latin typeface="Chaparral Pro Light" pitchFamily="18" charset="0"/>
                      </a:endParaRPr>
                    </a:p>
                  </a:txBody>
                  <a:tcPr marL="0" marR="180000" marT="34290" marB="34290"/>
                </a:tc>
                <a:extLst>
                  <a:ext uri="{0D108BD9-81ED-4DB2-BD59-A6C34878D82A}">
                    <a16:rowId xmlns:a16="http://schemas.microsoft.com/office/drawing/2014/main" val="10003"/>
                  </a:ext>
                </a:extLst>
              </a:tr>
              <a:tr h="283391">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L="0" marR="180000" marT="34290" marB="34290"/>
                </a:tc>
                <a:extLst>
                  <a:ext uri="{0D108BD9-81ED-4DB2-BD59-A6C34878D82A}">
                    <a16:rowId xmlns:a16="http://schemas.microsoft.com/office/drawing/2014/main" val="10004"/>
                  </a:ext>
                </a:extLst>
              </a:tr>
              <a:tr h="283391">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1400" dirty="0">
                          <a:latin typeface="Chaparral Pro Light" pitchFamily="18" charset="0"/>
                        </a:rPr>
                        <a:t>b+(n-1)l</a:t>
                      </a:r>
                      <a:endParaRPr lang="zh-CN" altLang="en-US" sz="1400" dirty="0">
                        <a:latin typeface="Chaparral Pro Light" pitchFamily="18" charset="0"/>
                      </a:endParaRPr>
                    </a:p>
                  </a:txBody>
                  <a:tcPr marL="0" marR="180000" marT="34290" marB="34290"/>
                </a:tc>
                <a:extLst>
                  <a:ext uri="{0D108BD9-81ED-4DB2-BD59-A6C34878D82A}">
                    <a16:rowId xmlns:a16="http://schemas.microsoft.com/office/drawing/2014/main" val="10005"/>
                  </a:ext>
                </a:extLst>
              </a:tr>
              <a:tr h="283391">
                <a:tc>
                  <a:txBody>
                    <a:bodyPr/>
                    <a:lstStyle/>
                    <a:p>
                      <a:pPr algn="r"/>
                      <a:endParaRPr lang="zh-CN" altLang="en-US" sz="1400" dirty="0"/>
                    </a:p>
                  </a:txBody>
                  <a:tcPr marL="0" marR="180000" marT="34290" marB="34290"/>
                </a:tc>
                <a:extLst>
                  <a:ext uri="{0D108BD9-81ED-4DB2-BD59-A6C34878D82A}">
                    <a16:rowId xmlns:a16="http://schemas.microsoft.com/office/drawing/2014/main" val="10006"/>
                  </a:ext>
                </a:extLst>
              </a:tr>
              <a:tr h="48006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1400" dirty="0">
                          <a:latin typeface="Chaparral Pro Light" pitchFamily="18" charset="0"/>
                        </a:rPr>
                        <a:t>b+(</a:t>
                      </a:r>
                      <a:r>
                        <a:rPr lang="en-US" altLang="zh-CN" sz="1400" kern="1200" dirty="0">
                          <a:solidFill>
                            <a:schemeClr val="tx1"/>
                          </a:solidFill>
                          <a:latin typeface="Chaparral Pro Light" pitchFamily="18" charset="0"/>
                          <a:ea typeface="+mn-ea"/>
                          <a:cs typeface="+mn-cs"/>
                        </a:rPr>
                        <a:t>MaxSize</a:t>
                      </a:r>
                      <a:r>
                        <a:rPr lang="en-US" altLang="zh-CN" sz="1400" dirty="0">
                          <a:latin typeface="Chaparral Pro Light" pitchFamily="18" charset="0"/>
                        </a:rPr>
                        <a:t>-1)l</a:t>
                      </a:r>
                      <a:endParaRPr lang="zh-CN" altLang="en-US" sz="1400" dirty="0">
                        <a:latin typeface="Chaparral Pro Light" pitchFamily="18" charset="0"/>
                      </a:endParaRPr>
                    </a:p>
                  </a:txBody>
                  <a:tcPr marL="0" marR="180000" marT="34290" marB="34290"/>
                </a:tc>
                <a:extLst>
                  <a:ext uri="{0D108BD9-81ED-4DB2-BD59-A6C34878D82A}">
                    <a16:rowId xmlns:a16="http://schemas.microsoft.com/office/drawing/2014/main" val="10007"/>
                  </a:ext>
                </a:extLst>
              </a:tr>
            </a:tbl>
          </a:graphicData>
        </a:graphic>
      </p:graphicFrame>
      <p:sp>
        <p:nvSpPr>
          <p:cNvPr id="2" name="矩形 1">
            <a:extLst>
              <a:ext uri="{FF2B5EF4-FFF2-40B4-BE49-F238E27FC236}">
                <a16:creationId xmlns:a16="http://schemas.microsoft.com/office/drawing/2014/main" id="{3CA92BB8-8F4F-B6EB-81F7-3048525C3B7A}"/>
              </a:ext>
            </a:extLst>
          </p:cNvPr>
          <p:cNvSpPr/>
          <p:nvPr/>
        </p:nvSpPr>
        <p:spPr>
          <a:xfrm>
            <a:off x="5532254" y="2325097"/>
            <a:ext cx="1005403" cy="338554"/>
          </a:xfrm>
          <a:prstGeom prst="rect">
            <a:avLst/>
          </a:prstGeom>
        </p:spPr>
        <p:txBody>
          <a:bodyPr wrap="none">
            <a:spAutoFit/>
          </a:bodyPr>
          <a:lstStyle/>
          <a:p>
            <a:r>
              <a:rPr lang="zh-CN" altLang="zh-CN" sz="1600" dirty="0"/>
              <a:t>存储首址</a:t>
            </a:r>
          </a:p>
        </p:txBody>
      </p:sp>
      <p:sp>
        <p:nvSpPr>
          <p:cNvPr id="7" name="矩形 6">
            <a:extLst>
              <a:ext uri="{FF2B5EF4-FFF2-40B4-BE49-F238E27FC236}">
                <a16:creationId xmlns:a16="http://schemas.microsoft.com/office/drawing/2014/main" id="{D8CDF323-299C-29F9-D17B-4C1A25290427}"/>
              </a:ext>
            </a:extLst>
          </p:cNvPr>
          <p:cNvSpPr/>
          <p:nvPr/>
        </p:nvSpPr>
        <p:spPr>
          <a:xfrm>
            <a:off x="6593026" y="2302693"/>
            <a:ext cx="1005403" cy="338554"/>
          </a:xfrm>
          <a:prstGeom prst="rect">
            <a:avLst/>
          </a:prstGeom>
        </p:spPr>
        <p:txBody>
          <a:bodyPr wrap="none">
            <a:spAutoFit/>
          </a:bodyPr>
          <a:lstStyle/>
          <a:p>
            <a:r>
              <a:rPr lang="zh-CN" altLang="en-US" sz="1600" dirty="0"/>
              <a:t>内存状态</a:t>
            </a:r>
            <a:endParaRPr lang="zh-CN" altLang="zh-CN" sz="1600" dirty="0"/>
          </a:p>
        </p:txBody>
      </p:sp>
      <p:sp>
        <p:nvSpPr>
          <p:cNvPr id="8" name="矩形 7">
            <a:extLst>
              <a:ext uri="{FF2B5EF4-FFF2-40B4-BE49-F238E27FC236}">
                <a16:creationId xmlns:a16="http://schemas.microsoft.com/office/drawing/2014/main" id="{53079DCC-D327-A6F4-9415-786DD3A5F7EC}"/>
              </a:ext>
            </a:extLst>
          </p:cNvPr>
          <p:cNvSpPr/>
          <p:nvPr/>
        </p:nvSpPr>
        <p:spPr>
          <a:xfrm>
            <a:off x="7527056" y="2289679"/>
            <a:ext cx="595035" cy="338554"/>
          </a:xfrm>
          <a:prstGeom prst="rect">
            <a:avLst/>
          </a:prstGeom>
        </p:spPr>
        <p:txBody>
          <a:bodyPr wrap="none">
            <a:spAutoFit/>
          </a:bodyPr>
          <a:lstStyle/>
          <a:p>
            <a:r>
              <a:rPr lang="zh-CN" altLang="en-US" sz="1600" dirty="0"/>
              <a:t>位序</a:t>
            </a:r>
            <a:endParaRPr lang="zh-CN" altLang="zh-CN" sz="1600" dirty="0"/>
          </a:p>
        </p:txBody>
      </p:sp>
      <p:graphicFrame>
        <p:nvGraphicFramePr>
          <p:cNvPr id="9" name="表格 8">
            <a:extLst>
              <a:ext uri="{FF2B5EF4-FFF2-40B4-BE49-F238E27FC236}">
                <a16:creationId xmlns:a16="http://schemas.microsoft.com/office/drawing/2014/main" id="{2B689345-13B9-D603-A520-4DAB584E3E82}"/>
              </a:ext>
            </a:extLst>
          </p:cNvPr>
          <p:cNvGraphicFramePr>
            <a:graphicFrameLocks noGrp="1"/>
          </p:cNvGraphicFramePr>
          <p:nvPr>
            <p:extLst>
              <p:ext uri="{D42A27DB-BD31-4B8C-83A1-F6EECF244321}">
                <p14:modId xmlns:p14="http://schemas.microsoft.com/office/powerpoint/2010/main" val="810128791"/>
              </p:ext>
            </p:extLst>
          </p:nvPr>
        </p:nvGraphicFramePr>
        <p:xfrm>
          <a:off x="7457133" y="2621155"/>
          <a:ext cx="705395" cy="2267128"/>
        </p:xfrm>
        <a:graphic>
          <a:graphicData uri="http://schemas.openxmlformats.org/drawingml/2006/table">
            <a:tbl>
              <a:tblPr firstRow="1" bandRow="1">
                <a:tableStyleId>{2D5ABB26-0587-4C30-8999-92F81FD0307C}</a:tableStyleId>
              </a:tblPr>
              <a:tblGrid>
                <a:gridCol w="705395">
                  <a:extLst>
                    <a:ext uri="{9D8B030D-6E8A-4147-A177-3AD203B41FA5}">
                      <a16:colId xmlns:a16="http://schemas.microsoft.com/office/drawing/2014/main" val="20000"/>
                    </a:ext>
                  </a:extLst>
                </a:gridCol>
              </a:tblGrid>
              <a:tr h="283391">
                <a:tc>
                  <a:txBody>
                    <a:bodyPr/>
                    <a:lstStyle/>
                    <a:p>
                      <a:pPr algn="ctr"/>
                      <a:r>
                        <a:rPr lang="en-US" altLang="zh-CN" sz="1400" dirty="0"/>
                        <a:t>1</a:t>
                      </a:r>
                      <a:endParaRPr lang="zh-CN" altLang="en-US" sz="1400" dirty="0"/>
                    </a:p>
                  </a:txBody>
                  <a:tcPr marT="34290" marB="34290"/>
                </a:tc>
                <a:extLst>
                  <a:ext uri="{0D108BD9-81ED-4DB2-BD59-A6C34878D82A}">
                    <a16:rowId xmlns:a16="http://schemas.microsoft.com/office/drawing/2014/main" val="10000"/>
                  </a:ext>
                </a:extLst>
              </a:tr>
              <a:tr h="283391">
                <a:tc>
                  <a:txBody>
                    <a:bodyPr/>
                    <a:lstStyle/>
                    <a:p>
                      <a:pPr algn="ctr"/>
                      <a:r>
                        <a:rPr lang="en-US" altLang="zh-CN" sz="1400" dirty="0"/>
                        <a:t>2</a:t>
                      </a:r>
                      <a:endParaRPr lang="zh-CN" altLang="en-US" sz="1400" dirty="0"/>
                    </a:p>
                  </a:txBody>
                  <a:tcPr marT="34290" marB="34290"/>
                </a:tc>
                <a:extLst>
                  <a:ext uri="{0D108BD9-81ED-4DB2-BD59-A6C34878D82A}">
                    <a16:rowId xmlns:a16="http://schemas.microsoft.com/office/drawing/2014/main" val="10001"/>
                  </a:ext>
                </a:extLst>
              </a:tr>
              <a:tr h="283391">
                <a:tc>
                  <a:txBody>
                    <a:bodyPr/>
                    <a:lstStyle/>
                    <a:p>
                      <a:pPr algn="ctr"/>
                      <a:r>
                        <a:rPr lang="en-US" altLang="zh-CN" sz="1400" dirty="0"/>
                        <a:t>……</a:t>
                      </a:r>
                      <a:endParaRPr lang="zh-CN" altLang="en-US" sz="1400" dirty="0"/>
                    </a:p>
                  </a:txBody>
                  <a:tcPr marT="34290" marB="34290"/>
                </a:tc>
                <a:extLst>
                  <a:ext uri="{0D108BD9-81ED-4DB2-BD59-A6C34878D82A}">
                    <a16:rowId xmlns:a16="http://schemas.microsoft.com/office/drawing/2014/main" val="10002"/>
                  </a:ext>
                </a:extLst>
              </a:tr>
              <a:tr h="283391">
                <a:tc>
                  <a:txBody>
                    <a:bodyPr/>
                    <a:lstStyle/>
                    <a:p>
                      <a:pPr algn="ctr"/>
                      <a:r>
                        <a:rPr lang="en-US" altLang="zh-CN" sz="1400" dirty="0"/>
                        <a:t>i</a:t>
                      </a:r>
                      <a:endParaRPr lang="zh-CN" altLang="en-US" sz="1400" dirty="0"/>
                    </a:p>
                  </a:txBody>
                  <a:tcPr marT="34290" marB="34290"/>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tc>
                <a:extLst>
                  <a:ext uri="{0D108BD9-81ED-4DB2-BD59-A6C34878D82A}">
                    <a16:rowId xmlns:a16="http://schemas.microsoft.com/office/drawing/2014/main" val="10004"/>
                  </a:ext>
                </a:extLst>
              </a:tr>
              <a:tr h="283391">
                <a:tc>
                  <a:txBody>
                    <a:bodyPr/>
                    <a:lstStyle/>
                    <a:p>
                      <a:pPr algn="ctr"/>
                      <a:r>
                        <a:rPr lang="en-US" altLang="zh-CN" sz="1400" dirty="0"/>
                        <a:t>n</a:t>
                      </a:r>
                      <a:endParaRPr lang="zh-CN" altLang="en-US" sz="1400" dirty="0"/>
                    </a:p>
                  </a:txBody>
                  <a:tcPr marT="34290" marB="34290"/>
                </a:tc>
                <a:extLst>
                  <a:ext uri="{0D108BD9-81ED-4DB2-BD59-A6C34878D82A}">
                    <a16:rowId xmlns:a16="http://schemas.microsoft.com/office/drawing/2014/main" val="10005"/>
                  </a:ext>
                </a:extLst>
              </a:tr>
              <a:tr h="283391">
                <a:tc>
                  <a:txBody>
                    <a:bodyPr/>
                    <a:lstStyle/>
                    <a:p>
                      <a:pPr algn="ctr"/>
                      <a:endParaRPr lang="zh-CN" altLang="en-US" sz="1400" dirty="0"/>
                    </a:p>
                  </a:txBody>
                  <a:tcPr marT="34290" marB="34290"/>
                </a:tc>
                <a:extLst>
                  <a:ext uri="{0D108BD9-81ED-4DB2-BD59-A6C34878D82A}">
                    <a16:rowId xmlns:a16="http://schemas.microsoft.com/office/drawing/2014/main" val="10006"/>
                  </a:ext>
                </a:extLst>
              </a:tr>
              <a:tr h="283391">
                <a:tc>
                  <a:txBody>
                    <a:bodyPr/>
                    <a:lstStyle/>
                    <a:p>
                      <a:pPr algn="ctr"/>
                      <a:r>
                        <a:rPr lang="en-US" altLang="zh-CN" sz="800" kern="1200" dirty="0" err="1">
                          <a:effectLst/>
                        </a:rPr>
                        <a:t>MaxSize</a:t>
                      </a:r>
                      <a:endParaRPr lang="zh-CN" altLang="en-US" sz="800" dirty="0"/>
                    </a:p>
                  </a:txBody>
                  <a:tcPr marT="34290" marB="3429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39707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直接连接符 21"/>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513731" y="2620015"/>
            <a:ext cx="2190205" cy="400110"/>
          </a:xfrm>
          <a:prstGeom prst="rect">
            <a:avLst/>
          </a:prstGeom>
        </p:spPr>
        <p:txBody>
          <a:bodyPr wrap="square">
            <a:spAutoFit/>
          </a:bodyPr>
          <a:lstStyle/>
          <a:p>
            <a:pPr>
              <a:spcBef>
                <a:spcPts val="13"/>
              </a:spcBef>
            </a:pPr>
            <a:r>
              <a:rPr lang="zh-CN" altLang="en-US" sz="2000" dirty="0">
                <a:latin typeface="微软雅黑" pitchFamily="34" charset="-122"/>
                <a:ea typeface="微软雅黑" pitchFamily="34" charset="-122"/>
                <a:cs typeface="经典粗黑简" pitchFamily="49" charset="-122"/>
              </a:rPr>
              <a:t>④、随机存取</a:t>
            </a:r>
          </a:p>
        </p:txBody>
      </p:sp>
      <p:sp>
        <p:nvSpPr>
          <p:cNvPr id="27" name="Rectangle 13"/>
          <p:cNvSpPr>
            <a:spLocks noChangeArrowheads="1"/>
          </p:cNvSpPr>
          <p:nvPr/>
        </p:nvSpPr>
        <p:spPr bwMode="auto">
          <a:xfrm>
            <a:off x="169339" y="2960000"/>
            <a:ext cx="5842821"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lstStyle/>
          <a:p>
            <a:pPr lvl="1" algn="l">
              <a:spcBef>
                <a:spcPts val="13"/>
              </a:spcBef>
            </a:pPr>
            <a:r>
              <a:rPr lang="en-US" altLang="zh-CN" sz="2400" b="1" dirty="0" err="1"/>
              <a:t>Loc</a:t>
            </a:r>
            <a:r>
              <a:rPr lang="en-US" altLang="zh-CN" sz="2400" b="1" dirty="0"/>
              <a:t>(</a:t>
            </a:r>
            <a:r>
              <a:rPr lang="en-US" altLang="zh-CN" sz="2400" b="1" dirty="0" err="1"/>
              <a:t>a</a:t>
            </a:r>
            <a:r>
              <a:rPr lang="en-US" altLang="zh-CN" sz="2400" b="1" baseline="-25000" dirty="0" err="1"/>
              <a:t>i</a:t>
            </a:r>
            <a:r>
              <a:rPr lang="en-US" altLang="zh-CN" sz="2400" b="1" dirty="0"/>
              <a:t>) = </a:t>
            </a:r>
            <a:r>
              <a:rPr lang="en-US" altLang="zh-CN" sz="2400" b="1" dirty="0" err="1"/>
              <a:t>Loc</a:t>
            </a:r>
            <a:r>
              <a:rPr lang="en-US" altLang="zh-CN" sz="2400" b="1" dirty="0"/>
              <a:t>(a</a:t>
            </a:r>
            <a:r>
              <a:rPr lang="en-US" altLang="zh-CN" sz="2400" b="1" baseline="-25000" dirty="0"/>
              <a:t>1</a:t>
            </a:r>
            <a:r>
              <a:rPr lang="en-US" altLang="zh-CN" sz="2400" b="1" dirty="0"/>
              <a:t>) + (i - 1) * </a:t>
            </a:r>
            <a:r>
              <a:rPr lang="en-US" altLang="zh-CN" sz="2400" b="1" dirty="0">
                <a:latin typeface="Vivaldi" pitchFamily="66" charset="0"/>
              </a:rPr>
              <a:t>l</a:t>
            </a:r>
            <a:r>
              <a:rPr lang="en-US" altLang="zh-CN" sz="2400" b="1" dirty="0"/>
              <a:t>     (1</a:t>
            </a:r>
            <a:r>
              <a:rPr lang="en-US" altLang="zh-CN" sz="2400" b="1" dirty="0">
                <a:latin typeface="宋体" pitchFamily="2" charset="-122"/>
              </a:rPr>
              <a:t>≤</a:t>
            </a:r>
            <a:r>
              <a:rPr lang="en-US" altLang="zh-CN" sz="2400" b="1" dirty="0"/>
              <a:t>i</a:t>
            </a:r>
            <a:r>
              <a:rPr lang="en-US" altLang="zh-CN" sz="2400" b="1" dirty="0">
                <a:latin typeface="宋体" pitchFamily="2" charset="-122"/>
              </a:rPr>
              <a:t>≤</a:t>
            </a:r>
            <a:r>
              <a:rPr lang="en-US" altLang="zh-CN" sz="2400" b="1" dirty="0"/>
              <a:t>n)</a:t>
            </a:r>
            <a:endParaRPr lang="zh-CN" altLang="en-US" sz="2400" b="1" dirty="0"/>
          </a:p>
        </p:txBody>
      </p:sp>
      <p:sp>
        <p:nvSpPr>
          <p:cNvPr id="28" name="矩形 27"/>
          <p:cNvSpPr/>
          <p:nvPr/>
        </p:nvSpPr>
        <p:spPr>
          <a:xfrm>
            <a:off x="513731" y="3381840"/>
            <a:ext cx="4922366" cy="1569660"/>
          </a:xfrm>
          <a:prstGeom prst="rect">
            <a:avLst/>
          </a:prstGeom>
        </p:spPr>
        <p:txBody>
          <a:bodyPr wrap="square">
            <a:spAutoFit/>
          </a:bodyPr>
          <a:lstStyle/>
          <a:p>
            <a:r>
              <a:rPr lang="zh-CN" altLang="zh-CN" dirty="0">
                <a:latin typeface="黑体" pitchFamily="49" charset="-122"/>
                <a:ea typeface="黑体" pitchFamily="49" charset="-122"/>
              </a:rPr>
              <a:t>只要知道线性表的起始地址</a:t>
            </a:r>
            <a:r>
              <a:rPr lang="en-US" altLang="zh-CN" dirty="0">
                <a:latin typeface="黑体" pitchFamily="49" charset="-122"/>
                <a:ea typeface="黑体" pitchFamily="49" charset="-122"/>
              </a:rPr>
              <a:t>LOC(a</a:t>
            </a:r>
            <a:r>
              <a:rPr lang="en-US" altLang="zh-CN" baseline="-25000" dirty="0">
                <a:latin typeface="黑体" pitchFamily="49" charset="-122"/>
                <a:ea typeface="黑体" pitchFamily="49" charset="-122"/>
              </a:rPr>
              <a:t>1</a:t>
            </a:r>
            <a:r>
              <a:rPr lang="en-US" altLang="zh-CN" dirty="0">
                <a:latin typeface="黑体" pitchFamily="49" charset="-122"/>
                <a:ea typeface="黑体" pitchFamily="49" charset="-122"/>
              </a:rPr>
              <a:t>)</a:t>
            </a:r>
            <a:r>
              <a:rPr lang="zh-CN" altLang="zh-CN" dirty="0">
                <a:latin typeface="黑体" pitchFamily="49" charset="-122"/>
                <a:ea typeface="黑体" pitchFamily="49" charset="-122"/>
              </a:rPr>
              <a:t>＝</a:t>
            </a:r>
            <a:r>
              <a:rPr lang="en-US" altLang="zh-CN" dirty="0">
                <a:latin typeface="黑体" pitchFamily="49" charset="-122"/>
                <a:ea typeface="黑体" pitchFamily="49" charset="-122"/>
              </a:rPr>
              <a:t>b</a:t>
            </a:r>
            <a:r>
              <a:rPr lang="zh-CN" altLang="zh-CN" dirty="0">
                <a:latin typeface="黑体" pitchFamily="49" charset="-122"/>
                <a:ea typeface="黑体" pitchFamily="49" charset="-122"/>
              </a:rPr>
              <a:t>和一个元素所占用的存储单元</a:t>
            </a:r>
            <a:r>
              <a:rPr lang="en-US" altLang="zh-CN" sz="2400" b="1" dirty="0">
                <a:latin typeface="Vivaldi" pitchFamily="66" charset="0"/>
              </a:rPr>
              <a:t> l</a:t>
            </a:r>
            <a:r>
              <a:rPr lang="zh-CN" altLang="zh-CN" dirty="0">
                <a:latin typeface="黑体" pitchFamily="49" charset="-122"/>
                <a:ea typeface="黑体" pitchFamily="49" charset="-122"/>
              </a:rPr>
              <a:t>，表中的任意一个元素的存储地址均可由上面的公式求得，且计算所花费的时间是一样的，所以，访问表中任意元素的时间相等，</a:t>
            </a:r>
            <a:r>
              <a:rPr lang="zh-CN" altLang="en-US" dirty="0">
                <a:latin typeface="黑体" pitchFamily="49" charset="-122"/>
                <a:ea typeface="黑体" pitchFamily="49" charset="-122"/>
              </a:rPr>
              <a:t>即</a:t>
            </a:r>
            <a:r>
              <a:rPr lang="zh-CN" altLang="zh-CN" dirty="0">
                <a:latin typeface="黑体" pitchFamily="49" charset="-122"/>
                <a:ea typeface="黑体" pitchFamily="49" charset="-122"/>
              </a:rPr>
              <a:t>可以随机存取。</a:t>
            </a:r>
            <a:endParaRPr lang="zh-CN" altLang="en-US" dirty="0">
              <a:latin typeface="黑体" pitchFamily="49" charset="-122"/>
              <a:ea typeface="黑体" pitchFamily="49" charset="-122"/>
            </a:endParaRPr>
          </a:p>
        </p:txBody>
      </p:sp>
      <p:sp>
        <p:nvSpPr>
          <p:cNvPr id="3" name="Rectangle 2">
            <a:extLst>
              <a:ext uri="{FF2B5EF4-FFF2-40B4-BE49-F238E27FC236}">
                <a16:creationId xmlns:a16="http://schemas.microsoft.com/office/drawing/2014/main" id="{92F0CB0C-B6DD-2F7E-5D31-B80B4CF8E3C9}"/>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4" name="矩形 3">
            <a:extLst>
              <a:ext uri="{FF2B5EF4-FFF2-40B4-BE49-F238E27FC236}">
                <a16:creationId xmlns:a16="http://schemas.microsoft.com/office/drawing/2014/main" id="{22A61AF4-F4DB-5C09-ADB7-8797D3001C8A}"/>
              </a:ext>
            </a:extLst>
          </p:cNvPr>
          <p:cNvSpPr/>
          <p:nvPr/>
        </p:nvSpPr>
        <p:spPr>
          <a:xfrm>
            <a:off x="195716" y="892085"/>
            <a:ext cx="69685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2.2.1 </a:t>
            </a:r>
            <a:r>
              <a:rPr lang="zh-CN" altLang="en-US" sz="2800" b="1" dirty="0">
                <a:solidFill>
                  <a:schemeClr val="bg1"/>
                </a:solidFill>
                <a:latin typeface="经典粗黑简" pitchFamily="49" charset="-122"/>
                <a:ea typeface="经典粗黑简" pitchFamily="49" charset="-122"/>
                <a:cs typeface="经典粗黑简" pitchFamily="49" charset="-122"/>
              </a:rPr>
              <a:t>线性表的顺序存储结构</a:t>
            </a:r>
            <a:r>
              <a:rPr lang="en-US" altLang="zh-CN" sz="2800" b="1" dirty="0">
                <a:solidFill>
                  <a:schemeClr val="bg1"/>
                </a:solidFill>
                <a:latin typeface="经典粗黑简" pitchFamily="49" charset="-122"/>
                <a:ea typeface="经典粗黑简" pitchFamily="49" charset="-122"/>
                <a:cs typeface="经典粗黑简" pitchFamily="49" charset="-122"/>
              </a:rPr>
              <a:t>——</a:t>
            </a:r>
            <a:r>
              <a:rPr lang="zh-CN" altLang="en-US" sz="2800" b="1" dirty="0">
                <a:solidFill>
                  <a:schemeClr val="bg1"/>
                </a:solidFill>
                <a:latin typeface="经典粗黑简" pitchFamily="49" charset="-122"/>
                <a:ea typeface="经典粗黑简" pitchFamily="49" charset="-122"/>
                <a:cs typeface="经典粗黑简" pitchFamily="49" charset="-122"/>
              </a:rPr>
              <a:t>顺序表</a:t>
            </a:r>
          </a:p>
        </p:txBody>
      </p:sp>
      <p:sp>
        <p:nvSpPr>
          <p:cNvPr id="5" name="矩形 4">
            <a:extLst>
              <a:ext uri="{FF2B5EF4-FFF2-40B4-BE49-F238E27FC236}">
                <a16:creationId xmlns:a16="http://schemas.microsoft.com/office/drawing/2014/main" id="{1E113C4E-6DAF-F428-5C8B-DA8CA972B310}"/>
              </a:ext>
            </a:extLst>
          </p:cNvPr>
          <p:cNvSpPr/>
          <p:nvPr/>
        </p:nvSpPr>
        <p:spPr>
          <a:xfrm>
            <a:off x="1043844" y="1478711"/>
            <a:ext cx="7560604" cy="1015663"/>
          </a:xfrm>
          <a:prstGeom prst="rect">
            <a:avLst/>
          </a:prstGeom>
        </p:spPr>
        <p:txBody>
          <a:bodyPr wrap="square">
            <a:spAutoFit/>
          </a:bodyPr>
          <a:lstStyle/>
          <a:p>
            <a:r>
              <a:rPr lang="zh-CN" altLang="zh-CN" sz="2000" dirty="0">
                <a:solidFill>
                  <a:srgbClr val="FF0000"/>
                </a:solidFill>
                <a:latin typeface="微软雅黑" pitchFamily="34" charset="-122"/>
                <a:ea typeface="微软雅黑" pitchFamily="34" charset="-122"/>
                <a:cs typeface="经典粗黑简" pitchFamily="49" charset="-122"/>
              </a:rPr>
              <a:t>顺序表</a:t>
            </a:r>
            <a:r>
              <a:rPr lang="zh-CN" altLang="en-US" sz="2000" dirty="0">
                <a:solidFill>
                  <a:srgbClr val="FF0000"/>
                </a:solidFill>
                <a:latin typeface="微软雅黑" pitchFamily="34" charset="-122"/>
                <a:ea typeface="微软雅黑" pitchFamily="34" charset="-122"/>
                <a:cs typeface="经典粗黑简" pitchFamily="49" charset="-122"/>
              </a:rPr>
              <a:t>（</a:t>
            </a:r>
            <a:r>
              <a:rPr lang="en-US" altLang="zh-CN" sz="2000" dirty="0">
                <a:solidFill>
                  <a:srgbClr val="FF0000"/>
                </a:solidFill>
                <a:latin typeface="微软雅黑" pitchFamily="34" charset="-122"/>
                <a:ea typeface="微软雅黑" pitchFamily="34" charset="-122"/>
                <a:cs typeface="经典粗黑简" pitchFamily="49" charset="-122"/>
              </a:rPr>
              <a:t>Sequence List</a:t>
            </a:r>
            <a:r>
              <a:rPr lang="zh-CN" altLang="en-US" sz="2000" dirty="0">
                <a:solidFill>
                  <a:srgbClr val="FF0000"/>
                </a:solidFill>
                <a:latin typeface="微软雅黑" pitchFamily="34" charset="-122"/>
                <a:ea typeface="微软雅黑" pitchFamily="34" charset="-122"/>
                <a:cs typeface="经典粗黑简" pitchFamily="49" charset="-122"/>
              </a:rPr>
              <a:t>）</a:t>
            </a:r>
            <a:r>
              <a:rPr lang="en-US" altLang="zh-CN" sz="2000" dirty="0">
                <a:solidFill>
                  <a:srgbClr val="FF0000"/>
                </a:solidFill>
                <a:latin typeface="微软雅黑" pitchFamily="34" charset="-122"/>
                <a:ea typeface="微软雅黑" pitchFamily="34" charset="-122"/>
                <a:cs typeface="经典粗黑简" pitchFamily="49" charset="-122"/>
              </a:rPr>
              <a:t>:</a:t>
            </a:r>
            <a:r>
              <a:rPr lang="zh-CN" altLang="zh-CN" sz="2000" dirty="0">
                <a:latin typeface="微软雅黑" pitchFamily="34" charset="-122"/>
                <a:ea typeface="微软雅黑" pitchFamily="34" charset="-122"/>
                <a:cs typeface="经典粗黑简" pitchFamily="49" charset="-122"/>
              </a:rPr>
              <a:t>是指用顺序存储结构</a:t>
            </a:r>
            <a:r>
              <a:rPr lang="zh-CN" altLang="en-US" sz="2000" dirty="0">
                <a:latin typeface="微软雅黑" pitchFamily="34" charset="-122"/>
                <a:ea typeface="微软雅黑" pitchFamily="34" charset="-122"/>
                <a:cs typeface="经典粗黑简" pitchFamily="49" charset="-122"/>
              </a:rPr>
              <a:t>表示</a:t>
            </a:r>
            <a:r>
              <a:rPr lang="zh-CN" altLang="zh-CN" sz="2000" dirty="0">
                <a:latin typeface="微软雅黑" pitchFamily="34" charset="-122"/>
                <a:ea typeface="微软雅黑" pitchFamily="34" charset="-122"/>
                <a:cs typeface="经典粗黑简" pitchFamily="49" charset="-122"/>
              </a:rPr>
              <a:t>的线性表</a:t>
            </a:r>
            <a:r>
              <a:rPr lang="zh-CN" altLang="en-US" sz="2000" dirty="0">
                <a:latin typeface="微软雅黑" pitchFamily="34" charset="-122"/>
                <a:ea typeface="微软雅黑" pitchFamily="34" charset="-122"/>
                <a:cs typeface="经典粗黑简" pitchFamily="49" charset="-122"/>
              </a:rPr>
              <a:t>，</a:t>
            </a:r>
            <a:r>
              <a:rPr lang="zh-CN" altLang="zh-CN" sz="2000" dirty="0">
                <a:latin typeface="微软雅黑" pitchFamily="34" charset="-122"/>
                <a:ea typeface="微软雅黑" pitchFamily="34" charset="-122"/>
                <a:cs typeface="经典粗黑简" pitchFamily="49" charset="-122"/>
              </a:rPr>
              <a:t>它利用内存中</a:t>
            </a:r>
            <a:r>
              <a:rPr lang="zh-CN" altLang="zh-CN" sz="2000" dirty="0">
                <a:solidFill>
                  <a:srgbClr val="FF0000"/>
                </a:solidFill>
                <a:latin typeface="微软雅黑" pitchFamily="34" charset="-122"/>
                <a:ea typeface="微软雅黑" pitchFamily="34" charset="-122"/>
                <a:cs typeface="经典粗黑简" pitchFamily="49" charset="-122"/>
              </a:rPr>
              <a:t>起始位置确定</a:t>
            </a:r>
            <a:r>
              <a:rPr lang="zh-CN" altLang="zh-CN" sz="2000" dirty="0">
                <a:latin typeface="微软雅黑" pitchFamily="34" charset="-122"/>
                <a:ea typeface="微软雅黑" pitchFamily="34" charset="-122"/>
                <a:cs typeface="经典粗黑简" pitchFamily="49" charset="-122"/>
              </a:rPr>
              <a:t>的</a:t>
            </a:r>
            <a:r>
              <a:rPr lang="zh-CN" altLang="en-US" sz="2000" dirty="0">
                <a:solidFill>
                  <a:srgbClr val="FF0000"/>
                </a:solidFill>
                <a:latin typeface="微软雅黑" pitchFamily="34" charset="-122"/>
                <a:ea typeface="微软雅黑" pitchFamily="34" charset="-122"/>
                <a:cs typeface="经典粗黑简" pitchFamily="49" charset="-122"/>
              </a:rPr>
              <a:t>地址</a:t>
            </a:r>
            <a:r>
              <a:rPr lang="zh-CN" altLang="zh-CN" sz="2000" dirty="0">
                <a:solidFill>
                  <a:srgbClr val="FF0000"/>
                </a:solidFill>
                <a:latin typeface="微软雅黑" pitchFamily="34" charset="-122"/>
                <a:ea typeface="微软雅黑" pitchFamily="34" charset="-122"/>
                <a:cs typeface="经典粗黑简" pitchFamily="49" charset="-122"/>
              </a:rPr>
              <a:t>连续</a:t>
            </a:r>
            <a:r>
              <a:rPr lang="zh-CN" altLang="en-US" sz="2000" dirty="0">
                <a:latin typeface="微软雅黑" pitchFamily="34" charset="-122"/>
                <a:ea typeface="微软雅黑" pitchFamily="34" charset="-122"/>
                <a:cs typeface="经典粗黑简" pitchFamily="49" charset="-122"/>
              </a:rPr>
              <a:t>的</a:t>
            </a:r>
            <a:r>
              <a:rPr lang="zh-CN" altLang="zh-CN" sz="2000" dirty="0">
                <a:solidFill>
                  <a:srgbClr val="FF0000"/>
                </a:solidFill>
                <a:latin typeface="微软雅黑" pitchFamily="34" charset="-122"/>
                <a:ea typeface="微软雅黑" pitchFamily="34" charset="-122"/>
                <a:cs typeface="经典粗黑简" pitchFamily="49" charset="-122"/>
              </a:rPr>
              <a:t>一片</a:t>
            </a:r>
            <a:r>
              <a:rPr lang="zh-CN" altLang="zh-CN" sz="2000" dirty="0">
                <a:latin typeface="微软雅黑" pitchFamily="34" charset="-122"/>
                <a:ea typeface="微软雅黑" pitchFamily="34" charset="-122"/>
                <a:cs typeface="经典粗黑简" pitchFamily="49" charset="-122"/>
              </a:rPr>
              <a:t>存储区域来存放线性表中的所有</a:t>
            </a:r>
            <a:r>
              <a:rPr lang="zh-CN" altLang="en-US" sz="2000" dirty="0">
                <a:latin typeface="微软雅黑" pitchFamily="34" charset="-122"/>
                <a:ea typeface="微软雅黑" pitchFamily="34" charset="-122"/>
                <a:cs typeface="经典粗黑简" pitchFamily="49" charset="-122"/>
              </a:rPr>
              <a:t>数据</a:t>
            </a:r>
            <a:r>
              <a:rPr lang="zh-CN" altLang="zh-CN" sz="2000" dirty="0">
                <a:latin typeface="微软雅黑" pitchFamily="34" charset="-122"/>
                <a:ea typeface="微软雅黑" pitchFamily="34" charset="-122"/>
                <a:cs typeface="经典粗黑简" pitchFamily="49" charset="-122"/>
              </a:rPr>
              <a:t>元素。</a:t>
            </a:r>
            <a:endParaRPr lang="zh-CN" altLang="en-US" sz="2000" dirty="0">
              <a:latin typeface="微软雅黑" pitchFamily="34" charset="-122"/>
              <a:ea typeface="微软雅黑" pitchFamily="34" charset="-122"/>
              <a:cs typeface="经典粗黑简" pitchFamily="49" charset="-122"/>
            </a:endParaRPr>
          </a:p>
        </p:txBody>
      </p:sp>
      <p:graphicFrame>
        <p:nvGraphicFramePr>
          <p:cNvPr id="2" name="表格 1">
            <a:extLst>
              <a:ext uri="{FF2B5EF4-FFF2-40B4-BE49-F238E27FC236}">
                <a16:creationId xmlns:a16="http://schemas.microsoft.com/office/drawing/2014/main" id="{E0AE905B-BA3A-BFA4-A879-BDD804E132AD}"/>
              </a:ext>
            </a:extLst>
          </p:cNvPr>
          <p:cNvGraphicFramePr>
            <a:graphicFrameLocks noGrp="1"/>
          </p:cNvGraphicFramePr>
          <p:nvPr>
            <p:extLst>
              <p:ext uri="{D42A27DB-BD31-4B8C-83A1-F6EECF244321}">
                <p14:modId xmlns:p14="http://schemas.microsoft.com/office/powerpoint/2010/main" val="2647128944"/>
              </p:ext>
            </p:extLst>
          </p:nvPr>
        </p:nvGraphicFramePr>
        <p:xfrm>
          <a:off x="6830116" y="2610691"/>
          <a:ext cx="583475" cy="2267128"/>
        </p:xfrm>
        <a:graphic>
          <a:graphicData uri="http://schemas.openxmlformats.org/drawingml/2006/table">
            <a:tbl>
              <a:tblPr firstRow="1" bandRow="1">
                <a:tableStyleId>{5940675A-B579-460E-94D1-54222C63F5DA}</a:tableStyleId>
              </a:tblPr>
              <a:tblGrid>
                <a:gridCol w="583475">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err="1"/>
                        <a:t>a</a:t>
                      </a:r>
                      <a:r>
                        <a:rPr lang="en-US" altLang="zh-CN" sz="1400" baseline="-25000" dirty="0" err="1"/>
                        <a:t>i</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5"/>
                  </a:ext>
                </a:extLst>
              </a:tr>
              <a:tr h="283391">
                <a:tc>
                  <a:txBody>
                    <a:bodyPr/>
                    <a:lstStyle/>
                    <a:p>
                      <a:pPr algn="ctr"/>
                      <a:endParaRPr lang="zh-CN" altLang="en-US" sz="1400" dirty="0"/>
                    </a:p>
                  </a:txBody>
                  <a:tcPr marT="34290" marB="34290">
                    <a:pattFill prst="wdDnDiag">
                      <a:fgClr>
                        <a:schemeClr val="tx1"/>
                      </a:fgClr>
                      <a:bgClr>
                        <a:schemeClr val="bg1"/>
                      </a:bgClr>
                    </a:pattFill>
                  </a:tcPr>
                </a:tc>
                <a:extLst>
                  <a:ext uri="{0D108BD9-81ED-4DB2-BD59-A6C34878D82A}">
                    <a16:rowId xmlns:a16="http://schemas.microsoft.com/office/drawing/2014/main" val="10006"/>
                  </a:ext>
                </a:extLst>
              </a:tr>
              <a:tr h="283391">
                <a:tc>
                  <a:txBody>
                    <a:bodyPr/>
                    <a:lstStyle/>
                    <a:p>
                      <a:pPr algn="ctr"/>
                      <a:endParaRPr lang="zh-CN" altLang="en-US" sz="1400" dirty="0"/>
                    </a:p>
                  </a:txBody>
                  <a:tcPr marT="34290" marB="34290">
                    <a:pattFill prst="wdDnDiag">
                      <a:fgClr>
                        <a:schemeClr val="tx1"/>
                      </a:fgClr>
                      <a:bgClr>
                        <a:schemeClr val="bg1"/>
                      </a:bgClr>
                    </a:pattFill>
                  </a:tcPr>
                </a:tc>
                <a:extLst>
                  <a:ext uri="{0D108BD9-81ED-4DB2-BD59-A6C34878D82A}">
                    <a16:rowId xmlns:a16="http://schemas.microsoft.com/office/drawing/2014/main" val="10007"/>
                  </a:ext>
                </a:extLst>
              </a:tr>
            </a:tbl>
          </a:graphicData>
        </a:graphic>
      </p:graphicFrame>
      <p:graphicFrame>
        <p:nvGraphicFramePr>
          <p:cNvPr id="7" name="表格 6">
            <a:extLst>
              <a:ext uri="{FF2B5EF4-FFF2-40B4-BE49-F238E27FC236}">
                <a16:creationId xmlns:a16="http://schemas.microsoft.com/office/drawing/2014/main" id="{BDBCD29F-CEEC-6AA1-F815-CF0389755A97}"/>
              </a:ext>
            </a:extLst>
          </p:cNvPr>
          <p:cNvGraphicFramePr>
            <a:graphicFrameLocks noGrp="1"/>
          </p:cNvGraphicFramePr>
          <p:nvPr>
            <p:extLst>
              <p:ext uri="{D42A27DB-BD31-4B8C-83A1-F6EECF244321}">
                <p14:modId xmlns:p14="http://schemas.microsoft.com/office/powerpoint/2010/main" val="513928206"/>
              </p:ext>
            </p:extLst>
          </p:nvPr>
        </p:nvGraphicFramePr>
        <p:xfrm>
          <a:off x="7457133" y="2621155"/>
          <a:ext cx="705395" cy="2267128"/>
        </p:xfrm>
        <a:graphic>
          <a:graphicData uri="http://schemas.openxmlformats.org/drawingml/2006/table">
            <a:tbl>
              <a:tblPr firstRow="1" bandRow="1">
                <a:tableStyleId>{2D5ABB26-0587-4C30-8999-92F81FD0307C}</a:tableStyleId>
              </a:tblPr>
              <a:tblGrid>
                <a:gridCol w="705395">
                  <a:extLst>
                    <a:ext uri="{9D8B030D-6E8A-4147-A177-3AD203B41FA5}">
                      <a16:colId xmlns:a16="http://schemas.microsoft.com/office/drawing/2014/main" val="20000"/>
                    </a:ext>
                  </a:extLst>
                </a:gridCol>
              </a:tblGrid>
              <a:tr h="283391">
                <a:tc>
                  <a:txBody>
                    <a:bodyPr/>
                    <a:lstStyle/>
                    <a:p>
                      <a:pPr algn="ctr"/>
                      <a:r>
                        <a:rPr lang="en-US" altLang="zh-CN" sz="1400" dirty="0"/>
                        <a:t>1</a:t>
                      </a:r>
                      <a:endParaRPr lang="zh-CN" altLang="en-US" sz="1400" dirty="0"/>
                    </a:p>
                  </a:txBody>
                  <a:tcPr marT="34290" marB="34290"/>
                </a:tc>
                <a:extLst>
                  <a:ext uri="{0D108BD9-81ED-4DB2-BD59-A6C34878D82A}">
                    <a16:rowId xmlns:a16="http://schemas.microsoft.com/office/drawing/2014/main" val="10000"/>
                  </a:ext>
                </a:extLst>
              </a:tr>
              <a:tr h="283391">
                <a:tc>
                  <a:txBody>
                    <a:bodyPr/>
                    <a:lstStyle/>
                    <a:p>
                      <a:pPr algn="ctr"/>
                      <a:r>
                        <a:rPr lang="en-US" altLang="zh-CN" sz="1400" dirty="0"/>
                        <a:t>2</a:t>
                      </a:r>
                      <a:endParaRPr lang="zh-CN" altLang="en-US" sz="1400" dirty="0"/>
                    </a:p>
                  </a:txBody>
                  <a:tcPr marT="34290" marB="34290"/>
                </a:tc>
                <a:extLst>
                  <a:ext uri="{0D108BD9-81ED-4DB2-BD59-A6C34878D82A}">
                    <a16:rowId xmlns:a16="http://schemas.microsoft.com/office/drawing/2014/main" val="10001"/>
                  </a:ext>
                </a:extLst>
              </a:tr>
              <a:tr h="283391">
                <a:tc>
                  <a:txBody>
                    <a:bodyPr/>
                    <a:lstStyle/>
                    <a:p>
                      <a:pPr algn="ctr"/>
                      <a:r>
                        <a:rPr lang="en-US" altLang="zh-CN" sz="1400" dirty="0"/>
                        <a:t>……</a:t>
                      </a:r>
                      <a:endParaRPr lang="zh-CN" altLang="en-US" sz="1400" dirty="0"/>
                    </a:p>
                  </a:txBody>
                  <a:tcPr marT="34290" marB="34290"/>
                </a:tc>
                <a:extLst>
                  <a:ext uri="{0D108BD9-81ED-4DB2-BD59-A6C34878D82A}">
                    <a16:rowId xmlns:a16="http://schemas.microsoft.com/office/drawing/2014/main" val="10002"/>
                  </a:ext>
                </a:extLst>
              </a:tr>
              <a:tr h="283391">
                <a:tc>
                  <a:txBody>
                    <a:bodyPr/>
                    <a:lstStyle/>
                    <a:p>
                      <a:pPr algn="ctr"/>
                      <a:r>
                        <a:rPr lang="en-US" altLang="zh-CN" sz="1400" dirty="0"/>
                        <a:t>i</a:t>
                      </a:r>
                      <a:endParaRPr lang="zh-CN" altLang="en-US" sz="1400" dirty="0"/>
                    </a:p>
                  </a:txBody>
                  <a:tcPr marT="34290" marB="34290"/>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tc>
                <a:extLst>
                  <a:ext uri="{0D108BD9-81ED-4DB2-BD59-A6C34878D82A}">
                    <a16:rowId xmlns:a16="http://schemas.microsoft.com/office/drawing/2014/main" val="10004"/>
                  </a:ext>
                </a:extLst>
              </a:tr>
              <a:tr h="283391">
                <a:tc>
                  <a:txBody>
                    <a:bodyPr/>
                    <a:lstStyle/>
                    <a:p>
                      <a:pPr algn="ctr"/>
                      <a:r>
                        <a:rPr lang="en-US" altLang="zh-CN" sz="1400" dirty="0"/>
                        <a:t>n</a:t>
                      </a:r>
                      <a:endParaRPr lang="zh-CN" altLang="en-US" sz="1400" dirty="0"/>
                    </a:p>
                  </a:txBody>
                  <a:tcPr marT="34290" marB="34290"/>
                </a:tc>
                <a:extLst>
                  <a:ext uri="{0D108BD9-81ED-4DB2-BD59-A6C34878D82A}">
                    <a16:rowId xmlns:a16="http://schemas.microsoft.com/office/drawing/2014/main" val="10005"/>
                  </a:ext>
                </a:extLst>
              </a:tr>
              <a:tr h="283391">
                <a:tc>
                  <a:txBody>
                    <a:bodyPr/>
                    <a:lstStyle/>
                    <a:p>
                      <a:pPr algn="ctr"/>
                      <a:endParaRPr lang="zh-CN" altLang="en-US" sz="1400" dirty="0"/>
                    </a:p>
                  </a:txBody>
                  <a:tcPr marT="34290" marB="34290"/>
                </a:tc>
                <a:extLst>
                  <a:ext uri="{0D108BD9-81ED-4DB2-BD59-A6C34878D82A}">
                    <a16:rowId xmlns:a16="http://schemas.microsoft.com/office/drawing/2014/main" val="10006"/>
                  </a:ext>
                </a:extLst>
              </a:tr>
              <a:tr h="283391">
                <a:tc>
                  <a:txBody>
                    <a:bodyPr/>
                    <a:lstStyle/>
                    <a:p>
                      <a:pPr algn="ctr"/>
                      <a:r>
                        <a:rPr lang="en-US" altLang="zh-CN" sz="800" kern="1200" dirty="0" err="1">
                          <a:effectLst/>
                        </a:rPr>
                        <a:t>MaxSize</a:t>
                      </a:r>
                      <a:endParaRPr lang="zh-CN" altLang="en-US" sz="800" dirty="0"/>
                    </a:p>
                  </a:txBody>
                  <a:tcPr marT="34290" marB="34290"/>
                </a:tc>
                <a:extLst>
                  <a:ext uri="{0D108BD9-81ED-4DB2-BD59-A6C34878D82A}">
                    <a16:rowId xmlns:a16="http://schemas.microsoft.com/office/drawing/2014/main" val="10007"/>
                  </a:ext>
                </a:extLst>
              </a:tr>
            </a:tbl>
          </a:graphicData>
        </a:graphic>
      </p:graphicFrame>
      <p:sp>
        <p:nvSpPr>
          <p:cNvPr id="8" name="右大括号 7">
            <a:extLst>
              <a:ext uri="{FF2B5EF4-FFF2-40B4-BE49-F238E27FC236}">
                <a16:creationId xmlns:a16="http://schemas.microsoft.com/office/drawing/2014/main" id="{A36D49A6-3C76-370A-1C0A-8A6EB02808F3}"/>
              </a:ext>
            </a:extLst>
          </p:cNvPr>
          <p:cNvSpPr/>
          <p:nvPr/>
        </p:nvSpPr>
        <p:spPr>
          <a:xfrm>
            <a:off x="8163937" y="2628233"/>
            <a:ext cx="212655" cy="168724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TextBox 37">
            <a:extLst>
              <a:ext uri="{FF2B5EF4-FFF2-40B4-BE49-F238E27FC236}">
                <a16:creationId xmlns:a16="http://schemas.microsoft.com/office/drawing/2014/main" id="{6B440A7A-26BB-B72E-33E3-459645A7BB67}"/>
              </a:ext>
            </a:extLst>
          </p:cNvPr>
          <p:cNvSpPr txBox="1"/>
          <p:nvPr/>
        </p:nvSpPr>
        <p:spPr>
          <a:xfrm>
            <a:off x="8460432" y="3177941"/>
            <a:ext cx="369332" cy="587829"/>
          </a:xfrm>
          <a:prstGeom prst="rect">
            <a:avLst/>
          </a:prstGeom>
          <a:noFill/>
        </p:spPr>
        <p:txBody>
          <a:bodyPr vert="eaVert" wrap="square" rtlCol="0">
            <a:spAutoFit/>
          </a:bodyPr>
          <a:lstStyle/>
          <a:p>
            <a:r>
              <a:rPr lang="zh-CN" altLang="en-US" sz="1200" dirty="0"/>
              <a:t>线性表</a:t>
            </a:r>
          </a:p>
        </p:txBody>
      </p:sp>
      <p:sp>
        <p:nvSpPr>
          <p:cNvPr id="10" name="TextBox 38">
            <a:extLst>
              <a:ext uri="{FF2B5EF4-FFF2-40B4-BE49-F238E27FC236}">
                <a16:creationId xmlns:a16="http://schemas.microsoft.com/office/drawing/2014/main" id="{E48E09DD-A543-2A50-CF9B-AEA7B3EF76F5}"/>
              </a:ext>
            </a:extLst>
          </p:cNvPr>
          <p:cNvSpPr txBox="1"/>
          <p:nvPr/>
        </p:nvSpPr>
        <p:spPr>
          <a:xfrm>
            <a:off x="8311362" y="4434582"/>
            <a:ext cx="738664" cy="417750"/>
          </a:xfrm>
          <a:prstGeom prst="rect">
            <a:avLst/>
          </a:prstGeom>
          <a:noFill/>
        </p:spPr>
        <p:txBody>
          <a:bodyPr vert="eaVert" wrap="square" rtlCol="0">
            <a:spAutoFit/>
          </a:bodyPr>
          <a:lstStyle/>
          <a:p>
            <a:r>
              <a:rPr lang="zh-CN" altLang="en-US" dirty="0"/>
              <a:t>空闲</a:t>
            </a:r>
          </a:p>
        </p:txBody>
      </p:sp>
      <p:sp>
        <p:nvSpPr>
          <p:cNvPr id="11" name="右大括号 10">
            <a:extLst>
              <a:ext uri="{FF2B5EF4-FFF2-40B4-BE49-F238E27FC236}">
                <a16:creationId xmlns:a16="http://schemas.microsoft.com/office/drawing/2014/main" id="{ADB020D9-FB28-9274-B523-323EBE8668C8}"/>
              </a:ext>
            </a:extLst>
          </p:cNvPr>
          <p:cNvSpPr/>
          <p:nvPr/>
        </p:nvSpPr>
        <p:spPr>
          <a:xfrm>
            <a:off x="8163937" y="4322348"/>
            <a:ext cx="212655" cy="5299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12" name="表格 11">
            <a:extLst>
              <a:ext uri="{FF2B5EF4-FFF2-40B4-BE49-F238E27FC236}">
                <a16:creationId xmlns:a16="http://schemas.microsoft.com/office/drawing/2014/main" id="{8E9C18D9-AB92-5E2B-2995-C483CC5FA3F7}"/>
              </a:ext>
            </a:extLst>
          </p:cNvPr>
          <p:cNvGraphicFramePr>
            <a:graphicFrameLocks noGrp="1"/>
          </p:cNvGraphicFramePr>
          <p:nvPr>
            <p:extLst>
              <p:ext uri="{D42A27DB-BD31-4B8C-83A1-F6EECF244321}">
                <p14:modId xmlns:p14="http://schemas.microsoft.com/office/powerpoint/2010/main" val="684201890"/>
              </p:ext>
            </p:extLst>
          </p:nvPr>
        </p:nvGraphicFramePr>
        <p:xfrm>
          <a:off x="4957773" y="2628233"/>
          <a:ext cx="1776548" cy="2463797"/>
        </p:xfrm>
        <a:graphic>
          <a:graphicData uri="http://schemas.openxmlformats.org/drawingml/2006/table">
            <a:tbl>
              <a:tblPr firstRow="1" bandRow="1">
                <a:tableStyleId>{2D5ABB26-0587-4C30-8999-92F81FD0307C}</a:tableStyleId>
              </a:tblPr>
              <a:tblGrid>
                <a:gridCol w="1776548">
                  <a:extLst>
                    <a:ext uri="{9D8B030D-6E8A-4147-A177-3AD203B41FA5}">
                      <a16:colId xmlns:a16="http://schemas.microsoft.com/office/drawing/2014/main" val="20000"/>
                    </a:ext>
                  </a:extLst>
                </a:gridCol>
              </a:tblGrid>
              <a:tr h="283391">
                <a:tc>
                  <a:txBody>
                    <a:bodyPr/>
                    <a:lstStyle/>
                    <a:p>
                      <a:pPr marL="0" algn="r" defTabSz="914400" rtl="0" eaLnBrk="1" latinLnBrk="0" hangingPunct="1"/>
                      <a:r>
                        <a:rPr lang="en-US" altLang="zh-CN" sz="1400" kern="1200" dirty="0">
                          <a:solidFill>
                            <a:schemeClr val="tx1"/>
                          </a:solidFill>
                          <a:latin typeface="Chaparral Pro Light" pitchFamily="18" charset="0"/>
                          <a:ea typeface="+mn-ea"/>
                          <a:cs typeface="+mn-cs"/>
                        </a:rPr>
                        <a:t>b</a:t>
                      </a:r>
                      <a:endParaRPr lang="zh-CN" altLang="en-US" sz="1400" kern="1200" dirty="0">
                        <a:solidFill>
                          <a:schemeClr val="tx1"/>
                        </a:solidFill>
                        <a:latin typeface="Chaparral Pro Light" pitchFamily="18" charset="0"/>
                        <a:ea typeface="+mn-ea"/>
                        <a:cs typeface="+mn-cs"/>
                      </a:endParaRPr>
                    </a:p>
                  </a:txBody>
                  <a:tcPr marL="0" marR="180000" marT="34290" marB="34290"/>
                </a:tc>
                <a:extLst>
                  <a:ext uri="{0D108BD9-81ED-4DB2-BD59-A6C34878D82A}">
                    <a16:rowId xmlns:a16="http://schemas.microsoft.com/office/drawing/2014/main" val="10000"/>
                  </a:ext>
                </a:extLst>
              </a:tr>
              <a:tr h="283391">
                <a:tc>
                  <a:txBody>
                    <a:bodyPr/>
                    <a:lstStyle/>
                    <a:p>
                      <a:pPr algn="r"/>
                      <a:r>
                        <a:rPr lang="en-US" altLang="zh-CN" sz="1400" dirty="0" err="1">
                          <a:latin typeface="Chaparral Pro Light" pitchFamily="18" charset="0"/>
                        </a:rPr>
                        <a:t>b+l</a:t>
                      </a:r>
                      <a:endParaRPr lang="zh-CN" altLang="en-US" sz="1400" dirty="0">
                        <a:latin typeface="Chaparral Pro Light" pitchFamily="18" charset="0"/>
                      </a:endParaRPr>
                    </a:p>
                  </a:txBody>
                  <a:tcPr marL="0" marR="180000" marT="34290" marB="34290"/>
                </a:tc>
                <a:extLst>
                  <a:ext uri="{0D108BD9-81ED-4DB2-BD59-A6C34878D82A}">
                    <a16:rowId xmlns:a16="http://schemas.microsoft.com/office/drawing/2014/main" val="10001"/>
                  </a:ext>
                </a:extLst>
              </a:tr>
              <a:tr h="283391">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L="0" marR="180000" marT="34290" marB="34290"/>
                </a:tc>
                <a:extLst>
                  <a:ext uri="{0D108BD9-81ED-4DB2-BD59-A6C34878D82A}">
                    <a16:rowId xmlns:a16="http://schemas.microsoft.com/office/drawing/2014/main" val="10002"/>
                  </a:ext>
                </a:extLst>
              </a:tr>
              <a:tr h="283391">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1400" dirty="0">
                          <a:latin typeface="Chaparral Pro Light" pitchFamily="18" charset="0"/>
                        </a:rPr>
                        <a:t>b+(i-1)l</a:t>
                      </a:r>
                      <a:endParaRPr lang="zh-CN" altLang="en-US" sz="1400" dirty="0">
                        <a:latin typeface="Chaparral Pro Light" pitchFamily="18" charset="0"/>
                      </a:endParaRPr>
                    </a:p>
                  </a:txBody>
                  <a:tcPr marL="0" marR="180000" marT="34290" marB="34290"/>
                </a:tc>
                <a:extLst>
                  <a:ext uri="{0D108BD9-81ED-4DB2-BD59-A6C34878D82A}">
                    <a16:rowId xmlns:a16="http://schemas.microsoft.com/office/drawing/2014/main" val="10003"/>
                  </a:ext>
                </a:extLst>
              </a:tr>
              <a:tr h="283391">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L="0" marR="180000" marT="34290" marB="34290"/>
                </a:tc>
                <a:extLst>
                  <a:ext uri="{0D108BD9-81ED-4DB2-BD59-A6C34878D82A}">
                    <a16:rowId xmlns:a16="http://schemas.microsoft.com/office/drawing/2014/main" val="10004"/>
                  </a:ext>
                </a:extLst>
              </a:tr>
              <a:tr h="283391">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1400" dirty="0">
                          <a:latin typeface="Chaparral Pro Light" pitchFamily="18" charset="0"/>
                        </a:rPr>
                        <a:t>b+(n-1)l</a:t>
                      </a:r>
                      <a:endParaRPr lang="zh-CN" altLang="en-US" sz="1400" dirty="0">
                        <a:latin typeface="Chaparral Pro Light" pitchFamily="18" charset="0"/>
                      </a:endParaRPr>
                    </a:p>
                  </a:txBody>
                  <a:tcPr marL="0" marR="180000" marT="34290" marB="34290"/>
                </a:tc>
                <a:extLst>
                  <a:ext uri="{0D108BD9-81ED-4DB2-BD59-A6C34878D82A}">
                    <a16:rowId xmlns:a16="http://schemas.microsoft.com/office/drawing/2014/main" val="10005"/>
                  </a:ext>
                </a:extLst>
              </a:tr>
              <a:tr h="283391">
                <a:tc>
                  <a:txBody>
                    <a:bodyPr/>
                    <a:lstStyle/>
                    <a:p>
                      <a:pPr algn="r"/>
                      <a:endParaRPr lang="zh-CN" altLang="en-US" sz="1400" dirty="0"/>
                    </a:p>
                  </a:txBody>
                  <a:tcPr marL="0" marR="180000" marT="34290" marB="34290"/>
                </a:tc>
                <a:extLst>
                  <a:ext uri="{0D108BD9-81ED-4DB2-BD59-A6C34878D82A}">
                    <a16:rowId xmlns:a16="http://schemas.microsoft.com/office/drawing/2014/main" val="10006"/>
                  </a:ext>
                </a:extLst>
              </a:tr>
              <a:tr h="48006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1400" dirty="0">
                          <a:latin typeface="Chaparral Pro Light" pitchFamily="18" charset="0"/>
                        </a:rPr>
                        <a:t>b+(</a:t>
                      </a:r>
                      <a:r>
                        <a:rPr lang="en-US" altLang="zh-CN" sz="1400" kern="1200" dirty="0">
                          <a:solidFill>
                            <a:schemeClr val="tx1"/>
                          </a:solidFill>
                          <a:latin typeface="Chaparral Pro Light" pitchFamily="18" charset="0"/>
                          <a:ea typeface="+mn-ea"/>
                          <a:cs typeface="+mn-cs"/>
                        </a:rPr>
                        <a:t>MaxSize</a:t>
                      </a:r>
                      <a:r>
                        <a:rPr lang="en-US" altLang="zh-CN" sz="1400" dirty="0">
                          <a:latin typeface="Chaparral Pro Light" pitchFamily="18" charset="0"/>
                        </a:rPr>
                        <a:t>-1)l</a:t>
                      </a:r>
                      <a:endParaRPr lang="zh-CN" altLang="en-US" sz="1400" dirty="0">
                        <a:latin typeface="Chaparral Pro Light" pitchFamily="18" charset="0"/>
                      </a:endParaRPr>
                    </a:p>
                  </a:txBody>
                  <a:tcPr marL="0" marR="180000" marT="34290" marB="34290"/>
                </a:tc>
                <a:extLst>
                  <a:ext uri="{0D108BD9-81ED-4DB2-BD59-A6C34878D82A}">
                    <a16:rowId xmlns:a16="http://schemas.microsoft.com/office/drawing/2014/main" val="10007"/>
                  </a:ext>
                </a:extLst>
              </a:tr>
            </a:tbl>
          </a:graphicData>
        </a:graphic>
      </p:graphicFrame>
      <p:sp>
        <p:nvSpPr>
          <p:cNvPr id="13" name="矩形 12">
            <a:extLst>
              <a:ext uri="{FF2B5EF4-FFF2-40B4-BE49-F238E27FC236}">
                <a16:creationId xmlns:a16="http://schemas.microsoft.com/office/drawing/2014/main" id="{FF538B0B-56A0-D37B-28D3-48722B7003A5}"/>
              </a:ext>
            </a:extLst>
          </p:cNvPr>
          <p:cNvSpPr/>
          <p:nvPr/>
        </p:nvSpPr>
        <p:spPr>
          <a:xfrm>
            <a:off x="5532254" y="2325097"/>
            <a:ext cx="1005403" cy="338554"/>
          </a:xfrm>
          <a:prstGeom prst="rect">
            <a:avLst/>
          </a:prstGeom>
        </p:spPr>
        <p:txBody>
          <a:bodyPr wrap="none">
            <a:spAutoFit/>
          </a:bodyPr>
          <a:lstStyle/>
          <a:p>
            <a:r>
              <a:rPr lang="zh-CN" altLang="zh-CN" sz="1600" dirty="0"/>
              <a:t>存储首址</a:t>
            </a:r>
          </a:p>
        </p:txBody>
      </p:sp>
      <p:sp>
        <p:nvSpPr>
          <p:cNvPr id="14" name="矩形 13">
            <a:extLst>
              <a:ext uri="{FF2B5EF4-FFF2-40B4-BE49-F238E27FC236}">
                <a16:creationId xmlns:a16="http://schemas.microsoft.com/office/drawing/2014/main" id="{790EDB38-CD86-632C-15F5-EEF8BA7E2C88}"/>
              </a:ext>
            </a:extLst>
          </p:cNvPr>
          <p:cNvSpPr/>
          <p:nvPr/>
        </p:nvSpPr>
        <p:spPr>
          <a:xfrm>
            <a:off x="6593026" y="2302693"/>
            <a:ext cx="1005403" cy="338554"/>
          </a:xfrm>
          <a:prstGeom prst="rect">
            <a:avLst/>
          </a:prstGeom>
        </p:spPr>
        <p:txBody>
          <a:bodyPr wrap="none">
            <a:spAutoFit/>
          </a:bodyPr>
          <a:lstStyle/>
          <a:p>
            <a:r>
              <a:rPr lang="zh-CN" altLang="en-US" sz="1600" dirty="0"/>
              <a:t>内存状态</a:t>
            </a:r>
            <a:endParaRPr lang="zh-CN" altLang="zh-CN" sz="1600" dirty="0"/>
          </a:p>
        </p:txBody>
      </p:sp>
      <p:sp>
        <p:nvSpPr>
          <p:cNvPr id="15" name="矩形 14">
            <a:extLst>
              <a:ext uri="{FF2B5EF4-FFF2-40B4-BE49-F238E27FC236}">
                <a16:creationId xmlns:a16="http://schemas.microsoft.com/office/drawing/2014/main" id="{4279FEA5-E1B2-9035-EEDC-743F93C7206F}"/>
              </a:ext>
            </a:extLst>
          </p:cNvPr>
          <p:cNvSpPr/>
          <p:nvPr/>
        </p:nvSpPr>
        <p:spPr>
          <a:xfrm>
            <a:off x="7527056" y="2289679"/>
            <a:ext cx="595035" cy="338554"/>
          </a:xfrm>
          <a:prstGeom prst="rect">
            <a:avLst/>
          </a:prstGeom>
        </p:spPr>
        <p:txBody>
          <a:bodyPr wrap="none">
            <a:spAutoFit/>
          </a:bodyPr>
          <a:lstStyle/>
          <a:p>
            <a:r>
              <a:rPr lang="zh-CN" altLang="en-US" sz="1600" dirty="0"/>
              <a:t>位序</a:t>
            </a:r>
            <a:endParaRPr lang="zh-CN" altLang="zh-CN" sz="1600" dirty="0"/>
          </a:p>
        </p:txBody>
      </p:sp>
    </p:spTree>
    <p:extLst>
      <p:ext uri="{BB962C8B-B14F-4D97-AF65-F5344CB8AC3E}">
        <p14:creationId xmlns:p14="http://schemas.microsoft.com/office/powerpoint/2010/main" val="1977286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719572" y="1614527"/>
            <a:ext cx="7704856" cy="707886"/>
          </a:xfrm>
          <a:prstGeom prst="rect">
            <a:avLst/>
          </a:prstGeom>
        </p:spPr>
        <p:txBody>
          <a:bodyPr wrap="square">
            <a:spAutoFit/>
          </a:bodyPr>
          <a:lstStyle/>
          <a:p>
            <a:r>
              <a:rPr lang="zh-CN" altLang="zh-CN" sz="2000" dirty="0">
                <a:latin typeface="微软雅黑" pitchFamily="34" charset="-122"/>
                <a:ea typeface="微软雅黑" pitchFamily="34" charset="-122"/>
                <a:cs typeface="经典粗黑简" pitchFamily="49" charset="-122"/>
              </a:rPr>
              <a:t>由于</a:t>
            </a:r>
            <a:r>
              <a:rPr lang="en-US" altLang="zh-CN" sz="2000" dirty="0">
                <a:latin typeface="微软雅黑" pitchFamily="34" charset="-122"/>
                <a:ea typeface="微软雅黑" pitchFamily="34" charset="-122"/>
                <a:cs typeface="经典粗黑简" pitchFamily="49" charset="-122"/>
              </a:rPr>
              <a:t>C</a:t>
            </a:r>
            <a:r>
              <a:rPr lang="zh-CN" altLang="en-US" sz="2000" dirty="0">
                <a:latin typeface="微软雅黑" pitchFamily="34" charset="-122"/>
                <a:ea typeface="微软雅黑" pitchFamily="34" charset="-122"/>
                <a:cs typeface="经典粗黑简" pitchFamily="49" charset="-122"/>
              </a:rPr>
              <a:t>语言</a:t>
            </a:r>
            <a:r>
              <a:rPr lang="zh-CN" altLang="zh-CN" sz="2000" dirty="0">
                <a:latin typeface="微软雅黑" pitchFamily="34" charset="-122"/>
                <a:ea typeface="微软雅黑" pitchFamily="34" charset="-122"/>
                <a:cs typeface="经典粗黑简" pitchFamily="49" charset="-122"/>
              </a:rPr>
              <a:t>中一维数组（即向量）也是采用顺序存储表示，因此可用一维数组来描述顺序表</a:t>
            </a:r>
            <a:r>
              <a:rPr lang="zh-CN" altLang="en-US" sz="2000" dirty="0">
                <a:latin typeface="微软雅黑" pitchFamily="34" charset="-122"/>
                <a:ea typeface="微软雅黑" pitchFamily="34" charset="-122"/>
                <a:cs typeface="经典粗黑简" pitchFamily="49" charset="-122"/>
              </a:rPr>
              <a:t>。</a:t>
            </a:r>
          </a:p>
        </p:txBody>
      </p:sp>
      <p:graphicFrame>
        <p:nvGraphicFramePr>
          <p:cNvPr id="33" name="表格 32"/>
          <p:cNvGraphicFramePr>
            <a:graphicFrameLocks noGrp="1"/>
          </p:cNvGraphicFramePr>
          <p:nvPr>
            <p:extLst>
              <p:ext uri="{D42A27DB-BD31-4B8C-83A1-F6EECF244321}">
                <p14:modId xmlns:p14="http://schemas.microsoft.com/office/powerpoint/2010/main" val="357864194"/>
              </p:ext>
            </p:extLst>
          </p:nvPr>
        </p:nvGraphicFramePr>
        <p:xfrm>
          <a:off x="7812961" y="2269197"/>
          <a:ext cx="1094967" cy="2267128"/>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err="1"/>
                        <a:t>a</a:t>
                      </a:r>
                      <a:r>
                        <a:rPr lang="en-US" altLang="zh-CN" sz="1400" baseline="-25000" dirty="0" err="1"/>
                        <a:t>i</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5"/>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pattFill prst="wdUpDiag">
                      <a:fgClr>
                        <a:srgbClr val="FFC000"/>
                      </a:fgClr>
                      <a:bgClr>
                        <a:schemeClr val="bg1"/>
                      </a:bgClr>
                    </a:pattFill>
                  </a:tcPr>
                </a:tc>
                <a:extLst>
                  <a:ext uri="{0D108BD9-81ED-4DB2-BD59-A6C34878D82A}">
                    <a16:rowId xmlns:a16="http://schemas.microsoft.com/office/drawing/2014/main" val="10006"/>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length</a:t>
                      </a: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solidFill>
                      <a:srgbClr val="92D050"/>
                    </a:solidFill>
                  </a:tcPr>
                </a:tc>
                <a:extLst>
                  <a:ext uri="{0D108BD9-81ED-4DB2-BD59-A6C34878D82A}">
                    <a16:rowId xmlns:a16="http://schemas.microsoft.com/office/drawing/2014/main" val="10007"/>
                  </a:ext>
                </a:extLst>
              </a:tr>
            </a:tbl>
          </a:graphicData>
        </a:graphic>
      </p:graphicFrame>
      <p:sp>
        <p:nvSpPr>
          <p:cNvPr id="34" name="矩形 33"/>
          <p:cNvSpPr/>
          <p:nvPr/>
        </p:nvSpPr>
        <p:spPr>
          <a:xfrm>
            <a:off x="382689" y="4626438"/>
            <a:ext cx="1274708" cy="369332"/>
          </a:xfrm>
          <a:prstGeom prst="rect">
            <a:avLst/>
          </a:prstGeom>
        </p:spPr>
        <p:txBody>
          <a:bodyPr wrap="none">
            <a:spAutoFit/>
          </a:bodyPr>
          <a:lstStyle/>
          <a:p>
            <a:r>
              <a:rPr lang="en-US" altLang="zh-CN" dirty="0" err="1">
                <a:latin typeface="Times New Roman" pitchFamily="18" charset="0"/>
                <a:ea typeface="宋体" pitchFamily="2" charset="-122"/>
              </a:rPr>
              <a:t>SqList</a:t>
            </a:r>
            <a:r>
              <a:rPr lang="en-US" altLang="zh-CN" dirty="0">
                <a:latin typeface="Times New Roman" pitchFamily="18" charset="0"/>
                <a:ea typeface="宋体" pitchFamily="2" charset="-122"/>
              </a:rPr>
              <a:t> </a:t>
            </a:r>
            <a:r>
              <a:rPr lang="zh-CN" altLang="en-US" dirty="0">
                <a:latin typeface="Times New Roman" pitchFamily="18" charset="0"/>
                <a:ea typeface="宋体" pitchFamily="2" charset="-122"/>
              </a:rPr>
              <a:t> </a:t>
            </a:r>
            <a:r>
              <a:rPr lang="en-US" altLang="zh-CN" dirty="0">
                <a:latin typeface="Times New Roman" pitchFamily="18" charset="0"/>
                <a:ea typeface="宋体" pitchFamily="2" charset="-122"/>
              </a:rPr>
              <a:t>L</a:t>
            </a:r>
            <a:r>
              <a:rPr lang="zh-CN" altLang="en-US" dirty="0">
                <a:latin typeface="Times New Roman" pitchFamily="18" charset="0"/>
                <a:ea typeface="宋体" pitchFamily="2" charset="-122"/>
              </a:rPr>
              <a:t>；</a:t>
            </a:r>
          </a:p>
        </p:txBody>
      </p:sp>
      <p:sp>
        <p:nvSpPr>
          <p:cNvPr id="35" name="矩形 34"/>
          <p:cNvSpPr/>
          <p:nvPr/>
        </p:nvSpPr>
        <p:spPr>
          <a:xfrm>
            <a:off x="6850486" y="2104598"/>
            <a:ext cx="338554" cy="369332"/>
          </a:xfrm>
          <a:prstGeom prst="rect">
            <a:avLst/>
          </a:prstGeom>
        </p:spPr>
        <p:txBody>
          <a:bodyPr wrap="none">
            <a:spAutoFit/>
          </a:bodyPr>
          <a:lstStyle/>
          <a:p>
            <a:r>
              <a:rPr lang="en-US" altLang="zh-CN" b="1" dirty="0">
                <a:latin typeface="Times New Roman" pitchFamily="18" charset="0"/>
                <a:ea typeface="宋体" pitchFamily="2" charset="-122"/>
              </a:rPr>
              <a:t>L</a:t>
            </a:r>
            <a:endParaRPr lang="zh-CN" altLang="en-US" b="1" dirty="0">
              <a:latin typeface="Times New Roman" pitchFamily="18" charset="0"/>
              <a:ea typeface="宋体" pitchFamily="2" charset="-122"/>
            </a:endParaRPr>
          </a:p>
        </p:txBody>
      </p:sp>
      <p:sp>
        <p:nvSpPr>
          <p:cNvPr id="36" name="左大括号 35"/>
          <p:cNvSpPr/>
          <p:nvPr/>
        </p:nvSpPr>
        <p:spPr>
          <a:xfrm>
            <a:off x="7692266" y="2308689"/>
            <a:ext cx="120695" cy="162861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左大括号 36"/>
          <p:cNvSpPr/>
          <p:nvPr/>
        </p:nvSpPr>
        <p:spPr>
          <a:xfrm>
            <a:off x="7577671" y="2308690"/>
            <a:ext cx="114595" cy="193983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矩形 37"/>
          <p:cNvSpPr/>
          <p:nvPr/>
        </p:nvSpPr>
        <p:spPr>
          <a:xfrm>
            <a:off x="5797674" y="3282538"/>
            <a:ext cx="960519" cy="369332"/>
          </a:xfrm>
          <a:prstGeom prst="rect">
            <a:avLst/>
          </a:prstGeom>
        </p:spPr>
        <p:txBody>
          <a:bodyPr wrap="none">
            <a:spAutoFit/>
          </a:bodyPr>
          <a:lstStyle/>
          <a:p>
            <a:r>
              <a:rPr lang="en-US" altLang="zh-CN" dirty="0" err="1">
                <a:latin typeface="Times New Roman" pitchFamily="18" charset="0"/>
                <a:ea typeface="宋体" pitchFamily="2" charset="-122"/>
              </a:rPr>
              <a:t>L.length</a:t>
            </a:r>
            <a:endParaRPr lang="zh-CN" altLang="en-US" dirty="0">
              <a:latin typeface="Times New Roman" pitchFamily="18" charset="0"/>
              <a:ea typeface="宋体" pitchFamily="2" charset="-122"/>
            </a:endParaRPr>
          </a:p>
        </p:txBody>
      </p:sp>
      <p:sp>
        <p:nvSpPr>
          <p:cNvPr id="39" name="矩形 38"/>
          <p:cNvSpPr/>
          <p:nvPr/>
        </p:nvSpPr>
        <p:spPr>
          <a:xfrm>
            <a:off x="5809175" y="3798803"/>
            <a:ext cx="915635" cy="338554"/>
          </a:xfrm>
          <a:prstGeom prst="rect">
            <a:avLst/>
          </a:prstGeom>
        </p:spPr>
        <p:txBody>
          <a:bodyPr wrap="none">
            <a:spAutoFit/>
          </a:bodyPr>
          <a:lstStyle/>
          <a:p>
            <a:r>
              <a:rPr lang="en-US" altLang="zh-CN" sz="1600" dirty="0" err="1">
                <a:latin typeface="Times New Roman" pitchFamily="18" charset="0"/>
                <a:ea typeface="宋体" pitchFamily="2" charset="-122"/>
              </a:rPr>
              <a:t>MaxSize</a:t>
            </a:r>
            <a:endParaRPr lang="zh-CN" altLang="en-US" sz="1600" dirty="0">
              <a:latin typeface="Times New Roman" pitchFamily="18" charset="0"/>
              <a:ea typeface="宋体" pitchFamily="2" charset="-122"/>
            </a:endParaRPr>
          </a:p>
        </p:txBody>
      </p:sp>
      <p:sp>
        <p:nvSpPr>
          <p:cNvPr id="40" name="圆角矩形标注 39"/>
          <p:cNvSpPr/>
          <p:nvPr/>
        </p:nvSpPr>
        <p:spPr>
          <a:xfrm>
            <a:off x="5724128" y="3353408"/>
            <a:ext cx="1193903" cy="298461"/>
          </a:xfrm>
          <a:prstGeom prst="wedgeRoundRectCallout">
            <a:avLst>
              <a:gd name="adj1" fmla="val 114933"/>
              <a:gd name="adj2" fmla="val -152970"/>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圆角矩形标注 40"/>
          <p:cNvSpPr/>
          <p:nvPr/>
        </p:nvSpPr>
        <p:spPr>
          <a:xfrm>
            <a:off x="5724128" y="3839331"/>
            <a:ext cx="1193074" cy="298026"/>
          </a:xfrm>
          <a:prstGeom prst="wedgeRoundRectCallout">
            <a:avLst>
              <a:gd name="adj1" fmla="val 104714"/>
              <a:gd name="adj2" fmla="val -239157"/>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378065" y="2318114"/>
            <a:ext cx="5485649" cy="2308324"/>
          </a:xfrm>
          <a:prstGeom prst="rect">
            <a:avLst/>
          </a:prstGeom>
        </p:spPr>
        <p:txBody>
          <a:bodyPr wrap="square">
            <a:spAutoFit/>
          </a:bodyPr>
          <a:lstStyle/>
          <a:p>
            <a:r>
              <a:rPr lang="zh-CN" altLang="zh-CN" dirty="0">
                <a:latin typeface="微软雅黑" pitchFamily="34" charset="-122"/>
                <a:ea typeface="微软雅黑" pitchFamily="34" charset="-122"/>
                <a:cs typeface="经典粗黑简" pitchFamily="49" charset="-122"/>
              </a:rPr>
              <a:t>数据元素为整型的顺序表类型描述。</a:t>
            </a:r>
          </a:p>
          <a:p>
            <a:r>
              <a:rPr lang="en-US" altLang="zh-CN" dirty="0">
                <a:latin typeface="Times New Roman" pitchFamily="18" charset="0"/>
                <a:ea typeface="宋体" pitchFamily="2" charset="-122"/>
              </a:rPr>
              <a:t>#define </a:t>
            </a:r>
            <a:r>
              <a:rPr lang="en-US" altLang="zh-CN" dirty="0" err="1">
                <a:latin typeface="Times New Roman" pitchFamily="18" charset="0"/>
                <a:ea typeface="宋体" pitchFamily="2" charset="-122"/>
              </a:rPr>
              <a:t>MaxSize</a:t>
            </a:r>
            <a:r>
              <a:rPr lang="en-US" altLang="zh-CN" dirty="0">
                <a:latin typeface="Times New Roman" pitchFamily="18" charset="0"/>
                <a:ea typeface="宋体" pitchFamily="2" charset="-122"/>
              </a:rPr>
              <a:t> 100      </a:t>
            </a:r>
            <a:r>
              <a:rPr lang="en-US" altLang="zh-CN" dirty="0">
                <a:latin typeface="微软雅黑" pitchFamily="34" charset="-122"/>
                <a:ea typeface="微软雅黑" pitchFamily="34" charset="-122"/>
                <a:cs typeface="经典粗黑简" pitchFamily="49" charset="-122"/>
              </a:rPr>
              <a:t>//</a:t>
            </a:r>
            <a:r>
              <a:rPr lang="zh-CN" altLang="zh-CN" dirty="0">
                <a:latin typeface="微软雅黑" pitchFamily="34" charset="-122"/>
                <a:ea typeface="微软雅黑" pitchFamily="34" charset="-122"/>
                <a:cs typeface="经典粗黑简" pitchFamily="49" charset="-122"/>
              </a:rPr>
              <a:t>顺序表最大长度</a:t>
            </a:r>
            <a:endParaRPr lang="en-US" altLang="zh-CN" dirty="0">
              <a:latin typeface="微软雅黑" pitchFamily="34" charset="-122"/>
              <a:ea typeface="微软雅黑" pitchFamily="34" charset="-122"/>
              <a:cs typeface="经典粗黑简" pitchFamily="49" charset="-122"/>
            </a:endParaRPr>
          </a:p>
          <a:p>
            <a:r>
              <a:rPr lang="en-US" altLang="zh-CN" dirty="0">
                <a:latin typeface="Times New Roman" pitchFamily="18" charset="0"/>
                <a:ea typeface="宋体" pitchFamily="2" charset="-122"/>
              </a:rPr>
              <a:t>typedef int </a:t>
            </a:r>
            <a:r>
              <a:rPr lang="en-US" altLang="zh-CN" dirty="0" err="1">
                <a:latin typeface="Times New Roman" pitchFamily="18" charset="0"/>
                <a:ea typeface="宋体" pitchFamily="2" charset="-122"/>
              </a:rPr>
              <a:t>ElemType</a:t>
            </a:r>
            <a:r>
              <a:rPr lang="en-US" altLang="zh-CN" dirty="0">
                <a:latin typeface="Times New Roman" pitchFamily="18" charset="0"/>
                <a:ea typeface="宋体" pitchFamily="2" charset="-122"/>
              </a:rPr>
              <a:t>; </a:t>
            </a:r>
            <a:endParaRPr lang="zh-CN" altLang="zh-CN" dirty="0">
              <a:latin typeface="Times New Roman" pitchFamily="18" charset="0"/>
              <a:ea typeface="宋体" pitchFamily="2" charset="-122"/>
            </a:endParaRPr>
          </a:p>
          <a:p>
            <a:r>
              <a:rPr lang="en-US" altLang="zh-CN" dirty="0" err="1">
                <a:latin typeface="Times New Roman" pitchFamily="18" charset="0"/>
                <a:ea typeface="宋体" pitchFamily="2" charset="-122"/>
              </a:rPr>
              <a:t>typedef</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struct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a:t>
            </a:r>
          </a:p>
          <a:p>
            <a:r>
              <a:rPr lang="en-US" altLang="zh-CN" dirty="0">
                <a:latin typeface="Times New Roman" pitchFamily="18" charset="0"/>
                <a:ea typeface="宋体" pitchFamily="2" charset="-122"/>
              </a:rPr>
              <a:t>     </a:t>
            </a:r>
            <a:r>
              <a:rPr lang="en-US" altLang="zh-CN" dirty="0" err="1">
                <a:latin typeface="Times New Roman" pitchFamily="18" charset="0"/>
              </a:rPr>
              <a:t>ElemType</a:t>
            </a:r>
            <a:r>
              <a:rPr lang="en-US" altLang="zh-CN" dirty="0">
                <a:latin typeface="Times New Roman" pitchFamily="18" charset="0"/>
                <a:ea typeface="宋体" pitchFamily="2" charset="-122"/>
              </a:rPr>
              <a:t> data[</a:t>
            </a:r>
            <a:r>
              <a:rPr lang="en-US" altLang="zh-CN" dirty="0" err="1">
                <a:latin typeface="Times New Roman" pitchFamily="18" charset="0"/>
              </a:rPr>
              <a:t>MaxSize</a:t>
            </a:r>
            <a:r>
              <a:rPr lang="en-US" altLang="zh-CN" dirty="0">
                <a:latin typeface="Times New Roman" pitchFamily="18" charset="0"/>
                <a:ea typeface="宋体" pitchFamily="2" charset="-122"/>
              </a:rPr>
              <a:t>];  </a:t>
            </a:r>
            <a:r>
              <a:rPr lang="en-US" altLang="zh-CN" dirty="0">
                <a:latin typeface="微软雅黑" pitchFamily="34" charset="-122"/>
                <a:ea typeface="微软雅黑" pitchFamily="34" charset="-122"/>
                <a:cs typeface="经典粗黑简" pitchFamily="49" charset="-122"/>
              </a:rPr>
              <a:t>//</a:t>
            </a:r>
            <a:r>
              <a:rPr lang="zh-CN" altLang="zh-CN" dirty="0">
                <a:latin typeface="微软雅黑" pitchFamily="34" charset="-122"/>
                <a:ea typeface="微软雅黑" pitchFamily="34" charset="-122"/>
                <a:cs typeface="经典粗黑简" pitchFamily="49" charset="-122"/>
              </a:rPr>
              <a:t>存放数据元素的数组</a:t>
            </a:r>
          </a:p>
          <a:p>
            <a:r>
              <a:rPr lang="en-US" altLang="zh-CN" dirty="0">
                <a:latin typeface="Times New Roman" pitchFamily="18" charset="0"/>
                <a:ea typeface="宋体" pitchFamily="2" charset="-122"/>
              </a:rPr>
              <a:t>     int length;                </a:t>
            </a:r>
            <a:r>
              <a:rPr lang="en-US" altLang="zh-CN" dirty="0">
                <a:latin typeface="微软雅黑" pitchFamily="34" charset="-122"/>
                <a:ea typeface="微软雅黑" pitchFamily="34" charset="-122"/>
                <a:cs typeface="经典粗黑简" pitchFamily="49" charset="-122"/>
              </a:rPr>
              <a:t>//</a:t>
            </a:r>
            <a:r>
              <a:rPr lang="zh-CN" altLang="zh-CN" dirty="0">
                <a:latin typeface="微软雅黑" pitchFamily="34" charset="-122"/>
                <a:ea typeface="微软雅黑" pitchFamily="34" charset="-122"/>
                <a:cs typeface="经典粗黑简" pitchFamily="49" charset="-122"/>
              </a:rPr>
              <a:t>顺序表的长度</a:t>
            </a:r>
          </a:p>
          <a:p>
            <a:r>
              <a:rPr lang="en-US" altLang="zh-CN" dirty="0">
                <a:latin typeface="Times New Roman" pitchFamily="18" charset="0"/>
                <a:ea typeface="宋体" pitchFamily="2" charset="-122"/>
              </a:rPr>
              <a:t>}</a:t>
            </a:r>
            <a:r>
              <a:rPr lang="en-US" altLang="zh-CN" dirty="0" err="1">
                <a:latin typeface="Times New Roman" pitchFamily="18" charset="0"/>
                <a:ea typeface="宋体" pitchFamily="2" charset="-122"/>
              </a:rPr>
              <a:t>SqList</a:t>
            </a:r>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p:txBody>
      </p:sp>
      <p:cxnSp>
        <p:nvCxnSpPr>
          <p:cNvPr id="24" name="直接连接符 23"/>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6" name="圆角矩形标注 25"/>
          <p:cNvSpPr/>
          <p:nvPr/>
        </p:nvSpPr>
        <p:spPr>
          <a:xfrm>
            <a:off x="5797674" y="2543450"/>
            <a:ext cx="1207290" cy="277299"/>
          </a:xfrm>
          <a:prstGeom prst="wedgeRoundRectCallout">
            <a:avLst>
              <a:gd name="adj1" fmla="val 114933"/>
              <a:gd name="adj2" fmla="val -152970"/>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5936585" y="2451418"/>
            <a:ext cx="768159" cy="369332"/>
          </a:xfrm>
          <a:prstGeom prst="rect">
            <a:avLst/>
          </a:prstGeom>
        </p:spPr>
        <p:txBody>
          <a:bodyPr wrap="none">
            <a:spAutoFit/>
          </a:bodyPr>
          <a:lstStyle/>
          <a:p>
            <a:r>
              <a:rPr lang="en-US" altLang="zh-CN" dirty="0" err="1">
                <a:latin typeface="Times New Roman" pitchFamily="18" charset="0"/>
                <a:ea typeface="宋体" pitchFamily="2" charset="-122"/>
              </a:rPr>
              <a:t>L.data</a:t>
            </a:r>
            <a:endParaRPr lang="zh-CN" altLang="en-US" dirty="0">
              <a:latin typeface="Times New Roman" pitchFamily="18" charset="0"/>
              <a:ea typeface="宋体" pitchFamily="2" charset="-122"/>
            </a:endParaRPr>
          </a:p>
        </p:txBody>
      </p:sp>
      <p:sp>
        <p:nvSpPr>
          <p:cNvPr id="3" name="矩形 2"/>
          <p:cNvSpPr/>
          <p:nvPr/>
        </p:nvSpPr>
        <p:spPr>
          <a:xfrm>
            <a:off x="8028385" y="3978102"/>
            <a:ext cx="646331" cy="369332"/>
          </a:xfrm>
          <a:prstGeom prst="rect">
            <a:avLst/>
          </a:prstGeom>
        </p:spPr>
        <p:txBody>
          <a:bodyPr wrap="none">
            <a:spAutoFit/>
          </a:bodyPr>
          <a:lstStyle/>
          <a:p>
            <a:r>
              <a:rPr lang="zh-CN" altLang="en-US" dirty="0"/>
              <a:t>空闲</a:t>
            </a:r>
          </a:p>
        </p:txBody>
      </p:sp>
      <p:sp>
        <p:nvSpPr>
          <p:cNvPr id="2" name="Rectangle 2">
            <a:extLst>
              <a:ext uri="{FF2B5EF4-FFF2-40B4-BE49-F238E27FC236}">
                <a16:creationId xmlns:a16="http://schemas.microsoft.com/office/drawing/2014/main" id="{08FE179B-BBDF-104D-E66D-7D9927E5646E}"/>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4" name="矩形 3">
            <a:extLst>
              <a:ext uri="{FF2B5EF4-FFF2-40B4-BE49-F238E27FC236}">
                <a16:creationId xmlns:a16="http://schemas.microsoft.com/office/drawing/2014/main" id="{51342830-F2A1-128F-FB48-64B30089E9F6}"/>
              </a:ext>
            </a:extLst>
          </p:cNvPr>
          <p:cNvSpPr/>
          <p:nvPr/>
        </p:nvSpPr>
        <p:spPr>
          <a:xfrm>
            <a:off x="195716" y="892085"/>
            <a:ext cx="69685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2.2.1 </a:t>
            </a:r>
            <a:r>
              <a:rPr lang="zh-CN" altLang="en-US" sz="2800" b="1" dirty="0">
                <a:solidFill>
                  <a:schemeClr val="bg1"/>
                </a:solidFill>
                <a:latin typeface="经典粗黑简" pitchFamily="49" charset="-122"/>
                <a:ea typeface="经典粗黑简" pitchFamily="49" charset="-122"/>
                <a:cs typeface="经典粗黑简" pitchFamily="49" charset="-122"/>
              </a:rPr>
              <a:t>线性表的顺序存储结构</a:t>
            </a:r>
            <a:r>
              <a:rPr lang="en-US" altLang="zh-CN" sz="2800" b="1" dirty="0">
                <a:solidFill>
                  <a:schemeClr val="bg1"/>
                </a:solidFill>
                <a:latin typeface="经典粗黑简" pitchFamily="49" charset="-122"/>
                <a:ea typeface="经典粗黑简" pitchFamily="49" charset="-122"/>
                <a:cs typeface="经典粗黑简" pitchFamily="49" charset="-122"/>
              </a:rPr>
              <a:t>——</a:t>
            </a:r>
            <a:r>
              <a:rPr lang="zh-CN" altLang="en-US" sz="2800" b="1" dirty="0">
                <a:solidFill>
                  <a:schemeClr val="bg1"/>
                </a:solidFill>
                <a:latin typeface="经典粗黑简" pitchFamily="49" charset="-122"/>
                <a:ea typeface="经典粗黑简" pitchFamily="49" charset="-122"/>
                <a:cs typeface="经典粗黑简" pitchFamily="49" charset="-122"/>
              </a:rPr>
              <a:t>顺序表</a:t>
            </a:r>
          </a:p>
        </p:txBody>
      </p:sp>
    </p:spTree>
    <p:extLst>
      <p:ext uri="{BB962C8B-B14F-4D97-AF65-F5344CB8AC3E}">
        <p14:creationId xmlns:p14="http://schemas.microsoft.com/office/powerpoint/2010/main" val="3978131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animBg="1"/>
      <p:bldP spid="37" grpId="0" animBg="1"/>
      <p:bldP spid="38" grpId="0"/>
      <p:bldP spid="39" grpId="0"/>
      <p:bldP spid="40" grpId="0" animBg="1"/>
      <p:bldP spid="41" grpId="0" animBg="1"/>
      <p:bldP spid="18" grpId="0"/>
      <p:bldP spid="26" grpId="0" animBg="1"/>
      <p:bldP spid="27"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5F75E-F5F7-AA78-E240-DA6ED74A5A02}"/>
            </a:ext>
          </a:extLst>
        </p:cNvPr>
        <p:cNvGrpSpPr/>
        <p:nvPr/>
      </p:nvGrpSpPr>
      <p:grpSpPr>
        <a:xfrm>
          <a:off x="0" y="0"/>
          <a:ext cx="0" cy="0"/>
          <a:chOff x="0" y="0"/>
          <a:chExt cx="0" cy="0"/>
        </a:xfrm>
      </p:grpSpPr>
      <p:sp>
        <p:nvSpPr>
          <p:cNvPr id="32" name="矩形 31">
            <a:extLst>
              <a:ext uri="{FF2B5EF4-FFF2-40B4-BE49-F238E27FC236}">
                <a16:creationId xmlns:a16="http://schemas.microsoft.com/office/drawing/2014/main" id="{0FD39E4C-215B-7AEE-7A09-74D7619519A9}"/>
              </a:ext>
            </a:extLst>
          </p:cNvPr>
          <p:cNvSpPr/>
          <p:nvPr/>
        </p:nvSpPr>
        <p:spPr>
          <a:xfrm>
            <a:off x="719572" y="1614527"/>
            <a:ext cx="7704856" cy="707886"/>
          </a:xfrm>
          <a:prstGeom prst="rect">
            <a:avLst/>
          </a:prstGeom>
        </p:spPr>
        <p:txBody>
          <a:bodyPr wrap="square">
            <a:spAutoFit/>
          </a:bodyPr>
          <a:lstStyle/>
          <a:p>
            <a:r>
              <a:rPr lang="zh-CN" altLang="zh-CN" sz="2000" dirty="0">
                <a:latin typeface="微软雅黑" pitchFamily="34" charset="-122"/>
                <a:ea typeface="微软雅黑" pitchFamily="34" charset="-122"/>
                <a:cs typeface="经典粗黑简" pitchFamily="49" charset="-122"/>
              </a:rPr>
              <a:t>由于</a:t>
            </a:r>
            <a:r>
              <a:rPr lang="en-US" altLang="zh-CN" sz="2000" dirty="0">
                <a:latin typeface="微软雅黑" pitchFamily="34" charset="-122"/>
                <a:ea typeface="微软雅黑" pitchFamily="34" charset="-122"/>
                <a:cs typeface="经典粗黑简" pitchFamily="49" charset="-122"/>
              </a:rPr>
              <a:t>C</a:t>
            </a:r>
            <a:r>
              <a:rPr lang="zh-CN" altLang="en-US" sz="2000" dirty="0">
                <a:latin typeface="微软雅黑" pitchFamily="34" charset="-122"/>
                <a:ea typeface="微软雅黑" pitchFamily="34" charset="-122"/>
                <a:cs typeface="经典粗黑简" pitchFamily="49" charset="-122"/>
              </a:rPr>
              <a:t>语言</a:t>
            </a:r>
            <a:r>
              <a:rPr lang="zh-CN" altLang="zh-CN" sz="2000" dirty="0">
                <a:latin typeface="微软雅黑" pitchFamily="34" charset="-122"/>
                <a:ea typeface="微软雅黑" pitchFamily="34" charset="-122"/>
                <a:cs typeface="经典粗黑简" pitchFamily="49" charset="-122"/>
              </a:rPr>
              <a:t>中一维数组（即向量）也是采用顺序存储表示，因此可用一维数组来描述顺序表</a:t>
            </a:r>
            <a:r>
              <a:rPr lang="zh-CN" altLang="en-US" sz="2000" dirty="0">
                <a:latin typeface="微软雅黑" pitchFamily="34" charset="-122"/>
                <a:ea typeface="微软雅黑" pitchFamily="34" charset="-122"/>
                <a:cs typeface="经典粗黑简" pitchFamily="49" charset="-122"/>
              </a:rPr>
              <a:t>。</a:t>
            </a:r>
          </a:p>
        </p:txBody>
      </p:sp>
      <p:graphicFrame>
        <p:nvGraphicFramePr>
          <p:cNvPr id="33" name="表格 32">
            <a:extLst>
              <a:ext uri="{FF2B5EF4-FFF2-40B4-BE49-F238E27FC236}">
                <a16:creationId xmlns:a16="http://schemas.microsoft.com/office/drawing/2014/main" id="{71E2BCAD-B4D1-7B1A-CF6F-07D845C16B90}"/>
              </a:ext>
            </a:extLst>
          </p:cNvPr>
          <p:cNvGraphicFramePr>
            <a:graphicFrameLocks noGrp="1"/>
          </p:cNvGraphicFramePr>
          <p:nvPr/>
        </p:nvGraphicFramePr>
        <p:xfrm>
          <a:off x="7812961" y="2269197"/>
          <a:ext cx="1094967" cy="2267128"/>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err="1"/>
                        <a:t>a</a:t>
                      </a:r>
                      <a:r>
                        <a:rPr lang="en-US" altLang="zh-CN" sz="1400" baseline="-25000" dirty="0" err="1"/>
                        <a:t>i</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5"/>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pattFill prst="wdUpDiag">
                      <a:fgClr>
                        <a:srgbClr val="FFC000"/>
                      </a:fgClr>
                      <a:bgClr>
                        <a:schemeClr val="bg1"/>
                      </a:bgClr>
                    </a:pattFill>
                  </a:tcPr>
                </a:tc>
                <a:extLst>
                  <a:ext uri="{0D108BD9-81ED-4DB2-BD59-A6C34878D82A}">
                    <a16:rowId xmlns:a16="http://schemas.microsoft.com/office/drawing/2014/main" val="10006"/>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length</a:t>
                      </a: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solidFill>
                      <a:srgbClr val="92D050"/>
                    </a:solidFill>
                  </a:tcPr>
                </a:tc>
                <a:extLst>
                  <a:ext uri="{0D108BD9-81ED-4DB2-BD59-A6C34878D82A}">
                    <a16:rowId xmlns:a16="http://schemas.microsoft.com/office/drawing/2014/main" val="10007"/>
                  </a:ext>
                </a:extLst>
              </a:tr>
            </a:tbl>
          </a:graphicData>
        </a:graphic>
      </p:graphicFrame>
      <p:sp>
        <p:nvSpPr>
          <p:cNvPr id="34" name="矩形 33">
            <a:extLst>
              <a:ext uri="{FF2B5EF4-FFF2-40B4-BE49-F238E27FC236}">
                <a16:creationId xmlns:a16="http://schemas.microsoft.com/office/drawing/2014/main" id="{BC6216C8-F1B4-8026-2529-5FA220ABC0FC}"/>
              </a:ext>
            </a:extLst>
          </p:cNvPr>
          <p:cNvSpPr/>
          <p:nvPr/>
        </p:nvSpPr>
        <p:spPr>
          <a:xfrm>
            <a:off x="382689" y="4626438"/>
            <a:ext cx="1390124" cy="369332"/>
          </a:xfrm>
          <a:prstGeom prst="rect">
            <a:avLst/>
          </a:prstGeom>
        </p:spPr>
        <p:txBody>
          <a:bodyPr wrap="none">
            <a:spAutoFit/>
          </a:bodyPr>
          <a:lstStyle/>
          <a:p>
            <a:r>
              <a:rPr lang="en-US" altLang="zh-CN" dirty="0" err="1">
                <a:latin typeface="Times New Roman" pitchFamily="18" charset="0"/>
                <a:ea typeface="宋体" pitchFamily="2" charset="-122"/>
              </a:rPr>
              <a:t>SqList</a:t>
            </a:r>
            <a:r>
              <a:rPr lang="en-US" altLang="zh-CN" dirty="0">
                <a:latin typeface="Times New Roman" pitchFamily="18" charset="0"/>
                <a:ea typeface="宋体" pitchFamily="2" charset="-122"/>
              </a:rPr>
              <a:t> </a:t>
            </a:r>
            <a:r>
              <a:rPr lang="zh-CN" altLang="en-US" dirty="0">
                <a:latin typeface="Times New Roman" pitchFamily="18" charset="0"/>
                <a:ea typeface="宋体" pitchFamily="2" charset="-122"/>
              </a:rPr>
              <a:t> </a:t>
            </a:r>
            <a:r>
              <a:rPr lang="en-US" altLang="zh-CN" dirty="0">
                <a:latin typeface="Times New Roman" pitchFamily="18" charset="0"/>
                <a:ea typeface="宋体" pitchFamily="2" charset="-122"/>
              </a:rPr>
              <a:t>*L</a:t>
            </a:r>
            <a:r>
              <a:rPr lang="zh-CN" altLang="en-US" dirty="0">
                <a:latin typeface="Times New Roman" pitchFamily="18" charset="0"/>
                <a:ea typeface="宋体" pitchFamily="2" charset="-122"/>
              </a:rPr>
              <a:t>；</a:t>
            </a:r>
          </a:p>
        </p:txBody>
      </p:sp>
      <p:sp>
        <p:nvSpPr>
          <p:cNvPr id="35" name="矩形 34">
            <a:extLst>
              <a:ext uri="{FF2B5EF4-FFF2-40B4-BE49-F238E27FC236}">
                <a16:creationId xmlns:a16="http://schemas.microsoft.com/office/drawing/2014/main" id="{0E142474-626E-5355-E215-E0F84CF9B638}"/>
              </a:ext>
            </a:extLst>
          </p:cNvPr>
          <p:cNvSpPr/>
          <p:nvPr/>
        </p:nvSpPr>
        <p:spPr>
          <a:xfrm>
            <a:off x="6850486" y="2104598"/>
            <a:ext cx="338554" cy="369332"/>
          </a:xfrm>
          <a:prstGeom prst="rect">
            <a:avLst/>
          </a:prstGeom>
        </p:spPr>
        <p:txBody>
          <a:bodyPr wrap="none">
            <a:spAutoFit/>
          </a:bodyPr>
          <a:lstStyle/>
          <a:p>
            <a:r>
              <a:rPr lang="en-US" altLang="zh-CN" b="1" dirty="0">
                <a:latin typeface="Times New Roman" pitchFamily="18" charset="0"/>
                <a:ea typeface="宋体" pitchFamily="2" charset="-122"/>
              </a:rPr>
              <a:t>L</a:t>
            </a:r>
            <a:endParaRPr lang="zh-CN" altLang="en-US" b="1" dirty="0">
              <a:latin typeface="Times New Roman" pitchFamily="18" charset="0"/>
              <a:ea typeface="宋体" pitchFamily="2" charset="-122"/>
            </a:endParaRPr>
          </a:p>
        </p:txBody>
      </p:sp>
      <p:sp>
        <p:nvSpPr>
          <p:cNvPr id="36" name="左大括号 35">
            <a:extLst>
              <a:ext uri="{FF2B5EF4-FFF2-40B4-BE49-F238E27FC236}">
                <a16:creationId xmlns:a16="http://schemas.microsoft.com/office/drawing/2014/main" id="{CB70143A-D73A-1759-DFAC-F8AAB1A9AD27}"/>
              </a:ext>
            </a:extLst>
          </p:cNvPr>
          <p:cNvSpPr/>
          <p:nvPr/>
        </p:nvSpPr>
        <p:spPr>
          <a:xfrm>
            <a:off x="7692266" y="2308689"/>
            <a:ext cx="120695" cy="162861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左大括号 36">
            <a:extLst>
              <a:ext uri="{FF2B5EF4-FFF2-40B4-BE49-F238E27FC236}">
                <a16:creationId xmlns:a16="http://schemas.microsoft.com/office/drawing/2014/main" id="{A0D5B29E-9282-D4F1-CCBC-A6A559A14127}"/>
              </a:ext>
            </a:extLst>
          </p:cNvPr>
          <p:cNvSpPr/>
          <p:nvPr/>
        </p:nvSpPr>
        <p:spPr>
          <a:xfrm>
            <a:off x="7577671" y="2308690"/>
            <a:ext cx="114595" cy="193983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66A7131A-71B9-9B2A-25D0-4B992EAFD700}"/>
              </a:ext>
            </a:extLst>
          </p:cNvPr>
          <p:cNvSpPr/>
          <p:nvPr/>
        </p:nvSpPr>
        <p:spPr>
          <a:xfrm>
            <a:off x="5797674" y="3282538"/>
            <a:ext cx="1109599" cy="369332"/>
          </a:xfrm>
          <a:prstGeom prst="rect">
            <a:avLst/>
          </a:prstGeom>
        </p:spPr>
        <p:txBody>
          <a:bodyPr wrap="none">
            <a:spAutoFit/>
          </a:bodyPr>
          <a:lstStyle/>
          <a:p>
            <a:r>
              <a:rPr lang="en-US" altLang="zh-CN" dirty="0">
                <a:latin typeface="Times New Roman" pitchFamily="18" charset="0"/>
                <a:ea typeface="宋体" pitchFamily="2" charset="-122"/>
              </a:rPr>
              <a:t>L-&gt;length</a:t>
            </a:r>
            <a:endParaRPr lang="zh-CN" altLang="en-US" dirty="0">
              <a:latin typeface="Times New Roman" pitchFamily="18" charset="0"/>
              <a:ea typeface="宋体" pitchFamily="2" charset="-122"/>
            </a:endParaRPr>
          </a:p>
        </p:txBody>
      </p:sp>
      <p:sp>
        <p:nvSpPr>
          <p:cNvPr id="39" name="矩形 38">
            <a:extLst>
              <a:ext uri="{FF2B5EF4-FFF2-40B4-BE49-F238E27FC236}">
                <a16:creationId xmlns:a16="http://schemas.microsoft.com/office/drawing/2014/main" id="{6B3116A8-BBAB-7619-E94D-EBA63FB868D6}"/>
              </a:ext>
            </a:extLst>
          </p:cNvPr>
          <p:cNvSpPr/>
          <p:nvPr/>
        </p:nvSpPr>
        <p:spPr>
          <a:xfrm>
            <a:off x="5809175" y="3798803"/>
            <a:ext cx="915635" cy="338554"/>
          </a:xfrm>
          <a:prstGeom prst="rect">
            <a:avLst/>
          </a:prstGeom>
        </p:spPr>
        <p:txBody>
          <a:bodyPr wrap="none">
            <a:spAutoFit/>
          </a:bodyPr>
          <a:lstStyle/>
          <a:p>
            <a:r>
              <a:rPr lang="en-US" altLang="zh-CN" sz="1600" dirty="0" err="1">
                <a:latin typeface="Times New Roman" pitchFamily="18" charset="0"/>
                <a:ea typeface="宋体" pitchFamily="2" charset="-122"/>
              </a:rPr>
              <a:t>MaxSize</a:t>
            </a:r>
            <a:endParaRPr lang="zh-CN" altLang="en-US" sz="1600" dirty="0">
              <a:latin typeface="Times New Roman" pitchFamily="18" charset="0"/>
              <a:ea typeface="宋体" pitchFamily="2" charset="-122"/>
            </a:endParaRPr>
          </a:p>
        </p:txBody>
      </p:sp>
      <p:sp>
        <p:nvSpPr>
          <p:cNvPr id="40" name="圆角矩形标注 39">
            <a:extLst>
              <a:ext uri="{FF2B5EF4-FFF2-40B4-BE49-F238E27FC236}">
                <a16:creationId xmlns:a16="http://schemas.microsoft.com/office/drawing/2014/main" id="{D6D30905-5D4E-1C98-8B74-4B9B121B61BF}"/>
              </a:ext>
            </a:extLst>
          </p:cNvPr>
          <p:cNvSpPr/>
          <p:nvPr/>
        </p:nvSpPr>
        <p:spPr>
          <a:xfrm>
            <a:off x="5724128" y="3353408"/>
            <a:ext cx="1193903" cy="298461"/>
          </a:xfrm>
          <a:prstGeom prst="wedgeRoundRectCallout">
            <a:avLst>
              <a:gd name="adj1" fmla="val 114933"/>
              <a:gd name="adj2" fmla="val -152970"/>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圆角矩形标注 40">
            <a:extLst>
              <a:ext uri="{FF2B5EF4-FFF2-40B4-BE49-F238E27FC236}">
                <a16:creationId xmlns:a16="http://schemas.microsoft.com/office/drawing/2014/main" id="{9A63DF62-83C4-4876-B4EA-7025600D2D35}"/>
              </a:ext>
            </a:extLst>
          </p:cNvPr>
          <p:cNvSpPr/>
          <p:nvPr/>
        </p:nvSpPr>
        <p:spPr>
          <a:xfrm>
            <a:off x="5724128" y="3839331"/>
            <a:ext cx="1193074" cy="298026"/>
          </a:xfrm>
          <a:prstGeom prst="wedgeRoundRectCallout">
            <a:avLst>
              <a:gd name="adj1" fmla="val 104714"/>
              <a:gd name="adj2" fmla="val -239157"/>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a:extLst>
              <a:ext uri="{FF2B5EF4-FFF2-40B4-BE49-F238E27FC236}">
                <a16:creationId xmlns:a16="http://schemas.microsoft.com/office/drawing/2014/main" id="{BE7290EF-1EA2-7C79-351F-6CCB7B2D7057}"/>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6" name="圆角矩形标注 25">
            <a:extLst>
              <a:ext uri="{FF2B5EF4-FFF2-40B4-BE49-F238E27FC236}">
                <a16:creationId xmlns:a16="http://schemas.microsoft.com/office/drawing/2014/main" id="{20F3FC78-2A9F-1F0E-05BA-758EAA0D9740}"/>
              </a:ext>
            </a:extLst>
          </p:cNvPr>
          <p:cNvSpPr/>
          <p:nvPr/>
        </p:nvSpPr>
        <p:spPr>
          <a:xfrm>
            <a:off x="5797674" y="2543450"/>
            <a:ext cx="1207290" cy="277299"/>
          </a:xfrm>
          <a:prstGeom prst="wedgeRoundRectCallout">
            <a:avLst>
              <a:gd name="adj1" fmla="val 114933"/>
              <a:gd name="adj2" fmla="val -152970"/>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598D6AF9-D6FE-ADE9-50B4-F2604EFEA167}"/>
              </a:ext>
            </a:extLst>
          </p:cNvPr>
          <p:cNvSpPr/>
          <p:nvPr/>
        </p:nvSpPr>
        <p:spPr>
          <a:xfrm>
            <a:off x="5936585" y="2451418"/>
            <a:ext cx="917239" cy="369332"/>
          </a:xfrm>
          <a:prstGeom prst="rect">
            <a:avLst/>
          </a:prstGeom>
        </p:spPr>
        <p:txBody>
          <a:bodyPr wrap="none">
            <a:spAutoFit/>
          </a:bodyPr>
          <a:lstStyle/>
          <a:p>
            <a:r>
              <a:rPr lang="en-US" altLang="zh-CN" dirty="0">
                <a:latin typeface="Times New Roman" pitchFamily="18" charset="0"/>
                <a:ea typeface="宋体" pitchFamily="2" charset="-122"/>
              </a:rPr>
              <a:t>L-&gt;data</a:t>
            </a:r>
            <a:endParaRPr lang="zh-CN" altLang="en-US" dirty="0">
              <a:latin typeface="Times New Roman" pitchFamily="18" charset="0"/>
              <a:ea typeface="宋体" pitchFamily="2" charset="-122"/>
            </a:endParaRPr>
          </a:p>
        </p:txBody>
      </p:sp>
      <p:sp>
        <p:nvSpPr>
          <p:cNvPr id="3" name="矩形 2">
            <a:extLst>
              <a:ext uri="{FF2B5EF4-FFF2-40B4-BE49-F238E27FC236}">
                <a16:creationId xmlns:a16="http://schemas.microsoft.com/office/drawing/2014/main" id="{6A092739-D530-306F-E0D0-B612B8EBA710}"/>
              </a:ext>
            </a:extLst>
          </p:cNvPr>
          <p:cNvSpPr/>
          <p:nvPr/>
        </p:nvSpPr>
        <p:spPr>
          <a:xfrm>
            <a:off x="8028385" y="3978102"/>
            <a:ext cx="646331" cy="369332"/>
          </a:xfrm>
          <a:prstGeom prst="rect">
            <a:avLst/>
          </a:prstGeom>
        </p:spPr>
        <p:txBody>
          <a:bodyPr wrap="none">
            <a:spAutoFit/>
          </a:bodyPr>
          <a:lstStyle/>
          <a:p>
            <a:r>
              <a:rPr lang="zh-CN" altLang="en-US" dirty="0"/>
              <a:t>空闲</a:t>
            </a:r>
          </a:p>
        </p:txBody>
      </p:sp>
      <p:sp>
        <p:nvSpPr>
          <p:cNvPr id="2" name="Rectangle 2">
            <a:extLst>
              <a:ext uri="{FF2B5EF4-FFF2-40B4-BE49-F238E27FC236}">
                <a16:creationId xmlns:a16="http://schemas.microsoft.com/office/drawing/2014/main" id="{D0B693FB-72C5-DD6D-6B1F-9F139A6592DC}"/>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4" name="矩形 3">
            <a:extLst>
              <a:ext uri="{FF2B5EF4-FFF2-40B4-BE49-F238E27FC236}">
                <a16:creationId xmlns:a16="http://schemas.microsoft.com/office/drawing/2014/main" id="{A47D0709-A99E-4AE4-E1A8-21E7FC6CD7FA}"/>
              </a:ext>
            </a:extLst>
          </p:cNvPr>
          <p:cNvSpPr/>
          <p:nvPr/>
        </p:nvSpPr>
        <p:spPr>
          <a:xfrm>
            <a:off x="195716" y="892085"/>
            <a:ext cx="69685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2.2.1 </a:t>
            </a:r>
            <a:r>
              <a:rPr lang="zh-CN" altLang="en-US" sz="2800" b="1" dirty="0">
                <a:solidFill>
                  <a:schemeClr val="bg1"/>
                </a:solidFill>
                <a:latin typeface="经典粗黑简" pitchFamily="49" charset="-122"/>
                <a:ea typeface="经典粗黑简" pitchFamily="49" charset="-122"/>
                <a:cs typeface="经典粗黑简" pitchFamily="49" charset="-122"/>
              </a:rPr>
              <a:t>线性表的顺序存储结构</a:t>
            </a:r>
            <a:r>
              <a:rPr lang="en-US" altLang="zh-CN" sz="2800" b="1" dirty="0">
                <a:solidFill>
                  <a:schemeClr val="bg1"/>
                </a:solidFill>
                <a:latin typeface="经典粗黑简" pitchFamily="49" charset="-122"/>
                <a:ea typeface="经典粗黑简" pitchFamily="49" charset="-122"/>
                <a:cs typeface="经典粗黑简" pitchFamily="49" charset="-122"/>
              </a:rPr>
              <a:t>——</a:t>
            </a:r>
            <a:r>
              <a:rPr lang="zh-CN" altLang="en-US" sz="2800" b="1" dirty="0">
                <a:solidFill>
                  <a:schemeClr val="bg1"/>
                </a:solidFill>
                <a:latin typeface="经典粗黑简" pitchFamily="49" charset="-122"/>
                <a:ea typeface="经典粗黑简" pitchFamily="49" charset="-122"/>
                <a:cs typeface="经典粗黑简" pitchFamily="49" charset="-122"/>
              </a:rPr>
              <a:t>顺序表</a:t>
            </a:r>
          </a:p>
        </p:txBody>
      </p:sp>
      <p:cxnSp>
        <p:nvCxnSpPr>
          <p:cNvPr id="9" name="直接箭头连接符 8">
            <a:extLst>
              <a:ext uri="{FF2B5EF4-FFF2-40B4-BE49-F238E27FC236}">
                <a16:creationId xmlns:a16="http://schemas.microsoft.com/office/drawing/2014/main" id="{0F938A2E-01BA-C0F3-C7FB-1A6427D6E2DF}"/>
              </a:ext>
            </a:extLst>
          </p:cNvPr>
          <p:cNvCxnSpPr>
            <a:cxnSpLocks/>
          </p:cNvCxnSpPr>
          <p:nvPr/>
        </p:nvCxnSpPr>
        <p:spPr>
          <a:xfrm>
            <a:off x="7117334" y="2244066"/>
            <a:ext cx="623018"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F3D522FF-2FC7-DBC0-6FC9-B9DA7E37F79D}"/>
              </a:ext>
            </a:extLst>
          </p:cNvPr>
          <p:cNvSpPr/>
          <p:nvPr/>
        </p:nvSpPr>
        <p:spPr>
          <a:xfrm>
            <a:off x="378065" y="2318114"/>
            <a:ext cx="5485649" cy="2308324"/>
          </a:xfrm>
          <a:prstGeom prst="rect">
            <a:avLst/>
          </a:prstGeom>
        </p:spPr>
        <p:txBody>
          <a:bodyPr wrap="square">
            <a:spAutoFit/>
          </a:bodyPr>
          <a:lstStyle/>
          <a:p>
            <a:r>
              <a:rPr lang="zh-CN" altLang="zh-CN" dirty="0">
                <a:latin typeface="微软雅黑" pitchFamily="34" charset="-122"/>
                <a:ea typeface="微软雅黑" pitchFamily="34" charset="-122"/>
                <a:cs typeface="经典粗黑简" pitchFamily="49" charset="-122"/>
              </a:rPr>
              <a:t>数据元素为整型的顺序表类型描述。</a:t>
            </a:r>
          </a:p>
          <a:p>
            <a:r>
              <a:rPr lang="en-US" altLang="zh-CN" dirty="0">
                <a:latin typeface="Times New Roman" pitchFamily="18" charset="0"/>
                <a:ea typeface="宋体" pitchFamily="2" charset="-122"/>
              </a:rPr>
              <a:t>#define </a:t>
            </a:r>
            <a:r>
              <a:rPr lang="en-US" altLang="zh-CN" dirty="0" err="1">
                <a:latin typeface="Times New Roman" pitchFamily="18" charset="0"/>
                <a:ea typeface="宋体" pitchFamily="2" charset="-122"/>
              </a:rPr>
              <a:t>MaxSize</a:t>
            </a:r>
            <a:r>
              <a:rPr lang="en-US" altLang="zh-CN" dirty="0">
                <a:latin typeface="Times New Roman" pitchFamily="18" charset="0"/>
                <a:ea typeface="宋体" pitchFamily="2" charset="-122"/>
              </a:rPr>
              <a:t> 100      </a:t>
            </a:r>
            <a:r>
              <a:rPr lang="en-US" altLang="zh-CN" dirty="0">
                <a:latin typeface="微软雅黑" pitchFamily="34" charset="-122"/>
                <a:ea typeface="微软雅黑" pitchFamily="34" charset="-122"/>
                <a:cs typeface="经典粗黑简" pitchFamily="49" charset="-122"/>
              </a:rPr>
              <a:t>//</a:t>
            </a:r>
            <a:r>
              <a:rPr lang="zh-CN" altLang="zh-CN" dirty="0">
                <a:latin typeface="微软雅黑" pitchFamily="34" charset="-122"/>
                <a:ea typeface="微软雅黑" pitchFamily="34" charset="-122"/>
                <a:cs typeface="经典粗黑简" pitchFamily="49" charset="-122"/>
              </a:rPr>
              <a:t>顺序表最大长度</a:t>
            </a:r>
            <a:endParaRPr lang="en-US" altLang="zh-CN" dirty="0">
              <a:latin typeface="微软雅黑" pitchFamily="34" charset="-122"/>
              <a:ea typeface="微软雅黑" pitchFamily="34" charset="-122"/>
              <a:cs typeface="经典粗黑简" pitchFamily="49" charset="-122"/>
            </a:endParaRPr>
          </a:p>
          <a:p>
            <a:r>
              <a:rPr lang="en-US" altLang="zh-CN" dirty="0">
                <a:latin typeface="Times New Roman" pitchFamily="18" charset="0"/>
                <a:ea typeface="宋体" pitchFamily="2" charset="-122"/>
              </a:rPr>
              <a:t>typedef int </a:t>
            </a:r>
            <a:r>
              <a:rPr lang="en-US" altLang="zh-CN" dirty="0" err="1">
                <a:latin typeface="Times New Roman" pitchFamily="18" charset="0"/>
                <a:ea typeface="宋体" pitchFamily="2" charset="-122"/>
              </a:rPr>
              <a:t>ElemType</a:t>
            </a:r>
            <a:r>
              <a:rPr lang="en-US" altLang="zh-CN" dirty="0">
                <a:latin typeface="Times New Roman" pitchFamily="18" charset="0"/>
                <a:ea typeface="宋体" pitchFamily="2" charset="-122"/>
              </a:rPr>
              <a:t>; </a:t>
            </a:r>
            <a:endParaRPr lang="zh-CN" altLang="zh-CN" dirty="0">
              <a:latin typeface="Times New Roman" pitchFamily="18" charset="0"/>
              <a:ea typeface="宋体" pitchFamily="2" charset="-122"/>
            </a:endParaRPr>
          </a:p>
          <a:p>
            <a:r>
              <a:rPr lang="en-US" altLang="zh-CN" dirty="0" err="1">
                <a:latin typeface="Times New Roman" pitchFamily="18" charset="0"/>
                <a:ea typeface="宋体" pitchFamily="2" charset="-122"/>
              </a:rPr>
              <a:t>typedef</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struct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a:t>
            </a:r>
          </a:p>
          <a:p>
            <a:r>
              <a:rPr lang="en-US" altLang="zh-CN" dirty="0">
                <a:latin typeface="Times New Roman" pitchFamily="18" charset="0"/>
                <a:ea typeface="宋体" pitchFamily="2" charset="-122"/>
              </a:rPr>
              <a:t>     </a:t>
            </a:r>
            <a:r>
              <a:rPr lang="en-US" altLang="zh-CN" dirty="0" err="1">
                <a:latin typeface="Times New Roman" pitchFamily="18" charset="0"/>
              </a:rPr>
              <a:t>ElemType</a:t>
            </a:r>
            <a:r>
              <a:rPr lang="en-US" altLang="zh-CN" dirty="0">
                <a:latin typeface="Times New Roman" pitchFamily="18" charset="0"/>
                <a:ea typeface="宋体" pitchFamily="2" charset="-122"/>
              </a:rPr>
              <a:t> data[</a:t>
            </a:r>
            <a:r>
              <a:rPr lang="en-US" altLang="zh-CN" dirty="0" err="1">
                <a:latin typeface="Times New Roman" pitchFamily="18" charset="0"/>
              </a:rPr>
              <a:t>MaxSize</a:t>
            </a:r>
            <a:r>
              <a:rPr lang="en-US" altLang="zh-CN" dirty="0">
                <a:latin typeface="Times New Roman" pitchFamily="18" charset="0"/>
                <a:ea typeface="宋体" pitchFamily="2" charset="-122"/>
              </a:rPr>
              <a:t>];  </a:t>
            </a:r>
            <a:r>
              <a:rPr lang="en-US" altLang="zh-CN" dirty="0">
                <a:latin typeface="微软雅黑" pitchFamily="34" charset="-122"/>
                <a:ea typeface="微软雅黑" pitchFamily="34" charset="-122"/>
                <a:cs typeface="经典粗黑简" pitchFamily="49" charset="-122"/>
              </a:rPr>
              <a:t>//</a:t>
            </a:r>
            <a:r>
              <a:rPr lang="zh-CN" altLang="zh-CN" dirty="0">
                <a:latin typeface="微软雅黑" pitchFamily="34" charset="-122"/>
                <a:ea typeface="微软雅黑" pitchFamily="34" charset="-122"/>
                <a:cs typeface="经典粗黑简" pitchFamily="49" charset="-122"/>
              </a:rPr>
              <a:t>存放数据元素的数组</a:t>
            </a:r>
          </a:p>
          <a:p>
            <a:r>
              <a:rPr lang="en-US" altLang="zh-CN" dirty="0">
                <a:latin typeface="Times New Roman" pitchFamily="18" charset="0"/>
                <a:ea typeface="宋体" pitchFamily="2" charset="-122"/>
              </a:rPr>
              <a:t>     int length;                </a:t>
            </a:r>
            <a:r>
              <a:rPr lang="en-US" altLang="zh-CN" dirty="0">
                <a:latin typeface="微软雅黑" pitchFamily="34" charset="-122"/>
                <a:ea typeface="微软雅黑" pitchFamily="34" charset="-122"/>
                <a:cs typeface="经典粗黑简" pitchFamily="49" charset="-122"/>
              </a:rPr>
              <a:t>//</a:t>
            </a:r>
            <a:r>
              <a:rPr lang="zh-CN" altLang="zh-CN" dirty="0">
                <a:latin typeface="微软雅黑" pitchFamily="34" charset="-122"/>
                <a:ea typeface="微软雅黑" pitchFamily="34" charset="-122"/>
                <a:cs typeface="经典粗黑简" pitchFamily="49" charset="-122"/>
              </a:rPr>
              <a:t>顺序表的长度</a:t>
            </a:r>
          </a:p>
          <a:p>
            <a:r>
              <a:rPr lang="en-US" altLang="zh-CN" dirty="0">
                <a:latin typeface="Times New Roman" pitchFamily="18" charset="0"/>
                <a:ea typeface="宋体" pitchFamily="2" charset="-122"/>
              </a:rPr>
              <a:t>}</a:t>
            </a:r>
            <a:r>
              <a:rPr lang="en-US" altLang="zh-CN" dirty="0" err="1">
                <a:latin typeface="Times New Roman" pitchFamily="18" charset="0"/>
                <a:ea typeface="宋体" pitchFamily="2" charset="-122"/>
              </a:rPr>
              <a:t>SqList</a:t>
            </a:r>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p:txBody>
      </p:sp>
    </p:spTree>
    <p:extLst>
      <p:ext uri="{BB962C8B-B14F-4D97-AF65-F5344CB8AC3E}">
        <p14:creationId xmlns:p14="http://schemas.microsoft.com/office/powerpoint/2010/main" val="4208427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animBg="1"/>
      <p:bldP spid="37" grpId="0" animBg="1"/>
      <p:bldP spid="38" grpId="0"/>
      <p:bldP spid="39" grpId="0"/>
      <p:bldP spid="40" grpId="0" animBg="1"/>
      <p:bldP spid="41" grpId="0" animBg="1"/>
      <p:bldP spid="26" grpId="0" animBg="1"/>
      <p:bldP spid="27" grpId="0"/>
      <p:bldP spid="3"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C3C0-0258-7517-CC62-C6FC1A4C3629}"/>
            </a:ext>
          </a:extLst>
        </p:cNvPr>
        <p:cNvGrpSpPr/>
        <p:nvPr/>
      </p:nvGrpSpPr>
      <p:grpSpPr>
        <a:xfrm>
          <a:off x="0" y="0"/>
          <a:ext cx="0" cy="0"/>
          <a:chOff x="0" y="0"/>
          <a:chExt cx="0" cy="0"/>
        </a:xfrm>
      </p:grpSpPr>
      <p:graphicFrame>
        <p:nvGraphicFramePr>
          <p:cNvPr id="33" name="表格 32">
            <a:extLst>
              <a:ext uri="{FF2B5EF4-FFF2-40B4-BE49-F238E27FC236}">
                <a16:creationId xmlns:a16="http://schemas.microsoft.com/office/drawing/2014/main" id="{F5AF83BD-9892-0378-FC83-B706BBA049A7}"/>
              </a:ext>
            </a:extLst>
          </p:cNvPr>
          <p:cNvGraphicFramePr>
            <a:graphicFrameLocks noGrp="1"/>
          </p:cNvGraphicFramePr>
          <p:nvPr>
            <p:extLst>
              <p:ext uri="{D42A27DB-BD31-4B8C-83A1-F6EECF244321}">
                <p14:modId xmlns:p14="http://schemas.microsoft.com/office/powerpoint/2010/main" val="1628028419"/>
              </p:ext>
            </p:extLst>
          </p:nvPr>
        </p:nvGraphicFramePr>
        <p:xfrm>
          <a:off x="7812961" y="2281402"/>
          <a:ext cx="1094967" cy="2267128"/>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0"/>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pattFill prst="wdUpDiag">
                      <a:fgClr>
                        <a:srgbClr val="FFC000"/>
                      </a:fgClr>
                      <a:bgClr>
                        <a:schemeClr val="bg1"/>
                      </a:bgClr>
                    </a:pattFill>
                  </a:tcPr>
                </a:tc>
                <a:extLst>
                  <a:ext uri="{0D108BD9-81ED-4DB2-BD59-A6C34878D82A}">
                    <a16:rowId xmlns:a16="http://schemas.microsoft.com/office/drawing/2014/main" val="10002"/>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pattFill prst="wdUpDiag">
                      <a:fgClr>
                        <a:srgbClr val="FFC000"/>
                      </a:fgClr>
                      <a:bgClr>
                        <a:schemeClr val="bg1"/>
                      </a:bgClr>
                    </a:pattFill>
                  </a:tcPr>
                </a:tc>
                <a:extLst>
                  <a:ext uri="{0D108BD9-81ED-4DB2-BD59-A6C34878D82A}">
                    <a16:rowId xmlns:a16="http://schemas.microsoft.com/office/drawing/2014/main" val="10004"/>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5"/>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pattFill prst="wdUpDiag">
                      <a:fgClr>
                        <a:srgbClr val="FFC000"/>
                      </a:fgClr>
                      <a:bgClr>
                        <a:schemeClr val="bg1"/>
                      </a:bgClr>
                    </a:pattFill>
                  </a:tcPr>
                </a:tc>
                <a:extLst>
                  <a:ext uri="{0D108BD9-81ED-4DB2-BD59-A6C34878D82A}">
                    <a16:rowId xmlns:a16="http://schemas.microsoft.com/office/drawing/2014/main" val="10006"/>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0</a:t>
                      </a: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solidFill>
                      <a:srgbClr val="92D050"/>
                    </a:solidFill>
                  </a:tcPr>
                </a:tc>
                <a:extLst>
                  <a:ext uri="{0D108BD9-81ED-4DB2-BD59-A6C34878D82A}">
                    <a16:rowId xmlns:a16="http://schemas.microsoft.com/office/drawing/2014/main" val="10007"/>
                  </a:ext>
                </a:extLst>
              </a:tr>
            </a:tbl>
          </a:graphicData>
        </a:graphic>
      </p:graphicFrame>
      <p:sp>
        <p:nvSpPr>
          <p:cNvPr id="35" name="矩形 34">
            <a:extLst>
              <a:ext uri="{FF2B5EF4-FFF2-40B4-BE49-F238E27FC236}">
                <a16:creationId xmlns:a16="http://schemas.microsoft.com/office/drawing/2014/main" id="{980AAD13-0110-AD6F-B0E3-3B7A129F833C}"/>
              </a:ext>
            </a:extLst>
          </p:cNvPr>
          <p:cNvSpPr/>
          <p:nvPr/>
        </p:nvSpPr>
        <p:spPr>
          <a:xfrm>
            <a:off x="6836346" y="1886689"/>
            <a:ext cx="338554" cy="369332"/>
          </a:xfrm>
          <a:prstGeom prst="rect">
            <a:avLst/>
          </a:prstGeom>
        </p:spPr>
        <p:txBody>
          <a:bodyPr wrap="none">
            <a:spAutoFit/>
          </a:bodyPr>
          <a:lstStyle/>
          <a:p>
            <a:r>
              <a:rPr lang="en-US" altLang="zh-CN" b="1" dirty="0">
                <a:latin typeface="Times New Roman" pitchFamily="18" charset="0"/>
                <a:ea typeface="宋体" pitchFamily="2" charset="-122"/>
              </a:rPr>
              <a:t>L</a:t>
            </a:r>
            <a:endParaRPr lang="zh-CN" altLang="en-US" b="1" dirty="0">
              <a:latin typeface="Times New Roman" pitchFamily="18" charset="0"/>
              <a:ea typeface="宋体" pitchFamily="2" charset="-122"/>
            </a:endParaRPr>
          </a:p>
        </p:txBody>
      </p:sp>
      <p:sp>
        <p:nvSpPr>
          <p:cNvPr id="38" name="矩形 37">
            <a:extLst>
              <a:ext uri="{FF2B5EF4-FFF2-40B4-BE49-F238E27FC236}">
                <a16:creationId xmlns:a16="http://schemas.microsoft.com/office/drawing/2014/main" id="{C464C2D7-C5FC-8CB3-5468-62CEFBC16B44}"/>
              </a:ext>
            </a:extLst>
          </p:cNvPr>
          <p:cNvSpPr/>
          <p:nvPr/>
        </p:nvSpPr>
        <p:spPr>
          <a:xfrm>
            <a:off x="6703362" y="4223638"/>
            <a:ext cx="1109599" cy="369332"/>
          </a:xfrm>
          <a:prstGeom prst="rect">
            <a:avLst/>
          </a:prstGeom>
        </p:spPr>
        <p:txBody>
          <a:bodyPr wrap="none">
            <a:spAutoFit/>
          </a:bodyPr>
          <a:lstStyle/>
          <a:p>
            <a:r>
              <a:rPr lang="en-US" altLang="zh-CN" dirty="0">
                <a:latin typeface="Times New Roman" pitchFamily="18" charset="0"/>
                <a:ea typeface="宋体" pitchFamily="2" charset="-122"/>
              </a:rPr>
              <a:t>L-&gt;length</a:t>
            </a:r>
            <a:endParaRPr lang="zh-CN" altLang="en-US" dirty="0">
              <a:latin typeface="Times New Roman" pitchFamily="18" charset="0"/>
              <a:ea typeface="宋体" pitchFamily="2" charset="-122"/>
            </a:endParaRPr>
          </a:p>
        </p:txBody>
      </p:sp>
      <p:sp>
        <p:nvSpPr>
          <p:cNvPr id="20" name="矩形 19">
            <a:extLst>
              <a:ext uri="{FF2B5EF4-FFF2-40B4-BE49-F238E27FC236}">
                <a16:creationId xmlns:a16="http://schemas.microsoft.com/office/drawing/2014/main" id="{55B07A8E-83CF-8912-81F6-589304F4CA2E}"/>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cxnSp>
        <p:nvCxnSpPr>
          <p:cNvPr id="24" name="直接连接符 23">
            <a:extLst>
              <a:ext uri="{FF2B5EF4-FFF2-40B4-BE49-F238E27FC236}">
                <a16:creationId xmlns:a16="http://schemas.microsoft.com/office/drawing/2014/main" id="{4B6FC752-811E-B027-9C2A-5C0FB862B373}"/>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717515F4-B22E-9A66-E8DD-F0674CBD9C2A}"/>
              </a:ext>
            </a:extLst>
          </p:cNvPr>
          <p:cNvSpPr/>
          <p:nvPr/>
        </p:nvSpPr>
        <p:spPr>
          <a:xfrm>
            <a:off x="6983487" y="2174638"/>
            <a:ext cx="917239" cy="369332"/>
          </a:xfrm>
          <a:prstGeom prst="rect">
            <a:avLst/>
          </a:prstGeom>
        </p:spPr>
        <p:txBody>
          <a:bodyPr wrap="none">
            <a:spAutoFit/>
          </a:bodyPr>
          <a:lstStyle/>
          <a:p>
            <a:r>
              <a:rPr lang="en-US" altLang="zh-CN" dirty="0">
                <a:latin typeface="Times New Roman" pitchFamily="18" charset="0"/>
                <a:ea typeface="宋体" pitchFamily="2" charset="-122"/>
              </a:rPr>
              <a:t>L-&gt;data</a:t>
            </a:r>
            <a:endParaRPr lang="zh-CN" altLang="en-US" dirty="0">
              <a:latin typeface="Times New Roman" pitchFamily="18" charset="0"/>
              <a:ea typeface="宋体" pitchFamily="2" charset="-122"/>
            </a:endParaRPr>
          </a:p>
        </p:txBody>
      </p:sp>
      <p:sp>
        <p:nvSpPr>
          <p:cNvPr id="3" name="矩形 2">
            <a:extLst>
              <a:ext uri="{FF2B5EF4-FFF2-40B4-BE49-F238E27FC236}">
                <a16:creationId xmlns:a16="http://schemas.microsoft.com/office/drawing/2014/main" id="{CC7EC7BF-8C0E-9016-D926-1070ED5557FF}"/>
              </a:ext>
            </a:extLst>
          </p:cNvPr>
          <p:cNvSpPr/>
          <p:nvPr/>
        </p:nvSpPr>
        <p:spPr>
          <a:xfrm>
            <a:off x="8028385" y="3990307"/>
            <a:ext cx="646331" cy="369332"/>
          </a:xfrm>
          <a:prstGeom prst="rect">
            <a:avLst/>
          </a:prstGeom>
        </p:spPr>
        <p:txBody>
          <a:bodyPr wrap="none">
            <a:spAutoFit/>
          </a:bodyPr>
          <a:lstStyle/>
          <a:p>
            <a:r>
              <a:rPr lang="zh-CN" altLang="en-US" dirty="0"/>
              <a:t>空闲</a:t>
            </a:r>
          </a:p>
        </p:txBody>
      </p:sp>
      <p:sp>
        <p:nvSpPr>
          <p:cNvPr id="2" name="矩形 1">
            <a:extLst>
              <a:ext uri="{FF2B5EF4-FFF2-40B4-BE49-F238E27FC236}">
                <a16:creationId xmlns:a16="http://schemas.microsoft.com/office/drawing/2014/main" id="{55F64917-EB98-153F-086F-92782A70CF5F}"/>
              </a:ext>
            </a:extLst>
          </p:cNvPr>
          <p:cNvSpPr/>
          <p:nvPr/>
        </p:nvSpPr>
        <p:spPr>
          <a:xfrm>
            <a:off x="1169744" y="1548261"/>
            <a:ext cx="4940776" cy="461665"/>
          </a:xfrm>
          <a:prstGeom prst="rect">
            <a:avLst/>
          </a:prstGeom>
        </p:spPr>
        <p:txBody>
          <a:bodyPr wrap="none">
            <a:spAutoFit/>
          </a:bodyPr>
          <a:lstStyle/>
          <a:p>
            <a:pPr>
              <a:defRPr/>
            </a:pPr>
            <a:r>
              <a:rPr lang="zh-CN" altLang="en-US" sz="2400" dirty="0">
                <a:latin typeface="微软雅黑" pitchFamily="34" charset="-122"/>
                <a:ea typeface="微软雅黑" pitchFamily="34" charset="-122"/>
                <a:cs typeface="经典粗黑简" pitchFamily="49" charset="-122"/>
              </a:rPr>
              <a:t>① 初始化操作</a:t>
            </a:r>
            <a:r>
              <a:rPr lang="en-US" altLang="zh-CN" sz="2400" dirty="0">
                <a:latin typeface="微软雅黑" pitchFamily="34" charset="-122"/>
                <a:ea typeface="微软雅黑" pitchFamily="34" charset="-122"/>
                <a:cs typeface="经典粗黑简" pitchFamily="49" charset="-122"/>
              </a:rPr>
              <a:t>——</a:t>
            </a:r>
            <a:r>
              <a:rPr lang="zh-CN" altLang="en-US" sz="2400" dirty="0">
                <a:latin typeface="微软雅黑" pitchFamily="34" charset="-122"/>
                <a:ea typeface="微软雅黑" pitchFamily="34" charset="-122"/>
                <a:cs typeface="经典粗黑简" pitchFamily="49" charset="-122"/>
              </a:rPr>
              <a:t>创建空的顺序表</a:t>
            </a:r>
            <a:endParaRPr lang="en-US" altLang="zh-CN" sz="2400" dirty="0">
              <a:latin typeface="微软雅黑" pitchFamily="34" charset="-122"/>
              <a:ea typeface="微软雅黑" pitchFamily="34" charset="-122"/>
              <a:cs typeface="经典粗黑简" pitchFamily="49" charset="-122"/>
            </a:endParaRPr>
          </a:p>
        </p:txBody>
      </p:sp>
      <p:sp>
        <p:nvSpPr>
          <p:cNvPr id="28" name="矩形 27">
            <a:extLst>
              <a:ext uri="{FF2B5EF4-FFF2-40B4-BE49-F238E27FC236}">
                <a16:creationId xmlns:a16="http://schemas.microsoft.com/office/drawing/2014/main" id="{A13AEB9E-6A35-BA8E-D71A-94EBFC017CAD}"/>
              </a:ext>
            </a:extLst>
          </p:cNvPr>
          <p:cNvSpPr/>
          <p:nvPr/>
        </p:nvSpPr>
        <p:spPr>
          <a:xfrm>
            <a:off x="8028385" y="3715120"/>
            <a:ext cx="646331" cy="369332"/>
          </a:xfrm>
          <a:prstGeom prst="rect">
            <a:avLst/>
          </a:prstGeom>
        </p:spPr>
        <p:txBody>
          <a:bodyPr wrap="none">
            <a:spAutoFit/>
          </a:bodyPr>
          <a:lstStyle/>
          <a:p>
            <a:r>
              <a:rPr lang="zh-CN" altLang="en-US" dirty="0"/>
              <a:t>空闲</a:t>
            </a:r>
          </a:p>
        </p:txBody>
      </p:sp>
      <p:sp>
        <p:nvSpPr>
          <p:cNvPr id="29" name="矩形 28">
            <a:extLst>
              <a:ext uri="{FF2B5EF4-FFF2-40B4-BE49-F238E27FC236}">
                <a16:creationId xmlns:a16="http://schemas.microsoft.com/office/drawing/2014/main" id="{A4633747-200C-50B0-08A0-63DF6BA5BDB1}"/>
              </a:ext>
            </a:extLst>
          </p:cNvPr>
          <p:cNvSpPr/>
          <p:nvPr/>
        </p:nvSpPr>
        <p:spPr>
          <a:xfrm>
            <a:off x="8028385" y="3438121"/>
            <a:ext cx="646331" cy="369332"/>
          </a:xfrm>
          <a:prstGeom prst="rect">
            <a:avLst/>
          </a:prstGeom>
        </p:spPr>
        <p:txBody>
          <a:bodyPr wrap="none">
            <a:spAutoFit/>
          </a:bodyPr>
          <a:lstStyle/>
          <a:p>
            <a:r>
              <a:rPr lang="zh-CN" altLang="en-US" dirty="0"/>
              <a:t>空闲</a:t>
            </a:r>
          </a:p>
        </p:txBody>
      </p:sp>
      <p:sp>
        <p:nvSpPr>
          <p:cNvPr id="30" name="矩形 29">
            <a:extLst>
              <a:ext uri="{FF2B5EF4-FFF2-40B4-BE49-F238E27FC236}">
                <a16:creationId xmlns:a16="http://schemas.microsoft.com/office/drawing/2014/main" id="{8DF08D5A-3DFF-C7F6-47C9-1853923A2174}"/>
              </a:ext>
            </a:extLst>
          </p:cNvPr>
          <p:cNvSpPr/>
          <p:nvPr/>
        </p:nvSpPr>
        <p:spPr>
          <a:xfrm>
            <a:off x="8028385" y="3181549"/>
            <a:ext cx="646331" cy="369332"/>
          </a:xfrm>
          <a:prstGeom prst="rect">
            <a:avLst/>
          </a:prstGeom>
        </p:spPr>
        <p:txBody>
          <a:bodyPr wrap="none">
            <a:spAutoFit/>
          </a:bodyPr>
          <a:lstStyle/>
          <a:p>
            <a:r>
              <a:rPr lang="zh-CN" altLang="en-US" dirty="0"/>
              <a:t>空闲</a:t>
            </a:r>
          </a:p>
        </p:txBody>
      </p:sp>
      <p:sp>
        <p:nvSpPr>
          <p:cNvPr id="31" name="矩形 30">
            <a:extLst>
              <a:ext uri="{FF2B5EF4-FFF2-40B4-BE49-F238E27FC236}">
                <a16:creationId xmlns:a16="http://schemas.microsoft.com/office/drawing/2014/main" id="{B49330D1-D769-1935-2B15-A9CDA44C4B06}"/>
              </a:ext>
            </a:extLst>
          </p:cNvPr>
          <p:cNvSpPr/>
          <p:nvPr/>
        </p:nvSpPr>
        <p:spPr>
          <a:xfrm>
            <a:off x="8028385" y="2879691"/>
            <a:ext cx="646331" cy="369332"/>
          </a:xfrm>
          <a:prstGeom prst="rect">
            <a:avLst/>
          </a:prstGeom>
        </p:spPr>
        <p:txBody>
          <a:bodyPr wrap="none">
            <a:spAutoFit/>
          </a:bodyPr>
          <a:lstStyle/>
          <a:p>
            <a:r>
              <a:rPr lang="zh-CN" altLang="en-US" dirty="0"/>
              <a:t>空闲</a:t>
            </a:r>
          </a:p>
        </p:txBody>
      </p:sp>
      <p:sp>
        <p:nvSpPr>
          <p:cNvPr id="42" name="矩形 41">
            <a:extLst>
              <a:ext uri="{FF2B5EF4-FFF2-40B4-BE49-F238E27FC236}">
                <a16:creationId xmlns:a16="http://schemas.microsoft.com/office/drawing/2014/main" id="{871BCB99-3706-1654-742B-9FF523E95A1C}"/>
              </a:ext>
            </a:extLst>
          </p:cNvPr>
          <p:cNvSpPr/>
          <p:nvPr/>
        </p:nvSpPr>
        <p:spPr>
          <a:xfrm>
            <a:off x="8028385" y="2555655"/>
            <a:ext cx="646331" cy="369332"/>
          </a:xfrm>
          <a:prstGeom prst="rect">
            <a:avLst/>
          </a:prstGeom>
        </p:spPr>
        <p:txBody>
          <a:bodyPr wrap="none">
            <a:spAutoFit/>
          </a:bodyPr>
          <a:lstStyle/>
          <a:p>
            <a:r>
              <a:rPr lang="zh-CN" altLang="en-US" dirty="0"/>
              <a:t>空闲</a:t>
            </a:r>
          </a:p>
        </p:txBody>
      </p:sp>
      <p:sp>
        <p:nvSpPr>
          <p:cNvPr id="43" name="矩形 42">
            <a:extLst>
              <a:ext uri="{FF2B5EF4-FFF2-40B4-BE49-F238E27FC236}">
                <a16:creationId xmlns:a16="http://schemas.microsoft.com/office/drawing/2014/main" id="{6E3DCBCE-68C5-696D-0100-C91F60C3AFA7}"/>
              </a:ext>
            </a:extLst>
          </p:cNvPr>
          <p:cNvSpPr/>
          <p:nvPr/>
        </p:nvSpPr>
        <p:spPr>
          <a:xfrm>
            <a:off x="8028385" y="2315701"/>
            <a:ext cx="646331" cy="369332"/>
          </a:xfrm>
          <a:prstGeom prst="rect">
            <a:avLst/>
          </a:prstGeom>
        </p:spPr>
        <p:txBody>
          <a:bodyPr wrap="none">
            <a:spAutoFit/>
          </a:bodyPr>
          <a:lstStyle/>
          <a:p>
            <a:r>
              <a:rPr lang="zh-CN" altLang="en-US" dirty="0"/>
              <a:t>空闲</a:t>
            </a:r>
          </a:p>
        </p:txBody>
      </p:sp>
      <p:sp>
        <p:nvSpPr>
          <p:cNvPr id="6" name="Rectangle 2">
            <a:extLst>
              <a:ext uri="{FF2B5EF4-FFF2-40B4-BE49-F238E27FC236}">
                <a16:creationId xmlns:a16="http://schemas.microsoft.com/office/drawing/2014/main" id="{BAFC72BB-81B2-49BD-A1BE-4A1A12F54B6F}"/>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cxnSp>
        <p:nvCxnSpPr>
          <p:cNvPr id="9" name="直接箭头连接符 8">
            <a:extLst>
              <a:ext uri="{FF2B5EF4-FFF2-40B4-BE49-F238E27FC236}">
                <a16:creationId xmlns:a16="http://schemas.microsoft.com/office/drawing/2014/main" id="{3538EA95-09BC-06C2-7B04-298852159BF1}"/>
              </a:ext>
            </a:extLst>
          </p:cNvPr>
          <p:cNvCxnSpPr>
            <a:cxnSpLocks/>
          </p:cNvCxnSpPr>
          <p:nvPr/>
        </p:nvCxnSpPr>
        <p:spPr>
          <a:xfrm>
            <a:off x="7117334" y="2123607"/>
            <a:ext cx="695627" cy="12323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E480DFF7-CFEB-97A3-4D94-8CE8D31D7C9A}"/>
              </a:ext>
            </a:extLst>
          </p:cNvPr>
          <p:cNvSpPr txBox="1"/>
          <p:nvPr/>
        </p:nvSpPr>
        <p:spPr>
          <a:xfrm>
            <a:off x="1268624" y="2208020"/>
            <a:ext cx="4957388" cy="1754326"/>
          </a:xfrm>
          <a:prstGeom prst="rect">
            <a:avLst/>
          </a:prstGeom>
          <a:noFill/>
        </p:spPr>
        <p:txBody>
          <a:bodyPr wrap="square">
            <a:spAutoFit/>
          </a:bodyPr>
          <a:lstStyle/>
          <a:p>
            <a:pPr algn="l"/>
            <a:r>
              <a:rPr kumimoji="1" lang="en-US" altLang="zh-CN" sz="1800" dirty="0">
                <a:solidFill>
                  <a:srgbClr val="0000FF"/>
                </a:solidFill>
                <a:latin typeface="Consolas" pitchFamily="49" charset="0"/>
                <a:ea typeface="仿宋" pitchFamily="49" charset="-122"/>
                <a:cs typeface="Consolas" pitchFamily="49" charset="0"/>
              </a:rPr>
              <a:t>void </a:t>
            </a:r>
            <a:r>
              <a:rPr kumimoji="1" lang="en-US" altLang="zh-CN" sz="1800" dirty="0" err="1">
                <a:solidFill>
                  <a:srgbClr val="FF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InitList</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SqList</a:t>
            </a:r>
            <a:r>
              <a:rPr kumimoji="1" lang="en-US" altLang="zh-CN" sz="1800" dirty="0">
                <a:solidFill>
                  <a:srgbClr val="0000FF"/>
                </a:solidFill>
                <a:latin typeface="Consolas" pitchFamily="49" charset="0"/>
                <a:ea typeface="仿宋" pitchFamily="49" charset="-122"/>
                <a:cs typeface="Consolas" pitchFamily="49" charset="0"/>
              </a:rPr>
              <a:t> *&amp;L)</a:t>
            </a:r>
            <a:endParaRPr kumimoji="1" lang="zh-CN" altLang="en-US" sz="1800" dirty="0">
              <a:solidFill>
                <a:srgbClr val="0000FF"/>
              </a:solidFill>
              <a:latin typeface="Consolas" pitchFamily="49" charset="0"/>
              <a:ea typeface="仿宋" pitchFamily="49" charset="-122"/>
              <a:cs typeface="Consolas" pitchFamily="49" charset="0"/>
            </a:endParaRPr>
          </a:p>
          <a:p>
            <a:pPr algn="l"/>
            <a:r>
              <a:rPr kumimoji="1" lang="en-US" altLang="zh-CN" sz="1800" dirty="0">
                <a:solidFill>
                  <a:srgbClr val="0000FF"/>
                </a:solidFill>
                <a:latin typeface="Consolas" pitchFamily="49" charset="0"/>
                <a:ea typeface="仿宋" pitchFamily="49" charset="-122"/>
                <a:cs typeface="Consolas" pitchFamily="49" charset="0"/>
              </a:rPr>
              <a:t>{  </a:t>
            </a:r>
          </a:p>
          <a:p>
            <a:pPr algn="l"/>
            <a:r>
              <a:rPr kumimoji="1" lang="en-US" altLang="zh-CN"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L=(</a:t>
            </a:r>
            <a:r>
              <a:rPr kumimoji="1" lang="en-US" altLang="zh-CN" sz="1800" dirty="0" err="1">
                <a:solidFill>
                  <a:srgbClr val="0000FF"/>
                </a:solidFill>
                <a:latin typeface="Consolas" pitchFamily="49" charset="0"/>
                <a:ea typeface="仿宋" pitchFamily="49" charset="-122"/>
                <a:cs typeface="Consolas" pitchFamily="49" charset="0"/>
              </a:rPr>
              <a:t>SqList</a:t>
            </a:r>
            <a:r>
              <a:rPr kumimoji="1" lang="en-US" altLang="zh-CN" sz="1800" dirty="0">
                <a:solidFill>
                  <a:srgbClr val="0000FF"/>
                </a:solidFill>
                <a:latin typeface="Consolas" pitchFamily="49" charset="0"/>
                <a:ea typeface="仿宋" pitchFamily="49" charset="-122"/>
                <a:cs typeface="Consolas" pitchFamily="49" charset="0"/>
              </a:rPr>
              <a:t> *)malloc(</a:t>
            </a:r>
            <a:r>
              <a:rPr kumimoji="1" lang="en-US" altLang="zh-CN" sz="1800" dirty="0" err="1">
                <a:solidFill>
                  <a:srgbClr val="0000FF"/>
                </a:solidFill>
                <a:latin typeface="Consolas" pitchFamily="49" charset="0"/>
                <a:ea typeface="仿宋" pitchFamily="49" charset="-122"/>
                <a:cs typeface="Consolas" pitchFamily="49" charset="0"/>
              </a:rPr>
              <a:t>sizeof</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SqList</a:t>
            </a:r>
            <a:r>
              <a:rPr kumimoji="1" lang="en-US" altLang="zh-CN" sz="1800" dirty="0">
                <a:solidFill>
                  <a:srgbClr val="0000FF"/>
                </a:solidFill>
                <a:latin typeface="Consolas" pitchFamily="49" charset="0"/>
                <a:ea typeface="仿宋" pitchFamily="49" charset="-122"/>
                <a:cs typeface="Consolas" pitchFamily="49" charset="0"/>
              </a:rPr>
              <a:t>));</a:t>
            </a:r>
          </a:p>
          <a:p>
            <a:pPr algn="l"/>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分配存放线性表的顺序表空间</a:t>
            </a:r>
          </a:p>
          <a:p>
            <a:pPr algn="l"/>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L-&gt;length=0;</a:t>
            </a:r>
          </a:p>
          <a:p>
            <a:pPr algn="l"/>
            <a:r>
              <a:rPr kumimoji="1" lang="en-US" altLang="zh-CN" sz="1800" dirty="0">
                <a:solidFill>
                  <a:srgbClr val="0000FF"/>
                </a:solidFill>
                <a:latin typeface="Consolas" pitchFamily="49" charset="0"/>
                <a:ea typeface="仿宋" pitchFamily="49" charset="-122"/>
                <a:cs typeface="Consolas" pitchFamily="49" charset="0"/>
              </a:rPr>
              <a:t>}</a:t>
            </a:r>
            <a:endParaRPr lang="zh-CN" altLang="en-US" dirty="0"/>
          </a:p>
        </p:txBody>
      </p:sp>
    </p:spTree>
    <p:extLst>
      <p:ext uri="{BB962C8B-B14F-4D97-AF65-F5344CB8AC3E}">
        <p14:creationId xmlns:p14="http://schemas.microsoft.com/office/powerpoint/2010/main" val="1712563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表格 32"/>
          <p:cNvGraphicFramePr>
            <a:graphicFrameLocks noGrp="1"/>
          </p:cNvGraphicFramePr>
          <p:nvPr>
            <p:extLst>
              <p:ext uri="{D42A27DB-BD31-4B8C-83A1-F6EECF244321}">
                <p14:modId xmlns:p14="http://schemas.microsoft.com/office/powerpoint/2010/main" val="1926126742"/>
              </p:ext>
            </p:extLst>
          </p:nvPr>
        </p:nvGraphicFramePr>
        <p:xfrm>
          <a:off x="7812961" y="2281402"/>
          <a:ext cx="1094967" cy="2267128"/>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0"/>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pattFill prst="wdUpDiag">
                      <a:fgClr>
                        <a:srgbClr val="FFC000"/>
                      </a:fgClr>
                      <a:bgClr>
                        <a:schemeClr val="bg1"/>
                      </a:bgClr>
                    </a:pattFill>
                  </a:tcPr>
                </a:tc>
                <a:extLst>
                  <a:ext uri="{0D108BD9-81ED-4DB2-BD59-A6C34878D82A}">
                    <a16:rowId xmlns:a16="http://schemas.microsoft.com/office/drawing/2014/main" val="10002"/>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pattFill prst="wdUpDiag">
                      <a:fgClr>
                        <a:srgbClr val="FFC000"/>
                      </a:fgClr>
                      <a:bgClr>
                        <a:schemeClr val="bg1"/>
                      </a:bgClr>
                    </a:pattFill>
                  </a:tcPr>
                </a:tc>
                <a:extLst>
                  <a:ext uri="{0D108BD9-81ED-4DB2-BD59-A6C34878D82A}">
                    <a16:rowId xmlns:a16="http://schemas.microsoft.com/office/drawing/2014/main" val="10004"/>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5"/>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pattFill prst="wdUpDiag">
                      <a:fgClr>
                        <a:srgbClr val="FFC000"/>
                      </a:fgClr>
                      <a:bgClr>
                        <a:schemeClr val="bg1"/>
                      </a:bgClr>
                    </a:pattFill>
                  </a:tcPr>
                </a:tc>
                <a:extLst>
                  <a:ext uri="{0D108BD9-81ED-4DB2-BD59-A6C34878D82A}">
                    <a16:rowId xmlns:a16="http://schemas.microsoft.com/office/drawing/2014/main" val="10006"/>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n</a:t>
                      </a: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solidFill>
                      <a:srgbClr val="92D050"/>
                    </a:solidFill>
                  </a:tcPr>
                </a:tc>
                <a:extLst>
                  <a:ext uri="{0D108BD9-81ED-4DB2-BD59-A6C34878D82A}">
                    <a16:rowId xmlns:a16="http://schemas.microsoft.com/office/drawing/2014/main" val="10007"/>
                  </a:ext>
                </a:extLst>
              </a:tr>
            </a:tbl>
          </a:graphicData>
        </a:graphic>
      </p:graphicFrame>
      <p:sp>
        <p:nvSpPr>
          <p:cNvPr id="35" name="矩形 34"/>
          <p:cNvSpPr/>
          <p:nvPr/>
        </p:nvSpPr>
        <p:spPr>
          <a:xfrm>
            <a:off x="6836346" y="1886689"/>
            <a:ext cx="338554" cy="369332"/>
          </a:xfrm>
          <a:prstGeom prst="rect">
            <a:avLst/>
          </a:prstGeom>
        </p:spPr>
        <p:txBody>
          <a:bodyPr wrap="none">
            <a:spAutoFit/>
          </a:bodyPr>
          <a:lstStyle/>
          <a:p>
            <a:r>
              <a:rPr lang="en-US" altLang="zh-CN" b="1" dirty="0">
                <a:latin typeface="Times New Roman" pitchFamily="18" charset="0"/>
                <a:ea typeface="宋体" pitchFamily="2" charset="-122"/>
              </a:rPr>
              <a:t>L</a:t>
            </a:r>
            <a:endParaRPr lang="zh-CN" altLang="en-US" b="1" dirty="0">
              <a:latin typeface="Times New Roman" pitchFamily="18" charset="0"/>
              <a:ea typeface="宋体" pitchFamily="2" charset="-122"/>
            </a:endParaRPr>
          </a:p>
        </p:txBody>
      </p:sp>
      <p:sp>
        <p:nvSpPr>
          <p:cNvPr id="38" name="矩形 37"/>
          <p:cNvSpPr/>
          <p:nvPr/>
        </p:nvSpPr>
        <p:spPr>
          <a:xfrm>
            <a:off x="6703362" y="4223638"/>
            <a:ext cx="1109599" cy="369332"/>
          </a:xfrm>
          <a:prstGeom prst="rect">
            <a:avLst/>
          </a:prstGeom>
        </p:spPr>
        <p:txBody>
          <a:bodyPr wrap="none">
            <a:spAutoFit/>
          </a:bodyPr>
          <a:lstStyle/>
          <a:p>
            <a:r>
              <a:rPr lang="en-US" altLang="zh-CN" dirty="0">
                <a:latin typeface="Times New Roman" pitchFamily="18" charset="0"/>
                <a:ea typeface="宋体" pitchFamily="2" charset="-122"/>
              </a:rPr>
              <a:t>L-&gt;length</a:t>
            </a:r>
            <a:endParaRPr lang="zh-CN" altLang="en-US" dirty="0">
              <a:latin typeface="Times New Roman" pitchFamily="18" charset="0"/>
              <a:ea typeface="宋体" pitchFamily="2" charset="-122"/>
            </a:endParaRPr>
          </a:p>
        </p:txBody>
      </p:sp>
      <p:cxnSp>
        <p:nvCxnSpPr>
          <p:cNvPr id="24" name="直接连接符 23"/>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6983487" y="2174638"/>
            <a:ext cx="917239" cy="369332"/>
          </a:xfrm>
          <a:prstGeom prst="rect">
            <a:avLst/>
          </a:prstGeom>
        </p:spPr>
        <p:txBody>
          <a:bodyPr wrap="none">
            <a:spAutoFit/>
          </a:bodyPr>
          <a:lstStyle/>
          <a:p>
            <a:r>
              <a:rPr lang="en-US" altLang="zh-CN" dirty="0">
                <a:latin typeface="Times New Roman" pitchFamily="18" charset="0"/>
                <a:ea typeface="宋体" pitchFamily="2" charset="-122"/>
              </a:rPr>
              <a:t>L-&gt;data</a:t>
            </a:r>
            <a:endParaRPr lang="zh-CN" altLang="en-US" dirty="0">
              <a:latin typeface="Times New Roman" pitchFamily="18" charset="0"/>
              <a:ea typeface="宋体" pitchFamily="2" charset="-122"/>
            </a:endParaRPr>
          </a:p>
        </p:txBody>
      </p:sp>
      <p:sp>
        <p:nvSpPr>
          <p:cNvPr id="3" name="矩形 2"/>
          <p:cNvSpPr/>
          <p:nvPr/>
        </p:nvSpPr>
        <p:spPr>
          <a:xfrm>
            <a:off x="8028385" y="3990307"/>
            <a:ext cx="646331" cy="369332"/>
          </a:xfrm>
          <a:prstGeom prst="rect">
            <a:avLst/>
          </a:prstGeom>
        </p:spPr>
        <p:txBody>
          <a:bodyPr wrap="none">
            <a:spAutoFit/>
          </a:bodyPr>
          <a:lstStyle/>
          <a:p>
            <a:r>
              <a:rPr lang="zh-CN" altLang="en-US" dirty="0"/>
              <a:t>空闲</a:t>
            </a:r>
          </a:p>
        </p:txBody>
      </p:sp>
      <p:sp>
        <p:nvSpPr>
          <p:cNvPr id="2" name="矩形 1"/>
          <p:cNvSpPr/>
          <p:nvPr/>
        </p:nvSpPr>
        <p:spPr>
          <a:xfrm>
            <a:off x="1092252" y="1532838"/>
            <a:ext cx="5654112" cy="461665"/>
          </a:xfrm>
          <a:prstGeom prst="rect">
            <a:avLst/>
          </a:prstGeom>
        </p:spPr>
        <p:txBody>
          <a:bodyPr wrap="none">
            <a:spAutoFit/>
          </a:bodyPr>
          <a:lstStyle/>
          <a:p>
            <a:pPr>
              <a:defRPr/>
            </a:pPr>
            <a:r>
              <a:rPr lang="zh-CN" altLang="en-US" sz="2400" dirty="0">
                <a:latin typeface="微软雅黑" pitchFamily="34" charset="-122"/>
                <a:ea typeface="微软雅黑" pitchFamily="34" charset="-122"/>
                <a:cs typeface="经典粗黑简" pitchFamily="49" charset="-122"/>
              </a:rPr>
              <a:t>②初始化操作</a:t>
            </a:r>
            <a:r>
              <a:rPr lang="en-US" altLang="zh-CN" sz="2400" dirty="0">
                <a:latin typeface="微软雅黑" pitchFamily="34" charset="-122"/>
                <a:ea typeface="微软雅黑" pitchFamily="34" charset="-122"/>
                <a:cs typeface="经典粗黑简" pitchFamily="49" charset="-122"/>
              </a:rPr>
              <a:t>——</a:t>
            </a:r>
            <a:r>
              <a:rPr lang="zh-CN" altLang="en-US" sz="2400" dirty="0">
                <a:latin typeface="微软雅黑" pitchFamily="34" charset="-122"/>
                <a:ea typeface="微软雅黑" pitchFamily="34" charset="-122"/>
                <a:cs typeface="经典粗黑简" pitchFamily="49" charset="-122"/>
              </a:rPr>
              <a:t>建立长度为</a:t>
            </a:r>
            <a:r>
              <a:rPr lang="en-US" altLang="zh-CN" sz="2400" dirty="0">
                <a:latin typeface="微软雅黑" pitchFamily="34" charset="-122"/>
                <a:ea typeface="微软雅黑" pitchFamily="34" charset="-122"/>
                <a:cs typeface="经典粗黑简" pitchFamily="49" charset="-122"/>
              </a:rPr>
              <a:t>n</a:t>
            </a:r>
            <a:r>
              <a:rPr lang="zh-CN" altLang="en-US" sz="2400" dirty="0">
                <a:latin typeface="微软雅黑" pitchFamily="34" charset="-122"/>
                <a:ea typeface="微软雅黑" pitchFamily="34" charset="-122"/>
                <a:cs typeface="经典粗黑简" pitchFamily="49" charset="-122"/>
              </a:rPr>
              <a:t>的顺序表</a:t>
            </a:r>
            <a:endParaRPr lang="en-US" altLang="zh-CN" sz="2400" dirty="0">
              <a:latin typeface="微软雅黑" pitchFamily="34" charset="-122"/>
              <a:ea typeface="微软雅黑" pitchFamily="34" charset="-122"/>
              <a:cs typeface="经典粗黑简" pitchFamily="49" charset="-122"/>
            </a:endParaRPr>
          </a:p>
        </p:txBody>
      </p:sp>
      <p:sp>
        <p:nvSpPr>
          <p:cNvPr id="28" name="矩形 27"/>
          <p:cNvSpPr/>
          <p:nvPr/>
        </p:nvSpPr>
        <p:spPr>
          <a:xfrm>
            <a:off x="8028385" y="3715120"/>
            <a:ext cx="646331" cy="369332"/>
          </a:xfrm>
          <a:prstGeom prst="rect">
            <a:avLst/>
          </a:prstGeom>
        </p:spPr>
        <p:txBody>
          <a:bodyPr wrap="none">
            <a:spAutoFit/>
          </a:bodyPr>
          <a:lstStyle/>
          <a:p>
            <a:r>
              <a:rPr lang="zh-CN" altLang="en-US" dirty="0"/>
              <a:t>空闲</a:t>
            </a:r>
          </a:p>
        </p:txBody>
      </p:sp>
      <p:sp>
        <p:nvSpPr>
          <p:cNvPr id="29" name="矩形 28"/>
          <p:cNvSpPr/>
          <p:nvPr/>
        </p:nvSpPr>
        <p:spPr>
          <a:xfrm>
            <a:off x="8028385" y="3438121"/>
            <a:ext cx="646331" cy="369332"/>
          </a:xfrm>
          <a:prstGeom prst="rect">
            <a:avLst/>
          </a:prstGeom>
        </p:spPr>
        <p:txBody>
          <a:bodyPr wrap="none">
            <a:spAutoFit/>
          </a:bodyPr>
          <a:lstStyle/>
          <a:p>
            <a:r>
              <a:rPr lang="zh-CN" altLang="en-US" dirty="0"/>
              <a:t>空闲</a:t>
            </a:r>
          </a:p>
        </p:txBody>
      </p:sp>
      <p:sp>
        <p:nvSpPr>
          <p:cNvPr id="30" name="矩形 29"/>
          <p:cNvSpPr/>
          <p:nvPr/>
        </p:nvSpPr>
        <p:spPr>
          <a:xfrm>
            <a:off x="8028385" y="3181549"/>
            <a:ext cx="646331" cy="369332"/>
          </a:xfrm>
          <a:prstGeom prst="rect">
            <a:avLst/>
          </a:prstGeom>
        </p:spPr>
        <p:txBody>
          <a:bodyPr wrap="none">
            <a:spAutoFit/>
          </a:bodyPr>
          <a:lstStyle/>
          <a:p>
            <a:r>
              <a:rPr lang="zh-CN" altLang="en-US" dirty="0"/>
              <a:t>空闲</a:t>
            </a:r>
          </a:p>
        </p:txBody>
      </p:sp>
      <p:sp>
        <p:nvSpPr>
          <p:cNvPr id="31" name="矩形 30"/>
          <p:cNvSpPr/>
          <p:nvPr/>
        </p:nvSpPr>
        <p:spPr>
          <a:xfrm>
            <a:off x="8028385" y="2879691"/>
            <a:ext cx="646331" cy="369332"/>
          </a:xfrm>
          <a:prstGeom prst="rect">
            <a:avLst/>
          </a:prstGeom>
        </p:spPr>
        <p:txBody>
          <a:bodyPr wrap="none">
            <a:spAutoFit/>
          </a:bodyPr>
          <a:lstStyle/>
          <a:p>
            <a:r>
              <a:rPr lang="zh-CN" altLang="en-US" dirty="0"/>
              <a:t>空闲</a:t>
            </a:r>
          </a:p>
        </p:txBody>
      </p:sp>
      <p:sp>
        <p:nvSpPr>
          <p:cNvPr id="42" name="矩形 41"/>
          <p:cNvSpPr/>
          <p:nvPr/>
        </p:nvSpPr>
        <p:spPr>
          <a:xfrm>
            <a:off x="8028385" y="2555655"/>
            <a:ext cx="646331" cy="369332"/>
          </a:xfrm>
          <a:prstGeom prst="rect">
            <a:avLst/>
          </a:prstGeom>
        </p:spPr>
        <p:txBody>
          <a:bodyPr wrap="none">
            <a:spAutoFit/>
          </a:bodyPr>
          <a:lstStyle/>
          <a:p>
            <a:r>
              <a:rPr lang="zh-CN" altLang="en-US" dirty="0"/>
              <a:t>空闲</a:t>
            </a:r>
          </a:p>
        </p:txBody>
      </p:sp>
      <p:sp>
        <p:nvSpPr>
          <p:cNvPr id="43" name="矩形 42"/>
          <p:cNvSpPr/>
          <p:nvPr/>
        </p:nvSpPr>
        <p:spPr>
          <a:xfrm>
            <a:off x="8028385" y="2315701"/>
            <a:ext cx="646331" cy="369332"/>
          </a:xfrm>
          <a:prstGeom prst="rect">
            <a:avLst/>
          </a:prstGeom>
        </p:spPr>
        <p:txBody>
          <a:bodyPr wrap="none">
            <a:spAutoFit/>
          </a:bodyPr>
          <a:lstStyle/>
          <a:p>
            <a:r>
              <a:rPr lang="zh-CN" altLang="en-US" dirty="0"/>
              <a:t>空闲</a:t>
            </a:r>
          </a:p>
        </p:txBody>
      </p:sp>
      <p:sp>
        <p:nvSpPr>
          <p:cNvPr id="5" name="矩形 4"/>
          <p:cNvSpPr/>
          <p:nvPr/>
        </p:nvSpPr>
        <p:spPr>
          <a:xfrm>
            <a:off x="5436096" y="2062178"/>
            <a:ext cx="300082" cy="369332"/>
          </a:xfrm>
          <a:prstGeom prst="rect">
            <a:avLst/>
          </a:prstGeom>
        </p:spPr>
        <p:txBody>
          <a:bodyPr wrap="none">
            <a:spAutoFit/>
          </a:bodyPr>
          <a:lstStyle/>
          <a:p>
            <a:r>
              <a:rPr lang="en-US" altLang="zh-CN" b="1" dirty="0">
                <a:latin typeface="Times New Roman" pitchFamily="18" charset="0"/>
                <a:ea typeface="宋体" pitchFamily="2" charset="-122"/>
              </a:rPr>
              <a:t>a</a:t>
            </a:r>
            <a:endParaRPr lang="zh-CN" altLang="en-US" b="1" dirty="0">
              <a:latin typeface="Times New Roman" pitchFamily="18" charset="0"/>
              <a:ea typeface="宋体" pitchFamily="2" charset="-122"/>
            </a:endParaRPr>
          </a:p>
        </p:txBody>
      </p:sp>
      <p:graphicFrame>
        <p:nvGraphicFramePr>
          <p:cNvPr id="34" name="表格 33"/>
          <p:cNvGraphicFramePr>
            <a:graphicFrameLocks noGrp="1"/>
          </p:cNvGraphicFramePr>
          <p:nvPr>
            <p:extLst>
              <p:ext uri="{D42A27DB-BD31-4B8C-83A1-F6EECF244321}">
                <p14:modId xmlns:p14="http://schemas.microsoft.com/office/powerpoint/2010/main" val="3217442278"/>
              </p:ext>
            </p:extLst>
          </p:nvPr>
        </p:nvGraphicFramePr>
        <p:xfrm>
          <a:off x="5835053" y="2313469"/>
          <a:ext cx="1094967" cy="1700346"/>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err="1"/>
                        <a:t>a</a:t>
                      </a:r>
                      <a:r>
                        <a:rPr lang="en-US" altLang="zh-CN" sz="1400" baseline="-25000" dirty="0" err="1"/>
                        <a:t>i</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5"/>
                  </a:ext>
                </a:extLst>
              </a:tr>
            </a:tbl>
          </a:graphicData>
        </a:graphic>
      </p:graphicFrame>
      <p:cxnSp>
        <p:nvCxnSpPr>
          <p:cNvPr id="7" name="直接箭头连接符 6"/>
          <p:cNvCxnSpPr/>
          <p:nvPr/>
        </p:nvCxnSpPr>
        <p:spPr>
          <a:xfrm>
            <a:off x="6732240" y="3320049"/>
            <a:ext cx="1058634"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5" idx="2"/>
          </p:cNvCxnSpPr>
          <p:nvPr/>
        </p:nvCxnSpPr>
        <p:spPr>
          <a:xfrm>
            <a:off x="5586137" y="2431510"/>
            <a:ext cx="0" cy="1560609"/>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4" name="右大括号 3"/>
          <p:cNvSpPr/>
          <p:nvPr/>
        </p:nvSpPr>
        <p:spPr>
          <a:xfrm>
            <a:off x="7005623" y="2339177"/>
            <a:ext cx="111711" cy="1652942"/>
          </a:xfrm>
          <a:prstGeom prst="rightBrace">
            <a:avLst/>
          </a:prstGeom>
          <a:ln w="2222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Rectangle 2">
            <a:extLst>
              <a:ext uri="{FF2B5EF4-FFF2-40B4-BE49-F238E27FC236}">
                <a16:creationId xmlns:a16="http://schemas.microsoft.com/office/drawing/2014/main" id="{B116F3C6-857A-DBFD-6C49-3CC21EA91B4F}"/>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8" name="Text Box 4">
            <a:extLst>
              <a:ext uri="{FF2B5EF4-FFF2-40B4-BE49-F238E27FC236}">
                <a16:creationId xmlns:a16="http://schemas.microsoft.com/office/drawing/2014/main" id="{F07E7648-BDDA-00C8-5941-E1B1808C864A}"/>
              </a:ext>
            </a:extLst>
          </p:cNvPr>
          <p:cNvSpPr txBox="1">
            <a:spLocks noChangeArrowheads="1"/>
          </p:cNvSpPr>
          <p:nvPr/>
        </p:nvSpPr>
        <p:spPr bwMode="auto">
          <a:xfrm>
            <a:off x="250398" y="2246844"/>
            <a:ext cx="5017996" cy="2246769"/>
          </a:xfrm>
          <a:prstGeom prst="rect">
            <a:avLst/>
          </a:prstGeom>
          <a:solidFill>
            <a:schemeClr val="bg1">
              <a:lumMod val="95000"/>
            </a:schemeClr>
          </a:solidFill>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p>
            <a:pPr algn="l"/>
            <a:r>
              <a:rPr lang="en-US" altLang="zh-CN" sz="1400" dirty="0">
                <a:solidFill>
                  <a:srgbClr val="0000FF"/>
                </a:solidFill>
                <a:latin typeface="Consolas" pitchFamily="49" charset="0"/>
                <a:ea typeface="仿宋" pitchFamily="49" charset="-122"/>
                <a:cs typeface="Consolas" pitchFamily="49" charset="0"/>
              </a:rPr>
              <a:t>void </a:t>
            </a:r>
            <a:r>
              <a:rPr lang="en-US" altLang="zh-CN" sz="1400" dirty="0" err="1">
                <a:solidFill>
                  <a:srgbClr val="FF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CreateList</a:t>
            </a:r>
            <a:r>
              <a:rPr lang="en-US" altLang="zh-CN" sz="1400" dirty="0">
                <a:solidFill>
                  <a:srgbClr val="0000FF"/>
                </a:solidFill>
                <a:latin typeface="Consolas" pitchFamily="49" charset="0"/>
                <a:ea typeface="仿宋" pitchFamily="49" charset="-122"/>
                <a:cs typeface="Consolas" pitchFamily="49" charset="0"/>
              </a:rPr>
              <a:t>(</a:t>
            </a:r>
            <a:r>
              <a:rPr lang="en-US" altLang="zh-CN" sz="1400" dirty="0" err="1">
                <a:solidFill>
                  <a:srgbClr val="FF00FF"/>
                </a:solidFill>
                <a:latin typeface="Consolas" pitchFamily="49" charset="0"/>
                <a:ea typeface="仿宋" pitchFamily="49" charset="-122"/>
                <a:cs typeface="Consolas" pitchFamily="49" charset="0"/>
              </a:rPr>
              <a:t>SqList</a:t>
            </a:r>
            <a:r>
              <a:rPr lang="en-US" altLang="zh-CN" sz="1400" dirty="0">
                <a:solidFill>
                  <a:srgbClr val="FF00FF"/>
                </a:solidFill>
                <a:latin typeface="Consolas" pitchFamily="49" charset="0"/>
                <a:ea typeface="仿宋" pitchFamily="49" charset="-122"/>
                <a:cs typeface="Consolas" pitchFamily="49" charset="0"/>
              </a:rPr>
              <a:t> * &amp;L</a:t>
            </a:r>
            <a:r>
              <a:rPr lang="zh-CN" altLang="en-US" sz="1400" dirty="0">
                <a:solidFill>
                  <a:srgbClr val="0000FF"/>
                </a:solidFill>
                <a:latin typeface="Consolas" pitchFamily="49" charset="0"/>
                <a:ea typeface="仿宋" pitchFamily="49" charset="-122"/>
                <a:cs typeface="Consolas" pitchFamily="49" charset="0"/>
              </a:rPr>
              <a:t>，</a:t>
            </a:r>
            <a:r>
              <a:rPr lang="en-US" altLang="zh-CN" sz="1400" dirty="0" err="1">
                <a:solidFill>
                  <a:srgbClr val="0000FF"/>
                </a:solidFill>
                <a:latin typeface="Consolas" pitchFamily="49" charset="0"/>
                <a:ea typeface="仿宋" pitchFamily="49" charset="-122"/>
                <a:cs typeface="Consolas" pitchFamily="49" charset="0"/>
              </a:rPr>
              <a:t>ElemType</a:t>
            </a:r>
            <a:r>
              <a:rPr lang="en-US" altLang="zh-CN" sz="1400" dirty="0">
                <a:solidFill>
                  <a:srgbClr val="0000FF"/>
                </a:solidFill>
                <a:latin typeface="Consolas" pitchFamily="49" charset="0"/>
                <a:ea typeface="仿宋" pitchFamily="49" charset="-122"/>
                <a:cs typeface="Consolas" pitchFamily="49" charset="0"/>
              </a:rPr>
              <a:t> a[]</a:t>
            </a:r>
            <a:r>
              <a:rPr lang="zh-CN" altLang="en-US" sz="1400" dirty="0">
                <a:solidFill>
                  <a:srgbClr val="0000FF"/>
                </a:solidFill>
                <a:latin typeface="Consolas" pitchFamily="49" charset="0"/>
                <a:ea typeface="仿宋" pitchFamily="49" charset="-122"/>
                <a:cs typeface="Consolas" pitchFamily="49" charset="0"/>
              </a:rPr>
              <a:t>，</a:t>
            </a:r>
            <a:r>
              <a:rPr lang="en-US" altLang="zh-CN" sz="1400" dirty="0">
                <a:solidFill>
                  <a:srgbClr val="0000FF"/>
                </a:solidFill>
                <a:latin typeface="Consolas" pitchFamily="49" charset="0"/>
                <a:ea typeface="仿宋" pitchFamily="49" charset="-122"/>
                <a:cs typeface="Consolas" pitchFamily="49" charset="0"/>
              </a:rPr>
              <a:t>int n)  </a:t>
            </a:r>
          </a:p>
          <a:p>
            <a:pPr algn="l"/>
            <a:r>
              <a:rPr lang="en-US" altLang="zh-CN" sz="1400" dirty="0">
                <a:solidFill>
                  <a:srgbClr val="0000FF"/>
                </a:solidFill>
                <a:latin typeface="Consolas" pitchFamily="49" charset="0"/>
                <a:ea typeface="仿宋" pitchFamily="49" charset="-122"/>
                <a:cs typeface="Consolas" pitchFamily="49" charset="0"/>
              </a:rPr>
              <a:t>{  </a:t>
            </a:r>
          </a:p>
          <a:p>
            <a:pPr algn="l"/>
            <a:r>
              <a:rPr lang="en-US" altLang="zh-CN" sz="1400" dirty="0">
                <a:solidFill>
                  <a:srgbClr val="0000FF"/>
                </a:solidFill>
                <a:latin typeface="Consolas" pitchFamily="49" charset="0"/>
                <a:ea typeface="仿宋" pitchFamily="49" charset="-122"/>
                <a:cs typeface="Consolas" pitchFamily="49" charset="0"/>
              </a:rPr>
              <a:t>   int </a:t>
            </a:r>
            <a:r>
              <a:rPr lang="en-US" altLang="zh-CN" sz="1400" dirty="0" err="1">
                <a:solidFill>
                  <a:srgbClr val="0000FF"/>
                </a:solidFill>
                <a:latin typeface="Consolas" pitchFamily="49" charset="0"/>
                <a:ea typeface="仿宋" pitchFamily="49" charset="-122"/>
                <a:cs typeface="Consolas" pitchFamily="49" charset="0"/>
              </a:rPr>
              <a:t>i</a:t>
            </a:r>
            <a:r>
              <a:rPr lang="en-US" altLang="zh-CN" sz="1400" dirty="0">
                <a:solidFill>
                  <a:srgbClr val="0000FF"/>
                </a:solidFill>
                <a:latin typeface="Consolas" pitchFamily="49" charset="0"/>
                <a:ea typeface="仿宋" pitchFamily="49" charset="-122"/>
                <a:cs typeface="Consolas" pitchFamily="49" charset="0"/>
              </a:rPr>
              <a:t>=0,k=0;</a:t>
            </a:r>
          </a:p>
          <a:p>
            <a:pPr algn="l"/>
            <a:r>
              <a:rPr lang="en-US" altLang="zh-CN" sz="1400" dirty="0">
                <a:solidFill>
                  <a:srgbClr val="0000FF"/>
                </a:solidFill>
                <a:latin typeface="Consolas" pitchFamily="49" charset="0"/>
                <a:ea typeface="仿宋" pitchFamily="49" charset="-122"/>
                <a:cs typeface="Consolas" pitchFamily="49" charset="0"/>
              </a:rPr>
              <a:t>   L=(</a:t>
            </a:r>
            <a:r>
              <a:rPr lang="en-US" altLang="zh-CN" sz="1400" dirty="0" err="1">
                <a:solidFill>
                  <a:srgbClr val="0000FF"/>
                </a:solidFill>
                <a:latin typeface="Consolas" pitchFamily="49" charset="0"/>
                <a:ea typeface="仿宋" pitchFamily="49" charset="-122"/>
                <a:cs typeface="Consolas" pitchFamily="49" charset="0"/>
              </a:rPr>
              <a:t>SqList</a:t>
            </a:r>
            <a:r>
              <a:rPr lang="en-US" altLang="zh-CN" sz="1400" dirty="0">
                <a:solidFill>
                  <a:srgbClr val="0000FF"/>
                </a:solidFill>
                <a:latin typeface="Consolas" pitchFamily="49" charset="0"/>
                <a:ea typeface="仿宋" pitchFamily="49" charset="-122"/>
                <a:cs typeface="Consolas" pitchFamily="49" charset="0"/>
              </a:rPr>
              <a:t> *)malloc(</a:t>
            </a:r>
            <a:r>
              <a:rPr lang="en-US" altLang="zh-CN" sz="1400" dirty="0" err="1">
                <a:solidFill>
                  <a:srgbClr val="0000FF"/>
                </a:solidFill>
                <a:latin typeface="Consolas" pitchFamily="49" charset="0"/>
                <a:ea typeface="仿宋" pitchFamily="49" charset="-122"/>
                <a:cs typeface="Consolas" pitchFamily="49" charset="0"/>
              </a:rPr>
              <a:t>sizeof</a:t>
            </a:r>
            <a:r>
              <a:rPr lang="en-US" altLang="zh-CN" sz="1400" dirty="0">
                <a:solidFill>
                  <a:srgbClr val="0000FF"/>
                </a:solidFill>
                <a:latin typeface="Consolas" pitchFamily="49" charset="0"/>
                <a:ea typeface="仿宋" pitchFamily="49" charset="-122"/>
                <a:cs typeface="Consolas" pitchFamily="49" charset="0"/>
              </a:rPr>
              <a:t>(</a:t>
            </a:r>
            <a:r>
              <a:rPr lang="en-US" altLang="zh-CN" sz="1400" dirty="0" err="1">
                <a:solidFill>
                  <a:srgbClr val="0000FF"/>
                </a:solidFill>
                <a:latin typeface="Consolas" pitchFamily="49" charset="0"/>
                <a:ea typeface="仿宋" pitchFamily="49" charset="-122"/>
                <a:cs typeface="Consolas" pitchFamily="49" charset="0"/>
              </a:rPr>
              <a:t>SqList</a:t>
            </a:r>
            <a:r>
              <a:rPr lang="en-US" altLang="zh-CN" sz="1400" dirty="0">
                <a:solidFill>
                  <a:srgbClr val="0000FF"/>
                </a:solidFill>
                <a:latin typeface="Consolas" pitchFamily="49" charset="0"/>
                <a:ea typeface="仿宋" pitchFamily="49" charset="-122"/>
                <a:cs typeface="Consolas" pitchFamily="49" charset="0"/>
              </a:rPr>
              <a:t>));</a:t>
            </a:r>
          </a:p>
          <a:p>
            <a:pPr algn="l"/>
            <a:r>
              <a:rPr lang="en-US" altLang="zh-CN" sz="1400" dirty="0">
                <a:solidFill>
                  <a:srgbClr val="0000FF"/>
                </a:solidFill>
                <a:latin typeface="Consolas" pitchFamily="49" charset="0"/>
                <a:ea typeface="仿宋" pitchFamily="49" charset="-122"/>
                <a:cs typeface="Consolas" pitchFamily="49" charset="0"/>
              </a:rPr>
              <a:t>   while (</a:t>
            </a:r>
            <a:r>
              <a:rPr lang="en-US" altLang="zh-CN" sz="1400" dirty="0" err="1">
                <a:solidFill>
                  <a:srgbClr val="0000FF"/>
                </a:solidFill>
                <a:latin typeface="Consolas" pitchFamily="49" charset="0"/>
                <a:ea typeface="仿宋" pitchFamily="49" charset="-122"/>
                <a:cs typeface="Consolas" pitchFamily="49" charset="0"/>
              </a:rPr>
              <a:t>i</a:t>
            </a:r>
            <a:r>
              <a:rPr lang="en-US" altLang="zh-CN" sz="1400" dirty="0">
                <a:solidFill>
                  <a:srgbClr val="0000FF"/>
                </a:solidFill>
                <a:latin typeface="Consolas" pitchFamily="49" charset="0"/>
                <a:ea typeface="仿宋" pitchFamily="49" charset="-122"/>
                <a:cs typeface="Consolas" pitchFamily="49" charset="0"/>
              </a:rPr>
              <a:t>&lt;n)		</a:t>
            </a:r>
            <a:r>
              <a:rPr lang="en-US" altLang="zh-CN" sz="1400" dirty="0">
                <a:solidFill>
                  <a:srgbClr val="00B0F0"/>
                </a:solidFill>
                <a:latin typeface="Consolas" pitchFamily="49" charset="0"/>
                <a:ea typeface="仿宋" pitchFamily="49" charset="-122"/>
                <a:cs typeface="Consolas" pitchFamily="49" charset="0"/>
              </a:rPr>
              <a:t>//</a:t>
            </a:r>
            <a:r>
              <a:rPr lang="en-US" altLang="zh-CN" sz="1400" dirty="0" err="1">
                <a:solidFill>
                  <a:srgbClr val="00B0F0"/>
                </a:solidFill>
                <a:latin typeface="Consolas" pitchFamily="49" charset="0"/>
                <a:ea typeface="仿宋" pitchFamily="49" charset="-122"/>
                <a:cs typeface="Consolas" pitchFamily="49" charset="0"/>
              </a:rPr>
              <a:t>i</a:t>
            </a:r>
            <a:r>
              <a:rPr lang="zh-CN" altLang="en-US" sz="1400" dirty="0">
                <a:solidFill>
                  <a:srgbClr val="00B0F0"/>
                </a:solidFill>
                <a:latin typeface="Consolas" pitchFamily="49" charset="0"/>
                <a:ea typeface="仿宋" pitchFamily="49" charset="-122"/>
                <a:cs typeface="Consolas" pitchFamily="49" charset="0"/>
              </a:rPr>
              <a:t>扫描</a:t>
            </a:r>
            <a:r>
              <a:rPr lang="en-US" altLang="zh-CN" sz="1400" dirty="0">
                <a:solidFill>
                  <a:srgbClr val="00B0F0"/>
                </a:solidFill>
                <a:latin typeface="Consolas" pitchFamily="49" charset="0"/>
                <a:ea typeface="仿宋" pitchFamily="49" charset="-122"/>
                <a:cs typeface="Consolas" pitchFamily="49" charset="0"/>
              </a:rPr>
              <a:t>a</a:t>
            </a:r>
            <a:r>
              <a:rPr lang="zh-CN" altLang="en-US" sz="1400" dirty="0">
                <a:solidFill>
                  <a:srgbClr val="00B0F0"/>
                </a:solidFill>
                <a:latin typeface="Consolas" pitchFamily="49" charset="0"/>
                <a:ea typeface="仿宋" pitchFamily="49" charset="-122"/>
                <a:cs typeface="Consolas" pitchFamily="49" charset="0"/>
              </a:rPr>
              <a:t>中元素</a:t>
            </a:r>
            <a:endParaRPr lang="en-US" altLang="zh-CN" sz="1400" dirty="0">
              <a:solidFill>
                <a:srgbClr val="00B0F0"/>
              </a:solidFill>
              <a:latin typeface="Consolas" pitchFamily="49" charset="0"/>
              <a:ea typeface="仿宋" pitchFamily="49" charset="-122"/>
              <a:cs typeface="Consolas" pitchFamily="49" charset="0"/>
            </a:endParaRPr>
          </a:p>
          <a:p>
            <a:pPr algn="l"/>
            <a:r>
              <a:rPr lang="en-US" altLang="zh-CN" sz="1400" dirty="0">
                <a:solidFill>
                  <a:srgbClr val="0000FF"/>
                </a:solidFill>
                <a:latin typeface="Consolas" pitchFamily="49" charset="0"/>
                <a:ea typeface="仿宋" pitchFamily="49" charset="-122"/>
                <a:cs typeface="Consolas" pitchFamily="49" charset="0"/>
              </a:rPr>
              <a:t>   {  L-&gt;data[k]=a[</a:t>
            </a:r>
            <a:r>
              <a:rPr lang="en-US" altLang="zh-CN" sz="1400" dirty="0" err="1">
                <a:solidFill>
                  <a:srgbClr val="0000FF"/>
                </a:solidFill>
                <a:latin typeface="Consolas" pitchFamily="49" charset="0"/>
                <a:ea typeface="仿宋" pitchFamily="49" charset="-122"/>
                <a:cs typeface="Consolas" pitchFamily="49" charset="0"/>
              </a:rPr>
              <a:t>i</a:t>
            </a:r>
            <a:r>
              <a:rPr lang="en-US" altLang="zh-CN" sz="1400" dirty="0">
                <a:solidFill>
                  <a:srgbClr val="0000FF"/>
                </a:solidFill>
                <a:latin typeface="Consolas" pitchFamily="49" charset="0"/>
                <a:ea typeface="仿宋" pitchFamily="49" charset="-122"/>
                <a:cs typeface="Consolas" pitchFamily="49" charset="0"/>
              </a:rPr>
              <a:t>];</a:t>
            </a:r>
          </a:p>
          <a:p>
            <a:pPr algn="l"/>
            <a:r>
              <a:rPr lang="en-US" altLang="zh-CN" sz="1400" dirty="0">
                <a:solidFill>
                  <a:srgbClr val="0000FF"/>
                </a:solidFill>
                <a:latin typeface="Consolas" pitchFamily="49" charset="0"/>
                <a:ea typeface="仿宋" pitchFamily="49" charset="-122"/>
                <a:cs typeface="Consolas" pitchFamily="49" charset="0"/>
              </a:rPr>
              <a:t>      k++; </a:t>
            </a:r>
            <a:r>
              <a:rPr lang="en-US" altLang="zh-CN" sz="1400" dirty="0" err="1">
                <a:solidFill>
                  <a:srgbClr val="0000FF"/>
                </a:solidFill>
                <a:latin typeface="Consolas" pitchFamily="49" charset="0"/>
                <a:ea typeface="仿宋" pitchFamily="49" charset="-122"/>
                <a:cs typeface="Consolas" pitchFamily="49" charset="0"/>
              </a:rPr>
              <a:t>i</a:t>
            </a:r>
            <a:r>
              <a:rPr lang="en-US" altLang="zh-CN" sz="1400" dirty="0">
                <a:solidFill>
                  <a:srgbClr val="0000FF"/>
                </a:solidFill>
                <a:latin typeface="Consolas" pitchFamily="49" charset="0"/>
                <a:ea typeface="仿宋" pitchFamily="49" charset="-122"/>
                <a:cs typeface="Consolas" pitchFamily="49" charset="0"/>
              </a:rPr>
              <a:t>++;	</a:t>
            </a:r>
            <a:r>
              <a:rPr lang="en-US" altLang="zh-CN" sz="1400" dirty="0">
                <a:solidFill>
                  <a:srgbClr val="00B0F0"/>
                </a:solidFill>
                <a:latin typeface="Consolas" pitchFamily="49" charset="0"/>
                <a:ea typeface="仿宋" pitchFamily="49" charset="-122"/>
                <a:cs typeface="Consolas" pitchFamily="49" charset="0"/>
              </a:rPr>
              <a:t>//k</a:t>
            </a:r>
            <a:r>
              <a:rPr lang="zh-CN" altLang="en-US" sz="1400" dirty="0">
                <a:solidFill>
                  <a:srgbClr val="00B0F0"/>
                </a:solidFill>
                <a:latin typeface="Consolas" pitchFamily="49" charset="0"/>
                <a:ea typeface="仿宋" pitchFamily="49" charset="-122"/>
                <a:cs typeface="Consolas" pitchFamily="49" charset="0"/>
              </a:rPr>
              <a:t>记录插入到</a:t>
            </a:r>
            <a:r>
              <a:rPr lang="en-US" altLang="zh-CN" sz="1400" dirty="0">
                <a:solidFill>
                  <a:srgbClr val="00B0F0"/>
                </a:solidFill>
                <a:latin typeface="Consolas" pitchFamily="49" charset="0"/>
                <a:ea typeface="仿宋" pitchFamily="49" charset="-122"/>
                <a:cs typeface="Consolas" pitchFamily="49" charset="0"/>
              </a:rPr>
              <a:t>L</a:t>
            </a:r>
            <a:r>
              <a:rPr lang="zh-CN" altLang="en-US" sz="1400" dirty="0">
                <a:solidFill>
                  <a:srgbClr val="00B0F0"/>
                </a:solidFill>
                <a:latin typeface="Consolas" pitchFamily="49" charset="0"/>
                <a:ea typeface="仿宋" pitchFamily="49" charset="-122"/>
                <a:cs typeface="Consolas" pitchFamily="49" charset="0"/>
              </a:rPr>
              <a:t>中的元素个数</a:t>
            </a:r>
            <a:endParaRPr lang="en-US" altLang="zh-CN" sz="1400" dirty="0">
              <a:solidFill>
                <a:srgbClr val="00B0F0"/>
              </a:solidFill>
              <a:latin typeface="Consolas" pitchFamily="49" charset="0"/>
              <a:ea typeface="仿宋" pitchFamily="49" charset="-122"/>
              <a:cs typeface="Consolas" pitchFamily="49" charset="0"/>
            </a:endParaRPr>
          </a:p>
          <a:p>
            <a:pPr algn="l"/>
            <a:r>
              <a:rPr lang="en-US" altLang="zh-CN" sz="1400" dirty="0">
                <a:solidFill>
                  <a:srgbClr val="0000FF"/>
                </a:solidFill>
                <a:latin typeface="Consolas" pitchFamily="49" charset="0"/>
                <a:ea typeface="仿宋" pitchFamily="49" charset="-122"/>
                <a:cs typeface="Consolas" pitchFamily="49" charset="0"/>
              </a:rPr>
              <a:t>   }</a:t>
            </a:r>
          </a:p>
          <a:p>
            <a:pPr algn="l"/>
            <a:r>
              <a:rPr lang="en-US" altLang="zh-CN" sz="1400" dirty="0">
                <a:solidFill>
                  <a:srgbClr val="0000FF"/>
                </a:solidFill>
                <a:latin typeface="Consolas" pitchFamily="49" charset="0"/>
                <a:ea typeface="仿宋" pitchFamily="49" charset="-122"/>
                <a:cs typeface="Consolas" pitchFamily="49" charset="0"/>
              </a:rPr>
              <a:t>   L-&gt;length=k;</a:t>
            </a:r>
          </a:p>
          <a:p>
            <a:pPr algn="l"/>
            <a:r>
              <a:rPr lang="en-US" altLang="zh-CN" sz="1400" dirty="0">
                <a:solidFill>
                  <a:srgbClr val="0000FF"/>
                </a:solidFill>
                <a:latin typeface="Consolas" pitchFamily="49" charset="0"/>
                <a:ea typeface="仿宋" pitchFamily="49" charset="-122"/>
                <a:cs typeface="Consolas" pitchFamily="49" charset="0"/>
              </a:rPr>
              <a:t> }</a:t>
            </a:r>
          </a:p>
        </p:txBody>
      </p:sp>
      <p:cxnSp>
        <p:nvCxnSpPr>
          <p:cNvPr id="9" name="直接箭头连接符 8">
            <a:extLst>
              <a:ext uri="{FF2B5EF4-FFF2-40B4-BE49-F238E27FC236}">
                <a16:creationId xmlns:a16="http://schemas.microsoft.com/office/drawing/2014/main" id="{7C338F3F-51A8-ADDF-4A73-602A4A0B4FDF}"/>
              </a:ext>
            </a:extLst>
          </p:cNvPr>
          <p:cNvCxnSpPr>
            <a:cxnSpLocks/>
          </p:cNvCxnSpPr>
          <p:nvPr/>
        </p:nvCxnSpPr>
        <p:spPr>
          <a:xfrm>
            <a:off x="7117334" y="2123607"/>
            <a:ext cx="695627" cy="12323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5EA857FB-2315-CAB2-7C77-6AFA3302BB1D}"/>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Tree>
    <p:extLst>
      <p:ext uri="{BB962C8B-B14F-4D97-AF65-F5344CB8AC3E}">
        <p14:creationId xmlns:p14="http://schemas.microsoft.com/office/powerpoint/2010/main" val="168116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83544-1E2C-8DA8-6124-AF5C517AB816}"/>
            </a:ext>
          </a:extLst>
        </p:cNvPr>
        <p:cNvGrpSpPr/>
        <p:nvPr/>
      </p:nvGrpSpPr>
      <p:grpSpPr>
        <a:xfrm>
          <a:off x="0" y="0"/>
          <a:ext cx="0" cy="0"/>
          <a:chOff x="0" y="0"/>
          <a:chExt cx="0" cy="0"/>
        </a:xfrm>
      </p:grpSpPr>
      <p:graphicFrame>
        <p:nvGraphicFramePr>
          <p:cNvPr id="33" name="表格 32">
            <a:extLst>
              <a:ext uri="{FF2B5EF4-FFF2-40B4-BE49-F238E27FC236}">
                <a16:creationId xmlns:a16="http://schemas.microsoft.com/office/drawing/2014/main" id="{8C6E8876-41AD-574F-4E76-503953440DF8}"/>
              </a:ext>
            </a:extLst>
          </p:cNvPr>
          <p:cNvGraphicFramePr>
            <a:graphicFrameLocks noGrp="1"/>
          </p:cNvGraphicFramePr>
          <p:nvPr/>
        </p:nvGraphicFramePr>
        <p:xfrm>
          <a:off x="7124836" y="1741342"/>
          <a:ext cx="1094967" cy="2267128"/>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0"/>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pattFill prst="wdUpDiag">
                      <a:fgClr>
                        <a:srgbClr val="FFC000"/>
                      </a:fgClr>
                      <a:bgClr>
                        <a:schemeClr val="bg1"/>
                      </a:bgClr>
                    </a:pattFill>
                  </a:tcPr>
                </a:tc>
                <a:extLst>
                  <a:ext uri="{0D108BD9-81ED-4DB2-BD59-A6C34878D82A}">
                    <a16:rowId xmlns:a16="http://schemas.microsoft.com/office/drawing/2014/main" val="10002"/>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pattFill prst="wdUpDiag">
                      <a:fgClr>
                        <a:srgbClr val="FFC000"/>
                      </a:fgClr>
                      <a:bgClr>
                        <a:schemeClr val="bg1"/>
                      </a:bgClr>
                    </a:pattFill>
                  </a:tcPr>
                </a:tc>
                <a:extLst>
                  <a:ext uri="{0D108BD9-81ED-4DB2-BD59-A6C34878D82A}">
                    <a16:rowId xmlns:a16="http://schemas.microsoft.com/office/drawing/2014/main" val="10004"/>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5"/>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pattFill prst="wdUpDiag">
                      <a:fgClr>
                        <a:srgbClr val="FFC000"/>
                      </a:fgClr>
                      <a:bgClr>
                        <a:schemeClr val="bg1"/>
                      </a:bgClr>
                    </a:pattFill>
                  </a:tcPr>
                </a:tc>
                <a:extLst>
                  <a:ext uri="{0D108BD9-81ED-4DB2-BD59-A6C34878D82A}">
                    <a16:rowId xmlns:a16="http://schemas.microsoft.com/office/drawing/2014/main" val="10006"/>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n</a:t>
                      </a: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solidFill>
                      <a:srgbClr val="92D050"/>
                    </a:solidFill>
                  </a:tcPr>
                </a:tc>
                <a:extLst>
                  <a:ext uri="{0D108BD9-81ED-4DB2-BD59-A6C34878D82A}">
                    <a16:rowId xmlns:a16="http://schemas.microsoft.com/office/drawing/2014/main" val="10007"/>
                  </a:ext>
                </a:extLst>
              </a:tr>
            </a:tbl>
          </a:graphicData>
        </a:graphic>
      </p:graphicFrame>
      <p:sp>
        <p:nvSpPr>
          <p:cNvPr id="38" name="矩形 37">
            <a:extLst>
              <a:ext uri="{FF2B5EF4-FFF2-40B4-BE49-F238E27FC236}">
                <a16:creationId xmlns:a16="http://schemas.microsoft.com/office/drawing/2014/main" id="{1FDFDD5D-CF8D-B247-3685-BF3254CF14B2}"/>
              </a:ext>
            </a:extLst>
          </p:cNvPr>
          <p:cNvSpPr/>
          <p:nvPr/>
        </p:nvSpPr>
        <p:spPr>
          <a:xfrm>
            <a:off x="6084169" y="3748178"/>
            <a:ext cx="1109599" cy="369332"/>
          </a:xfrm>
          <a:prstGeom prst="rect">
            <a:avLst/>
          </a:prstGeom>
        </p:spPr>
        <p:txBody>
          <a:bodyPr wrap="none">
            <a:spAutoFit/>
          </a:bodyPr>
          <a:lstStyle/>
          <a:p>
            <a:r>
              <a:rPr lang="en-US" altLang="zh-CN" dirty="0">
                <a:latin typeface="Times New Roman" pitchFamily="18" charset="0"/>
                <a:ea typeface="宋体" pitchFamily="2" charset="-122"/>
              </a:rPr>
              <a:t>L-&gt;length</a:t>
            </a:r>
            <a:endParaRPr lang="zh-CN" altLang="en-US" dirty="0">
              <a:latin typeface="Times New Roman" pitchFamily="18" charset="0"/>
              <a:ea typeface="宋体" pitchFamily="2" charset="-122"/>
            </a:endParaRPr>
          </a:p>
        </p:txBody>
      </p:sp>
      <p:cxnSp>
        <p:nvCxnSpPr>
          <p:cNvPr id="24" name="直接连接符 23">
            <a:extLst>
              <a:ext uri="{FF2B5EF4-FFF2-40B4-BE49-F238E27FC236}">
                <a16:creationId xmlns:a16="http://schemas.microsoft.com/office/drawing/2014/main" id="{5641E290-2CE1-C147-CA97-F8749640F147}"/>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6C4D8644-A987-3DDF-1BFB-28AE8483A9BB}"/>
              </a:ext>
            </a:extLst>
          </p:cNvPr>
          <p:cNvSpPr/>
          <p:nvPr/>
        </p:nvSpPr>
        <p:spPr>
          <a:xfrm>
            <a:off x="7340260" y="3450247"/>
            <a:ext cx="646331" cy="369332"/>
          </a:xfrm>
          <a:prstGeom prst="rect">
            <a:avLst/>
          </a:prstGeom>
        </p:spPr>
        <p:txBody>
          <a:bodyPr wrap="none">
            <a:spAutoFit/>
          </a:bodyPr>
          <a:lstStyle/>
          <a:p>
            <a:r>
              <a:rPr lang="zh-CN" altLang="en-US" dirty="0"/>
              <a:t>空闲</a:t>
            </a:r>
          </a:p>
        </p:txBody>
      </p:sp>
      <p:sp>
        <p:nvSpPr>
          <p:cNvPr id="2" name="矩形 1">
            <a:extLst>
              <a:ext uri="{FF2B5EF4-FFF2-40B4-BE49-F238E27FC236}">
                <a16:creationId xmlns:a16="http://schemas.microsoft.com/office/drawing/2014/main" id="{7E6A78AB-C1D4-DEBE-E2F9-0BDB9AD2D4B6}"/>
              </a:ext>
            </a:extLst>
          </p:cNvPr>
          <p:cNvSpPr/>
          <p:nvPr/>
        </p:nvSpPr>
        <p:spPr>
          <a:xfrm>
            <a:off x="1157409" y="1601428"/>
            <a:ext cx="2031325" cy="461665"/>
          </a:xfrm>
          <a:prstGeom prst="rect">
            <a:avLst/>
          </a:prstGeom>
        </p:spPr>
        <p:txBody>
          <a:bodyPr wrap="none">
            <a:spAutoFit/>
          </a:bodyPr>
          <a:lstStyle/>
          <a:p>
            <a:pPr>
              <a:defRPr/>
            </a:pPr>
            <a:r>
              <a:rPr lang="zh-CN" altLang="en-US" sz="2400" dirty="0">
                <a:latin typeface="微软雅黑" pitchFamily="34" charset="-122"/>
                <a:ea typeface="微软雅黑" pitchFamily="34" charset="-122"/>
                <a:cs typeface="经典粗黑简" pitchFamily="49" charset="-122"/>
              </a:rPr>
              <a:t>③销毁顺序表</a:t>
            </a:r>
            <a:endParaRPr lang="en-US" altLang="zh-CN" sz="2400" dirty="0">
              <a:latin typeface="微软雅黑" pitchFamily="34" charset="-122"/>
              <a:ea typeface="微软雅黑" pitchFamily="34" charset="-122"/>
              <a:cs typeface="经典粗黑简" pitchFamily="49" charset="-122"/>
            </a:endParaRPr>
          </a:p>
        </p:txBody>
      </p:sp>
      <p:sp>
        <p:nvSpPr>
          <p:cNvPr id="28" name="矩形 27">
            <a:extLst>
              <a:ext uri="{FF2B5EF4-FFF2-40B4-BE49-F238E27FC236}">
                <a16:creationId xmlns:a16="http://schemas.microsoft.com/office/drawing/2014/main" id="{7BA338A1-716D-BABC-029A-025FB7242BB7}"/>
              </a:ext>
            </a:extLst>
          </p:cNvPr>
          <p:cNvSpPr/>
          <p:nvPr/>
        </p:nvSpPr>
        <p:spPr>
          <a:xfrm>
            <a:off x="7340260" y="3175060"/>
            <a:ext cx="646331" cy="369332"/>
          </a:xfrm>
          <a:prstGeom prst="rect">
            <a:avLst/>
          </a:prstGeom>
        </p:spPr>
        <p:txBody>
          <a:bodyPr wrap="none">
            <a:spAutoFit/>
          </a:bodyPr>
          <a:lstStyle/>
          <a:p>
            <a:r>
              <a:rPr lang="zh-CN" altLang="en-US" dirty="0"/>
              <a:t>空闲</a:t>
            </a:r>
          </a:p>
        </p:txBody>
      </p:sp>
      <p:sp>
        <p:nvSpPr>
          <p:cNvPr id="29" name="矩形 28">
            <a:extLst>
              <a:ext uri="{FF2B5EF4-FFF2-40B4-BE49-F238E27FC236}">
                <a16:creationId xmlns:a16="http://schemas.microsoft.com/office/drawing/2014/main" id="{10D6F33B-9398-F6B4-F4A2-D3E172A36647}"/>
              </a:ext>
            </a:extLst>
          </p:cNvPr>
          <p:cNvSpPr/>
          <p:nvPr/>
        </p:nvSpPr>
        <p:spPr>
          <a:xfrm>
            <a:off x="7340260" y="2898061"/>
            <a:ext cx="646331" cy="369332"/>
          </a:xfrm>
          <a:prstGeom prst="rect">
            <a:avLst/>
          </a:prstGeom>
        </p:spPr>
        <p:txBody>
          <a:bodyPr wrap="none">
            <a:spAutoFit/>
          </a:bodyPr>
          <a:lstStyle/>
          <a:p>
            <a:r>
              <a:rPr lang="zh-CN" altLang="en-US" dirty="0"/>
              <a:t>空闲</a:t>
            </a:r>
          </a:p>
        </p:txBody>
      </p:sp>
      <p:sp>
        <p:nvSpPr>
          <p:cNvPr id="30" name="矩形 29">
            <a:extLst>
              <a:ext uri="{FF2B5EF4-FFF2-40B4-BE49-F238E27FC236}">
                <a16:creationId xmlns:a16="http://schemas.microsoft.com/office/drawing/2014/main" id="{228F8AE8-6433-8ACC-236A-C967F5267875}"/>
              </a:ext>
            </a:extLst>
          </p:cNvPr>
          <p:cNvSpPr/>
          <p:nvPr/>
        </p:nvSpPr>
        <p:spPr>
          <a:xfrm>
            <a:off x="7340260" y="2641490"/>
            <a:ext cx="646331" cy="369332"/>
          </a:xfrm>
          <a:prstGeom prst="rect">
            <a:avLst/>
          </a:prstGeom>
        </p:spPr>
        <p:txBody>
          <a:bodyPr wrap="none">
            <a:spAutoFit/>
          </a:bodyPr>
          <a:lstStyle/>
          <a:p>
            <a:r>
              <a:rPr lang="zh-CN" altLang="en-US" dirty="0"/>
              <a:t>空闲</a:t>
            </a:r>
          </a:p>
        </p:txBody>
      </p:sp>
      <p:sp>
        <p:nvSpPr>
          <p:cNvPr id="31" name="矩形 30">
            <a:extLst>
              <a:ext uri="{FF2B5EF4-FFF2-40B4-BE49-F238E27FC236}">
                <a16:creationId xmlns:a16="http://schemas.microsoft.com/office/drawing/2014/main" id="{60491B7F-34C7-F740-B668-9C74A5BC433F}"/>
              </a:ext>
            </a:extLst>
          </p:cNvPr>
          <p:cNvSpPr/>
          <p:nvPr/>
        </p:nvSpPr>
        <p:spPr>
          <a:xfrm>
            <a:off x="7340260" y="2339631"/>
            <a:ext cx="646331" cy="369332"/>
          </a:xfrm>
          <a:prstGeom prst="rect">
            <a:avLst/>
          </a:prstGeom>
        </p:spPr>
        <p:txBody>
          <a:bodyPr wrap="none">
            <a:spAutoFit/>
          </a:bodyPr>
          <a:lstStyle/>
          <a:p>
            <a:r>
              <a:rPr lang="zh-CN" altLang="en-US" dirty="0"/>
              <a:t>空闲</a:t>
            </a:r>
          </a:p>
        </p:txBody>
      </p:sp>
      <p:sp>
        <p:nvSpPr>
          <p:cNvPr id="42" name="矩形 41">
            <a:extLst>
              <a:ext uri="{FF2B5EF4-FFF2-40B4-BE49-F238E27FC236}">
                <a16:creationId xmlns:a16="http://schemas.microsoft.com/office/drawing/2014/main" id="{737D0992-BE97-8BDD-6014-6FD2F1693AAE}"/>
              </a:ext>
            </a:extLst>
          </p:cNvPr>
          <p:cNvSpPr/>
          <p:nvPr/>
        </p:nvSpPr>
        <p:spPr>
          <a:xfrm>
            <a:off x="7340260" y="2015595"/>
            <a:ext cx="646331" cy="369332"/>
          </a:xfrm>
          <a:prstGeom prst="rect">
            <a:avLst/>
          </a:prstGeom>
        </p:spPr>
        <p:txBody>
          <a:bodyPr wrap="none">
            <a:spAutoFit/>
          </a:bodyPr>
          <a:lstStyle/>
          <a:p>
            <a:r>
              <a:rPr lang="zh-CN" altLang="en-US" dirty="0"/>
              <a:t>空闲</a:t>
            </a:r>
          </a:p>
        </p:txBody>
      </p:sp>
      <p:sp>
        <p:nvSpPr>
          <p:cNvPr id="43" name="矩形 42">
            <a:extLst>
              <a:ext uri="{FF2B5EF4-FFF2-40B4-BE49-F238E27FC236}">
                <a16:creationId xmlns:a16="http://schemas.microsoft.com/office/drawing/2014/main" id="{64D1079F-C9E8-1336-685B-045BAE457CBC}"/>
              </a:ext>
            </a:extLst>
          </p:cNvPr>
          <p:cNvSpPr/>
          <p:nvPr/>
        </p:nvSpPr>
        <p:spPr>
          <a:xfrm>
            <a:off x="7340260" y="1775641"/>
            <a:ext cx="646331" cy="369332"/>
          </a:xfrm>
          <a:prstGeom prst="rect">
            <a:avLst/>
          </a:prstGeom>
        </p:spPr>
        <p:txBody>
          <a:bodyPr wrap="none">
            <a:spAutoFit/>
          </a:bodyPr>
          <a:lstStyle/>
          <a:p>
            <a:r>
              <a:rPr lang="zh-CN" altLang="en-US" dirty="0"/>
              <a:t>空闲</a:t>
            </a:r>
          </a:p>
        </p:txBody>
      </p:sp>
      <p:graphicFrame>
        <p:nvGraphicFramePr>
          <p:cNvPr id="26" name="表格 25">
            <a:extLst>
              <a:ext uri="{FF2B5EF4-FFF2-40B4-BE49-F238E27FC236}">
                <a16:creationId xmlns:a16="http://schemas.microsoft.com/office/drawing/2014/main" id="{183A23F9-BD84-F172-443E-F196DE47028E}"/>
              </a:ext>
            </a:extLst>
          </p:cNvPr>
          <p:cNvGraphicFramePr>
            <a:graphicFrameLocks noGrp="1"/>
          </p:cNvGraphicFramePr>
          <p:nvPr/>
        </p:nvGraphicFramePr>
        <p:xfrm>
          <a:off x="7125791" y="1751711"/>
          <a:ext cx="1094967" cy="1700346"/>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err="1"/>
                        <a:t>a</a:t>
                      </a:r>
                      <a:r>
                        <a:rPr lang="en-US" altLang="zh-CN" sz="1400" baseline="-25000" dirty="0" err="1"/>
                        <a:t>i</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5"/>
                  </a:ext>
                </a:extLst>
              </a:tr>
            </a:tbl>
          </a:graphicData>
        </a:graphic>
      </p:graphicFrame>
      <p:sp>
        <p:nvSpPr>
          <p:cNvPr id="4" name="Rectangle 2">
            <a:extLst>
              <a:ext uri="{FF2B5EF4-FFF2-40B4-BE49-F238E27FC236}">
                <a16:creationId xmlns:a16="http://schemas.microsoft.com/office/drawing/2014/main" id="{B45DC02C-5A7E-0B63-8D06-945AF1F26979}"/>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6" name="文本框 5">
            <a:extLst>
              <a:ext uri="{FF2B5EF4-FFF2-40B4-BE49-F238E27FC236}">
                <a16:creationId xmlns:a16="http://schemas.microsoft.com/office/drawing/2014/main" id="{7AFE0320-D4CC-4E00-F54B-D7A6A0B0A0A6}"/>
              </a:ext>
            </a:extLst>
          </p:cNvPr>
          <p:cNvSpPr txBox="1"/>
          <p:nvPr/>
        </p:nvSpPr>
        <p:spPr>
          <a:xfrm>
            <a:off x="1356115" y="2593118"/>
            <a:ext cx="4579620" cy="1453603"/>
          </a:xfrm>
          <a:prstGeom prst="rect">
            <a:avLst/>
          </a:prstGeom>
          <a:noFill/>
        </p:spPr>
        <p:txBody>
          <a:bodyPr wrap="square">
            <a:spAutoFit/>
          </a:bodyPr>
          <a:lstStyle/>
          <a:p>
            <a:pPr algn="just">
              <a:spcBef>
                <a:spcPct val="50000"/>
              </a:spcBef>
            </a:pPr>
            <a:r>
              <a:rPr kumimoji="1" lang="en-US" altLang="zh-CN" sz="1800" dirty="0">
                <a:solidFill>
                  <a:srgbClr val="0000FF"/>
                </a:solidFill>
                <a:latin typeface="Consolas" pitchFamily="49" charset="0"/>
                <a:ea typeface="宋体" pitchFamily="2" charset="-122"/>
                <a:cs typeface="Consolas" pitchFamily="49" charset="0"/>
              </a:rPr>
              <a:t>void </a:t>
            </a:r>
            <a:r>
              <a:rPr kumimoji="1" lang="en-US" altLang="zh-CN" sz="1800" dirty="0" err="1">
                <a:solidFill>
                  <a:srgbClr val="FF0000"/>
                </a:solidFill>
                <a:effectLst>
                  <a:outerShdw blurRad="38100" dist="38100" dir="2700000" algn="tl">
                    <a:srgbClr val="000000">
                      <a:alpha val="43137"/>
                    </a:srgbClr>
                  </a:outerShdw>
                </a:effectLst>
                <a:latin typeface="Consolas" pitchFamily="49" charset="0"/>
                <a:ea typeface="宋体" pitchFamily="2" charset="-122"/>
                <a:cs typeface="Consolas" pitchFamily="49" charset="0"/>
              </a:rPr>
              <a:t>DestroyList</a:t>
            </a:r>
            <a:r>
              <a:rPr kumimoji="1" lang="en-US" altLang="zh-CN" sz="1800" dirty="0">
                <a:solidFill>
                  <a:srgbClr val="0000FF"/>
                </a:solidFill>
                <a:latin typeface="Consolas" pitchFamily="49" charset="0"/>
                <a:ea typeface="宋体" pitchFamily="2" charset="-122"/>
                <a:cs typeface="Consolas" pitchFamily="49" charset="0"/>
              </a:rPr>
              <a:t>(</a:t>
            </a:r>
            <a:r>
              <a:rPr kumimoji="1" lang="en-US" altLang="zh-CN" sz="1800" dirty="0" err="1">
                <a:solidFill>
                  <a:srgbClr val="0000FF"/>
                </a:solidFill>
                <a:latin typeface="Consolas" pitchFamily="49" charset="0"/>
                <a:ea typeface="宋体" pitchFamily="2" charset="-122"/>
                <a:cs typeface="Consolas" pitchFamily="49" charset="0"/>
              </a:rPr>
              <a:t>SqList</a:t>
            </a:r>
            <a:r>
              <a:rPr kumimoji="1" lang="en-US" altLang="zh-CN" sz="1800" dirty="0">
                <a:solidFill>
                  <a:srgbClr val="0000FF"/>
                </a:solidFill>
                <a:latin typeface="Consolas" pitchFamily="49" charset="0"/>
                <a:ea typeface="宋体" pitchFamily="2" charset="-122"/>
                <a:cs typeface="Consolas" pitchFamily="49" charset="0"/>
              </a:rPr>
              <a:t> *&amp;L)</a:t>
            </a:r>
          </a:p>
          <a:p>
            <a:pPr algn="just">
              <a:lnSpc>
                <a:spcPct val="80000"/>
              </a:lnSpc>
              <a:spcBef>
                <a:spcPct val="50000"/>
              </a:spcBef>
            </a:pPr>
            <a:r>
              <a:rPr kumimoji="1" lang="en-US" altLang="zh-CN" sz="1800" dirty="0">
                <a:solidFill>
                  <a:srgbClr val="0000FF"/>
                </a:solidFill>
                <a:latin typeface="Consolas" pitchFamily="49" charset="0"/>
                <a:ea typeface="宋体" pitchFamily="2" charset="-122"/>
                <a:cs typeface="Consolas" pitchFamily="49" charset="0"/>
              </a:rPr>
              <a:t>{</a:t>
            </a:r>
          </a:p>
          <a:p>
            <a:pPr algn="just">
              <a:lnSpc>
                <a:spcPct val="80000"/>
              </a:lnSpc>
              <a:spcBef>
                <a:spcPct val="50000"/>
              </a:spcBef>
            </a:pPr>
            <a:r>
              <a:rPr kumimoji="1" lang="en-US" altLang="zh-CN" sz="1800" dirty="0">
                <a:solidFill>
                  <a:srgbClr val="0000FF"/>
                </a:solidFill>
                <a:latin typeface="Consolas" pitchFamily="49" charset="0"/>
                <a:ea typeface="宋体" pitchFamily="2" charset="-122"/>
                <a:cs typeface="Consolas" pitchFamily="49" charset="0"/>
              </a:rPr>
              <a:t>    free(L);</a:t>
            </a:r>
          </a:p>
          <a:p>
            <a:pPr algn="just">
              <a:lnSpc>
                <a:spcPct val="80000"/>
              </a:lnSpc>
              <a:spcBef>
                <a:spcPct val="50000"/>
              </a:spcBef>
            </a:pPr>
            <a:r>
              <a:rPr kumimoji="1" lang="en-US" altLang="zh-CN" sz="1800" dirty="0">
                <a:solidFill>
                  <a:srgbClr val="0000FF"/>
                </a:solidFill>
                <a:latin typeface="Consolas" pitchFamily="49" charset="0"/>
                <a:ea typeface="宋体" pitchFamily="2" charset="-122"/>
                <a:cs typeface="Consolas" pitchFamily="49" charset="0"/>
              </a:rPr>
              <a:t>}</a:t>
            </a:r>
            <a:r>
              <a:rPr kumimoji="1" lang="en-US" altLang="zh-CN" sz="1800" dirty="0">
                <a:solidFill>
                  <a:srgbClr val="0000FF"/>
                </a:solidFill>
                <a:latin typeface="Consolas" pitchFamily="49" charset="0"/>
                <a:cs typeface="Consolas" pitchFamily="49" charset="0"/>
              </a:rPr>
              <a:t>   </a:t>
            </a:r>
          </a:p>
        </p:txBody>
      </p:sp>
      <p:sp>
        <p:nvSpPr>
          <p:cNvPr id="7" name="矩形 6">
            <a:extLst>
              <a:ext uri="{FF2B5EF4-FFF2-40B4-BE49-F238E27FC236}">
                <a16:creationId xmlns:a16="http://schemas.microsoft.com/office/drawing/2014/main" id="{30685A07-2AA2-2BD7-7B45-7889C37F28C6}"/>
              </a:ext>
            </a:extLst>
          </p:cNvPr>
          <p:cNvSpPr/>
          <p:nvPr/>
        </p:nvSpPr>
        <p:spPr>
          <a:xfrm>
            <a:off x="6113473" y="1430495"/>
            <a:ext cx="338554" cy="369332"/>
          </a:xfrm>
          <a:prstGeom prst="rect">
            <a:avLst/>
          </a:prstGeom>
        </p:spPr>
        <p:txBody>
          <a:bodyPr wrap="none">
            <a:spAutoFit/>
          </a:bodyPr>
          <a:lstStyle/>
          <a:p>
            <a:r>
              <a:rPr lang="en-US" altLang="zh-CN" b="1" dirty="0">
                <a:latin typeface="Times New Roman" pitchFamily="18" charset="0"/>
                <a:ea typeface="宋体" pitchFamily="2" charset="-122"/>
              </a:rPr>
              <a:t>L</a:t>
            </a:r>
            <a:endParaRPr lang="zh-CN" altLang="en-US" b="1" dirty="0">
              <a:latin typeface="Times New Roman" pitchFamily="18" charset="0"/>
              <a:ea typeface="宋体" pitchFamily="2" charset="-122"/>
            </a:endParaRPr>
          </a:p>
        </p:txBody>
      </p:sp>
      <p:cxnSp>
        <p:nvCxnSpPr>
          <p:cNvPr id="8" name="直接箭头连接符 7">
            <a:extLst>
              <a:ext uri="{FF2B5EF4-FFF2-40B4-BE49-F238E27FC236}">
                <a16:creationId xmlns:a16="http://schemas.microsoft.com/office/drawing/2014/main" id="{41519499-ED98-C03E-E581-E82AAA165131}"/>
              </a:ext>
            </a:extLst>
          </p:cNvPr>
          <p:cNvCxnSpPr>
            <a:cxnSpLocks/>
          </p:cNvCxnSpPr>
          <p:nvPr/>
        </p:nvCxnSpPr>
        <p:spPr>
          <a:xfrm>
            <a:off x="6394461" y="1667413"/>
            <a:ext cx="695627" cy="12323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18539E87-3234-5C20-1C55-96DFE3B034E3}"/>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Tree>
    <p:extLst>
      <p:ext uri="{BB962C8B-B14F-4D97-AF65-F5344CB8AC3E}">
        <p14:creationId xmlns:p14="http://schemas.microsoft.com/office/powerpoint/2010/main" val="3703864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表格 32"/>
          <p:cNvGraphicFramePr>
            <a:graphicFrameLocks noGrp="1"/>
          </p:cNvGraphicFramePr>
          <p:nvPr>
            <p:extLst>
              <p:ext uri="{D42A27DB-BD31-4B8C-83A1-F6EECF244321}">
                <p14:modId xmlns:p14="http://schemas.microsoft.com/office/powerpoint/2010/main" val="487362836"/>
              </p:ext>
            </p:extLst>
          </p:nvPr>
        </p:nvGraphicFramePr>
        <p:xfrm>
          <a:off x="7124836" y="1741342"/>
          <a:ext cx="1094967" cy="2267128"/>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0"/>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pattFill prst="wdUpDiag">
                      <a:fgClr>
                        <a:srgbClr val="FFC000"/>
                      </a:fgClr>
                      <a:bgClr>
                        <a:schemeClr val="bg1"/>
                      </a:bgClr>
                    </a:pattFill>
                  </a:tcPr>
                </a:tc>
                <a:extLst>
                  <a:ext uri="{0D108BD9-81ED-4DB2-BD59-A6C34878D82A}">
                    <a16:rowId xmlns:a16="http://schemas.microsoft.com/office/drawing/2014/main" val="10002"/>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pattFill prst="wdUpDiag">
                      <a:fgClr>
                        <a:srgbClr val="FFC000"/>
                      </a:fgClr>
                      <a:bgClr>
                        <a:schemeClr val="bg1"/>
                      </a:bgClr>
                    </a:pattFill>
                  </a:tcPr>
                </a:tc>
                <a:extLst>
                  <a:ext uri="{0D108BD9-81ED-4DB2-BD59-A6C34878D82A}">
                    <a16:rowId xmlns:a16="http://schemas.microsoft.com/office/drawing/2014/main" val="10004"/>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5"/>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pattFill prst="wdUpDiag">
                      <a:fgClr>
                        <a:srgbClr val="FFC000"/>
                      </a:fgClr>
                      <a:bgClr>
                        <a:schemeClr val="bg1"/>
                      </a:bgClr>
                    </a:pattFill>
                  </a:tcPr>
                </a:tc>
                <a:extLst>
                  <a:ext uri="{0D108BD9-81ED-4DB2-BD59-A6C34878D82A}">
                    <a16:rowId xmlns:a16="http://schemas.microsoft.com/office/drawing/2014/main" val="10006"/>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n</a:t>
                      </a: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solidFill>
                      <a:srgbClr val="92D050"/>
                    </a:solidFill>
                  </a:tcPr>
                </a:tc>
                <a:extLst>
                  <a:ext uri="{0D108BD9-81ED-4DB2-BD59-A6C34878D82A}">
                    <a16:rowId xmlns:a16="http://schemas.microsoft.com/office/drawing/2014/main" val="10007"/>
                  </a:ext>
                </a:extLst>
              </a:tr>
            </a:tbl>
          </a:graphicData>
        </a:graphic>
      </p:graphicFrame>
      <p:sp>
        <p:nvSpPr>
          <p:cNvPr id="35" name="矩形 34"/>
          <p:cNvSpPr/>
          <p:nvPr/>
        </p:nvSpPr>
        <p:spPr>
          <a:xfrm>
            <a:off x="6107943" y="1415305"/>
            <a:ext cx="338554" cy="369332"/>
          </a:xfrm>
          <a:prstGeom prst="rect">
            <a:avLst/>
          </a:prstGeom>
        </p:spPr>
        <p:txBody>
          <a:bodyPr wrap="none">
            <a:spAutoFit/>
          </a:bodyPr>
          <a:lstStyle/>
          <a:p>
            <a:r>
              <a:rPr lang="en-US" altLang="zh-CN" b="1" dirty="0">
                <a:latin typeface="Times New Roman" pitchFamily="18" charset="0"/>
                <a:ea typeface="宋体" pitchFamily="2" charset="-122"/>
              </a:rPr>
              <a:t>L</a:t>
            </a:r>
            <a:endParaRPr lang="zh-CN" altLang="en-US" b="1" dirty="0">
              <a:latin typeface="Times New Roman" pitchFamily="18" charset="0"/>
              <a:ea typeface="宋体" pitchFamily="2" charset="-122"/>
            </a:endParaRPr>
          </a:p>
        </p:txBody>
      </p:sp>
      <p:sp>
        <p:nvSpPr>
          <p:cNvPr id="38" name="矩形 37"/>
          <p:cNvSpPr/>
          <p:nvPr/>
        </p:nvSpPr>
        <p:spPr>
          <a:xfrm>
            <a:off x="6084169" y="3748178"/>
            <a:ext cx="1109599" cy="369332"/>
          </a:xfrm>
          <a:prstGeom prst="rect">
            <a:avLst/>
          </a:prstGeom>
        </p:spPr>
        <p:txBody>
          <a:bodyPr wrap="none">
            <a:spAutoFit/>
          </a:bodyPr>
          <a:lstStyle/>
          <a:p>
            <a:r>
              <a:rPr lang="en-US" altLang="zh-CN" dirty="0">
                <a:latin typeface="Times New Roman" pitchFamily="18" charset="0"/>
                <a:ea typeface="宋体" pitchFamily="2" charset="-122"/>
              </a:rPr>
              <a:t>L-&gt;length</a:t>
            </a:r>
            <a:endParaRPr lang="zh-CN" altLang="en-US" dirty="0">
              <a:latin typeface="Times New Roman" pitchFamily="18" charset="0"/>
              <a:ea typeface="宋体" pitchFamily="2" charset="-122"/>
            </a:endParaRPr>
          </a:p>
        </p:txBody>
      </p:sp>
      <p:cxnSp>
        <p:nvCxnSpPr>
          <p:cNvPr id="24" name="直接连接符 23"/>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6169764" y="1687165"/>
            <a:ext cx="917239" cy="369332"/>
          </a:xfrm>
          <a:prstGeom prst="rect">
            <a:avLst/>
          </a:prstGeom>
        </p:spPr>
        <p:txBody>
          <a:bodyPr wrap="none">
            <a:spAutoFit/>
          </a:bodyPr>
          <a:lstStyle/>
          <a:p>
            <a:r>
              <a:rPr lang="en-US" altLang="zh-CN" dirty="0">
                <a:latin typeface="Times New Roman" pitchFamily="18" charset="0"/>
                <a:ea typeface="宋体" pitchFamily="2" charset="-122"/>
              </a:rPr>
              <a:t>L-&gt;data</a:t>
            </a:r>
            <a:endParaRPr lang="zh-CN" altLang="en-US" dirty="0">
              <a:latin typeface="Times New Roman" pitchFamily="18" charset="0"/>
              <a:ea typeface="宋体" pitchFamily="2" charset="-122"/>
            </a:endParaRPr>
          </a:p>
        </p:txBody>
      </p:sp>
      <p:sp>
        <p:nvSpPr>
          <p:cNvPr id="3" name="矩形 2"/>
          <p:cNvSpPr/>
          <p:nvPr/>
        </p:nvSpPr>
        <p:spPr>
          <a:xfrm>
            <a:off x="7340260" y="3450247"/>
            <a:ext cx="646331" cy="369332"/>
          </a:xfrm>
          <a:prstGeom prst="rect">
            <a:avLst/>
          </a:prstGeom>
        </p:spPr>
        <p:txBody>
          <a:bodyPr wrap="none">
            <a:spAutoFit/>
          </a:bodyPr>
          <a:lstStyle/>
          <a:p>
            <a:r>
              <a:rPr lang="zh-CN" altLang="en-US" dirty="0"/>
              <a:t>空闲</a:t>
            </a:r>
          </a:p>
        </p:txBody>
      </p:sp>
      <p:sp>
        <p:nvSpPr>
          <p:cNvPr id="2" name="矩形 1"/>
          <p:cNvSpPr/>
          <p:nvPr/>
        </p:nvSpPr>
        <p:spPr>
          <a:xfrm>
            <a:off x="1147416" y="1563500"/>
            <a:ext cx="3262432" cy="461665"/>
          </a:xfrm>
          <a:prstGeom prst="rect">
            <a:avLst/>
          </a:prstGeom>
        </p:spPr>
        <p:txBody>
          <a:bodyPr wrap="none">
            <a:spAutoFit/>
          </a:bodyPr>
          <a:lstStyle/>
          <a:p>
            <a:pPr>
              <a:defRPr/>
            </a:pPr>
            <a:r>
              <a:rPr lang="zh-CN" altLang="en-US" sz="2400" dirty="0">
                <a:latin typeface="微软雅黑" pitchFamily="34" charset="-122"/>
                <a:ea typeface="微软雅黑" pitchFamily="34" charset="-122"/>
                <a:cs typeface="经典粗黑简" pitchFamily="49" charset="-122"/>
              </a:rPr>
              <a:t>④判断顺序表是否为空</a:t>
            </a:r>
            <a:endParaRPr lang="en-US" altLang="zh-CN" sz="2400" dirty="0">
              <a:latin typeface="微软雅黑" pitchFamily="34" charset="-122"/>
              <a:ea typeface="微软雅黑" pitchFamily="34" charset="-122"/>
              <a:cs typeface="经典粗黑简" pitchFamily="49" charset="-122"/>
            </a:endParaRPr>
          </a:p>
        </p:txBody>
      </p:sp>
      <p:sp>
        <p:nvSpPr>
          <p:cNvPr id="28" name="矩形 27"/>
          <p:cNvSpPr/>
          <p:nvPr/>
        </p:nvSpPr>
        <p:spPr>
          <a:xfrm>
            <a:off x="7340260" y="3175060"/>
            <a:ext cx="646331" cy="369332"/>
          </a:xfrm>
          <a:prstGeom prst="rect">
            <a:avLst/>
          </a:prstGeom>
        </p:spPr>
        <p:txBody>
          <a:bodyPr wrap="none">
            <a:spAutoFit/>
          </a:bodyPr>
          <a:lstStyle/>
          <a:p>
            <a:r>
              <a:rPr lang="zh-CN" altLang="en-US" dirty="0"/>
              <a:t>空闲</a:t>
            </a:r>
          </a:p>
        </p:txBody>
      </p:sp>
      <p:sp>
        <p:nvSpPr>
          <p:cNvPr id="29" name="矩形 28"/>
          <p:cNvSpPr/>
          <p:nvPr/>
        </p:nvSpPr>
        <p:spPr>
          <a:xfrm>
            <a:off x="7340260" y="2898061"/>
            <a:ext cx="646331" cy="369332"/>
          </a:xfrm>
          <a:prstGeom prst="rect">
            <a:avLst/>
          </a:prstGeom>
        </p:spPr>
        <p:txBody>
          <a:bodyPr wrap="none">
            <a:spAutoFit/>
          </a:bodyPr>
          <a:lstStyle/>
          <a:p>
            <a:r>
              <a:rPr lang="zh-CN" altLang="en-US" dirty="0"/>
              <a:t>空闲</a:t>
            </a:r>
          </a:p>
        </p:txBody>
      </p:sp>
      <p:sp>
        <p:nvSpPr>
          <p:cNvPr id="30" name="矩形 29"/>
          <p:cNvSpPr/>
          <p:nvPr/>
        </p:nvSpPr>
        <p:spPr>
          <a:xfrm>
            <a:off x="7340260" y="2641490"/>
            <a:ext cx="646331" cy="369332"/>
          </a:xfrm>
          <a:prstGeom prst="rect">
            <a:avLst/>
          </a:prstGeom>
        </p:spPr>
        <p:txBody>
          <a:bodyPr wrap="none">
            <a:spAutoFit/>
          </a:bodyPr>
          <a:lstStyle/>
          <a:p>
            <a:r>
              <a:rPr lang="zh-CN" altLang="en-US" dirty="0"/>
              <a:t>空闲</a:t>
            </a:r>
          </a:p>
        </p:txBody>
      </p:sp>
      <p:sp>
        <p:nvSpPr>
          <p:cNvPr id="31" name="矩形 30"/>
          <p:cNvSpPr/>
          <p:nvPr/>
        </p:nvSpPr>
        <p:spPr>
          <a:xfrm>
            <a:off x="7340260" y="2339631"/>
            <a:ext cx="646331" cy="369332"/>
          </a:xfrm>
          <a:prstGeom prst="rect">
            <a:avLst/>
          </a:prstGeom>
        </p:spPr>
        <p:txBody>
          <a:bodyPr wrap="none">
            <a:spAutoFit/>
          </a:bodyPr>
          <a:lstStyle/>
          <a:p>
            <a:r>
              <a:rPr lang="zh-CN" altLang="en-US" dirty="0"/>
              <a:t>空闲</a:t>
            </a:r>
          </a:p>
        </p:txBody>
      </p:sp>
      <p:sp>
        <p:nvSpPr>
          <p:cNvPr id="42" name="矩形 41"/>
          <p:cNvSpPr/>
          <p:nvPr/>
        </p:nvSpPr>
        <p:spPr>
          <a:xfrm>
            <a:off x="7340260" y="2015595"/>
            <a:ext cx="646331" cy="369332"/>
          </a:xfrm>
          <a:prstGeom prst="rect">
            <a:avLst/>
          </a:prstGeom>
        </p:spPr>
        <p:txBody>
          <a:bodyPr wrap="none">
            <a:spAutoFit/>
          </a:bodyPr>
          <a:lstStyle/>
          <a:p>
            <a:r>
              <a:rPr lang="zh-CN" altLang="en-US" dirty="0"/>
              <a:t>空闲</a:t>
            </a:r>
          </a:p>
        </p:txBody>
      </p:sp>
      <p:sp>
        <p:nvSpPr>
          <p:cNvPr id="43" name="矩形 42"/>
          <p:cNvSpPr/>
          <p:nvPr/>
        </p:nvSpPr>
        <p:spPr>
          <a:xfrm>
            <a:off x="7340260" y="1775641"/>
            <a:ext cx="646331" cy="369332"/>
          </a:xfrm>
          <a:prstGeom prst="rect">
            <a:avLst/>
          </a:prstGeom>
        </p:spPr>
        <p:txBody>
          <a:bodyPr wrap="none">
            <a:spAutoFit/>
          </a:bodyPr>
          <a:lstStyle/>
          <a:p>
            <a:r>
              <a:rPr lang="zh-CN" altLang="en-US" dirty="0"/>
              <a:t>空闲</a:t>
            </a:r>
          </a:p>
        </p:txBody>
      </p:sp>
      <p:graphicFrame>
        <p:nvGraphicFramePr>
          <p:cNvPr id="26" name="表格 25"/>
          <p:cNvGraphicFramePr>
            <a:graphicFrameLocks noGrp="1"/>
          </p:cNvGraphicFramePr>
          <p:nvPr>
            <p:extLst>
              <p:ext uri="{D42A27DB-BD31-4B8C-83A1-F6EECF244321}">
                <p14:modId xmlns:p14="http://schemas.microsoft.com/office/powerpoint/2010/main" val="2022937230"/>
              </p:ext>
            </p:extLst>
          </p:nvPr>
        </p:nvGraphicFramePr>
        <p:xfrm>
          <a:off x="7125791" y="1751711"/>
          <a:ext cx="1094967" cy="1700346"/>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err="1"/>
                        <a:t>a</a:t>
                      </a:r>
                      <a:r>
                        <a:rPr lang="en-US" altLang="zh-CN" sz="1400" baseline="-25000" dirty="0" err="1"/>
                        <a:t>i</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5"/>
                  </a:ext>
                </a:extLst>
              </a:tr>
            </a:tbl>
          </a:graphicData>
        </a:graphic>
      </p:graphicFrame>
      <p:sp>
        <p:nvSpPr>
          <p:cNvPr id="4" name="Rectangle 2">
            <a:extLst>
              <a:ext uri="{FF2B5EF4-FFF2-40B4-BE49-F238E27FC236}">
                <a16:creationId xmlns:a16="http://schemas.microsoft.com/office/drawing/2014/main" id="{EF90E9F6-4F52-6FAE-2A90-818BD100BAD2}"/>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5" name="Text Box 2">
            <a:extLst>
              <a:ext uri="{FF2B5EF4-FFF2-40B4-BE49-F238E27FC236}">
                <a16:creationId xmlns:a16="http://schemas.microsoft.com/office/drawing/2014/main" id="{6049AC00-34DE-DB5E-6052-2C51EEF6FD59}"/>
              </a:ext>
            </a:extLst>
          </p:cNvPr>
          <p:cNvSpPr txBox="1">
            <a:spLocks noChangeArrowheads="1"/>
          </p:cNvSpPr>
          <p:nvPr/>
        </p:nvSpPr>
        <p:spPr bwMode="auto">
          <a:xfrm>
            <a:off x="1073455" y="2451991"/>
            <a:ext cx="4578666" cy="1367588"/>
          </a:xfrm>
          <a:prstGeom prst="rect">
            <a:avLst/>
          </a:prstGeom>
          <a:solidFill>
            <a:schemeClr val="bg1">
              <a:lumMod val="95000"/>
            </a:schemeClr>
          </a:solidFill>
          <a:ln>
            <a:headEnd/>
            <a:tailEnd/>
          </a:ln>
        </p:spPr>
        <p:style>
          <a:lnRef idx="1">
            <a:schemeClr val="accent3"/>
          </a:lnRef>
          <a:fillRef idx="2">
            <a:schemeClr val="accent3"/>
          </a:fillRef>
          <a:effectRef idx="1">
            <a:schemeClr val="accent3"/>
          </a:effectRef>
          <a:fontRef idx="minor">
            <a:schemeClr val="dk1"/>
          </a:fontRef>
        </p:style>
        <p:txBody>
          <a:bodyPr wrap="square" lIns="144000" tIns="108000" rIns="144000" bIns="108000">
            <a:spAutoFit/>
          </a:bodyPr>
          <a:lstStyle/>
          <a:p>
            <a:pPr algn="just">
              <a:lnSpc>
                <a:spcPct val="90000"/>
              </a:lnSpc>
              <a:spcBef>
                <a:spcPct val="50000"/>
              </a:spcBef>
            </a:pPr>
            <a:r>
              <a:rPr kumimoji="1" lang="en-US" altLang="zh-CN" sz="1800" err="1">
                <a:solidFill>
                  <a:srgbClr val="0000FF"/>
                </a:solidFill>
                <a:latin typeface="Consolas" pitchFamily="49" charset="0"/>
                <a:cs typeface="Consolas" pitchFamily="49" charset="0"/>
              </a:rPr>
              <a:t>bool</a:t>
            </a:r>
            <a:r>
              <a:rPr kumimoji="1" lang="en-US" altLang="zh-CN" sz="1800">
                <a:solidFill>
                  <a:srgbClr val="0000FF"/>
                </a:solidFill>
                <a:latin typeface="Consolas" pitchFamily="49" charset="0"/>
                <a:cs typeface="Consolas" pitchFamily="49" charset="0"/>
              </a:rPr>
              <a:t> </a:t>
            </a:r>
            <a:r>
              <a:rPr kumimoji="1" lang="en-US" altLang="zh-CN" sz="1800">
                <a:solidFill>
                  <a:srgbClr val="FF0000"/>
                </a:solidFill>
                <a:effectLst>
                  <a:outerShdw blurRad="38100" dist="38100" dir="2700000" algn="tl">
                    <a:srgbClr val="000000">
                      <a:alpha val="43137"/>
                    </a:srgbClr>
                  </a:outerShdw>
                </a:effectLst>
                <a:latin typeface="Consolas" pitchFamily="49" charset="0"/>
                <a:cs typeface="Consolas" pitchFamily="49" charset="0"/>
              </a:rPr>
              <a:t>ListEmpty</a:t>
            </a:r>
            <a:r>
              <a:rPr kumimoji="1" lang="en-US" altLang="zh-CN" sz="1800">
                <a:solidFill>
                  <a:srgbClr val="0000FF"/>
                </a:solidFill>
                <a:latin typeface="Consolas" pitchFamily="49" charset="0"/>
                <a:cs typeface="Consolas" pitchFamily="49" charset="0"/>
              </a:rPr>
              <a:t>(SqList </a:t>
            </a:r>
            <a:r>
              <a:rPr kumimoji="1" lang="en-US" altLang="zh-CN" sz="1800" dirty="0">
                <a:solidFill>
                  <a:srgbClr val="0000FF"/>
                </a:solidFill>
                <a:latin typeface="Consolas" pitchFamily="49" charset="0"/>
                <a:cs typeface="Consolas" pitchFamily="49" charset="0"/>
              </a:rPr>
              <a:t>*L)</a:t>
            </a:r>
          </a:p>
          <a:p>
            <a:pPr algn="just">
              <a:lnSpc>
                <a:spcPct val="90000"/>
              </a:lnSpc>
              <a:spcBef>
                <a:spcPct val="50000"/>
              </a:spcBef>
            </a:pPr>
            <a:r>
              <a:rPr kumimoji="1" lang="en-US" altLang="zh-CN" sz="1800" dirty="0">
                <a:solidFill>
                  <a:srgbClr val="0000FF"/>
                </a:solidFill>
                <a:latin typeface="Consolas" pitchFamily="49" charset="0"/>
                <a:cs typeface="Consolas" pitchFamily="49" charset="0"/>
              </a:rPr>
              <a:t>{</a:t>
            </a:r>
          </a:p>
          <a:p>
            <a:pPr algn="l">
              <a:lnSpc>
                <a:spcPct val="90000"/>
              </a:lnSpc>
            </a:pPr>
            <a:r>
              <a:rPr kumimoji="1" lang="en-US" altLang="zh-CN" sz="1800">
                <a:solidFill>
                  <a:srgbClr val="0000FF"/>
                </a:solidFill>
                <a:latin typeface="Consolas" pitchFamily="49" charset="0"/>
                <a:cs typeface="Consolas" pitchFamily="49" charset="0"/>
              </a:rPr>
              <a:t>   return(L-</a:t>
            </a:r>
            <a:r>
              <a:rPr kumimoji="1" lang="en-US" altLang="zh-CN" sz="1800" dirty="0">
                <a:solidFill>
                  <a:srgbClr val="0000FF"/>
                </a:solidFill>
                <a:latin typeface="Consolas" pitchFamily="49" charset="0"/>
                <a:cs typeface="Consolas" pitchFamily="49" charset="0"/>
              </a:rPr>
              <a:t>&gt;length==0);</a:t>
            </a:r>
          </a:p>
          <a:p>
            <a:pPr algn="l">
              <a:lnSpc>
                <a:spcPct val="90000"/>
              </a:lnSpc>
            </a:pPr>
            <a:r>
              <a:rPr kumimoji="1" lang="en-US" altLang="zh-CN" sz="1800" dirty="0">
                <a:solidFill>
                  <a:srgbClr val="0000FF"/>
                </a:solidFill>
                <a:latin typeface="Consolas" pitchFamily="49" charset="0"/>
                <a:cs typeface="Consolas" pitchFamily="49" charset="0"/>
              </a:rPr>
              <a:t>}</a:t>
            </a:r>
          </a:p>
        </p:txBody>
      </p:sp>
      <p:sp>
        <p:nvSpPr>
          <p:cNvPr id="7" name="文本框 6">
            <a:extLst>
              <a:ext uri="{FF2B5EF4-FFF2-40B4-BE49-F238E27FC236}">
                <a16:creationId xmlns:a16="http://schemas.microsoft.com/office/drawing/2014/main" id="{6F7905A7-BC7E-552B-1E14-CD4B2D6F4AED}"/>
              </a:ext>
            </a:extLst>
          </p:cNvPr>
          <p:cNvSpPr txBox="1"/>
          <p:nvPr/>
        </p:nvSpPr>
        <p:spPr>
          <a:xfrm>
            <a:off x="1043608" y="3935305"/>
            <a:ext cx="4579620" cy="646331"/>
          </a:xfrm>
          <a:prstGeom prst="rect">
            <a:avLst/>
          </a:prstGeom>
          <a:noFill/>
        </p:spPr>
        <p:txBody>
          <a:bodyPr wrap="square">
            <a:spAutoFit/>
          </a:bodyPr>
          <a:lstStyle/>
          <a:p>
            <a:r>
              <a:rPr kumimoji="1" lang="zh-CN" altLang="en-US" dirty="0">
                <a:latin typeface="Consolas" pitchFamily="49" charset="0"/>
                <a:ea typeface="楷体" pitchFamily="49" charset="-122"/>
                <a:cs typeface="Consolas" pitchFamily="49" charset="0"/>
              </a:rPr>
              <a:t>返回一个值表示</a:t>
            </a:r>
            <a:r>
              <a:rPr kumimoji="1" lang="en-US" altLang="zh-CN" dirty="0">
                <a:latin typeface="Consolas" pitchFamily="49" charset="0"/>
                <a:ea typeface="楷体" pitchFamily="49" charset="-122"/>
                <a:cs typeface="Consolas" pitchFamily="49" charset="0"/>
              </a:rPr>
              <a:t>L</a:t>
            </a:r>
            <a:r>
              <a:rPr kumimoji="1" lang="zh-CN" altLang="en-US" dirty="0">
                <a:latin typeface="Consolas" pitchFamily="49" charset="0"/>
                <a:ea typeface="楷体" pitchFamily="49" charset="-122"/>
                <a:cs typeface="Consolas" pitchFamily="49" charset="0"/>
              </a:rPr>
              <a:t>是否为空表。若</a:t>
            </a:r>
            <a:r>
              <a:rPr kumimoji="1" lang="en-US" altLang="zh-CN" dirty="0">
                <a:latin typeface="Consolas" pitchFamily="49" charset="0"/>
                <a:ea typeface="楷体" pitchFamily="49" charset="-122"/>
                <a:cs typeface="Consolas" pitchFamily="49" charset="0"/>
              </a:rPr>
              <a:t>L</a:t>
            </a:r>
            <a:r>
              <a:rPr kumimoji="1" lang="zh-CN" altLang="en-US" dirty="0">
                <a:latin typeface="Consolas" pitchFamily="49" charset="0"/>
                <a:ea typeface="楷体" pitchFamily="49" charset="-122"/>
                <a:cs typeface="Consolas" pitchFamily="49" charset="0"/>
              </a:rPr>
              <a:t>为空表，则返回</a:t>
            </a:r>
            <a:r>
              <a:rPr kumimoji="1" lang="en-US" altLang="zh-CN" dirty="0">
                <a:latin typeface="Consolas" pitchFamily="49" charset="0"/>
                <a:ea typeface="楷体" pitchFamily="49" charset="-122"/>
                <a:cs typeface="Consolas" pitchFamily="49" charset="0"/>
              </a:rPr>
              <a:t>true</a:t>
            </a:r>
            <a:r>
              <a:rPr kumimoji="1" lang="zh-CN" altLang="en-US" dirty="0">
                <a:latin typeface="Consolas" pitchFamily="49" charset="0"/>
                <a:ea typeface="楷体" pitchFamily="49" charset="-122"/>
                <a:cs typeface="Consolas" pitchFamily="49" charset="0"/>
              </a:rPr>
              <a:t>，否则返回</a:t>
            </a:r>
            <a:r>
              <a:rPr kumimoji="1" lang="en-US" altLang="zh-CN" dirty="0">
                <a:latin typeface="Consolas" pitchFamily="49" charset="0"/>
                <a:ea typeface="楷体" pitchFamily="49" charset="-122"/>
                <a:cs typeface="Consolas" pitchFamily="49" charset="0"/>
              </a:rPr>
              <a:t>false</a:t>
            </a:r>
            <a:r>
              <a:rPr kumimoji="1" lang="zh-CN" altLang="en-US" dirty="0">
                <a:latin typeface="Consolas" pitchFamily="49" charset="0"/>
                <a:ea typeface="楷体" pitchFamily="49" charset="-122"/>
                <a:cs typeface="Consolas" pitchFamily="49" charset="0"/>
              </a:rPr>
              <a:t>。</a:t>
            </a:r>
            <a:endParaRPr lang="zh-CN" altLang="en-US" dirty="0"/>
          </a:p>
        </p:txBody>
      </p:sp>
      <p:cxnSp>
        <p:nvCxnSpPr>
          <p:cNvPr id="8" name="直接箭头连接符 7">
            <a:extLst>
              <a:ext uri="{FF2B5EF4-FFF2-40B4-BE49-F238E27FC236}">
                <a16:creationId xmlns:a16="http://schemas.microsoft.com/office/drawing/2014/main" id="{3C10B895-8B19-24BA-F55A-10C50E173B1A}"/>
              </a:ext>
            </a:extLst>
          </p:cNvPr>
          <p:cNvCxnSpPr>
            <a:cxnSpLocks/>
          </p:cNvCxnSpPr>
          <p:nvPr/>
        </p:nvCxnSpPr>
        <p:spPr>
          <a:xfrm>
            <a:off x="6394461" y="1667413"/>
            <a:ext cx="695627" cy="12323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E0823AFA-9192-BBA2-9392-76496A0249EF}"/>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Tree>
    <p:extLst>
      <p:ext uri="{BB962C8B-B14F-4D97-AF65-F5344CB8AC3E}">
        <p14:creationId xmlns:p14="http://schemas.microsoft.com/office/powerpoint/2010/main" val="828268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135359" y="1594832"/>
            <a:ext cx="2339102" cy="461665"/>
          </a:xfrm>
          <a:prstGeom prst="rect">
            <a:avLst/>
          </a:prstGeom>
        </p:spPr>
        <p:txBody>
          <a:bodyPr wrap="none">
            <a:spAutoFit/>
          </a:bodyPr>
          <a:lstStyle/>
          <a:p>
            <a:pPr>
              <a:defRPr/>
            </a:pPr>
            <a:r>
              <a:rPr lang="zh-CN" altLang="en-US" sz="2400" dirty="0">
                <a:latin typeface="微软雅黑" pitchFamily="34" charset="-122"/>
                <a:ea typeface="微软雅黑" pitchFamily="34" charset="-122"/>
                <a:cs typeface="经典粗黑简" pitchFamily="49" charset="-122"/>
              </a:rPr>
              <a:t>⑤求顺序表长度</a:t>
            </a:r>
            <a:endParaRPr lang="en-US" altLang="zh-CN" sz="2400" dirty="0">
              <a:latin typeface="微软雅黑" pitchFamily="34" charset="-122"/>
              <a:ea typeface="微软雅黑" pitchFamily="34" charset="-122"/>
              <a:cs typeface="经典粗黑简" pitchFamily="49" charset="-122"/>
            </a:endParaRPr>
          </a:p>
        </p:txBody>
      </p:sp>
      <p:sp>
        <p:nvSpPr>
          <p:cNvPr id="4" name="Rectangle 2">
            <a:extLst>
              <a:ext uri="{FF2B5EF4-FFF2-40B4-BE49-F238E27FC236}">
                <a16:creationId xmlns:a16="http://schemas.microsoft.com/office/drawing/2014/main" id="{B9619D0C-F14D-9E63-956E-88F47E96A2E3}"/>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graphicFrame>
        <p:nvGraphicFramePr>
          <p:cNvPr id="5" name="表格 4">
            <a:extLst>
              <a:ext uri="{FF2B5EF4-FFF2-40B4-BE49-F238E27FC236}">
                <a16:creationId xmlns:a16="http://schemas.microsoft.com/office/drawing/2014/main" id="{957D54D6-E903-CDCA-E770-9FEE400B247F}"/>
              </a:ext>
            </a:extLst>
          </p:cNvPr>
          <p:cNvGraphicFramePr>
            <a:graphicFrameLocks noGrp="1"/>
          </p:cNvGraphicFramePr>
          <p:nvPr>
            <p:extLst>
              <p:ext uri="{D42A27DB-BD31-4B8C-83A1-F6EECF244321}">
                <p14:modId xmlns:p14="http://schemas.microsoft.com/office/powerpoint/2010/main" val="1112498924"/>
              </p:ext>
            </p:extLst>
          </p:nvPr>
        </p:nvGraphicFramePr>
        <p:xfrm>
          <a:off x="7124836" y="1741342"/>
          <a:ext cx="1094967" cy="2267128"/>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0"/>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pattFill prst="wdUpDiag">
                      <a:fgClr>
                        <a:srgbClr val="FFC000"/>
                      </a:fgClr>
                      <a:bgClr>
                        <a:schemeClr val="bg1"/>
                      </a:bgClr>
                    </a:pattFill>
                  </a:tcPr>
                </a:tc>
                <a:extLst>
                  <a:ext uri="{0D108BD9-81ED-4DB2-BD59-A6C34878D82A}">
                    <a16:rowId xmlns:a16="http://schemas.microsoft.com/office/drawing/2014/main" val="10002"/>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pattFill prst="wdUpDiag">
                      <a:fgClr>
                        <a:srgbClr val="FFC000"/>
                      </a:fgClr>
                      <a:bgClr>
                        <a:schemeClr val="bg1"/>
                      </a:bgClr>
                    </a:pattFill>
                  </a:tcPr>
                </a:tc>
                <a:extLst>
                  <a:ext uri="{0D108BD9-81ED-4DB2-BD59-A6C34878D82A}">
                    <a16:rowId xmlns:a16="http://schemas.microsoft.com/office/drawing/2014/main" val="10004"/>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5"/>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pattFill prst="wdUpDiag">
                      <a:fgClr>
                        <a:srgbClr val="FFC000"/>
                      </a:fgClr>
                      <a:bgClr>
                        <a:schemeClr val="bg1"/>
                      </a:bgClr>
                    </a:pattFill>
                  </a:tcPr>
                </a:tc>
                <a:extLst>
                  <a:ext uri="{0D108BD9-81ED-4DB2-BD59-A6C34878D82A}">
                    <a16:rowId xmlns:a16="http://schemas.microsoft.com/office/drawing/2014/main" val="10006"/>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n</a:t>
                      </a: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solidFill>
                      <a:srgbClr val="92D050"/>
                    </a:solidFill>
                  </a:tcPr>
                </a:tc>
                <a:extLst>
                  <a:ext uri="{0D108BD9-81ED-4DB2-BD59-A6C34878D82A}">
                    <a16:rowId xmlns:a16="http://schemas.microsoft.com/office/drawing/2014/main" val="10007"/>
                  </a:ext>
                </a:extLst>
              </a:tr>
            </a:tbl>
          </a:graphicData>
        </a:graphic>
      </p:graphicFrame>
      <p:sp>
        <p:nvSpPr>
          <p:cNvPr id="6" name="矩形 5">
            <a:extLst>
              <a:ext uri="{FF2B5EF4-FFF2-40B4-BE49-F238E27FC236}">
                <a16:creationId xmlns:a16="http://schemas.microsoft.com/office/drawing/2014/main" id="{D0D0FC56-AD8D-D290-A260-7A238842DCF1}"/>
              </a:ext>
            </a:extLst>
          </p:cNvPr>
          <p:cNvSpPr/>
          <p:nvPr/>
        </p:nvSpPr>
        <p:spPr>
          <a:xfrm>
            <a:off x="6107943" y="1415305"/>
            <a:ext cx="338554" cy="369332"/>
          </a:xfrm>
          <a:prstGeom prst="rect">
            <a:avLst/>
          </a:prstGeom>
        </p:spPr>
        <p:txBody>
          <a:bodyPr wrap="none">
            <a:spAutoFit/>
          </a:bodyPr>
          <a:lstStyle/>
          <a:p>
            <a:r>
              <a:rPr lang="en-US" altLang="zh-CN" b="1" dirty="0">
                <a:latin typeface="Times New Roman" pitchFamily="18" charset="0"/>
                <a:ea typeface="宋体" pitchFamily="2" charset="-122"/>
              </a:rPr>
              <a:t>L</a:t>
            </a:r>
            <a:endParaRPr lang="zh-CN" altLang="en-US" b="1" dirty="0">
              <a:latin typeface="Times New Roman" pitchFamily="18" charset="0"/>
              <a:ea typeface="宋体" pitchFamily="2" charset="-122"/>
            </a:endParaRPr>
          </a:p>
        </p:txBody>
      </p:sp>
      <p:sp>
        <p:nvSpPr>
          <p:cNvPr id="7" name="矩形 6">
            <a:extLst>
              <a:ext uri="{FF2B5EF4-FFF2-40B4-BE49-F238E27FC236}">
                <a16:creationId xmlns:a16="http://schemas.microsoft.com/office/drawing/2014/main" id="{0719C297-1556-9B3E-200B-FBBAB1F9AEB3}"/>
              </a:ext>
            </a:extLst>
          </p:cNvPr>
          <p:cNvSpPr/>
          <p:nvPr/>
        </p:nvSpPr>
        <p:spPr>
          <a:xfrm>
            <a:off x="6084169" y="3748178"/>
            <a:ext cx="1109599" cy="369332"/>
          </a:xfrm>
          <a:prstGeom prst="rect">
            <a:avLst/>
          </a:prstGeom>
        </p:spPr>
        <p:txBody>
          <a:bodyPr wrap="none">
            <a:spAutoFit/>
          </a:bodyPr>
          <a:lstStyle/>
          <a:p>
            <a:r>
              <a:rPr lang="en-US" altLang="zh-CN" dirty="0">
                <a:latin typeface="Times New Roman" pitchFamily="18" charset="0"/>
                <a:ea typeface="宋体" pitchFamily="2" charset="-122"/>
              </a:rPr>
              <a:t>L-&gt;length</a:t>
            </a:r>
            <a:endParaRPr lang="zh-CN" altLang="en-US" dirty="0">
              <a:latin typeface="Times New Roman" pitchFamily="18" charset="0"/>
              <a:ea typeface="宋体" pitchFamily="2" charset="-122"/>
            </a:endParaRPr>
          </a:p>
        </p:txBody>
      </p:sp>
      <p:sp>
        <p:nvSpPr>
          <p:cNvPr id="8" name="矩形 7">
            <a:extLst>
              <a:ext uri="{FF2B5EF4-FFF2-40B4-BE49-F238E27FC236}">
                <a16:creationId xmlns:a16="http://schemas.microsoft.com/office/drawing/2014/main" id="{0396A506-DFB5-8D86-42EE-91981EE4C733}"/>
              </a:ext>
            </a:extLst>
          </p:cNvPr>
          <p:cNvSpPr/>
          <p:nvPr/>
        </p:nvSpPr>
        <p:spPr>
          <a:xfrm>
            <a:off x="6169764" y="1687165"/>
            <a:ext cx="917239" cy="369332"/>
          </a:xfrm>
          <a:prstGeom prst="rect">
            <a:avLst/>
          </a:prstGeom>
        </p:spPr>
        <p:txBody>
          <a:bodyPr wrap="none">
            <a:spAutoFit/>
          </a:bodyPr>
          <a:lstStyle/>
          <a:p>
            <a:r>
              <a:rPr lang="en-US" altLang="zh-CN" dirty="0">
                <a:latin typeface="Times New Roman" pitchFamily="18" charset="0"/>
                <a:ea typeface="宋体" pitchFamily="2" charset="-122"/>
              </a:rPr>
              <a:t>L-&gt;data</a:t>
            </a:r>
            <a:endParaRPr lang="zh-CN" altLang="en-US" dirty="0">
              <a:latin typeface="Times New Roman" pitchFamily="18" charset="0"/>
              <a:ea typeface="宋体" pitchFamily="2" charset="-122"/>
            </a:endParaRPr>
          </a:p>
        </p:txBody>
      </p:sp>
      <p:sp>
        <p:nvSpPr>
          <p:cNvPr id="9" name="矩形 8">
            <a:extLst>
              <a:ext uri="{FF2B5EF4-FFF2-40B4-BE49-F238E27FC236}">
                <a16:creationId xmlns:a16="http://schemas.microsoft.com/office/drawing/2014/main" id="{1E53B5A1-E541-29B4-25EC-CEC26A6FE1F1}"/>
              </a:ext>
            </a:extLst>
          </p:cNvPr>
          <p:cNvSpPr/>
          <p:nvPr/>
        </p:nvSpPr>
        <p:spPr>
          <a:xfrm>
            <a:off x="7340260" y="3450247"/>
            <a:ext cx="646331" cy="369332"/>
          </a:xfrm>
          <a:prstGeom prst="rect">
            <a:avLst/>
          </a:prstGeom>
        </p:spPr>
        <p:txBody>
          <a:bodyPr wrap="none">
            <a:spAutoFit/>
          </a:bodyPr>
          <a:lstStyle/>
          <a:p>
            <a:r>
              <a:rPr lang="zh-CN" altLang="en-US" dirty="0"/>
              <a:t>空闲</a:t>
            </a:r>
          </a:p>
        </p:txBody>
      </p:sp>
      <p:sp>
        <p:nvSpPr>
          <p:cNvPr id="10" name="矩形 9">
            <a:extLst>
              <a:ext uri="{FF2B5EF4-FFF2-40B4-BE49-F238E27FC236}">
                <a16:creationId xmlns:a16="http://schemas.microsoft.com/office/drawing/2014/main" id="{4805745E-09A2-5208-F34A-2FED5D990DF8}"/>
              </a:ext>
            </a:extLst>
          </p:cNvPr>
          <p:cNvSpPr/>
          <p:nvPr/>
        </p:nvSpPr>
        <p:spPr>
          <a:xfrm>
            <a:off x="7340260" y="3175060"/>
            <a:ext cx="646331" cy="369332"/>
          </a:xfrm>
          <a:prstGeom prst="rect">
            <a:avLst/>
          </a:prstGeom>
        </p:spPr>
        <p:txBody>
          <a:bodyPr wrap="none">
            <a:spAutoFit/>
          </a:bodyPr>
          <a:lstStyle/>
          <a:p>
            <a:r>
              <a:rPr lang="zh-CN" altLang="en-US" dirty="0"/>
              <a:t>空闲</a:t>
            </a:r>
          </a:p>
        </p:txBody>
      </p:sp>
      <p:sp>
        <p:nvSpPr>
          <p:cNvPr id="11" name="矩形 10">
            <a:extLst>
              <a:ext uri="{FF2B5EF4-FFF2-40B4-BE49-F238E27FC236}">
                <a16:creationId xmlns:a16="http://schemas.microsoft.com/office/drawing/2014/main" id="{7052C356-144A-BF34-B8B3-3BB5539EFF8E}"/>
              </a:ext>
            </a:extLst>
          </p:cNvPr>
          <p:cNvSpPr/>
          <p:nvPr/>
        </p:nvSpPr>
        <p:spPr>
          <a:xfrm>
            <a:off x="7340260" y="2898061"/>
            <a:ext cx="646331" cy="369332"/>
          </a:xfrm>
          <a:prstGeom prst="rect">
            <a:avLst/>
          </a:prstGeom>
        </p:spPr>
        <p:txBody>
          <a:bodyPr wrap="none">
            <a:spAutoFit/>
          </a:bodyPr>
          <a:lstStyle/>
          <a:p>
            <a:r>
              <a:rPr lang="zh-CN" altLang="en-US" dirty="0"/>
              <a:t>空闲</a:t>
            </a:r>
          </a:p>
        </p:txBody>
      </p:sp>
      <p:sp>
        <p:nvSpPr>
          <p:cNvPr id="12" name="矩形 11">
            <a:extLst>
              <a:ext uri="{FF2B5EF4-FFF2-40B4-BE49-F238E27FC236}">
                <a16:creationId xmlns:a16="http://schemas.microsoft.com/office/drawing/2014/main" id="{96C160A8-E930-5C8E-B278-D5B04E6B1FFC}"/>
              </a:ext>
            </a:extLst>
          </p:cNvPr>
          <p:cNvSpPr/>
          <p:nvPr/>
        </p:nvSpPr>
        <p:spPr>
          <a:xfrm>
            <a:off x="7340260" y="2641490"/>
            <a:ext cx="646331" cy="369332"/>
          </a:xfrm>
          <a:prstGeom prst="rect">
            <a:avLst/>
          </a:prstGeom>
        </p:spPr>
        <p:txBody>
          <a:bodyPr wrap="none">
            <a:spAutoFit/>
          </a:bodyPr>
          <a:lstStyle/>
          <a:p>
            <a:r>
              <a:rPr lang="zh-CN" altLang="en-US" dirty="0"/>
              <a:t>空闲</a:t>
            </a:r>
          </a:p>
        </p:txBody>
      </p:sp>
      <p:sp>
        <p:nvSpPr>
          <p:cNvPr id="13" name="矩形 12">
            <a:extLst>
              <a:ext uri="{FF2B5EF4-FFF2-40B4-BE49-F238E27FC236}">
                <a16:creationId xmlns:a16="http://schemas.microsoft.com/office/drawing/2014/main" id="{EB11E27B-F392-45D9-DA4D-64D217E2380D}"/>
              </a:ext>
            </a:extLst>
          </p:cNvPr>
          <p:cNvSpPr/>
          <p:nvPr/>
        </p:nvSpPr>
        <p:spPr>
          <a:xfrm>
            <a:off x="7340260" y="2339631"/>
            <a:ext cx="646331" cy="369332"/>
          </a:xfrm>
          <a:prstGeom prst="rect">
            <a:avLst/>
          </a:prstGeom>
        </p:spPr>
        <p:txBody>
          <a:bodyPr wrap="none">
            <a:spAutoFit/>
          </a:bodyPr>
          <a:lstStyle/>
          <a:p>
            <a:r>
              <a:rPr lang="zh-CN" altLang="en-US" dirty="0"/>
              <a:t>空闲</a:t>
            </a:r>
          </a:p>
        </p:txBody>
      </p:sp>
      <p:sp>
        <p:nvSpPr>
          <p:cNvPr id="14" name="矩形 13">
            <a:extLst>
              <a:ext uri="{FF2B5EF4-FFF2-40B4-BE49-F238E27FC236}">
                <a16:creationId xmlns:a16="http://schemas.microsoft.com/office/drawing/2014/main" id="{A1B69C0F-B49C-24C0-7356-1AD7851A804C}"/>
              </a:ext>
            </a:extLst>
          </p:cNvPr>
          <p:cNvSpPr/>
          <p:nvPr/>
        </p:nvSpPr>
        <p:spPr>
          <a:xfrm>
            <a:off x="7340260" y="2015595"/>
            <a:ext cx="646331" cy="369332"/>
          </a:xfrm>
          <a:prstGeom prst="rect">
            <a:avLst/>
          </a:prstGeom>
        </p:spPr>
        <p:txBody>
          <a:bodyPr wrap="none">
            <a:spAutoFit/>
          </a:bodyPr>
          <a:lstStyle/>
          <a:p>
            <a:r>
              <a:rPr lang="zh-CN" altLang="en-US" dirty="0"/>
              <a:t>空闲</a:t>
            </a:r>
          </a:p>
        </p:txBody>
      </p:sp>
      <p:sp>
        <p:nvSpPr>
          <p:cNvPr id="15" name="矩形 14">
            <a:extLst>
              <a:ext uri="{FF2B5EF4-FFF2-40B4-BE49-F238E27FC236}">
                <a16:creationId xmlns:a16="http://schemas.microsoft.com/office/drawing/2014/main" id="{D52A1AF8-97C4-6137-B9C0-61A44DA56BFC}"/>
              </a:ext>
            </a:extLst>
          </p:cNvPr>
          <p:cNvSpPr/>
          <p:nvPr/>
        </p:nvSpPr>
        <p:spPr>
          <a:xfrm>
            <a:off x="7340260" y="1775641"/>
            <a:ext cx="646331" cy="369332"/>
          </a:xfrm>
          <a:prstGeom prst="rect">
            <a:avLst/>
          </a:prstGeom>
        </p:spPr>
        <p:txBody>
          <a:bodyPr wrap="none">
            <a:spAutoFit/>
          </a:bodyPr>
          <a:lstStyle/>
          <a:p>
            <a:r>
              <a:rPr lang="zh-CN" altLang="en-US" dirty="0"/>
              <a:t>空闲</a:t>
            </a:r>
          </a:p>
        </p:txBody>
      </p:sp>
      <p:graphicFrame>
        <p:nvGraphicFramePr>
          <p:cNvPr id="16" name="表格 15">
            <a:extLst>
              <a:ext uri="{FF2B5EF4-FFF2-40B4-BE49-F238E27FC236}">
                <a16:creationId xmlns:a16="http://schemas.microsoft.com/office/drawing/2014/main" id="{17E0FE2F-754C-AC40-FD9E-801CC9EC10DE}"/>
              </a:ext>
            </a:extLst>
          </p:cNvPr>
          <p:cNvGraphicFramePr>
            <a:graphicFrameLocks noGrp="1"/>
          </p:cNvGraphicFramePr>
          <p:nvPr>
            <p:extLst>
              <p:ext uri="{D42A27DB-BD31-4B8C-83A1-F6EECF244321}">
                <p14:modId xmlns:p14="http://schemas.microsoft.com/office/powerpoint/2010/main" val="502173687"/>
              </p:ext>
            </p:extLst>
          </p:nvPr>
        </p:nvGraphicFramePr>
        <p:xfrm>
          <a:off x="7125791" y="1751711"/>
          <a:ext cx="1094967" cy="1700346"/>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err="1"/>
                        <a:t>a</a:t>
                      </a:r>
                      <a:r>
                        <a:rPr lang="en-US" altLang="zh-CN" sz="1400" baseline="-25000" dirty="0" err="1"/>
                        <a:t>i</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5"/>
                  </a:ext>
                </a:extLst>
              </a:tr>
            </a:tbl>
          </a:graphicData>
        </a:graphic>
      </p:graphicFrame>
      <p:cxnSp>
        <p:nvCxnSpPr>
          <p:cNvPr id="17" name="直接箭头连接符 16">
            <a:extLst>
              <a:ext uri="{FF2B5EF4-FFF2-40B4-BE49-F238E27FC236}">
                <a16:creationId xmlns:a16="http://schemas.microsoft.com/office/drawing/2014/main" id="{9EEC2140-94AC-44A9-C35B-2AC7107421AE}"/>
              </a:ext>
            </a:extLst>
          </p:cNvPr>
          <p:cNvCxnSpPr>
            <a:cxnSpLocks/>
          </p:cNvCxnSpPr>
          <p:nvPr/>
        </p:nvCxnSpPr>
        <p:spPr>
          <a:xfrm>
            <a:off x="6394461" y="1667413"/>
            <a:ext cx="695627" cy="12323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Text Box 2">
            <a:extLst>
              <a:ext uri="{FF2B5EF4-FFF2-40B4-BE49-F238E27FC236}">
                <a16:creationId xmlns:a16="http://schemas.microsoft.com/office/drawing/2014/main" id="{10599366-A2A0-9C81-B356-48C6C886354B}"/>
              </a:ext>
            </a:extLst>
          </p:cNvPr>
          <p:cNvSpPr txBox="1">
            <a:spLocks noChangeArrowheads="1"/>
          </p:cNvSpPr>
          <p:nvPr/>
        </p:nvSpPr>
        <p:spPr bwMode="auto">
          <a:xfrm>
            <a:off x="1184109" y="2434956"/>
            <a:ext cx="4535487" cy="1575404"/>
          </a:xfrm>
          <a:prstGeom prst="rect">
            <a:avLst/>
          </a:prstGeom>
          <a:solidFill>
            <a:schemeClr val="bg1">
              <a:lumMod val="95000"/>
            </a:schemeClr>
          </a:solidFill>
          <a:ln>
            <a:headEnd/>
            <a:tailEnd/>
          </a:ln>
        </p:spPr>
        <p:style>
          <a:lnRef idx="1">
            <a:schemeClr val="accent3"/>
          </a:lnRef>
          <a:fillRef idx="2">
            <a:schemeClr val="accent3"/>
          </a:fillRef>
          <a:effectRef idx="1">
            <a:schemeClr val="accent3"/>
          </a:effectRef>
          <a:fontRef idx="minor">
            <a:schemeClr val="dk1"/>
          </a:fontRef>
        </p:style>
        <p:txBody>
          <a:bodyPr lIns="144000" tIns="108000" rIns="144000" bIns="108000">
            <a:spAutoFit/>
          </a:bodyPr>
          <a:lstStyle/>
          <a:p>
            <a:pPr algn="just">
              <a:spcBef>
                <a:spcPct val="50000"/>
              </a:spcBef>
            </a:pPr>
            <a:r>
              <a:rPr kumimoji="1" lang="en-US" altLang="zh-CN" sz="1800" dirty="0" err="1">
                <a:solidFill>
                  <a:srgbClr val="0000FF"/>
                </a:solidFill>
                <a:latin typeface="Consolas" pitchFamily="49" charset="0"/>
                <a:ea typeface="宋体" pitchFamily="2" charset="-122"/>
                <a:cs typeface="Consolas" pitchFamily="49" charset="0"/>
              </a:rPr>
              <a:t>int</a:t>
            </a:r>
            <a:r>
              <a:rPr kumimoji="1" lang="en-US" altLang="zh-CN" sz="1800" dirty="0">
                <a:solidFill>
                  <a:srgbClr val="0000FF"/>
                </a:solidFill>
                <a:latin typeface="Consolas" pitchFamily="49" charset="0"/>
                <a:ea typeface="宋体" pitchFamily="2" charset="-122"/>
                <a:cs typeface="Consolas" pitchFamily="49" charset="0"/>
              </a:rPr>
              <a:t> </a:t>
            </a:r>
            <a:r>
              <a:rPr kumimoji="1" lang="en-US" altLang="zh-CN" sz="1800" dirty="0" err="1">
                <a:solidFill>
                  <a:srgbClr val="FF0000"/>
                </a:solidFill>
                <a:effectLst>
                  <a:outerShdw blurRad="38100" dist="38100" dir="2700000" algn="tl">
                    <a:srgbClr val="000000">
                      <a:alpha val="43137"/>
                    </a:srgbClr>
                  </a:outerShdw>
                </a:effectLst>
                <a:latin typeface="Consolas" pitchFamily="49" charset="0"/>
                <a:ea typeface="宋体" pitchFamily="2" charset="-122"/>
                <a:cs typeface="Consolas" pitchFamily="49" charset="0"/>
              </a:rPr>
              <a:t>ListLength</a:t>
            </a:r>
            <a:r>
              <a:rPr kumimoji="1" lang="en-US" altLang="zh-CN" sz="1800" dirty="0">
                <a:solidFill>
                  <a:srgbClr val="0000FF"/>
                </a:solidFill>
                <a:latin typeface="Consolas" pitchFamily="49" charset="0"/>
                <a:ea typeface="宋体" pitchFamily="2" charset="-122"/>
                <a:cs typeface="Consolas" pitchFamily="49" charset="0"/>
              </a:rPr>
              <a:t>(</a:t>
            </a:r>
            <a:r>
              <a:rPr kumimoji="1" lang="en-US" altLang="zh-CN" sz="1800" dirty="0" err="1">
                <a:solidFill>
                  <a:srgbClr val="0000FF"/>
                </a:solidFill>
                <a:latin typeface="Consolas" pitchFamily="49" charset="0"/>
                <a:ea typeface="宋体" pitchFamily="2" charset="-122"/>
                <a:cs typeface="Consolas" pitchFamily="49" charset="0"/>
              </a:rPr>
              <a:t>SqList</a:t>
            </a:r>
            <a:r>
              <a:rPr kumimoji="1" lang="en-US" altLang="zh-CN" sz="1800" dirty="0">
                <a:solidFill>
                  <a:srgbClr val="0000FF"/>
                </a:solidFill>
                <a:latin typeface="Consolas" pitchFamily="49" charset="0"/>
                <a:ea typeface="宋体" pitchFamily="2" charset="-122"/>
                <a:cs typeface="Consolas" pitchFamily="49" charset="0"/>
              </a:rPr>
              <a:t> *L)</a:t>
            </a:r>
          </a:p>
          <a:p>
            <a:pPr algn="just">
              <a:lnSpc>
                <a:spcPct val="80000"/>
              </a:lnSpc>
              <a:spcBef>
                <a:spcPct val="50000"/>
              </a:spcBef>
            </a:pPr>
            <a:r>
              <a:rPr kumimoji="1" lang="en-US" altLang="zh-CN" sz="1800" dirty="0">
                <a:solidFill>
                  <a:srgbClr val="0000FF"/>
                </a:solidFill>
                <a:latin typeface="Consolas" pitchFamily="49" charset="0"/>
                <a:ea typeface="宋体" pitchFamily="2" charset="-122"/>
                <a:cs typeface="Consolas" pitchFamily="49" charset="0"/>
              </a:rPr>
              <a:t>{</a:t>
            </a:r>
          </a:p>
          <a:p>
            <a:pPr algn="just">
              <a:lnSpc>
                <a:spcPct val="80000"/>
              </a:lnSpc>
              <a:spcBef>
                <a:spcPct val="50000"/>
              </a:spcBef>
            </a:pPr>
            <a:r>
              <a:rPr kumimoji="1" lang="en-US" altLang="zh-CN" sz="1800">
                <a:solidFill>
                  <a:srgbClr val="0000FF"/>
                </a:solidFill>
                <a:latin typeface="Consolas" pitchFamily="49" charset="0"/>
                <a:ea typeface="宋体" pitchFamily="2" charset="-122"/>
                <a:cs typeface="Consolas" pitchFamily="49" charset="0"/>
              </a:rPr>
              <a:t>     </a:t>
            </a:r>
            <a:r>
              <a:rPr kumimoji="1" lang="en-US" altLang="zh-CN" sz="1800" dirty="0">
                <a:solidFill>
                  <a:srgbClr val="0000FF"/>
                </a:solidFill>
                <a:latin typeface="Consolas" pitchFamily="49" charset="0"/>
                <a:ea typeface="宋体" pitchFamily="2" charset="-122"/>
                <a:cs typeface="Consolas" pitchFamily="49" charset="0"/>
              </a:rPr>
              <a:t>return(L-&gt;length);</a:t>
            </a:r>
          </a:p>
          <a:p>
            <a:pPr algn="just">
              <a:lnSpc>
                <a:spcPct val="80000"/>
              </a:lnSpc>
              <a:spcBef>
                <a:spcPct val="50000"/>
              </a:spcBef>
            </a:pPr>
            <a:r>
              <a:rPr kumimoji="1" lang="en-US" altLang="zh-CN" sz="1800" dirty="0">
                <a:solidFill>
                  <a:srgbClr val="0000FF"/>
                </a:solidFill>
                <a:latin typeface="Consolas" pitchFamily="49" charset="0"/>
                <a:ea typeface="宋体" pitchFamily="2" charset="-122"/>
                <a:cs typeface="Consolas" pitchFamily="49" charset="0"/>
              </a:rPr>
              <a:t>}</a:t>
            </a:r>
            <a:endParaRPr kumimoji="1" lang="en-US" altLang="zh-CN" sz="1800" b="0" dirty="0">
              <a:solidFill>
                <a:srgbClr val="0000FF"/>
              </a:solidFill>
              <a:latin typeface="Consolas" pitchFamily="49" charset="0"/>
              <a:cs typeface="Consolas" pitchFamily="49" charset="0"/>
            </a:endParaRPr>
          </a:p>
        </p:txBody>
      </p:sp>
      <p:sp>
        <p:nvSpPr>
          <p:cNvPr id="19" name="矩形 18">
            <a:extLst>
              <a:ext uri="{FF2B5EF4-FFF2-40B4-BE49-F238E27FC236}">
                <a16:creationId xmlns:a16="http://schemas.microsoft.com/office/drawing/2014/main" id="{BED66277-D39D-34FC-89CA-D197AE0E8A02}"/>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Tree>
    <p:extLst>
      <p:ext uri="{BB962C8B-B14F-4D97-AF65-F5344CB8AC3E}">
        <p14:creationId xmlns:p14="http://schemas.microsoft.com/office/powerpoint/2010/main" val="1182427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43FE2-CCA7-797C-D946-E1591DF3E9BA}"/>
            </a:ext>
          </a:extLst>
        </p:cNvPr>
        <p:cNvGrpSpPr/>
        <p:nvPr/>
      </p:nvGrpSpPr>
      <p:grpSpPr>
        <a:xfrm>
          <a:off x="0" y="0"/>
          <a:ext cx="0" cy="0"/>
          <a:chOff x="0" y="0"/>
          <a:chExt cx="0" cy="0"/>
        </a:xfrm>
      </p:grpSpPr>
      <p:cxnSp>
        <p:nvCxnSpPr>
          <p:cNvPr id="24" name="直接连接符 23">
            <a:extLst>
              <a:ext uri="{FF2B5EF4-FFF2-40B4-BE49-F238E27FC236}">
                <a16:creationId xmlns:a16="http://schemas.microsoft.com/office/drawing/2014/main" id="{6AA6579F-728C-F109-DB80-82B8211AFA78}"/>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BE69922D-6E1F-2CE1-28F9-A3A1060D017D}"/>
              </a:ext>
            </a:extLst>
          </p:cNvPr>
          <p:cNvSpPr/>
          <p:nvPr/>
        </p:nvSpPr>
        <p:spPr>
          <a:xfrm>
            <a:off x="1135359" y="1594832"/>
            <a:ext cx="2031325" cy="461665"/>
          </a:xfrm>
          <a:prstGeom prst="rect">
            <a:avLst/>
          </a:prstGeom>
        </p:spPr>
        <p:txBody>
          <a:bodyPr wrap="none">
            <a:spAutoFit/>
          </a:bodyPr>
          <a:lstStyle/>
          <a:p>
            <a:pPr>
              <a:defRPr/>
            </a:pPr>
            <a:r>
              <a:rPr lang="zh-CN" altLang="en-US" sz="2400" dirty="0">
                <a:latin typeface="微软雅黑" pitchFamily="34" charset="-122"/>
                <a:ea typeface="微软雅黑" pitchFamily="34" charset="-122"/>
                <a:cs typeface="经典粗黑简" pitchFamily="49" charset="-122"/>
              </a:rPr>
              <a:t>⑥输出顺序表</a:t>
            </a:r>
            <a:endParaRPr lang="en-US" altLang="zh-CN" sz="2400" dirty="0">
              <a:latin typeface="微软雅黑" pitchFamily="34" charset="-122"/>
              <a:ea typeface="微软雅黑" pitchFamily="34" charset="-122"/>
              <a:cs typeface="经典粗黑简" pitchFamily="49" charset="-122"/>
            </a:endParaRPr>
          </a:p>
        </p:txBody>
      </p:sp>
      <p:sp>
        <p:nvSpPr>
          <p:cNvPr id="4" name="Rectangle 2">
            <a:extLst>
              <a:ext uri="{FF2B5EF4-FFF2-40B4-BE49-F238E27FC236}">
                <a16:creationId xmlns:a16="http://schemas.microsoft.com/office/drawing/2014/main" id="{F2F5B3AB-753A-A80A-2F3F-E239ADCDD6E7}"/>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graphicFrame>
        <p:nvGraphicFramePr>
          <p:cNvPr id="5" name="表格 4">
            <a:extLst>
              <a:ext uri="{FF2B5EF4-FFF2-40B4-BE49-F238E27FC236}">
                <a16:creationId xmlns:a16="http://schemas.microsoft.com/office/drawing/2014/main" id="{F6E916CB-55E0-C340-C942-10B657ADDB56}"/>
              </a:ext>
            </a:extLst>
          </p:cNvPr>
          <p:cNvGraphicFramePr>
            <a:graphicFrameLocks noGrp="1"/>
          </p:cNvGraphicFramePr>
          <p:nvPr/>
        </p:nvGraphicFramePr>
        <p:xfrm>
          <a:off x="7124836" y="1741342"/>
          <a:ext cx="1094967" cy="2267128"/>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0"/>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pattFill prst="wdUpDiag">
                      <a:fgClr>
                        <a:srgbClr val="FFC000"/>
                      </a:fgClr>
                      <a:bgClr>
                        <a:schemeClr val="bg1"/>
                      </a:bgClr>
                    </a:pattFill>
                  </a:tcPr>
                </a:tc>
                <a:extLst>
                  <a:ext uri="{0D108BD9-81ED-4DB2-BD59-A6C34878D82A}">
                    <a16:rowId xmlns:a16="http://schemas.microsoft.com/office/drawing/2014/main" val="10002"/>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pattFill prst="wdUpDiag">
                      <a:fgClr>
                        <a:srgbClr val="FFC000"/>
                      </a:fgClr>
                      <a:bgClr>
                        <a:schemeClr val="bg1"/>
                      </a:bgClr>
                    </a:pattFill>
                  </a:tcPr>
                </a:tc>
                <a:extLst>
                  <a:ext uri="{0D108BD9-81ED-4DB2-BD59-A6C34878D82A}">
                    <a16:rowId xmlns:a16="http://schemas.microsoft.com/office/drawing/2014/main" val="10004"/>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5"/>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pattFill prst="wdUpDiag">
                      <a:fgClr>
                        <a:srgbClr val="FFC000"/>
                      </a:fgClr>
                      <a:bgClr>
                        <a:schemeClr val="bg1"/>
                      </a:bgClr>
                    </a:pattFill>
                  </a:tcPr>
                </a:tc>
                <a:extLst>
                  <a:ext uri="{0D108BD9-81ED-4DB2-BD59-A6C34878D82A}">
                    <a16:rowId xmlns:a16="http://schemas.microsoft.com/office/drawing/2014/main" val="10006"/>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n</a:t>
                      </a: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solidFill>
                      <a:srgbClr val="92D050"/>
                    </a:solidFill>
                  </a:tcPr>
                </a:tc>
                <a:extLst>
                  <a:ext uri="{0D108BD9-81ED-4DB2-BD59-A6C34878D82A}">
                    <a16:rowId xmlns:a16="http://schemas.microsoft.com/office/drawing/2014/main" val="10007"/>
                  </a:ext>
                </a:extLst>
              </a:tr>
            </a:tbl>
          </a:graphicData>
        </a:graphic>
      </p:graphicFrame>
      <p:sp>
        <p:nvSpPr>
          <p:cNvPr id="6" name="矩形 5">
            <a:extLst>
              <a:ext uri="{FF2B5EF4-FFF2-40B4-BE49-F238E27FC236}">
                <a16:creationId xmlns:a16="http://schemas.microsoft.com/office/drawing/2014/main" id="{85B9F8DF-2A89-367E-A725-372D4983D266}"/>
              </a:ext>
            </a:extLst>
          </p:cNvPr>
          <p:cNvSpPr/>
          <p:nvPr/>
        </p:nvSpPr>
        <p:spPr>
          <a:xfrm>
            <a:off x="6107943" y="1415305"/>
            <a:ext cx="338554" cy="369332"/>
          </a:xfrm>
          <a:prstGeom prst="rect">
            <a:avLst/>
          </a:prstGeom>
        </p:spPr>
        <p:txBody>
          <a:bodyPr wrap="none">
            <a:spAutoFit/>
          </a:bodyPr>
          <a:lstStyle/>
          <a:p>
            <a:r>
              <a:rPr lang="en-US" altLang="zh-CN" b="1" dirty="0">
                <a:latin typeface="Times New Roman" pitchFamily="18" charset="0"/>
                <a:ea typeface="宋体" pitchFamily="2" charset="-122"/>
              </a:rPr>
              <a:t>L</a:t>
            </a:r>
            <a:endParaRPr lang="zh-CN" altLang="en-US" b="1" dirty="0">
              <a:latin typeface="Times New Roman" pitchFamily="18" charset="0"/>
              <a:ea typeface="宋体" pitchFamily="2" charset="-122"/>
            </a:endParaRPr>
          </a:p>
        </p:txBody>
      </p:sp>
      <p:sp>
        <p:nvSpPr>
          <p:cNvPr id="7" name="矩形 6">
            <a:extLst>
              <a:ext uri="{FF2B5EF4-FFF2-40B4-BE49-F238E27FC236}">
                <a16:creationId xmlns:a16="http://schemas.microsoft.com/office/drawing/2014/main" id="{57FC052D-BC5F-5CDA-45A0-FF7F0C6C2618}"/>
              </a:ext>
            </a:extLst>
          </p:cNvPr>
          <p:cNvSpPr/>
          <p:nvPr/>
        </p:nvSpPr>
        <p:spPr>
          <a:xfrm>
            <a:off x="6084169" y="3748178"/>
            <a:ext cx="1109599" cy="369332"/>
          </a:xfrm>
          <a:prstGeom prst="rect">
            <a:avLst/>
          </a:prstGeom>
        </p:spPr>
        <p:txBody>
          <a:bodyPr wrap="none">
            <a:spAutoFit/>
          </a:bodyPr>
          <a:lstStyle/>
          <a:p>
            <a:r>
              <a:rPr lang="en-US" altLang="zh-CN" dirty="0">
                <a:latin typeface="Times New Roman" pitchFamily="18" charset="0"/>
                <a:ea typeface="宋体" pitchFamily="2" charset="-122"/>
              </a:rPr>
              <a:t>L-&gt;length</a:t>
            </a:r>
            <a:endParaRPr lang="zh-CN" altLang="en-US" dirty="0">
              <a:latin typeface="Times New Roman" pitchFamily="18" charset="0"/>
              <a:ea typeface="宋体" pitchFamily="2" charset="-122"/>
            </a:endParaRPr>
          </a:p>
        </p:txBody>
      </p:sp>
      <p:sp>
        <p:nvSpPr>
          <p:cNvPr id="8" name="矩形 7">
            <a:extLst>
              <a:ext uri="{FF2B5EF4-FFF2-40B4-BE49-F238E27FC236}">
                <a16:creationId xmlns:a16="http://schemas.microsoft.com/office/drawing/2014/main" id="{ED623EF0-EF08-6F7B-4C29-76368ADFE9EB}"/>
              </a:ext>
            </a:extLst>
          </p:cNvPr>
          <p:cNvSpPr/>
          <p:nvPr/>
        </p:nvSpPr>
        <p:spPr>
          <a:xfrm>
            <a:off x="6169764" y="1687165"/>
            <a:ext cx="917239" cy="369332"/>
          </a:xfrm>
          <a:prstGeom prst="rect">
            <a:avLst/>
          </a:prstGeom>
        </p:spPr>
        <p:txBody>
          <a:bodyPr wrap="none">
            <a:spAutoFit/>
          </a:bodyPr>
          <a:lstStyle/>
          <a:p>
            <a:r>
              <a:rPr lang="en-US" altLang="zh-CN" dirty="0">
                <a:latin typeface="Times New Roman" pitchFamily="18" charset="0"/>
                <a:ea typeface="宋体" pitchFamily="2" charset="-122"/>
              </a:rPr>
              <a:t>L-&gt;data</a:t>
            </a:r>
            <a:endParaRPr lang="zh-CN" altLang="en-US" dirty="0">
              <a:latin typeface="Times New Roman" pitchFamily="18" charset="0"/>
              <a:ea typeface="宋体" pitchFamily="2" charset="-122"/>
            </a:endParaRPr>
          </a:p>
        </p:txBody>
      </p:sp>
      <p:sp>
        <p:nvSpPr>
          <p:cNvPr id="9" name="矩形 8">
            <a:extLst>
              <a:ext uri="{FF2B5EF4-FFF2-40B4-BE49-F238E27FC236}">
                <a16:creationId xmlns:a16="http://schemas.microsoft.com/office/drawing/2014/main" id="{126C27DA-7E34-F267-8244-BC3D3F357A76}"/>
              </a:ext>
            </a:extLst>
          </p:cNvPr>
          <p:cNvSpPr/>
          <p:nvPr/>
        </p:nvSpPr>
        <p:spPr>
          <a:xfrm>
            <a:off x="7340260" y="3450247"/>
            <a:ext cx="646331" cy="369332"/>
          </a:xfrm>
          <a:prstGeom prst="rect">
            <a:avLst/>
          </a:prstGeom>
        </p:spPr>
        <p:txBody>
          <a:bodyPr wrap="none">
            <a:spAutoFit/>
          </a:bodyPr>
          <a:lstStyle/>
          <a:p>
            <a:r>
              <a:rPr lang="zh-CN" altLang="en-US" dirty="0"/>
              <a:t>空闲</a:t>
            </a:r>
          </a:p>
        </p:txBody>
      </p:sp>
      <p:sp>
        <p:nvSpPr>
          <p:cNvPr id="10" name="矩形 9">
            <a:extLst>
              <a:ext uri="{FF2B5EF4-FFF2-40B4-BE49-F238E27FC236}">
                <a16:creationId xmlns:a16="http://schemas.microsoft.com/office/drawing/2014/main" id="{F80B39BA-7237-0F20-1A0C-CBAECA4B13B1}"/>
              </a:ext>
            </a:extLst>
          </p:cNvPr>
          <p:cNvSpPr/>
          <p:nvPr/>
        </p:nvSpPr>
        <p:spPr>
          <a:xfrm>
            <a:off x="7340260" y="3175060"/>
            <a:ext cx="646331" cy="369332"/>
          </a:xfrm>
          <a:prstGeom prst="rect">
            <a:avLst/>
          </a:prstGeom>
        </p:spPr>
        <p:txBody>
          <a:bodyPr wrap="none">
            <a:spAutoFit/>
          </a:bodyPr>
          <a:lstStyle/>
          <a:p>
            <a:r>
              <a:rPr lang="zh-CN" altLang="en-US" dirty="0"/>
              <a:t>空闲</a:t>
            </a:r>
          </a:p>
        </p:txBody>
      </p:sp>
      <p:sp>
        <p:nvSpPr>
          <p:cNvPr id="11" name="矩形 10">
            <a:extLst>
              <a:ext uri="{FF2B5EF4-FFF2-40B4-BE49-F238E27FC236}">
                <a16:creationId xmlns:a16="http://schemas.microsoft.com/office/drawing/2014/main" id="{044B2898-0541-71DB-0F1B-8B112E788F88}"/>
              </a:ext>
            </a:extLst>
          </p:cNvPr>
          <p:cNvSpPr/>
          <p:nvPr/>
        </p:nvSpPr>
        <p:spPr>
          <a:xfrm>
            <a:off x="7340260" y="2898061"/>
            <a:ext cx="646331" cy="369332"/>
          </a:xfrm>
          <a:prstGeom prst="rect">
            <a:avLst/>
          </a:prstGeom>
        </p:spPr>
        <p:txBody>
          <a:bodyPr wrap="none">
            <a:spAutoFit/>
          </a:bodyPr>
          <a:lstStyle/>
          <a:p>
            <a:r>
              <a:rPr lang="zh-CN" altLang="en-US" dirty="0"/>
              <a:t>空闲</a:t>
            </a:r>
          </a:p>
        </p:txBody>
      </p:sp>
      <p:sp>
        <p:nvSpPr>
          <p:cNvPr id="12" name="矩形 11">
            <a:extLst>
              <a:ext uri="{FF2B5EF4-FFF2-40B4-BE49-F238E27FC236}">
                <a16:creationId xmlns:a16="http://schemas.microsoft.com/office/drawing/2014/main" id="{A2B697B7-45E0-4C2B-CE92-87C9CEA30B0B}"/>
              </a:ext>
            </a:extLst>
          </p:cNvPr>
          <p:cNvSpPr/>
          <p:nvPr/>
        </p:nvSpPr>
        <p:spPr>
          <a:xfrm>
            <a:off x="7340260" y="2641490"/>
            <a:ext cx="646331" cy="369332"/>
          </a:xfrm>
          <a:prstGeom prst="rect">
            <a:avLst/>
          </a:prstGeom>
        </p:spPr>
        <p:txBody>
          <a:bodyPr wrap="none">
            <a:spAutoFit/>
          </a:bodyPr>
          <a:lstStyle/>
          <a:p>
            <a:r>
              <a:rPr lang="zh-CN" altLang="en-US" dirty="0"/>
              <a:t>空闲</a:t>
            </a:r>
          </a:p>
        </p:txBody>
      </p:sp>
      <p:sp>
        <p:nvSpPr>
          <p:cNvPr id="13" name="矩形 12">
            <a:extLst>
              <a:ext uri="{FF2B5EF4-FFF2-40B4-BE49-F238E27FC236}">
                <a16:creationId xmlns:a16="http://schemas.microsoft.com/office/drawing/2014/main" id="{376ACCA3-E169-C125-25FC-1DB9393F77A6}"/>
              </a:ext>
            </a:extLst>
          </p:cNvPr>
          <p:cNvSpPr/>
          <p:nvPr/>
        </p:nvSpPr>
        <p:spPr>
          <a:xfrm>
            <a:off x="7340260" y="2339631"/>
            <a:ext cx="646331" cy="369332"/>
          </a:xfrm>
          <a:prstGeom prst="rect">
            <a:avLst/>
          </a:prstGeom>
        </p:spPr>
        <p:txBody>
          <a:bodyPr wrap="none">
            <a:spAutoFit/>
          </a:bodyPr>
          <a:lstStyle/>
          <a:p>
            <a:r>
              <a:rPr lang="zh-CN" altLang="en-US" dirty="0"/>
              <a:t>空闲</a:t>
            </a:r>
          </a:p>
        </p:txBody>
      </p:sp>
      <p:sp>
        <p:nvSpPr>
          <p:cNvPr id="14" name="矩形 13">
            <a:extLst>
              <a:ext uri="{FF2B5EF4-FFF2-40B4-BE49-F238E27FC236}">
                <a16:creationId xmlns:a16="http://schemas.microsoft.com/office/drawing/2014/main" id="{B1818C63-7BF2-5E71-3103-0EED99CAD79E}"/>
              </a:ext>
            </a:extLst>
          </p:cNvPr>
          <p:cNvSpPr/>
          <p:nvPr/>
        </p:nvSpPr>
        <p:spPr>
          <a:xfrm>
            <a:off x="7340260" y="2015595"/>
            <a:ext cx="646331" cy="369332"/>
          </a:xfrm>
          <a:prstGeom prst="rect">
            <a:avLst/>
          </a:prstGeom>
        </p:spPr>
        <p:txBody>
          <a:bodyPr wrap="none">
            <a:spAutoFit/>
          </a:bodyPr>
          <a:lstStyle/>
          <a:p>
            <a:r>
              <a:rPr lang="zh-CN" altLang="en-US" dirty="0"/>
              <a:t>空闲</a:t>
            </a:r>
          </a:p>
        </p:txBody>
      </p:sp>
      <p:sp>
        <p:nvSpPr>
          <p:cNvPr id="15" name="矩形 14">
            <a:extLst>
              <a:ext uri="{FF2B5EF4-FFF2-40B4-BE49-F238E27FC236}">
                <a16:creationId xmlns:a16="http://schemas.microsoft.com/office/drawing/2014/main" id="{65A013C7-65C1-8503-E4B7-87633C471358}"/>
              </a:ext>
            </a:extLst>
          </p:cNvPr>
          <p:cNvSpPr/>
          <p:nvPr/>
        </p:nvSpPr>
        <p:spPr>
          <a:xfrm>
            <a:off x="7340260" y="1775641"/>
            <a:ext cx="646331" cy="369332"/>
          </a:xfrm>
          <a:prstGeom prst="rect">
            <a:avLst/>
          </a:prstGeom>
        </p:spPr>
        <p:txBody>
          <a:bodyPr wrap="none">
            <a:spAutoFit/>
          </a:bodyPr>
          <a:lstStyle/>
          <a:p>
            <a:r>
              <a:rPr lang="zh-CN" altLang="en-US" dirty="0"/>
              <a:t>空闲</a:t>
            </a:r>
          </a:p>
        </p:txBody>
      </p:sp>
      <p:graphicFrame>
        <p:nvGraphicFramePr>
          <p:cNvPr id="16" name="表格 15">
            <a:extLst>
              <a:ext uri="{FF2B5EF4-FFF2-40B4-BE49-F238E27FC236}">
                <a16:creationId xmlns:a16="http://schemas.microsoft.com/office/drawing/2014/main" id="{BE7169F3-853D-D280-5348-AF99943B2DB5}"/>
              </a:ext>
            </a:extLst>
          </p:cNvPr>
          <p:cNvGraphicFramePr>
            <a:graphicFrameLocks noGrp="1"/>
          </p:cNvGraphicFramePr>
          <p:nvPr/>
        </p:nvGraphicFramePr>
        <p:xfrm>
          <a:off x="7125791" y="1751711"/>
          <a:ext cx="1094967" cy="1700346"/>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err="1"/>
                        <a:t>a</a:t>
                      </a:r>
                      <a:r>
                        <a:rPr lang="en-US" altLang="zh-CN" sz="1400" baseline="-25000" dirty="0" err="1"/>
                        <a:t>i</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5"/>
                  </a:ext>
                </a:extLst>
              </a:tr>
            </a:tbl>
          </a:graphicData>
        </a:graphic>
      </p:graphicFrame>
      <p:cxnSp>
        <p:nvCxnSpPr>
          <p:cNvPr id="17" name="直接箭头连接符 16">
            <a:extLst>
              <a:ext uri="{FF2B5EF4-FFF2-40B4-BE49-F238E27FC236}">
                <a16:creationId xmlns:a16="http://schemas.microsoft.com/office/drawing/2014/main" id="{64C19476-483F-79FD-5C43-D00C8201DA81}"/>
              </a:ext>
            </a:extLst>
          </p:cNvPr>
          <p:cNvCxnSpPr>
            <a:cxnSpLocks/>
          </p:cNvCxnSpPr>
          <p:nvPr/>
        </p:nvCxnSpPr>
        <p:spPr>
          <a:xfrm>
            <a:off x="6394461" y="1667413"/>
            <a:ext cx="695627" cy="12323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FABE7EDC-6C02-C1E2-B1C7-E7426DBF9992}"/>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
        <p:nvSpPr>
          <p:cNvPr id="20" name="文本框 19">
            <a:extLst>
              <a:ext uri="{FF2B5EF4-FFF2-40B4-BE49-F238E27FC236}">
                <a16:creationId xmlns:a16="http://schemas.microsoft.com/office/drawing/2014/main" id="{863D1184-DC2D-29A7-6564-9DEF12B33E96}"/>
              </a:ext>
            </a:extLst>
          </p:cNvPr>
          <p:cNvSpPr txBox="1"/>
          <p:nvPr/>
        </p:nvSpPr>
        <p:spPr>
          <a:xfrm>
            <a:off x="990814" y="2209791"/>
            <a:ext cx="5178950" cy="2315762"/>
          </a:xfrm>
          <a:prstGeom prst="rect">
            <a:avLst/>
          </a:prstGeom>
          <a:noFill/>
        </p:spPr>
        <p:txBody>
          <a:bodyPr wrap="square">
            <a:spAutoFit/>
          </a:bodyPr>
          <a:lstStyle/>
          <a:p>
            <a:pPr algn="l">
              <a:lnSpc>
                <a:spcPts val="2500"/>
              </a:lnSpc>
            </a:pPr>
            <a:r>
              <a:rPr kumimoji="1" lang="en-US" altLang="zh-CN" sz="1800" dirty="0">
                <a:solidFill>
                  <a:srgbClr val="0000FF"/>
                </a:solidFill>
                <a:latin typeface="Consolas" pitchFamily="49" charset="0"/>
                <a:cs typeface="Consolas" pitchFamily="49" charset="0"/>
              </a:rPr>
              <a:t>void </a:t>
            </a:r>
            <a:r>
              <a:rPr kumimoji="1" lang="en-US" altLang="zh-CN" sz="1800" dirty="0" err="1">
                <a:solidFill>
                  <a:srgbClr val="FF0000"/>
                </a:solidFill>
                <a:effectLst>
                  <a:outerShdw blurRad="38100" dist="38100" dir="2700000" algn="tl">
                    <a:srgbClr val="000000">
                      <a:alpha val="43137"/>
                    </a:srgbClr>
                  </a:outerShdw>
                </a:effectLst>
                <a:latin typeface="Consolas" pitchFamily="49" charset="0"/>
                <a:cs typeface="Consolas" pitchFamily="49" charset="0"/>
              </a:rPr>
              <a:t>DispList</a:t>
            </a:r>
            <a:r>
              <a:rPr kumimoji="1" lang="en-US" altLang="zh-CN" sz="1800" dirty="0">
                <a:solidFill>
                  <a:srgbClr val="0000FF"/>
                </a:solidFill>
                <a:latin typeface="Consolas" pitchFamily="49" charset="0"/>
                <a:cs typeface="Consolas" pitchFamily="49" charset="0"/>
              </a:rPr>
              <a:t>(</a:t>
            </a:r>
            <a:r>
              <a:rPr kumimoji="1" lang="en-US" altLang="zh-CN" sz="1800" dirty="0" err="1">
                <a:solidFill>
                  <a:srgbClr val="0000FF"/>
                </a:solidFill>
                <a:latin typeface="Consolas" pitchFamily="49" charset="0"/>
                <a:cs typeface="Consolas" pitchFamily="49" charset="0"/>
              </a:rPr>
              <a:t>SqList</a:t>
            </a:r>
            <a:r>
              <a:rPr kumimoji="1" lang="en-US" altLang="zh-CN" sz="1800" dirty="0">
                <a:solidFill>
                  <a:srgbClr val="0000FF"/>
                </a:solidFill>
                <a:latin typeface="Consolas" pitchFamily="49" charset="0"/>
                <a:cs typeface="Consolas" pitchFamily="49" charset="0"/>
              </a:rPr>
              <a:t> *L)</a:t>
            </a:r>
          </a:p>
          <a:p>
            <a:pPr algn="l">
              <a:lnSpc>
                <a:spcPts val="2500"/>
              </a:lnSpc>
            </a:pPr>
            <a:r>
              <a:rPr kumimoji="1" lang="en-US" altLang="zh-CN" sz="1800" dirty="0">
                <a:solidFill>
                  <a:srgbClr val="0000FF"/>
                </a:solidFill>
                <a:latin typeface="Consolas" pitchFamily="49" charset="0"/>
                <a:cs typeface="Consolas" pitchFamily="49" charset="0"/>
              </a:rPr>
              <a:t>{  int </a:t>
            </a:r>
            <a:r>
              <a:rPr kumimoji="1" lang="en-US" altLang="zh-CN" sz="1800" dirty="0" err="1">
                <a:solidFill>
                  <a:srgbClr val="0000FF"/>
                </a:solidFill>
                <a:latin typeface="Consolas" pitchFamily="49" charset="0"/>
                <a:cs typeface="Consolas" pitchFamily="49" charset="0"/>
              </a:rPr>
              <a:t>i</a:t>
            </a:r>
            <a:r>
              <a:rPr kumimoji="1" lang="en-US" altLang="zh-CN" sz="1800" dirty="0">
                <a:solidFill>
                  <a:srgbClr val="0000FF"/>
                </a:solidFill>
                <a:latin typeface="Consolas" pitchFamily="49" charset="0"/>
                <a:cs typeface="Consolas" pitchFamily="49" charset="0"/>
              </a:rPr>
              <a:t>;</a:t>
            </a:r>
          </a:p>
          <a:p>
            <a:pPr algn="l">
              <a:lnSpc>
                <a:spcPts val="2500"/>
              </a:lnSpc>
            </a:pPr>
            <a:r>
              <a:rPr kumimoji="1" lang="en-US" altLang="zh-CN" sz="1800" dirty="0">
                <a:solidFill>
                  <a:srgbClr val="0000FF"/>
                </a:solidFill>
                <a:latin typeface="Consolas" pitchFamily="49" charset="0"/>
                <a:cs typeface="Consolas" pitchFamily="49" charset="0"/>
              </a:rPr>
              <a:t>   if (</a:t>
            </a:r>
            <a:r>
              <a:rPr kumimoji="1" lang="en-US" altLang="zh-CN" sz="1800" dirty="0" err="1">
                <a:solidFill>
                  <a:srgbClr val="0000FF"/>
                </a:solidFill>
                <a:latin typeface="Consolas" pitchFamily="49" charset="0"/>
                <a:cs typeface="Consolas" pitchFamily="49" charset="0"/>
              </a:rPr>
              <a:t>ListEmpty</a:t>
            </a:r>
            <a:r>
              <a:rPr kumimoji="1" lang="en-US" altLang="zh-CN" sz="1800" dirty="0">
                <a:solidFill>
                  <a:srgbClr val="0000FF"/>
                </a:solidFill>
                <a:latin typeface="Consolas" pitchFamily="49" charset="0"/>
                <a:cs typeface="Consolas" pitchFamily="49" charset="0"/>
              </a:rPr>
              <a:t>(L)) return;</a:t>
            </a:r>
          </a:p>
          <a:p>
            <a:pPr algn="l">
              <a:lnSpc>
                <a:spcPts val="2500"/>
              </a:lnSpc>
            </a:pPr>
            <a:r>
              <a:rPr kumimoji="1" lang="en-US" altLang="zh-CN" sz="1800" dirty="0">
                <a:solidFill>
                  <a:srgbClr val="0000FF"/>
                </a:solidFill>
                <a:latin typeface="Consolas" pitchFamily="49" charset="0"/>
                <a:cs typeface="Consolas" pitchFamily="49" charset="0"/>
              </a:rPr>
              <a:t>   for (</a:t>
            </a:r>
            <a:r>
              <a:rPr kumimoji="1" lang="en-US" altLang="zh-CN" sz="1800" dirty="0" err="1">
                <a:solidFill>
                  <a:srgbClr val="0000FF"/>
                </a:solidFill>
                <a:latin typeface="Consolas" pitchFamily="49" charset="0"/>
                <a:cs typeface="Consolas" pitchFamily="49" charset="0"/>
              </a:rPr>
              <a:t>i</a:t>
            </a:r>
            <a:r>
              <a:rPr kumimoji="1" lang="en-US" altLang="zh-CN" sz="1800" dirty="0">
                <a:solidFill>
                  <a:srgbClr val="0000FF"/>
                </a:solidFill>
                <a:latin typeface="Consolas" pitchFamily="49" charset="0"/>
                <a:cs typeface="Consolas" pitchFamily="49" charset="0"/>
              </a:rPr>
              <a:t>=0;i&lt;L-&gt;</a:t>
            </a:r>
            <a:r>
              <a:rPr kumimoji="1" lang="en-US" altLang="zh-CN" sz="1800" dirty="0" err="1">
                <a:solidFill>
                  <a:srgbClr val="0000FF"/>
                </a:solidFill>
                <a:latin typeface="Consolas" pitchFamily="49" charset="0"/>
                <a:cs typeface="Consolas" pitchFamily="49" charset="0"/>
              </a:rPr>
              <a:t>length;i</a:t>
            </a:r>
            <a:r>
              <a:rPr kumimoji="1" lang="en-US" altLang="zh-CN" sz="1800" dirty="0">
                <a:solidFill>
                  <a:srgbClr val="0000FF"/>
                </a:solidFill>
                <a:latin typeface="Consolas" pitchFamily="49" charset="0"/>
                <a:cs typeface="Consolas" pitchFamily="49" charset="0"/>
              </a:rPr>
              <a:t>++)</a:t>
            </a:r>
          </a:p>
          <a:p>
            <a:pPr algn="l">
              <a:lnSpc>
                <a:spcPts val="2500"/>
              </a:lnSpc>
            </a:pPr>
            <a:r>
              <a:rPr kumimoji="1" lang="en-US" altLang="zh-CN" sz="1800" dirty="0">
                <a:solidFill>
                  <a:srgbClr val="0000FF"/>
                </a:solidFill>
                <a:latin typeface="Consolas" pitchFamily="49" charset="0"/>
                <a:cs typeface="Consolas" pitchFamily="49" charset="0"/>
              </a:rPr>
              <a:t>      </a:t>
            </a:r>
            <a:r>
              <a:rPr kumimoji="1" lang="en-US" altLang="zh-CN" sz="1800" dirty="0" err="1">
                <a:solidFill>
                  <a:srgbClr val="0000FF"/>
                </a:solidFill>
                <a:latin typeface="Consolas" pitchFamily="49" charset="0"/>
                <a:cs typeface="Consolas" pitchFamily="49" charset="0"/>
              </a:rPr>
              <a:t>printf</a:t>
            </a:r>
            <a:r>
              <a:rPr kumimoji="1" lang="en-US" altLang="zh-CN" sz="1800" dirty="0">
                <a:solidFill>
                  <a:srgbClr val="0000FF"/>
                </a:solidFill>
                <a:latin typeface="Consolas" pitchFamily="49" charset="0"/>
                <a:cs typeface="Consolas" pitchFamily="49" charset="0"/>
              </a:rPr>
              <a:t>("%d"</a:t>
            </a:r>
            <a:r>
              <a:rPr kumimoji="1" lang="zh-CN" altLang="en-US" sz="1800" dirty="0">
                <a:solidFill>
                  <a:srgbClr val="0000FF"/>
                </a:solidFill>
                <a:latin typeface="Consolas" pitchFamily="49" charset="0"/>
                <a:cs typeface="Consolas" pitchFamily="49" charset="0"/>
              </a:rPr>
              <a:t>，</a:t>
            </a:r>
            <a:r>
              <a:rPr kumimoji="1" lang="en-US" altLang="zh-CN" sz="1800" dirty="0">
                <a:solidFill>
                  <a:srgbClr val="0000FF"/>
                </a:solidFill>
                <a:latin typeface="Consolas" pitchFamily="49" charset="0"/>
                <a:cs typeface="Consolas" pitchFamily="49" charset="0"/>
              </a:rPr>
              <a:t>L-&gt;data[</a:t>
            </a:r>
            <a:r>
              <a:rPr kumimoji="1" lang="en-US" altLang="zh-CN" sz="1800" dirty="0" err="1">
                <a:solidFill>
                  <a:srgbClr val="0000FF"/>
                </a:solidFill>
                <a:latin typeface="Consolas" pitchFamily="49" charset="0"/>
                <a:cs typeface="Consolas" pitchFamily="49" charset="0"/>
              </a:rPr>
              <a:t>i</a:t>
            </a:r>
            <a:r>
              <a:rPr kumimoji="1" lang="en-US" altLang="zh-CN" sz="1800" dirty="0">
                <a:solidFill>
                  <a:srgbClr val="0000FF"/>
                </a:solidFill>
                <a:latin typeface="Consolas" pitchFamily="49" charset="0"/>
                <a:cs typeface="Consolas" pitchFamily="49" charset="0"/>
              </a:rPr>
              <a:t>]);</a:t>
            </a:r>
          </a:p>
          <a:p>
            <a:pPr algn="l">
              <a:lnSpc>
                <a:spcPts val="2500"/>
              </a:lnSpc>
            </a:pPr>
            <a:r>
              <a:rPr kumimoji="1" lang="en-US" altLang="zh-CN" sz="1800" dirty="0">
                <a:solidFill>
                  <a:srgbClr val="0000FF"/>
                </a:solidFill>
                <a:latin typeface="Consolas" pitchFamily="49" charset="0"/>
                <a:cs typeface="Consolas" pitchFamily="49" charset="0"/>
              </a:rPr>
              <a:t>   </a:t>
            </a:r>
            <a:r>
              <a:rPr kumimoji="1" lang="en-US" altLang="zh-CN" sz="1800" dirty="0" err="1">
                <a:solidFill>
                  <a:srgbClr val="0000FF"/>
                </a:solidFill>
                <a:latin typeface="Consolas" pitchFamily="49" charset="0"/>
                <a:cs typeface="Consolas" pitchFamily="49" charset="0"/>
              </a:rPr>
              <a:t>printf</a:t>
            </a:r>
            <a:r>
              <a:rPr kumimoji="1" lang="en-US" altLang="zh-CN" sz="1800" dirty="0">
                <a:solidFill>
                  <a:srgbClr val="0000FF"/>
                </a:solidFill>
                <a:latin typeface="Consolas" pitchFamily="49" charset="0"/>
                <a:cs typeface="Consolas" pitchFamily="49" charset="0"/>
              </a:rPr>
              <a:t>("\n");</a:t>
            </a:r>
          </a:p>
          <a:p>
            <a:pPr algn="l">
              <a:lnSpc>
                <a:spcPts val="2500"/>
              </a:lnSpc>
            </a:pPr>
            <a:r>
              <a:rPr kumimoji="1" lang="en-US" altLang="zh-CN" sz="1800" dirty="0">
                <a:solidFill>
                  <a:srgbClr val="0000FF"/>
                </a:solidFill>
                <a:latin typeface="Consolas" pitchFamily="49" charset="0"/>
                <a:cs typeface="Consolas" pitchFamily="49" charset="0"/>
              </a:rPr>
              <a:t>} </a:t>
            </a:r>
            <a:endParaRPr lang="en-US" altLang="zh-CN" sz="1800" dirty="0">
              <a:solidFill>
                <a:srgbClr val="0000FF"/>
              </a:solidFill>
              <a:latin typeface="Consolas" pitchFamily="49" charset="0"/>
              <a:cs typeface="Consolas" pitchFamily="49" charset="0"/>
            </a:endParaRPr>
          </a:p>
        </p:txBody>
      </p:sp>
    </p:spTree>
    <p:extLst>
      <p:ext uri="{BB962C8B-B14F-4D97-AF65-F5344CB8AC3E}">
        <p14:creationId xmlns:p14="http://schemas.microsoft.com/office/powerpoint/2010/main" val="1316348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8AB0C-8905-CD28-4C35-11DD2A2A1742}"/>
            </a:ext>
          </a:extLst>
        </p:cNvPr>
        <p:cNvGrpSpPr/>
        <p:nvPr/>
      </p:nvGrpSpPr>
      <p:grpSpPr>
        <a:xfrm>
          <a:off x="0" y="0"/>
          <a:ext cx="0" cy="0"/>
          <a:chOff x="0" y="0"/>
          <a:chExt cx="0" cy="0"/>
        </a:xfrm>
      </p:grpSpPr>
      <p:cxnSp>
        <p:nvCxnSpPr>
          <p:cNvPr id="24" name="直接连接符 23">
            <a:extLst>
              <a:ext uri="{FF2B5EF4-FFF2-40B4-BE49-F238E27FC236}">
                <a16:creationId xmlns:a16="http://schemas.microsoft.com/office/drawing/2014/main" id="{9095A084-7C14-0946-B2CB-53757B322170}"/>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F1558A88-4F59-9EBC-1E69-D42D3A62247D}"/>
              </a:ext>
            </a:extLst>
          </p:cNvPr>
          <p:cNvSpPr/>
          <p:nvPr/>
        </p:nvSpPr>
        <p:spPr>
          <a:xfrm>
            <a:off x="1056189" y="1477320"/>
            <a:ext cx="3959738" cy="461665"/>
          </a:xfrm>
          <a:prstGeom prst="rect">
            <a:avLst/>
          </a:prstGeom>
        </p:spPr>
        <p:txBody>
          <a:bodyPr wrap="none">
            <a:spAutoFit/>
          </a:bodyPr>
          <a:lstStyle/>
          <a:p>
            <a:pPr>
              <a:defRPr/>
            </a:pPr>
            <a:r>
              <a:rPr lang="zh-CN" altLang="en-US" sz="2400" dirty="0">
                <a:latin typeface="微软雅黑" pitchFamily="34" charset="-122"/>
                <a:ea typeface="微软雅黑" pitchFamily="34" charset="-122"/>
                <a:cs typeface="经典粗黑简" pitchFamily="49" charset="-122"/>
              </a:rPr>
              <a:t>⑦读取顺序表第</a:t>
            </a:r>
            <a:r>
              <a:rPr lang="en-US" altLang="zh-CN" sz="2400" dirty="0" err="1">
                <a:latin typeface="微软雅黑" pitchFamily="34" charset="-122"/>
                <a:ea typeface="微软雅黑" pitchFamily="34" charset="-122"/>
                <a:cs typeface="经典粗黑简" pitchFamily="49" charset="-122"/>
              </a:rPr>
              <a:t>i</a:t>
            </a:r>
            <a:r>
              <a:rPr lang="zh-CN" altLang="en-US" sz="2400" dirty="0">
                <a:latin typeface="微软雅黑" pitchFamily="34" charset="-122"/>
                <a:ea typeface="微软雅黑" pitchFamily="34" charset="-122"/>
                <a:cs typeface="经典粗黑简" pitchFamily="49" charset="-122"/>
              </a:rPr>
              <a:t>个数据元素</a:t>
            </a:r>
            <a:endParaRPr lang="en-US" altLang="zh-CN" sz="2400" dirty="0">
              <a:latin typeface="微软雅黑" pitchFamily="34" charset="-122"/>
              <a:ea typeface="微软雅黑" pitchFamily="34" charset="-122"/>
              <a:cs typeface="经典粗黑简" pitchFamily="49" charset="-122"/>
            </a:endParaRPr>
          </a:p>
        </p:txBody>
      </p:sp>
      <p:sp>
        <p:nvSpPr>
          <p:cNvPr id="4" name="Rectangle 2">
            <a:extLst>
              <a:ext uri="{FF2B5EF4-FFF2-40B4-BE49-F238E27FC236}">
                <a16:creationId xmlns:a16="http://schemas.microsoft.com/office/drawing/2014/main" id="{43EAE142-D8DE-0A65-54C4-1E897548433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graphicFrame>
        <p:nvGraphicFramePr>
          <p:cNvPr id="5" name="表格 4">
            <a:extLst>
              <a:ext uri="{FF2B5EF4-FFF2-40B4-BE49-F238E27FC236}">
                <a16:creationId xmlns:a16="http://schemas.microsoft.com/office/drawing/2014/main" id="{4369EAE6-D835-F4A5-BD2F-1FD0924BCC8C}"/>
              </a:ext>
            </a:extLst>
          </p:cNvPr>
          <p:cNvGraphicFramePr>
            <a:graphicFrameLocks noGrp="1"/>
          </p:cNvGraphicFramePr>
          <p:nvPr/>
        </p:nvGraphicFramePr>
        <p:xfrm>
          <a:off x="7124836" y="1741342"/>
          <a:ext cx="1094967" cy="2267128"/>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0"/>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pattFill prst="wdUpDiag">
                      <a:fgClr>
                        <a:srgbClr val="FFC000"/>
                      </a:fgClr>
                      <a:bgClr>
                        <a:schemeClr val="bg1"/>
                      </a:bgClr>
                    </a:pattFill>
                  </a:tcPr>
                </a:tc>
                <a:extLst>
                  <a:ext uri="{0D108BD9-81ED-4DB2-BD59-A6C34878D82A}">
                    <a16:rowId xmlns:a16="http://schemas.microsoft.com/office/drawing/2014/main" val="10002"/>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pattFill prst="wdUpDiag">
                      <a:fgClr>
                        <a:srgbClr val="FFC000"/>
                      </a:fgClr>
                      <a:bgClr>
                        <a:schemeClr val="bg1"/>
                      </a:bgClr>
                    </a:pattFill>
                  </a:tcPr>
                </a:tc>
                <a:extLst>
                  <a:ext uri="{0D108BD9-81ED-4DB2-BD59-A6C34878D82A}">
                    <a16:rowId xmlns:a16="http://schemas.microsoft.com/office/drawing/2014/main" val="10004"/>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5"/>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pattFill prst="wdUpDiag">
                      <a:fgClr>
                        <a:srgbClr val="FFC000"/>
                      </a:fgClr>
                      <a:bgClr>
                        <a:schemeClr val="bg1"/>
                      </a:bgClr>
                    </a:pattFill>
                  </a:tcPr>
                </a:tc>
                <a:extLst>
                  <a:ext uri="{0D108BD9-81ED-4DB2-BD59-A6C34878D82A}">
                    <a16:rowId xmlns:a16="http://schemas.microsoft.com/office/drawing/2014/main" val="10006"/>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n</a:t>
                      </a: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solidFill>
                      <a:srgbClr val="92D050"/>
                    </a:solidFill>
                  </a:tcPr>
                </a:tc>
                <a:extLst>
                  <a:ext uri="{0D108BD9-81ED-4DB2-BD59-A6C34878D82A}">
                    <a16:rowId xmlns:a16="http://schemas.microsoft.com/office/drawing/2014/main" val="10007"/>
                  </a:ext>
                </a:extLst>
              </a:tr>
            </a:tbl>
          </a:graphicData>
        </a:graphic>
      </p:graphicFrame>
      <p:sp>
        <p:nvSpPr>
          <p:cNvPr id="6" name="矩形 5">
            <a:extLst>
              <a:ext uri="{FF2B5EF4-FFF2-40B4-BE49-F238E27FC236}">
                <a16:creationId xmlns:a16="http://schemas.microsoft.com/office/drawing/2014/main" id="{DAE94CD2-FA91-7FCB-680E-A16A38239E78}"/>
              </a:ext>
            </a:extLst>
          </p:cNvPr>
          <p:cNvSpPr/>
          <p:nvPr/>
        </p:nvSpPr>
        <p:spPr>
          <a:xfrm>
            <a:off x="6107943" y="1415305"/>
            <a:ext cx="338554" cy="369332"/>
          </a:xfrm>
          <a:prstGeom prst="rect">
            <a:avLst/>
          </a:prstGeom>
        </p:spPr>
        <p:txBody>
          <a:bodyPr wrap="none">
            <a:spAutoFit/>
          </a:bodyPr>
          <a:lstStyle/>
          <a:p>
            <a:r>
              <a:rPr lang="en-US" altLang="zh-CN" b="1" dirty="0">
                <a:latin typeface="Times New Roman" pitchFamily="18" charset="0"/>
                <a:ea typeface="宋体" pitchFamily="2" charset="-122"/>
              </a:rPr>
              <a:t>L</a:t>
            </a:r>
            <a:endParaRPr lang="zh-CN" altLang="en-US" b="1" dirty="0">
              <a:latin typeface="Times New Roman" pitchFamily="18" charset="0"/>
              <a:ea typeface="宋体" pitchFamily="2" charset="-122"/>
            </a:endParaRPr>
          </a:p>
        </p:txBody>
      </p:sp>
      <p:sp>
        <p:nvSpPr>
          <p:cNvPr id="7" name="矩形 6">
            <a:extLst>
              <a:ext uri="{FF2B5EF4-FFF2-40B4-BE49-F238E27FC236}">
                <a16:creationId xmlns:a16="http://schemas.microsoft.com/office/drawing/2014/main" id="{70B6663B-3721-F456-1CF7-708F90C1E261}"/>
              </a:ext>
            </a:extLst>
          </p:cNvPr>
          <p:cNvSpPr/>
          <p:nvPr/>
        </p:nvSpPr>
        <p:spPr>
          <a:xfrm>
            <a:off x="6084169" y="3748178"/>
            <a:ext cx="1109599" cy="369332"/>
          </a:xfrm>
          <a:prstGeom prst="rect">
            <a:avLst/>
          </a:prstGeom>
        </p:spPr>
        <p:txBody>
          <a:bodyPr wrap="none">
            <a:spAutoFit/>
          </a:bodyPr>
          <a:lstStyle/>
          <a:p>
            <a:r>
              <a:rPr lang="en-US" altLang="zh-CN" dirty="0">
                <a:latin typeface="Times New Roman" pitchFamily="18" charset="0"/>
                <a:ea typeface="宋体" pitchFamily="2" charset="-122"/>
              </a:rPr>
              <a:t>L-&gt;length</a:t>
            </a:r>
            <a:endParaRPr lang="zh-CN" altLang="en-US" dirty="0">
              <a:latin typeface="Times New Roman" pitchFamily="18" charset="0"/>
              <a:ea typeface="宋体" pitchFamily="2" charset="-122"/>
            </a:endParaRPr>
          </a:p>
        </p:txBody>
      </p:sp>
      <p:sp>
        <p:nvSpPr>
          <p:cNvPr id="8" name="矩形 7">
            <a:extLst>
              <a:ext uri="{FF2B5EF4-FFF2-40B4-BE49-F238E27FC236}">
                <a16:creationId xmlns:a16="http://schemas.microsoft.com/office/drawing/2014/main" id="{901DCA26-7963-BF4D-E9C8-A644EB4D5C58}"/>
              </a:ext>
            </a:extLst>
          </p:cNvPr>
          <p:cNvSpPr/>
          <p:nvPr/>
        </p:nvSpPr>
        <p:spPr>
          <a:xfrm>
            <a:off x="6169764" y="1687165"/>
            <a:ext cx="917239" cy="369332"/>
          </a:xfrm>
          <a:prstGeom prst="rect">
            <a:avLst/>
          </a:prstGeom>
        </p:spPr>
        <p:txBody>
          <a:bodyPr wrap="none">
            <a:spAutoFit/>
          </a:bodyPr>
          <a:lstStyle/>
          <a:p>
            <a:r>
              <a:rPr lang="en-US" altLang="zh-CN" dirty="0">
                <a:latin typeface="Times New Roman" pitchFamily="18" charset="0"/>
                <a:ea typeface="宋体" pitchFamily="2" charset="-122"/>
              </a:rPr>
              <a:t>L-&gt;data</a:t>
            </a:r>
            <a:endParaRPr lang="zh-CN" altLang="en-US" dirty="0">
              <a:latin typeface="Times New Roman" pitchFamily="18" charset="0"/>
              <a:ea typeface="宋体" pitchFamily="2" charset="-122"/>
            </a:endParaRPr>
          </a:p>
        </p:txBody>
      </p:sp>
      <p:sp>
        <p:nvSpPr>
          <p:cNvPr id="9" name="矩形 8">
            <a:extLst>
              <a:ext uri="{FF2B5EF4-FFF2-40B4-BE49-F238E27FC236}">
                <a16:creationId xmlns:a16="http://schemas.microsoft.com/office/drawing/2014/main" id="{E8014A74-FF01-6F62-C668-62880916F3C4}"/>
              </a:ext>
            </a:extLst>
          </p:cNvPr>
          <p:cNvSpPr/>
          <p:nvPr/>
        </p:nvSpPr>
        <p:spPr>
          <a:xfrm>
            <a:off x="7340260" y="3450247"/>
            <a:ext cx="646331" cy="369332"/>
          </a:xfrm>
          <a:prstGeom prst="rect">
            <a:avLst/>
          </a:prstGeom>
        </p:spPr>
        <p:txBody>
          <a:bodyPr wrap="none">
            <a:spAutoFit/>
          </a:bodyPr>
          <a:lstStyle/>
          <a:p>
            <a:r>
              <a:rPr lang="zh-CN" altLang="en-US" dirty="0"/>
              <a:t>空闲</a:t>
            </a:r>
          </a:p>
        </p:txBody>
      </p:sp>
      <p:sp>
        <p:nvSpPr>
          <p:cNvPr id="10" name="矩形 9">
            <a:extLst>
              <a:ext uri="{FF2B5EF4-FFF2-40B4-BE49-F238E27FC236}">
                <a16:creationId xmlns:a16="http://schemas.microsoft.com/office/drawing/2014/main" id="{3B35DD16-DCBD-2C69-F786-EF7AC0B05599}"/>
              </a:ext>
            </a:extLst>
          </p:cNvPr>
          <p:cNvSpPr/>
          <p:nvPr/>
        </p:nvSpPr>
        <p:spPr>
          <a:xfrm>
            <a:off x="7340260" y="3175060"/>
            <a:ext cx="646331" cy="369332"/>
          </a:xfrm>
          <a:prstGeom prst="rect">
            <a:avLst/>
          </a:prstGeom>
        </p:spPr>
        <p:txBody>
          <a:bodyPr wrap="none">
            <a:spAutoFit/>
          </a:bodyPr>
          <a:lstStyle/>
          <a:p>
            <a:r>
              <a:rPr lang="zh-CN" altLang="en-US" dirty="0"/>
              <a:t>空闲</a:t>
            </a:r>
          </a:p>
        </p:txBody>
      </p:sp>
      <p:sp>
        <p:nvSpPr>
          <p:cNvPr id="11" name="矩形 10">
            <a:extLst>
              <a:ext uri="{FF2B5EF4-FFF2-40B4-BE49-F238E27FC236}">
                <a16:creationId xmlns:a16="http://schemas.microsoft.com/office/drawing/2014/main" id="{C17083C1-2400-456A-F777-2B3CC8895E1F}"/>
              </a:ext>
            </a:extLst>
          </p:cNvPr>
          <p:cNvSpPr/>
          <p:nvPr/>
        </p:nvSpPr>
        <p:spPr>
          <a:xfrm>
            <a:off x="7340260" y="2898061"/>
            <a:ext cx="646331" cy="369332"/>
          </a:xfrm>
          <a:prstGeom prst="rect">
            <a:avLst/>
          </a:prstGeom>
        </p:spPr>
        <p:txBody>
          <a:bodyPr wrap="none">
            <a:spAutoFit/>
          </a:bodyPr>
          <a:lstStyle/>
          <a:p>
            <a:r>
              <a:rPr lang="zh-CN" altLang="en-US" dirty="0"/>
              <a:t>空闲</a:t>
            </a:r>
          </a:p>
        </p:txBody>
      </p:sp>
      <p:sp>
        <p:nvSpPr>
          <p:cNvPr id="12" name="矩形 11">
            <a:extLst>
              <a:ext uri="{FF2B5EF4-FFF2-40B4-BE49-F238E27FC236}">
                <a16:creationId xmlns:a16="http://schemas.microsoft.com/office/drawing/2014/main" id="{33319E1D-4CE8-9BEE-7F88-F36EE293AC5D}"/>
              </a:ext>
            </a:extLst>
          </p:cNvPr>
          <p:cNvSpPr/>
          <p:nvPr/>
        </p:nvSpPr>
        <p:spPr>
          <a:xfrm>
            <a:off x="7340260" y="2641490"/>
            <a:ext cx="646331" cy="369332"/>
          </a:xfrm>
          <a:prstGeom prst="rect">
            <a:avLst/>
          </a:prstGeom>
        </p:spPr>
        <p:txBody>
          <a:bodyPr wrap="none">
            <a:spAutoFit/>
          </a:bodyPr>
          <a:lstStyle/>
          <a:p>
            <a:r>
              <a:rPr lang="zh-CN" altLang="en-US" dirty="0"/>
              <a:t>空闲</a:t>
            </a:r>
          </a:p>
        </p:txBody>
      </p:sp>
      <p:sp>
        <p:nvSpPr>
          <p:cNvPr id="13" name="矩形 12">
            <a:extLst>
              <a:ext uri="{FF2B5EF4-FFF2-40B4-BE49-F238E27FC236}">
                <a16:creationId xmlns:a16="http://schemas.microsoft.com/office/drawing/2014/main" id="{60CE005A-D6C7-8A3C-A3D4-1B8371FB07A7}"/>
              </a:ext>
            </a:extLst>
          </p:cNvPr>
          <p:cNvSpPr/>
          <p:nvPr/>
        </p:nvSpPr>
        <p:spPr>
          <a:xfrm>
            <a:off x="7340260" y="2339631"/>
            <a:ext cx="646331" cy="369332"/>
          </a:xfrm>
          <a:prstGeom prst="rect">
            <a:avLst/>
          </a:prstGeom>
        </p:spPr>
        <p:txBody>
          <a:bodyPr wrap="none">
            <a:spAutoFit/>
          </a:bodyPr>
          <a:lstStyle/>
          <a:p>
            <a:r>
              <a:rPr lang="zh-CN" altLang="en-US" dirty="0"/>
              <a:t>空闲</a:t>
            </a:r>
          </a:p>
        </p:txBody>
      </p:sp>
      <p:sp>
        <p:nvSpPr>
          <p:cNvPr id="14" name="矩形 13">
            <a:extLst>
              <a:ext uri="{FF2B5EF4-FFF2-40B4-BE49-F238E27FC236}">
                <a16:creationId xmlns:a16="http://schemas.microsoft.com/office/drawing/2014/main" id="{B87291F8-D588-D159-224F-5396C8D1AC75}"/>
              </a:ext>
            </a:extLst>
          </p:cNvPr>
          <p:cNvSpPr/>
          <p:nvPr/>
        </p:nvSpPr>
        <p:spPr>
          <a:xfrm>
            <a:off x="7340260" y="2015595"/>
            <a:ext cx="646331" cy="369332"/>
          </a:xfrm>
          <a:prstGeom prst="rect">
            <a:avLst/>
          </a:prstGeom>
        </p:spPr>
        <p:txBody>
          <a:bodyPr wrap="none">
            <a:spAutoFit/>
          </a:bodyPr>
          <a:lstStyle/>
          <a:p>
            <a:r>
              <a:rPr lang="zh-CN" altLang="en-US" dirty="0"/>
              <a:t>空闲</a:t>
            </a:r>
          </a:p>
        </p:txBody>
      </p:sp>
      <p:sp>
        <p:nvSpPr>
          <p:cNvPr id="15" name="矩形 14">
            <a:extLst>
              <a:ext uri="{FF2B5EF4-FFF2-40B4-BE49-F238E27FC236}">
                <a16:creationId xmlns:a16="http://schemas.microsoft.com/office/drawing/2014/main" id="{CEA11EA1-FEAC-ADC4-70D8-DE2B40219B8D}"/>
              </a:ext>
            </a:extLst>
          </p:cNvPr>
          <p:cNvSpPr/>
          <p:nvPr/>
        </p:nvSpPr>
        <p:spPr>
          <a:xfrm>
            <a:off x="7340260" y="1775641"/>
            <a:ext cx="646331" cy="369332"/>
          </a:xfrm>
          <a:prstGeom prst="rect">
            <a:avLst/>
          </a:prstGeom>
        </p:spPr>
        <p:txBody>
          <a:bodyPr wrap="none">
            <a:spAutoFit/>
          </a:bodyPr>
          <a:lstStyle/>
          <a:p>
            <a:r>
              <a:rPr lang="zh-CN" altLang="en-US" dirty="0"/>
              <a:t>空闲</a:t>
            </a:r>
          </a:p>
        </p:txBody>
      </p:sp>
      <p:graphicFrame>
        <p:nvGraphicFramePr>
          <p:cNvPr id="16" name="表格 15">
            <a:extLst>
              <a:ext uri="{FF2B5EF4-FFF2-40B4-BE49-F238E27FC236}">
                <a16:creationId xmlns:a16="http://schemas.microsoft.com/office/drawing/2014/main" id="{47524078-3F59-BC4A-74F6-1324472B2F19}"/>
              </a:ext>
            </a:extLst>
          </p:cNvPr>
          <p:cNvGraphicFramePr>
            <a:graphicFrameLocks noGrp="1"/>
          </p:cNvGraphicFramePr>
          <p:nvPr/>
        </p:nvGraphicFramePr>
        <p:xfrm>
          <a:off x="7125791" y="1751711"/>
          <a:ext cx="1094967" cy="1700346"/>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err="1"/>
                        <a:t>a</a:t>
                      </a:r>
                      <a:r>
                        <a:rPr lang="en-US" altLang="zh-CN" sz="1400" baseline="-25000" dirty="0" err="1"/>
                        <a:t>i</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5"/>
                  </a:ext>
                </a:extLst>
              </a:tr>
            </a:tbl>
          </a:graphicData>
        </a:graphic>
      </p:graphicFrame>
      <p:cxnSp>
        <p:nvCxnSpPr>
          <p:cNvPr id="17" name="直接箭头连接符 16">
            <a:extLst>
              <a:ext uri="{FF2B5EF4-FFF2-40B4-BE49-F238E27FC236}">
                <a16:creationId xmlns:a16="http://schemas.microsoft.com/office/drawing/2014/main" id="{607A2E12-53F8-428D-728E-96CB06B905D3}"/>
              </a:ext>
            </a:extLst>
          </p:cNvPr>
          <p:cNvCxnSpPr>
            <a:cxnSpLocks/>
          </p:cNvCxnSpPr>
          <p:nvPr/>
        </p:nvCxnSpPr>
        <p:spPr>
          <a:xfrm>
            <a:off x="6394461" y="1667413"/>
            <a:ext cx="695627" cy="12323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468700E2-3914-B8BD-6D31-A8F6075A4DFB}"/>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
        <p:nvSpPr>
          <p:cNvPr id="3" name="Text Box 2">
            <a:extLst>
              <a:ext uri="{FF2B5EF4-FFF2-40B4-BE49-F238E27FC236}">
                <a16:creationId xmlns:a16="http://schemas.microsoft.com/office/drawing/2014/main" id="{746794F9-EE5D-B0E4-5F14-D59E76F572D0}"/>
              </a:ext>
            </a:extLst>
          </p:cNvPr>
          <p:cNvSpPr txBox="1">
            <a:spLocks noChangeArrowheads="1"/>
          </p:cNvSpPr>
          <p:nvPr/>
        </p:nvSpPr>
        <p:spPr bwMode="auto">
          <a:xfrm>
            <a:off x="327655" y="2388737"/>
            <a:ext cx="5805480" cy="2434101"/>
          </a:xfrm>
          <a:prstGeom prst="rect">
            <a:avLst/>
          </a:prstGeom>
          <a:solidFill>
            <a:schemeClr val="bg1">
              <a:lumMod val="95000"/>
            </a:schemeClr>
          </a:solidFill>
          <a:ln>
            <a:headEnd/>
            <a:tailEnd/>
          </a:ln>
          <a:scene3d>
            <a:camera prst="perspectiveFront"/>
            <a:lightRig rig="threePt" dir="t"/>
          </a:scene3d>
        </p:spPr>
        <p:style>
          <a:lnRef idx="1">
            <a:schemeClr val="accent3"/>
          </a:lnRef>
          <a:fillRef idx="2">
            <a:schemeClr val="accent3"/>
          </a:fillRef>
          <a:effectRef idx="1">
            <a:schemeClr val="accent3"/>
          </a:effectRef>
          <a:fontRef idx="minor">
            <a:schemeClr val="dk1"/>
          </a:fontRef>
        </p:style>
        <p:txBody>
          <a:bodyPr wrap="square" lIns="144000" tIns="108000" rIns="144000" bIns="108000">
            <a:spAutoFit/>
          </a:bodyPr>
          <a:lstStyle/>
          <a:p>
            <a:pPr algn="just">
              <a:spcBef>
                <a:spcPct val="50000"/>
              </a:spcBef>
            </a:pPr>
            <a:r>
              <a:rPr kumimoji="1" lang="en-US" altLang="zh-CN" sz="1800" dirty="0" err="1">
                <a:solidFill>
                  <a:srgbClr val="0000FF"/>
                </a:solidFill>
                <a:latin typeface="Consolas" pitchFamily="49" charset="0"/>
                <a:ea typeface="宋体" pitchFamily="2" charset="-122"/>
                <a:cs typeface="Consolas" pitchFamily="49" charset="0"/>
              </a:rPr>
              <a:t>bool</a:t>
            </a:r>
            <a:r>
              <a:rPr kumimoji="1" lang="en-US" altLang="zh-CN" sz="1800" dirty="0">
                <a:solidFill>
                  <a:srgbClr val="0000FF"/>
                </a:solidFill>
                <a:latin typeface="Consolas" pitchFamily="49" charset="0"/>
                <a:ea typeface="宋体" pitchFamily="2" charset="-122"/>
                <a:cs typeface="Consolas" pitchFamily="49" charset="0"/>
              </a:rPr>
              <a:t> </a:t>
            </a:r>
            <a:r>
              <a:rPr kumimoji="1" lang="en-US" altLang="zh-CN" sz="1800" dirty="0" err="1">
                <a:solidFill>
                  <a:srgbClr val="FF0000"/>
                </a:solidFill>
                <a:effectLst>
                  <a:outerShdw blurRad="38100" dist="38100" dir="2700000" algn="tl">
                    <a:srgbClr val="000000">
                      <a:alpha val="43137"/>
                    </a:srgbClr>
                  </a:outerShdw>
                </a:effectLst>
                <a:latin typeface="Consolas" pitchFamily="49" charset="0"/>
                <a:ea typeface="宋体" pitchFamily="2" charset="-122"/>
                <a:cs typeface="Consolas" pitchFamily="49" charset="0"/>
              </a:rPr>
              <a:t>GetElem</a:t>
            </a:r>
            <a:r>
              <a:rPr kumimoji="1" lang="en-US" altLang="zh-CN" sz="1800" dirty="0">
                <a:solidFill>
                  <a:srgbClr val="0000FF"/>
                </a:solidFill>
                <a:latin typeface="Consolas" pitchFamily="49" charset="0"/>
                <a:ea typeface="宋体" pitchFamily="2" charset="-122"/>
                <a:cs typeface="Consolas" pitchFamily="49" charset="0"/>
              </a:rPr>
              <a:t>(</a:t>
            </a:r>
            <a:r>
              <a:rPr kumimoji="1" lang="en-US" altLang="zh-CN" sz="1800" dirty="0" err="1">
                <a:solidFill>
                  <a:srgbClr val="0000FF"/>
                </a:solidFill>
                <a:latin typeface="Consolas" pitchFamily="49" charset="0"/>
                <a:ea typeface="宋体" pitchFamily="2" charset="-122"/>
                <a:cs typeface="Consolas" pitchFamily="49" charset="0"/>
              </a:rPr>
              <a:t>SqList</a:t>
            </a:r>
            <a:r>
              <a:rPr kumimoji="1" lang="en-US" altLang="zh-CN" sz="1800" dirty="0">
                <a:solidFill>
                  <a:srgbClr val="0000FF"/>
                </a:solidFill>
                <a:latin typeface="Consolas" pitchFamily="49" charset="0"/>
                <a:ea typeface="宋体" pitchFamily="2" charset="-122"/>
                <a:cs typeface="Consolas" pitchFamily="49" charset="0"/>
              </a:rPr>
              <a:t> *L</a:t>
            </a:r>
            <a:r>
              <a:rPr kumimoji="1" lang="zh-CN" altLang="en-US" sz="1800" dirty="0">
                <a:solidFill>
                  <a:srgbClr val="0000FF"/>
                </a:solidFill>
                <a:latin typeface="Consolas" pitchFamily="49" charset="0"/>
                <a:ea typeface="宋体" pitchFamily="2" charset="-122"/>
                <a:cs typeface="Consolas" pitchFamily="49" charset="0"/>
              </a:rPr>
              <a:t>，</a:t>
            </a:r>
            <a:r>
              <a:rPr kumimoji="1" lang="en-US" altLang="zh-CN" sz="1800" dirty="0">
                <a:solidFill>
                  <a:srgbClr val="0000FF"/>
                </a:solidFill>
                <a:latin typeface="Consolas" pitchFamily="49" charset="0"/>
                <a:ea typeface="宋体" pitchFamily="2" charset="-122"/>
                <a:cs typeface="Consolas" pitchFamily="49" charset="0"/>
              </a:rPr>
              <a:t>int </a:t>
            </a:r>
            <a:r>
              <a:rPr kumimoji="1" lang="en-US" altLang="zh-CN" sz="1800" dirty="0" err="1">
                <a:solidFill>
                  <a:srgbClr val="0000FF"/>
                </a:solidFill>
                <a:latin typeface="Consolas" pitchFamily="49" charset="0"/>
                <a:ea typeface="宋体" pitchFamily="2" charset="-122"/>
                <a:cs typeface="Consolas" pitchFamily="49" charset="0"/>
              </a:rPr>
              <a:t>i</a:t>
            </a:r>
            <a:r>
              <a:rPr kumimoji="1" lang="zh-CN" altLang="en-US" sz="1800" dirty="0">
                <a:solidFill>
                  <a:srgbClr val="0000FF"/>
                </a:solidFill>
                <a:latin typeface="Consolas" pitchFamily="49" charset="0"/>
                <a:ea typeface="宋体" pitchFamily="2" charset="-122"/>
                <a:cs typeface="Consolas" pitchFamily="49" charset="0"/>
              </a:rPr>
              <a:t>，</a:t>
            </a:r>
            <a:r>
              <a:rPr kumimoji="1" lang="en-US" altLang="zh-CN" sz="1800" dirty="0" err="1">
                <a:solidFill>
                  <a:srgbClr val="0000FF"/>
                </a:solidFill>
                <a:latin typeface="Consolas" pitchFamily="49" charset="0"/>
                <a:ea typeface="宋体" pitchFamily="2" charset="-122"/>
                <a:cs typeface="Consolas" pitchFamily="49" charset="0"/>
              </a:rPr>
              <a:t>ElemType</a:t>
            </a:r>
            <a:r>
              <a:rPr kumimoji="1" lang="en-US" altLang="zh-CN" sz="1800" dirty="0">
                <a:solidFill>
                  <a:srgbClr val="0000FF"/>
                </a:solidFill>
                <a:latin typeface="Consolas" pitchFamily="49" charset="0"/>
                <a:ea typeface="宋体" pitchFamily="2" charset="-122"/>
                <a:cs typeface="Consolas" pitchFamily="49" charset="0"/>
              </a:rPr>
              <a:t> &amp;e)</a:t>
            </a:r>
          </a:p>
          <a:p>
            <a:pPr algn="just">
              <a:lnSpc>
                <a:spcPct val="90000"/>
              </a:lnSpc>
              <a:spcBef>
                <a:spcPct val="50000"/>
              </a:spcBef>
            </a:pPr>
            <a:r>
              <a:rPr kumimoji="1" lang="en-US" altLang="zh-CN" sz="1800" dirty="0">
                <a:solidFill>
                  <a:srgbClr val="0000FF"/>
                </a:solidFill>
                <a:latin typeface="Consolas" pitchFamily="49" charset="0"/>
                <a:ea typeface="宋体" pitchFamily="2" charset="-122"/>
                <a:cs typeface="Consolas" pitchFamily="49" charset="0"/>
              </a:rPr>
              <a:t>{     </a:t>
            </a:r>
          </a:p>
          <a:p>
            <a:pPr algn="just">
              <a:lnSpc>
                <a:spcPct val="90000"/>
              </a:lnSpc>
              <a:spcBef>
                <a:spcPct val="50000"/>
              </a:spcBef>
            </a:pPr>
            <a:r>
              <a:rPr kumimoji="1" lang="en-US" altLang="zh-CN" sz="1800" dirty="0">
                <a:solidFill>
                  <a:srgbClr val="0000FF"/>
                </a:solidFill>
                <a:latin typeface="Consolas" pitchFamily="49" charset="0"/>
                <a:ea typeface="宋体" pitchFamily="2" charset="-122"/>
                <a:cs typeface="Consolas" pitchFamily="49" charset="0"/>
              </a:rPr>
              <a:t>   if (</a:t>
            </a:r>
            <a:r>
              <a:rPr kumimoji="1" lang="en-US" altLang="zh-CN" sz="1800" dirty="0" err="1">
                <a:solidFill>
                  <a:srgbClr val="0000FF"/>
                </a:solidFill>
                <a:latin typeface="Consolas" pitchFamily="49" charset="0"/>
                <a:ea typeface="宋体" pitchFamily="2" charset="-122"/>
                <a:cs typeface="Consolas" pitchFamily="49" charset="0"/>
              </a:rPr>
              <a:t>i</a:t>
            </a:r>
            <a:r>
              <a:rPr kumimoji="1" lang="en-US" altLang="zh-CN" sz="1800" dirty="0">
                <a:solidFill>
                  <a:srgbClr val="0000FF"/>
                </a:solidFill>
                <a:latin typeface="Consolas" pitchFamily="49" charset="0"/>
                <a:ea typeface="宋体" pitchFamily="2" charset="-122"/>
                <a:cs typeface="Consolas" pitchFamily="49" charset="0"/>
              </a:rPr>
              <a:t>&lt;1 || </a:t>
            </a:r>
            <a:r>
              <a:rPr kumimoji="1" lang="en-US" altLang="zh-CN" sz="1800" dirty="0" err="1">
                <a:solidFill>
                  <a:srgbClr val="0000FF"/>
                </a:solidFill>
                <a:latin typeface="Consolas" pitchFamily="49" charset="0"/>
                <a:ea typeface="宋体" pitchFamily="2" charset="-122"/>
                <a:cs typeface="Consolas" pitchFamily="49" charset="0"/>
              </a:rPr>
              <a:t>i</a:t>
            </a:r>
            <a:r>
              <a:rPr kumimoji="1" lang="en-US" altLang="zh-CN" sz="1800" dirty="0">
                <a:solidFill>
                  <a:srgbClr val="0000FF"/>
                </a:solidFill>
                <a:latin typeface="Consolas" pitchFamily="49" charset="0"/>
                <a:ea typeface="宋体" pitchFamily="2" charset="-122"/>
                <a:cs typeface="Consolas" pitchFamily="49" charset="0"/>
              </a:rPr>
              <a:t>&gt;L-&gt;length)  return false;</a:t>
            </a:r>
          </a:p>
          <a:p>
            <a:pPr algn="just">
              <a:lnSpc>
                <a:spcPct val="90000"/>
              </a:lnSpc>
              <a:spcBef>
                <a:spcPct val="50000"/>
              </a:spcBef>
            </a:pPr>
            <a:r>
              <a:rPr kumimoji="1" lang="en-US" altLang="zh-CN" sz="1800" dirty="0">
                <a:solidFill>
                  <a:srgbClr val="0000FF"/>
                </a:solidFill>
                <a:latin typeface="Consolas" pitchFamily="49" charset="0"/>
                <a:ea typeface="宋体" pitchFamily="2" charset="-122"/>
                <a:cs typeface="Consolas" pitchFamily="49" charset="0"/>
              </a:rPr>
              <a:t>   e=L-&gt;data[i-1];</a:t>
            </a:r>
          </a:p>
          <a:p>
            <a:pPr algn="just">
              <a:lnSpc>
                <a:spcPct val="90000"/>
              </a:lnSpc>
              <a:spcBef>
                <a:spcPct val="50000"/>
              </a:spcBef>
            </a:pPr>
            <a:r>
              <a:rPr kumimoji="1" lang="en-US" altLang="zh-CN" sz="1800" dirty="0">
                <a:solidFill>
                  <a:srgbClr val="0000FF"/>
                </a:solidFill>
                <a:latin typeface="Consolas" pitchFamily="49" charset="0"/>
                <a:ea typeface="宋体" pitchFamily="2" charset="-122"/>
                <a:cs typeface="Consolas" pitchFamily="49" charset="0"/>
              </a:rPr>
              <a:t>   return true;</a:t>
            </a:r>
          </a:p>
          <a:p>
            <a:pPr algn="just">
              <a:lnSpc>
                <a:spcPct val="90000"/>
              </a:lnSpc>
              <a:spcBef>
                <a:spcPct val="50000"/>
              </a:spcBef>
            </a:pPr>
            <a:r>
              <a:rPr kumimoji="1" lang="en-US" altLang="zh-CN" sz="1800" dirty="0">
                <a:solidFill>
                  <a:srgbClr val="0000FF"/>
                </a:solidFill>
                <a:latin typeface="Consolas" pitchFamily="49" charset="0"/>
                <a:ea typeface="宋体" pitchFamily="2" charset="-122"/>
                <a:cs typeface="Consolas" pitchFamily="49" charset="0"/>
              </a:rPr>
              <a:t>}</a:t>
            </a:r>
            <a:r>
              <a:rPr kumimoji="1" lang="en-US" altLang="zh-CN" sz="1800" dirty="0">
                <a:solidFill>
                  <a:srgbClr val="0000FF"/>
                </a:solidFill>
                <a:latin typeface="Consolas" pitchFamily="49" charset="0"/>
                <a:cs typeface="Consolas" pitchFamily="49" charset="0"/>
              </a:rPr>
              <a:t>  </a:t>
            </a:r>
          </a:p>
        </p:txBody>
      </p:sp>
      <p:sp>
        <p:nvSpPr>
          <p:cNvPr id="22" name="文本框 21">
            <a:extLst>
              <a:ext uri="{FF2B5EF4-FFF2-40B4-BE49-F238E27FC236}">
                <a16:creationId xmlns:a16="http://schemas.microsoft.com/office/drawing/2014/main" id="{0AD9CCE6-F631-47E1-55E5-0312064FEC2E}"/>
              </a:ext>
            </a:extLst>
          </p:cNvPr>
          <p:cNvSpPr txBox="1"/>
          <p:nvPr/>
        </p:nvSpPr>
        <p:spPr>
          <a:xfrm>
            <a:off x="244647" y="1958737"/>
            <a:ext cx="5971496" cy="338554"/>
          </a:xfrm>
          <a:prstGeom prst="rect">
            <a:avLst/>
          </a:prstGeom>
          <a:noFill/>
        </p:spPr>
        <p:txBody>
          <a:bodyPr wrap="square">
            <a:spAutoFit/>
          </a:bodyPr>
          <a:lstStyle/>
          <a:p>
            <a:r>
              <a:rPr kumimoji="1" lang="zh-CN" altLang="en-US" sz="1600" dirty="0">
                <a:latin typeface="Consolas" pitchFamily="49" charset="0"/>
                <a:ea typeface="楷体" pitchFamily="49" charset="-122"/>
                <a:cs typeface="Consolas" pitchFamily="49" charset="0"/>
              </a:rPr>
              <a:t>返回</a:t>
            </a:r>
            <a:r>
              <a:rPr kumimoji="1" lang="en-US" altLang="zh-CN" sz="1600" dirty="0">
                <a:latin typeface="Consolas" pitchFamily="49" charset="0"/>
                <a:ea typeface="楷体" pitchFamily="49" charset="-122"/>
                <a:cs typeface="Consolas" pitchFamily="49" charset="0"/>
              </a:rPr>
              <a:t>L</a:t>
            </a:r>
            <a:r>
              <a:rPr kumimoji="1" lang="zh-CN" altLang="en-US" sz="1600" dirty="0">
                <a:latin typeface="Consolas" pitchFamily="49" charset="0"/>
                <a:ea typeface="楷体" pitchFamily="49" charset="-122"/>
                <a:cs typeface="Consolas" pitchFamily="49" charset="0"/>
              </a:rPr>
              <a:t>中第 </a:t>
            </a:r>
            <a:r>
              <a:rPr kumimoji="1" lang="en-US" altLang="zh-CN" sz="1600" i="1" dirty="0" err="1">
                <a:latin typeface="Consolas" pitchFamily="49" charset="0"/>
                <a:ea typeface="楷体" pitchFamily="49" charset="-122"/>
                <a:cs typeface="Consolas" pitchFamily="49" charset="0"/>
              </a:rPr>
              <a:t>i</a:t>
            </a:r>
            <a:r>
              <a:rPr kumimoji="1" lang="zh-CN" altLang="en-US" sz="1600" dirty="0">
                <a:latin typeface="Consolas" pitchFamily="49" charset="0"/>
                <a:ea typeface="楷体" pitchFamily="49" charset="-122"/>
                <a:cs typeface="Consolas" pitchFamily="49" charset="0"/>
              </a:rPr>
              <a:t>（</a:t>
            </a:r>
            <a:r>
              <a:rPr kumimoji="1" lang="en-US" altLang="zh-CN" sz="1600" dirty="0">
                <a:latin typeface="Consolas" pitchFamily="49" charset="0"/>
                <a:ea typeface="楷体" pitchFamily="49" charset="-122"/>
                <a:cs typeface="Consolas" pitchFamily="49" charset="0"/>
              </a:rPr>
              <a:t>1</a:t>
            </a:r>
            <a:r>
              <a:rPr kumimoji="1" lang="en-US" altLang="zh-CN" sz="1600" dirty="0">
                <a:latin typeface="+mn-ea"/>
                <a:ea typeface="+mn-ea"/>
                <a:cs typeface="Consolas" pitchFamily="49" charset="0"/>
              </a:rPr>
              <a:t>≤</a:t>
            </a:r>
            <a:r>
              <a:rPr kumimoji="1" lang="en-US" altLang="zh-CN" sz="1600" i="1" dirty="0">
                <a:latin typeface="Consolas" pitchFamily="49" charset="0"/>
                <a:ea typeface="楷体" pitchFamily="49" charset="-122"/>
                <a:cs typeface="Consolas" pitchFamily="49" charset="0"/>
              </a:rPr>
              <a:t>i</a:t>
            </a:r>
            <a:r>
              <a:rPr kumimoji="1" lang="en-US" altLang="zh-CN" sz="1600" dirty="0">
                <a:latin typeface="+mj-ea"/>
                <a:ea typeface="+mj-ea"/>
                <a:cs typeface="Consolas" pitchFamily="49" charset="0"/>
              </a:rPr>
              <a:t>≤</a:t>
            </a:r>
            <a:r>
              <a:rPr kumimoji="1" lang="en-US" altLang="zh-CN" sz="1600" dirty="0">
                <a:latin typeface="Consolas" pitchFamily="49" charset="0"/>
                <a:ea typeface="楷体" pitchFamily="49" charset="-122"/>
                <a:cs typeface="Consolas" pitchFamily="49" charset="0"/>
              </a:rPr>
              <a:t>ListLength(L)</a:t>
            </a:r>
            <a:r>
              <a:rPr kumimoji="1" lang="zh-CN" altLang="en-US" sz="1600" dirty="0">
                <a:latin typeface="Consolas" pitchFamily="49" charset="0"/>
                <a:ea typeface="楷体" pitchFamily="49" charset="-122"/>
                <a:cs typeface="Consolas" pitchFamily="49" charset="0"/>
              </a:rPr>
              <a:t>）个元素的值，存放在</a:t>
            </a:r>
            <a:r>
              <a:rPr kumimoji="1" lang="en-US" altLang="zh-CN" sz="1600" i="1" dirty="0">
                <a:latin typeface="Consolas" pitchFamily="49" charset="0"/>
                <a:ea typeface="楷体" pitchFamily="49" charset="-122"/>
                <a:cs typeface="Consolas" pitchFamily="49" charset="0"/>
              </a:rPr>
              <a:t>e</a:t>
            </a:r>
            <a:r>
              <a:rPr kumimoji="1" lang="zh-CN" altLang="en-US" sz="1600" dirty="0">
                <a:latin typeface="Consolas" pitchFamily="49" charset="0"/>
                <a:ea typeface="楷体" pitchFamily="49" charset="-122"/>
                <a:cs typeface="Consolas" pitchFamily="49" charset="0"/>
              </a:rPr>
              <a:t>中。</a:t>
            </a:r>
            <a:endParaRPr lang="zh-CN" altLang="en-US" sz="1600" dirty="0"/>
          </a:p>
        </p:txBody>
      </p:sp>
    </p:spTree>
    <p:extLst>
      <p:ext uri="{BB962C8B-B14F-4D97-AF65-F5344CB8AC3E}">
        <p14:creationId xmlns:p14="http://schemas.microsoft.com/office/powerpoint/2010/main" val="2386810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102954" y="1510433"/>
            <a:ext cx="1723549" cy="461665"/>
          </a:xfrm>
          <a:prstGeom prst="rect">
            <a:avLst/>
          </a:prstGeom>
        </p:spPr>
        <p:txBody>
          <a:bodyPr wrap="none">
            <a:spAutoFit/>
          </a:bodyPr>
          <a:lstStyle/>
          <a:p>
            <a:pPr>
              <a:defRPr/>
            </a:pPr>
            <a:r>
              <a:rPr lang="zh-CN" altLang="en-US" sz="2400" dirty="0">
                <a:latin typeface="微软雅黑" pitchFamily="34" charset="-122"/>
                <a:ea typeface="微软雅黑" pitchFamily="34" charset="-122"/>
                <a:cs typeface="经典粗黑简" pitchFamily="49" charset="-122"/>
              </a:rPr>
              <a:t>⑧按值查找</a:t>
            </a:r>
            <a:endParaRPr lang="en-US" altLang="zh-CN" sz="2400" dirty="0">
              <a:latin typeface="微软雅黑" pitchFamily="34" charset="-122"/>
              <a:ea typeface="微软雅黑" pitchFamily="34" charset="-122"/>
              <a:cs typeface="经典粗黑简" pitchFamily="49" charset="-122"/>
            </a:endParaRPr>
          </a:p>
        </p:txBody>
      </p:sp>
      <p:sp>
        <p:nvSpPr>
          <p:cNvPr id="4" name="Rectangle 2">
            <a:extLst>
              <a:ext uri="{FF2B5EF4-FFF2-40B4-BE49-F238E27FC236}">
                <a16:creationId xmlns:a16="http://schemas.microsoft.com/office/drawing/2014/main" id="{CE6B4619-D545-0DBA-5E3E-DFFBA323EF7D}"/>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5" name="矩形 4">
            <a:extLst>
              <a:ext uri="{FF2B5EF4-FFF2-40B4-BE49-F238E27FC236}">
                <a16:creationId xmlns:a16="http://schemas.microsoft.com/office/drawing/2014/main" id="{470D84BF-36BB-CB13-CB50-50FB2F6CF273}"/>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graphicFrame>
        <p:nvGraphicFramePr>
          <p:cNvPr id="6" name="表格 5">
            <a:extLst>
              <a:ext uri="{FF2B5EF4-FFF2-40B4-BE49-F238E27FC236}">
                <a16:creationId xmlns:a16="http://schemas.microsoft.com/office/drawing/2014/main" id="{C3B39288-468F-1A8C-91FD-62A6C8CD5127}"/>
              </a:ext>
            </a:extLst>
          </p:cNvPr>
          <p:cNvGraphicFramePr>
            <a:graphicFrameLocks noGrp="1"/>
          </p:cNvGraphicFramePr>
          <p:nvPr/>
        </p:nvGraphicFramePr>
        <p:xfrm>
          <a:off x="7124836" y="1741342"/>
          <a:ext cx="1094967" cy="2267128"/>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0"/>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pattFill prst="wdUpDiag">
                      <a:fgClr>
                        <a:srgbClr val="FFC000"/>
                      </a:fgClr>
                      <a:bgClr>
                        <a:schemeClr val="bg1"/>
                      </a:bgClr>
                    </a:pattFill>
                  </a:tcPr>
                </a:tc>
                <a:extLst>
                  <a:ext uri="{0D108BD9-81ED-4DB2-BD59-A6C34878D82A}">
                    <a16:rowId xmlns:a16="http://schemas.microsoft.com/office/drawing/2014/main" val="10002"/>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pattFill prst="wdUpDiag">
                      <a:fgClr>
                        <a:srgbClr val="FFC000"/>
                      </a:fgClr>
                      <a:bgClr>
                        <a:schemeClr val="bg1"/>
                      </a:bgClr>
                    </a:pattFill>
                  </a:tcPr>
                </a:tc>
                <a:extLst>
                  <a:ext uri="{0D108BD9-81ED-4DB2-BD59-A6C34878D82A}">
                    <a16:rowId xmlns:a16="http://schemas.microsoft.com/office/drawing/2014/main" val="10004"/>
                  </a:ext>
                </a:extLst>
              </a:tr>
              <a:tr h="283391">
                <a:tc>
                  <a:txBody>
                    <a:bodyPr/>
                    <a:lstStyle/>
                    <a:p>
                      <a:pPr algn="ctr"/>
                      <a:endParaRPr lang="zh-CN" altLang="en-US" sz="1400" baseline="-25000" dirty="0"/>
                    </a:p>
                  </a:txBody>
                  <a:tcPr marT="34290" marB="34290">
                    <a:pattFill prst="wdUpDiag">
                      <a:fgClr>
                        <a:srgbClr val="FFC000"/>
                      </a:fgClr>
                      <a:bgClr>
                        <a:schemeClr val="bg1"/>
                      </a:bgClr>
                    </a:pattFill>
                  </a:tcPr>
                </a:tc>
                <a:extLst>
                  <a:ext uri="{0D108BD9-81ED-4DB2-BD59-A6C34878D82A}">
                    <a16:rowId xmlns:a16="http://schemas.microsoft.com/office/drawing/2014/main" val="10005"/>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pattFill prst="wdUpDiag">
                      <a:fgClr>
                        <a:srgbClr val="FFC000"/>
                      </a:fgClr>
                      <a:bgClr>
                        <a:schemeClr val="bg1"/>
                      </a:bgClr>
                    </a:pattFill>
                  </a:tcPr>
                </a:tc>
                <a:extLst>
                  <a:ext uri="{0D108BD9-81ED-4DB2-BD59-A6C34878D82A}">
                    <a16:rowId xmlns:a16="http://schemas.microsoft.com/office/drawing/2014/main" val="10006"/>
                  </a:ext>
                </a:extLst>
              </a:tr>
              <a:tr h="2833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n</a:t>
                      </a: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a:solidFill>
                      <a:srgbClr val="92D050"/>
                    </a:solidFill>
                  </a:tcPr>
                </a:tc>
                <a:extLst>
                  <a:ext uri="{0D108BD9-81ED-4DB2-BD59-A6C34878D82A}">
                    <a16:rowId xmlns:a16="http://schemas.microsoft.com/office/drawing/2014/main" val="10007"/>
                  </a:ext>
                </a:extLst>
              </a:tr>
            </a:tbl>
          </a:graphicData>
        </a:graphic>
      </p:graphicFrame>
      <p:sp>
        <p:nvSpPr>
          <p:cNvPr id="7" name="矩形 6">
            <a:extLst>
              <a:ext uri="{FF2B5EF4-FFF2-40B4-BE49-F238E27FC236}">
                <a16:creationId xmlns:a16="http://schemas.microsoft.com/office/drawing/2014/main" id="{D9EF4354-BB59-D020-70B4-35F377CBA6A2}"/>
              </a:ext>
            </a:extLst>
          </p:cNvPr>
          <p:cNvSpPr/>
          <p:nvPr/>
        </p:nvSpPr>
        <p:spPr>
          <a:xfrm>
            <a:off x="6107943" y="1415305"/>
            <a:ext cx="338554" cy="369332"/>
          </a:xfrm>
          <a:prstGeom prst="rect">
            <a:avLst/>
          </a:prstGeom>
        </p:spPr>
        <p:txBody>
          <a:bodyPr wrap="none">
            <a:spAutoFit/>
          </a:bodyPr>
          <a:lstStyle/>
          <a:p>
            <a:r>
              <a:rPr lang="en-US" altLang="zh-CN" b="1" dirty="0">
                <a:latin typeface="Times New Roman" pitchFamily="18" charset="0"/>
                <a:ea typeface="宋体" pitchFamily="2" charset="-122"/>
              </a:rPr>
              <a:t>L</a:t>
            </a:r>
            <a:endParaRPr lang="zh-CN" altLang="en-US" b="1" dirty="0">
              <a:latin typeface="Times New Roman" pitchFamily="18" charset="0"/>
              <a:ea typeface="宋体" pitchFamily="2" charset="-122"/>
            </a:endParaRPr>
          </a:p>
        </p:txBody>
      </p:sp>
      <p:sp>
        <p:nvSpPr>
          <p:cNvPr id="8" name="矩形 7">
            <a:extLst>
              <a:ext uri="{FF2B5EF4-FFF2-40B4-BE49-F238E27FC236}">
                <a16:creationId xmlns:a16="http://schemas.microsoft.com/office/drawing/2014/main" id="{07391485-3097-D567-D8B0-FF6A04FA43D1}"/>
              </a:ext>
            </a:extLst>
          </p:cNvPr>
          <p:cNvSpPr/>
          <p:nvPr/>
        </p:nvSpPr>
        <p:spPr>
          <a:xfrm>
            <a:off x="6084169" y="3748178"/>
            <a:ext cx="1109599" cy="369332"/>
          </a:xfrm>
          <a:prstGeom prst="rect">
            <a:avLst/>
          </a:prstGeom>
        </p:spPr>
        <p:txBody>
          <a:bodyPr wrap="none">
            <a:spAutoFit/>
          </a:bodyPr>
          <a:lstStyle/>
          <a:p>
            <a:r>
              <a:rPr lang="en-US" altLang="zh-CN" dirty="0">
                <a:latin typeface="Times New Roman" pitchFamily="18" charset="0"/>
                <a:ea typeface="宋体" pitchFamily="2" charset="-122"/>
              </a:rPr>
              <a:t>L-&gt;length</a:t>
            </a:r>
            <a:endParaRPr lang="zh-CN" altLang="en-US" dirty="0">
              <a:latin typeface="Times New Roman" pitchFamily="18" charset="0"/>
              <a:ea typeface="宋体" pitchFamily="2" charset="-122"/>
            </a:endParaRPr>
          </a:p>
        </p:txBody>
      </p:sp>
      <p:sp>
        <p:nvSpPr>
          <p:cNvPr id="9" name="矩形 8">
            <a:extLst>
              <a:ext uri="{FF2B5EF4-FFF2-40B4-BE49-F238E27FC236}">
                <a16:creationId xmlns:a16="http://schemas.microsoft.com/office/drawing/2014/main" id="{3F7820E7-E8D6-1D44-B9CE-23501E442E1F}"/>
              </a:ext>
            </a:extLst>
          </p:cNvPr>
          <p:cNvSpPr/>
          <p:nvPr/>
        </p:nvSpPr>
        <p:spPr>
          <a:xfrm>
            <a:off x="6169764" y="1687165"/>
            <a:ext cx="917239" cy="369332"/>
          </a:xfrm>
          <a:prstGeom prst="rect">
            <a:avLst/>
          </a:prstGeom>
        </p:spPr>
        <p:txBody>
          <a:bodyPr wrap="none">
            <a:spAutoFit/>
          </a:bodyPr>
          <a:lstStyle/>
          <a:p>
            <a:r>
              <a:rPr lang="en-US" altLang="zh-CN" dirty="0">
                <a:latin typeface="Times New Roman" pitchFamily="18" charset="0"/>
                <a:ea typeface="宋体" pitchFamily="2" charset="-122"/>
              </a:rPr>
              <a:t>L-&gt;data</a:t>
            </a:r>
            <a:endParaRPr lang="zh-CN" altLang="en-US" dirty="0">
              <a:latin typeface="Times New Roman" pitchFamily="18" charset="0"/>
              <a:ea typeface="宋体" pitchFamily="2" charset="-122"/>
            </a:endParaRPr>
          </a:p>
        </p:txBody>
      </p:sp>
      <p:sp>
        <p:nvSpPr>
          <p:cNvPr id="10" name="矩形 9">
            <a:extLst>
              <a:ext uri="{FF2B5EF4-FFF2-40B4-BE49-F238E27FC236}">
                <a16:creationId xmlns:a16="http://schemas.microsoft.com/office/drawing/2014/main" id="{20130433-912E-E0D1-554D-A6E3A79F50BF}"/>
              </a:ext>
            </a:extLst>
          </p:cNvPr>
          <p:cNvSpPr/>
          <p:nvPr/>
        </p:nvSpPr>
        <p:spPr>
          <a:xfrm>
            <a:off x="7340260" y="3450247"/>
            <a:ext cx="646331" cy="369332"/>
          </a:xfrm>
          <a:prstGeom prst="rect">
            <a:avLst/>
          </a:prstGeom>
        </p:spPr>
        <p:txBody>
          <a:bodyPr wrap="none">
            <a:spAutoFit/>
          </a:bodyPr>
          <a:lstStyle/>
          <a:p>
            <a:r>
              <a:rPr lang="zh-CN" altLang="en-US" dirty="0"/>
              <a:t>空闲</a:t>
            </a:r>
          </a:p>
        </p:txBody>
      </p:sp>
      <p:sp>
        <p:nvSpPr>
          <p:cNvPr id="11" name="矩形 10">
            <a:extLst>
              <a:ext uri="{FF2B5EF4-FFF2-40B4-BE49-F238E27FC236}">
                <a16:creationId xmlns:a16="http://schemas.microsoft.com/office/drawing/2014/main" id="{5203A80C-A4EA-41B0-C9E3-550FA44C47C1}"/>
              </a:ext>
            </a:extLst>
          </p:cNvPr>
          <p:cNvSpPr/>
          <p:nvPr/>
        </p:nvSpPr>
        <p:spPr>
          <a:xfrm>
            <a:off x="7340260" y="3175060"/>
            <a:ext cx="646331" cy="369332"/>
          </a:xfrm>
          <a:prstGeom prst="rect">
            <a:avLst/>
          </a:prstGeom>
        </p:spPr>
        <p:txBody>
          <a:bodyPr wrap="none">
            <a:spAutoFit/>
          </a:bodyPr>
          <a:lstStyle/>
          <a:p>
            <a:r>
              <a:rPr lang="zh-CN" altLang="en-US" dirty="0"/>
              <a:t>空闲</a:t>
            </a:r>
          </a:p>
        </p:txBody>
      </p:sp>
      <p:sp>
        <p:nvSpPr>
          <p:cNvPr id="12" name="矩形 11">
            <a:extLst>
              <a:ext uri="{FF2B5EF4-FFF2-40B4-BE49-F238E27FC236}">
                <a16:creationId xmlns:a16="http://schemas.microsoft.com/office/drawing/2014/main" id="{DFC7038F-1758-3270-F99C-DCE9AED8E283}"/>
              </a:ext>
            </a:extLst>
          </p:cNvPr>
          <p:cNvSpPr/>
          <p:nvPr/>
        </p:nvSpPr>
        <p:spPr>
          <a:xfrm>
            <a:off x="7340260" y="2898061"/>
            <a:ext cx="646331" cy="369332"/>
          </a:xfrm>
          <a:prstGeom prst="rect">
            <a:avLst/>
          </a:prstGeom>
        </p:spPr>
        <p:txBody>
          <a:bodyPr wrap="none">
            <a:spAutoFit/>
          </a:bodyPr>
          <a:lstStyle/>
          <a:p>
            <a:r>
              <a:rPr lang="zh-CN" altLang="en-US" dirty="0"/>
              <a:t>空闲</a:t>
            </a:r>
          </a:p>
        </p:txBody>
      </p:sp>
      <p:sp>
        <p:nvSpPr>
          <p:cNvPr id="13" name="矩形 12">
            <a:extLst>
              <a:ext uri="{FF2B5EF4-FFF2-40B4-BE49-F238E27FC236}">
                <a16:creationId xmlns:a16="http://schemas.microsoft.com/office/drawing/2014/main" id="{5277E7D4-6EB5-14F2-DB03-E5101AF09B27}"/>
              </a:ext>
            </a:extLst>
          </p:cNvPr>
          <p:cNvSpPr/>
          <p:nvPr/>
        </p:nvSpPr>
        <p:spPr>
          <a:xfrm>
            <a:off x="7340260" y="2641490"/>
            <a:ext cx="646331" cy="369332"/>
          </a:xfrm>
          <a:prstGeom prst="rect">
            <a:avLst/>
          </a:prstGeom>
        </p:spPr>
        <p:txBody>
          <a:bodyPr wrap="none">
            <a:spAutoFit/>
          </a:bodyPr>
          <a:lstStyle/>
          <a:p>
            <a:r>
              <a:rPr lang="zh-CN" altLang="en-US" dirty="0"/>
              <a:t>空闲</a:t>
            </a:r>
          </a:p>
        </p:txBody>
      </p:sp>
      <p:sp>
        <p:nvSpPr>
          <p:cNvPr id="14" name="矩形 13">
            <a:extLst>
              <a:ext uri="{FF2B5EF4-FFF2-40B4-BE49-F238E27FC236}">
                <a16:creationId xmlns:a16="http://schemas.microsoft.com/office/drawing/2014/main" id="{B08268FE-8607-14AA-25C4-44D8E54E5226}"/>
              </a:ext>
            </a:extLst>
          </p:cNvPr>
          <p:cNvSpPr/>
          <p:nvPr/>
        </p:nvSpPr>
        <p:spPr>
          <a:xfrm>
            <a:off x="7340260" y="2339631"/>
            <a:ext cx="646331" cy="369332"/>
          </a:xfrm>
          <a:prstGeom prst="rect">
            <a:avLst/>
          </a:prstGeom>
        </p:spPr>
        <p:txBody>
          <a:bodyPr wrap="none">
            <a:spAutoFit/>
          </a:bodyPr>
          <a:lstStyle/>
          <a:p>
            <a:r>
              <a:rPr lang="zh-CN" altLang="en-US" dirty="0"/>
              <a:t>空闲</a:t>
            </a:r>
          </a:p>
        </p:txBody>
      </p:sp>
      <p:sp>
        <p:nvSpPr>
          <p:cNvPr id="15" name="矩形 14">
            <a:extLst>
              <a:ext uri="{FF2B5EF4-FFF2-40B4-BE49-F238E27FC236}">
                <a16:creationId xmlns:a16="http://schemas.microsoft.com/office/drawing/2014/main" id="{88CF55EA-B4CD-7B1B-2BD4-BA1D1543B8C8}"/>
              </a:ext>
            </a:extLst>
          </p:cNvPr>
          <p:cNvSpPr/>
          <p:nvPr/>
        </p:nvSpPr>
        <p:spPr>
          <a:xfrm>
            <a:off x="7340260" y="2015595"/>
            <a:ext cx="646331" cy="369332"/>
          </a:xfrm>
          <a:prstGeom prst="rect">
            <a:avLst/>
          </a:prstGeom>
        </p:spPr>
        <p:txBody>
          <a:bodyPr wrap="none">
            <a:spAutoFit/>
          </a:bodyPr>
          <a:lstStyle/>
          <a:p>
            <a:r>
              <a:rPr lang="zh-CN" altLang="en-US" dirty="0"/>
              <a:t>空闲</a:t>
            </a:r>
          </a:p>
        </p:txBody>
      </p:sp>
      <p:sp>
        <p:nvSpPr>
          <p:cNvPr id="16" name="矩形 15">
            <a:extLst>
              <a:ext uri="{FF2B5EF4-FFF2-40B4-BE49-F238E27FC236}">
                <a16:creationId xmlns:a16="http://schemas.microsoft.com/office/drawing/2014/main" id="{A24623E9-20BC-D1A6-BA7B-037DAD637E26}"/>
              </a:ext>
            </a:extLst>
          </p:cNvPr>
          <p:cNvSpPr/>
          <p:nvPr/>
        </p:nvSpPr>
        <p:spPr>
          <a:xfrm>
            <a:off x="7340260" y="1775641"/>
            <a:ext cx="646331" cy="369332"/>
          </a:xfrm>
          <a:prstGeom prst="rect">
            <a:avLst/>
          </a:prstGeom>
        </p:spPr>
        <p:txBody>
          <a:bodyPr wrap="none">
            <a:spAutoFit/>
          </a:bodyPr>
          <a:lstStyle/>
          <a:p>
            <a:r>
              <a:rPr lang="zh-CN" altLang="en-US" dirty="0"/>
              <a:t>空闲</a:t>
            </a:r>
          </a:p>
        </p:txBody>
      </p:sp>
      <p:graphicFrame>
        <p:nvGraphicFramePr>
          <p:cNvPr id="17" name="表格 16">
            <a:extLst>
              <a:ext uri="{FF2B5EF4-FFF2-40B4-BE49-F238E27FC236}">
                <a16:creationId xmlns:a16="http://schemas.microsoft.com/office/drawing/2014/main" id="{B1039DF9-DCAD-D85C-2E7D-4389F3FDE447}"/>
              </a:ext>
            </a:extLst>
          </p:cNvPr>
          <p:cNvGraphicFramePr>
            <a:graphicFrameLocks noGrp="1"/>
          </p:cNvGraphicFramePr>
          <p:nvPr/>
        </p:nvGraphicFramePr>
        <p:xfrm>
          <a:off x="7125791" y="1751711"/>
          <a:ext cx="1094967" cy="1700346"/>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err="1"/>
                        <a:t>a</a:t>
                      </a:r>
                      <a:r>
                        <a:rPr lang="en-US" altLang="zh-CN" sz="1400" baseline="-25000" dirty="0" err="1"/>
                        <a:t>i</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5"/>
                  </a:ext>
                </a:extLst>
              </a:tr>
            </a:tbl>
          </a:graphicData>
        </a:graphic>
      </p:graphicFrame>
      <p:cxnSp>
        <p:nvCxnSpPr>
          <p:cNvPr id="18" name="直接箭头连接符 17">
            <a:extLst>
              <a:ext uri="{FF2B5EF4-FFF2-40B4-BE49-F238E27FC236}">
                <a16:creationId xmlns:a16="http://schemas.microsoft.com/office/drawing/2014/main" id="{22380E88-CED4-42C4-A0DE-15138FE0FE91}"/>
              </a:ext>
            </a:extLst>
          </p:cNvPr>
          <p:cNvCxnSpPr>
            <a:cxnSpLocks/>
          </p:cNvCxnSpPr>
          <p:nvPr/>
        </p:nvCxnSpPr>
        <p:spPr>
          <a:xfrm>
            <a:off x="6394461" y="1667413"/>
            <a:ext cx="695627" cy="12323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68375A45-A5B2-6292-51DA-107E883FE348}"/>
              </a:ext>
            </a:extLst>
          </p:cNvPr>
          <p:cNvSpPr txBox="1"/>
          <p:nvPr/>
        </p:nvSpPr>
        <p:spPr>
          <a:xfrm>
            <a:off x="650340" y="1960307"/>
            <a:ext cx="5326117" cy="2535118"/>
          </a:xfrm>
          <a:prstGeom prst="rect">
            <a:avLst/>
          </a:prstGeom>
          <a:noFill/>
        </p:spPr>
        <p:txBody>
          <a:bodyPr wrap="square">
            <a:spAutoFit/>
          </a:bodyPr>
          <a:lstStyle/>
          <a:p>
            <a:pPr algn="just">
              <a:spcBef>
                <a:spcPct val="50000"/>
              </a:spcBef>
            </a:pPr>
            <a:r>
              <a:rPr kumimoji="1" lang="en-US" altLang="zh-CN" sz="1800" dirty="0">
                <a:solidFill>
                  <a:srgbClr val="0000FF"/>
                </a:solidFill>
                <a:latin typeface="Consolas" pitchFamily="49" charset="0"/>
                <a:ea typeface="宋体" pitchFamily="2" charset="-122"/>
                <a:cs typeface="Consolas" pitchFamily="49" charset="0"/>
              </a:rPr>
              <a:t>int </a:t>
            </a:r>
            <a:r>
              <a:rPr kumimoji="1" lang="en-US" altLang="zh-CN" sz="1800" dirty="0" err="1">
                <a:solidFill>
                  <a:srgbClr val="FF0000"/>
                </a:solidFill>
                <a:effectLst>
                  <a:outerShdw blurRad="38100" dist="38100" dir="2700000" algn="tl">
                    <a:srgbClr val="000000">
                      <a:alpha val="43137"/>
                    </a:srgbClr>
                  </a:outerShdw>
                </a:effectLst>
                <a:latin typeface="Consolas" pitchFamily="49" charset="0"/>
                <a:ea typeface="宋体" pitchFamily="2" charset="-122"/>
                <a:cs typeface="Consolas" pitchFamily="49" charset="0"/>
              </a:rPr>
              <a:t>LocateElem</a:t>
            </a:r>
            <a:r>
              <a:rPr kumimoji="1" lang="en-US" altLang="zh-CN" sz="1800" dirty="0">
                <a:solidFill>
                  <a:srgbClr val="0000FF"/>
                </a:solidFill>
                <a:latin typeface="Consolas" pitchFamily="49" charset="0"/>
                <a:ea typeface="宋体" pitchFamily="2" charset="-122"/>
                <a:cs typeface="Consolas" pitchFamily="49" charset="0"/>
              </a:rPr>
              <a:t>(</a:t>
            </a:r>
            <a:r>
              <a:rPr kumimoji="1" lang="en-US" altLang="zh-CN" sz="1800" dirty="0" err="1">
                <a:solidFill>
                  <a:srgbClr val="0000FF"/>
                </a:solidFill>
                <a:latin typeface="Consolas" pitchFamily="49" charset="0"/>
                <a:ea typeface="宋体" pitchFamily="2" charset="-122"/>
                <a:cs typeface="Consolas" pitchFamily="49" charset="0"/>
              </a:rPr>
              <a:t>SqList</a:t>
            </a:r>
            <a:r>
              <a:rPr kumimoji="1" lang="en-US" altLang="zh-CN" sz="1800" dirty="0">
                <a:solidFill>
                  <a:srgbClr val="0000FF"/>
                </a:solidFill>
                <a:latin typeface="Consolas" pitchFamily="49" charset="0"/>
                <a:ea typeface="宋体" pitchFamily="2" charset="-122"/>
                <a:cs typeface="Consolas" pitchFamily="49" charset="0"/>
              </a:rPr>
              <a:t> *L</a:t>
            </a:r>
            <a:r>
              <a:rPr kumimoji="1" lang="zh-CN" altLang="en-US" sz="1800" dirty="0">
                <a:solidFill>
                  <a:srgbClr val="0000FF"/>
                </a:solidFill>
                <a:latin typeface="Consolas" pitchFamily="49" charset="0"/>
                <a:ea typeface="宋体" pitchFamily="2" charset="-122"/>
                <a:cs typeface="Consolas" pitchFamily="49" charset="0"/>
              </a:rPr>
              <a:t>，</a:t>
            </a:r>
            <a:r>
              <a:rPr kumimoji="1" lang="en-US" altLang="zh-CN" sz="1800" dirty="0" err="1">
                <a:solidFill>
                  <a:srgbClr val="0000FF"/>
                </a:solidFill>
                <a:latin typeface="Consolas" pitchFamily="49" charset="0"/>
                <a:ea typeface="宋体" pitchFamily="2" charset="-122"/>
                <a:cs typeface="Consolas" pitchFamily="49" charset="0"/>
              </a:rPr>
              <a:t>ElemType</a:t>
            </a:r>
            <a:r>
              <a:rPr kumimoji="1" lang="en-US" altLang="zh-CN" sz="1800" dirty="0">
                <a:solidFill>
                  <a:srgbClr val="0000FF"/>
                </a:solidFill>
                <a:latin typeface="Consolas" pitchFamily="49" charset="0"/>
                <a:ea typeface="宋体" pitchFamily="2" charset="-122"/>
                <a:cs typeface="Consolas" pitchFamily="49" charset="0"/>
              </a:rPr>
              <a:t> e)</a:t>
            </a:r>
          </a:p>
          <a:p>
            <a:pPr algn="just">
              <a:lnSpc>
                <a:spcPct val="80000"/>
              </a:lnSpc>
              <a:spcBef>
                <a:spcPct val="50000"/>
              </a:spcBef>
            </a:pPr>
            <a:r>
              <a:rPr kumimoji="1" lang="en-US" altLang="zh-CN" sz="1800" dirty="0">
                <a:solidFill>
                  <a:srgbClr val="0000FF"/>
                </a:solidFill>
                <a:latin typeface="Consolas" pitchFamily="49" charset="0"/>
                <a:ea typeface="宋体" pitchFamily="2" charset="-122"/>
                <a:cs typeface="Consolas" pitchFamily="49" charset="0"/>
              </a:rPr>
              <a:t>{  int </a:t>
            </a:r>
            <a:r>
              <a:rPr kumimoji="1" lang="en-US" altLang="zh-CN" sz="1800" dirty="0" err="1">
                <a:solidFill>
                  <a:srgbClr val="0000FF"/>
                </a:solidFill>
                <a:latin typeface="Consolas" pitchFamily="49" charset="0"/>
                <a:ea typeface="宋体" pitchFamily="2" charset="-122"/>
                <a:cs typeface="Consolas" pitchFamily="49" charset="0"/>
              </a:rPr>
              <a:t>i</a:t>
            </a:r>
            <a:r>
              <a:rPr kumimoji="1" lang="en-US" altLang="zh-CN" sz="1800" dirty="0">
                <a:solidFill>
                  <a:srgbClr val="0000FF"/>
                </a:solidFill>
                <a:latin typeface="Consolas" pitchFamily="49" charset="0"/>
                <a:ea typeface="宋体" pitchFamily="2" charset="-122"/>
                <a:cs typeface="Consolas" pitchFamily="49" charset="0"/>
              </a:rPr>
              <a:t>=0;</a:t>
            </a:r>
          </a:p>
          <a:p>
            <a:pPr algn="just">
              <a:lnSpc>
                <a:spcPct val="80000"/>
              </a:lnSpc>
              <a:spcBef>
                <a:spcPct val="50000"/>
              </a:spcBef>
            </a:pPr>
            <a:r>
              <a:rPr kumimoji="1" lang="en-US" altLang="zh-CN" sz="1800" dirty="0">
                <a:solidFill>
                  <a:srgbClr val="0000FF"/>
                </a:solidFill>
                <a:latin typeface="Consolas" pitchFamily="49" charset="0"/>
                <a:ea typeface="宋体" pitchFamily="2" charset="-122"/>
                <a:cs typeface="Consolas" pitchFamily="49" charset="0"/>
              </a:rPr>
              <a:t>   while (</a:t>
            </a:r>
            <a:r>
              <a:rPr kumimoji="1" lang="en-US" altLang="zh-CN" sz="1800" dirty="0" err="1">
                <a:solidFill>
                  <a:srgbClr val="FF00FF"/>
                </a:solidFill>
                <a:latin typeface="Consolas" pitchFamily="49" charset="0"/>
                <a:ea typeface="宋体" pitchFamily="2" charset="-122"/>
                <a:cs typeface="Consolas" pitchFamily="49" charset="0"/>
              </a:rPr>
              <a:t>i</a:t>
            </a:r>
            <a:r>
              <a:rPr kumimoji="1" lang="en-US" altLang="zh-CN" sz="1800" dirty="0">
                <a:solidFill>
                  <a:srgbClr val="FF00FF"/>
                </a:solidFill>
                <a:latin typeface="Consolas" pitchFamily="49" charset="0"/>
                <a:ea typeface="宋体" pitchFamily="2" charset="-122"/>
                <a:cs typeface="Consolas" pitchFamily="49" charset="0"/>
              </a:rPr>
              <a:t>&lt;L-&gt;length</a:t>
            </a:r>
            <a:r>
              <a:rPr kumimoji="1" lang="en-US" altLang="zh-CN" sz="1800" dirty="0">
                <a:solidFill>
                  <a:srgbClr val="0000FF"/>
                </a:solidFill>
                <a:latin typeface="Consolas" pitchFamily="49" charset="0"/>
                <a:ea typeface="宋体" pitchFamily="2" charset="-122"/>
                <a:cs typeface="Consolas" pitchFamily="49" charset="0"/>
              </a:rPr>
              <a:t> &amp;&amp; </a:t>
            </a:r>
            <a:r>
              <a:rPr kumimoji="1" lang="en-US" altLang="zh-CN" sz="1800" dirty="0">
                <a:solidFill>
                  <a:srgbClr val="FF00FF"/>
                </a:solidFill>
                <a:latin typeface="Consolas" pitchFamily="49" charset="0"/>
                <a:ea typeface="宋体" pitchFamily="2" charset="-122"/>
                <a:cs typeface="Consolas" pitchFamily="49" charset="0"/>
              </a:rPr>
              <a:t>L-&gt;data[</a:t>
            </a:r>
            <a:r>
              <a:rPr kumimoji="1" lang="en-US" altLang="zh-CN" sz="1800" dirty="0" err="1">
                <a:solidFill>
                  <a:srgbClr val="FF00FF"/>
                </a:solidFill>
                <a:latin typeface="Consolas" pitchFamily="49" charset="0"/>
                <a:ea typeface="宋体" pitchFamily="2" charset="-122"/>
                <a:cs typeface="Consolas" pitchFamily="49" charset="0"/>
              </a:rPr>
              <a:t>i</a:t>
            </a:r>
            <a:r>
              <a:rPr kumimoji="1" lang="en-US" altLang="zh-CN" sz="1800" dirty="0">
                <a:solidFill>
                  <a:srgbClr val="FF00FF"/>
                </a:solidFill>
                <a:latin typeface="Consolas" pitchFamily="49" charset="0"/>
                <a:ea typeface="宋体" pitchFamily="2" charset="-122"/>
                <a:cs typeface="Consolas" pitchFamily="49" charset="0"/>
              </a:rPr>
              <a:t>]!=e</a:t>
            </a:r>
            <a:r>
              <a:rPr kumimoji="1" lang="en-US" altLang="zh-CN" sz="1800" dirty="0">
                <a:solidFill>
                  <a:srgbClr val="0000FF"/>
                </a:solidFill>
                <a:latin typeface="Consolas" pitchFamily="49" charset="0"/>
                <a:ea typeface="宋体" pitchFamily="2" charset="-122"/>
                <a:cs typeface="Consolas" pitchFamily="49" charset="0"/>
              </a:rPr>
              <a:t>)  </a:t>
            </a:r>
          </a:p>
          <a:p>
            <a:pPr algn="just">
              <a:lnSpc>
                <a:spcPct val="80000"/>
              </a:lnSpc>
              <a:spcBef>
                <a:spcPct val="50000"/>
              </a:spcBef>
            </a:pPr>
            <a:r>
              <a:rPr kumimoji="1" lang="en-US" altLang="zh-CN" sz="1800" dirty="0">
                <a:solidFill>
                  <a:srgbClr val="0000FF"/>
                </a:solidFill>
                <a:latin typeface="Consolas" pitchFamily="49" charset="0"/>
                <a:ea typeface="宋体" pitchFamily="2" charset="-122"/>
                <a:cs typeface="Consolas" pitchFamily="49" charset="0"/>
              </a:rPr>
              <a:t>      </a:t>
            </a:r>
            <a:r>
              <a:rPr kumimoji="1" lang="en-US" altLang="zh-CN" sz="1800" dirty="0" err="1">
                <a:solidFill>
                  <a:srgbClr val="0000FF"/>
                </a:solidFill>
                <a:latin typeface="Consolas" pitchFamily="49" charset="0"/>
                <a:ea typeface="宋体" pitchFamily="2" charset="-122"/>
                <a:cs typeface="Consolas" pitchFamily="49" charset="0"/>
              </a:rPr>
              <a:t>i</a:t>
            </a:r>
            <a:r>
              <a:rPr kumimoji="1" lang="en-US" altLang="zh-CN" sz="1800" dirty="0">
                <a:solidFill>
                  <a:srgbClr val="0000FF"/>
                </a:solidFill>
                <a:latin typeface="Consolas" pitchFamily="49" charset="0"/>
                <a:ea typeface="宋体" pitchFamily="2" charset="-122"/>
                <a:cs typeface="Consolas" pitchFamily="49" charset="0"/>
              </a:rPr>
              <a:t>++;</a:t>
            </a:r>
          </a:p>
          <a:p>
            <a:pPr algn="just">
              <a:lnSpc>
                <a:spcPct val="80000"/>
              </a:lnSpc>
              <a:spcBef>
                <a:spcPct val="50000"/>
              </a:spcBef>
            </a:pPr>
            <a:r>
              <a:rPr kumimoji="1" lang="en-US" altLang="zh-CN" sz="1800" dirty="0">
                <a:solidFill>
                  <a:srgbClr val="0000FF"/>
                </a:solidFill>
                <a:latin typeface="Consolas" pitchFamily="49" charset="0"/>
                <a:ea typeface="宋体" pitchFamily="2" charset="-122"/>
                <a:cs typeface="Consolas" pitchFamily="49" charset="0"/>
              </a:rPr>
              <a:t>   if (</a:t>
            </a:r>
            <a:r>
              <a:rPr kumimoji="1" lang="en-US" altLang="zh-CN" sz="1800" dirty="0" err="1">
                <a:solidFill>
                  <a:srgbClr val="0000FF"/>
                </a:solidFill>
                <a:latin typeface="Consolas" pitchFamily="49" charset="0"/>
                <a:ea typeface="宋体" pitchFamily="2" charset="-122"/>
                <a:cs typeface="Consolas" pitchFamily="49" charset="0"/>
              </a:rPr>
              <a:t>i</a:t>
            </a:r>
            <a:r>
              <a:rPr kumimoji="1" lang="en-US" altLang="zh-CN" sz="1800" dirty="0">
                <a:solidFill>
                  <a:srgbClr val="0000FF"/>
                </a:solidFill>
                <a:latin typeface="Consolas" pitchFamily="49" charset="0"/>
                <a:ea typeface="宋体" pitchFamily="2" charset="-122"/>
                <a:cs typeface="Consolas" pitchFamily="49" charset="0"/>
              </a:rPr>
              <a:t>&gt;=L-&gt;length)  return 0;</a:t>
            </a:r>
          </a:p>
          <a:p>
            <a:pPr algn="just">
              <a:lnSpc>
                <a:spcPct val="80000"/>
              </a:lnSpc>
              <a:spcBef>
                <a:spcPct val="50000"/>
              </a:spcBef>
            </a:pPr>
            <a:r>
              <a:rPr kumimoji="1" lang="en-US" altLang="zh-CN" sz="1800" dirty="0">
                <a:solidFill>
                  <a:srgbClr val="0000FF"/>
                </a:solidFill>
                <a:latin typeface="Consolas" pitchFamily="49" charset="0"/>
                <a:ea typeface="宋体" pitchFamily="2" charset="-122"/>
                <a:cs typeface="Consolas" pitchFamily="49" charset="0"/>
              </a:rPr>
              <a:t>   else  return i+1;</a:t>
            </a:r>
          </a:p>
          <a:p>
            <a:pPr algn="just">
              <a:lnSpc>
                <a:spcPct val="80000"/>
              </a:lnSpc>
              <a:spcBef>
                <a:spcPct val="50000"/>
              </a:spcBef>
            </a:pPr>
            <a:r>
              <a:rPr kumimoji="1" lang="en-US" altLang="zh-CN" sz="1800" dirty="0">
                <a:solidFill>
                  <a:srgbClr val="0000FF"/>
                </a:solidFill>
                <a:latin typeface="Consolas" pitchFamily="49" charset="0"/>
                <a:ea typeface="宋体" pitchFamily="2" charset="-122"/>
                <a:cs typeface="Consolas" pitchFamily="49" charset="0"/>
              </a:rPr>
              <a:t>}</a:t>
            </a:r>
            <a:endParaRPr lang="zh-CN" altLang="en-US" dirty="0"/>
          </a:p>
        </p:txBody>
      </p:sp>
      <p:sp>
        <p:nvSpPr>
          <p:cNvPr id="34" name="文本框 33">
            <a:extLst>
              <a:ext uri="{FF2B5EF4-FFF2-40B4-BE49-F238E27FC236}">
                <a16:creationId xmlns:a16="http://schemas.microsoft.com/office/drawing/2014/main" id="{6C676089-3B6D-1078-1886-FC28E5883670}"/>
              </a:ext>
            </a:extLst>
          </p:cNvPr>
          <p:cNvSpPr txBox="1"/>
          <p:nvPr/>
        </p:nvSpPr>
        <p:spPr>
          <a:xfrm>
            <a:off x="650340" y="4394096"/>
            <a:ext cx="7018004" cy="646331"/>
          </a:xfrm>
          <a:prstGeom prst="rect">
            <a:avLst/>
          </a:prstGeom>
          <a:noFill/>
        </p:spPr>
        <p:txBody>
          <a:bodyPr wrap="square">
            <a:spAutoFit/>
          </a:bodyPr>
          <a:lstStyle/>
          <a:p>
            <a:r>
              <a:rPr kumimoji="1" lang="zh-CN" altLang="en-US" dirty="0">
                <a:latin typeface="Consolas" pitchFamily="49" charset="0"/>
                <a:ea typeface="楷体" pitchFamily="49" charset="-122"/>
                <a:cs typeface="Consolas" pitchFamily="49" charset="0"/>
              </a:rPr>
              <a:t>顺序查找第一个值域与</a:t>
            </a:r>
            <a:r>
              <a:rPr kumimoji="1" lang="en-US" altLang="zh-CN" i="1" dirty="0">
                <a:latin typeface="Consolas" pitchFamily="49" charset="0"/>
                <a:ea typeface="楷体" pitchFamily="49" charset="-122"/>
                <a:cs typeface="Consolas" pitchFamily="49" charset="0"/>
              </a:rPr>
              <a:t>e</a:t>
            </a:r>
            <a:r>
              <a:rPr kumimoji="1" lang="zh-CN" altLang="en-US" dirty="0">
                <a:latin typeface="Consolas" pitchFamily="49" charset="0"/>
                <a:ea typeface="楷体" pitchFamily="49" charset="-122"/>
                <a:cs typeface="Consolas" pitchFamily="49" charset="0"/>
              </a:rPr>
              <a:t>相等的元素的逻辑位序。若这样的元素不存在，则返回值为</a:t>
            </a:r>
            <a:r>
              <a:rPr kumimoji="1" lang="en-US" altLang="zh-CN" dirty="0">
                <a:latin typeface="Consolas" pitchFamily="49" charset="0"/>
                <a:ea typeface="楷体" pitchFamily="49" charset="-122"/>
                <a:cs typeface="Consolas" pitchFamily="49" charset="0"/>
              </a:rPr>
              <a:t>0</a:t>
            </a:r>
            <a:r>
              <a:rPr kumimoji="1" lang="zh-CN" altLang="en-US" dirty="0">
                <a:latin typeface="Consolas" pitchFamily="49" charset="0"/>
                <a:ea typeface="楷体" pitchFamily="49" charset="-122"/>
                <a:cs typeface="Consolas" pitchFamily="49" charset="0"/>
              </a:rPr>
              <a:t>。</a:t>
            </a:r>
            <a:endParaRPr lang="zh-CN" altLang="en-US" dirty="0"/>
          </a:p>
        </p:txBody>
      </p:sp>
      <p:cxnSp>
        <p:nvCxnSpPr>
          <p:cNvPr id="37" name="直接箭头连接符 36">
            <a:extLst>
              <a:ext uri="{FF2B5EF4-FFF2-40B4-BE49-F238E27FC236}">
                <a16:creationId xmlns:a16="http://schemas.microsoft.com/office/drawing/2014/main" id="{2D09D106-9FFD-D879-97CE-C211503737EB}"/>
              </a:ext>
            </a:extLst>
          </p:cNvPr>
          <p:cNvCxnSpPr/>
          <p:nvPr/>
        </p:nvCxnSpPr>
        <p:spPr>
          <a:xfrm>
            <a:off x="7020272" y="1928658"/>
            <a:ext cx="0" cy="1560609"/>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9924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2395775" y="2017317"/>
            <a:ext cx="4071260" cy="523220"/>
          </a:xfrm>
          <a:prstGeom prst="rect">
            <a:avLst/>
          </a:prstGeom>
        </p:spPr>
        <p:txBody>
          <a:bodyPr wrap="square">
            <a:spAutoFit/>
          </a:bodyPr>
          <a:lstStyle/>
          <a:p>
            <a:pPr lvl="1">
              <a:buFont typeface="Wingdings" pitchFamily="2" charset="2"/>
              <a:buNone/>
            </a:pPr>
            <a:r>
              <a:rPr lang="zh-CN" altLang="en-US" sz="2800" dirty="0"/>
              <a:t>(</a:t>
            </a:r>
            <a:r>
              <a:rPr lang="en-US" altLang="zh-CN" sz="2800" dirty="0"/>
              <a:t>a</a:t>
            </a:r>
            <a:r>
              <a:rPr lang="en-US" altLang="zh-CN" sz="2800" baseline="-25000" dirty="0"/>
              <a:t>1</a:t>
            </a:r>
            <a:r>
              <a:rPr lang="en-US" altLang="zh-CN" sz="2800" dirty="0"/>
              <a:t>, a</a:t>
            </a:r>
            <a:r>
              <a:rPr lang="en-US" altLang="zh-CN" sz="2800" baseline="-25000" dirty="0"/>
              <a:t>2</a:t>
            </a:r>
            <a:r>
              <a:rPr lang="en-US" altLang="zh-CN" sz="2800" dirty="0"/>
              <a:t>, …, </a:t>
            </a:r>
            <a:r>
              <a:rPr lang="en-US" altLang="zh-CN" sz="2800" dirty="0">
                <a:solidFill>
                  <a:srgbClr val="00B050"/>
                </a:solidFill>
              </a:rPr>
              <a:t>a</a:t>
            </a:r>
            <a:r>
              <a:rPr lang="en-US" altLang="zh-CN" sz="2800" baseline="-25000" dirty="0">
                <a:solidFill>
                  <a:srgbClr val="00B050"/>
                </a:solidFill>
              </a:rPr>
              <a:t>i-1</a:t>
            </a:r>
            <a:r>
              <a:rPr lang="en-US" altLang="zh-CN" sz="2800" dirty="0">
                <a:solidFill>
                  <a:srgbClr val="00B050"/>
                </a:solidFill>
              </a:rPr>
              <a:t>, </a:t>
            </a:r>
            <a:r>
              <a:rPr lang="en-US" altLang="zh-CN" sz="2800" dirty="0" err="1">
                <a:solidFill>
                  <a:srgbClr val="00B050"/>
                </a:solidFill>
              </a:rPr>
              <a:t>a</a:t>
            </a:r>
            <a:r>
              <a:rPr lang="en-US" altLang="zh-CN" sz="2800" baseline="-25000" dirty="0" err="1">
                <a:solidFill>
                  <a:srgbClr val="00B050"/>
                </a:solidFill>
              </a:rPr>
              <a:t>i</a:t>
            </a:r>
            <a:r>
              <a:rPr lang="en-US" altLang="zh-CN" sz="2800" dirty="0">
                <a:solidFill>
                  <a:srgbClr val="00B050"/>
                </a:solidFill>
              </a:rPr>
              <a:t>, </a:t>
            </a:r>
            <a:r>
              <a:rPr lang="en-US" altLang="zh-CN" sz="2800" dirty="0"/>
              <a:t>…, a</a:t>
            </a:r>
            <a:r>
              <a:rPr lang="en-US" altLang="zh-CN" sz="2800" baseline="-25000" dirty="0"/>
              <a:t>n</a:t>
            </a:r>
            <a:r>
              <a:rPr lang="en-US" altLang="zh-CN" sz="2800" dirty="0"/>
              <a:t>)</a:t>
            </a:r>
            <a:endParaRPr lang="zh-CN" altLang="en-US" sz="2800" dirty="0">
              <a:latin typeface="微软雅黑" pitchFamily="34" charset="-122"/>
              <a:ea typeface="微软雅黑" pitchFamily="34" charset="-122"/>
              <a:cs typeface="经典粗黑简" pitchFamily="49" charset="-122"/>
            </a:endParaRPr>
          </a:p>
        </p:txBody>
      </p:sp>
      <p:sp>
        <p:nvSpPr>
          <p:cNvPr id="15" name="矩形 14"/>
          <p:cNvSpPr/>
          <p:nvPr/>
        </p:nvSpPr>
        <p:spPr>
          <a:xfrm>
            <a:off x="2395776" y="2576183"/>
            <a:ext cx="4522373" cy="523220"/>
          </a:xfrm>
          <a:prstGeom prst="rect">
            <a:avLst/>
          </a:prstGeom>
        </p:spPr>
        <p:txBody>
          <a:bodyPr wrap="square">
            <a:spAutoFit/>
          </a:bodyPr>
          <a:lstStyle/>
          <a:p>
            <a:pPr lvl="1">
              <a:buFont typeface="Wingdings" pitchFamily="2" charset="2"/>
              <a:buNone/>
            </a:pPr>
            <a:r>
              <a:rPr kumimoji="1" lang="zh-CN" altLang="en-US" sz="2800" dirty="0"/>
              <a:t>(</a:t>
            </a:r>
            <a:r>
              <a:rPr kumimoji="1" lang="en-US" altLang="zh-CN" sz="2800" dirty="0"/>
              <a:t>a</a:t>
            </a:r>
            <a:r>
              <a:rPr kumimoji="1" lang="en-US" altLang="zh-CN" sz="2800" baseline="-25000" dirty="0"/>
              <a:t>1</a:t>
            </a:r>
            <a:r>
              <a:rPr kumimoji="1" lang="en-US" altLang="zh-CN" sz="2800" dirty="0"/>
              <a:t>, a</a:t>
            </a:r>
            <a:r>
              <a:rPr kumimoji="1" lang="en-US" altLang="zh-CN" sz="2800" baseline="-25000" dirty="0"/>
              <a:t>2</a:t>
            </a:r>
            <a:r>
              <a:rPr kumimoji="1" lang="en-US" altLang="zh-CN" sz="2800" dirty="0"/>
              <a:t>, …, </a:t>
            </a:r>
            <a:r>
              <a:rPr kumimoji="1" lang="en-US" altLang="zh-CN" sz="2800" dirty="0">
                <a:solidFill>
                  <a:srgbClr val="00B050"/>
                </a:solidFill>
              </a:rPr>
              <a:t>a</a:t>
            </a:r>
            <a:r>
              <a:rPr kumimoji="1" lang="en-US" altLang="zh-CN" sz="2800" baseline="-25000" dirty="0">
                <a:solidFill>
                  <a:srgbClr val="00B050"/>
                </a:solidFill>
              </a:rPr>
              <a:t>i-1</a:t>
            </a:r>
            <a:r>
              <a:rPr kumimoji="1" lang="en-US" altLang="zh-CN" sz="2800" dirty="0">
                <a:solidFill>
                  <a:srgbClr val="00B050"/>
                </a:solidFill>
              </a:rPr>
              <a:t>,</a:t>
            </a:r>
            <a:r>
              <a:rPr kumimoji="1" lang="en-US" altLang="zh-CN" sz="2800" dirty="0"/>
              <a:t> </a:t>
            </a:r>
            <a:r>
              <a:rPr kumimoji="1" lang="en-US" altLang="zh-CN" sz="2800" dirty="0">
                <a:solidFill>
                  <a:srgbClr val="FF0000"/>
                </a:solidFill>
              </a:rPr>
              <a:t>e</a:t>
            </a:r>
            <a:r>
              <a:rPr kumimoji="1" lang="en-US" altLang="zh-CN" sz="2800" dirty="0"/>
              <a:t>, </a:t>
            </a:r>
            <a:r>
              <a:rPr kumimoji="1" lang="en-US" altLang="zh-CN" sz="2800" dirty="0" err="1">
                <a:solidFill>
                  <a:srgbClr val="00B050"/>
                </a:solidFill>
              </a:rPr>
              <a:t>a</a:t>
            </a:r>
            <a:r>
              <a:rPr kumimoji="1" lang="en-US" altLang="zh-CN" sz="2800" baseline="-25000" dirty="0" err="1">
                <a:solidFill>
                  <a:srgbClr val="00B050"/>
                </a:solidFill>
              </a:rPr>
              <a:t>i</a:t>
            </a:r>
            <a:r>
              <a:rPr kumimoji="1" lang="en-US" altLang="zh-CN" sz="2800" dirty="0"/>
              <a:t>, …, a</a:t>
            </a:r>
            <a:r>
              <a:rPr kumimoji="1" lang="en-US" altLang="zh-CN" sz="2800" baseline="-25000" dirty="0"/>
              <a:t>n</a:t>
            </a:r>
            <a:r>
              <a:rPr kumimoji="1" lang="en-US" altLang="zh-CN" sz="2800" dirty="0"/>
              <a:t>)</a:t>
            </a:r>
            <a:endParaRPr lang="zh-CN" altLang="en-US" sz="2800" dirty="0">
              <a:latin typeface="微软雅黑" pitchFamily="34" charset="-122"/>
              <a:ea typeface="微软雅黑" pitchFamily="34" charset="-122"/>
              <a:cs typeface="经典粗黑简" pitchFamily="49" charset="-122"/>
            </a:endParaRPr>
          </a:p>
        </p:txBody>
      </p:sp>
      <p:sp>
        <p:nvSpPr>
          <p:cNvPr id="16" name="下箭头 15"/>
          <p:cNvSpPr/>
          <p:nvPr/>
        </p:nvSpPr>
        <p:spPr>
          <a:xfrm>
            <a:off x="4002509" y="2540537"/>
            <a:ext cx="1741713" cy="24202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566729" y="3003798"/>
            <a:ext cx="7037719" cy="369332"/>
          </a:xfrm>
          <a:prstGeom prst="rect">
            <a:avLst/>
          </a:prstGeom>
        </p:spPr>
        <p:txBody>
          <a:bodyPr wrap="square">
            <a:spAutoFit/>
          </a:bodyPr>
          <a:lstStyle/>
          <a:p>
            <a:r>
              <a:rPr lang="zh-CN" altLang="en-US" dirty="0">
                <a:latin typeface="微软雅黑" pitchFamily="34" charset="-122"/>
                <a:ea typeface="微软雅黑" pitchFamily="34" charset="-122"/>
                <a:cs typeface="经典粗黑简" pitchFamily="49" charset="-122"/>
              </a:rPr>
              <a:t>将元素</a:t>
            </a:r>
            <a:r>
              <a:rPr lang="en-US" altLang="zh-CN" dirty="0">
                <a:latin typeface="微软雅黑" pitchFamily="34" charset="-122"/>
                <a:ea typeface="微软雅黑" pitchFamily="34" charset="-122"/>
                <a:cs typeface="经典粗黑简" pitchFamily="49" charset="-122"/>
              </a:rPr>
              <a:t>e</a:t>
            </a:r>
            <a:r>
              <a:rPr lang="zh-CN" altLang="en-US" dirty="0">
                <a:latin typeface="微软雅黑" pitchFamily="34" charset="-122"/>
                <a:ea typeface="微软雅黑" pitchFamily="34" charset="-122"/>
                <a:cs typeface="经典粗黑简" pitchFamily="49" charset="-122"/>
              </a:rPr>
              <a:t>插入到线性表中，构成新的线性表，即不破坏原线性关系；</a:t>
            </a:r>
          </a:p>
        </p:txBody>
      </p:sp>
      <p:sp>
        <p:nvSpPr>
          <p:cNvPr id="21" name="矩形 20"/>
          <p:cNvSpPr/>
          <p:nvPr/>
        </p:nvSpPr>
        <p:spPr>
          <a:xfrm>
            <a:off x="1566730" y="3327834"/>
            <a:ext cx="2018501" cy="369332"/>
          </a:xfrm>
          <a:prstGeom prst="rect">
            <a:avLst/>
          </a:prstGeom>
        </p:spPr>
        <p:txBody>
          <a:bodyPr wrap="none">
            <a:spAutoFit/>
          </a:bodyPr>
          <a:lstStyle/>
          <a:p>
            <a:r>
              <a:rPr lang="zh-CN" altLang="en-US" dirty="0">
                <a:latin typeface="微软雅黑" pitchFamily="34" charset="-122"/>
                <a:ea typeface="微软雅黑" pitchFamily="34" charset="-122"/>
                <a:cs typeface="经典粗黑简" pitchFamily="49" charset="-122"/>
              </a:rPr>
              <a:t>表的长度为</a:t>
            </a:r>
            <a:r>
              <a:rPr lang="en-US" altLang="zh-CN" dirty="0">
                <a:latin typeface="微软雅黑" pitchFamily="34" charset="-122"/>
                <a:ea typeface="微软雅黑" pitchFamily="34" charset="-122"/>
                <a:cs typeface="经典粗黑简" pitchFamily="49" charset="-122"/>
              </a:rPr>
              <a:t>n+1</a:t>
            </a:r>
            <a:r>
              <a:rPr lang="zh-CN" altLang="en-US" dirty="0">
                <a:latin typeface="微软雅黑" pitchFamily="34" charset="-122"/>
                <a:ea typeface="微软雅黑" pitchFamily="34" charset="-122"/>
                <a:cs typeface="经典粗黑简" pitchFamily="49" charset="-122"/>
              </a:rPr>
              <a:t>；</a:t>
            </a:r>
          </a:p>
        </p:txBody>
      </p:sp>
      <p:sp>
        <p:nvSpPr>
          <p:cNvPr id="22" name="矩形 21"/>
          <p:cNvSpPr/>
          <p:nvPr/>
        </p:nvSpPr>
        <p:spPr>
          <a:xfrm>
            <a:off x="1566729" y="3681096"/>
            <a:ext cx="6893703" cy="646331"/>
          </a:xfrm>
          <a:prstGeom prst="rect">
            <a:avLst/>
          </a:prstGeom>
        </p:spPr>
        <p:txBody>
          <a:bodyPr wrap="square">
            <a:spAutoFit/>
          </a:bodyPr>
          <a:lstStyle/>
          <a:p>
            <a:pPr marL="0" lvl="1"/>
            <a:r>
              <a:rPr lang="zh-CN" altLang="en-US" dirty="0">
                <a:latin typeface="微软雅黑" pitchFamily="34" charset="-122"/>
                <a:ea typeface="微软雅黑" pitchFamily="34" charset="-122"/>
                <a:cs typeface="经典粗黑简" pitchFamily="49" charset="-122"/>
              </a:rPr>
              <a:t>将元素</a:t>
            </a:r>
            <a:r>
              <a:rPr lang="en-US" altLang="zh-CN" dirty="0">
                <a:latin typeface="微软雅黑" pitchFamily="34" charset="-122"/>
                <a:ea typeface="微软雅黑" pitchFamily="34" charset="-122"/>
                <a:cs typeface="经典粗黑简" pitchFamily="49" charset="-122"/>
              </a:rPr>
              <a:t>e</a:t>
            </a:r>
            <a:r>
              <a:rPr lang="zh-CN" altLang="en-US" dirty="0">
                <a:latin typeface="微软雅黑" pitchFamily="34" charset="-122"/>
                <a:ea typeface="微软雅黑" pitchFamily="34" charset="-122"/>
                <a:cs typeface="经典粗黑简" pitchFamily="49" charset="-122"/>
              </a:rPr>
              <a:t>插入到元素</a:t>
            </a:r>
            <a:r>
              <a:rPr lang="en-US" altLang="zh-CN" dirty="0">
                <a:latin typeface="微软雅黑" pitchFamily="34" charset="-122"/>
                <a:ea typeface="微软雅黑" pitchFamily="34" charset="-122"/>
                <a:cs typeface="经典粗黑简" pitchFamily="49" charset="-122"/>
              </a:rPr>
              <a:t>a</a:t>
            </a:r>
            <a:r>
              <a:rPr lang="en-US" altLang="zh-CN" baseline="-25000" dirty="0">
                <a:latin typeface="微软雅黑" pitchFamily="34" charset="-122"/>
                <a:ea typeface="微软雅黑" pitchFamily="34" charset="-122"/>
                <a:cs typeface="经典粗黑简" pitchFamily="49" charset="-122"/>
              </a:rPr>
              <a:t>i-1</a:t>
            </a:r>
            <a:r>
              <a:rPr lang="zh-CN" altLang="en-US" dirty="0">
                <a:latin typeface="微软雅黑" pitchFamily="34" charset="-122"/>
                <a:ea typeface="微软雅黑" pitchFamily="34" charset="-122"/>
                <a:cs typeface="经典粗黑简" pitchFamily="49" charset="-122"/>
              </a:rPr>
              <a:t>之后，</a:t>
            </a:r>
            <a:r>
              <a:rPr lang="en-US" altLang="zh-CN" dirty="0">
                <a:latin typeface="微软雅黑" pitchFamily="34" charset="-122"/>
                <a:ea typeface="微软雅黑" pitchFamily="34" charset="-122"/>
                <a:cs typeface="经典粗黑简" pitchFamily="49" charset="-122"/>
              </a:rPr>
              <a:t>a</a:t>
            </a:r>
            <a:r>
              <a:rPr lang="en-US" altLang="zh-CN" baseline="-25000" dirty="0">
                <a:latin typeface="微软雅黑" pitchFamily="34" charset="-122"/>
                <a:ea typeface="微软雅黑" pitchFamily="34" charset="-122"/>
                <a:cs typeface="经典粗黑简" pitchFamily="49" charset="-122"/>
              </a:rPr>
              <a:t>i-1</a:t>
            </a:r>
            <a:r>
              <a:rPr lang="zh-CN" altLang="en-US" dirty="0">
                <a:latin typeface="微软雅黑" pitchFamily="34" charset="-122"/>
                <a:ea typeface="微软雅黑" pitchFamily="34" charset="-122"/>
                <a:cs typeface="经典粗黑简" pitchFamily="49" charset="-122"/>
              </a:rPr>
              <a:t>的直接后继和</a:t>
            </a:r>
            <a:r>
              <a:rPr lang="en-US" altLang="zh-CN" dirty="0" err="1">
                <a:latin typeface="微软雅黑" pitchFamily="34" charset="-122"/>
                <a:ea typeface="微软雅黑" pitchFamily="34" charset="-122"/>
                <a:cs typeface="经典粗黑简" pitchFamily="49" charset="-122"/>
              </a:rPr>
              <a:t>a</a:t>
            </a:r>
            <a:r>
              <a:rPr lang="en-US" altLang="zh-CN" baseline="-25000" dirty="0" err="1">
                <a:latin typeface="微软雅黑" pitchFamily="34" charset="-122"/>
                <a:ea typeface="微软雅黑" pitchFamily="34" charset="-122"/>
                <a:cs typeface="经典粗黑简" pitchFamily="49" charset="-122"/>
              </a:rPr>
              <a:t>i</a:t>
            </a:r>
            <a:r>
              <a:rPr lang="en-US" altLang="zh-CN" dirty="0">
                <a:latin typeface="微软雅黑" pitchFamily="34" charset="-122"/>
                <a:ea typeface="微软雅黑" pitchFamily="34" charset="-122"/>
                <a:cs typeface="经典粗黑简" pitchFamily="49" charset="-122"/>
              </a:rPr>
              <a:t> </a:t>
            </a:r>
            <a:r>
              <a:rPr lang="zh-CN" altLang="en-US" dirty="0">
                <a:latin typeface="微软雅黑" pitchFamily="34" charset="-122"/>
                <a:ea typeface="微软雅黑" pitchFamily="34" charset="-122"/>
                <a:cs typeface="经典粗黑简" pitchFamily="49" charset="-122"/>
              </a:rPr>
              <a:t>的直接前驱就改变了，需要在顺序表的存储结构上反映出来；</a:t>
            </a:r>
          </a:p>
        </p:txBody>
      </p:sp>
      <p:cxnSp>
        <p:nvCxnSpPr>
          <p:cNvPr id="20" name="直接连接符 1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1108912" y="1545635"/>
            <a:ext cx="1467068" cy="400110"/>
          </a:xfrm>
          <a:prstGeom prst="rect">
            <a:avLst/>
          </a:prstGeom>
        </p:spPr>
        <p:txBody>
          <a:bodyPr wrap="none">
            <a:spAutoFit/>
          </a:bodyPr>
          <a:lstStyle/>
          <a:p>
            <a:pPr>
              <a:defRPr/>
            </a:pPr>
            <a:r>
              <a:rPr lang="zh-CN" altLang="en-US" sz="2000" dirty="0">
                <a:latin typeface="微软雅黑" pitchFamily="34" charset="-122"/>
                <a:ea typeface="微软雅黑" pitchFamily="34" charset="-122"/>
                <a:cs typeface="经典粗黑简" pitchFamily="49" charset="-122"/>
              </a:rPr>
              <a:t>⑨插入运算</a:t>
            </a:r>
          </a:p>
        </p:txBody>
      </p:sp>
      <p:sp>
        <p:nvSpPr>
          <p:cNvPr id="2" name="Rectangle 2">
            <a:extLst>
              <a:ext uri="{FF2B5EF4-FFF2-40B4-BE49-F238E27FC236}">
                <a16:creationId xmlns:a16="http://schemas.microsoft.com/office/drawing/2014/main" id="{7E8EBD90-9B65-6CE8-4FBB-08E758395221}"/>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3" name="矩形 2">
            <a:extLst>
              <a:ext uri="{FF2B5EF4-FFF2-40B4-BE49-F238E27FC236}">
                <a16:creationId xmlns:a16="http://schemas.microsoft.com/office/drawing/2014/main" id="{F04B0268-510E-45B2-52FB-FC97D27C5AA0}"/>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Tree>
    <p:extLst>
      <p:ext uri="{BB962C8B-B14F-4D97-AF65-F5344CB8AC3E}">
        <p14:creationId xmlns:p14="http://schemas.microsoft.com/office/powerpoint/2010/main" val="2309784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animBg="1"/>
      <p:bldP spid="17" grpId="0"/>
      <p:bldP spid="21" grpId="0"/>
      <p:bldP spid="2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直接连接符 1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graphicFrame>
        <p:nvGraphicFramePr>
          <p:cNvPr id="34" name="表格 33"/>
          <p:cNvGraphicFramePr>
            <a:graphicFrameLocks noGrp="1"/>
          </p:cNvGraphicFramePr>
          <p:nvPr>
            <p:extLst>
              <p:ext uri="{D42A27DB-BD31-4B8C-83A1-F6EECF244321}">
                <p14:modId xmlns:p14="http://schemas.microsoft.com/office/powerpoint/2010/main" val="2200202798"/>
              </p:ext>
            </p:extLst>
          </p:nvPr>
        </p:nvGraphicFramePr>
        <p:xfrm>
          <a:off x="1087897" y="2178550"/>
          <a:ext cx="1094967" cy="2550519"/>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a:t>a</a:t>
                      </a:r>
                      <a:r>
                        <a:rPr lang="en-US" altLang="zh-CN" sz="1400" baseline="-25000" dirty="0"/>
                        <a:t>i-1</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a</a:t>
                      </a:r>
                      <a:r>
                        <a:rPr lang="en-US" altLang="zh-CN" sz="1400" baseline="-25000" dirty="0" err="1"/>
                        <a:t>i</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5"/>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6"/>
                  </a:ext>
                </a:extLst>
              </a:tr>
              <a:tr h="283391">
                <a:tc>
                  <a:txBody>
                    <a:bodyPr/>
                    <a:lstStyle/>
                    <a:p>
                      <a:pPr algn="ctr"/>
                      <a:endParaRPr lang="zh-CN" altLang="en-US" sz="1400" dirty="0"/>
                    </a:p>
                  </a:txBody>
                  <a:tcPr marT="34290" marB="34290">
                    <a:pattFill prst="wdDnDiag">
                      <a:fgClr>
                        <a:schemeClr val="tx1"/>
                      </a:fgClr>
                      <a:bgClr>
                        <a:schemeClr val="bg1"/>
                      </a:bgClr>
                    </a:pattFill>
                  </a:tcPr>
                </a:tc>
                <a:extLst>
                  <a:ext uri="{0D108BD9-81ED-4DB2-BD59-A6C34878D82A}">
                    <a16:rowId xmlns:a16="http://schemas.microsoft.com/office/drawing/2014/main" val="10007"/>
                  </a:ext>
                </a:extLst>
              </a:tr>
              <a:tr h="283391">
                <a:tc>
                  <a:txBody>
                    <a:bodyPr/>
                    <a:lstStyle/>
                    <a:p>
                      <a:pPr algn="ctr"/>
                      <a:endParaRPr lang="zh-CN" altLang="en-US" sz="1400" dirty="0"/>
                    </a:p>
                  </a:txBody>
                  <a:tcPr marT="34290" marB="34290">
                    <a:solidFill>
                      <a:srgbClr val="92D050"/>
                    </a:solidFill>
                  </a:tcPr>
                </a:tc>
                <a:extLst>
                  <a:ext uri="{0D108BD9-81ED-4DB2-BD59-A6C34878D82A}">
                    <a16:rowId xmlns:a16="http://schemas.microsoft.com/office/drawing/2014/main" val="10008"/>
                  </a:ext>
                </a:extLst>
              </a:tr>
            </a:tbl>
          </a:graphicData>
        </a:graphic>
      </p:graphicFrame>
      <p:sp>
        <p:nvSpPr>
          <p:cNvPr id="35" name="矩形 34"/>
          <p:cNvSpPr/>
          <p:nvPr/>
        </p:nvSpPr>
        <p:spPr>
          <a:xfrm>
            <a:off x="122233" y="4712034"/>
            <a:ext cx="2952826" cy="307777"/>
          </a:xfrm>
          <a:prstGeom prst="rect">
            <a:avLst/>
          </a:prstGeom>
        </p:spPr>
        <p:txBody>
          <a:bodyPr wrap="square">
            <a:spAutoFit/>
          </a:bodyPr>
          <a:lstStyle/>
          <a:p>
            <a:r>
              <a:rPr lang="zh-CN" altLang="en-US" sz="1400" dirty="0"/>
              <a:t>在线性表</a:t>
            </a:r>
            <a:r>
              <a:rPr lang="en-US" altLang="zh-CN" sz="1400" dirty="0"/>
              <a:t>L</a:t>
            </a:r>
            <a:r>
              <a:rPr lang="zh-CN" altLang="en-US" sz="1400" dirty="0"/>
              <a:t>的第</a:t>
            </a:r>
            <a:r>
              <a:rPr lang="en-US" altLang="zh-CN" sz="1400" dirty="0"/>
              <a:t>i</a:t>
            </a:r>
            <a:r>
              <a:rPr lang="zh-CN" altLang="en-US" sz="1400" dirty="0"/>
              <a:t>个位置上插入元素</a:t>
            </a:r>
            <a:r>
              <a:rPr lang="en-US" altLang="zh-CN" sz="1400" dirty="0"/>
              <a:t>e</a:t>
            </a:r>
            <a:endParaRPr lang="zh-CN" altLang="en-US" sz="1400" dirty="0"/>
          </a:p>
        </p:txBody>
      </p:sp>
      <p:sp>
        <p:nvSpPr>
          <p:cNvPr id="36" name="Text Box 15"/>
          <p:cNvSpPr txBox="1">
            <a:spLocks noChangeArrowheads="1"/>
          </p:cNvSpPr>
          <p:nvPr/>
        </p:nvSpPr>
        <p:spPr bwMode="auto">
          <a:xfrm>
            <a:off x="269291" y="3205885"/>
            <a:ext cx="309086"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Times New Roman" pitchFamily="18" charset="0"/>
                <a:ea typeface="宋体" pitchFamily="2" charset="-122"/>
              </a:defRPr>
            </a:lvl1pPr>
            <a:lvl2pPr marL="742950" indent="-285750" eaLnBrk="0" hangingPunct="0">
              <a:defRPr kumimoji="1">
                <a:solidFill>
                  <a:schemeClr val="tx1"/>
                </a:solidFill>
                <a:latin typeface="Times New Roman" pitchFamily="18" charset="0"/>
                <a:ea typeface="宋体" pitchFamily="2" charset="-122"/>
              </a:defRPr>
            </a:lvl2pPr>
            <a:lvl3pPr marL="1143000" indent="-228600" eaLnBrk="0" hangingPunct="0">
              <a:defRPr kumimoji="1">
                <a:solidFill>
                  <a:schemeClr val="tx1"/>
                </a:solidFill>
                <a:latin typeface="Times New Roman" pitchFamily="18" charset="0"/>
                <a:ea typeface="宋体" pitchFamily="2" charset="-122"/>
              </a:defRPr>
            </a:lvl3pPr>
            <a:lvl4pPr marL="1600200" indent="-228600" eaLnBrk="0" hangingPunct="0">
              <a:defRPr kumimoji="1">
                <a:solidFill>
                  <a:schemeClr val="tx1"/>
                </a:solidFill>
                <a:latin typeface="Times New Roman" pitchFamily="18" charset="0"/>
                <a:ea typeface="宋体" pitchFamily="2" charset="-122"/>
              </a:defRPr>
            </a:lvl4pPr>
            <a:lvl5pPr marL="2057400" indent="-228600" eaLnBrk="0" hangingPunct="0">
              <a:defRPr kumimoji="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9pPr>
          </a:lstStyle>
          <a:p>
            <a:pPr eaLnBrk="1" hangingPunct="1">
              <a:lnSpc>
                <a:spcPct val="90000"/>
              </a:lnSpc>
              <a:spcBef>
                <a:spcPct val="50000"/>
              </a:spcBef>
              <a:buFont typeface="Wingdings" pitchFamily="2" charset="2"/>
              <a:buNone/>
            </a:pPr>
            <a:r>
              <a:rPr lang="en-US" altLang="zh-CN" sz="3200" dirty="0"/>
              <a:t>e</a:t>
            </a:r>
          </a:p>
        </p:txBody>
      </p:sp>
      <p:sp>
        <p:nvSpPr>
          <p:cNvPr id="37" name="Line 29"/>
          <p:cNvSpPr>
            <a:spLocks noChangeShapeType="1"/>
          </p:cNvSpPr>
          <p:nvPr/>
        </p:nvSpPr>
        <p:spPr bwMode="auto">
          <a:xfrm>
            <a:off x="630628" y="3426461"/>
            <a:ext cx="457269" cy="0"/>
          </a:xfrm>
          <a:prstGeom prst="line">
            <a:avLst/>
          </a:prstGeom>
          <a:noFill/>
          <a:ln w="603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2" name="Text Box 72"/>
          <p:cNvSpPr txBox="1">
            <a:spLocks noChangeArrowheads="1"/>
          </p:cNvSpPr>
          <p:nvPr/>
        </p:nvSpPr>
        <p:spPr bwMode="auto">
          <a:xfrm>
            <a:off x="2411760" y="2831976"/>
            <a:ext cx="6589094"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dirty="0">
                <a:latin typeface="微软雅黑" pitchFamily="34" charset="-122"/>
                <a:ea typeface="微软雅黑" pitchFamily="34" charset="-122"/>
                <a:cs typeface="经典粗黑简" pitchFamily="49" charset="-122"/>
              </a:rPr>
              <a:t>表满：</a:t>
            </a:r>
            <a:r>
              <a:rPr lang="en-US" altLang="zh-CN" sz="2000" dirty="0">
                <a:latin typeface="微软雅黑" pitchFamily="34" charset="-122"/>
                <a:ea typeface="微软雅黑" pitchFamily="34" charset="-122"/>
                <a:cs typeface="经典粗黑简" pitchFamily="49" charset="-122"/>
              </a:rPr>
              <a:t>L-&gt;length=</a:t>
            </a:r>
            <a:r>
              <a:rPr lang="en-US" altLang="zh-CN" sz="2000" dirty="0" err="1">
                <a:latin typeface="Times New Roman" pitchFamily="18" charset="0"/>
                <a:ea typeface="宋体" pitchFamily="2" charset="-122"/>
              </a:rPr>
              <a:t>MaxSize</a:t>
            </a:r>
            <a:endParaRPr lang="zh-CN" altLang="en-US" sz="2000" dirty="0">
              <a:latin typeface="Times New Roman" pitchFamily="18" charset="0"/>
              <a:ea typeface="宋体" pitchFamily="2" charset="-122"/>
            </a:endParaRPr>
          </a:p>
          <a:p>
            <a:pPr>
              <a:spcBef>
                <a:spcPct val="20000"/>
              </a:spcBef>
              <a:defRPr/>
            </a:pPr>
            <a:r>
              <a:rPr lang="zh-CN" altLang="en-US" sz="2000" dirty="0">
                <a:latin typeface="微软雅黑" pitchFamily="34" charset="-122"/>
                <a:ea typeface="微软雅黑" pitchFamily="34" charset="-122"/>
                <a:cs typeface="经典粗黑简" pitchFamily="49" charset="-122"/>
              </a:rPr>
              <a:t>合理的插入位置：</a:t>
            </a:r>
            <a:r>
              <a:rPr lang="en-US" altLang="zh-CN" sz="2000" dirty="0">
                <a:latin typeface="微软雅黑" pitchFamily="34" charset="-122"/>
                <a:ea typeface="微软雅黑" pitchFamily="34" charset="-122"/>
                <a:cs typeface="经典粗黑简" pitchFamily="49" charset="-122"/>
              </a:rPr>
              <a:t>1≤i≤L.length</a:t>
            </a:r>
            <a:r>
              <a:rPr lang="en-US" altLang="zh-CN" sz="2000" dirty="0">
                <a:solidFill>
                  <a:srgbClr val="FF0000"/>
                </a:solidFill>
                <a:latin typeface="微软雅黑" pitchFamily="34" charset="-122"/>
                <a:ea typeface="微软雅黑" pitchFamily="34" charset="-122"/>
                <a:cs typeface="经典粗黑简" pitchFamily="49" charset="-122"/>
              </a:rPr>
              <a:t>+1</a:t>
            </a:r>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指的是元素的序号）</a:t>
            </a:r>
          </a:p>
        </p:txBody>
      </p:sp>
      <p:grpSp>
        <p:nvGrpSpPr>
          <p:cNvPr id="43" name="Group 111"/>
          <p:cNvGrpSpPr>
            <a:grpSpLocks/>
          </p:cNvGrpSpPr>
          <p:nvPr/>
        </p:nvGrpSpPr>
        <p:grpSpPr bwMode="auto">
          <a:xfrm>
            <a:off x="2659814" y="2355725"/>
            <a:ext cx="5222875" cy="461962"/>
            <a:chOff x="527" y="2670"/>
            <a:chExt cx="3290" cy="388"/>
          </a:xfrm>
        </p:grpSpPr>
        <p:sp>
          <p:nvSpPr>
            <p:cNvPr id="44" name="Rectangle 112"/>
            <p:cNvSpPr>
              <a:spLocks noChangeArrowheads="1"/>
            </p:cNvSpPr>
            <p:nvPr/>
          </p:nvSpPr>
          <p:spPr bwMode="auto">
            <a:xfrm>
              <a:off x="880" y="2670"/>
              <a:ext cx="2937"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defRPr/>
              </a:pPr>
              <a:r>
                <a:rPr lang="zh-CN" altLang="en-US" sz="2400" dirty="0">
                  <a:latin typeface="微软雅黑" pitchFamily="34" charset="-122"/>
                  <a:ea typeface="微软雅黑" pitchFamily="34" charset="-122"/>
                  <a:cs typeface="经典粗黑简" pitchFamily="49" charset="-122"/>
                </a:rPr>
                <a:t>什么时候不能插入？</a:t>
              </a:r>
            </a:p>
          </p:txBody>
        </p:sp>
        <p:graphicFrame>
          <p:nvGraphicFramePr>
            <p:cNvPr id="45" name="Object 113"/>
            <p:cNvGraphicFramePr>
              <a:graphicFrameLocks noChangeAspect="1"/>
            </p:cNvGraphicFramePr>
            <p:nvPr/>
          </p:nvGraphicFramePr>
          <p:xfrm>
            <a:off x="527" y="2690"/>
            <a:ext cx="356" cy="350"/>
          </p:xfrm>
          <a:graphic>
            <a:graphicData uri="http://schemas.openxmlformats.org/presentationml/2006/ole">
              <mc:AlternateContent xmlns:mc="http://schemas.openxmlformats.org/markup-compatibility/2006">
                <mc:Choice xmlns:v="urn:schemas-microsoft-com:vml" Requires="v">
                  <p:oleObj name="Clip" r:id="rId2" imgW="861365" imgH="844906" progId="MS_ClipArt_Gallery.5">
                    <p:embed/>
                  </p:oleObj>
                </mc:Choice>
                <mc:Fallback>
                  <p:oleObj name="Clip" r:id="rId2" imgW="861365" imgH="844906" progId="MS_ClipArt_Gallery.5">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 y="2690"/>
                          <a:ext cx="356"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6" name="Group 115"/>
          <p:cNvGrpSpPr>
            <a:grpSpLocks/>
          </p:cNvGrpSpPr>
          <p:nvPr/>
        </p:nvGrpSpPr>
        <p:grpSpPr bwMode="auto">
          <a:xfrm>
            <a:off x="6033815" y="2167181"/>
            <a:ext cx="2717800" cy="733424"/>
            <a:chOff x="2884" y="3028"/>
            <a:chExt cx="1712" cy="616"/>
          </a:xfrm>
        </p:grpSpPr>
        <p:sp>
          <p:nvSpPr>
            <p:cNvPr id="47" name="Text Box 76"/>
            <p:cNvSpPr txBox="1">
              <a:spLocks noChangeArrowheads="1"/>
            </p:cNvSpPr>
            <p:nvPr/>
          </p:nvSpPr>
          <p:spPr bwMode="auto">
            <a:xfrm>
              <a:off x="3097" y="3141"/>
              <a:ext cx="1499" cy="439"/>
            </a:xfrm>
            <a:prstGeom prst="rect">
              <a:avLst/>
            </a:prstGeom>
            <a:noFill/>
            <a:ln w="2857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ahoma" pitchFamily="34" charset="0"/>
                  <a:ea typeface="宋体" pitchFamily="2" charset="-122"/>
                </a:defRPr>
              </a:lvl1pPr>
              <a:lvl2pPr>
                <a:defRPr sz="2800">
                  <a:solidFill>
                    <a:schemeClr val="tx1"/>
                  </a:solidFill>
                  <a:latin typeface="Tahoma" pitchFamily="34" charset="0"/>
                  <a:ea typeface="宋体" pitchFamily="2" charset="-122"/>
                </a:defRPr>
              </a:lvl2pPr>
              <a:lvl3pPr>
                <a:defRPr sz="2400">
                  <a:solidFill>
                    <a:schemeClr val="tx1"/>
                  </a:solidFill>
                  <a:latin typeface="Tahoma" pitchFamily="34" charset="0"/>
                  <a:ea typeface="宋体" pitchFamily="2" charset="-122"/>
                </a:defRPr>
              </a:lvl3pPr>
              <a:lvl4pPr>
                <a:defRPr sz="2000">
                  <a:solidFill>
                    <a:schemeClr val="tx1"/>
                  </a:solidFill>
                  <a:latin typeface="Tahoma" pitchFamily="34" charset="0"/>
                  <a:ea typeface="宋体" pitchFamily="2" charset="-122"/>
                </a:defRPr>
              </a:lvl4pPr>
              <a:lvl5pPr>
                <a:defRPr sz="2000">
                  <a:solidFill>
                    <a:schemeClr val="tx1"/>
                  </a:solidFill>
                  <a:latin typeface="Tahoma" pitchFamily="34" charset="0"/>
                  <a:ea typeface="宋体" pitchFamily="2" charset="-122"/>
                </a:defRPr>
              </a:lvl5pPr>
              <a:lvl6pPr eaLnBrk="0" hangingPunct="0">
                <a:defRPr sz="2000">
                  <a:solidFill>
                    <a:schemeClr val="tx1"/>
                  </a:solidFill>
                  <a:latin typeface="Tahoma" pitchFamily="34" charset="0"/>
                  <a:ea typeface="宋体" pitchFamily="2" charset="-122"/>
                </a:defRPr>
              </a:lvl6pPr>
              <a:lvl7pPr eaLnBrk="0" hangingPunct="0">
                <a:defRPr sz="2000">
                  <a:solidFill>
                    <a:schemeClr val="tx1"/>
                  </a:solidFill>
                  <a:latin typeface="Tahoma" pitchFamily="34" charset="0"/>
                  <a:ea typeface="宋体" pitchFamily="2" charset="-122"/>
                </a:defRPr>
              </a:lvl7pPr>
              <a:lvl8pPr eaLnBrk="0" hangingPunct="0">
                <a:defRPr sz="2000">
                  <a:solidFill>
                    <a:schemeClr val="tx1"/>
                  </a:solidFill>
                  <a:latin typeface="Tahoma" pitchFamily="34" charset="0"/>
                  <a:ea typeface="宋体" pitchFamily="2" charset="-122"/>
                </a:defRPr>
              </a:lvl8pPr>
              <a:lvl9pPr eaLnBrk="0" hangingPunct="0">
                <a:defRPr sz="2000">
                  <a:solidFill>
                    <a:schemeClr val="tx1"/>
                  </a:solidFill>
                  <a:latin typeface="Tahoma" pitchFamily="34" charset="0"/>
                  <a:ea typeface="宋体" pitchFamily="2" charset="-122"/>
                </a:defRPr>
              </a:lvl9pPr>
            </a:lstStyle>
            <a:p>
              <a:pPr>
                <a:spcBef>
                  <a:spcPct val="50000"/>
                </a:spcBef>
                <a:buFont typeface="Wingdings" pitchFamily="2" charset="2"/>
                <a:buNone/>
              </a:pPr>
              <a:r>
                <a:rPr lang="zh-CN" altLang="en-US" sz="2800" b="1" dirty="0">
                  <a:solidFill>
                    <a:srgbClr val="FF0000"/>
                  </a:solidFill>
                  <a:latin typeface="Times New Roman" pitchFamily="18" charset="0"/>
                </a:rPr>
                <a:t>注意边界条件</a:t>
              </a:r>
            </a:p>
          </p:txBody>
        </p:sp>
        <p:sp>
          <p:nvSpPr>
            <p:cNvPr id="48" name="AutoShape 114"/>
            <p:cNvSpPr>
              <a:spLocks noChangeArrowheads="1"/>
            </p:cNvSpPr>
            <p:nvPr/>
          </p:nvSpPr>
          <p:spPr bwMode="auto">
            <a:xfrm>
              <a:off x="2884" y="3028"/>
              <a:ext cx="213" cy="616"/>
            </a:xfrm>
            <a:prstGeom prst="rightArrow">
              <a:avLst>
                <a:gd name="adj1" fmla="val 50000"/>
                <a:gd name="adj2" fmla="val 36443"/>
              </a:avLst>
            </a:prstGeom>
            <a:solidFill>
              <a:srgbClr val="FF3300"/>
            </a:solidFill>
            <a:ln w="6350">
              <a:solidFill>
                <a:srgbClr val="FF3300"/>
              </a:solidFill>
              <a:miter lim="800000"/>
              <a:headEnd/>
              <a:tailE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nchor="ctr">
              <a:spAutoFit/>
            </a:bodyPr>
            <a:lstStyle/>
            <a:p>
              <a:pPr eaLnBrk="1" hangingPunct="1"/>
              <a:endParaRPr lang="zh-CN" altLang="en-US"/>
            </a:p>
          </p:txBody>
        </p:sp>
      </p:grpSp>
      <p:sp>
        <p:nvSpPr>
          <p:cNvPr id="49" name="矩形 48"/>
          <p:cNvSpPr/>
          <p:nvPr/>
        </p:nvSpPr>
        <p:spPr>
          <a:xfrm>
            <a:off x="21595" y="4440618"/>
            <a:ext cx="1109599" cy="369332"/>
          </a:xfrm>
          <a:prstGeom prst="rect">
            <a:avLst/>
          </a:prstGeom>
        </p:spPr>
        <p:txBody>
          <a:bodyPr wrap="none">
            <a:spAutoFit/>
          </a:bodyPr>
          <a:lstStyle/>
          <a:p>
            <a:r>
              <a:rPr lang="en-US" altLang="zh-CN" dirty="0">
                <a:latin typeface="Times New Roman" pitchFamily="18" charset="0"/>
                <a:ea typeface="宋体" pitchFamily="2" charset="-122"/>
              </a:rPr>
              <a:t>L-&gt;length</a:t>
            </a:r>
            <a:endParaRPr lang="zh-CN" altLang="en-US" dirty="0">
              <a:latin typeface="Times New Roman" pitchFamily="18" charset="0"/>
              <a:ea typeface="宋体" pitchFamily="2" charset="-122"/>
            </a:endParaRPr>
          </a:p>
        </p:txBody>
      </p:sp>
      <p:sp>
        <p:nvSpPr>
          <p:cNvPr id="50" name="矩形 49"/>
          <p:cNvSpPr/>
          <p:nvPr/>
        </p:nvSpPr>
        <p:spPr>
          <a:xfrm>
            <a:off x="163300" y="1752949"/>
            <a:ext cx="338554" cy="369332"/>
          </a:xfrm>
          <a:prstGeom prst="rect">
            <a:avLst/>
          </a:prstGeom>
        </p:spPr>
        <p:txBody>
          <a:bodyPr wrap="none">
            <a:spAutoFit/>
          </a:bodyPr>
          <a:lstStyle/>
          <a:p>
            <a:r>
              <a:rPr lang="en-US" altLang="zh-CN" b="1" dirty="0">
                <a:latin typeface="Times New Roman" pitchFamily="18" charset="0"/>
                <a:ea typeface="宋体" pitchFamily="2" charset="-122"/>
              </a:rPr>
              <a:t>L</a:t>
            </a:r>
            <a:endParaRPr lang="zh-CN" altLang="en-US" b="1" dirty="0">
              <a:latin typeface="Times New Roman" pitchFamily="18" charset="0"/>
              <a:ea typeface="宋体" pitchFamily="2" charset="-122"/>
            </a:endParaRPr>
          </a:p>
        </p:txBody>
      </p:sp>
      <p:sp>
        <p:nvSpPr>
          <p:cNvPr id="51" name="矩形 50"/>
          <p:cNvSpPr/>
          <p:nvPr/>
        </p:nvSpPr>
        <p:spPr>
          <a:xfrm>
            <a:off x="183977" y="2114507"/>
            <a:ext cx="917239" cy="369332"/>
          </a:xfrm>
          <a:prstGeom prst="rect">
            <a:avLst/>
          </a:prstGeom>
        </p:spPr>
        <p:txBody>
          <a:bodyPr wrap="none">
            <a:spAutoFit/>
          </a:bodyPr>
          <a:lstStyle/>
          <a:p>
            <a:r>
              <a:rPr lang="en-US" altLang="zh-CN" dirty="0">
                <a:latin typeface="Times New Roman" pitchFamily="18" charset="0"/>
                <a:ea typeface="宋体" pitchFamily="2" charset="-122"/>
              </a:rPr>
              <a:t>L-&gt;data</a:t>
            </a:r>
            <a:endParaRPr lang="zh-CN" altLang="en-US" dirty="0">
              <a:latin typeface="Times New Roman" pitchFamily="18" charset="0"/>
              <a:ea typeface="宋体" pitchFamily="2" charset="-122"/>
            </a:endParaRPr>
          </a:p>
        </p:txBody>
      </p:sp>
      <p:sp>
        <p:nvSpPr>
          <p:cNvPr id="2" name="Rectangle 2">
            <a:extLst>
              <a:ext uri="{FF2B5EF4-FFF2-40B4-BE49-F238E27FC236}">
                <a16:creationId xmlns:a16="http://schemas.microsoft.com/office/drawing/2014/main" id="{EC815F83-7672-2F52-8FF5-A6C0372AD4AC}"/>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3" name="矩形 2">
            <a:extLst>
              <a:ext uri="{FF2B5EF4-FFF2-40B4-BE49-F238E27FC236}">
                <a16:creationId xmlns:a16="http://schemas.microsoft.com/office/drawing/2014/main" id="{DC165A73-9253-333D-508E-366405A55E77}"/>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
        <p:nvSpPr>
          <p:cNvPr id="4" name="矩形 3">
            <a:extLst>
              <a:ext uri="{FF2B5EF4-FFF2-40B4-BE49-F238E27FC236}">
                <a16:creationId xmlns:a16="http://schemas.microsoft.com/office/drawing/2014/main" id="{0E37595D-D60D-F77B-DA36-24616834B3C7}"/>
              </a:ext>
            </a:extLst>
          </p:cNvPr>
          <p:cNvSpPr/>
          <p:nvPr/>
        </p:nvSpPr>
        <p:spPr>
          <a:xfrm>
            <a:off x="1108912" y="1545635"/>
            <a:ext cx="1467068" cy="400110"/>
          </a:xfrm>
          <a:prstGeom prst="rect">
            <a:avLst/>
          </a:prstGeom>
        </p:spPr>
        <p:txBody>
          <a:bodyPr wrap="none">
            <a:spAutoFit/>
          </a:bodyPr>
          <a:lstStyle/>
          <a:p>
            <a:pPr>
              <a:defRPr/>
            </a:pPr>
            <a:r>
              <a:rPr lang="zh-CN" altLang="en-US" sz="2000" dirty="0">
                <a:latin typeface="微软雅黑" pitchFamily="34" charset="-122"/>
                <a:ea typeface="微软雅黑" pitchFamily="34" charset="-122"/>
                <a:cs typeface="经典粗黑简" pitchFamily="49" charset="-122"/>
              </a:rPr>
              <a:t>⑨插入运算</a:t>
            </a:r>
          </a:p>
        </p:txBody>
      </p:sp>
      <p:cxnSp>
        <p:nvCxnSpPr>
          <p:cNvPr id="5" name="直接箭头连接符 4">
            <a:extLst>
              <a:ext uri="{FF2B5EF4-FFF2-40B4-BE49-F238E27FC236}">
                <a16:creationId xmlns:a16="http://schemas.microsoft.com/office/drawing/2014/main" id="{F86FFFC2-CDDB-0289-AC5B-976024090206}"/>
              </a:ext>
            </a:extLst>
          </p:cNvPr>
          <p:cNvCxnSpPr>
            <a:cxnSpLocks/>
          </p:cNvCxnSpPr>
          <p:nvPr/>
        </p:nvCxnSpPr>
        <p:spPr>
          <a:xfrm>
            <a:off x="412873" y="2016967"/>
            <a:ext cx="695627" cy="12323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9036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up)">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wipe(left)">
                                      <p:cBhvr>
                                        <p:cTn id="16"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直接连接符 1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1" name="Rectangle 3"/>
          <p:cNvSpPr txBox="1">
            <a:spLocks noChangeArrowheads="1"/>
          </p:cNvSpPr>
          <p:nvPr/>
        </p:nvSpPr>
        <p:spPr>
          <a:xfrm>
            <a:off x="2624643" y="2240010"/>
            <a:ext cx="6051813" cy="69178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lnSpc>
                <a:spcPct val="80000"/>
              </a:lnSpc>
              <a:defRPr/>
            </a:pPr>
            <a:r>
              <a:rPr lang="zh-CN" altLang="en-US" sz="1600" dirty="0">
                <a:solidFill>
                  <a:schemeClr val="tx1"/>
                </a:solidFill>
                <a:latin typeface="微软雅黑" pitchFamily="34" charset="-122"/>
                <a:ea typeface="微软雅黑" pitchFamily="34" charset="-122"/>
                <a:cs typeface="经典粗黑简" pitchFamily="49" charset="-122"/>
              </a:rPr>
              <a:t>插入操作算法描述</a:t>
            </a:r>
            <a:endParaRPr lang="en-US" altLang="zh-CN" sz="1600" dirty="0">
              <a:solidFill>
                <a:schemeClr val="tx1"/>
              </a:solidFill>
              <a:latin typeface="微软雅黑" pitchFamily="34" charset="-122"/>
              <a:ea typeface="微软雅黑" pitchFamily="34" charset="-122"/>
              <a:cs typeface="经典粗黑简" pitchFamily="49" charset="-122"/>
            </a:endParaRPr>
          </a:p>
          <a:p>
            <a:pPr algn="l">
              <a:lnSpc>
                <a:spcPct val="80000"/>
              </a:lnSpc>
              <a:defRPr/>
            </a:pPr>
            <a:r>
              <a:rPr lang="zh-CN" altLang="en-US" sz="1600" dirty="0">
                <a:solidFill>
                  <a:schemeClr val="tx1"/>
                </a:solidFill>
                <a:latin typeface="微软雅黑" pitchFamily="34" charset="-122"/>
                <a:ea typeface="微软雅黑" pitchFamily="34" charset="-122"/>
                <a:cs typeface="经典粗黑简" pitchFamily="49" charset="-122"/>
              </a:rPr>
              <a:t>① 检查顺序表的存储空间是否已到最大值（被占满），若是，则停止插入，并给出“上溢”出错提示；否则，执行第②步。</a:t>
            </a:r>
            <a:endParaRPr lang="en-US" altLang="zh-CN" sz="1600" dirty="0">
              <a:solidFill>
                <a:schemeClr val="tx1"/>
              </a:solidFill>
              <a:latin typeface="微软雅黑" pitchFamily="34" charset="-122"/>
              <a:ea typeface="微软雅黑" pitchFamily="34" charset="-122"/>
              <a:cs typeface="经典粗黑简" pitchFamily="49" charset="-122"/>
            </a:endParaRPr>
          </a:p>
        </p:txBody>
      </p:sp>
      <p:sp>
        <p:nvSpPr>
          <p:cNvPr id="2" name="矩形 1"/>
          <p:cNvSpPr/>
          <p:nvPr/>
        </p:nvSpPr>
        <p:spPr>
          <a:xfrm>
            <a:off x="2624643" y="2949793"/>
            <a:ext cx="6051813" cy="486287"/>
          </a:xfrm>
          <a:prstGeom prst="rect">
            <a:avLst/>
          </a:prstGeom>
        </p:spPr>
        <p:txBody>
          <a:bodyPr wrap="square">
            <a:spAutoFit/>
          </a:bodyPr>
          <a:lstStyle/>
          <a:p>
            <a:pPr>
              <a:lnSpc>
                <a:spcPct val="80000"/>
              </a:lnSpc>
              <a:defRPr/>
            </a:pPr>
            <a:r>
              <a:rPr lang="zh-CN" altLang="en-US" sz="1600" dirty="0">
                <a:latin typeface="微软雅黑" pitchFamily="34" charset="-122"/>
                <a:ea typeface="微软雅黑" pitchFamily="34" charset="-122"/>
                <a:cs typeface="经典粗黑简" pitchFamily="49" charset="-122"/>
              </a:rPr>
              <a:t>② 检查插入位置</a:t>
            </a:r>
            <a:r>
              <a:rPr lang="en-US" altLang="zh-CN" sz="1600" dirty="0">
                <a:latin typeface="微软雅黑" pitchFamily="34" charset="-122"/>
                <a:ea typeface="微软雅黑" pitchFamily="34" charset="-122"/>
                <a:cs typeface="经典粗黑简" pitchFamily="49" charset="-122"/>
              </a:rPr>
              <a:t>i</a:t>
            </a:r>
            <a:r>
              <a:rPr lang="zh-CN" altLang="en-US" sz="1600" dirty="0">
                <a:latin typeface="微软雅黑" pitchFamily="34" charset="-122"/>
                <a:ea typeface="微软雅黑" pitchFamily="34" charset="-122"/>
                <a:cs typeface="经典粗黑简" pitchFamily="49" charset="-122"/>
              </a:rPr>
              <a:t>是否合法，若不合法，则停止插入，并给出“插入位置非法”出错提示；否则，执行第③步。</a:t>
            </a:r>
            <a:endParaRPr lang="en-US" altLang="zh-CN" sz="1600" dirty="0">
              <a:latin typeface="微软雅黑" pitchFamily="34" charset="-122"/>
              <a:ea typeface="微软雅黑" pitchFamily="34" charset="-122"/>
              <a:cs typeface="经典粗黑简" pitchFamily="49" charset="-122"/>
            </a:endParaRPr>
          </a:p>
        </p:txBody>
      </p:sp>
      <p:sp>
        <p:nvSpPr>
          <p:cNvPr id="3" name="矩形 2"/>
          <p:cNvSpPr/>
          <p:nvPr/>
        </p:nvSpPr>
        <p:spPr>
          <a:xfrm>
            <a:off x="2624641" y="3453615"/>
            <a:ext cx="5979806" cy="486287"/>
          </a:xfrm>
          <a:prstGeom prst="rect">
            <a:avLst/>
          </a:prstGeom>
        </p:spPr>
        <p:txBody>
          <a:bodyPr wrap="square">
            <a:spAutoFit/>
          </a:bodyPr>
          <a:lstStyle/>
          <a:p>
            <a:pPr>
              <a:lnSpc>
                <a:spcPct val="80000"/>
              </a:lnSpc>
              <a:defRPr/>
            </a:pPr>
            <a:r>
              <a:rPr lang="zh-CN" altLang="en-US" sz="1600" dirty="0">
                <a:latin typeface="微软雅黑" pitchFamily="34" charset="-122"/>
                <a:ea typeface="微软雅黑" pitchFamily="34" charset="-122"/>
                <a:cs typeface="经典粗黑简" pitchFamily="49" charset="-122"/>
              </a:rPr>
              <a:t>③ 从最后一个元素向前直至第</a:t>
            </a:r>
            <a:r>
              <a:rPr lang="en-US" altLang="zh-CN" sz="1600" dirty="0">
                <a:latin typeface="微软雅黑" pitchFamily="34" charset="-122"/>
                <a:ea typeface="微软雅黑" pitchFamily="34" charset="-122"/>
                <a:cs typeface="经典粗黑简" pitchFamily="49" charset="-122"/>
              </a:rPr>
              <a:t>i</a:t>
            </a:r>
            <a:r>
              <a:rPr lang="zh-CN" altLang="en-US" sz="1600" dirty="0">
                <a:latin typeface="微软雅黑" pitchFamily="34" charset="-122"/>
                <a:ea typeface="微软雅黑" pitchFamily="34" charset="-122"/>
                <a:cs typeface="经典粗黑简" pitchFamily="49" charset="-122"/>
              </a:rPr>
              <a:t>个元素（下标为</a:t>
            </a:r>
            <a:r>
              <a:rPr lang="en-US" altLang="zh-CN" sz="1600" dirty="0">
                <a:latin typeface="微软雅黑" pitchFamily="34" charset="-122"/>
                <a:ea typeface="微软雅黑" pitchFamily="34" charset="-122"/>
                <a:cs typeface="经典粗黑简" pitchFamily="49" charset="-122"/>
              </a:rPr>
              <a:t>i</a:t>
            </a:r>
            <a:r>
              <a:rPr lang="en-US" altLang="zh-CN" sz="1600" dirty="0">
                <a:latin typeface="微软雅黑" pitchFamily="34" charset="-122"/>
                <a:ea typeface="微软雅黑" pitchFamily="34" charset="-122"/>
                <a:cs typeface="经典粗黑简" pitchFamily="49" charset="-122"/>
                <a:sym typeface="Symbol" pitchFamily="18" charset="2"/>
              </a:rPr>
              <a:t></a:t>
            </a:r>
            <a:r>
              <a:rPr lang="en-US" altLang="zh-CN" sz="1600" dirty="0">
                <a:latin typeface="微软雅黑" pitchFamily="34" charset="-122"/>
                <a:ea typeface="微软雅黑" pitchFamily="34" charset="-122"/>
                <a:cs typeface="经典粗黑简" pitchFamily="49" charset="-122"/>
              </a:rPr>
              <a:t>1</a:t>
            </a:r>
            <a:r>
              <a:rPr lang="zh-CN" altLang="en-US" sz="1600" dirty="0">
                <a:latin typeface="微软雅黑" pitchFamily="34" charset="-122"/>
                <a:ea typeface="微软雅黑" pitchFamily="34" charset="-122"/>
                <a:cs typeface="经典粗黑简" pitchFamily="49" charset="-122"/>
              </a:rPr>
              <a:t>）为止，将每一个元素均后移一个存储单元，将第</a:t>
            </a:r>
            <a:r>
              <a:rPr lang="en-US" altLang="zh-CN" sz="1600" dirty="0">
                <a:latin typeface="微软雅黑" pitchFamily="34" charset="-122"/>
                <a:ea typeface="微软雅黑" pitchFamily="34" charset="-122"/>
                <a:cs typeface="经典粗黑简" pitchFamily="49" charset="-122"/>
              </a:rPr>
              <a:t>i</a:t>
            </a:r>
            <a:r>
              <a:rPr lang="zh-CN" altLang="en-US" sz="1600" dirty="0">
                <a:latin typeface="微软雅黑" pitchFamily="34" charset="-122"/>
                <a:ea typeface="微软雅黑" pitchFamily="34" charset="-122"/>
                <a:cs typeface="经典粗黑简" pitchFamily="49" charset="-122"/>
              </a:rPr>
              <a:t>个元素的存储位置空出。</a:t>
            </a:r>
            <a:endParaRPr lang="en-US" altLang="zh-CN" sz="1600" dirty="0">
              <a:latin typeface="微软雅黑" pitchFamily="34" charset="-122"/>
              <a:ea typeface="微软雅黑" pitchFamily="34" charset="-122"/>
              <a:cs typeface="经典粗黑简" pitchFamily="49" charset="-122"/>
            </a:endParaRPr>
          </a:p>
        </p:txBody>
      </p:sp>
      <p:sp>
        <p:nvSpPr>
          <p:cNvPr id="4" name="矩形 3"/>
          <p:cNvSpPr/>
          <p:nvPr/>
        </p:nvSpPr>
        <p:spPr>
          <a:xfrm>
            <a:off x="2624642" y="3975906"/>
            <a:ext cx="5979805" cy="289310"/>
          </a:xfrm>
          <a:prstGeom prst="rect">
            <a:avLst/>
          </a:prstGeom>
        </p:spPr>
        <p:txBody>
          <a:bodyPr wrap="square">
            <a:spAutoFit/>
          </a:bodyPr>
          <a:lstStyle/>
          <a:p>
            <a:pPr>
              <a:lnSpc>
                <a:spcPct val="80000"/>
              </a:lnSpc>
              <a:defRPr/>
            </a:pPr>
            <a:r>
              <a:rPr lang="zh-CN" altLang="en-US" sz="1600" dirty="0">
                <a:latin typeface="微软雅黑" pitchFamily="34" charset="-122"/>
                <a:ea typeface="微软雅黑" pitchFamily="34" charset="-122"/>
                <a:cs typeface="经典粗黑简" pitchFamily="49" charset="-122"/>
              </a:rPr>
              <a:t>④ 将新元素</a:t>
            </a:r>
            <a:r>
              <a:rPr lang="en-US" altLang="zh-CN" sz="1600" dirty="0">
                <a:latin typeface="微软雅黑" pitchFamily="34" charset="-122"/>
                <a:ea typeface="微软雅黑" pitchFamily="34" charset="-122"/>
                <a:cs typeface="经典粗黑简" pitchFamily="49" charset="-122"/>
              </a:rPr>
              <a:t>e</a:t>
            </a:r>
            <a:r>
              <a:rPr lang="zh-CN" altLang="en-US" sz="1600" dirty="0">
                <a:latin typeface="微软雅黑" pitchFamily="34" charset="-122"/>
                <a:ea typeface="微软雅黑" pitchFamily="34" charset="-122"/>
                <a:cs typeface="经典粗黑简" pitchFamily="49" charset="-122"/>
              </a:rPr>
              <a:t>写入到第</a:t>
            </a:r>
            <a:r>
              <a:rPr lang="en-US" altLang="zh-CN" sz="1600" dirty="0">
                <a:latin typeface="微软雅黑" pitchFamily="34" charset="-122"/>
                <a:ea typeface="微软雅黑" pitchFamily="34" charset="-122"/>
                <a:cs typeface="经典粗黑简" pitchFamily="49" charset="-122"/>
              </a:rPr>
              <a:t>i</a:t>
            </a:r>
            <a:r>
              <a:rPr lang="zh-CN" altLang="en-US" sz="1600" dirty="0">
                <a:latin typeface="微软雅黑" pitchFamily="34" charset="-122"/>
                <a:ea typeface="微软雅黑" pitchFamily="34" charset="-122"/>
                <a:cs typeface="经典粗黑简" pitchFamily="49" charset="-122"/>
              </a:rPr>
              <a:t>个元素处，即下标为</a:t>
            </a:r>
            <a:r>
              <a:rPr lang="en-US" altLang="zh-CN" sz="1600" dirty="0">
                <a:latin typeface="微软雅黑" pitchFamily="34" charset="-122"/>
                <a:ea typeface="微软雅黑" pitchFamily="34" charset="-122"/>
                <a:cs typeface="经典粗黑简" pitchFamily="49" charset="-122"/>
              </a:rPr>
              <a:t>i</a:t>
            </a:r>
            <a:r>
              <a:rPr lang="en-US" altLang="zh-CN" sz="1600" dirty="0">
                <a:latin typeface="微软雅黑" pitchFamily="34" charset="-122"/>
                <a:ea typeface="微软雅黑" pitchFamily="34" charset="-122"/>
                <a:cs typeface="经典粗黑简" pitchFamily="49" charset="-122"/>
                <a:sym typeface="Symbol" pitchFamily="18" charset="2"/>
              </a:rPr>
              <a:t></a:t>
            </a:r>
            <a:r>
              <a:rPr lang="en-US" altLang="zh-CN" sz="1600" dirty="0">
                <a:latin typeface="微软雅黑" pitchFamily="34" charset="-122"/>
                <a:ea typeface="微软雅黑" pitchFamily="34" charset="-122"/>
                <a:cs typeface="经典粗黑简" pitchFamily="49" charset="-122"/>
              </a:rPr>
              <a:t>1</a:t>
            </a:r>
            <a:r>
              <a:rPr lang="zh-CN" altLang="en-US" sz="1600" dirty="0">
                <a:latin typeface="微软雅黑" pitchFamily="34" charset="-122"/>
                <a:ea typeface="微软雅黑" pitchFamily="34" charset="-122"/>
                <a:cs typeface="经典粗黑简" pitchFamily="49" charset="-122"/>
              </a:rPr>
              <a:t>的位置。</a:t>
            </a:r>
            <a:endParaRPr lang="en-US" altLang="zh-CN" sz="1600" dirty="0">
              <a:latin typeface="微软雅黑" pitchFamily="34" charset="-122"/>
              <a:ea typeface="微软雅黑" pitchFamily="34" charset="-122"/>
              <a:cs typeface="经典粗黑简" pitchFamily="49" charset="-122"/>
            </a:endParaRPr>
          </a:p>
        </p:txBody>
      </p:sp>
      <p:sp>
        <p:nvSpPr>
          <p:cNvPr id="5" name="矩形 4"/>
          <p:cNvSpPr/>
          <p:nvPr/>
        </p:nvSpPr>
        <p:spPr>
          <a:xfrm>
            <a:off x="2624643" y="4245936"/>
            <a:ext cx="2212465" cy="289310"/>
          </a:xfrm>
          <a:prstGeom prst="rect">
            <a:avLst/>
          </a:prstGeom>
        </p:spPr>
        <p:txBody>
          <a:bodyPr wrap="none">
            <a:spAutoFit/>
          </a:bodyPr>
          <a:lstStyle/>
          <a:p>
            <a:pPr>
              <a:lnSpc>
                <a:spcPct val="80000"/>
              </a:lnSpc>
              <a:defRPr/>
            </a:pPr>
            <a:r>
              <a:rPr lang="zh-CN" altLang="en-US" sz="1600" dirty="0">
                <a:latin typeface="微软雅黑" pitchFamily="34" charset="-122"/>
                <a:ea typeface="微软雅黑" pitchFamily="34" charset="-122"/>
                <a:cs typeface="经典粗黑简" pitchFamily="49" charset="-122"/>
              </a:rPr>
              <a:t>⑤ 将顺序表长度加</a:t>
            </a:r>
            <a:r>
              <a:rPr lang="en-US" altLang="zh-CN" sz="1600" dirty="0">
                <a:latin typeface="微软雅黑" pitchFamily="34" charset="-122"/>
                <a:ea typeface="微软雅黑" pitchFamily="34" charset="-122"/>
                <a:cs typeface="经典粗黑简" pitchFamily="49" charset="-122"/>
              </a:rPr>
              <a:t>1</a:t>
            </a:r>
            <a:r>
              <a:rPr lang="zh-CN" altLang="en-US" sz="1600" dirty="0">
                <a:latin typeface="微软雅黑" pitchFamily="34" charset="-122"/>
                <a:ea typeface="微软雅黑" pitchFamily="34" charset="-122"/>
                <a:cs typeface="经典粗黑简" pitchFamily="49" charset="-122"/>
              </a:rPr>
              <a:t>。</a:t>
            </a:r>
          </a:p>
        </p:txBody>
      </p:sp>
      <p:sp>
        <p:nvSpPr>
          <p:cNvPr id="22" name="矩形 21"/>
          <p:cNvSpPr/>
          <p:nvPr/>
        </p:nvSpPr>
        <p:spPr>
          <a:xfrm>
            <a:off x="122233" y="4712034"/>
            <a:ext cx="2952826" cy="307777"/>
          </a:xfrm>
          <a:prstGeom prst="rect">
            <a:avLst/>
          </a:prstGeom>
        </p:spPr>
        <p:txBody>
          <a:bodyPr wrap="square">
            <a:spAutoFit/>
          </a:bodyPr>
          <a:lstStyle/>
          <a:p>
            <a:r>
              <a:rPr lang="zh-CN" altLang="en-US" sz="1400" dirty="0"/>
              <a:t>在线性表</a:t>
            </a:r>
            <a:r>
              <a:rPr lang="en-US" altLang="zh-CN" sz="1400" dirty="0"/>
              <a:t>L</a:t>
            </a:r>
            <a:r>
              <a:rPr lang="zh-CN" altLang="en-US" sz="1400" dirty="0"/>
              <a:t>的第</a:t>
            </a:r>
            <a:r>
              <a:rPr lang="en-US" altLang="zh-CN" sz="1400" dirty="0"/>
              <a:t>i</a:t>
            </a:r>
            <a:r>
              <a:rPr lang="zh-CN" altLang="en-US" sz="1400" dirty="0"/>
              <a:t>个位置上插入元素</a:t>
            </a:r>
            <a:r>
              <a:rPr lang="en-US" altLang="zh-CN" sz="1400" dirty="0"/>
              <a:t>e</a:t>
            </a:r>
            <a:endParaRPr lang="zh-CN" altLang="en-US" sz="1400" dirty="0"/>
          </a:p>
        </p:txBody>
      </p:sp>
      <p:sp>
        <p:nvSpPr>
          <p:cNvPr id="6" name="Rectangle 2">
            <a:extLst>
              <a:ext uri="{FF2B5EF4-FFF2-40B4-BE49-F238E27FC236}">
                <a16:creationId xmlns:a16="http://schemas.microsoft.com/office/drawing/2014/main" id="{C3F99CEA-A2C3-47C9-84DF-0AB69080C5AB}"/>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7" name="矩形 6">
            <a:extLst>
              <a:ext uri="{FF2B5EF4-FFF2-40B4-BE49-F238E27FC236}">
                <a16:creationId xmlns:a16="http://schemas.microsoft.com/office/drawing/2014/main" id="{D48AD558-716E-0532-CA2B-58F15EB36676}"/>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graphicFrame>
        <p:nvGraphicFramePr>
          <p:cNvPr id="8" name="表格 7">
            <a:extLst>
              <a:ext uri="{FF2B5EF4-FFF2-40B4-BE49-F238E27FC236}">
                <a16:creationId xmlns:a16="http://schemas.microsoft.com/office/drawing/2014/main" id="{446B3DC5-EDD6-6D3B-B997-D6ED9388C074}"/>
              </a:ext>
            </a:extLst>
          </p:cNvPr>
          <p:cNvGraphicFramePr>
            <a:graphicFrameLocks noGrp="1"/>
          </p:cNvGraphicFramePr>
          <p:nvPr>
            <p:extLst>
              <p:ext uri="{D42A27DB-BD31-4B8C-83A1-F6EECF244321}">
                <p14:modId xmlns:p14="http://schemas.microsoft.com/office/powerpoint/2010/main" val="1472829557"/>
              </p:ext>
            </p:extLst>
          </p:nvPr>
        </p:nvGraphicFramePr>
        <p:xfrm>
          <a:off x="1087897" y="2178550"/>
          <a:ext cx="1094967" cy="2550519"/>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a:t>a</a:t>
                      </a:r>
                      <a:r>
                        <a:rPr lang="en-US" altLang="zh-CN" sz="1400" baseline="-25000" dirty="0"/>
                        <a:t>i-1</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a</a:t>
                      </a:r>
                      <a:r>
                        <a:rPr lang="en-US" altLang="zh-CN" sz="1400" baseline="-25000" dirty="0" err="1"/>
                        <a:t>i</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5"/>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6"/>
                  </a:ext>
                </a:extLst>
              </a:tr>
              <a:tr h="283391">
                <a:tc>
                  <a:txBody>
                    <a:bodyPr/>
                    <a:lstStyle/>
                    <a:p>
                      <a:pPr algn="ctr"/>
                      <a:endParaRPr lang="zh-CN" altLang="en-US" sz="1400" dirty="0"/>
                    </a:p>
                  </a:txBody>
                  <a:tcPr marT="34290" marB="34290">
                    <a:pattFill prst="wdDnDiag">
                      <a:fgClr>
                        <a:schemeClr val="tx1"/>
                      </a:fgClr>
                      <a:bgClr>
                        <a:schemeClr val="bg1"/>
                      </a:bgClr>
                    </a:pattFill>
                  </a:tcPr>
                </a:tc>
                <a:extLst>
                  <a:ext uri="{0D108BD9-81ED-4DB2-BD59-A6C34878D82A}">
                    <a16:rowId xmlns:a16="http://schemas.microsoft.com/office/drawing/2014/main" val="10007"/>
                  </a:ext>
                </a:extLst>
              </a:tr>
              <a:tr h="283391">
                <a:tc>
                  <a:txBody>
                    <a:bodyPr/>
                    <a:lstStyle/>
                    <a:p>
                      <a:pPr algn="ctr"/>
                      <a:endParaRPr lang="zh-CN" altLang="en-US" sz="1400" dirty="0"/>
                    </a:p>
                  </a:txBody>
                  <a:tcPr marT="34290" marB="34290">
                    <a:solidFill>
                      <a:srgbClr val="92D050"/>
                    </a:solidFill>
                  </a:tcPr>
                </a:tc>
                <a:extLst>
                  <a:ext uri="{0D108BD9-81ED-4DB2-BD59-A6C34878D82A}">
                    <a16:rowId xmlns:a16="http://schemas.microsoft.com/office/drawing/2014/main" val="10008"/>
                  </a:ext>
                </a:extLst>
              </a:tr>
            </a:tbl>
          </a:graphicData>
        </a:graphic>
      </p:graphicFrame>
      <p:sp>
        <p:nvSpPr>
          <p:cNvPr id="9" name="Text Box 15">
            <a:extLst>
              <a:ext uri="{FF2B5EF4-FFF2-40B4-BE49-F238E27FC236}">
                <a16:creationId xmlns:a16="http://schemas.microsoft.com/office/drawing/2014/main" id="{4D43D86B-666C-E8F1-4164-5AF3AB03AB07}"/>
              </a:ext>
            </a:extLst>
          </p:cNvPr>
          <p:cNvSpPr txBox="1">
            <a:spLocks noChangeArrowheads="1"/>
          </p:cNvSpPr>
          <p:nvPr/>
        </p:nvSpPr>
        <p:spPr bwMode="auto">
          <a:xfrm>
            <a:off x="269291" y="3205885"/>
            <a:ext cx="309086"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Times New Roman" pitchFamily="18" charset="0"/>
                <a:ea typeface="宋体" pitchFamily="2" charset="-122"/>
              </a:defRPr>
            </a:lvl1pPr>
            <a:lvl2pPr marL="742950" indent="-285750" eaLnBrk="0" hangingPunct="0">
              <a:defRPr kumimoji="1">
                <a:solidFill>
                  <a:schemeClr val="tx1"/>
                </a:solidFill>
                <a:latin typeface="Times New Roman" pitchFamily="18" charset="0"/>
                <a:ea typeface="宋体" pitchFamily="2" charset="-122"/>
              </a:defRPr>
            </a:lvl2pPr>
            <a:lvl3pPr marL="1143000" indent="-228600" eaLnBrk="0" hangingPunct="0">
              <a:defRPr kumimoji="1">
                <a:solidFill>
                  <a:schemeClr val="tx1"/>
                </a:solidFill>
                <a:latin typeface="Times New Roman" pitchFamily="18" charset="0"/>
                <a:ea typeface="宋体" pitchFamily="2" charset="-122"/>
              </a:defRPr>
            </a:lvl3pPr>
            <a:lvl4pPr marL="1600200" indent="-228600" eaLnBrk="0" hangingPunct="0">
              <a:defRPr kumimoji="1">
                <a:solidFill>
                  <a:schemeClr val="tx1"/>
                </a:solidFill>
                <a:latin typeface="Times New Roman" pitchFamily="18" charset="0"/>
                <a:ea typeface="宋体" pitchFamily="2" charset="-122"/>
              </a:defRPr>
            </a:lvl4pPr>
            <a:lvl5pPr marL="2057400" indent="-228600" eaLnBrk="0" hangingPunct="0">
              <a:defRPr kumimoji="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9pPr>
          </a:lstStyle>
          <a:p>
            <a:pPr eaLnBrk="1" hangingPunct="1">
              <a:lnSpc>
                <a:spcPct val="90000"/>
              </a:lnSpc>
              <a:spcBef>
                <a:spcPct val="50000"/>
              </a:spcBef>
              <a:buFont typeface="Wingdings" pitchFamily="2" charset="2"/>
              <a:buNone/>
            </a:pPr>
            <a:r>
              <a:rPr lang="en-US" altLang="zh-CN" sz="3200" dirty="0"/>
              <a:t>e</a:t>
            </a:r>
          </a:p>
        </p:txBody>
      </p:sp>
      <p:sp>
        <p:nvSpPr>
          <p:cNvPr id="10" name="Line 29">
            <a:extLst>
              <a:ext uri="{FF2B5EF4-FFF2-40B4-BE49-F238E27FC236}">
                <a16:creationId xmlns:a16="http://schemas.microsoft.com/office/drawing/2014/main" id="{4F75C313-2A0E-6BEC-C59C-C1AA0E340D12}"/>
              </a:ext>
            </a:extLst>
          </p:cNvPr>
          <p:cNvSpPr>
            <a:spLocks noChangeShapeType="1"/>
          </p:cNvSpPr>
          <p:nvPr/>
        </p:nvSpPr>
        <p:spPr bwMode="auto">
          <a:xfrm>
            <a:off x="630628" y="3426461"/>
            <a:ext cx="457269" cy="0"/>
          </a:xfrm>
          <a:prstGeom prst="line">
            <a:avLst/>
          </a:prstGeom>
          <a:noFill/>
          <a:ln w="603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 name="矩形 10">
            <a:extLst>
              <a:ext uri="{FF2B5EF4-FFF2-40B4-BE49-F238E27FC236}">
                <a16:creationId xmlns:a16="http://schemas.microsoft.com/office/drawing/2014/main" id="{608B5C8D-3F3A-124C-25A2-98C99FA0BDE6}"/>
              </a:ext>
            </a:extLst>
          </p:cNvPr>
          <p:cNvSpPr/>
          <p:nvPr/>
        </p:nvSpPr>
        <p:spPr>
          <a:xfrm>
            <a:off x="21595" y="4440618"/>
            <a:ext cx="1109599" cy="369332"/>
          </a:xfrm>
          <a:prstGeom prst="rect">
            <a:avLst/>
          </a:prstGeom>
        </p:spPr>
        <p:txBody>
          <a:bodyPr wrap="none">
            <a:spAutoFit/>
          </a:bodyPr>
          <a:lstStyle/>
          <a:p>
            <a:r>
              <a:rPr lang="en-US" altLang="zh-CN" dirty="0">
                <a:latin typeface="Times New Roman" pitchFamily="18" charset="0"/>
                <a:ea typeface="宋体" pitchFamily="2" charset="-122"/>
              </a:rPr>
              <a:t>L-&gt;length</a:t>
            </a:r>
            <a:endParaRPr lang="zh-CN" altLang="en-US" dirty="0">
              <a:latin typeface="Times New Roman" pitchFamily="18" charset="0"/>
              <a:ea typeface="宋体" pitchFamily="2" charset="-122"/>
            </a:endParaRPr>
          </a:p>
        </p:txBody>
      </p:sp>
      <p:sp>
        <p:nvSpPr>
          <p:cNvPr id="12" name="矩形 11">
            <a:extLst>
              <a:ext uri="{FF2B5EF4-FFF2-40B4-BE49-F238E27FC236}">
                <a16:creationId xmlns:a16="http://schemas.microsoft.com/office/drawing/2014/main" id="{8777EEBD-E93E-FF32-1FC9-9F8229493931}"/>
              </a:ext>
            </a:extLst>
          </p:cNvPr>
          <p:cNvSpPr/>
          <p:nvPr/>
        </p:nvSpPr>
        <p:spPr>
          <a:xfrm>
            <a:off x="163300" y="1752949"/>
            <a:ext cx="338554" cy="369332"/>
          </a:xfrm>
          <a:prstGeom prst="rect">
            <a:avLst/>
          </a:prstGeom>
        </p:spPr>
        <p:txBody>
          <a:bodyPr wrap="none">
            <a:spAutoFit/>
          </a:bodyPr>
          <a:lstStyle/>
          <a:p>
            <a:r>
              <a:rPr lang="en-US" altLang="zh-CN" b="1" dirty="0">
                <a:latin typeface="Times New Roman" pitchFamily="18" charset="0"/>
                <a:ea typeface="宋体" pitchFamily="2" charset="-122"/>
              </a:rPr>
              <a:t>L</a:t>
            </a:r>
            <a:endParaRPr lang="zh-CN" altLang="en-US" b="1" dirty="0">
              <a:latin typeface="Times New Roman" pitchFamily="18" charset="0"/>
              <a:ea typeface="宋体" pitchFamily="2" charset="-122"/>
            </a:endParaRPr>
          </a:p>
        </p:txBody>
      </p:sp>
      <p:sp>
        <p:nvSpPr>
          <p:cNvPr id="13" name="矩形 12">
            <a:extLst>
              <a:ext uri="{FF2B5EF4-FFF2-40B4-BE49-F238E27FC236}">
                <a16:creationId xmlns:a16="http://schemas.microsoft.com/office/drawing/2014/main" id="{5CCA083D-45E1-2410-9940-58A22F6774E5}"/>
              </a:ext>
            </a:extLst>
          </p:cNvPr>
          <p:cNvSpPr/>
          <p:nvPr/>
        </p:nvSpPr>
        <p:spPr>
          <a:xfrm>
            <a:off x="183977" y="2114507"/>
            <a:ext cx="917239" cy="369332"/>
          </a:xfrm>
          <a:prstGeom prst="rect">
            <a:avLst/>
          </a:prstGeom>
        </p:spPr>
        <p:txBody>
          <a:bodyPr wrap="none">
            <a:spAutoFit/>
          </a:bodyPr>
          <a:lstStyle/>
          <a:p>
            <a:r>
              <a:rPr lang="en-US" altLang="zh-CN" dirty="0">
                <a:latin typeface="Times New Roman" pitchFamily="18" charset="0"/>
                <a:ea typeface="宋体" pitchFamily="2" charset="-122"/>
              </a:rPr>
              <a:t>L-&gt;data</a:t>
            </a:r>
            <a:endParaRPr lang="zh-CN" altLang="en-US" dirty="0">
              <a:latin typeface="Times New Roman" pitchFamily="18" charset="0"/>
              <a:ea typeface="宋体" pitchFamily="2" charset="-122"/>
            </a:endParaRPr>
          </a:p>
        </p:txBody>
      </p:sp>
      <p:cxnSp>
        <p:nvCxnSpPr>
          <p:cNvPr id="14" name="直接箭头连接符 13">
            <a:extLst>
              <a:ext uri="{FF2B5EF4-FFF2-40B4-BE49-F238E27FC236}">
                <a16:creationId xmlns:a16="http://schemas.microsoft.com/office/drawing/2014/main" id="{F78061E5-8F72-E11A-8E49-599DE9A98CB2}"/>
              </a:ext>
            </a:extLst>
          </p:cNvPr>
          <p:cNvCxnSpPr>
            <a:cxnSpLocks/>
          </p:cNvCxnSpPr>
          <p:nvPr/>
        </p:nvCxnSpPr>
        <p:spPr>
          <a:xfrm>
            <a:off x="412873" y="2016967"/>
            <a:ext cx="695627" cy="12323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C97E6BC4-1D06-F7E6-DAB1-FFB4FFA4F71A}"/>
              </a:ext>
            </a:extLst>
          </p:cNvPr>
          <p:cNvSpPr/>
          <p:nvPr/>
        </p:nvSpPr>
        <p:spPr>
          <a:xfrm>
            <a:off x="1108912" y="1545635"/>
            <a:ext cx="1467068" cy="400110"/>
          </a:xfrm>
          <a:prstGeom prst="rect">
            <a:avLst/>
          </a:prstGeom>
        </p:spPr>
        <p:txBody>
          <a:bodyPr wrap="none">
            <a:spAutoFit/>
          </a:bodyPr>
          <a:lstStyle/>
          <a:p>
            <a:pPr>
              <a:defRPr/>
            </a:pPr>
            <a:r>
              <a:rPr lang="zh-CN" altLang="en-US" sz="2000" dirty="0">
                <a:latin typeface="微软雅黑" pitchFamily="34" charset="-122"/>
                <a:ea typeface="微软雅黑" pitchFamily="34" charset="-122"/>
                <a:cs typeface="经典粗黑简" pitchFamily="49" charset="-122"/>
              </a:rPr>
              <a:t>⑨插入运算</a:t>
            </a:r>
          </a:p>
        </p:txBody>
      </p:sp>
    </p:spTree>
    <p:extLst>
      <p:ext uri="{BB962C8B-B14F-4D97-AF65-F5344CB8AC3E}">
        <p14:creationId xmlns:p14="http://schemas.microsoft.com/office/powerpoint/2010/main" val="2974679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直接连接符 1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graphicFrame>
        <p:nvGraphicFramePr>
          <p:cNvPr id="34" name="表格 33"/>
          <p:cNvGraphicFramePr>
            <a:graphicFrameLocks noGrp="1"/>
          </p:cNvGraphicFramePr>
          <p:nvPr>
            <p:extLst>
              <p:ext uri="{D42A27DB-BD31-4B8C-83A1-F6EECF244321}">
                <p14:modId xmlns:p14="http://schemas.microsoft.com/office/powerpoint/2010/main" val="125978756"/>
              </p:ext>
            </p:extLst>
          </p:nvPr>
        </p:nvGraphicFramePr>
        <p:xfrm>
          <a:off x="1087897" y="2034534"/>
          <a:ext cx="1094967" cy="2550519"/>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a:t>a</a:t>
                      </a:r>
                      <a:r>
                        <a:rPr lang="en-US" altLang="zh-CN" sz="1400" baseline="-25000" dirty="0"/>
                        <a:t>i-1</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a</a:t>
                      </a:r>
                      <a:r>
                        <a:rPr lang="en-US" altLang="zh-CN" sz="1400" baseline="-25000" dirty="0" err="1"/>
                        <a:t>i</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5"/>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6"/>
                  </a:ext>
                </a:extLst>
              </a:tr>
              <a:tr h="283391">
                <a:tc>
                  <a:txBody>
                    <a:bodyPr/>
                    <a:lstStyle/>
                    <a:p>
                      <a:pPr algn="ctr"/>
                      <a:endParaRPr lang="zh-CN" altLang="en-US" sz="1400" dirty="0"/>
                    </a:p>
                  </a:txBody>
                  <a:tcPr marT="34290" marB="34290">
                    <a:pattFill prst="wdDnDiag">
                      <a:fgClr>
                        <a:schemeClr val="tx1"/>
                      </a:fgClr>
                      <a:bgClr>
                        <a:schemeClr val="bg1"/>
                      </a:bgClr>
                    </a:pattFill>
                  </a:tcPr>
                </a:tc>
                <a:extLst>
                  <a:ext uri="{0D108BD9-81ED-4DB2-BD59-A6C34878D82A}">
                    <a16:rowId xmlns:a16="http://schemas.microsoft.com/office/drawing/2014/main" val="10007"/>
                  </a:ext>
                </a:extLst>
              </a:tr>
              <a:tr h="283391">
                <a:tc>
                  <a:txBody>
                    <a:bodyPr/>
                    <a:lstStyle/>
                    <a:p>
                      <a:pPr algn="ctr"/>
                      <a:endParaRPr lang="zh-CN" altLang="en-US" sz="1400" dirty="0"/>
                    </a:p>
                  </a:txBody>
                  <a:tcPr marT="34290" marB="34290">
                    <a:solidFill>
                      <a:srgbClr val="92D050"/>
                    </a:solidFill>
                  </a:tcPr>
                </a:tc>
                <a:extLst>
                  <a:ext uri="{0D108BD9-81ED-4DB2-BD59-A6C34878D82A}">
                    <a16:rowId xmlns:a16="http://schemas.microsoft.com/office/drawing/2014/main" val="10008"/>
                  </a:ext>
                </a:extLst>
              </a:tr>
            </a:tbl>
          </a:graphicData>
        </a:graphic>
      </p:graphicFrame>
      <p:sp>
        <p:nvSpPr>
          <p:cNvPr id="35" name="矩形 34"/>
          <p:cNvSpPr/>
          <p:nvPr/>
        </p:nvSpPr>
        <p:spPr>
          <a:xfrm>
            <a:off x="195716" y="4515966"/>
            <a:ext cx="2550903" cy="523220"/>
          </a:xfrm>
          <a:prstGeom prst="rect">
            <a:avLst/>
          </a:prstGeom>
        </p:spPr>
        <p:txBody>
          <a:bodyPr wrap="square">
            <a:spAutoFit/>
          </a:bodyPr>
          <a:lstStyle/>
          <a:p>
            <a:r>
              <a:rPr lang="zh-CN" altLang="en-US" sz="1400" dirty="0"/>
              <a:t>在线性表</a:t>
            </a:r>
            <a:r>
              <a:rPr lang="en-US" altLang="zh-CN" sz="1400" dirty="0"/>
              <a:t>L</a:t>
            </a:r>
            <a:r>
              <a:rPr lang="zh-CN" altLang="en-US" sz="1400" dirty="0"/>
              <a:t>的第</a:t>
            </a:r>
            <a:r>
              <a:rPr lang="en-US" altLang="zh-CN" sz="1400" dirty="0"/>
              <a:t>i</a:t>
            </a:r>
            <a:r>
              <a:rPr lang="zh-CN" altLang="en-US" sz="1400" dirty="0"/>
              <a:t>个位置上插入元素</a:t>
            </a:r>
            <a:r>
              <a:rPr lang="en-US" altLang="zh-CN" sz="1400" dirty="0"/>
              <a:t>e</a:t>
            </a:r>
            <a:endParaRPr lang="zh-CN" altLang="en-US" sz="1400" dirty="0"/>
          </a:p>
        </p:txBody>
      </p:sp>
      <p:sp>
        <p:nvSpPr>
          <p:cNvPr id="36" name="Text Box 15"/>
          <p:cNvSpPr txBox="1">
            <a:spLocks noChangeArrowheads="1"/>
          </p:cNvSpPr>
          <p:nvPr/>
        </p:nvSpPr>
        <p:spPr bwMode="auto">
          <a:xfrm>
            <a:off x="269291" y="3061869"/>
            <a:ext cx="309086"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Times New Roman" pitchFamily="18" charset="0"/>
                <a:ea typeface="宋体" pitchFamily="2" charset="-122"/>
              </a:defRPr>
            </a:lvl1pPr>
            <a:lvl2pPr marL="742950" indent="-285750" eaLnBrk="0" hangingPunct="0">
              <a:defRPr kumimoji="1">
                <a:solidFill>
                  <a:schemeClr val="tx1"/>
                </a:solidFill>
                <a:latin typeface="Times New Roman" pitchFamily="18" charset="0"/>
                <a:ea typeface="宋体" pitchFamily="2" charset="-122"/>
              </a:defRPr>
            </a:lvl2pPr>
            <a:lvl3pPr marL="1143000" indent="-228600" eaLnBrk="0" hangingPunct="0">
              <a:defRPr kumimoji="1">
                <a:solidFill>
                  <a:schemeClr val="tx1"/>
                </a:solidFill>
                <a:latin typeface="Times New Roman" pitchFamily="18" charset="0"/>
                <a:ea typeface="宋体" pitchFamily="2" charset="-122"/>
              </a:defRPr>
            </a:lvl3pPr>
            <a:lvl4pPr marL="1600200" indent="-228600" eaLnBrk="0" hangingPunct="0">
              <a:defRPr kumimoji="1">
                <a:solidFill>
                  <a:schemeClr val="tx1"/>
                </a:solidFill>
                <a:latin typeface="Times New Roman" pitchFamily="18" charset="0"/>
                <a:ea typeface="宋体" pitchFamily="2" charset="-122"/>
              </a:defRPr>
            </a:lvl4pPr>
            <a:lvl5pPr marL="2057400" indent="-228600" eaLnBrk="0" hangingPunct="0">
              <a:defRPr kumimoji="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9pPr>
          </a:lstStyle>
          <a:p>
            <a:pPr eaLnBrk="1" hangingPunct="1">
              <a:lnSpc>
                <a:spcPct val="90000"/>
              </a:lnSpc>
              <a:spcBef>
                <a:spcPct val="50000"/>
              </a:spcBef>
              <a:buFont typeface="Wingdings" pitchFamily="2" charset="2"/>
              <a:buNone/>
            </a:pPr>
            <a:r>
              <a:rPr lang="en-US" altLang="zh-CN" sz="3200" dirty="0"/>
              <a:t>e</a:t>
            </a:r>
          </a:p>
        </p:txBody>
      </p:sp>
      <p:sp>
        <p:nvSpPr>
          <p:cNvPr id="37" name="Line 29"/>
          <p:cNvSpPr>
            <a:spLocks noChangeShapeType="1"/>
          </p:cNvSpPr>
          <p:nvPr/>
        </p:nvSpPr>
        <p:spPr bwMode="auto">
          <a:xfrm>
            <a:off x="630628" y="3282445"/>
            <a:ext cx="457269" cy="0"/>
          </a:xfrm>
          <a:prstGeom prst="line">
            <a:avLst/>
          </a:prstGeom>
          <a:noFill/>
          <a:ln w="603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8" name="表格 37"/>
          <p:cNvGraphicFramePr>
            <a:graphicFrameLocks noGrp="1"/>
          </p:cNvGraphicFramePr>
          <p:nvPr>
            <p:extLst>
              <p:ext uri="{D42A27DB-BD31-4B8C-83A1-F6EECF244321}">
                <p14:modId xmlns:p14="http://schemas.microsoft.com/office/powerpoint/2010/main" val="3641732124"/>
              </p:ext>
            </p:extLst>
          </p:nvPr>
        </p:nvGraphicFramePr>
        <p:xfrm>
          <a:off x="4028067" y="1923678"/>
          <a:ext cx="1094967" cy="2550519"/>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a:t>a</a:t>
                      </a:r>
                      <a:r>
                        <a:rPr lang="en-US" altLang="zh-CN" sz="1400" baseline="-25000" dirty="0"/>
                        <a:t>i-1</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marT="34290" marB="34290">
                    <a:solidFill>
                      <a:srgbClr val="FF0000"/>
                    </a:solidFill>
                  </a:tcPr>
                </a:tc>
                <a:extLst>
                  <a:ext uri="{0D108BD9-81ED-4DB2-BD59-A6C34878D82A}">
                    <a16:rowId xmlns:a16="http://schemas.microsoft.com/office/drawing/2014/main" val="10004"/>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a</a:t>
                      </a:r>
                      <a:r>
                        <a:rPr lang="en-US" altLang="zh-CN" sz="1400" baseline="-25000" dirty="0" err="1"/>
                        <a:t>i</a:t>
                      </a:r>
                      <a:endParaRPr lang="zh-CN" altLang="en-US" sz="1400" dirty="0"/>
                    </a:p>
                  </a:txBody>
                  <a:tcPr marT="34290" marB="34290">
                    <a:solidFill>
                      <a:srgbClr val="FFC000"/>
                    </a:solidFill>
                  </a:tcPr>
                </a:tc>
                <a:extLst>
                  <a:ext uri="{0D108BD9-81ED-4DB2-BD59-A6C34878D82A}">
                    <a16:rowId xmlns:a16="http://schemas.microsoft.com/office/drawing/2014/main" val="10005"/>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6"/>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7"/>
                  </a:ext>
                </a:extLst>
              </a:tr>
              <a:tr h="283391">
                <a:tc>
                  <a:txBody>
                    <a:bodyPr/>
                    <a:lstStyle/>
                    <a:p>
                      <a:pPr algn="ctr"/>
                      <a:endParaRPr lang="zh-CN" altLang="en-US" sz="1400" dirty="0"/>
                    </a:p>
                  </a:txBody>
                  <a:tcPr marT="34290" marB="34290">
                    <a:solidFill>
                      <a:srgbClr val="92D050"/>
                    </a:solidFill>
                  </a:tcPr>
                </a:tc>
                <a:extLst>
                  <a:ext uri="{0D108BD9-81ED-4DB2-BD59-A6C34878D82A}">
                    <a16:rowId xmlns:a16="http://schemas.microsoft.com/office/drawing/2014/main" val="10008"/>
                  </a:ext>
                </a:extLst>
              </a:tr>
            </a:tbl>
          </a:graphicData>
        </a:graphic>
      </p:graphicFrame>
      <p:sp>
        <p:nvSpPr>
          <p:cNvPr id="39" name="矩形 38"/>
          <p:cNvSpPr/>
          <p:nvPr/>
        </p:nvSpPr>
        <p:spPr>
          <a:xfrm>
            <a:off x="2746619" y="4443958"/>
            <a:ext cx="3481565" cy="523220"/>
          </a:xfrm>
          <a:prstGeom prst="rect">
            <a:avLst/>
          </a:prstGeom>
        </p:spPr>
        <p:txBody>
          <a:bodyPr wrap="square">
            <a:spAutoFit/>
          </a:bodyPr>
          <a:lstStyle/>
          <a:p>
            <a:r>
              <a:rPr lang="zh-CN" altLang="en-US" sz="1400" dirty="0">
                <a:latin typeface="Tahoma" pitchFamily="34" charset="0"/>
              </a:rPr>
              <a:t>将元素</a:t>
            </a:r>
            <a:r>
              <a:rPr lang="en-US" altLang="zh-CN" sz="1400" dirty="0">
                <a:latin typeface="Tahoma" pitchFamily="34" charset="0"/>
              </a:rPr>
              <a:t>a</a:t>
            </a:r>
            <a:r>
              <a:rPr lang="en-US" altLang="zh-CN" sz="1400" baseline="-25000" dirty="0">
                <a:latin typeface="Tahoma" pitchFamily="34" charset="0"/>
              </a:rPr>
              <a:t>n</a:t>
            </a:r>
            <a:r>
              <a:rPr lang="en-US" altLang="zh-CN" sz="1400" dirty="0">
                <a:latin typeface="Tahoma" pitchFamily="34" charset="0"/>
              </a:rPr>
              <a:t>～a</a:t>
            </a:r>
            <a:r>
              <a:rPr lang="en-US" altLang="zh-CN" sz="1400" baseline="-25000" dirty="0">
                <a:latin typeface="Tahoma" pitchFamily="34" charset="0"/>
              </a:rPr>
              <a:t>i</a:t>
            </a:r>
            <a:r>
              <a:rPr lang="en-US" altLang="zh-CN" sz="1400" dirty="0">
                <a:latin typeface="Tahoma" pitchFamily="34" charset="0"/>
              </a:rPr>
              <a:t>（n-i+1</a:t>
            </a:r>
            <a:r>
              <a:rPr lang="zh-CN" altLang="en-US" sz="1400" dirty="0">
                <a:latin typeface="Tahoma" pitchFamily="34" charset="0"/>
              </a:rPr>
              <a:t>个元素）依次向后移动一个位置，腾出要放置</a:t>
            </a:r>
            <a:r>
              <a:rPr lang="en-US" altLang="zh-CN" sz="1400" dirty="0">
                <a:latin typeface="Tahoma" pitchFamily="34" charset="0"/>
              </a:rPr>
              <a:t>e</a:t>
            </a:r>
            <a:r>
              <a:rPr lang="zh-CN" altLang="en-US" sz="1400" dirty="0">
                <a:latin typeface="Tahoma" pitchFamily="34" charset="0"/>
              </a:rPr>
              <a:t>的存储空间</a:t>
            </a:r>
            <a:endParaRPr lang="zh-CN" altLang="en-US" sz="1400" dirty="0"/>
          </a:p>
        </p:txBody>
      </p:sp>
      <p:graphicFrame>
        <p:nvGraphicFramePr>
          <p:cNvPr id="40" name="表格 39"/>
          <p:cNvGraphicFramePr>
            <a:graphicFrameLocks noGrp="1"/>
          </p:cNvGraphicFramePr>
          <p:nvPr>
            <p:extLst>
              <p:ext uri="{D42A27DB-BD31-4B8C-83A1-F6EECF244321}">
                <p14:modId xmlns:p14="http://schemas.microsoft.com/office/powerpoint/2010/main" val="3586501845"/>
              </p:ext>
            </p:extLst>
          </p:nvPr>
        </p:nvGraphicFramePr>
        <p:xfrm>
          <a:off x="6968236" y="2034534"/>
          <a:ext cx="1094967" cy="2550519"/>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a:t>a</a:t>
                      </a:r>
                      <a:r>
                        <a:rPr lang="en-US" altLang="zh-CN" sz="1400" baseline="-25000" dirty="0"/>
                        <a:t>i-1</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e</a:t>
                      </a:r>
                      <a:endParaRPr lang="zh-CN" altLang="en-US" sz="1400" dirty="0"/>
                    </a:p>
                  </a:txBody>
                  <a:tcPr marT="34290" marB="34290">
                    <a:solidFill>
                      <a:srgbClr val="FF0000"/>
                    </a:solidFill>
                  </a:tcPr>
                </a:tc>
                <a:extLst>
                  <a:ext uri="{0D108BD9-81ED-4DB2-BD59-A6C34878D82A}">
                    <a16:rowId xmlns:a16="http://schemas.microsoft.com/office/drawing/2014/main" val="10004"/>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a</a:t>
                      </a:r>
                      <a:r>
                        <a:rPr lang="en-US" altLang="zh-CN" sz="1400" baseline="-25000" dirty="0" err="1"/>
                        <a:t>i</a:t>
                      </a:r>
                      <a:endParaRPr lang="zh-CN" altLang="en-US" sz="1400" dirty="0"/>
                    </a:p>
                  </a:txBody>
                  <a:tcPr marT="34290" marB="34290">
                    <a:solidFill>
                      <a:srgbClr val="FFC000"/>
                    </a:solidFill>
                  </a:tcPr>
                </a:tc>
                <a:extLst>
                  <a:ext uri="{0D108BD9-81ED-4DB2-BD59-A6C34878D82A}">
                    <a16:rowId xmlns:a16="http://schemas.microsoft.com/office/drawing/2014/main" val="10005"/>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6"/>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7"/>
                  </a:ext>
                </a:extLst>
              </a:tr>
              <a:tr h="283391">
                <a:tc>
                  <a:txBody>
                    <a:bodyPr/>
                    <a:lstStyle/>
                    <a:p>
                      <a:pPr algn="ctr"/>
                      <a:endParaRPr lang="zh-CN" altLang="en-US" sz="1400" dirty="0"/>
                    </a:p>
                  </a:txBody>
                  <a:tcPr marT="34290" marB="34290">
                    <a:solidFill>
                      <a:srgbClr val="92D050"/>
                    </a:solidFill>
                  </a:tcPr>
                </a:tc>
                <a:extLst>
                  <a:ext uri="{0D108BD9-81ED-4DB2-BD59-A6C34878D82A}">
                    <a16:rowId xmlns:a16="http://schemas.microsoft.com/office/drawing/2014/main" val="10008"/>
                  </a:ext>
                </a:extLst>
              </a:tr>
            </a:tbl>
          </a:graphicData>
        </a:graphic>
      </p:graphicFrame>
      <p:sp>
        <p:nvSpPr>
          <p:cNvPr id="41" name="矩形 40"/>
          <p:cNvSpPr/>
          <p:nvPr/>
        </p:nvSpPr>
        <p:spPr>
          <a:xfrm>
            <a:off x="6479703" y="4565459"/>
            <a:ext cx="2664297" cy="307777"/>
          </a:xfrm>
          <a:prstGeom prst="rect">
            <a:avLst/>
          </a:prstGeom>
        </p:spPr>
        <p:txBody>
          <a:bodyPr wrap="square">
            <a:spAutoFit/>
          </a:bodyPr>
          <a:lstStyle/>
          <a:p>
            <a:pPr>
              <a:spcBef>
                <a:spcPct val="20000"/>
              </a:spcBef>
              <a:buClr>
                <a:schemeClr val="tx1"/>
              </a:buClr>
              <a:buSzPct val="60000"/>
            </a:pPr>
            <a:r>
              <a:rPr lang="zh-CN" altLang="en-US" sz="1400" dirty="0">
                <a:latin typeface="Tahoma" pitchFamily="34" charset="0"/>
              </a:rPr>
              <a:t>将元素</a:t>
            </a:r>
            <a:r>
              <a:rPr lang="en-US" altLang="zh-CN" sz="1400" dirty="0">
                <a:latin typeface="Tahoma" pitchFamily="34" charset="0"/>
              </a:rPr>
              <a:t>e</a:t>
            </a:r>
            <a:r>
              <a:rPr lang="zh-CN" altLang="en-US" sz="1400" dirty="0">
                <a:latin typeface="Tahoma" pitchFamily="34" charset="0"/>
              </a:rPr>
              <a:t>放在腾出的第</a:t>
            </a:r>
            <a:r>
              <a:rPr lang="en-US" altLang="zh-CN" sz="1400" dirty="0">
                <a:latin typeface="Tahoma" pitchFamily="34" charset="0"/>
              </a:rPr>
              <a:t>i</a:t>
            </a:r>
            <a:r>
              <a:rPr lang="zh-CN" altLang="en-US" sz="1400" dirty="0">
                <a:latin typeface="Tahoma" pitchFamily="34" charset="0"/>
              </a:rPr>
              <a:t>个空位上</a:t>
            </a:r>
            <a:endParaRPr lang="zh-CN" altLang="en-US" sz="1400" dirty="0">
              <a:latin typeface="Arial" pitchFamily="34" charset="0"/>
            </a:endParaRPr>
          </a:p>
        </p:txBody>
      </p:sp>
      <p:sp>
        <p:nvSpPr>
          <p:cNvPr id="2" name="Rectangle 2">
            <a:extLst>
              <a:ext uri="{FF2B5EF4-FFF2-40B4-BE49-F238E27FC236}">
                <a16:creationId xmlns:a16="http://schemas.microsoft.com/office/drawing/2014/main" id="{55F49C0C-071A-42E0-58AA-F03A262FF210}"/>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3" name="矩形 2">
            <a:extLst>
              <a:ext uri="{FF2B5EF4-FFF2-40B4-BE49-F238E27FC236}">
                <a16:creationId xmlns:a16="http://schemas.microsoft.com/office/drawing/2014/main" id="{099B8691-0265-19B9-0BE7-3A321BE625DC}"/>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
        <p:nvSpPr>
          <p:cNvPr id="4" name="矩形 3">
            <a:extLst>
              <a:ext uri="{FF2B5EF4-FFF2-40B4-BE49-F238E27FC236}">
                <a16:creationId xmlns:a16="http://schemas.microsoft.com/office/drawing/2014/main" id="{EF9E5AFE-E150-16CC-683D-6EE8DD6651DC}"/>
              </a:ext>
            </a:extLst>
          </p:cNvPr>
          <p:cNvSpPr/>
          <p:nvPr/>
        </p:nvSpPr>
        <p:spPr>
          <a:xfrm>
            <a:off x="1108912" y="1545635"/>
            <a:ext cx="1467068" cy="400110"/>
          </a:xfrm>
          <a:prstGeom prst="rect">
            <a:avLst/>
          </a:prstGeom>
        </p:spPr>
        <p:txBody>
          <a:bodyPr wrap="none">
            <a:spAutoFit/>
          </a:bodyPr>
          <a:lstStyle/>
          <a:p>
            <a:pPr>
              <a:defRPr/>
            </a:pPr>
            <a:r>
              <a:rPr lang="zh-CN" altLang="en-US" sz="2000" dirty="0">
                <a:latin typeface="微软雅黑" pitchFamily="34" charset="-122"/>
                <a:ea typeface="微软雅黑" pitchFamily="34" charset="-122"/>
                <a:cs typeface="经典粗黑简" pitchFamily="49" charset="-122"/>
              </a:rPr>
              <a:t>⑨插入运算</a:t>
            </a:r>
          </a:p>
        </p:txBody>
      </p:sp>
    </p:spTree>
    <p:extLst>
      <p:ext uri="{BB962C8B-B14F-4D97-AF65-F5344CB8AC3E}">
        <p14:creationId xmlns:p14="http://schemas.microsoft.com/office/powerpoint/2010/main" val="3020685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animBg="1"/>
      <p:bldP spid="39" grpId="0"/>
      <p:bldP spid="4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直接连接符 1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583F65E6-EE75-1D9F-400C-E50C51E0F650}"/>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3" name="矩形 2">
            <a:extLst>
              <a:ext uri="{FF2B5EF4-FFF2-40B4-BE49-F238E27FC236}">
                <a16:creationId xmlns:a16="http://schemas.microsoft.com/office/drawing/2014/main" id="{B6BEB5EC-507A-48DF-1BF2-F9D039D3323D}"/>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
        <p:nvSpPr>
          <p:cNvPr id="5" name="Text Box 2">
            <a:extLst>
              <a:ext uri="{FF2B5EF4-FFF2-40B4-BE49-F238E27FC236}">
                <a16:creationId xmlns:a16="http://schemas.microsoft.com/office/drawing/2014/main" id="{F978E58D-12E0-0128-9ED9-3AFC57851D0E}"/>
              </a:ext>
            </a:extLst>
          </p:cNvPr>
          <p:cNvSpPr txBox="1">
            <a:spLocks noChangeArrowheads="1"/>
          </p:cNvSpPr>
          <p:nvPr/>
        </p:nvSpPr>
        <p:spPr bwMode="auto">
          <a:xfrm>
            <a:off x="1043608" y="1491630"/>
            <a:ext cx="7632848" cy="3607762"/>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ts val="2500"/>
              </a:lnSpc>
              <a:spcBef>
                <a:spcPts val="0"/>
              </a:spcBef>
            </a:pPr>
            <a:r>
              <a:rPr kumimoji="1" lang="en-US" altLang="zh-CN" dirty="0">
                <a:solidFill>
                  <a:srgbClr val="0000FF"/>
                </a:solidFill>
                <a:latin typeface="Consolas" pitchFamily="49" charset="0"/>
                <a:ea typeface="仿宋" pitchFamily="49" charset="-122"/>
                <a:cs typeface="Consolas" pitchFamily="49" charset="0"/>
              </a:rPr>
              <a:t>bool  </a:t>
            </a:r>
            <a:r>
              <a:rPr kumimoji="1" lang="en-US" altLang="zh-CN" dirty="0" err="1">
                <a:solidFill>
                  <a:srgbClr val="FF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ListInsert</a:t>
            </a:r>
            <a:r>
              <a:rPr kumimoji="1" lang="en-US" altLang="zh-CN" dirty="0">
                <a:solidFill>
                  <a:srgbClr val="0000FF"/>
                </a:solidFill>
                <a:latin typeface="Consolas" pitchFamily="49" charset="0"/>
                <a:ea typeface="仿宋" pitchFamily="49" charset="-122"/>
                <a:cs typeface="Consolas" pitchFamily="49" charset="0"/>
              </a:rPr>
              <a:t>(</a:t>
            </a:r>
            <a:r>
              <a:rPr kumimoji="1" lang="en-US" altLang="zh-CN" dirty="0" err="1">
                <a:solidFill>
                  <a:srgbClr val="0000FF"/>
                </a:solidFill>
                <a:latin typeface="Consolas" pitchFamily="49" charset="0"/>
                <a:ea typeface="仿宋" pitchFamily="49" charset="-122"/>
                <a:cs typeface="Consolas" pitchFamily="49" charset="0"/>
              </a:rPr>
              <a:t>SqList</a:t>
            </a:r>
            <a:r>
              <a:rPr kumimoji="1" lang="en-US" altLang="zh-CN" dirty="0">
                <a:solidFill>
                  <a:srgbClr val="0000FF"/>
                </a:solidFill>
                <a:latin typeface="Consolas" pitchFamily="49" charset="0"/>
                <a:ea typeface="仿宋" pitchFamily="49" charset="-122"/>
                <a:cs typeface="Consolas" pitchFamily="49" charset="0"/>
              </a:rPr>
              <a:t> *&amp;L</a:t>
            </a:r>
            <a:r>
              <a:rPr kumimoji="1" lang="zh-CN" altLang="en-US" dirty="0">
                <a:solidFill>
                  <a:srgbClr val="0000FF"/>
                </a:solidFill>
                <a:latin typeface="Consolas" pitchFamily="49" charset="0"/>
                <a:ea typeface="仿宋" pitchFamily="49" charset="-122"/>
                <a:cs typeface="Consolas" pitchFamily="49" charset="0"/>
              </a:rPr>
              <a:t>，</a:t>
            </a:r>
            <a:r>
              <a:rPr kumimoji="1" lang="en-US" altLang="zh-CN" dirty="0">
                <a:solidFill>
                  <a:srgbClr val="0000FF"/>
                </a:solidFill>
                <a:latin typeface="Consolas" pitchFamily="49" charset="0"/>
                <a:ea typeface="仿宋" pitchFamily="49" charset="-122"/>
                <a:cs typeface="Consolas" pitchFamily="49" charset="0"/>
              </a:rPr>
              <a:t>int </a:t>
            </a:r>
            <a:r>
              <a:rPr kumimoji="1" lang="en-US" altLang="zh-CN" dirty="0" err="1">
                <a:solidFill>
                  <a:srgbClr val="0000FF"/>
                </a:solidFill>
                <a:latin typeface="Consolas" pitchFamily="49" charset="0"/>
                <a:ea typeface="仿宋" pitchFamily="49" charset="-122"/>
                <a:cs typeface="Consolas" pitchFamily="49" charset="0"/>
              </a:rPr>
              <a:t>i</a:t>
            </a:r>
            <a:r>
              <a:rPr kumimoji="1" lang="zh-CN" altLang="en-US" dirty="0">
                <a:solidFill>
                  <a:srgbClr val="0000FF"/>
                </a:solidFill>
                <a:latin typeface="Consolas" pitchFamily="49" charset="0"/>
                <a:ea typeface="仿宋" pitchFamily="49" charset="-122"/>
                <a:cs typeface="Consolas" pitchFamily="49" charset="0"/>
              </a:rPr>
              <a:t>，</a:t>
            </a:r>
            <a:r>
              <a:rPr kumimoji="1" lang="en-US" altLang="zh-CN" dirty="0" err="1">
                <a:solidFill>
                  <a:srgbClr val="0000FF"/>
                </a:solidFill>
                <a:latin typeface="Consolas" pitchFamily="49" charset="0"/>
                <a:ea typeface="仿宋" pitchFamily="49" charset="-122"/>
                <a:cs typeface="Consolas" pitchFamily="49" charset="0"/>
              </a:rPr>
              <a:t>ElemType</a:t>
            </a:r>
            <a:r>
              <a:rPr kumimoji="1" lang="en-US" altLang="zh-CN" dirty="0">
                <a:solidFill>
                  <a:srgbClr val="0000FF"/>
                </a:solidFill>
                <a:latin typeface="Consolas" pitchFamily="49" charset="0"/>
                <a:ea typeface="仿宋" pitchFamily="49" charset="-122"/>
                <a:cs typeface="Consolas" pitchFamily="49" charset="0"/>
              </a:rPr>
              <a:t> e)</a:t>
            </a:r>
          </a:p>
          <a:p>
            <a:pPr algn="l">
              <a:lnSpc>
                <a:spcPts val="2500"/>
              </a:lnSpc>
              <a:spcBef>
                <a:spcPts val="0"/>
              </a:spcBef>
            </a:pPr>
            <a:r>
              <a:rPr kumimoji="1" lang="en-US" altLang="zh-CN" dirty="0">
                <a:solidFill>
                  <a:srgbClr val="0000FF"/>
                </a:solidFill>
                <a:latin typeface="Consolas" pitchFamily="49" charset="0"/>
                <a:ea typeface="仿宋" pitchFamily="49" charset="-122"/>
                <a:cs typeface="Consolas" pitchFamily="49" charset="0"/>
              </a:rPr>
              <a:t>{  int j;</a:t>
            </a:r>
          </a:p>
          <a:p>
            <a:pPr algn="l">
              <a:lnSpc>
                <a:spcPts val="2500"/>
              </a:lnSpc>
              <a:spcBef>
                <a:spcPts val="0"/>
              </a:spcBef>
            </a:pPr>
            <a:r>
              <a:rPr kumimoji="1" lang="en-US" altLang="zh-CN" dirty="0">
                <a:solidFill>
                  <a:srgbClr val="0000FF"/>
                </a:solidFill>
                <a:latin typeface="Consolas" pitchFamily="49" charset="0"/>
                <a:ea typeface="仿宋" pitchFamily="49" charset="-122"/>
                <a:cs typeface="Consolas" pitchFamily="49" charset="0"/>
              </a:rPr>
              <a:t>   if (</a:t>
            </a:r>
            <a:r>
              <a:rPr kumimoji="1" lang="en-US" altLang="zh-CN" dirty="0" err="1">
                <a:solidFill>
                  <a:srgbClr val="0000FF"/>
                </a:solidFill>
                <a:latin typeface="Consolas" pitchFamily="49" charset="0"/>
                <a:ea typeface="仿宋" pitchFamily="49" charset="-122"/>
                <a:cs typeface="Consolas" pitchFamily="49" charset="0"/>
              </a:rPr>
              <a:t>i</a:t>
            </a:r>
            <a:r>
              <a:rPr kumimoji="1" lang="en-US" altLang="zh-CN" dirty="0">
                <a:solidFill>
                  <a:srgbClr val="0000FF"/>
                </a:solidFill>
                <a:latin typeface="Consolas" pitchFamily="49" charset="0"/>
                <a:ea typeface="仿宋" pitchFamily="49" charset="-122"/>
                <a:cs typeface="Consolas" pitchFamily="49" charset="0"/>
              </a:rPr>
              <a:t>&lt;1 || </a:t>
            </a:r>
            <a:r>
              <a:rPr kumimoji="1" lang="en-US" altLang="zh-CN" dirty="0" err="1">
                <a:solidFill>
                  <a:srgbClr val="0000FF"/>
                </a:solidFill>
                <a:latin typeface="Consolas" pitchFamily="49" charset="0"/>
                <a:ea typeface="仿宋" pitchFamily="49" charset="-122"/>
                <a:cs typeface="Consolas" pitchFamily="49" charset="0"/>
              </a:rPr>
              <a:t>i</a:t>
            </a:r>
            <a:r>
              <a:rPr kumimoji="1" lang="en-US" altLang="zh-CN" dirty="0">
                <a:solidFill>
                  <a:srgbClr val="0000FF"/>
                </a:solidFill>
                <a:latin typeface="Consolas" pitchFamily="49" charset="0"/>
                <a:ea typeface="仿宋" pitchFamily="49" charset="-122"/>
                <a:cs typeface="Consolas" pitchFamily="49" charset="0"/>
              </a:rPr>
              <a:t>&gt;L-&gt;length+1)</a:t>
            </a:r>
          </a:p>
          <a:p>
            <a:pPr algn="l">
              <a:lnSpc>
                <a:spcPts val="2500"/>
              </a:lnSpc>
              <a:spcBef>
                <a:spcPts val="0"/>
              </a:spcBef>
            </a:pPr>
            <a:r>
              <a:rPr kumimoji="1" lang="en-US" altLang="zh-CN" dirty="0">
                <a:solidFill>
                  <a:srgbClr val="0000FF"/>
                </a:solidFill>
                <a:latin typeface="Consolas" pitchFamily="49" charset="0"/>
                <a:ea typeface="仿宋" pitchFamily="49" charset="-122"/>
                <a:cs typeface="Consolas" pitchFamily="49" charset="0"/>
              </a:rPr>
              <a:t>      return false;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参数错误时返回</a:t>
            </a:r>
            <a:r>
              <a:rPr kumimoji="1" lang="en-US" altLang="zh-CN" dirty="0">
                <a:solidFill>
                  <a:srgbClr val="00B0F0"/>
                </a:solidFill>
                <a:latin typeface="Consolas" pitchFamily="49" charset="0"/>
                <a:ea typeface="仿宋" pitchFamily="49" charset="-122"/>
                <a:cs typeface="Consolas" pitchFamily="49" charset="0"/>
              </a:rPr>
              <a:t>false</a:t>
            </a:r>
          </a:p>
          <a:p>
            <a:pPr algn="l">
              <a:lnSpc>
                <a:spcPts val="2500"/>
              </a:lnSpc>
              <a:spcBef>
                <a:spcPts val="0"/>
              </a:spcBef>
            </a:pPr>
            <a:r>
              <a:rPr kumimoji="1" lang="en-US" altLang="zh-CN" dirty="0">
                <a:solidFill>
                  <a:srgbClr val="0000FF"/>
                </a:solidFill>
                <a:latin typeface="Consolas" pitchFamily="49" charset="0"/>
                <a:ea typeface="仿宋" pitchFamily="49" charset="-122"/>
                <a:cs typeface="Consolas" pitchFamily="49" charset="0"/>
              </a:rPr>
              <a:t>   </a:t>
            </a:r>
            <a:r>
              <a:rPr kumimoji="1" lang="en-US" altLang="zh-CN" dirty="0" err="1">
                <a:solidFill>
                  <a:srgbClr val="0000FF"/>
                </a:solidFill>
                <a:latin typeface="Consolas" pitchFamily="49" charset="0"/>
                <a:ea typeface="仿宋" pitchFamily="49" charset="-122"/>
                <a:cs typeface="Consolas" pitchFamily="49" charset="0"/>
              </a:rPr>
              <a:t>i</a:t>
            </a:r>
            <a:r>
              <a:rPr kumimoji="1" lang="en-US" altLang="zh-CN" dirty="0">
                <a:solidFill>
                  <a:srgbClr val="0000FF"/>
                </a:solidFill>
                <a:latin typeface="Consolas" pitchFamily="49" charset="0"/>
                <a:ea typeface="仿宋" pitchFamily="49" charset="-122"/>
                <a:cs typeface="Consolas" pitchFamily="49" charset="0"/>
              </a:rPr>
              <a:t>--;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将顺序表逻辑序号转化为物理序号</a:t>
            </a:r>
          </a:p>
          <a:p>
            <a:pPr algn="l">
              <a:lnSpc>
                <a:spcPts val="2500"/>
              </a:lnSpc>
              <a:spcBef>
                <a:spcPts val="0"/>
              </a:spcBef>
            </a:pPr>
            <a:r>
              <a:rPr kumimoji="1" lang="zh-CN" altLang="en-US" dirty="0">
                <a:solidFill>
                  <a:srgbClr val="FF00FF"/>
                </a:solidFill>
                <a:latin typeface="Consolas" pitchFamily="49" charset="0"/>
                <a:ea typeface="仿宋" pitchFamily="49" charset="-122"/>
                <a:cs typeface="Consolas" pitchFamily="49" charset="0"/>
              </a:rPr>
              <a:t>   </a:t>
            </a:r>
            <a:r>
              <a:rPr kumimoji="1" lang="en-US" altLang="zh-CN" dirty="0">
                <a:solidFill>
                  <a:srgbClr val="FF00FF"/>
                </a:solidFill>
                <a:latin typeface="Consolas" pitchFamily="49" charset="0"/>
                <a:ea typeface="仿宋" pitchFamily="49" charset="-122"/>
                <a:cs typeface="Consolas" pitchFamily="49" charset="0"/>
              </a:rPr>
              <a:t>for (j=L-&gt;</a:t>
            </a:r>
            <a:r>
              <a:rPr kumimoji="1" lang="en-US" altLang="zh-CN" dirty="0" err="1">
                <a:solidFill>
                  <a:srgbClr val="FF00FF"/>
                </a:solidFill>
                <a:latin typeface="Consolas" pitchFamily="49" charset="0"/>
                <a:ea typeface="仿宋" pitchFamily="49" charset="-122"/>
                <a:cs typeface="Consolas" pitchFamily="49" charset="0"/>
              </a:rPr>
              <a:t>length;j</a:t>
            </a:r>
            <a:r>
              <a:rPr kumimoji="1" lang="en-US" altLang="zh-CN" dirty="0">
                <a:solidFill>
                  <a:srgbClr val="FF00FF"/>
                </a:solidFill>
                <a:latin typeface="Consolas" pitchFamily="49" charset="0"/>
                <a:ea typeface="仿宋" pitchFamily="49" charset="-122"/>
                <a:cs typeface="Consolas" pitchFamily="49" charset="0"/>
              </a:rPr>
              <a:t>&gt;</a:t>
            </a:r>
            <a:r>
              <a:rPr kumimoji="1" lang="en-US" altLang="zh-CN" dirty="0" err="1">
                <a:solidFill>
                  <a:srgbClr val="FF00FF"/>
                </a:solidFill>
                <a:latin typeface="Consolas" pitchFamily="49" charset="0"/>
                <a:ea typeface="仿宋" pitchFamily="49" charset="-122"/>
                <a:cs typeface="Consolas" pitchFamily="49" charset="0"/>
              </a:rPr>
              <a:t>i;j</a:t>
            </a:r>
            <a:r>
              <a:rPr kumimoji="1" lang="en-US" altLang="zh-CN" dirty="0">
                <a:solidFill>
                  <a:srgbClr val="FF00FF"/>
                </a:solidFill>
                <a:latin typeface="Consolas" pitchFamily="49" charset="0"/>
                <a:ea typeface="仿宋" pitchFamily="49" charset="-122"/>
                <a:cs typeface="Consolas" pitchFamily="49" charset="0"/>
              </a:rPr>
              <a:t>--)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将</a:t>
            </a:r>
            <a:r>
              <a:rPr kumimoji="1" lang="en-US" altLang="zh-CN" dirty="0">
                <a:solidFill>
                  <a:srgbClr val="00B0F0"/>
                </a:solidFill>
                <a:latin typeface="Consolas" pitchFamily="49" charset="0"/>
                <a:ea typeface="仿宋" pitchFamily="49" charset="-122"/>
                <a:cs typeface="Consolas" pitchFamily="49" charset="0"/>
              </a:rPr>
              <a:t>data[</a:t>
            </a:r>
            <a:r>
              <a:rPr kumimoji="1" lang="en-US" altLang="zh-CN" dirty="0" err="1">
                <a:solidFill>
                  <a:srgbClr val="00B0F0"/>
                </a:solidFill>
                <a:latin typeface="Consolas" pitchFamily="49" charset="0"/>
                <a:ea typeface="仿宋" pitchFamily="49" charset="-122"/>
                <a:cs typeface="Consolas" pitchFamily="49" charset="0"/>
              </a:rPr>
              <a:t>i</a:t>
            </a:r>
            <a:r>
              <a:rPr kumimoji="1" lang="en-US" altLang="zh-CN" dirty="0">
                <a:solidFill>
                  <a:srgbClr val="00B0F0"/>
                </a:solidFill>
                <a:latin typeface="Consolas" pitchFamily="49" charset="0"/>
                <a:ea typeface="仿宋" pitchFamily="49" charset="-122"/>
                <a:cs typeface="Consolas" pitchFamily="49" charset="0"/>
              </a:rPr>
              <a:t>..n]</a:t>
            </a:r>
            <a:r>
              <a:rPr kumimoji="1" lang="zh-CN" altLang="en-US" dirty="0">
                <a:solidFill>
                  <a:srgbClr val="00B0F0"/>
                </a:solidFill>
                <a:latin typeface="Consolas" pitchFamily="49" charset="0"/>
                <a:ea typeface="仿宋" pitchFamily="49" charset="-122"/>
                <a:cs typeface="Consolas" pitchFamily="49" charset="0"/>
              </a:rPr>
              <a:t>元素后移一个位置</a:t>
            </a:r>
          </a:p>
          <a:p>
            <a:pPr algn="l">
              <a:lnSpc>
                <a:spcPts val="2500"/>
              </a:lnSpc>
              <a:spcBef>
                <a:spcPts val="0"/>
              </a:spcBef>
            </a:pPr>
            <a:r>
              <a:rPr kumimoji="1" lang="zh-CN" altLang="en-US" dirty="0">
                <a:solidFill>
                  <a:srgbClr val="FF00FF"/>
                </a:solidFill>
                <a:latin typeface="Consolas" pitchFamily="49" charset="0"/>
                <a:ea typeface="仿宋" pitchFamily="49" charset="-122"/>
                <a:cs typeface="Consolas" pitchFamily="49" charset="0"/>
              </a:rPr>
              <a:t>	</a:t>
            </a:r>
            <a:r>
              <a:rPr kumimoji="1" lang="en-US" altLang="zh-CN" dirty="0">
                <a:solidFill>
                  <a:srgbClr val="FF00FF"/>
                </a:solidFill>
                <a:latin typeface="Consolas" pitchFamily="49" charset="0"/>
                <a:ea typeface="仿宋" pitchFamily="49" charset="-122"/>
                <a:cs typeface="Consolas" pitchFamily="49" charset="0"/>
              </a:rPr>
              <a:t>L-&gt;data[j]=L-&gt;data[j-1];</a:t>
            </a:r>
          </a:p>
          <a:p>
            <a:pPr algn="l">
              <a:lnSpc>
                <a:spcPts val="2500"/>
              </a:lnSpc>
              <a:spcBef>
                <a:spcPts val="0"/>
              </a:spcBef>
            </a:pPr>
            <a:r>
              <a:rPr kumimoji="1" lang="en-US" altLang="zh-CN" dirty="0">
                <a:solidFill>
                  <a:srgbClr val="0000FF"/>
                </a:solidFill>
                <a:latin typeface="Consolas" pitchFamily="49" charset="0"/>
                <a:ea typeface="仿宋" pitchFamily="49" charset="-122"/>
                <a:cs typeface="Consolas" pitchFamily="49" charset="0"/>
              </a:rPr>
              <a:t>   L-&gt;data[</a:t>
            </a:r>
            <a:r>
              <a:rPr kumimoji="1" lang="en-US" altLang="zh-CN" dirty="0" err="1">
                <a:solidFill>
                  <a:srgbClr val="0000FF"/>
                </a:solidFill>
                <a:latin typeface="Consolas" pitchFamily="49" charset="0"/>
                <a:ea typeface="仿宋" pitchFamily="49" charset="-122"/>
                <a:cs typeface="Consolas" pitchFamily="49" charset="0"/>
              </a:rPr>
              <a:t>i</a:t>
            </a:r>
            <a:r>
              <a:rPr kumimoji="1" lang="en-US" altLang="zh-CN" dirty="0">
                <a:solidFill>
                  <a:srgbClr val="0000FF"/>
                </a:solidFill>
                <a:latin typeface="Consolas" pitchFamily="49" charset="0"/>
                <a:ea typeface="仿宋" pitchFamily="49" charset="-122"/>
                <a:cs typeface="Consolas" pitchFamily="49" charset="0"/>
              </a:rPr>
              <a:t>]=e;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插入元素</a:t>
            </a:r>
            <a:r>
              <a:rPr kumimoji="1" lang="en-US" altLang="zh-CN" i="1" dirty="0">
                <a:solidFill>
                  <a:srgbClr val="00B0F0"/>
                </a:solidFill>
                <a:latin typeface="Consolas" pitchFamily="49" charset="0"/>
                <a:ea typeface="仿宋" pitchFamily="49" charset="-122"/>
                <a:cs typeface="Consolas" pitchFamily="49" charset="0"/>
              </a:rPr>
              <a:t>e</a:t>
            </a:r>
          </a:p>
          <a:p>
            <a:pPr algn="l">
              <a:lnSpc>
                <a:spcPts val="2500"/>
              </a:lnSpc>
              <a:spcBef>
                <a:spcPts val="0"/>
              </a:spcBef>
            </a:pPr>
            <a:r>
              <a:rPr kumimoji="1" lang="en-US" altLang="zh-CN" dirty="0">
                <a:solidFill>
                  <a:srgbClr val="0000FF"/>
                </a:solidFill>
                <a:latin typeface="Consolas" pitchFamily="49" charset="0"/>
                <a:ea typeface="仿宋" pitchFamily="49" charset="-122"/>
                <a:cs typeface="Consolas" pitchFamily="49" charset="0"/>
              </a:rPr>
              <a:t>   L-&gt;length++;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顺序表长度增</a:t>
            </a:r>
            <a:r>
              <a:rPr kumimoji="1" lang="en-US" altLang="zh-CN" dirty="0">
                <a:solidFill>
                  <a:srgbClr val="00B0F0"/>
                </a:solidFill>
                <a:latin typeface="Consolas" pitchFamily="49" charset="0"/>
                <a:ea typeface="仿宋" pitchFamily="49" charset="-122"/>
                <a:cs typeface="Consolas" pitchFamily="49" charset="0"/>
              </a:rPr>
              <a:t>1</a:t>
            </a:r>
          </a:p>
          <a:p>
            <a:pPr algn="l">
              <a:lnSpc>
                <a:spcPts val="2500"/>
              </a:lnSpc>
              <a:spcBef>
                <a:spcPts val="0"/>
              </a:spcBef>
            </a:pPr>
            <a:r>
              <a:rPr kumimoji="1" lang="en-US" altLang="zh-CN" dirty="0">
                <a:solidFill>
                  <a:srgbClr val="0000FF"/>
                </a:solidFill>
                <a:latin typeface="Consolas" pitchFamily="49" charset="0"/>
                <a:ea typeface="仿宋" pitchFamily="49" charset="-122"/>
                <a:cs typeface="Consolas" pitchFamily="49" charset="0"/>
              </a:rPr>
              <a:t>   return true;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成功插入返回</a:t>
            </a:r>
            <a:r>
              <a:rPr kumimoji="1" lang="en-US" altLang="zh-CN" dirty="0">
                <a:solidFill>
                  <a:srgbClr val="00B0F0"/>
                </a:solidFill>
                <a:latin typeface="Consolas" pitchFamily="49" charset="0"/>
                <a:ea typeface="仿宋" pitchFamily="49" charset="-122"/>
                <a:cs typeface="Consolas" pitchFamily="49" charset="0"/>
              </a:rPr>
              <a:t>true</a:t>
            </a:r>
          </a:p>
          <a:p>
            <a:pPr algn="l">
              <a:lnSpc>
                <a:spcPts val="2500"/>
              </a:lnSpc>
              <a:spcBef>
                <a:spcPts val="0"/>
              </a:spcBef>
            </a:pPr>
            <a:r>
              <a:rPr kumimoji="1" lang="en-US" altLang="zh-CN" dirty="0">
                <a:solidFill>
                  <a:srgbClr val="0000FF"/>
                </a:solidFill>
                <a:latin typeface="Consolas" pitchFamily="49" charset="0"/>
                <a:ea typeface="仿宋" pitchFamily="49" charset="-122"/>
                <a:cs typeface="Consolas" pitchFamily="49" charset="0"/>
              </a:rPr>
              <a:t>}</a:t>
            </a:r>
          </a:p>
        </p:txBody>
      </p:sp>
    </p:spTree>
    <p:extLst>
      <p:ext uri="{BB962C8B-B14F-4D97-AF65-F5344CB8AC3E}">
        <p14:creationId xmlns:p14="http://schemas.microsoft.com/office/powerpoint/2010/main" val="4253169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727052" y="2139702"/>
            <a:ext cx="3185487" cy="369332"/>
          </a:xfrm>
          <a:prstGeom prst="rect">
            <a:avLst/>
          </a:prstGeom>
        </p:spPr>
        <p:txBody>
          <a:bodyPr wrap="none">
            <a:spAutoFit/>
          </a:bodyPr>
          <a:lstStyle/>
          <a:p>
            <a:pPr>
              <a:buFont typeface="Wingdings" pitchFamily="2" charset="2"/>
              <a:buNone/>
            </a:pPr>
            <a:r>
              <a:rPr lang="zh-CN" altLang="en-US" dirty="0">
                <a:ea typeface="Sim Sun" charset="-122"/>
              </a:rPr>
              <a:t>顺序表上插入运算效率分析</a:t>
            </a:r>
            <a:r>
              <a:rPr lang="zh-CN" altLang="en-US" dirty="0">
                <a:ea typeface="Li Super" charset="-122"/>
              </a:rPr>
              <a:t>：</a:t>
            </a:r>
          </a:p>
        </p:txBody>
      </p:sp>
      <p:sp>
        <p:nvSpPr>
          <p:cNvPr id="8" name="矩形 7"/>
          <p:cNvSpPr/>
          <p:nvPr/>
        </p:nvSpPr>
        <p:spPr>
          <a:xfrm>
            <a:off x="727051" y="2395162"/>
            <a:ext cx="8309445" cy="830997"/>
          </a:xfrm>
          <a:prstGeom prst="rect">
            <a:avLst/>
          </a:prstGeom>
        </p:spPr>
        <p:txBody>
          <a:bodyPr wrap="square">
            <a:spAutoFit/>
          </a:bodyPr>
          <a:lstStyle/>
          <a:p>
            <a:pPr>
              <a:buFont typeface="Wingdings" pitchFamily="2" charset="2"/>
              <a:buNone/>
            </a:pPr>
            <a:r>
              <a:rPr lang="zh-CN" altLang="en-US" sz="1600" b="1" dirty="0">
                <a:ea typeface="Sim Sun" charset="-122"/>
              </a:rPr>
              <a:t>时间复杂度</a:t>
            </a:r>
          </a:p>
          <a:p>
            <a:pPr>
              <a:buFont typeface="Wingdings" pitchFamily="2" charset="2"/>
              <a:buNone/>
            </a:pPr>
            <a:r>
              <a:rPr lang="zh-CN" altLang="en-US" sz="1600" dirty="0">
                <a:ea typeface="Sim Sun" charset="-122"/>
              </a:rPr>
              <a:t>        从算法流程上看，查找插入位置、插入元素的时间花费是常数级，而算法执行时间主要消耗在插入前元素的移动上，而移动元素的个数与插入位置</a:t>
            </a:r>
            <a:r>
              <a:rPr lang="en-US" altLang="zh-CN" sz="1600" dirty="0">
                <a:ea typeface="Sim Sun" charset="-122"/>
              </a:rPr>
              <a:t>i</a:t>
            </a:r>
            <a:r>
              <a:rPr lang="zh-CN" altLang="en-US" sz="1600" dirty="0">
                <a:ea typeface="Sim Sun" charset="-122"/>
              </a:rPr>
              <a:t>有关。 </a:t>
            </a:r>
          </a:p>
        </p:txBody>
      </p:sp>
      <p:graphicFrame>
        <p:nvGraphicFramePr>
          <p:cNvPr id="9" name="对象 8"/>
          <p:cNvGraphicFramePr>
            <a:graphicFrameLocks noChangeAspect="1"/>
          </p:cNvGraphicFramePr>
          <p:nvPr>
            <p:extLst>
              <p:ext uri="{D42A27DB-BD31-4B8C-83A1-F6EECF244321}">
                <p14:modId xmlns:p14="http://schemas.microsoft.com/office/powerpoint/2010/main" val="2766013196"/>
              </p:ext>
            </p:extLst>
          </p:nvPr>
        </p:nvGraphicFramePr>
        <p:xfrm>
          <a:off x="1259632" y="4141520"/>
          <a:ext cx="6408712" cy="594122"/>
        </p:xfrm>
        <a:graphic>
          <a:graphicData uri="http://schemas.openxmlformats.org/presentationml/2006/ole">
            <mc:AlternateContent xmlns:mc="http://schemas.openxmlformats.org/markup-compatibility/2006">
              <mc:Choice xmlns:v="urn:schemas-microsoft-com:vml" Requires="v">
                <p:oleObj name="公式" r:id="rId2" imgW="3632040" imgH="444240" progId="Equation.3">
                  <p:embed/>
                </p:oleObj>
              </mc:Choice>
              <mc:Fallback>
                <p:oleObj name="公式" r:id="rId2" imgW="3632040" imgH="444240" progId="Equation.3">
                  <p:embed/>
                  <p:pic>
                    <p:nvPicPr>
                      <p:cNvPr id="0" name=""/>
                      <p:cNvPicPr>
                        <a:picLocks noChangeAspect="1" noChangeArrowheads="1"/>
                      </p:cNvPicPr>
                      <p:nvPr/>
                    </p:nvPicPr>
                    <p:blipFill>
                      <a:blip r:embed="rId3"/>
                      <a:srcRect/>
                      <a:stretch>
                        <a:fillRect/>
                      </a:stretch>
                    </p:blipFill>
                    <p:spPr bwMode="auto">
                      <a:xfrm>
                        <a:off x="1259632" y="4141520"/>
                        <a:ext cx="6408712" cy="594122"/>
                      </a:xfrm>
                      <a:prstGeom prst="rect">
                        <a:avLst/>
                      </a:prstGeom>
                      <a:solidFill>
                        <a:srgbClr val="FFFFFF"/>
                      </a:solidFill>
                      <a:ln>
                        <a:noFill/>
                      </a:ln>
                      <a:effectLst/>
                    </p:spPr>
                  </p:pic>
                </p:oleObj>
              </mc:Fallback>
            </mc:AlternateContent>
          </a:graphicData>
        </a:graphic>
      </p:graphicFrame>
      <p:sp>
        <p:nvSpPr>
          <p:cNvPr id="14" name="Rectangle 7"/>
          <p:cNvSpPr>
            <a:spLocks noChangeArrowheads="1"/>
          </p:cNvSpPr>
          <p:nvPr/>
        </p:nvSpPr>
        <p:spPr bwMode="auto">
          <a:xfrm>
            <a:off x="5061702" y="1490529"/>
            <a:ext cx="2829632" cy="261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lgn="l"/>
            <a:r>
              <a:rPr lang="zh-CN" altLang="en-US" dirty="0">
                <a:ea typeface="Sim Sun" charset="-122"/>
              </a:rPr>
              <a:t>即</a:t>
            </a:r>
            <a:r>
              <a:rPr lang="en-US" altLang="zh-CN" dirty="0">
                <a:ea typeface="Sim Sun" charset="-122"/>
              </a:rPr>
              <a:t>T(n) = O(n) 。</a:t>
            </a:r>
          </a:p>
        </p:txBody>
      </p:sp>
      <p:sp>
        <p:nvSpPr>
          <p:cNvPr id="15" name="矩形 14"/>
          <p:cNvSpPr/>
          <p:nvPr/>
        </p:nvSpPr>
        <p:spPr>
          <a:xfrm>
            <a:off x="5402168" y="1828518"/>
            <a:ext cx="3454792" cy="646331"/>
          </a:xfrm>
          <a:prstGeom prst="rect">
            <a:avLst/>
          </a:prstGeom>
        </p:spPr>
        <p:txBody>
          <a:bodyPr wrap="none">
            <a:spAutoFit/>
          </a:bodyPr>
          <a:lstStyle/>
          <a:p>
            <a:pPr>
              <a:buFont typeface="Wingdings" pitchFamily="2" charset="2"/>
              <a:buNone/>
            </a:pPr>
            <a:r>
              <a:rPr lang="zh-CN" altLang="en-US" b="1" dirty="0">
                <a:ea typeface="Sim Sun" charset="-122"/>
              </a:rPr>
              <a:t>空间复杂度</a:t>
            </a:r>
            <a:endParaRPr lang="en-US" altLang="zh-CN" b="1" dirty="0">
              <a:ea typeface="Sim Sun" charset="-122"/>
            </a:endParaRPr>
          </a:p>
          <a:p>
            <a:pPr>
              <a:buFont typeface="Wingdings" pitchFamily="2" charset="2"/>
              <a:buNone/>
            </a:pPr>
            <a:r>
              <a:rPr lang="en-US" altLang="zh-CN" b="1" dirty="0">
                <a:ea typeface="Sim Sun" charset="-122"/>
              </a:rPr>
              <a:t>        </a:t>
            </a:r>
            <a:r>
              <a:rPr lang="zh-CN" altLang="en-US" dirty="0">
                <a:ea typeface="Sim Sun" charset="-122"/>
              </a:rPr>
              <a:t>不需要额外空间，</a:t>
            </a:r>
            <a:r>
              <a:rPr lang="en-US" altLang="zh-CN" dirty="0">
                <a:ea typeface="Sim Sun" charset="-122"/>
              </a:rPr>
              <a:t>S(n) = O(1)</a:t>
            </a:r>
            <a:endParaRPr lang="zh-CN" altLang="en-US" b="1" dirty="0">
              <a:ea typeface="Sim Sun" charset="-122"/>
            </a:endParaRPr>
          </a:p>
        </p:txBody>
      </p:sp>
      <p:sp>
        <p:nvSpPr>
          <p:cNvPr id="16" name="矩形 15"/>
          <p:cNvSpPr/>
          <p:nvPr/>
        </p:nvSpPr>
        <p:spPr>
          <a:xfrm>
            <a:off x="727051" y="3061533"/>
            <a:ext cx="5905338" cy="338554"/>
          </a:xfrm>
          <a:prstGeom prst="rect">
            <a:avLst/>
          </a:prstGeom>
        </p:spPr>
        <p:txBody>
          <a:bodyPr wrap="square">
            <a:spAutoFit/>
          </a:bodyPr>
          <a:lstStyle/>
          <a:p>
            <a:pPr lvl="1">
              <a:buFont typeface="Wingdings" pitchFamily="2" charset="2"/>
              <a:buNone/>
            </a:pPr>
            <a:r>
              <a:rPr lang="zh-CN" altLang="en-US" sz="1600" dirty="0">
                <a:ea typeface="Sim Sun" charset="-122"/>
              </a:rPr>
              <a:t>最好情况</a:t>
            </a:r>
            <a:r>
              <a:rPr lang="en-US" altLang="zh-CN" sz="1600" dirty="0">
                <a:ea typeface="Sim Sun" charset="-122"/>
              </a:rPr>
              <a:t>: </a:t>
            </a:r>
            <a:r>
              <a:rPr lang="zh-CN" altLang="en-US" sz="1600" dirty="0">
                <a:ea typeface="Sim Sun" charset="-122"/>
              </a:rPr>
              <a:t>在表尾插入，不移动元素，</a:t>
            </a:r>
            <a:r>
              <a:rPr lang="en-US" altLang="zh-CN" sz="1600" dirty="0">
                <a:ea typeface="Sim Sun" charset="-122"/>
              </a:rPr>
              <a:t>T(n)=O(1)</a:t>
            </a:r>
          </a:p>
        </p:txBody>
      </p:sp>
      <p:sp>
        <p:nvSpPr>
          <p:cNvPr id="17" name="矩形 16"/>
          <p:cNvSpPr/>
          <p:nvPr/>
        </p:nvSpPr>
        <p:spPr>
          <a:xfrm>
            <a:off x="709634" y="3312405"/>
            <a:ext cx="6096000" cy="338554"/>
          </a:xfrm>
          <a:prstGeom prst="rect">
            <a:avLst/>
          </a:prstGeom>
        </p:spPr>
        <p:txBody>
          <a:bodyPr>
            <a:spAutoFit/>
          </a:bodyPr>
          <a:lstStyle/>
          <a:p>
            <a:pPr lvl="1">
              <a:buFont typeface="Wingdings" pitchFamily="2" charset="2"/>
              <a:buNone/>
            </a:pPr>
            <a:r>
              <a:rPr lang="zh-CN" altLang="en-US" sz="1600" dirty="0">
                <a:ea typeface="Sim Sun" charset="-122"/>
              </a:rPr>
              <a:t>最坏情况</a:t>
            </a:r>
            <a:r>
              <a:rPr lang="en-US" altLang="zh-CN" sz="1600" dirty="0">
                <a:ea typeface="Sim Sun" charset="-122"/>
              </a:rPr>
              <a:t>: </a:t>
            </a:r>
            <a:r>
              <a:rPr lang="zh-CN" altLang="en-US" sz="1600" dirty="0">
                <a:ea typeface="Sim Sun" charset="-122"/>
              </a:rPr>
              <a:t>在表头插入，移动</a:t>
            </a:r>
            <a:r>
              <a:rPr lang="en-US" altLang="zh-CN" sz="1600" dirty="0">
                <a:ea typeface="Sim Sun" charset="-122"/>
              </a:rPr>
              <a:t>n</a:t>
            </a:r>
            <a:r>
              <a:rPr lang="zh-CN" altLang="en-US" sz="1600" dirty="0">
                <a:ea typeface="Sim Sun" charset="-122"/>
              </a:rPr>
              <a:t>个元素，</a:t>
            </a:r>
            <a:r>
              <a:rPr lang="en-US" altLang="zh-CN" sz="1600" dirty="0">
                <a:ea typeface="Sim Sun" charset="-122"/>
              </a:rPr>
              <a:t>T(n)=O(n)</a:t>
            </a:r>
          </a:p>
        </p:txBody>
      </p:sp>
      <p:sp>
        <p:nvSpPr>
          <p:cNvPr id="18" name="矩形 17"/>
          <p:cNvSpPr/>
          <p:nvPr/>
        </p:nvSpPr>
        <p:spPr>
          <a:xfrm>
            <a:off x="674995" y="3556745"/>
            <a:ext cx="8217486" cy="584775"/>
          </a:xfrm>
          <a:prstGeom prst="rect">
            <a:avLst/>
          </a:prstGeom>
        </p:spPr>
        <p:txBody>
          <a:bodyPr wrap="square">
            <a:spAutoFit/>
          </a:bodyPr>
          <a:lstStyle/>
          <a:p>
            <a:pPr lvl="1">
              <a:buFont typeface="Wingdings" pitchFamily="2" charset="2"/>
              <a:buNone/>
            </a:pPr>
            <a:r>
              <a:rPr lang="zh-CN" altLang="en-US" sz="1600" dirty="0">
                <a:ea typeface="Sim Sun" charset="-122"/>
              </a:rPr>
              <a:t>平均复杂度：设</a:t>
            </a:r>
            <a:r>
              <a:rPr lang="en-US" altLang="zh-CN" sz="1600" dirty="0">
                <a:ea typeface="Sim Sun" charset="-122"/>
              </a:rPr>
              <a:t>pi</a:t>
            </a:r>
            <a:r>
              <a:rPr lang="zh-CN" altLang="en-US" sz="1600" dirty="0">
                <a:ea typeface="Sim Sun" charset="-122"/>
              </a:rPr>
              <a:t>为在第</a:t>
            </a:r>
            <a:r>
              <a:rPr lang="en-US" altLang="zh-CN" sz="1600" dirty="0">
                <a:ea typeface="Sim Sun" charset="-122"/>
              </a:rPr>
              <a:t>i</a:t>
            </a:r>
            <a:r>
              <a:rPr lang="zh-CN" altLang="en-US" sz="1600" dirty="0">
                <a:ea typeface="Sim Sun" charset="-122"/>
              </a:rPr>
              <a:t>个元素之前插入一个元素的概率，</a:t>
            </a:r>
            <a:endParaRPr lang="en-US" altLang="zh-CN" sz="1600" dirty="0">
              <a:ea typeface="Sim Sun" charset="-122"/>
            </a:endParaRPr>
          </a:p>
          <a:p>
            <a:pPr lvl="1">
              <a:buFont typeface="Wingdings" pitchFamily="2" charset="2"/>
              <a:buNone/>
            </a:pPr>
            <a:r>
              <a:rPr lang="zh-CN" altLang="en-US" sz="1600" dirty="0">
                <a:ea typeface="Sim Sun" charset="-122"/>
              </a:rPr>
              <a:t>且</a:t>
            </a:r>
            <a:r>
              <a:rPr lang="en-US" altLang="zh-CN" sz="1600" dirty="0">
                <a:ea typeface="Sim Sun" charset="-122"/>
              </a:rPr>
              <a:t>P</a:t>
            </a:r>
            <a:r>
              <a:rPr lang="en-US" altLang="zh-CN" sz="1600" baseline="-25000" dirty="0">
                <a:ea typeface="Sim Sun" charset="-122"/>
              </a:rPr>
              <a:t>1</a:t>
            </a:r>
            <a:r>
              <a:rPr lang="en-US" altLang="zh-CN" sz="1600" dirty="0">
                <a:ea typeface="Sim Sun" charset="-122"/>
              </a:rPr>
              <a:t>=P</a:t>
            </a:r>
            <a:r>
              <a:rPr lang="en-US" altLang="zh-CN" sz="1600" baseline="-25000" dirty="0">
                <a:ea typeface="Sim Sun" charset="-122"/>
              </a:rPr>
              <a:t>2</a:t>
            </a:r>
            <a:r>
              <a:rPr lang="en-US" altLang="zh-CN" sz="1600" dirty="0">
                <a:ea typeface="Sim Sun" charset="-122"/>
              </a:rPr>
              <a:t>=…=P</a:t>
            </a:r>
            <a:r>
              <a:rPr lang="en-US" altLang="zh-CN" sz="1600" baseline="-25000" dirty="0">
                <a:ea typeface="Sim Sun" charset="-122"/>
              </a:rPr>
              <a:t>i</a:t>
            </a:r>
            <a:r>
              <a:rPr lang="en-US" altLang="zh-CN" sz="1600" dirty="0">
                <a:ea typeface="Sim Sun" charset="-122"/>
              </a:rPr>
              <a:t>=…=</a:t>
            </a:r>
            <a:r>
              <a:rPr lang="en-US" altLang="zh-CN" sz="1600" dirty="0" err="1">
                <a:ea typeface="Sim Sun" charset="-122"/>
              </a:rPr>
              <a:t>P</a:t>
            </a:r>
            <a:r>
              <a:rPr lang="en-US" altLang="zh-CN" sz="1600" baseline="-25000" dirty="0" err="1">
                <a:ea typeface="Sim Sun" charset="-122"/>
              </a:rPr>
              <a:t>n</a:t>
            </a:r>
            <a:r>
              <a:rPr lang="en-US" altLang="zh-CN" sz="1600" dirty="0">
                <a:ea typeface="Sim Sun" charset="-122"/>
              </a:rPr>
              <a:t>=1/(n+1)，</a:t>
            </a:r>
            <a:r>
              <a:rPr lang="zh-CN" altLang="en-US" sz="1600" dirty="0">
                <a:ea typeface="Sim Sun" charset="-122"/>
              </a:rPr>
              <a:t>则平均移动次数为：</a:t>
            </a:r>
          </a:p>
        </p:txBody>
      </p:sp>
      <p:cxnSp>
        <p:nvCxnSpPr>
          <p:cNvPr id="21" name="直接连接符 20"/>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F76DA1C9-3AB4-8FB3-64D6-4CD3F7C98264}"/>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3" name="矩形 2">
            <a:extLst>
              <a:ext uri="{FF2B5EF4-FFF2-40B4-BE49-F238E27FC236}">
                <a16:creationId xmlns:a16="http://schemas.microsoft.com/office/drawing/2014/main" id="{8C35D7FC-B699-B028-EC11-CD7F843A6F99}"/>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
        <p:nvSpPr>
          <p:cNvPr id="4" name="矩形 3">
            <a:extLst>
              <a:ext uri="{FF2B5EF4-FFF2-40B4-BE49-F238E27FC236}">
                <a16:creationId xmlns:a16="http://schemas.microsoft.com/office/drawing/2014/main" id="{F36A1733-4F6C-18FD-2A56-068A8B9D166C}"/>
              </a:ext>
            </a:extLst>
          </p:cNvPr>
          <p:cNvSpPr/>
          <p:nvPr/>
        </p:nvSpPr>
        <p:spPr>
          <a:xfrm>
            <a:off x="1108912" y="1545635"/>
            <a:ext cx="1467068" cy="400110"/>
          </a:xfrm>
          <a:prstGeom prst="rect">
            <a:avLst/>
          </a:prstGeom>
        </p:spPr>
        <p:txBody>
          <a:bodyPr wrap="none">
            <a:spAutoFit/>
          </a:bodyPr>
          <a:lstStyle/>
          <a:p>
            <a:pPr>
              <a:defRPr/>
            </a:pPr>
            <a:r>
              <a:rPr lang="zh-CN" altLang="en-US" sz="2000" dirty="0">
                <a:latin typeface="微软雅黑" pitchFamily="34" charset="-122"/>
                <a:ea typeface="微软雅黑" pitchFamily="34" charset="-122"/>
                <a:cs typeface="经典粗黑简" pitchFamily="49" charset="-122"/>
              </a:rPr>
              <a:t>⑨插入运算</a:t>
            </a:r>
          </a:p>
        </p:txBody>
      </p:sp>
    </p:spTree>
    <p:extLst>
      <p:ext uri="{BB962C8B-B14F-4D97-AF65-F5344CB8AC3E}">
        <p14:creationId xmlns:p14="http://schemas.microsoft.com/office/powerpoint/2010/main" val="234885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15" grpId="0"/>
      <p:bldP spid="16" grpId="0"/>
      <p:bldP spid="17" grpId="0"/>
      <p:bldP spid="1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368977" y="2071323"/>
            <a:ext cx="5547361" cy="461665"/>
          </a:xfrm>
          <a:prstGeom prst="rect">
            <a:avLst/>
          </a:prstGeom>
        </p:spPr>
        <p:txBody>
          <a:bodyPr wrap="square">
            <a:spAutoFit/>
          </a:bodyPr>
          <a:lstStyle/>
          <a:p>
            <a:pPr lvl="1">
              <a:buFont typeface="Wingdings" pitchFamily="2" charset="2"/>
              <a:buNone/>
            </a:pPr>
            <a:r>
              <a:rPr lang="zh-CN" altLang="en-US" sz="2400" dirty="0"/>
              <a:t>(</a:t>
            </a:r>
            <a:r>
              <a:rPr lang="en-US" altLang="zh-CN" sz="2400" dirty="0"/>
              <a:t>a</a:t>
            </a:r>
            <a:r>
              <a:rPr lang="en-US" altLang="zh-CN" sz="2400" baseline="-25000" dirty="0"/>
              <a:t>1</a:t>
            </a:r>
            <a:r>
              <a:rPr lang="en-US" altLang="zh-CN" sz="2400" dirty="0"/>
              <a:t>, a</a:t>
            </a:r>
            <a:r>
              <a:rPr lang="en-US" altLang="zh-CN" sz="2400" baseline="-25000" dirty="0"/>
              <a:t>2</a:t>
            </a:r>
            <a:r>
              <a:rPr lang="en-US" altLang="zh-CN" sz="2400" dirty="0"/>
              <a:t>, …, </a:t>
            </a:r>
            <a:r>
              <a:rPr lang="en-US" altLang="zh-CN" sz="2400" dirty="0">
                <a:solidFill>
                  <a:srgbClr val="00B050"/>
                </a:solidFill>
              </a:rPr>
              <a:t>a</a:t>
            </a:r>
            <a:r>
              <a:rPr lang="en-US" altLang="zh-CN" sz="2400" baseline="-25000" dirty="0">
                <a:solidFill>
                  <a:srgbClr val="00B050"/>
                </a:solidFill>
              </a:rPr>
              <a:t>i-1</a:t>
            </a:r>
            <a:r>
              <a:rPr lang="en-US" altLang="zh-CN" sz="2400" dirty="0">
                <a:solidFill>
                  <a:srgbClr val="00B050"/>
                </a:solidFill>
              </a:rPr>
              <a:t>, </a:t>
            </a:r>
            <a:r>
              <a:rPr lang="en-US" altLang="zh-CN" sz="2400" dirty="0" err="1">
                <a:solidFill>
                  <a:srgbClr val="FF0000"/>
                </a:solidFill>
              </a:rPr>
              <a:t>a</a:t>
            </a:r>
            <a:r>
              <a:rPr lang="en-US" altLang="zh-CN" sz="2400" baseline="-25000" dirty="0" err="1">
                <a:solidFill>
                  <a:srgbClr val="FF0000"/>
                </a:solidFill>
              </a:rPr>
              <a:t>i</a:t>
            </a:r>
            <a:r>
              <a:rPr lang="en-US" altLang="zh-CN" sz="2400" dirty="0">
                <a:solidFill>
                  <a:srgbClr val="00B050"/>
                </a:solidFill>
              </a:rPr>
              <a:t>, a</a:t>
            </a:r>
            <a:r>
              <a:rPr lang="en-US" altLang="zh-CN" sz="2400" baseline="-25000" dirty="0">
                <a:solidFill>
                  <a:srgbClr val="00B050"/>
                </a:solidFill>
              </a:rPr>
              <a:t>i+1</a:t>
            </a:r>
            <a:r>
              <a:rPr lang="en-US" altLang="zh-CN" sz="2400" dirty="0">
                <a:solidFill>
                  <a:srgbClr val="00B050"/>
                </a:solidFill>
              </a:rPr>
              <a:t>, </a:t>
            </a:r>
            <a:r>
              <a:rPr lang="en-US" altLang="zh-CN" sz="2400" dirty="0"/>
              <a:t>…, a</a:t>
            </a:r>
            <a:r>
              <a:rPr lang="en-US" altLang="zh-CN" sz="2400" baseline="-25000" dirty="0"/>
              <a:t>n</a:t>
            </a:r>
            <a:r>
              <a:rPr lang="en-US" altLang="zh-CN" sz="2400" dirty="0"/>
              <a:t>)</a:t>
            </a:r>
            <a:endParaRPr lang="zh-CN" altLang="en-US" sz="2400" dirty="0">
              <a:latin typeface="微软雅黑" pitchFamily="34" charset="-122"/>
              <a:ea typeface="微软雅黑" pitchFamily="34" charset="-122"/>
              <a:cs typeface="经典粗黑简" pitchFamily="49" charset="-122"/>
            </a:endParaRPr>
          </a:p>
        </p:txBody>
      </p:sp>
      <p:sp>
        <p:nvSpPr>
          <p:cNvPr id="20" name="矩形 19"/>
          <p:cNvSpPr/>
          <p:nvPr/>
        </p:nvSpPr>
        <p:spPr>
          <a:xfrm>
            <a:off x="1368978" y="2615373"/>
            <a:ext cx="4522373" cy="523220"/>
          </a:xfrm>
          <a:prstGeom prst="rect">
            <a:avLst/>
          </a:prstGeom>
        </p:spPr>
        <p:txBody>
          <a:bodyPr wrap="square">
            <a:spAutoFit/>
          </a:bodyPr>
          <a:lstStyle/>
          <a:p>
            <a:pPr lvl="1">
              <a:buFont typeface="Wingdings" pitchFamily="2" charset="2"/>
              <a:buNone/>
            </a:pPr>
            <a:r>
              <a:rPr kumimoji="1" lang="zh-CN" altLang="en-US" sz="2800" dirty="0"/>
              <a:t>(</a:t>
            </a:r>
            <a:r>
              <a:rPr kumimoji="1" lang="en-US" altLang="zh-CN" sz="2800" dirty="0"/>
              <a:t>a</a:t>
            </a:r>
            <a:r>
              <a:rPr kumimoji="1" lang="en-US" altLang="zh-CN" sz="2800" baseline="-25000" dirty="0"/>
              <a:t>1</a:t>
            </a:r>
            <a:r>
              <a:rPr kumimoji="1" lang="en-US" altLang="zh-CN" sz="2800" dirty="0"/>
              <a:t>, a</a:t>
            </a:r>
            <a:r>
              <a:rPr kumimoji="1" lang="en-US" altLang="zh-CN" sz="2800" baseline="-25000" dirty="0"/>
              <a:t>2</a:t>
            </a:r>
            <a:r>
              <a:rPr kumimoji="1" lang="en-US" altLang="zh-CN" sz="2800" dirty="0"/>
              <a:t>, …, </a:t>
            </a:r>
            <a:r>
              <a:rPr kumimoji="1" lang="en-US" altLang="zh-CN" sz="2800" dirty="0">
                <a:solidFill>
                  <a:srgbClr val="00B050"/>
                </a:solidFill>
              </a:rPr>
              <a:t>a</a:t>
            </a:r>
            <a:r>
              <a:rPr kumimoji="1" lang="en-US" altLang="zh-CN" sz="2800" baseline="-25000" dirty="0">
                <a:solidFill>
                  <a:srgbClr val="00B050"/>
                </a:solidFill>
              </a:rPr>
              <a:t>i-1</a:t>
            </a:r>
            <a:r>
              <a:rPr kumimoji="1" lang="en-US" altLang="zh-CN" sz="2800" dirty="0">
                <a:solidFill>
                  <a:srgbClr val="00B050"/>
                </a:solidFill>
              </a:rPr>
              <a:t>,</a:t>
            </a:r>
            <a:r>
              <a:rPr kumimoji="1" lang="en-US" altLang="zh-CN" sz="2800" dirty="0"/>
              <a:t> </a:t>
            </a:r>
            <a:r>
              <a:rPr kumimoji="1" lang="en-US" altLang="zh-CN" sz="2800" dirty="0">
                <a:solidFill>
                  <a:srgbClr val="00B050"/>
                </a:solidFill>
              </a:rPr>
              <a:t>a</a:t>
            </a:r>
            <a:r>
              <a:rPr kumimoji="1" lang="en-US" altLang="zh-CN" sz="2800" baseline="-25000" dirty="0">
                <a:solidFill>
                  <a:srgbClr val="00B050"/>
                </a:solidFill>
              </a:rPr>
              <a:t>i+1</a:t>
            </a:r>
            <a:r>
              <a:rPr kumimoji="1" lang="en-US" altLang="zh-CN" sz="2800" dirty="0"/>
              <a:t>, …, a</a:t>
            </a:r>
            <a:r>
              <a:rPr kumimoji="1" lang="en-US" altLang="zh-CN" sz="2800" baseline="-25000" dirty="0"/>
              <a:t>n</a:t>
            </a:r>
            <a:r>
              <a:rPr kumimoji="1" lang="en-US" altLang="zh-CN" sz="2800" dirty="0"/>
              <a:t>)</a:t>
            </a:r>
            <a:endParaRPr lang="zh-CN" altLang="en-US" sz="2800" dirty="0">
              <a:latin typeface="微软雅黑" pitchFamily="34" charset="-122"/>
              <a:ea typeface="微软雅黑" pitchFamily="34" charset="-122"/>
              <a:cs typeface="经典粗黑简" pitchFamily="49" charset="-122"/>
            </a:endParaRPr>
          </a:p>
        </p:txBody>
      </p:sp>
      <p:sp>
        <p:nvSpPr>
          <p:cNvPr id="21" name="下箭头 20"/>
          <p:cNvSpPr/>
          <p:nvPr/>
        </p:nvSpPr>
        <p:spPr>
          <a:xfrm>
            <a:off x="2975712" y="2524376"/>
            <a:ext cx="1741713" cy="27003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539932" y="3057804"/>
            <a:ext cx="8352549"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将元素</a:t>
            </a:r>
            <a:r>
              <a:rPr lang="en-US" altLang="zh-CN" sz="2000" dirty="0" err="1">
                <a:latin typeface="微软雅黑" pitchFamily="34" charset="-122"/>
                <a:ea typeface="微软雅黑" pitchFamily="34" charset="-122"/>
                <a:cs typeface="经典粗黑简" pitchFamily="49" charset="-122"/>
              </a:rPr>
              <a:t>a</a:t>
            </a:r>
            <a:r>
              <a:rPr lang="en-US" altLang="zh-CN" sz="2000" baseline="-25000" dirty="0" err="1">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从线性表中删除，构成新的线性表</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删除后不破坏原线性关系；</a:t>
            </a:r>
          </a:p>
        </p:txBody>
      </p:sp>
      <p:sp>
        <p:nvSpPr>
          <p:cNvPr id="23" name="矩形 22"/>
          <p:cNvSpPr/>
          <p:nvPr/>
        </p:nvSpPr>
        <p:spPr>
          <a:xfrm>
            <a:off x="539931" y="3381840"/>
            <a:ext cx="2143536" cy="400110"/>
          </a:xfrm>
          <a:prstGeom prst="rect">
            <a:avLst/>
          </a:prstGeom>
        </p:spPr>
        <p:txBody>
          <a:bodyPr wrap="none">
            <a:spAutoFit/>
          </a:bodyPr>
          <a:lstStyle/>
          <a:p>
            <a:r>
              <a:rPr lang="zh-CN" altLang="en-US" sz="2000" dirty="0">
                <a:latin typeface="微软雅黑" pitchFamily="34" charset="-122"/>
                <a:ea typeface="微软雅黑" pitchFamily="34" charset="-122"/>
                <a:cs typeface="经典粗黑简" pitchFamily="49" charset="-122"/>
              </a:rPr>
              <a:t>表的长度为</a:t>
            </a:r>
            <a:r>
              <a:rPr lang="en-US" altLang="zh-CN" sz="2000" dirty="0">
                <a:latin typeface="微软雅黑" pitchFamily="34" charset="-122"/>
                <a:ea typeface="微软雅黑" pitchFamily="34" charset="-122"/>
                <a:cs typeface="经典粗黑简" pitchFamily="49" charset="-122"/>
              </a:rPr>
              <a:t>n-1</a:t>
            </a:r>
            <a:r>
              <a:rPr lang="zh-CN" altLang="en-US" sz="2000" dirty="0">
                <a:latin typeface="微软雅黑" pitchFamily="34" charset="-122"/>
                <a:ea typeface="微软雅黑" pitchFamily="34" charset="-122"/>
                <a:cs typeface="经典粗黑简" pitchFamily="49" charset="-122"/>
              </a:rPr>
              <a:t>；</a:t>
            </a:r>
          </a:p>
        </p:txBody>
      </p:sp>
      <p:sp>
        <p:nvSpPr>
          <p:cNvPr id="24" name="矩形 23"/>
          <p:cNvSpPr/>
          <p:nvPr/>
        </p:nvSpPr>
        <p:spPr>
          <a:xfrm>
            <a:off x="539867" y="3781950"/>
            <a:ext cx="8257459" cy="707886"/>
          </a:xfrm>
          <a:prstGeom prst="rect">
            <a:avLst/>
          </a:prstGeom>
        </p:spPr>
        <p:txBody>
          <a:bodyPr wrap="square">
            <a:spAutoFit/>
          </a:bodyPr>
          <a:lstStyle/>
          <a:p>
            <a:pPr marL="0" lvl="1"/>
            <a:r>
              <a:rPr lang="zh-CN" altLang="en-US" sz="2000" dirty="0">
                <a:latin typeface="微软雅黑" pitchFamily="34" charset="-122"/>
                <a:ea typeface="微软雅黑" pitchFamily="34" charset="-122"/>
                <a:cs typeface="经典粗黑简" pitchFamily="49" charset="-122"/>
              </a:rPr>
              <a:t>将元素</a:t>
            </a:r>
            <a:r>
              <a:rPr lang="en-US" altLang="zh-CN" sz="2000" dirty="0" err="1">
                <a:latin typeface="微软雅黑" pitchFamily="34" charset="-122"/>
                <a:ea typeface="微软雅黑" pitchFamily="34" charset="-122"/>
                <a:cs typeface="经典粗黑简" pitchFamily="49" charset="-122"/>
              </a:rPr>
              <a:t>a</a:t>
            </a:r>
            <a:r>
              <a:rPr lang="en-US" altLang="zh-CN" sz="2000" baseline="-25000" dirty="0" err="1">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删除之后，</a:t>
            </a:r>
            <a:r>
              <a:rPr lang="en-US" altLang="zh-CN" sz="2000" dirty="0">
                <a:latin typeface="微软雅黑" pitchFamily="34" charset="-122"/>
                <a:ea typeface="微软雅黑" pitchFamily="34" charset="-122"/>
                <a:cs typeface="经典粗黑简" pitchFamily="49" charset="-122"/>
              </a:rPr>
              <a:t>a</a:t>
            </a:r>
            <a:r>
              <a:rPr lang="en-US" altLang="zh-CN" sz="2000" baseline="-25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的直接后继和</a:t>
            </a:r>
            <a:r>
              <a:rPr lang="en-US" altLang="zh-CN" sz="2000" dirty="0">
                <a:latin typeface="微软雅黑" pitchFamily="34" charset="-122"/>
                <a:ea typeface="微软雅黑" pitchFamily="34" charset="-122"/>
                <a:cs typeface="经典粗黑简" pitchFamily="49" charset="-122"/>
              </a:rPr>
              <a:t>a</a:t>
            </a:r>
            <a:r>
              <a:rPr lang="en-US" altLang="zh-CN" sz="2000" baseline="-25000" dirty="0">
                <a:latin typeface="微软雅黑" pitchFamily="34" charset="-122"/>
                <a:ea typeface="微软雅黑" pitchFamily="34" charset="-122"/>
                <a:cs typeface="经典粗黑简" pitchFamily="49" charset="-122"/>
              </a:rPr>
              <a:t>i＋1</a:t>
            </a:r>
            <a:r>
              <a:rPr lang="en-US" altLang="zh-CN" sz="2000" dirty="0">
                <a:latin typeface="微软雅黑" pitchFamily="34" charset="-122"/>
                <a:ea typeface="微软雅黑" pitchFamily="34" charset="-122"/>
                <a:cs typeface="经典粗黑简" pitchFamily="49" charset="-122"/>
              </a:rPr>
              <a:t> </a:t>
            </a:r>
            <a:r>
              <a:rPr lang="zh-CN" altLang="en-US" sz="2000" dirty="0">
                <a:latin typeface="微软雅黑" pitchFamily="34" charset="-122"/>
                <a:ea typeface="微软雅黑" pitchFamily="34" charset="-122"/>
                <a:cs typeface="经典粗黑简" pitchFamily="49" charset="-122"/>
              </a:rPr>
              <a:t>的直接前驱就改变了，需要在顺序表的存储结构上反映出来 ；</a:t>
            </a:r>
          </a:p>
        </p:txBody>
      </p:sp>
      <p:cxnSp>
        <p:nvCxnSpPr>
          <p:cNvPr id="16" name="直接连接符 15"/>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115616" y="1570501"/>
            <a:ext cx="1467068" cy="400110"/>
          </a:xfrm>
          <a:prstGeom prst="rect">
            <a:avLst/>
          </a:prstGeom>
        </p:spPr>
        <p:txBody>
          <a:bodyPr wrap="none">
            <a:spAutoFit/>
          </a:bodyPr>
          <a:lstStyle/>
          <a:p>
            <a:pPr>
              <a:defRPr/>
            </a:pPr>
            <a:r>
              <a:rPr lang="zh-CN" altLang="en-US" sz="2000" dirty="0">
                <a:latin typeface="微软雅黑" pitchFamily="34" charset="-122"/>
                <a:ea typeface="微软雅黑" pitchFamily="34" charset="-122"/>
                <a:cs typeface="经典粗黑简" pitchFamily="49" charset="-122"/>
              </a:rPr>
              <a:t>⑩删除运算</a:t>
            </a:r>
          </a:p>
        </p:txBody>
      </p:sp>
      <p:sp>
        <p:nvSpPr>
          <p:cNvPr id="2" name="Rectangle 2">
            <a:extLst>
              <a:ext uri="{FF2B5EF4-FFF2-40B4-BE49-F238E27FC236}">
                <a16:creationId xmlns:a16="http://schemas.microsoft.com/office/drawing/2014/main" id="{257F9418-1C81-DBA0-3B53-8E28DF85296C}"/>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3" name="矩形 2">
            <a:extLst>
              <a:ext uri="{FF2B5EF4-FFF2-40B4-BE49-F238E27FC236}">
                <a16:creationId xmlns:a16="http://schemas.microsoft.com/office/drawing/2014/main" id="{9E576AE4-F94B-B17A-F913-8E6EBB7DE090}"/>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Tree>
    <p:extLst>
      <p:ext uri="{BB962C8B-B14F-4D97-AF65-F5344CB8AC3E}">
        <p14:creationId xmlns:p14="http://schemas.microsoft.com/office/powerpoint/2010/main" val="2980131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animBg="1"/>
      <p:bldP spid="22" grpId="0"/>
      <p:bldP spid="23" grpId="0"/>
      <p:bldP spid="2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直接连接符 15"/>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3" name="Rectangle 43"/>
          <p:cNvSpPr>
            <a:spLocks noChangeArrowheads="1"/>
          </p:cNvSpPr>
          <p:nvPr/>
        </p:nvSpPr>
        <p:spPr bwMode="auto">
          <a:xfrm>
            <a:off x="3563888" y="2264883"/>
            <a:ext cx="4678288" cy="18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spcBef>
                <a:spcPct val="20000"/>
              </a:spcBef>
              <a:buClr>
                <a:schemeClr val="folHlink"/>
              </a:buClr>
              <a:buSzPct val="60000"/>
              <a:buFont typeface="Wingdings" pitchFamily="2" charset="2"/>
              <a:buNone/>
              <a:defRPr/>
            </a:pPr>
            <a:r>
              <a:rPr lang="zh-CN" altLang="en-US" sz="2400" dirty="0">
                <a:latin typeface="微软雅黑" pitchFamily="34" charset="-122"/>
                <a:ea typeface="微软雅黑" pitchFamily="34" charset="-122"/>
                <a:cs typeface="经典粗黑简" pitchFamily="49" charset="-122"/>
              </a:rPr>
              <a:t>仿照顺序表的插入操作，完成：</a:t>
            </a:r>
          </a:p>
          <a:p>
            <a:pPr marL="342900" indent="-342900" eaLnBrk="1" hangingPunct="1">
              <a:spcBef>
                <a:spcPct val="20000"/>
              </a:spcBef>
              <a:buClr>
                <a:schemeClr val="folHlink"/>
              </a:buClr>
              <a:buSzPct val="60000"/>
              <a:buFont typeface="Wingdings" pitchFamily="2" charset="2"/>
              <a:buNone/>
              <a:defRPr/>
            </a:pPr>
            <a:r>
              <a:rPr lang="zh-CN" altLang="en-US" sz="2400" dirty="0">
                <a:latin typeface="微软雅黑" pitchFamily="34" charset="-122"/>
                <a:ea typeface="微软雅黑" pitchFamily="34" charset="-122"/>
                <a:cs typeface="经典粗黑简" pitchFamily="49" charset="-122"/>
              </a:rPr>
              <a:t>1. 分析边界条件；</a:t>
            </a:r>
          </a:p>
          <a:p>
            <a:pPr marL="342900" indent="-342900" eaLnBrk="1" hangingPunct="1">
              <a:spcBef>
                <a:spcPct val="20000"/>
              </a:spcBef>
              <a:buClr>
                <a:schemeClr val="folHlink"/>
              </a:buClr>
              <a:buSzPct val="60000"/>
              <a:buFont typeface="Wingdings" pitchFamily="2" charset="2"/>
              <a:buNone/>
              <a:defRPr/>
            </a:pPr>
            <a:r>
              <a:rPr lang="zh-CN" altLang="en-US" sz="2400" dirty="0">
                <a:latin typeface="微软雅黑" pitchFamily="34" charset="-122"/>
                <a:ea typeface="微软雅黑" pitchFamily="34" charset="-122"/>
                <a:cs typeface="经典粗黑简" pitchFamily="49" charset="-122"/>
              </a:rPr>
              <a:t>2. 分别给出算法的描述；</a:t>
            </a:r>
          </a:p>
          <a:p>
            <a:pPr marL="342900" indent="-342900" eaLnBrk="1" hangingPunct="1">
              <a:spcBef>
                <a:spcPct val="20000"/>
              </a:spcBef>
              <a:buClr>
                <a:schemeClr val="folHlink"/>
              </a:buClr>
              <a:buSzPct val="60000"/>
              <a:buFont typeface="Wingdings" pitchFamily="2" charset="2"/>
              <a:buNone/>
              <a:defRPr/>
            </a:pPr>
            <a:r>
              <a:rPr lang="zh-CN" altLang="en-US" sz="2400" dirty="0">
                <a:latin typeface="微软雅黑" pitchFamily="34" charset="-122"/>
                <a:ea typeface="微软雅黑" pitchFamily="34" charset="-122"/>
                <a:cs typeface="经典粗黑简" pitchFamily="49" charset="-122"/>
              </a:rPr>
              <a:t>3. 分析时间复杂度。</a:t>
            </a:r>
            <a:endParaRPr lang="en-US" altLang="zh-CN" sz="2400" dirty="0">
              <a:latin typeface="微软雅黑" pitchFamily="34" charset="-122"/>
              <a:ea typeface="微软雅黑" pitchFamily="34" charset="-122"/>
              <a:cs typeface="经典粗黑简" pitchFamily="49" charset="-122"/>
            </a:endParaRPr>
          </a:p>
        </p:txBody>
      </p:sp>
      <p:sp>
        <p:nvSpPr>
          <p:cNvPr id="26" name="Text Box 15"/>
          <p:cNvSpPr txBox="1">
            <a:spLocks noChangeArrowheads="1"/>
          </p:cNvSpPr>
          <p:nvPr/>
        </p:nvSpPr>
        <p:spPr bwMode="auto">
          <a:xfrm>
            <a:off x="2640133" y="3158695"/>
            <a:ext cx="309086"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Times New Roman" pitchFamily="18" charset="0"/>
                <a:ea typeface="宋体" pitchFamily="2" charset="-122"/>
              </a:defRPr>
            </a:lvl1pPr>
            <a:lvl2pPr marL="742950" indent="-285750" eaLnBrk="0" hangingPunct="0">
              <a:defRPr kumimoji="1">
                <a:solidFill>
                  <a:schemeClr val="tx1"/>
                </a:solidFill>
                <a:latin typeface="Times New Roman" pitchFamily="18" charset="0"/>
                <a:ea typeface="宋体" pitchFamily="2" charset="-122"/>
              </a:defRPr>
            </a:lvl2pPr>
            <a:lvl3pPr marL="1143000" indent="-228600" eaLnBrk="0" hangingPunct="0">
              <a:defRPr kumimoji="1">
                <a:solidFill>
                  <a:schemeClr val="tx1"/>
                </a:solidFill>
                <a:latin typeface="Times New Roman" pitchFamily="18" charset="0"/>
                <a:ea typeface="宋体" pitchFamily="2" charset="-122"/>
              </a:defRPr>
            </a:lvl3pPr>
            <a:lvl4pPr marL="1600200" indent="-228600" eaLnBrk="0" hangingPunct="0">
              <a:defRPr kumimoji="1">
                <a:solidFill>
                  <a:schemeClr val="tx1"/>
                </a:solidFill>
                <a:latin typeface="Times New Roman" pitchFamily="18" charset="0"/>
                <a:ea typeface="宋体" pitchFamily="2" charset="-122"/>
              </a:defRPr>
            </a:lvl4pPr>
            <a:lvl5pPr marL="2057400" indent="-228600" eaLnBrk="0" hangingPunct="0">
              <a:defRPr kumimoji="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9pPr>
          </a:lstStyle>
          <a:p>
            <a:pPr eaLnBrk="1" hangingPunct="1">
              <a:lnSpc>
                <a:spcPct val="90000"/>
              </a:lnSpc>
              <a:spcBef>
                <a:spcPct val="50000"/>
              </a:spcBef>
              <a:buFont typeface="Wingdings" pitchFamily="2" charset="2"/>
              <a:buNone/>
            </a:pPr>
            <a:r>
              <a:rPr lang="en-US" altLang="zh-CN" sz="3200" dirty="0"/>
              <a:t>e</a:t>
            </a:r>
          </a:p>
        </p:txBody>
      </p:sp>
      <p:sp>
        <p:nvSpPr>
          <p:cNvPr id="27" name="Line 29"/>
          <p:cNvSpPr>
            <a:spLocks noChangeShapeType="1"/>
          </p:cNvSpPr>
          <p:nvPr/>
        </p:nvSpPr>
        <p:spPr bwMode="auto">
          <a:xfrm>
            <a:off x="2267744" y="3437977"/>
            <a:ext cx="457269" cy="0"/>
          </a:xfrm>
          <a:prstGeom prst="line">
            <a:avLst/>
          </a:prstGeom>
          <a:noFill/>
          <a:ln w="603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 name="Rectangle 2">
            <a:extLst>
              <a:ext uri="{FF2B5EF4-FFF2-40B4-BE49-F238E27FC236}">
                <a16:creationId xmlns:a16="http://schemas.microsoft.com/office/drawing/2014/main" id="{EF1D4B12-CBA6-9001-13F5-996828B49A0B}"/>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3" name="矩形 2">
            <a:extLst>
              <a:ext uri="{FF2B5EF4-FFF2-40B4-BE49-F238E27FC236}">
                <a16:creationId xmlns:a16="http://schemas.microsoft.com/office/drawing/2014/main" id="{E31E7C4B-0EB9-031A-978E-C33E414AF018}"/>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
        <p:nvSpPr>
          <p:cNvPr id="4" name="矩形 3">
            <a:extLst>
              <a:ext uri="{FF2B5EF4-FFF2-40B4-BE49-F238E27FC236}">
                <a16:creationId xmlns:a16="http://schemas.microsoft.com/office/drawing/2014/main" id="{A3A74195-72FE-7857-F43F-629D1042AC54}"/>
              </a:ext>
            </a:extLst>
          </p:cNvPr>
          <p:cNvSpPr/>
          <p:nvPr/>
        </p:nvSpPr>
        <p:spPr>
          <a:xfrm>
            <a:off x="1115616" y="1570501"/>
            <a:ext cx="1467068" cy="400110"/>
          </a:xfrm>
          <a:prstGeom prst="rect">
            <a:avLst/>
          </a:prstGeom>
        </p:spPr>
        <p:txBody>
          <a:bodyPr wrap="none">
            <a:spAutoFit/>
          </a:bodyPr>
          <a:lstStyle/>
          <a:p>
            <a:pPr>
              <a:defRPr/>
            </a:pPr>
            <a:r>
              <a:rPr lang="zh-CN" altLang="en-US" sz="2000" dirty="0">
                <a:latin typeface="微软雅黑" pitchFamily="34" charset="-122"/>
                <a:ea typeface="微软雅黑" pitchFamily="34" charset="-122"/>
                <a:cs typeface="经典粗黑简" pitchFamily="49" charset="-122"/>
              </a:rPr>
              <a:t>⑩删除运算</a:t>
            </a:r>
          </a:p>
        </p:txBody>
      </p:sp>
      <p:graphicFrame>
        <p:nvGraphicFramePr>
          <p:cNvPr id="5" name="表格 4">
            <a:extLst>
              <a:ext uri="{FF2B5EF4-FFF2-40B4-BE49-F238E27FC236}">
                <a16:creationId xmlns:a16="http://schemas.microsoft.com/office/drawing/2014/main" id="{F8652FD0-E5D7-B74C-DEF9-B9B8C11A2708}"/>
              </a:ext>
            </a:extLst>
          </p:cNvPr>
          <p:cNvGraphicFramePr>
            <a:graphicFrameLocks noGrp="1"/>
          </p:cNvGraphicFramePr>
          <p:nvPr>
            <p:extLst>
              <p:ext uri="{D42A27DB-BD31-4B8C-83A1-F6EECF244321}">
                <p14:modId xmlns:p14="http://schemas.microsoft.com/office/powerpoint/2010/main" val="105555086"/>
              </p:ext>
            </p:extLst>
          </p:nvPr>
        </p:nvGraphicFramePr>
        <p:xfrm>
          <a:off x="1087897" y="2178550"/>
          <a:ext cx="1094967" cy="2550519"/>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a:t>a</a:t>
                      </a:r>
                      <a:r>
                        <a:rPr lang="en-US" altLang="zh-CN" sz="1400" baseline="-25000" dirty="0"/>
                        <a:t>i-1</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a</a:t>
                      </a:r>
                      <a:r>
                        <a:rPr lang="en-US" altLang="zh-CN" sz="1400" baseline="-25000" dirty="0" err="1"/>
                        <a:t>i</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5"/>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6"/>
                  </a:ext>
                </a:extLst>
              </a:tr>
              <a:tr h="283391">
                <a:tc>
                  <a:txBody>
                    <a:bodyPr/>
                    <a:lstStyle/>
                    <a:p>
                      <a:pPr algn="ctr"/>
                      <a:endParaRPr lang="zh-CN" altLang="en-US" sz="1400" dirty="0"/>
                    </a:p>
                  </a:txBody>
                  <a:tcPr marT="34290" marB="34290">
                    <a:pattFill prst="wdDnDiag">
                      <a:fgClr>
                        <a:schemeClr val="tx1"/>
                      </a:fgClr>
                      <a:bgClr>
                        <a:schemeClr val="bg1"/>
                      </a:bgClr>
                    </a:pattFill>
                  </a:tcPr>
                </a:tc>
                <a:extLst>
                  <a:ext uri="{0D108BD9-81ED-4DB2-BD59-A6C34878D82A}">
                    <a16:rowId xmlns:a16="http://schemas.microsoft.com/office/drawing/2014/main" val="10007"/>
                  </a:ext>
                </a:extLst>
              </a:tr>
              <a:tr h="283391">
                <a:tc>
                  <a:txBody>
                    <a:bodyPr/>
                    <a:lstStyle/>
                    <a:p>
                      <a:pPr algn="ctr"/>
                      <a:endParaRPr lang="zh-CN" altLang="en-US" sz="1400" dirty="0"/>
                    </a:p>
                  </a:txBody>
                  <a:tcPr marT="34290" marB="34290">
                    <a:solidFill>
                      <a:srgbClr val="92D050"/>
                    </a:solidFill>
                  </a:tcPr>
                </a:tc>
                <a:extLst>
                  <a:ext uri="{0D108BD9-81ED-4DB2-BD59-A6C34878D82A}">
                    <a16:rowId xmlns:a16="http://schemas.microsoft.com/office/drawing/2014/main" val="10008"/>
                  </a:ext>
                </a:extLst>
              </a:tr>
            </a:tbl>
          </a:graphicData>
        </a:graphic>
      </p:graphicFrame>
      <p:sp>
        <p:nvSpPr>
          <p:cNvPr id="8" name="矩形 7">
            <a:extLst>
              <a:ext uri="{FF2B5EF4-FFF2-40B4-BE49-F238E27FC236}">
                <a16:creationId xmlns:a16="http://schemas.microsoft.com/office/drawing/2014/main" id="{594777F9-CE4E-351B-14A5-C7F0E3A23C7A}"/>
              </a:ext>
            </a:extLst>
          </p:cNvPr>
          <p:cNvSpPr/>
          <p:nvPr/>
        </p:nvSpPr>
        <p:spPr>
          <a:xfrm>
            <a:off x="21595" y="4440618"/>
            <a:ext cx="1109599" cy="369332"/>
          </a:xfrm>
          <a:prstGeom prst="rect">
            <a:avLst/>
          </a:prstGeom>
        </p:spPr>
        <p:txBody>
          <a:bodyPr wrap="none">
            <a:spAutoFit/>
          </a:bodyPr>
          <a:lstStyle/>
          <a:p>
            <a:r>
              <a:rPr lang="en-US" altLang="zh-CN" dirty="0">
                <a:latin typeface="Times New Roman" pitchFamily="18" charset="0"/>
                <a:ea typeface="宋体" pitchFamily="2" charset="-122"/>
              </a:rPr>
              <a:t>L-&gt;length</a:t>
            </a:r>
            <a:endParaRPr lang="zh-CN" altLang="en-US" dirty="0">
              <a:latin typeface="Times New Roman" pitchFamily="18" charset="0"/>
              <a:ea typeface="宋体" pitchFamily="2" charset="-122"/>
            </a:endParaRPr>
          </a:p>
        </p:txBody>
      </p:sp>
      <p:sp>
        <p:nvSpPr>
          <p:cNvPr id="9" name="矩形 8">
            <a:extLst>
              <a:ext uri="{FF2B5EF4-FFF2-40B4-BE49-F238E27FC236}">
                <a16:creationId xmlns:a16="http://schemas.microsoft.com/office/drawing/2014/main" id="{547B902D-47F9-4D78-9CB8-F4930B8E86F6}"/>
              </a:ext>
            </a:extLst>
          </p:cNvPr>
          <p:cNvSpPr/>
          <p:nvPr/>
        </p:nvSpPr>
        <p:spPr>
          <a:xfrm>
            <a:off x="183977" y="2114507"/>
            <a:ext cx="917239" cy="369332"/>
          </a:xfrm>
          <a:prstGeom prst="rect">
            <a:avLst/>
          </a:prstGeom>
        </p:spPr>
        <p:txBody>
          <a:bodyPr wrap="none">
            <a:spAutoFit/>
          </a:bodyPr>
          <a:lstStyle/>
          <a:p>
            <a:r>
              <a:rPr lang="en-US" altLang="zh-CN" dirty="0">
                <a:latin typeface="Times New Roman" pitchFamily="18" charset="0"/>
                <a:ea typeface="宋体" pitchFamily="2" charset="-122"/>
              </a:rPr>
              <a:t>L-&gt;data</a:t>
            </a:r>
            <a:endParaRPr lang="zh-CN" altLang="en-US" dirty="0">
              <a:latin typeface="Times New Roman" pitchFamily="18" charset="0"/>
              <a:ea typeface="宋体" pitchFamily="2" charset="-122"/>
            </a:endParaRPr>
          </a:p>
        </p:txBody>
      </p:sp>
      <p:cxnSp>
        <p:nvCxnSpPr>
          <p:cNvPr id="10" name="直接箭头连接符 9">
            <a:extLst>
              <a:ext uri="{FF2B5EF4-FFF2-40B4-BE49-F238E27FC236}">
                <a16:creationId xmlns:a16="http://schemas.microsoft.com/office/drawing/2014/main" id="{6BA70045-5642-F5F4-C78D-21A8DBF6699C}"/>
              </a:ext>
            </a:extLst>
          </p:cNvPr>
          <p:cNvCxnSpPr>
            <a:cxnSpLocks/>
          </p:cNvCxnSpPr>
          <p:nvPr/>
        </p:nvCxnSpPr>
        <p:spPr>
          <a:xfrm>
            <a:off x="412873" y="2016967"/>
            <a:ext cx="695627" cy="12323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25E14EB7-7EFC-F564-6704-65908167F78A}"/>
              </a:ext>
            </a:extLst>
          </p:cNvPr>
          <p:cNvSpPr/>
          <p:nvPr/>
        </p:nvSpPr>
        <p:spPr>
          <a:xfrm>
            <a:off x="163300" y="1752949"/>
            <a:ext cx="338554" cy="369332"/>
          </a:xfrm>
          <a:prstGeom prst="rect">
            <a:avLst/>
          </a:prstGeom>
        </p:spPr>
        <p:txBody>
          <a:bodyPr wrap="none">
            <a:spAutoFit/>
          </a:bodyPr>
          <a:lstStyle/>
          <a:p>
            <a:r>
              <a:rPr lang="en-US" altLang="zh-CN" b="1" dirty="0">
                <a:latin typeface="Times New Roman" pitchFamily="18" charset="0"/>
                <a:ea typeface="宋体" pitchFamily="2" charset="-122"/>
              </a:rPr>
              <a:t>L</a:t>
            </a:r>
            <a:endParaRPr lang="zh-CN" altLang="en-US" b="1" dirty="0">
              <a:latin typeface="Times New Roman" pitchFamily="18" charset="0"/>
              <a:ea typeface="宋体" pitchFamily="2" charset="-122"/>
            </a:endParaRPr>
          </a:p>
        </p:txBody>
      </p:sp>
    </p:spTree>
    <p:extLst>
      <p:ext uri="{BB962C8B-B14F-4D97-AF65-F5344CB8AC3E}">
        <p14:creationId xmlns:p14="http://schemas.microsoft.com/office/powerpoint/2010/main" val="739415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434468" y="4587974"/>
            <a:ext cx="2696322" cy="523220"/>
          </a:xfrm>
          <a:prstGeom prst="rect">
            <a:avLst/>
          </a:prstGeom>
        </p:spPr>
        <p:txBody>
          <a:bodyPr wrap="square">
            <a:spAutoFit/>
          </a:bodyPr>
          <a:lstStyle/>
          <a:p>
            <a:r>
              <a:rPr lang="zh-CN" altLang="en-US" sz="1400" dirty="0"/>
              <a:t>将线性表</a:t>
            </a:r>
            <a:r>
              <a:rPr lang="en-US" altLang="zh-CN" sz="1400" dirty="0"/>
              <a:t>L</a:t>
            </a:r>
            <a:r>
              <a:rPr lang="zh-CN" altLang="en-US" sz="1400" dirty="0"/>
              <a:t>的第</a:t>
            </a:r>
            <a:r>
              <a:rPr lang="en-US" altLang="zh-CN" sz="1400" dirty="0"/>
              <a:t>i</a:t>
            </a:r>
            <a:r>
              <a:rPr lang="zh-CN" altLang="en-US" sz="1400" dirty="0"/>
              <a:t>个位置上的数据元素的值取出并赋给</a:t>
            </a:r>
            <a:r>
              <a:rPr lang="en-US" altLang="zh-CN" sz="1400" dirty="0"/>
              <a:t>e</a:t>
            </a:r>
            <a:endParaRPr lang="zh-CN" altLang="en-US" sz="1400" dirty="0"/>
          </a:p>
        </p:txBody>
      </p:sp>
      <p:graphicFrame>
        <p:nvGraphicFramePr>
          <p:cNvPr id="17" name="表格 16"/>
          <p:cNvGraphicFramePr>
            <a:graphicFrameLocks noGrp="1"/>
          </p:cNvGraphicFramePr>
          <p:nvPr>
            <p:extLst>
              <p:ext uri="{D42A27DB-BD31-4B8C-83A1-F6EECF244321}">
                <p14:modId xmlns:p14="http://schemas.microsoft.com/office/powerpoint/2010/main" val="2805925983"/>
              </p:ext>
            </p:extLst>
          </p:nvPr>
        </p:nvGraphicFramePr>
        <p:xfrm>
          <a:off x="6585271" y="1851670"/>
          <a:ext cx="1094967" cy="2550519"/>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a:t>a</a:t>
                      </a:r>
                      <a:r>
                        <a:rPr lang="en-US" altLang="zh-CN" sz="1400" baseline="-25000" dirty="0"/>
                        <a:t>i-1</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aseline="0" dirty="0"/>
                        <a:t>a</a:t>
                      </a:r>
                      <a:r>
                        <a:rPr lang="en-US" altLang="zh-CN" sz="1400" baseline="-25000" dirty="0"/>
                        <a:t>i+1</a:t>
                      </a:r>
                      <a:endParaRPr lang="zh-CN" altLang="en-US" sz="1400" baseline="-250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5"/>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6"/>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400" baseline="-25000" dirty="0"/>
                    </a:p>
                  </a:txBody>
                  <a:tcPr marT="34290" marB="34290">
                    <a:pattFill prst="wdDnDiag">
                      <a:fgClr>
                        <a:srgbClr val="FFC000"/>
                      </a:fgClr>
                      <a:bgClr>
                        <a:schemeClr val="bg1"/>
                      </a:bgClr>
                    </a:pattFill>
                  </a:tcPr>
                </a:tc>
                <a:extLst>
                  <a:ext uri="{0D108BD9-81ED-4DB2-BD59-A6C34878D82A}">
                    <a16:rowId xmlns:a16="http://schemas.microsoft.com/office/drawing/2014/main" val="10007"/>
                  </a:ext>
                </a:extLst>
              </a:tr>
              <a:tr h="283391">
                <a:tc>
                  <a:txBody>
                    <a:bodyPr/>
                    <a:lstStyle/>
                    <a:p>
                      <a:pPr algn="ctr"/>
                      <a:endParaRPr lang="zh-CN" altLang="en-US" sz="1400" dirty="0"/>
                    </a:p>
                  </a:txBody>
                  <a:tcPr marT="34290" marB="34290">
                    <a:solidFill>
                      <a:srgbClr val="92D050"/>
                    </a:solidFill>
                  </a:tcPr>
                </a:tc>
                <a:extLst>
                  <a:ext uri="{0D108BD9-81ED-4DB2-BD59-A6C34878D82A}">
                    <a16:rowId xmlns:a16="http://schemas.microsoft.com/office/drawing/2014/main" val="10008"/>
                  </a:ext>
                </a:extLst>
              </a:tr>
            </a:tbl>
          </a:graphicData>
        </a:graphic>
      </p:graphicFrame>
      <p:sp>
        <p:nvSpPr>
          <p:cNvPr id="18" name="矩形 17"/>
          <p:cNvSpPr/>
          <p:nvPr/>
        </p:nvSpPr>
        <p:spPr>
          <a:xfrm>
            <a:off x="5926992" y="4563772"/>
            <a:ext cx="2411523" cy="523220"/>
          </a:xfrm>
          <a:prstGeom prst="rect">
            <a:avLst/>
          </a:prstGeom>
        </p:spPr>
        <p:txBody>
          <a:bodyPr wrap="square">
            <a:spAutoFit/>
          </a:bodyPr>
          <a:lstStyle/>
          <a:p>
            <a:r>
              <a:rPr lang="zh-CN" altLang="en-US" sz="1400" dirty="0">
                <a:latin typeface="Tahoma" pitchFamily="34" charset="0"/>
              </a:rPr>
              <a:t>将元素</a:t>
            </a:r>
            <a:r>
              <a:rPr lang="en-US" altLang="zh-CN" sz="1400" dirty="0">
                <a:latin typeface="Tahoma" pitchFamily="34" charset="0"/>
              </a:rPr>
              <a:t>a</a:t>
            </a:r>
            <a:r>
              <a:rPr lang="en-US" altLang="zh-CN" sz="1400" baseline="-25000" dirty="0">
                <a:latin typeface="Tahoma" pitchFamily="34" charset="0"/>
              </a:rPr>
              <a:t>i+1</a:t>
            </a:r>
            <a:r>
              <a:rPr lang="en-US" altLang="zh-CN" sz="1400" dirty="0">
                <a:latin typeface="Tahoma" pitchFamily="34" charset="0"/>
              </a:rPr>
              <a:t>～a</a:t>
            </a:r>
            <a:r>
              <a:rPr lang="en-US" altLang="zh-CN" sz="1400" baseline="-25000" dirty="0">
                <a:latin typeface="Tahoma" pitchFamily="34" charset="0"/>
              </a:rPr>
              <a:t>n</a:t>
            </a:r>
            <a:r>
              <a:rPr lang="en-US" altLang="zh-CN" sz="1400" dirty="0">
                <a:latin typeface="Tahoma" pitchFamily="34" charset="0"/>
              </a:rPr>
              <a:t>（n-i</a:t>
            </a:r>
            <a:r>
              <a:rPr lang="zh-CN" altLang="en-US" sz="1400" dirty="0">
                <a:latin typeface="Tahoma" pitchFamily="34" charset="0"/>
              </a:rPr>
              <a:t>个元素）依次向前移动一个位置</a:t>
            </a:r>
            <a:endParaRPr lang="zh-CN" altLang="en-US" sz="1400" dirty="0"/>
          </a:p>
        </p:txBody>
      </p:sp>
      <p:cxnSp>
        <p:nvCxnSpPr>
          <p:cNvPr id="28" name="直接箭头连接符 27"/>
          <p:cNvCxnSpPr/>
          <p:nvPr/>
        </p:nvCxnSpPr>
        <p:spPr>
          <a:xfrm flipV="1">
            <a:off x="434468" y="4165809"/>
            <a:ext cx="576634" cy="2688"/>
          </a:xfrm>
          <a:prstGeom prst="straightConnector1">
            <a:avLst/>
          </a:prstGeom>
          <a:ln w="127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345907" y="3293865"/>
            <a:ext cx="576634" cy="2688"/>
          </a:xfrm>
          <a:prstGeom prst="straightConnector1">
            <a:avLst/>
          </a:prstGeom>
          <a:ln w="127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536900" y="3367316"/>
            <a:ext cx="3166" cy="798493"/>
          </a:xfrm>
          <a:prstGeom prst="straightConnector1">
            <a:avLst/>
          </a:prstGeom>
          <a:ln w="762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641184CC-25D7-7CAC-295C-CBDEB1546E0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3" name="矩形 2">
            <a:extLst>
              <a:ext uri="{FF2B5EF4-FFF2-40B4-BE49-F238E27FC236}">
                <a16:creationId xmlns:a16="http://schemas.microsoft.com/office/drawing/2014/main" id="{B44DA690-6102-819D-7CF2-C1AD7954E5FF}"/>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
        <p:nvSpPr>
          <p:cNvPr id="4" name="矩形 3">
            <a:extLst>
              <a:ext uri="{FF2B5EF4-FFF2-40B4-BE49-F238E27FC236}">
                <a16:creationId xmlns:a16="http://schemas.microsoft.com/office/drawing/2014/main" id="{9AFED618-978A-8124-3FA3-97C3F02FA317}"/>
              </a:ext>
            </a:extLst>
          </p:cNvPr>
          <p:cNvSpPr/>
          <p:nvPr/>
        </p:nvSpPr>
        <p:spPr>
          <a:xfrm>
            <a:off x="1115616" y="1570501"/>
            <a:ext cx="1467068" cy="400110"/>
          </a:xfrm>
          <a:prstGeom prst="rect">
            <a:avLst/>
          </a:prstGeom>
        </p:spPr>
        <p:txBody>
          <a:bodyPr wrap="none">
            <a:spAutoFit/>
          </a:bodyPr>
          <a:lstStyle/>
          <a:p>
            <a:pPr>
              <a:defRPr/>
            </a:pPr>
            <a:r>
              <a:rPr lang="zh-CN" altLang="en-US" sz="2000" dirty="0">
                <a:latin typeface="微软雅黑" pitchFamily="34" charset="-122"/>
                <a:ea typeface="微软雅黑" pitchFamily="34" charset="-122"/>
                <a:cs typeface="经典粗黑简" pitchFamily="49" charset="-122"/>
              </a:rPr>
              <a:t>⑩删除运算</a:t>
            </a:r>
          </a:p>
        </p:txBody>
      </p:sp>
      <p:sp>
        <p:nvSpPr>
          <p:cNvPr id="5" name="Text Box 15">
            <a:extLst>
              <a:ext uri="{FF2B5EF4-FFF2-40B4-BE49-F238E27FC236}">
                <a16:creationId xmlns:a16="http://schemas.microsoft.com/office/drawing/2014/main" id="{BEC68BE8-8CCD-DF05-8CDD-87D87158F6FF}"/>
              </a:ext>
            </a:extLst>
          </p:cNvPr>
          <p:cNvSpPr txBox="1">
            <a:spLocks noChangeArrowheads="1"/>
          </p:cNvSpPr>
          <p:nvPr/>
        </p:nvSpPr>
        <p:spPr bwMode="auto">
          <a:xfrm>
            <a:off x="2640133" y="2993398"/>
            <a:ext cx="309086"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Times New Roman" pitchFamily="18" charset="0"/>
                <a:ea typeface="宋体" pitchFamily="2" charset="-122"/>
              </a:defRPr>
            </a:lvl1pPr>
            <a:lvl2pPr marL="742950" indent="-285750" eaLnBrk="0" hangingPunct="0">
              <a:defRPr kumimoji="1">
                <a:solidFill>
                  <a:schemeClr val="tx1"/>
                </a:solidFill>
                <a:latin typeface="Times New Roman" pitchFamily="18" charset="0"/>
                <a:ea typeface="宋体" pitchFamily="2" charset="-122"/>
              </a:defRPr>
            </a:lvl2pPr>
            <a:lvl3pPr marL="1143000" indent="-228600" eaLnBrk="0" hangingPunct="0">
              <a:defRPr kumimoji="1">
                <a:solidFill>
                  <a:schemeClr val="tx1"/>
                </a:solidFill>
                <a:latin typeface="Times New Roman" pitchFamily="18" charset="0"/>
                <a:ea typeface="宋体" pitchFamily="2" charset="-122"/>
              </a:defRPr>
            </a:lvl3pPr>
            <a:lvl4pPr marL="1600200" indent="-228600" eaLnBrk="0" hangingPunct="0">
              <a:defRPr kumimoji="1">
                <a:solidFill>
                  <a:schemeClr val="tx1"/>
                </a:solidFill>
                <a:latin typeface="Times New Roman" pitchFamily="18" charset="0"/>
                <a:ea typeface="宋体" pitchFamily="2" charset="-122"/>
              </a:defRPr>
            </a:lvl4pPr>
            <a:lvl5pPr marL="2057400" indent="-228600" eaLnBrk="0" hangingPunct="0">
              <a:defRPr kumimoji="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tx1"/>
                </a:solidFill>
                <a:latin typeface="Times New Roman" pitchFamily="18" charset="0"/>
                <a:ea typeface="宋体" pitchFamily="2" charset="-122"/>
              </a:defRPr>
            </a:lvl9pPr>
          </a:lstStyle>
          <a:p>
            <a:pPr eaLnBrk="1" hangingPunct="1">
              <a:lnSpc>
                <a:spcPct val="90000"/>
              </a:lnSpc>
              <a:spcBef>
                <a:spcPct val="50000"/>
              </a:spcBef>
              <a:buFont typeface="Wingdings" pitchFamily="2" charset="2"/>
              <a:buNone/>
            </a:pPr>
            <a:r>
              <a:rPr lang="en-US" altLang="zh-CN" sz="3200" dirty="0"/>
              <a:t>e</a:t>
            </a:r>
          </a:p>
        </p:txBody>
      </p:sp>
      <p:sp>
        <p:nvSpPr>
          <p:cNvPr id="6" name="Line 29">
            <a:extLst>
              <a:ext uri="{FF2B5EF4-FFF2-40B4-BE49-F238E27FC236}">
                <a16:creationId xmlns:a16="http://schemas.microsoft.com/office/drawing/2014/main" id="{8B658A80-B7DE-6E1A-4714-4D3AA544806D}"/>
              </a:ext>
            </a:extLst>
          </p:cNvPr>
          <p:cNvSpPr>
            <a:spLocks noChangeShapeType="1"/>
          </p:cNvSpPr>
          <p:nvPr/>
        </p:nvSpPr>
        <p:spPr bwMode="auto">
          <a:xfrm>
            <a:off x="2267744" y="3272680"/>
            <a:ext cx="457269" cy="0"/>
          </a:xfrm>
          <a:prstGeom prst="line">
            <a:avLst/>
          </a:prstGeom>
          <a:noFill/>
          <a:ln w="603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 name="表格 6">
            <a:extLst>
              <a:ext uri="{FF2B5EF4-FFF2-40B4-BE49-F238E27FC236}">
                <a16:creationId xmlns:a16="http://schemas.microsoft.com/office/drawing/2014/main" id="{F28A901E-F276-337B-18D5-83093EF76987}"/>
              </a:ext>
            </a:extLst>
          </p:cNvPr>
          <p:cNvGraphicFramePr>
            <a:graphicFrameLocks noGrp="1"/>
          </p:cNvGraphicFramePr>
          <p:nvPr>
            <p:extLst>
              <p:ext uri="{D42A27DB-BD31-4B8C-83A1-F6EECF244321}">
                <p14:modId xmlns:p14="http://schemas.microsoft.com/office/powerpoint/2010/main" val="4056729641"/>
              </p:ext>
            </p:extLst>
          </p:nvPr>
        </p:nvGraphicFramePr>
        <p:xfrm>
          <a:off x="1087897" y="2013253"/>
          <a:ext cx="1094967" cy="2550519"/>
        </p:xfrm>
        <a:graphic>
          <a:graphicData uri="http://schemas.openxmlformats.org/drawingml/2006/table">
            <a:tbl>
              <a:tblPr firstRow="1" bandRow="1">
                <a:tableStyleId>{5940675A-B579-460E-94D1-54222C63F5DA}</a:tableStyleId>
              </a:tblPr>
              <a:tblGrid>
                <a:gridCol w="1094967">
                  <a:extLst>
                    <a:ext uri="{9D8B030D-6E8A-4147-A177-3AD203B41FA5}">
                      <a16:colId xmlns:a16="http://schemas.microsoft.com/office/drawing/2014/main" val="20000"/>
                    </a:ext>
                  </a:extLst>
                </a:gridCol>
              </a:tblGrid>
              <a:tr h="283391">
                <a:tc>
                  <a:txBody>
                    <a:bodyPr/>
                    <a:lstStyle/>
                    <a:p>
                      <a:pPr algn="ctr"/>
                      <a:r>
                        <a:rPr lang="en-US" altLang="zh-CN" sz="1400" dirty="0"/>
                        <a:t>a</a:t>
                      </a:r>
                      <a:r>
                        <a:rPr lang="en-US" altLang="zh-CN" sz="1400" baseline="-25000" dirty="0"/>
                        <a:t>1</a:t>
                      </a:r>
                      <a:endParaRPr lang="zh-CN" altLang="en-US" sz="1400" baseline="-25000" dirty="0"/>
                    </a:p>
                  </a:txBody>
                  <a:tcPr marT="34290" marB="34290">
                    <a:solidFill>
                      <a:srgbClr val="FFC000"/>
                    </a:solidFill>
                  </a:tcPr>
                </a:tc>
                <a:extLst>
                  <a:ext uri="{0D108BD9-81ED-4DB2-BD59-A6C34878D82A}">
                    <a16:rowId xmlns:a16="http://schemas.microsoft.com/office/drawing/2014/main" val="10000"/>
                  </a:ext>
                </a:extLst>
              </a:tr>
              <a:tr h="283391">
                <a:tc>
                  <a:txBody>
                    <a:bodyPr/>
                    <a:lstStyle/>
                    <a:p>
                      <a:pPr algn="ctr"/>
                      <a:r>
                        <a:rPr lang="en-US" altLang="zh-CN" sz="1400" dirty="0"/>
                        <a:t>a</a:t>
                      </a:r>
                      <a:r>
                        <a:rPr lang="en-US" altLang="zh-CN" sz="1400" baseline="-25000" dirty="0"/>
                        <a:t>2</a:t>
                      </a:r>
                      <a:endParaRPr lang="zh-CN" altLang="en-US" sz="1400" baseline="-25000" dirty="0"/>
                    </a:p>
                  </a:txBody>
                  <a:tcPr marT="34290" marB="34290">
                    <a:solidFill>
                      <a:srgbClr val="FFC000"/>
                    </a:solidFill>
                  </a:tcPr>
                </a:tc>
                <a:extLst>
                  <a:ext uri="{0D108BD9-81ED-4DB2-BD59-A6C34878D82A}">
                    <a16:rowId xmlns:a16="http://schemas.microsoft.com/office/drawing/2014/main" val="10001"/>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2"/>
                  </a:ext>
                </a:extLst>
              </a:tr>
              <a:tr h="283391">
                <a:tc>
                  <a:txBody>
                    <a:bodyPr/>
                    <a:lstStyle/>
                    <a:p>
                      <a:pPr algn="ctr"/>
                      <a:r>
                        <a:rPr lang="en-US" altLang="zh-CN" sz="1400" dirty="0"/>
                        <a:t>a</a:t>
                      </a:r>
                      <a:r>
                        <a:rPr lang="en-US" altLang="zh-CN" sz="1400" baseline="-25000" dirty="0"/>
                        <a:t>i-1</a:t>
                      </a:r>
                      <a:endParaRPr lang="zh-CN" altLang="en-US" sz="1400" baseline="-25000" dirty="0"/>
                    </a:p>
                  </a:txBody>
                  <a:tcPr marT="34290" marB="34290">
                    <a:solidFill>
                      <a:srgbClr val="FFC000"/>
                    </a:solidFill>
                  </a:tcPr>
                </a:tc>
                <a:extLst>
                  <a:ext uri="{0D108BD9-81ED-4DB2-BD59-A6C34878D82A}">
                    <a16:rowId xmlns:a16="http://schemas.microsoft.com/office/drawing/2014/main" val="10003"/>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a</a:t>
                      </a:r>
                      <a:r>
                        <a:rPr lang="en-US" altLang="zh-CN" sz="1400" baseline="-25000" dirty="0" err="1"/>
                        <a:t>i</a:t>
                      </a:r>
                      <a:endParaRPr lang="zh-CN" altLang="en-US" sz="1400" dirty="0"/>
                    </a:p>
                  </a:txBody>
                  <a:tcPr marT="34290" marB="34290">
                    <a:solidFill>
                      <a:srgbClr val="FFC000"/>
                    </a:solidFill>
                  </a:tcPr>
                </a:tc>
                <a:extLst>
                  <a:ext uri="{0D108BD9-81ED-4DB2-BD59-A6C34878D82A}">
                    <a16:rowId xmlns:a16="http://schemas.microsoft.com/office/drawing/2014/main" val="10004"/>
                  </a:ext>
                </a:extLst>
              </a:tr>
              <a:tr h="2833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a:t>
                      </a:r>
                      <a:endParaRPr lang="zh-CN" altLang="en-US" sz="1400" dirty="0"/>
                    </a:p>
                  </a:txBody>
                  <a:tcPr marT="34290" marB="34290">
                    <a:solidFill>
                      <a:srgbClr val="FFC000"/>
                    </a:solidFill>
                  </a:tcPr>
                </a:tc>
                <a:extLst>
                  <a:ext uri="{0D108BD9-81ED-4DB2-BD59-A6C34878D82A}">
                    <a16:rowId xmlns:a16="http://schemas.microsoft.com/office/drawing/2014/main" val="10005"/>
                  </a:ext>
                </a:extLst>
              </a:tr>
              <a:tr h="283391">
                <a:tc>
                  <a:txBody>
                    <a:bodyPr/>
                    <a:lstStyle/>
                    <a:p>
                      <a:pPr algn="ctr"/>
                      <a:r>
                        <a:rPr lang="en-US" altLang="zh-CN" sz="1400" dirty="0"/>
                        <a:t>a</a:t>
                      </a:r>
                      <a:r>
                        <a:rPr lang="en-US" altLang="zh-CN" sz="1400" baseline="-25000" dirty="0"/>
                        <a:t>n</a:t>
                      </a:r>
                      <a:endParaRPr lang="zh-CN" altLang="en-US" sz="1400" baseline="-25000" dirty="0"/>
                    </a:p>
                  </a:txBody>
                  <a:tcPr marT="34290" marB="34290">
                    <a:solidFill>
                      <a:srgbClr val="FFC000"/>
                    </a:solidFill>
                  </a:tcPr>
                </a:tc>
                <a:extLst>
                  <a:ext uri="{0D108BD9-81ED-4DB2-BD59-A6C34878D82A}">
                    <a16:rowId xmlns:a16="http://schemas.microsoft.com/office/drawing/2014/main" val="10006"/>
                  </a:ext>
                </a:extLst>
              </a:tr>
              <a:tr h="283391">
                <a:tc>
                  <a:txBody>
                    <a:bodyPr/>
                    <a:lstStyle/>
                    <a:p>
                      <a:pPr algn="ctr"/>
                      <a:endParaRPr lang="zh-CN" altLang="en-US" sz="1400" dirty="0"/>
                    </a:p>
                  </a:txBody>
                  <a:tcPr marT="34290" marB="34290">
                    <a:pattFill prst="wdDnDiag">
                      <a:fgClr>
                        <a:schemeClr val="tx1"/>
                      </a:fgClr>
                      <a:bgClr>
                        <a:schemeClr val="bg1"/>
                      </a:bgClr>
                    </a:pattFill>
                  </a:tcPr>
                </a:tc>
                <a:extLst>
                  <a:ext uri="{0D108BD9-81ED-4DB2-BD59-A6C34878D82A}">
                    <a16:rowId xmlns:a16="http://schemas.microsoft.com/office/drawing/2014/main" val="10007"/>
                  </a:ext>
                </a:extLst>
              </a:tr>
              <a:tr h="283391">
                <a:tc>
                  <a:txBody>
                    <a:bodyPr/>
                    <a:lstStyle/>
                    <a:p>
                      <a:pPr algn="ctr"/>
                      <a:endParaRPr lang="zh-CN" altLang="en-US" sz="1400" dirty="0"/>
                    </a:p>
                  </a:txBody>
                  <a:tcPr marT="34290" marB="34290">
                    <a:solidFill>
                      <a:srgbClr val="92D050"/>
                    </a:solidFill>
                  </a:tcPr>
                </a:tc>
                <a:extLst>
                  <a:ext uri="{0D108BD9-81ED-4DB2-BD59-A6C34878D82A}">
                    <a16:rowId xmlns:a16="http://schemas.microsoft.com/office/drawing/2014/main" val="10008"/>
                  </a:ext>
                </a:extLst>
              </a:tr>
            </a:tbl>
          </a:graphicData>
        </a:graphic>
      </p:graphicFrame>
      <p:sp>
        <p:nvSpPr>
          <p:cNvPr id="8" name="矩形 7">
            <a:extLst>
              <a:ext uri="{FF2B5EF4-FFF2-40B4-BE49-F238E27FC236}">
                <a16:creationId xmlns:a16="http://schemas.microsoft.com/office/drawing/2014/main" id="{03854AA9-D57B-02F3-BB04-03E743EC51EB}"/>
              </a:ext>
            </a:extLst>
          </p:cNvPr>
          <p:cNvSpPr/>
          <p:nvPr/>
        </p:nvSpPr>
        <p:spPr>
          <a:xfrm>
            <a:off x="32388" y="4265203"/>
            <a:ext cx="1109599" cy="369332"/>
          </a:xfrm>
          <a:prstGeom prst="rect">
            <a:avLst/>
          </a:prstGeom>
        </p:spPr>
        <p:txBody>
          <a:bodyPr wrap="none">
            <a:spAutoFit/>
          </a:bodyPr>
          <a:lstStyle/>
          <a:p>
            <a:r>
              <a:rPr lang="en-US" altLang="zh-CN" dirty="0">
                <a:latin typeface="Times New Roman" pitchFamily="18" charset="0"/>
                <a:ea typeface="宋体" pitchFamily="2" charset="-122"/>
              </a:rPr>
              <a:t>L-&gt;length</a:t>
            </a:r>
            <a:endParaRPr lang="zh-CN" altLang="en-US" dirty="0">
              <a:latin typeface="Times New Roman" pitchFamily="18" charset="0"/>
              <a:ea typeface="宋体" pitchFamily="2" charset="-122"/>
            </a:endParaRPr>
          </a:p>
        </p:txBody>
      </p:sp>
      <p:sp>
        <p:nvSpPr>
          <p:cNvPr id="9" name="矩形 8">
            <a:extLst>
              <a:ext uri="{FF2B5EF4-FFF2-40B4-BE49-F238E27FC236}">
                <a16:creationId xmlns:a16="http://schemas.microsoft.com/office/drawing/2014/main" id="{0F3534A5-9989-1046-AAD2-2DC6FB355748}"/>
              </a:ext>
            </a:extLst>
          </p:cNvPr>
          <p:cNvSpPr/>
          <p:nvPr/>
        </p:nvSpPr>
        <p:spPr>
          <a:xfrm>
            <a:off x="183977" y="1949210"/>
            <a:ext cx="917239" cy="369332"/>
          </a:xfrm>
          <a:prstGeom prst="rect">
            <a:avLst/>
          </a:prstGeom>
        </p:spPr>
        <p:txBody>
          <a:bodyPr wrap="none">
            <a:spAutoFit/>
          </a:bodyPr>
          <a:lstStyle/>
          <a:p>
            <a:r>
              <a:rPr lang="en-US" altLang="zh-CN" dirty="0">
                <a:latin typeface="Times New Roman" pitchFamily="18" charset="0"/>
                <a:ea typeface="宋体" pitchFamily="2" charset="-122"/>
              </a:rPr>
              <a:t>L-&gt;data</a:t>
            </a:r>
            <a:endParaRPr lang="zh-CN" altLang="en-US" dirty="0">
              <a:latin typeface="Times New Roman" pitchFamily="18" charset="0"/>
              <a:ea typeface="宋体" pitchFamily="2" charset="-122"/>
            </a:endParaRPr>
          </a:p>
        </p:txBody>
      </p:sp>
      <p:cxnSp>
        <p:nvCxnSpPr>
          <p:cNvPr id="10" name="直接箭头连接符 9">
            <a:extLst>
              <a:ext uri="{FF2B5EF4-FFF2-40B4-BE49-F238E27FC236}">
                <a16:creationId xmlns:a16="http://schemas.microsoft.com/office/drawing/2014/main" id="{F2E166B8-A0E5-5988-1F35-E154EA48B616}"/>
              </a:ext>
            </a:extLst>
          </p:cNvPr>
          <p:cNvCxnSpPr>
            <a:cxnSpLocks/>
          </p:cNvCxnSpPr>
          <p:nvPr/>
        </p:nvCxnSpPr>
        <p:spPr>
          <a:xfrm>
            <a:off x="412873" y="1851670"/>
            <a:ext cx="695627" cy="12323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3EBBF4EE-49F5-6AEB-6364-FB5A4871D40D}"/>
              </a:ext>
            </a:extLst>
          </p:cNvPr>
          <p:cNvSpPr/>
          <p:nvPr/>
        </p:nvSpPr>
        <p:spPr>
          <a:xfrm>
            <a:off x="158713" y="1644859"/>
            <a:ext cx="338554" cy="369332"/>
          </a:xfrm>
          <a:prstGeom prst="rect">
            <a:avLst/>
          </a:prstGeom>
        </p:spPr>
        <p:txBody>
          <a:bodyPr wrap="none">
            <a:spAutoFit/>
          </a:bodyPr>
          <a:lstStyle/>
          <a:p>
            <a:r>
              <a:rPr lang="en-US" altLang="zh-CN" b="1" dirty="0">
                <a:latin typeface="Times New Roman" pitchFamily="18" charset="0"/>
                <a:ea typeface="宋体" pitchFamily="2" charset="-122"/>
              </a:rPr>
              <a:t>L</a:t>
            </a:r>
            <a:endParaRPr lang="zh-CN" altLang="en-US" b="1" dirty="0">
              <a:latin typeface="Times New Roman" pitchFamily="18" charset="0"/>
              <a:ea typeface="宋体" pitchFamily="2" charset="-122"/>
            </a:endParaRPr>
          </a:p>
        </p:txBody>
      </p:sp>
    </p:spTree>
    <p:extLst>
      <p:ext uri="{BB962C8B-B14F-4D97-AF65-F5344CB8AC3E}">
        <p14:creationId xmlns:p14="http://schemas.microsoft.com/office/powerpoint/2010/main" val="328098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7D21ACAE-C8BD-DC1F-4844-55BC2B37D520}"/>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3" name="矩形 2">
            <a:extLst>
              <a:ext uri="{FF2B5EF4-FFF2-40B4-BE49-F238E27FC236}">
                <a16:creationId xmlns:a16="http://schemas.microsoft.com/office/drawing/2014/main" id="{EC9F4349-031C-0873-D06D-EBEB178AA946}"/>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
        <p:nvSpPr>
          <p:cNvPr id="4" name="矩形 3">
            <a:extLst>
              <a:ext uri="{FF2B5EF4-FFF2-40B4-BE49-F238E27FC236}">
                <a16:creationId xmlns:a16="http://schemas.microsoft.com/office/drawing/2014/main" id="{874541D2-0B32-25E1-D7A1-A5E597B01B85}"/>
              </a:ext>
            </a:extLst>
          </p:cNvPr>
          <p:cNvSpPr/>
          <p:nvPr/>
        </p:nvSpPr>
        <p:spPr>
          <a:xfrm>
            <a:off x="1115616" y="1570501"/>
            <a:ext cx="1467068" cy="400110"/>
          </a:xfrm>
          <a:prstGeom prst="rect">
            <a:avLst/>
          </a:prstGeom>
        </p:spPr>
        <p:txBody>
          <a:bodyPr wrap="none">
            <a:spAutoFit/>
          </a:bodyPr>
          <a:lstStyle/>
          <a:p>
            <a:pPr>
              <a:defRPr/>
            </a:pPr>
            <a:r>
              <a:rPr lang="zh-CN" altLang="en-US" sz="2000" dirty="0">
                <a:latin typeface="微软雅黑" pitchFamily="34" charset="-122"/>
                <a:ea typeface="微软雅黑" pitchFamily="34" charset="-122"/>
                <a:cs typeface="经典粗黑简" pitchFamily="49" charset="-122"/>
              </a:rPr>
              <a:t>⑩删除运算</a:t>
            </a:r>
          </a:p>
        </p:txBody>
      </p:sp>
      <p:sp>
        <p:nvSpPr>
          <p:cNvPr id="5" name="Text Box 3">
            <a:extLst>
              <a:ext uri="{FF2B5EF4-FFF2-40B4-BE49-F238E27FC236}">
                <a16:creationId xmlns:a16="http://schemas.microsoft.com/office/drawing/2014/main" id="{9908DBBB-8790-2ED2-F96B-12FAE2F9E2A3}"/>
              </a:ext>
            </a:extLst>
          </p:cNvPr>
          <p:cNvSpPr txBox="1">
            <a:spLocks noChangeArrowheads="1"/>
          </p:cNvSpPr>
          <p:nvPr/>
        </p:nvSpPr>
        <p:spPr bwMode="auto">
          <a:xfrm>
            <a:off x="683568" y="1923678"/>
            <a:ext cx="8136904" cy="3139367"/>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tIns="144000">
            <a:spAutoFit/>
          </a:bodyPr>
          <a:lstStyle/>
          <a:p>
            <a:pPr algn="l">
              <a:lnSpc>
                <a:spcPts val="2100"/>
              </a:lnSpc>
              <a:spcBef>
                <a:spcPts val="0"/>
              </a:spcBef>
            </a:pPr>
            <a:r>
              <a:rPr kumimoji="1" lang="en-US" altLang="zh-CN" sz="1600" dirty="0">
                <a:solidFill>
                  <a:srgbClr val="0000FF"/>
                </a:solidFill>
                <a:latin typeface="Consolas" pitchFamily="49" charset="0"/>
                <a:ea typeface="仿宋" pitchFamily="49" charset="-122"/>
                <a:cs typeface="Consolas" pitchFamily="49" charset="0"/>
              </a:rPr>
              <a:t>bool </a:t>
            </a:r>
            <a:r>
              <a:rPr kumimoji="1" lang="en-US" altLang="zh-CN" sz="1600" dirty="0" err="1">
                <a:solidFill>
                  <a:srgbClr val="FF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ListDelete</a:t>
            </a:r>
            <a:r>
              <a:rPr kumimoji="1" lang="en-US" altLang="zh-CN" sz="1600" dirty="0">
                <a:solidFill>
                  <a:srgbClr val="0000FF"/>
                </a:solidFill>
                <a:latin typeface="Consolas" pitchFamily="49" charset="0"/>
                <a:ea typeface="仿宋" pitchFamily="49" charset="-122"/>
                <a:cs typeface="Consolas" pitchFamily="49" charset="0"/>
              </a:rPr>
              <a:t>(</a:t>
            </a:r>
            <a:r>
              <a:rPr kumimoji="1" lang="en-US" altLang="zh-CN" sz="1600" dirty="0" err="1">
                <a:solidFill>
                  <a:srgbClr val="0000FF"/>
                </a:solidFill>
                <a:latin typeface="Consolas" pitchFamily="49" charset="0"/>
                <a:ea typeface="仿宋" pitchFamily="49" charset="-122"/>
                <a:cs typeface="Consolas" pitchFamily="49" charset="0"/>
              </a:rPr>
              <a:t>SqList</a:t>
            </a:r>
            <a:r>
              <a:rPr kumimoji="1" lang="en-US" altLang="zh-CN" sz="1600" dirty="0">
                <a:solidFill>
                  <a:srgbClr val="0000FF"/>
                </a:solidFill>
                <a:latin typeface="Consolas" pitchFamily="49" charset="0"/>
                <a:ea typeface="仿宋" pitchFamily="49" charset="-122"/>
                <a:cs typeface="Consolas" pitchFamily="49" charset="0"/>
              </a:rPr>
              <a:t> *&amp;L</a:t>
            </a:r>
            <a:r>
              <a:rPr kumimoji="1" lang="zh-CN" altLang="en-US" sz="1600" dirty="0">
                <a:solidFill>
                  <a:srgbClr val="0000FF"/>
                </a:solidFill>
                <a:latin typeface="Consolas" pitchFamily="49" charset="0"/>
                <a:ea typeface="仿宋" pitchFamily="49" charset="-122"/>
                <a:cs typeface="Consolas" pitchFamily="49" charset="0"/>
              </a:rPr>
              <a:t>，</a:t>
            </a:r>
            <a:r>
              <a:rPr kumimoji="1" lang="en-US" altLang="zh-CN" sz="1600" dirty="0">
                <a:solidFill>
                  <a:srgbClr val="0000FF"/>
                </a:solidFill>
                <a:latin typeface="Consolas" pitchFamily="49" charset="0"/>
                <a:ea typeface="仿宋" pitchFamily="49" charset="-122"/>
                <a:cs typeface="Consolas" pitchFamily="49" charset="0"/>
              </a:rPr>
              <a:t>int </a:t>
            </a:r>
            <a:r>
              <a:rPr kumimoji="1" lang="en-US" altLang="zh-CN" sz="1600" dirty="0" err="1">
                <a:solidFill>
                  <a:srgbClr val="0000FF"/>
                </a:solidFill>
                <a:latin typeface="Consolas" pitchFamily="49" charset="0"/>
                <a:ea typeface="仿宋" pitchFamily="49" charset="-122"/>
                <a:cs typeface="Consolas" pitchFamily="49" charset="0"/>
              </a:rPr>
              <a:t>i</a:t>
            </a:r>
            <a:r>
              <a:rPr kumimoji="1" lang="zh-CN" altLang="en-US" sz="1600" dirty="0">
                <a:solidFill>
                  <a:srgbClr val="0000FF"/>
                </a:solidFill>
                <a:latin typeface="Consolas" pitchFamily="49" charset="0"/>
                <a:ea typeface="仿宋" pitchFamily="49" charset="-122"/>
                <a:cs typeface="Consolas" pitchFamily="49" charset="0"/>
              </a:rPr>
              <a:t>，</a:t>
            </a:r>
            <a:r>
              <a:rPr kumimoji="1" lang="en-US" altLang="zh-CN" sz="1600" dirty="0" err="1">
                <a:solidFill>
                  <a:srgbClr val="0000FF"/>
                </a:solidFill>
                <a:latin typeface="Consolas" pitchFamily="49" charset="0"/>
                <a:ea typeface="仿宋" pitchFamily="49" charset="-122"/>
                <a:cs typeface="Consolas" pitchFamily="49" charset="0"/>
              </a:rPr>
              <a:t>ElemType</a:t>
            </a:r>
            <a:r>
              <a:rPr kumimoji="1" lang="en-US" altLang="zh-CN" sz="1600" dirty="0">
                <a:solidFill>
                  <a:srgbClr val="0000FF"/>
                </a:solidFill>
                <a:latin typeface="Consolas" pitchFamily="49" charset="0"/>
                <a:ea typeface="仿宋" pitchFamily="49" charset="-122"/>
                <a:cs typeface="Consolas" pitchFamily="49" charset="0"/>
              </a:rPr>
              <a:t> &amp;e)</a:t>
            </a:r>
          </a:p>
          <a:p>
            <a:pPr algn="l">
              <a:lnSpc>
                <a:spcPts val="2100"/>
              </a:lnSpc>
              <a:spcBef>
                <a:spcPts val="0"/>
              </a:spcBef>
            </a:pPr>
            <a:r>
              <a:rPr kumimoji="1" lang="en-US" altLang="zh-CN" sz="1600" dirty="0">
                <a:solidFill>
                  <a:srgbClr val="0000FF"/>
                </a:solidFill>
                <a:latin typeface="Consolas" pitchFamily="49" charset="0"/>
                <a:ea typeface="仿宋" pitchFamily="49" charset="-122"/>
                <a:cs typeface="Consolas" pitchFamily="49" charset="0"/>
              </a:rPr>
              <a:t>{  int j;</a:t>
            </a:r>
          </a:p>
          <a:p>
            <a:pPr algn="l">
              <a:lnSpc>
                <a:spcPts val="2100"/>
              </a:lnSpc>
              <a:spcBef>
                <a:spcPts val="0"/>
              </a:spcBef>
            </a:pPr>
            <a:r>
              <a:rPr kumimoji="1" lang="en-US" altLang="zh-CN" sz="1600" dirty="0">
                <a:solidFill>
                  <a:srgbClr val="0000FF"/>
                </a:solidFill>
                <a:latin typeface="Consolas" pitchFamily="49" charset="0"/>
                <a:ea typeface="仿宋" pitchFamily="49" charset="-122"/>
                <a:cs typeface="Consolas" pitchFamily="49" charset="0"/>
              </a:rPr>
              <a:t>   if (</a:t>
            </a:r>
            <a:r>
              <a:rPr kumimoji="1" lang="en-US" altLang="zh-CN" sz="1600" dirty="0" err="1">
                <a:solidFill>
                  <a:srgbClr val="0000FF"/>
                </a:solidFill>
                <a:latin typeface="Consolas" pitchFamily="49" charset="0"/>
                <a:ea typeface="仿宋" pitchFamily="49" charset="-122"/>
                <a:cs typeface="Consolas" pitchFamily="49" charset="0"/>
              </a:rPr>
              <a:t>i</a:t>
            </a:r>
            <a:r>
              <a:rPr kumimoji="1" lang="en-US" altLang="zh-CN" sz="1600" dirty="0">
                <a:solidFill>
                  <a:srgbClr val="0000FF"/>
                </a:solidFill>
                <a:latin typeface="Consolas" pitchFamily="49" charset="0"/>
                <a:ea typeface="仿宋" pitchFamily="49" charset="-122"/>
                <a:cs typeface="Consolas" pitchFamily="49" charset="0"/>
              </a:rPr>
              <a:t>&lt;1 || </a:t>
            </a:r>
            <a:r>
              <a:rPr kumimoji="1" lang="en-US" altLang="zh-CN" sz="1600" dirty="0" err="1">
                <a:solidFill>
                  <a:srgbClr val="0000FF"/>
                </a:solidFill>
                <a:latin typeface="Consolas" pitchFamily="49" charset="0"/>
                <a:ea typeface="仿宋" pitchFamily="49" charset="-122"/>
                <a:cs typeface="Consolas" pitchFamily="49" charset="0"/>
              </a:rPr>
              <a:t>i</a:t>
            </a:r>
            <a:r>
              <a:rPr kumimoji="1" lang="en-US" altLang="zh-CN" sz="1600" dirty="0">
                <a:solidFill>
                  <a:srgbClr val="0000FF"/>
                </a:solidFill>
                <a:latin typeface="Consolas" pitchFamily="49" charset="0"/>
                <a:ea typeface="仿宋" pitchFamily="49" charset="-122"/>
                <a:cs typeface="Consolas" pitchFamily="49" charset="0"/>
              </a:rPr>
              <a:t>&gt;L-&gt;length)	</a:t>
            </a:r>
            <a:r>
              <a:rPr kumimoji="1" lang="zh-CN" altLang="en-US" sz="1600" dirty="0">
                <a:solidFill>
                  <a:srgbClr val="0000FF"/>
                </a:solidFill>
                <a:latin typeface="Consolas" pitchFamily="49" charset="0"/>
                <a:ea typeface="仿宋" pitchFamily="49" charset="-122"/>
                <a:cs typeface="Consolas" pitchFamily="49" charset="0"/>
              </a:rPr>
              <a:t>　</a:t>
            </a:r>
            <a:r>
              <a:rPr kumimoji="1" lang="en-US" altLang="zh-CN" sz="1600" dirty="0">
                <a:solidFill>
                  <a:srgbClr val="0000FF"/>
                </a:solidFill>
                <a:latin typeface="Consolas" pitchFamily="49" charset="0"/>
                <a:ea typeface="仿宋" pitchFamily="49" charset="-122"/>
                <a:cs typeface="Consolas" pitchFamily="49" charset="0"/>
              </a:rPr>
              <a:t>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参数错误时返回</a:t>
            </a:r>
            <a:r>
              <a:rPr kumimoji="1" lang="en-US" altLang="zh-CN" sz="1600" dirty="0">
                <a:solidFill>
                  <a:srgbClr val="00B0F0"/>
                </a:solidFill>
                <a:latin typeface="Consolas" pitchFamily="49" charset="0"/>
                <a:ea typeface="仿宋" pitchFamily="49" charset="-122"/>
                <a:cs typeface="Consolas" pitchFamily="49" charset="0"/>
              </a:rPr>
              <a:t>false</a:t>
            </a:r>
          </a:p>
          <a:p>
            <a:pPr algn="l">
              <a:lnSpc>
                <a:spcPts val="2100"/>
              </a:lnSpc>
              <a:spcBef>
                <a:spcPts val="0"/>
              </a:spcBef>
            </a:pPr>
            <a:r>
              <a:rPr kumimoji="1" lang="en-US" altLang="zh-CN" sz="1600" dirty="0">
                <a:solidFill>
                  <a:srgbClr val="0000FF"/>
                </a:solidFill>
                <a:latin typeface="Consolas" pitchFamily="49" charset="0"/>
                <a:ea typeface="仿宋" pitchFamily="49" charset="-122"/>
                <a:cs typeface="Consolas" pitchFamily="49" charset="0"/>
              </a:rPr>
              <a:t>      return false;</a:t>
            </a:r>
          </a:p>
          <a:p>
            <a:pPr algn="l">
              <a:lnSpc>
                <a:spcPts val="2100"/>
              </a:lnSpc>
              <a:spcBef>
                <a:spcPts val="0"/>
              </a:spcBef>
            </a:pPr>
            <a:r>
              <a:rPr kumimoji="1" lang="en-US" altLang="zh-CN" sz="1600" dirty="0">
                <a:solidFill>
                  <a:srgbClr val="0000FF"/>
                </a:solidFill>
                <a:latin typeface="Consolas" pitchFamily="49" charset="0"/>
                <a:ea typeface="仿宋" pitchFamily="49" charset="-122"/>
                <a:cs typeface="Consolas" pitchFamily="49" charset="0"/>
              </a:rPr>
              <a:t>   </a:t>
            </a:r>
            <a:r>
              <a:rPr kumimoji="1" lang="en-US" altLang="zh-CN" sz="1600" dirty="0" err="1">
                <a:solidFill>
                  <a:srgbClr val="0000FF"/>
                </a:solidFill>
                <a:latin typeface="Consolas" pitchFamily="49" charset="0"/>
                <a:ea typeface="仿宋" pitchFamily="49" charset="-122"/>
                <a:cs typeface="Consolas" pitchFamily="49" charset="0"/>
              </a:rPr>
              <a:t>i</a:t>
            </a:r>
            <a:r>
              <a:rPr kumimoji="1" lang="en-US" altLang="zh-CN" sz="1600" dirty="0">
                <a:solidFill>
                  <a:srgbClr val="0000FF"/>
                </a:solidFill>
                <a:latin typeface="Consolas" pitchFamily="49" charset="0"/>
                <a:ea typeface="仿宋" pitchFamily="49" charset="-122"/>
                <a:cs typeface="Consolas" pitchFamily="49" charset="0"/>
              </a:rPr>
              <a:t>--;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将顺序表逻辑序号转化为物理序号</a:t>
            </a:r>
          </a:p>
          <a:p>
            <a:pPr algn="l">
              <a:lnSpc>
                <a:spcPts val="2100"/>
              </a:lnSpc>
              <a:spcBef>
                <a:spcPts val="0"/>
              </a:spcBef>
            </a:pPr>
            <a:r>
              <a:rPr kumimoji="1" lang="zh-CN" altLang="en-US" sz="1600" dirty="0">
                <a:solidFill>
                  <a:srgbClr val="0000FF"/>
                </a:solidFill>
                <a:latin typeface="Consolas" pitchFamily="49" charset="0"/>
                <a:ea typeface="仿宋" pitchFamily="49" charset="-122"/>
                <a:cs typeface="Consolas" pitchFamily="49" charset="0"/>
              </a:rPr>
              <a:t>   </a:t>
            </a:r>
            <a:r>
              <a:rPr kumimoji="1" lang="en-US" altLang="zh-CN" sz="1600" dirty="0">
                <a:solidFill>
                  <a:srgbClr val="0000FF"/>
                </a:solidFill>
                <a:latin typeface="Consolas" pitchFamily="49" charset="0"/>
                <a:ea typeface="仿宋" pitchFamily="49" charset="-122"/>
                <a:cs typeface="Consolas" pitchFamily="49" charset="0"/>
              </a:rPr>
              <a:t>e=L-&gt;data[</a:t>
            </a:r>
            <a:r>
              <a:rPr kumimoji="1" lang="en-US" altLang="zh-CN" sz="1600" dirty="0" err="1">
                <a:solidFill>
                  <a:srgbClr val="0000FF"/>
                </a:solidFill>
                <a:latin typeface="Consolas" pitchFamily="49" charset="0"/>
                <a:ea typeface="仿宋" pitchFamily="49" charset="-122"/>
                <a:cs typeface="Consolas" pitchFamily="49" charset="0"/>
              </a:rPr>
              <a:t>i</a:t>
            </a:r>
            <a:r>
              <a:rPr kumimoji="1" lang="en-US" altLang="zh-CN" sz="1600" dirty="0">
                <a:solidFill>
                  <a:srgbClr val="0000FF"/>
                </a:solidFill>
                <a:latin typeface="Consolas" pitchFamily="49" charset="0"/>
                <a:ea typeface="仿宋" pitchFamily="49" charset="-122"/>
                <a:cs typeface="Consolas" pitchFamily="49" charset="0"/>
              </a:rPr>
              <a:t>];</a:t>
            </a:r>
          </a:p>
          <a:p>
            <a:pPr algn="l">
              <a:lnSpc>
                <a:spcPts val="2100"/>
              </a:lnSpc>
              <a:spcBef>
                <a:spcPts val="0"/>
              </a:spcBef>
            </a:pPr>
            <a:r>
              <a:rPr kumimoji="1" lang="en-US" altLang="zh-CN" sz="1600" dirty="0">
                <a:solidFill>
                  <a:srgbClr val="FF00FF"/>
                </a:solidFill>
                <a:latin typeface="Consolas" pitchFamily="49" charset="0"/>
                <a:ea typeface="仿宋" pitchFamily="49" charset="-122"/>
                <a:cs typeface="Consolas" pitchFamily="49" charset="0"/>
              </a:rPr>
              <a:t>   for (j=</a:t>
            </a:r>
            <a:r>
              <a:rPr kumimoji="1" lang="en-US" altLang="zh-CN" sz="1600" dirty="0" err="1">
                <a:solidFill>
                  <a:srgbClr val="FF00FF"/>
                </a:solidFill>
                <a:latin typeface="Consolas" pitchFamily="49" charset="0"/>
                <a:ea typeface="仿宋" pitchFamily="49" charset="-122"/>
                <a:cs typeface="Consolas" pitchFamily="49" charset="0"/>
              </a:rPr>
              <a:t>i;j</a:t>
            </a:r>
            <a:r>
              <a:rPr kumimoji="1" lang="en-US" altLang="zh-CN" sz="1600" dirty="0">
                <a:solidFill>
                  <a:srgbClr val="FF00FF"/>
                </a:solidFill>
                <a:latin typeface="Consolas" pitchFamily="49" charset="0"/>
                <a:ea typeface="仿宋" pitchFamily="49" charset="-122"/>
                <a:cs typeface="Consolas" pitchFamily="49" charset="0"/>
              </a:rPr>
              <a:t>&lt;L-&gt;length-1;j++)  </a:t>
            </a:r>
            <a:r>
              <a:rPr kumimoji="1" lang="en-US" altLang="zh-CN" sz="1600" dirty="0">
                <a:solidFill>
                  <a:srgbClr val="0000FF"/>
                </a:solidFill>
                <a:latin typeface="Consolas" pitchFamily="49" charset="0"/>
                <a:ea typeface="仿宋" pitchFamily="49" charset="-122"/>
                <a:cs typeface="Consolas" pitchFamily="49" charset="0"/>
              </a:rPr>
              <a:t>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将</a:t>
            </a:r>
            <a:r>
              <a:rPr kumimoji="1" lang="en-US" altLang="zh-CN" sz="1600" dirty="0">
                <a:solidFill>
                  <a:srgbClr val="00B0F0"/>
                </a:solidFill>
                <a:latin typeface="Consolas" pitchFamily="49" charset="0"/>
                <a:ea typeface="仿宋" pitchFamily="49" charset="-122"/>
                <a:cs typeface="Consolas" pitchFamily="49" charset="0"/>
              </a:rPr>
              <a:t>data[</a:t>
            </a:r>
            <a:r>
              <a:rPr kumimoji="1" lang="en-US" altLang="zh-CN" sz="1600" dirty="0" err="1">
                <a:solidFill>
                  <a:srgbClr val="00B0F0"/>
                </a:solidFill>
                <a:latin typeface="Consolas" pitchFamily="49" charset="0"/>
                <a:ea typeface="仿宋" pitchFamily="49" charset="-122"/>
                <a:cs typeface="Consolas" pitchFamily="49" charset="0"/>
              </a:rPr>
              <a:t>i</a:t>
            </a:r>
            <a:r>
              <a:rPr kumimoji="1" lang="en-US" altLang="zh-CN" sz="1600" dirty="0">
                <a:solidFill>
                  <a:srgbClr val="00B0F0"/>
                </a:solidFill>
                <a:latin typeface="Consolas" pitchFamily="49" charset="0"/>
                <a:ea typeface="仿宋" pitchFamily="49" charset="-122"/>
                <a:cs typeface="Consolas" pitchFamily="49" charset="0"/>
              </a:rPr>
              <a:t>..n-1]</a:t>
            </a:r>
            <a:r>
              <a:rPr kumimoji="1" lang="zh-CN" altLang="en-US" sz="1600" dirty="0">
                <a:solidFill>
                  <a:srgbClr val="00B0F0"/>
                </a:solidFill>
                <a:latin typeface="Consolas" pitchFamily="49" charset="0"/>
                <a:ea typeface="仿宋" pitchFamily="49" charset="-122"/>
                <a:cs typeface="Consolas" pitchFamily="49" charset="0"/>
              </a:rPr>
              <a:t>元素前移</a:t>
            </a:r>
          </a:p>
          <a:p>
            <a:pPr algn="l">
              <a:lnSpc>
                <a:spcPts val="2100"/>
              </a:lnSpc>
              <a:spcBef>
                <a:spcPts val="0"/>
              </a:spcBef>
            </a:pPr>
            <a:r>
              <a:rPr kumimoji="1" lang="zh-CN" altLang="en-US" sz="1600" dirty="0">
                <a:solidFill>
                  <a:srgbClr val="0000FF"/>
                </a:solidFill>
                <a:latin typeface="Consolas" pitchFamily="49" charset="0"/>
                <a:ea typeface="仿宋" pitchFamily="49" charset="-122"/>
                <a:cs typeface="Consolas" pitchFamily="49" charset="0"/>
              </a:rPr>
              <a:t>	</a:t>
            </a:r>
            <a:r>
              <a:rPr kumimoji="1" lang="en-US" altLang="zh-CN" sz="1600" dirty="0">
                <a:solidFill>
                  <a:srgbClr val="FF00FF"/>
                </a:solidFill>
                <a:latin typeface="Consolas" pitchFamily="49" charset="0"/>
                <a:ea typeface="仿宋" pitchFamily="49" charset="-122"/>
                <a:cs typeface="Consolas" pitchFamily="49" charset="0"/>
              </a:rPr>
              <a:t>L-&gt;data[j]=L-&gt;data[</a:t>
            </a:r>
            <a:r>
              <a:rPr kumimoji="1" lang="en-US" altLang="zh-CN" sz="1600" dirty="0" err="1">
                <a:solidFill>
                  <a:srgbClr val="FF00FF"/>
                </a:solidFill>
                <a:latin typeface="Consolas" pitchFamily="49" charset="0"/>
                <a:ea typeface="仿宋" pitchFamily="49" charset="-122"/>
                <a:cs typeface="Consolas" pitchFamily="49" charset="0"/>
              </a:rPr>
              <a:t>j+1</a:t>
            </a:r>
            <a:r>
              <a:rPr kumimoji="1" lang="en-US" altLang="zh-CN" sz="1600" dirty="0">
                <a:solidFill>
                  <a:srgbClr val="FF00FF"/>
                </a:solidFill>
                <a:latin typeface="Consolas" pitchFamily="49" charset="0"/>
                <a:ea typeface="仿宋" pitchFamily="49" charset="-122"/>
                <a:cs typeface="Consolas" pitchFamily="49" charset="0"/>
              </a:rPr>
              <a:t>];</a:t>
            </a:r>
          </a:p>
          <a:p>
            <a:pPr algn="l">
              <a:lnSpc>
                <a:spcPts val="2100"/>
              </a:lnSpc>
              <a:spcBef>
                <a:spcPts val="0"/>
              </a:spcBef>
            </a:pPr>
            <a:r>
              <a:rPr kumimoji="1" lang="en-US" altLang="zh-CN" sz="1600" dirty="0">
                <a:solidFill>
                  <a:srgbClr val="0000FF"/>
                </a:solidFill>
                <a:latin typeface="Consolas" pitchFamily="49" charset="0"/>
                <a:ea typeface="仿宋" pitchFamily="49" charset="-122"/>
                <a:cs typeface="Consolas" pitchFamily="49" charset="0"/>
              </a:rPr>
              <a:t>   L-&gt;length--;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顺序表长度减</a:t>
            </a:r>
            <a:r>
              <a:rPr kumimoji="1" lang="en-US" altLang="zh-CN" sz="1600" dirty="0">
                <a:solidFill>
                  <a:srgbClr val="00B0F0"/>
                </a:solidFill>
                <a:latin typeface="Consolas" pitchFamily="49" charset="0"/>
                <a:ea typeface="仿宋" pitchFamily="49" charset="-122"/>
                <a:cs typeface="Consolas" pitchFamily="49" charset="0"/>
              </a:rPr>
              <a:t>1</a:t>
            </a:r>
          </a:p>
          <a:p>
            <a:pPr algn="l">
              <a:lnSpc>
                <a:spcPts val="2100"/>
              </a:lnSpc>
              <a:spcBef>
                <a:spcPts val="0"/>
              </a:spcBef>
            </a:pPr>
            <a:r>
              <a:rPr kumimoji="1" lang="en-US" altLang="zh-CN" sz="1600" dirty="0">
                <a:solidFill>
                  <a:srgbClr val="0000FF"/>
                </a:solidFill>
                <a:latin typeface="Consolas" pitchFamily="49" charset="0"/>
                <a:ea typeface="仿宋" pitchFamily="49" charset="-122"/>
                <a:cs typeface="Consolas" pitchFamily="49" charset="0"/>
              </a:rPr>
              <a:t>   return true;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成功删除返回</a:t>
            </a:r>
            <a:r>
              <a:rPr kumimoji="1" lang="en-US" altLang="zh-CN" sz="1600" dirty="0">
                <a:solidFill>
                  <a:srgbClr val="00B0F0"/>
                </a:solidFill>
                <a:latin typeface="Consolas" pitchFamily="49" charset="0"/>
                <a:ea typeface="仿宋" pitchFamily="49" charset="-122"/>
                <a:cs typeface="Consolas" pitchFamily="49" charset="0"/>
              </a:rPr>
              <a:t>true</a:t>
            </a:r>
          </a:p>
          <a:p>
            <a:pPr algn="l">
              <a:lnSpc>
                <a:spcPts val="2100"/>
              </a:lnSpc>
              <a:spcBef>
                <a:spcPts val="0"/>
              </a:spcBef>
            </a:pPr>
            <a:r>
              <a:rPr kumimoji="1" lang="en-US" altLang="zh-CN" sz="1600" dirty="0">
                <a:solidFill>
                  <a:srgbClr val="0000FF"/>
                </a:solidFill>
                <a:latin typeface="Consolas" pitchFamily="49" charset="0"/>
                <a:ea typeface="仿宋" pitchFamily="49" charset="-122"/>
                <a:cs typeface="Consolas" pitchFamily="49" charset="0"/>
              </a:rPr>
              <a:t>}</a:t>
            </a:r>
          </a:p>
        </p:txBody>
      </p:sp>
    </p:spTree>
    <p:extLst>
      <p:ext uri="{BB962C8B-B14F-4D97-AF65-F5344CB8AC3E}">
        <p14:creationId xmlns:p14="http://schemas.microsoft.com/office/powerpoint/2010/main" val="2586206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559470" y="2161034"/>
            <a:ext cx="3185487" cy="369332"/>
          </a:xfrm>
          <a:prstGeom prst="rect">
            <a:avLst/>
          </a:prstGeom>
        </p:spPr>
        <p:txBody>
          <a:bodyPr wrap="none">
            <a:spAutoFit/>
          </a:bodyPr>
          <a:lstStyle/>
          <a:p>
            <a:pPr>
              <a:buFont typeface="Wingdings" pitchFamily="2" charset="2"/>
              <a:buNone/>
            </a:pPr>
            <a:r>
              <a:rPr lang="zh-CN" altLang="en-US" dirty="0">
                <a:ea typeface="Sim Sun" charset="-122"/>
              </a:rPr>
              <a:t>顺序表上删除运算效率分析</a:t>
            </a:r>
            <a:r>
              <a:rPr lang="zh-CN" altLang="en-US" dirty="0">
                <a:ea typeface="Li Super" charset="-122"/>
              </a:rPr>
              <a:t>：</a:t>
            </a:r>
          </a:p>
        </p:txBody>
      </p:sp>
      <p:sp>
        <p:nvSpPr>
          <p:cNvPr id="8" name="矩形 7"/>
          <p:cNvSpPr/>
          <p:nvPr/>
        </p:nvSpPr>
        <p:spPr>
          <a:xfrm>
            <a:off x="539552" y="2438033"/>
            <a:ext cx="8424936" cy="830997"/>
          </a:xfrm>
          <a:prstGeom prst="rect">
            <a:avLst/>
          </a:prstGeom>
        </p:spPr>
        <p:txBody>
          <a:bodyPr wrap="square">
            <a:spAutoFit/>
          </a:bodyPr>
          <a:lstStyle/>
          <a:p>
            <a:pPr>
              <a:buFont typeface="Wingdings" pitchFamily="2" charset="2"/>
              <a:buNone/>
            </a:pPr>
            <a:r>
              <a:rPr lang="zh-CN" altLang="en-US" sz="1600" b="1" dirty="0">
                <a:ea typeface="Sim Sun" charset="-122"/>
              </a:rPr>
              <a:t>时间复杂度</a:t>
            </a:r>
          </a:p>
          <a:p>
            <a:pPr>
              <a:buFont typeface="Wingdings" pitchFamily="2" charset="2"/>
              <a:buNone/>
            </a:pPr>
            <a:r>
              <a:rPr lang="zh-CN" altLang="en-US" sz="1600" dirty="0">
                <a:ea typeface="Sim Sun" charset="-122"/>
              </a:rPr>
              <a:t>        从算法流程上看，查找删除位置、删除元素的时间花费是常数级，而算法执行时间主要消耗在数据元素的移动上，而移动元素的个数与删除位置</a:t>
            </a:r>
            <a:r>
              <a:rPr lang="en-US" altLang="zh-CN" sz="1600" dirty="0">
                <a:ea typeface="Sim Sun" charset="-122"/>
              </a:rPr>
              <a:t>i</a:t>
            </a:r>
            <a:r>
              <a:rPr lang="zh-CN" altLang="en-US" sz="1600" dirty="0">
                <a:ea typeface="Sim Sun" charset="-122"/>
              </a:rPr>
              <a:t>有关。 </a:t>
            </a:r>
          </a:p>
        </p:txBody>
      </p:sp>
      <p:graphicFrame>
        <p:nvGraphicFramePr>
          <p:cNvPr id="9" name="对象 8"/>
          <p:cNvGraphicFramePr>
            <a:graphicFrameLocks noChangeAspect="1"/>
          </p:cNvGraphicFramePr>
          <p:nvPr>
            <p:extLst>
              <p:ext uri="{D42A27DB-BD31-4B8C-83A1-F6EECF244321}">
                <p14:modId xmlns:p14="http://schemas.microsoft.com/office/powerpoint/2010/main" val="2266241963"/>
              </p:ext>
            </p:extLst>
          </p:nvPr>
        </p:nvGraphicFramePr>
        <p:xfrm>
          <a:off x="1115616" y="4052105"/>
          <a:ext cx="5616624" cy="594122"/>
        </p:xfrm>
        <a:graphic>
          <a:graphicData uri="http://schemas.openxmlformats.org/presentationml/2006/ole">
            <mc:AlternateContent xmlns:mc="http://schemas.openxmlformats.org/markup-compatibility/2006">
              <mc:Choice xmlns:v="urn:schemas-microsoft-com:vml" Requires="v">
                <p:oleObj name="公式" r:id="rId2" imgW="3238200" imgH="444240" progId="Equation.3">
                  <p:embed/>
                </p:oleObj>
              </mc:Choice>
              <mc:Fallback>
                <p:oleObj name="公式" r:id="rId2" imgW="3238200" imgH="444240" progId="Equation.3">
                  <p:embed/>
                  <p:pic>
                    <p:nvPicPr>
                      <p:cNvPr id="0" name=""/>
                      <p:cNvPicPr>
                        <a:picLocks noChangeAspect="1" noChangeArrowheads="1"/>
                      </p:cNvPicPr>
                      <p:nvPr/>
                    </p:nvPicPr>
                    <p:blipFill>
                      <a:blip r:embed="rId3"/>
                      <a:srcRect/>
                      <a:stretch>
                        <a:fillRect/>
                      </a:stretch>
                    </p:blipFill>
                    <p:spPr bwMode="auto">
                      <a:xfrm>
                        <a:off x="1115616" y="4052105"/>
                        <a:ext cx="5616624" cy="594122"/>
                      </a:xfrm>
                      <a:prstGeom prst="rect">
                        <a:avLst/>
                      </a:prstGeom>
                      <a:solidFill>
                        <a:srgbClr val="FFFFFF"/>
                      </a:solidFill>
                      <a:ln>
                        <a:noFill/>
                      </a:ln>
                      <a:effectLst/>
                    </p:spPr>
                  </p:pic>
                </p:oleObj>
              </mc:Fallback>
            </mc:AlternateContent>
          </a:graphicData>
        </a:graphic>
      </p:graphicFrame>
      <p:sp>
        <p:nvSpPr>
          <p:cNvPr id="12" name="Rectangle 7"/>
          <p:cNvSpPr>
            <a:spLocks noChangeArrowheads="1"/>
          </p:cNvSpPr>
          <p:nvPr/>
        </p:nvSpPr>
        <p:spPr bwMode="auto">
          <a:xfrm>
            <a:off x="4860033" y="1613698"/>
            <a:ext cx="2585083" cy="261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lgn="l"/>
            <a:r>
              <a:rPr lang="zh-CN" altLang="en-US" dirty="0">
                <a:ea typeface="Sim Sun" charset="-122"/>
              </a:rPr>
              <a:t>即</a:t>
            </a:r>
            <a:r>
              <a:rPr lang="en-US" altLang="zh-CN" dirty="0">
                <a:ea typeface="Sim Sun" charset="-122"/>
              </a:rPr>
              <a:t>T(n) = O(n) 。</a:t>
            </a:r>
          </a:p>
        </p:txBody>
      </p:sp>
      <p:sp>
        <p:nvSpPr>
          <p:cNvPr id="14" name="矩形 13"/>
          <p:cNvSpPr/>
          <p:nvPr/>
        </p:nvSpPr>
        <p:spPr>
          <a:xfrm>
            <a:off x="5300169" y="1953285"/>
            <a:ext cx="3454792" cy="646331"/>
          </a:xfrm>
          <a:prstGeom prst="rect">
            <a:avLst/>
          </a:prstGeom>
        </p:spPr>
        <p:txBody>
          <a:bodyPr wrap="none">
            <a:spAutoFit/>
          </a:bodyPr>
          <a:lstStyle/>
          <a:p>
            <a:pPr>
              <a:buFont typeface="Wingdings" pitchFamily="2" charset="2"/>
              <a:buNone/>
            </a:pPr>
            <a:r>
              <a:rPr lang="zh-CN" altLang="en-US" b="1" dirty="0">
                <a:ea typeface="Sim Sun" charset="-122"/>
              </a:rPr>
              <a:t>空间复杂度</a:t>
            </a:r>
            <a:endParaRPr lang="en-US" altLang="zh-CN" b="1" dirty="0">
              <a:ea typeface="Sim Sun" charset="-122"/>
            </a:endParaRPr>
          </a:p>
          <a:p>
            <a:pPr>
              <a:buFont typeface="Wingdings" pitchFamily="2" charset="2"/>
              <a:buNone/>
            </a:pPr>
            <a:r>
              <a:rPr lang="en-US" altLang="zh-CN" b="1" dirty="0">
                <a:ea typeface="Sim Sun" charset="-122"/>
              </a:rPr>
              <a:t>        </a:t>
            </a:r>
            <a:r>
              <a:rPr lang="zh-CN" altLang="en-US" dirty="0">
                <a:ea typeface="Sim Sun" charset="-122"/>
              </a:rPr>
              <a:t>不需要额外空间，</a:t>
            </a:r>
            <a:r>
              <a:rPr lang="en-US" altLang="zh-CN" dirty="0">
                <a:ea typeface="Sim Sun" charset="-122"/>
              </a:rPr>
              <a:t>S(n) = O(1)</a:t>
            </a:r>
            <a:endParaRPr lang="zh-CN" altLang="en-US" b="1" dirty="0">
              <a:ea typeface="Sim Sun" charset="-122"/>
            </a:endParaRPr>
          </a:p>
        </p:txBody>
      </p:sp>
      <p:sp>
        <p:nvSpPr>
          <p:cNvPr id="15" name="矩形 14"/>
          <p:cNvSpPr/>
          <p:nvPr/>
        </p:nvSpPr>
        <p:spPr>
          <a:xfrm>
            <a:off x="552163" y="3123147"/>
            <a:ext cx="6096000" cy="338554"/>
          </a:xfrm>
          <a:prstGeom prst="rect">
            <a:avLst/>
          </a:prstGeom>
        </p:spPr>
        <p:txBody>
          <a:bodyPr>
            <a:spAutoFit/>
          </a:bodyPr>
          <a:lstStyle/>
          <a:p>
            <a:pPr lvl="1">
              <a:buFont typeface="Wingdings" pitchFamily="2" charset="2"/>
              <a:buNone/>
            </a:pPr>
            <a:r>
              <a:rPr lang="zh-CN" altLang="en-US" sz="1600" dirty="0">
                <a:ea typeface="Sim Sun" charset="-122"/>
              </a:rPr>
              <a:t>最好情况</a:t>
            </a:r>
            <a:r>
              <a:rPr lang="en-US" altLang="zh-CN" sz="1600" dirty="0">
                <a:ea typeface="Sim Sun" charset="-122"/>
              </a:rPr>
              <a:t>: </a:t>
            </a:r>
            <a:r>
              <a:rPr lang="zh-CN" altLang="en-US" sz="1600" dirty="0">
                <a:ea typeface="Sim Sun" charset="-122"/>
              </a:rPr>
              <a:t>在表尾删除，不移动元素，</a:t>
            </a:r>
            <a:r>
              <a:rPr lang="en-US" altLang="zh-CN" sz="1600" dirty="0">
                <a:ea typeface="Sim Sun" charset="-122"/>
              </a:rPr>
              <a:t>T(n)=O(1)</a:t>
            </a:r>
          </a:p>
        </p:txBody>
      </p:sp>
      <p:sp>
        <p:nvSpPr>
          <p:cNvPr id="16" name="矩形 15"/>
          <p:cNvSpPr/>
          <p:nvPr/>
        </p:nvSpPr>
        <p:spPr>
          <a:xfrm>
            <a:off x="526036" y="3378308"/>
            <a:ext cx="6096000" cy="338554"/>
          </a:xfrm>
          <a:prstGeom prst="rect">
            <a:avLst/>
          </a:prstGeom>
        </p:spPr>
        <p:txBody>
          <a:bodyPr>
            <a:spAutoFit/>
          </a:bodyPr>
          <a:lstStyle/>
          <a:p>
            <a:pPr lvl="1">
              <a:buFont typeface="Wingdings" pitchFamily="2" charset="2"/>
              <a:buNone/>
            </a:pPr>
            <a:r>
              <a:rPr lang="zh-CN" altLang="en-US" sz="1600" dirty="0">
                <a:ea typeface="Sim Sun" charset="-122"/>
              </a:rPr>
              <a:t>最坏情况</a:t>
            </a:r>
            <a:r>
              <a:rPr lang="en-US" altLang="zh-CN" sz="1600" dirty="0">
                <a:ea typeface="Sim Sun" charset="-122"/>
              </a:rPr>
              <a:t>: </a:t>
            </a:r>
            <a:r>
              <a:rPr lang="zh-CN" altLang="en-US" sz="1600" dirty="0">
                <a:ea typeface="Sim Sun" charset="-122"/>
              </a:rPr>
              <a:t>在表头删除，移动</a:t>
            </a:r>
            <a:r>
              <a:rPr lang="en-US" altLang="zh-CN" sz="1600" dirty="0">
                <a:ea typeface="Sim Sun" charset="-122"/>
              </a:rPr>
              <a:t>n-1</a:t>
            </a:r>
            <a:r>
              <a:rPr lang="zh-CN" altLang="en-US" sz="1600" dirty="0">
                <a:ea typeface="Sim Sun" charset="-122"/>
              </a:rPr>
              <a:t>个元素，</a:t>
            </a:r>
            <a:r>
              <a:rPr lang="en-US" altLang="zh-CN" sz="1600" dirty="0">
                <a:ea typeface="Sim Sun" charset="-122"/>
              </a:rPr>
              <a:t>T(n)=O(n)</a:t>
            </a:r>
          </a:p>
        </p:txBody>
      </p:sp>
      <p:sp>
        <p:nvSpPr>
          <p:cNvPr id="17" name="矩形 16"/>
          <p:cNvSpPr/>
          <p:nvPr/>
        </p:nvSpPr>
        <p:spPr>
          <a:xfrm>
            <a:off x="517315" y="3654385"/>
            <a:ext cx="8469410" cy="338554"/>
          </a:xfrm>
          <a:prstGeom prst="rect">
            <a:avLst/>
          </a:prstGeom>
        </p:spPr>
        <p:txBody>
          <a:bodyPr wrap="square">
            <a:spAutoFit/>
          </a:bodyPr>
          <a:lstStyle/>
          <a:p>
            <a:pPr lvl="1">
              <a:buFont typeface="Wingdings" pitchFamily="2" charset="2"/>
              <a:buNone/>
            </a:pPr>
            <a:r>
              <a:rPr lang="zh-CN" altLang="en-US" sz="1600" dirty="0">
                <a:ea typeface="Sim Sun" charset="-122"/>
              </a:rPr>
              <a:t>平均复杂度：设</a:t>
            </a:r>
            <a:r>
              <a:rPr lang="en-US" altLang="zh-CN" sz="1600" dirty="0">
                <a:ea typeface="Sim Sun" charset="-122"/>
              </a:rPr>
              <a:t>pi</a:t>
            </a:r>
            <a:r>
              <a:rPr lang="zh-CN" altLang="en-US" sz="1600" dirty="0">
                <a:ea typeface="Sim Sun" charset="-122"/>
              </a:rPr>
              <a:t>为删除第</a:t>
            </a:r>
            <a:r>
              <a:rPr lang="en-US" altLang="zh-CN" sz="1600" dirty="0">
                <a:ea typeface="Sim Sun" charset="-122"/>
              </a:rPr>
              <a:t>i</a:t>
            </a:r>
            <a:r>
              <a:rPr lang="zh-CN" altLang="en-US" sz="1600" dirty="0">
                <a:ea typeface="Sim Sun" charset="-122"/>
              </a:rPr>
              <a:t>个元素的概率，且</a:t>
            </a:r>
            <a:r>
              <a:rPr lang="en-US" altLang="zh-CN" sz="1600" dirty="0">
                <a:ea typeface="Sim Sun" charset="-122"/>
              </a:rPr>
              <a:t>P</a:t>
            </a:r>
            <a:r>
              <a:rPr lang="en-US" altLang="zh-CN" sz="1600" baseline="-25000" dirty="0">
                <a:ea typeface="Sim Sun" charset="-122"/>
              </a:rPr>
              <a:t>1</a:t>
            </a:r>
            <a:r>
              <a:rPr lang="en-US" altLang="zh-CN" sz="1600" dirty="0">
                <a:ea typeface="Sim Sun" charset="-122"/>
              </a:rPr>
              <a:t>=P</a:t>
            </a:r>
            <a:r>
              <a:rPr lang="en-US" altLang="zh-CN" sz="1600" baseline="-25000" dirty="0">
                <a:ea typeface="Sim Sun" charset="-122"/>
              </a:rPr>
              <a:t>2</a:t>
            </a:r>
            <a:r>
              <a:rPr lang="en-US" altLang="zh-CN" sz="1600" dirty="0">
                <a:ea typeface="Sim Sun" charset="-122"/>
              </a:rPr>
              <a:t>=…=P</a:t>
            </a:r>
            <a:r>
              <a:rPr lang="en-US" altLang="zh-CN" sz="1600" baseline="-25000" dirty="0">
                <a:ea typeface="Sim Sun" charset="-122"/>
              </a:rPr>
              <a:t>i</a:t>
            </a:r>
            <a:r>
              <a:rPr lang="en-US" altLang="zh-CN" sz="1600" dirty="0">
                <a:ea typeface="Sim Sun" charset="-122"/>
              </a:rPr>
              <a:t>=…=</a:t>
            </a:r>
            <a:r>
              <a:rPr lang="en-US" altLang="zh-CN" sz="1600" dirty="0" err="1">
                <a:ea typeface="Sim Sun" charset="-122"/>
              </a:rPr>
              <a:t>P</a:t>
            </a:r>
            <a:r>
              <a:rPr lang="en-US" altLang="zh-CN" sz="1600" baseline="-25000" dirty="0" err="1">
                <a:ea typeface="Sim Sun" charset="-122"/>
              </a:rPr>
              <a:t>n</a:t>
            </a:r>
            <a:r>
              <a:rPr lang="en-US" altLang="zh-CN" sz="1600" dirty="0">
                <a:ea typeface="Sim Sun" charset="-122"/>
              </a:rPr>
              <a:t>=1/n，</a:t>
            </a:r>
            <a:r>
              <a:rPr lang="zh-CN" altLang="en-US" sz="1600" dirty="0">
                <a:ea typeface="Sim Sun" charset="-122"/>
              </a:rPr>
              <a:t>则平均移动次数为：</a:t>
            </a:r>
          </a:p>
        </p:txBody>
      </p:sp>
      <p:cxnSp>
        <p:nvCxnSpPr>
          <p:cNvPr id="20" name="直接连接符 1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AFCC262B-2088-3F18-9226-DDC58F4FCCF8}"/>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3" name="矩形 2">
            <a:extLst>
              <a:ext uri="{FF2B5EF4-FFF2-40B4-BE49-F238E27FC236}">
                <a16:creationId xmlns:a16="http://schemas.microsoft.com/office/drawing/2014/main" id="{F553626F-2962-E932-FE9C-BDD91446DFAD}"/>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
        <p:nvSpPr>
          <p:cNvPr id="4" name="矩形 3">
            <a:extLst>
              <a:ext uri="{FF2B5EF4-FFF2-40B4-BE49-F238E27FC236}">
                <a16:creationId xmlns:a16="http://schemas.microsoft.com/office/drawing/2014/main" id="{D027716E-771B-8897-C2A8-732A7E707298}"/>
              </a:ext>
            </a:extLst>
          </p:cNvPr>
          <p:cNvSpPr/>
          <p:nvPr/>
        </p:nvSpPr>
        <p:spPr>
          <a:xfrm>
            <a:off x="1115616" y="1570501"/>
            <a:ext cx="1467068" cy="400110"/>
          </a:xfrm>
          <a:prstGeom prst="rect">
            <a:avLst/>
          </a:prstGeom>
        </p:spPr>
        <p:txBody>
          <a:bodyPr wrap="none">
            <a:spAutoFit/>
          </a:bodyPr>
          <a:lstStyle/>
          <a:p>
            <a:pPr>
              <a:defRPr/>
            </a:pPr>
            <a:r>
              <a:rPr lang="zh-CN" altLang="en-US" sz="2000" dirty="0">
                <a:latin typeface="微软雅黑" pitchFamily="34" charset="-122"/>
                <a:ea typeface="微软雅黑" pitchFamily="34" charset="-122"/>
                <a:cs typeface="经典粗黑简" pitchFamily="49" charset="-122"/>
              </a:rPr>
              <a:t>⑩删除运算</a:t>
            </a:r>
          </a:p>
        </p:txBody>
      </p:sp>
    </p:spTree>
    <p:extLst>
      <p:ext uri="{BB962C8B-B14F-4D97-AF65-F5344CB8AC3E}">
        <p14:creationId xmlns:p14="http://schemas.microsoft.com/office/powerpoint/2010/main" val="4247820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4" grpId="0"/>
      <p:bldP spid="15" grpId="0"/>
      <p:bldP spid="16" grpId="0"/>
      <p:bldP spid="1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764221" y="1536095"/>
            <a:ext cx="2516777" cy="461665"/>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顺序表的分析</a:t>
            </a:r>
          </a:p>
        </p:txBody>
      </p:sp>
      <p:sp>
        <p:nvSpPr>
          <p:cNvPr id="19" name="Rectangle 3"/>
          <p:cNvSpPr txBox="1">
            <a:spLocks noChangeArrowheads="1"/>
          </p:cNvSpPr>
          <p:nvPr/>
        </p:nvSpPr>
        <p:spPr>
          <a:xfrm>
            <a:off x="1691680" y="3597864"/>
            <a:ext cx="6786155" cy="93273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20000"/>
              </a:spcBef>
              <a:buSzPct val="75000"/>
              <a:buFont typeface="Wingdings" pitchFamily="2" charset="2"/>
              <a:buNone/>
            </a:pPr>
            <a:r>
              <a:rPr lang="zh-CN" altLang="en-US" sz="1800" dirty="0">
                <a:latin typeface="微软雅黑" pitchFamily="34" charset="-122"/>
                <a:ea typeface="微软雅黑" pitchFamily="34" charset="-122"/>
                <a:cs typeface="经典粗黑简" pitchFamily="49" charset="-122"/>
              </a:rPr>
              <a:t>（</a:t>
            </a:r>
            <a:r>
              <a:rPr lang="en-US" altLang="zh-CN" sz="1800" dirty="0">
                <a:latin typeface="微软雅黑" pitchFamily="34" charset="-122"/>
                <a:ea typeface="微软雅黑" pitchFamily="34" charset="-122"/>
                <a:cs typeface="经典粗黑简" pitchFamily="49" charset="-122"/>
              </a:rPr>
              <a:t>3</a:t>
            </a:r>
            <a:r>
              <a:rPr lang="zh-CN" altLang="en-US" sz="1800" dirty="0">
                <a:latin typeface="微软雅黑" pitchFamily="34" charset="-122"/>
                <a:ea typeface="微软雅黑" pitchFamily="34" charset="-122"/>
                <a:cs typeface="经典粗黑简" pitchFamily="49" charset="-122"/>
              </a:rPr>
              <a:t>）顺序表的基本运算的复杂度：</a:t>
            </a:r>
          </a:p>
          <a:p>
            <a:pPr lvl="1">
              <a:spcBef>
                <a:spcPct val="20000"/>
              </a:spcBef>
              <a:buSzPct val="75000"/>
              <a:buFont typeface="Wingdings" pitchFamily="2" charset="2"/>
              <a:buNone/>
            </a:pPr>
            <a:r>
              <a:rPr lang="zh-CN" altLang="en-US" sz="1800" dirty="0">
                <a:latin typeface="微软雅黑" pitchFamily="34" charset="-122"/>
                <a:ea typeface="微软雅黑" pitchFamily="34" charset="-122"/>
                <a:cs typeface="经典粗黑简" pitchFamily="49" charset="-122"/>
              </a:rPr>
              <a:t>   插入运算：</a:t>
            </a:r>
            <a:r>
              <a:rPr lang="en-US" altLang="zh-CN" sz="1800" dirty="0">
                <a:latin typeface="微软雅黑" pitchFamily="34" charset="-122"/>
                <a:ea typeface="微软雅黑" pitchFamily="34" charset="-122"/>
                <a:cs typeface="经典粗黑简" pitchFamily="49" charset="-122"/>
              </a:rPr>
              <a:t>T(n)=O(n) ，S(n)=O(1)</a:t>
            </a:r>
          </a:p>
          <a:p>
            <a:pPr lvl="1">
              <a:spcBef>
                <a:spcPct val="20000"/>
              </a:spcBef>
              <a:buSzPct val="75000"/>
              <a:buFont typeface="Wingdings" pitchFamily="2" charset="2"/>
              <a:buNone/>
            </a:pPr>
            <a:r>
              <a:rPr lang="zh-CN" altLang="en-US" sz="1800" dirty="0">
                <a:latin typeface="微软雅黑" pitchFamily="34" charset="-122"/>
                <a:ea typeface="微软雅黑" pitchFamily="34" charset="-122"/>
                <a:cs typeface="经典粗黑简" pitchFamily="49" charset="-122"/>
              </a:rPr>
              <a:t>   删除运算：</a:t>
            </a:r>
            <a:r>
              <a:rPr lang="en-US" altLang="zh-CN" sz="1800" dirty="0">
                <a:latin typeface="微软雅黑" pitchFamily="34" charset="-122"/>
                <a:ea typeface="微软雅黑" pitchFamily="34" charset="-122"/>
                <a:cs typeface="经典粗黑简" pitchFamily="49" charset="-122"/>
              </a:rPr>
              <a:t>T(n)=O(n) ，S(n)=O(1)</a:t>
            </a:r>
          </a:p>
        </p:txBody>
      </p:sp>
      <p:sp>
        <p:nvSpPr>
          <p:cNvPr id="20" name="Rectangle 3"/>
          <p:cNvSpPr txBox="1">
            <a:spLocks noChangeArrowheads="1"/>
          </p:cNvSpPr>
          <p:nvPr/>
        </p:nvSpPr>
        <p:spPr>
          <a:xfrm>
            <a:off x="1691681" y="2787774"/>
            <a:ext cx="6912164" cy="799597"/>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20000"/>
              </a:spcBef>
              <a:buSzPct val="75000"/>
              <a:buFont typeface="Wingdings" pitchFamily="2" charset="2"/>
              <a:buNone/>
            </a:pPr>
            <a:r>
              <a:rPr lang="zh-CN" altLang="en-US" sz="1800" dirty="0">
                <a:latin typeface="微软雅黑" pitchFamily="34" charset="-122"/>
                <a:ea typeface="微软雅黑" pitchFamily="34" charset="-122"/>
                <a:cs typeface="经典粗黑简" pitchFamily="49" charset="-122"/>
              </a:rPr>
              <a:t>（</a:t>
            </a:r>
            <a:r>
              <a:rPr lang="en-US" altLang="zh-CN" sz="1800" dirty="0">
                <a:latin typeface="微软雅黑" pitchFamily="34" charset="-122"/>
                <a:ea typeface="微软雅黑" pitchFamily="34" charset="-122"/>
                <a:cs typeface="经典粗黑简" pitchFamily="49" charset="-122"/>
              </a:rPr>
              <a:t>2</a:t>
            </a:r>
            <a:r>
              <a:rPr lang="zh-CN" altLang="en-US" sz="1800" dirty="0">
                <a:latin typeface="微软雅黑" pitchFamily="34" charset="-122"/>
                <a:ea typeface="微软雅黑" pitchFamily="34" charset="-122"/>
                <a:cs typeface="经典粗黑简" pitchFamily="49" charset="-122"/>
              </a:rPr>
              <a:t>）缺点：</a:t>
            </a:r>
          </a:p>
          <a:p>
            <a:pPr marL="914400" lvl="2" indent="0">
              <a:spcBef>
                <a:spcPct val="20000"/>
              </a:spcBef>
              <a:buSzPct val="75000"/>
              <a:buNone/>
            </a:pPr>
            <a:r>
              <a:rPr lang="zh-CN" altLang="en-US" sz="1800" dirty="0">
                <a:latin typeface="微软雅黑" pitchFamily="34" charset="-122"/>
                <a:ea typeface="微软雅黑" pitchFamily="34" charset="-122"/>
                <a:cs typeface="经典粗黑简" pitchFamily="49" charset="-122"/>
              </a:rPr>
              <a:t>插入和删除元素时要移动大量的元素；</a:t>
            </a:r>
            <a:endParaRPr lang="en-US" altLang="zh-CN" sz="1800" dirty="0">
              <a:latin typeface="微软雅黑" pitchFamily="34" charset="-122"/>
              <a:ea typeface="微软雅黑" pitchFamily="34" charset="-122"/>
              <a:cs typeface="经典粗黑简" pitchFamily="49" charset="-122"/>
            </a:endParaRPr>
          </a:p>
          <a:p>
            <a:pPr marL="914400" lvl="2" indent="0">
              <a:spcBef>
                <a:spcPct val="20000"/>
              </a:spcBef>
              <a:buSzPct val="75000"/>
              <a:buNone/>
            </a:pPr>
            <a:r>
              <a:rPr lang="zh-CN" altLang="en-US" sz="1800" dirty="0">
                <a:latin typeface="微软雅黑" pitchFamily="34" charset="-122"/>
                <a:ea typeface="微软雅黑" pitchFamily="34" charset="-122"/>
                <a:cs typeface="经典粗黑简" pitchFamily="49" charset="-122"/>
              </a:rPr>
              <a:t>必须事先进行空间分配；</a:t>
            </a:r>
          </a:p>
        </p:txBody>
      </p:sp>
      <p:sp>
        <p:nvSpPr>
          <p:cNvPr id="21" name="Rectangle 3"/>
          <p:cNvSpPr txBox="1">
            <a:spLocks noChangeArrowheads="1"/>
          </p:cNvSpPr>
          <p:nvPr/>
        </p:nvSpPr>
        <p:spPr>
          <a:xfrm>
            <a:off x="1691680" y="1999507"/>
            <a:ext cx="6786155" cy="93273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20000"/>
              </a:spcBef>
              <a:buSzPct val="75000"/>
              <a:buFont typeface="Wingdings" pitchFamily="2" charset="2"/>
              <a:buNone/>
            </a:pPr>
            <a:r>
              <a:rPr lang="zh-CN" altLang="en-US" sz="1800" dirty="0">
                <a:latin typeface="微软雅黑" pitchFamily="34" charset="-122"/>
                <a:ea typeface="微软雅黑" pitchFamily="34" charset="-122"/>
                <a:cs typeface="经典粗黑简" pitchFamily="49" charset="-122"/>
              </a:rPr>
              <a:t>（</a:t>
            </a:r>
            <a:r>
              <a:rPr lang="en-US" altLang="zh-CN" sz="1800" dirty="0">
                <a:latin typeface="微软雅黑" pitchFamily="34" charset="-122"/>
                <a:ea typeface="微软雅黑" pitchFamily="34" charset="-122"/>
                <a:cs typeface="经典粗黑简" pitchFamily="49" charset="-122"/>
              </a:rPr>
              <a:t>1</a:t>
            </a:r>
            <a:r>
              <a:rPr lang="zh-CN" altLang="en-US" sz="1800" dirty="0">
                <a:latin typeface="微软雅黑" pitchFamily="34" charset="-122"/>
                <a:ea typeface="微软雅黑" pitchFamily="34" charset="-122"/>
                <a:cs typeface="经典粗黑简" pitchFamily="49" charset="-122"/>
              </a:rPr>
              <a:t>）优点：</a:t>
            </a:r>
          </a:p>
          <a:p>
            <a:pPr marL="914400" lvl="2" indent="0">
              <a:buSzPct val="75000"/>
              <a:buNone/>
            </a:pPr>
            <a:r>
              <a:rPr lang="zh-CN" altLang="en-US" sz="1800" dirty="0">
                <a:latin typeface="微软雅黑" pitchFamily="34" charset="-122"/>
                <a:ea typeface="微软雅黑" pitchFamily="34" charset="-122"/>
                <a:cs typeface="经典粗黑简" pitchFamily="49" charset="-122"/>
              </a:rPr>
              <a:t>不需要额外的存储空间来表示元素间的逻辑关系；</a:t>
            </a:r>
          </a:p>
          <a:p>
            <a:pPr marL="914400" lvl="2" indent="0">
              <a:buSzPct val="75000"/>
              <a:buNone/>
            </a:pPr>
            <a:r>
              <a:rPr lang="zh-CN" altLang="en-US" sz="1800" dirty="0">
                <a:latin typeface="微软雅黑" pitchFamily="34" charset="-122"/>
                <a:ea typeface="微软雅黑" pitchFamily="34" charset="-122"/>
                <a:cs typeface="经典粗黑简" pitchFamily="49" charset="-122"/>
              </a:rPr>
              <a:t>可以随机地存取表中的任意一个元素；</a:t>
            </a:r>
            <a:endParaRPr lang="en-US" altLang="zh-CN" sz="1800" dirty="0">
              <a:latin typeface="微软雅黑" pitchFamily="34" charset="-122"/>
              <a:ea typeface="微软雅黑" pitchFamily="34" charset="-122"/>
              <a:cs typeface="经典粗黑简" pitchFamily="49" charset="-122"/>
            </a:endParaRPr>
          </a:p>
        </p:txBody>
      </p:sp>
      <p:cxnSp>
        <p:nvCxnSpPr>
          <p:cNvPr id="14" name="直接连接符 13"/>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5612095B-ECA5-6853-E3F6-B9491DF4AB57}"/>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2.2 </a:t>
            </a:r>
            <a:r>
              <a:rPr lang="zh-CN" altLang="en-US" sz="3700" b="1" dirty="0">
                <a:latin typeface="黑体" pitchFamily="49" charset="-122"/>
                <a:ea typeface="黑体" pitchFamily="49" charset="-122"/>
                <a:cs typeface="+mn-cs"/>
              </a:rPr>
              <a:t>线性表的顺序存储结构</a:t>
            </a:r>
          </a:p>
        </p:txBody>
      </p:sp>
      <p:sp>
        <p:nvSpPr>
          <p:cNvPr id="3" name="矩形 2">
            <a:extLst>
              <a:ext uri="{FF2B5EF4-FFF2-40B4-BE49-F238E27FC236}">
                <a16:creationId xmlns:a16="http://schemas.microsoft.com/office/drawing/2014/main" id="{10B1C92B-7067-5208-0B49-4B626E0E72E7}"/>
              </a:ext>
            </a:extLst>
          </p:cNvPr>
          <p:cNvSpPr/>
          <p:nvPr/>
        </p:nvSpPr>
        <p:spPr>
          <a:xfrm>
            <a:off x="195716" y="892085"/>
            <a:ext cx="50963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2.2.2 </a:t>
            </a:r>
            <a:r>
              <a:rPr lang="zh-CN" altLang="en-US" sz="2800" b="1" dirty="0">
                <a:solidFill>
                  <a:schemeClr val="bg1"/>
                </a:solidFill>
                <a:latin typeface="经典粗黑简" pitchFamily="49" charset="-122"/>
                <a:ea typeface="经典粗黑简" pitchFamily="49" charset="-122"/>
                <a:cs typeface="经典粗黑简" pitchFamily="49" charset="-122"/>
              </a:rPr>
              <a:t>顺序表基本运算的实现</a:t>
            </a:r>
          </a:p>
        </p:txBody>
      </p:sp>
    </p:spTree>
    <p:extLst>
      <p:ext uri="{BB962C8B-B14F-4D97-AF65-F5344CB8AC3E}">
        <p14:creationId xmlns:p14="http://schemas.microsoft.com/office/powerpoint/2010/main" val="1306178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5001958" y="2499742"/>
            <a:ext cx="1211052"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逻辑结构</a:t>
            </a:r>
          </a:p>
        </p:txBody>
      </p:sp>
      <p:sp>
        <p:nvSpPr>
          <p:cNvPr id="15" name="矩形 14"/>
          <p:cNvSpPr/>
          <p:nvPr/>
        </p:nvSpPr>
        <p:spPr>
          <a:xfrm>
            <a:off x="5233157" y="3293736"/>
            <a:ext cx="1278631"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物理结构</a:t>
            </a:r>
          </a:p>
        </p:txBody>
      </p:sp>
      <p:sp>
        <p:nvSpPr>
          <p:cNvPr id="16" name="矩形 15"/>
          <p:cNvSpPr/>
          <p:nvPr/>
        </p:nvSpPr>
        <p:spPr>
          <a:xfrm>
            <a:off x="2736211" y="1986990"/>
            <a:ext cx="5436189" cy="480131"/>
          </a:xfrm>
          <a:prstGeom prst="rect">
            <a:avLst/>
          </a:prstGeom>
        </p:spPr>
        <p:txBody>
          <a:bodyPr wrap="square">
            <a:spAutoFit/>
          </a:bodyPr>
          <a:lstStyle/>
          <a:p>
            <a:pPr lvl="1">
              <a:lnSpc>
                <a:spcPct val="90000"/>
              </a:lnSpc>
            </a:pPr>
            <a:r>
              <a:rPr lang="zh-CN" altLang="en-US" sz="2800" dirty="0">
                <a:latin typeface="微软雅黑" pitchFamily="34" charset="-122"/>
                <a:ea typeface="微软雅黑" pitchFamily="34" charset="-122"/>
                <a:cs typeface="经典粗黑简" pitchFamily="49" charset="-122"/>
              </a:rPr>
              <a:t>(</a:t>
            </a:r>
            <a:r>
              <a:rPr lang="en-US" altLang="zh-CN" sz="2800" dirty="0">
                <a:latin typeface="微软雅黑" pitchFamily="34" charset="-122"/>
                <a:ea typeface="微软雅黑" pitchFamily="34" charset="-122"/>
                <a:cs typeface="经典粗黑简" pitchFamily="49" charset="-122"/>
              </a:rPr>
              <a:t>a</a:t>
            </a:r>
            <a:r>
              <a:rPr lang="en-US" altLang="zh-CN" sz="2800" baseline="-25000" dirty="0">
                <a:latin typeface="微软雅黑" pitchFamily="34" charset="-122"/>
                <a:ea typeface="微软雅黑" pitchFamily="34" charset="-122"/>
                <a:cs typeface="经典粗黑简" pitchFamily="49" charset="-122"/>
              </a:rPr>
              <a:t>1</a:t>
            </a:r>
            <a:r>
              <a:rPr lang="en-US" altLang="zh-CN" sz="2800" dirty="0">
                <a:latin typeface="微软雅黑" pitchFamily="34" charset="-122"/>
                <a:ea typeface="微软雅黑" pitchFamily="34" charset="-122"/>
                <a:cs typeface="经典粗黑简" pitchFamily="49" charset="-122"/>
              </a:rPr>
              <a:t>, a</a:t>
            </a:r>
            <a:r>
              <a:rPr lang="en-US" altLang="zh-CN" sz="2800" baseline="-25000" dirty="0">
                <a:latin typeface="微软雅黑" pitchFamily="34" charset="-122"/>
                <a:ea typeface="微软雅黑" pitchFamily="34" charset="-122"/>
                <a:cs typeface="经典粗黑简" pitchFamily="49" charset="-122"/>
              </a:rPr>
              <a:t>2</a:t>
            </a:r>
            <a:r>
              <a:rPr lang="en-US" altLang="zh-CN" sz="2800" dirty="0">
                <a:latin typeface="微软雅黑" pitchFamily="34" charset="-122"/>
                <a:ea typeface="微软雅黑" pitchFamily="34" charset="-122"/>
                <a:cs typeface="经典粗黑简" pitchFamily="49" charset="-122"/>
              </a:rPr>
              <a:t>, …, a</a:t>
            </a:r>
            <a:r>
              <a:rPr lang="en-US" altLang="zh-CN" sz="2800" baseline="-25000" dirty="0">
                <a:latin typeface="微软雅黑" pitchFamily="34" charset="-122"/>
                <a:ea typeface="微软雅黑" pitchFamily="34" charset="-122"/>
                <a:cs typeface="经典粗黑简" pitchFamily="49" charset="-122"/>
              </a:rPr>
              <a:t>i-1</a:t>
            </a:r>
            <a:r>
              <a:rPr lang="en-US" altLang="zh-CN" sz="2800" dirty="0">
                <a:latin typeface="微软雅黑" pitchFamily="34" charset="-122"/>
                <a:ea typeface="微软雅黑" pitchFamily="34" charset="-122"/>
                <a:cs typeface="经典粗黑简" pitchFamily="49" charset="-122"/>
              </a:rPr>
              <a:t>, </a:t>
            </a:r>
            <a:r>
              <a:rPr lang="en-US" altLang="zh-CN" sz="2800" dirty="0" err="1">
                <a:latin typeface="微软雅黑" pitchFamily="34" charset="-122"/>
                <a:ea typeface="微软雅黑" pitchFamily="34" charset="-122"/>
                <a:cs typeface="经典粗黑简" pitchFamily="49" charset="-122"/>
              </a:rPr>
              <a:t>a</a:t>
            </a:r>
            <a:r>
              <a:rPr lang="en-US" altLang="zh-CN" sz="2800" baseline="-25000" dirty="0" err="1">
                <a:latin typeface="微软雅黑" pitchFamily="34" charset="-122"/>
                <a:ea typeface="微软雅黑" pitchFamily="34" charset="-122"/>
                <a:cs typeface="经典粗黑简" pitchFamily="49" charset="-122"/>
              </a:rPr>
              <a:t>i</a:t>
            </a:r>
            <a:r>
              <a:rPr lang="en-US" altLang="zh-CN" sz="2800" dirty="0">
                <a:latin typeface="微软雅黑" pitchFamily="34" charset="-122"/>
                <a:ea typeface="微软雅黑" pitchFamily="34" charset="-122"/>
                <a:cs typeface="经典粗黑简" pitchFamily="49" charset="-122"/>
              </a:rPr>
              <a:t>, a</a:t>
            </a:r>
            <a:r>
              <a:rPr lang="en-US" altLang="zh-CN" sz="2800" baseline="-25000" dirty="0">
                <a:latin typeface="微软雅黑" pitchFamily="34" charset="-122"/>
                <a:ea typeface="微软雅黑" pitchFamily="34" charset="-122"/>
                <a:cs typeface="经典粗黑简" pitchFamily="49" charset="-122"/>
              </a:rPr>
              <a:t>i＋1</a:t>
            </a:r>
            <a:r>
              <a:rPr lang="en-US" altLang="zh-CN" sz="2800" dirty="0">
                <a:latin typeface="微软雅黑" pitchFamily="34" charset="-122"/>
                <a:ea typeface="微软雅黑" pitchFamily="34" charset="-122"/>
                <a:cs typeface="经典粗黑简" pitchFamily="49" charset="-122"/>
              </a:rPr>
              <a:t>, …, a</a:t>
            </a:r>
            <a:r>
              <a:rPr lang="en-US" altLang="zh-CN" sz="2800" baseline="-25000" dirty="0">
                <a:latin typeface="微软雅黑" pitchFamily="34" charset="-122"/>
                <a:ea typeface="微软雅黑" pitchFamily="34" charset="-122"/>
                <a:cs typeface="经典粗黑简" pitchFamily="49" charset="-122"/>
              </a:rPr>
              <a:t>n</a:t>
            </a:r>
            <a:r>
              <a:rPr lang="en-US" altLang="zh-CN" sz="2800" dirty="0">
                <a:latin typeface="微软雅黑" pitchFamily="34" charset="-122"/>
                <a:ea typeface="微软雅黑" pitchFamily="34" charset="-122"/>
                <a:cs typeface="经典粗黑简" pitchFamily="49" charset="-122"/>
              </a:rPr>
              <a:t>)</a:t>
            </a:r>
          </a:p>
        </p:txBody>
      </p:sp>
      <p:sp>
        <p:nvSpPr>
          <p:cNvPr id="17" name="左大括号 16"/>
          <p:cNvSpPr/>
          <p:nvPr/>
        </p:nvSpPr>
        <p:spPr>
          <a:xfrm rot="16200000">
            <a:off x="5525150" y="282155"/>
            <a:ext cx="102241" cy="447217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Rectangle 5"/>
          <p:cNvSpPr>
            <a:spLocks noChangeArrowheads="1"/>
          </p:cNvSpPr>
          <p:nvPr/>
        </p:nvSpPr>
        <p:spPr bwMode="auto">
          <a:xfrm>
            <a:off x="2425781" y="284178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23" name="Line 6"/>
          <p:cNvSpPr>
            <a:spLocks noChangeShapeType="1"/>
          </p:cNvSpPr>
          <p:nvPr/>
        </p:nvSpPr>
        <p:spPr bwMode="auto">
          <a:xfrm>
            <a:off x="2959181" y="284178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Rectangle 25"/>
          <p:cNvSpPr>
            <a:spLocks noChangeArrowheads="1"/>
          </p:cNvSpPr>
          <p:nvPr/>
        </p:nvSpPr>
        <p:spPr bwMode="auto">
          <a:xfrm>
            <a:off x="4589666" y="291574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7" name="Rectangle 36"/>
          <p:cNvSpPr>
            <a:spLocks noChangeArrowheads="1"/>
          </p:cNvSpPr>
          <p:nvPr/>
        </p:nvSpPr>
        <p:spPr bwMode="auto">
          <a:xfrm>
            <a:off x="6348254" y="290588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8" name="Line 29"/>
          <p:cNvSpPr>
            <a:spLocks noChangeShapeType="1"/>
          </p:cNvSpPr>
          <p:nvPr/>
        </p:nvSpPr>
        <p:spPr bwMode="auto">
          <a:xfrm>
            <a:off x="2044781" y="3095953"/>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Rectangle 5"/>
          <p:cNvSpPr>
            <a:spLocks noChangeArrowheads="1"/>
          </p:cNvSpPr>
          <p:nvPr/>
        </p:nvSpPr>
        <p:spPr bwMode="auto">
          <a:xfrm>
            <a:off x="3601438" y="284715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30" name="Line 6"/>
          <p:cNvSpPr>
            <a:spLocks noChangeShapeType="1"/>
          </p:cNvSpPr>
          <p:nvPr/>
        </p:nvSpPr>
        <p:spPr bwMode="auto">
          <a:xfrm>
            <a:off x="4134838" y="284715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9"/>
          <p:cNvSpPr>
            <a:spLocks noChangeShapeType="1"/>
          </p:cNvSpPr>
          <p:nvPr/>
        </p:nvSpPr>
        <p:spPr bwMode="auto">
          <a:xfrm>
            <a:off x="3220438" y="310132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Line 29"/>
          <p:cNvSpPr>
            <a:spLocks noChangeShapeType="1"/>
          </p:cNvSpPr>
          <p:nvPr/>
        </p:nvSpPr>
        <p:spPr bwMode="auto">
          <a:xfrm>
            <a:off x="5001957" y="3092108"/>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a:off x="4325338" y="3098640"/>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 name="Rectangle 5"/>
          <p:cNvSpPr>
            <a:spLocks noChangeArrowheads="1"/>
          </p:cNvSpPr>
          <p:nvPr/>
        </p:nvSpPr>
        <p:spPr bwMode="auto">
          <a:xfrm>
            <a:off x="5218563" y="285718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37" name="Line 6"/>
          <p:cNvSpPr>
            <a:spLocks noChangeShapeType="1"/>
          </p:cNvSpPr>
          <p:nvPr/>
        </p:nvSpPr>
        <p:spPr bwMode="auto">
          <a:xfrm>
            <a:off x="5751963" y="285718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29"/>
          <p:cNvSpPr>
            <a:spLocks noChangeShapeType="1"/>
          </p:cNvSpPr>
          <p:nvPr/>
        </p:nvSpPr>
        <p:spPr bwMode="auto">
          <a:xfrm>
            <a:off x="5983271" y="311225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5"/>
          <p:cNvSpPr>
            <a:spLocks noChangeArrowheads="1"/>
          </p:cNvSpPr>
          <p:nvPr/>
        </p:nvSpPr>
        <p:spPr bwMode="auto">
          <a:xfrm>
            <a:off x="7063963" y="285888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44" name="Line 6"/>
          <p:cNvSpPr>
            <a:spLocks noChangeShapeType="1"/>
          </p:cNvSpPr>
          <p:nvPr/>
        </p:nvSpPr>
        <p:spPr bwMode="auto">
          <a:xfrm>
            <a:off x="7623490" y="285888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9"/>
          <p:cNvSpPr>
            <a:spLocks noChangeShapeType="1"/>
          </p:cNvSpPr>
          <p:nvPr/>
        </p:nvSpPr>
        <p:spPr bwMode="auto">
          <a:xfrm>
            <a:off x="6682963" y="3106529"/>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矩形 45"/>
          <p:cNvSpPr/>
          <p:nvPr/>
        </p:nvSpPr>
        <p:spPr>
          <a:xfrm>
            <a:off x="834833" y="1422453"/>
            <a:ext cx="8139358" cy="707886"/>
          </a:xfrm>
          <a:prstGeom prst="rect">
            <a:avLst/>
          </a:prstGeom>
        </p:spPr>
        <p:txBody>
          <a:bodyPr wrap="square">
            <a:spAutoFit/>
          </a:bodyPr>
          <a:lstStyle/>
          <a:p>
            <a:r>
              <a:rPr lang="zh-CN" altLang="zh-CN" sz="2000" dirty="0">
                <a:solidFill>
                  <a:srgbClr val="FF0000"/>
                </a:solidFill>
                <a:latin typeface="微软雅黑" pitchFamily="34" charset="-122"/>
                <a:ea typeface="微软雅黑" pitchFamily="34" charset="-122"/>
                <a:cs typeface="经典粗黑简" pitchFamily="49" charset="-122"/>
              </a:rPr>
              <a:t>链表</a:t>
            </a:r>
            <a:r>
              <a:rPr lang="zh-CN" altLang="en-US" sz="2000" dirty="0">
                <a:solidFill>
                  <a:srgbClr val="FF0000"/>
                </a:solidFill>
                <a:latin typeface="微软雅黑" pitchFamily="34" charset="-122"/>
                <a:ea typeface="微软雅黑" pitchFamily="34" charset="-122"/>
                <a:cs typeface="经典粗黑简" pitchFamily="49" charset="-122"/>
              </a:rPr>
              <a:t>（</a:t>
            </a:r>
            <a:r>
              <a:rPr lang="en-US" altLang="zh-CN" sz="2000" dirty="0">
                <a:solidFill>
                  <a:srgbClr val="FF0000"/>
                </a:solidFill>
                <a:latin typeface="微软雅黑" pitchFamily="34" charset="-122"/>
                <a:ea typeface="微软雅黑" pitchFamily="34" charset="-122"/>
                <a:cs typeface="经典粗黑简" pitchFamily="49" charset="-122"/>
              </a:rPr>
              <a:t>Link List</a:t>
            </a:r>
            <a:r>
              <a:rPr lang="zh-CN" altLang="en-US" sz="2000" dirty="0">
                <a:solidFill>
                  <a:srgbClr val="FF0000"/>
                </a:solidFill>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是指用</a:t>
            </a:r>
            <a:r>
              <a:rPr lang="zh-CN" altLang="zh-CN" sz="2000" dirty="0">
                <a:latin typeface="微软雅黑" pitchFamily="34" charset="-122"/>
                <a:ea typeface="微软雅黑" pitchFamily="34" charset="-122"/>
                <a:cs typeface="经典粗黑简" pitchFamily="49" charset="-122"/>
              </a:rPr>
              <a:t>链式存储结构</a:t>
            </a:r>
            <a:r>
              <a:rPr lang="zh-CN" altLang="en-US" sz="2000" dirty="0">
                <a:latin typeface="微软雅黑" pitchFamily="34" charset="-122"/>
                <a:ea typeface="微软雅黑" pitchFamily="34" charset="-122"/>
                <a:cs typeface="经典粗黑简" pitchFamily="49" charset="-122"/>
              </a:rPr>
              <a:t>表示的线性表，它用任意的存储单元存放线性表中的数据元素，数据元素之间的关系使用</a:t>
            </a:r>
            <a:r>
              <a:rPr lang="zh-CN" altLang="en-US" sz="2000" dirty="0">
                <a:solidFill>
                  <a:srgbClr val="FF0000"/>
                </a:solidFill>
                <a:latin typeface="微软雅黑" pitchFamily="34" charset="-122"/>
                <a:ea typeface="微软雅黑" pitchFamily="34" charset="-122"/>
                <a:cs typeface="经典粗黑简" pitchFamily="49" charset="-122"/>
              </a:rPr>
              <a:t>指针</a:t>
            </a:r>
            <a:r>
              <a:rPr lang="zh-CN" altLang="en-US" sz="2000" dirty="0">
                <a:latin typeface="微软雅黑" pitchFamily="34" charset="-122"/>
                <a:ea typeface="微软雅黑" pitchFamily="34" charset="-122"/>
                <a:cs typeface="经典粗黑简" pitchFamily="49" charset="-122"/>
              </a:rPr>
              <a:t>来表示。</a:t>
            </a:r>
          </a:p>
        </p:txBody>
      </p:sp>
      <p:sp>
        <p:nvSpPr>
          <p:cNvPr id="47" name="矩形 46"/>
          <p:cNvSpPr/>
          <p:nvPr/>
        </p:nvSpPr>
        <p:spPr>
          <a:xfrm>
            <a:off x="1666641" y="2067015"/>
            <a:ext cx="1210588" cy="400110"/>
          </a:xfrm>
          <a:prstGeom prst="rect">
            <a:avLst/>
          </a:prstGeom>
        </p:spPr>
        <p:txBody>
          <a:bodyPr wrap="none">
            <a:spAutoFit/>
          </a:bodyPr>
          <a:lstStyle/>
          <a:p>
            <a:r>
              <a:rPr lang="zh-CN" altLang="en-US" sz="2000" dirty="0">
                <a:latin typeface="微软雅黑" pitchFamily="34" charset="-122"/>
                <a:ea typeface="微软雅黑" pitchFamily="34" charset="-122"/>
                <a:cs typeface="经典粗黑简" pitchFamily="49" charset="-122"/>
              </a:rPr>
              <a:t>线性表：</a:t>
            </a:r>
          </a:p>
        </p:txBody>
      </p:sp>
      <p:sp>
        <p:nvSpPr>
          <p:cNvPr id="48" name="矩形 47"/>
          <p:cNvSpPr/>
          <p:nvPr/>
        </p:nvSpPr>
        <p:spPr>
          <a:xfrm>
            <a:off x="1280390" y="2890747"/>
            <a:ext cx="833882" cy="400110"/>
          </a:xfrm>
          <a:prstGeom prst="rect">
            <a:avLst/>
          </a:prstGeom>
        </p:spPr>
        <p:txBody>
          <a:bodyPr wrap="none">
            <a:spAutoFit/>
          </a:bodyPr>
          <a:lstStyle/>
          <a:p>
            <a:pPr algn="r"/>
            <a:r>
              <a:rPr lang="en-US" altLang="zh-CN" sz="2000" dirty="0">
                <a:latin typeface="微软雅黑" pitchFamily="34" charset="-122"/>
                <a:ea typeface="微软雅黑" pitchFamily="34" charset="-122"/>
              </a:rPr>
              <a:t>Head</a:t>
            </a:r>
          </a:p>
        </p:txBody>
      </p:sp>
      <p:sp>
        <p:nvSpPr>
          <p:cNvPr id="49" name="矩形 48"/>
          <p:cNvSpPr/>
          <p:nvPr/>
        </p:nvSpPr>
        <p:spPr>
          <a:xfrm>
            <a:off x="642564" y="3395776"/>
            <a:ext cx="954107" cy="400110"/>
          </a:xfrm>
          <a:prstGeom prst="rect">
            <a:avLst/>
          </a:prstGeom>
        </p:spPr>
        <p:txBody>
          <a:bodyPr wrap="none">
            <a:spAutoFit/>
          </a:bodyPr>
          <a:lstStyle/>
          <a:p>
            <a:r>
              <a:rPr lang="zh-CN" altLang="en-US" sz="2000" dirty="0">
                <a:latin typeface="微软雅黑" pitchFamily="34" charset="-122"/>
                <a:ea typeface="微软雅黑" pitchFamily="34" charset="-122"/>
                <a:cs typeface="经典粗黑简" pitchFamily="49" charset="-122"/>
              </a:rPr>
              <a:t>头指针</a:t>
            </a:r>
          </a:p>
        </p:txBody>
      </p:sp>
      <p:sp>
        <p:nvSpPr>
          <p:cNvPr id="50" name="矩形标注 49"/>
          <p:cNvSpPr/>
          <p:nvPr/>
        </p:nvSpPr>
        <p:spPr>
          <a:xfrm rot="10800000">
            <a:off x="536260" y="3425878"/>
            <a:ext cx="1130381" cy="346166"/>
          </a:xfrm>
          <a:prstGeom prst="wedgeRectCallout">
            <a:avLst>
              <a:gd name="adj1" fmla="val -60080"/>
              <a:gd name="adj2" fmla="val 13458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2196754" y="3395776"/>
            <a:ext cx="697627" cy="400110"/>
          </a:xfrm>
          <a:prstGeom prst="rect">
            <a:avLst/>
          </a:prstGeom>
        </p:spPr>
        <p:txBody>
          <a:bodyPr wrap="none">
            <a:spAutoFit/>
          </a:bodyPr>
          <a:lstStyle/>
          <a:p>
            <a:r>
              <a:rPr lang="zh-CN" altLang="en-US" sz="2000" dirty="0">
                <a:latin typeface="微软雅黑" pitchFamily="34" charset="-122"/>
                <a:ea typeface="微软雅黑" pitchFamily="34" charset="-122"/>
                <a:cs typeface="经典粗黑简" pitchFamily="49" charset="-122"/>
              </a:rPr>
              <a:t>结点</a:t>
            </a:r>
          </a:p>
        </p:txBody>
      </p:sp>
      <p:sp>
        <p:nvSpPr>
          <p:cNvPr id="52" name="矩形标注 51"/>
          <p:cNvSpPr/>
          <p:nvPr/>
        </p:nvSpPr>
        <p:spPr>
          <a:xfrm rot="10800000">
            <a:off x="2083515" y="3432409"/>
            <a:ext cx="912704" cy="339635"/>
          </a:xfrm>
          <a:prstGeom prst="wedgeRectCallout">
            <a:avLst>
              <a:gd name="adj1" fmla="val -24182"/>
              <a:gd name="adj2" fmla="val 10261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503470" y="3813477"/>
            <a:ext cx="3821869" cy="923330"/>
          </a:xfrm>
          <a:prstGeom prst="rect">
            <a:avLst/>
          </a:prstGeom>
        </p:spPr>
        <p:txBody>
          <a:bodyPr wrap="square">
            <a:spAutoFit/>
          </a:bodyPr>
          <a:lstStyle/>
          <a:p>
            <a:r>
              <a:rPr lang="zh-CN" altLang="en-US" dirty="0">
                <a:solidFill>
                  <a:srgbClr val="FF0000"/>
                </a:solidFill>
                <a:latin typeface="微软雅黑" pitchFamily="34" charset="-122"/>
                <a:ea typeface="微软雅黑" pitchFamily="34" charset="-122"/>
                <a:cs typeface="经典粗黑简" pitchFamily="49" charset="-122"/>
              </a:rPr>
              <a:t>结点</a:t>
            </a:r>
            <a:r>
              <a:rPr lang="zh-CN" altLang="en-US" dirty="0">
                <a:latin typeface="微软雅黑" pitchFamily="34" charset="-122"/>
                <a:ea typeface="微软雅黑" pitchFamily="34" charset="-122"/>
                <a:cs typeface="经典粗黑简" pitchFamily="49" charset="-122"/>
              </a:rPr>
              <a:t>（节点，</a:t>
            </a:r>
            <a:r>
              <a:rPr lang="en-US" altLang="zh-CN" dirty="0">
                <a:latin typeface="微软雅黑" pitchFamily="34" charset="-122"/>
                <a:ea typeface="微软雅黑" pitchFamily="34" charset="-122"/>
                <a:cs typeface="经典粗黑简" pitchFamily="49" charset="-122"/>
              </a:rPr>
              <a:t>Node</a:t>
            </a:r>
            <a:r>
              <a:rPr lang="zh-CN" altLang="en-US" dirty="0">
                <a:latin typeface="微软雅黑" pitchFamily="34" charset="-122"/>
                <a:ea typeface="微软雅黑" pitchFamily="34" charset="-122"/>
                <a:cs typeface="经典粗黑简" pitchFamily="49" charset="-122"/>
              </a:rPr>
              <a:t>）：数据元素及与其有直接关系的数据元素的地址（指针）构成的存储单位。</a:t>
            </a:r>
            <a:endParaRPr lang="en-US" altLang="zh-CN" dirty="0">
              <a:latin typeface="微软雅黑" pitchFamily="34" charset="-122"/>
              <a:ea typeface="微软雅黑" pitchFamily="34" charset="-122"/>
              <a:cs typeface="经典粗黑简" pitchFamily="49" charset="-122"/>
            </a:endParaRPr>
          </a:p>
        </p:txBody>
      </p:sp>
      <p:sp>
        <p:nvSpPr>
          <p:cNvPr id="55" name="Rectangle 8"/>
          <p:cNvSpPr>
            <a:spLocks noChangeArrowheads="1"/>
          </p:cNvSpPr>
          <p:nvPr/>
        </p:nvSpPr>
        <p:spPr bwMode="auto">
          <a:xfrm>
            <a:off x="6657250" y="3579862"/>
            <a:ext cx="1083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l"/>
            <a:r>
              <a:rPr lang="zh-CN" altLang="en-US" dirty="0">
                <a:latin typeface="微软雅黑" pitchFamily="34" charset="-122"/>
                <a:ea typeface="微软雅黑" pitchFamily="34" charset="-122"/>
                <a:cs typeface="经典粗黑简" pitchFamily="49" charset="-122"/>
              </a:rPr>
              <a:t>数据域</a:t>
            </a:r>
          </a:p>
        </p:txBody>
      </p:sp>
      <p:sp>
        <p:nvSpPr>
          <p:cNvPr id="56" name="Rectangle 10"/>
          <p:cNvSpPr>
            <a:spLocks noChangeArrowheads="1"/>
          </p:cNvSpPr>
          <p:nvPr/>
        </p:nvSpPr>
        <p:spPr bwMode="auto">
          <a:xfrm>
            <a:off x="6657250" y="3939902"/>
            <a:ext cx="1083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r>
              <a:rPr lang="zh-CN" altLang="en-US" dirty="0">
                <a:latin typeface="微软雅黑" pitchFamily="34" charset="-122"/>
                <a:ea typeface="微软雅黑" pitchFamily="34" charset="-122"/>
                <a:cs typeface="经典粗黑简" pitchFamily="49" charset="-122"/>
              </a:rPr>
              <a:t>指针域</a:t>
            </a:r>
          </a:p>
        </p:txBody>
      </p:sp>
      <p:grpSp>
        <p:nvGrpSpPr>
          <p:cNvPr id="57" name="Group 20"/>
          <p:cNvGrpSpPr>
            <a:grpSpLocks/>
          </p:cNvGrpSpPr>
          <p:nvPr/>
        </p:nvGrpSpPr>
        <p:grpSpPr bwMode="auto">
          <a:xfrm>
            <a:off x="4541204" y="3939590"/>
            <a:ext cx="1757371" cy="285750"/>
            <a:chOff x="1008" y="2784"/>
            <a:chExt cx="1392" cy="240"/>
          </a:xfrm>
        </p:grpSpPr>
        <p:sp>
          <p:nvSpPr>
            <p:cNvPr id="66" name="Rectangle 4"/>
            <p:cNvSpPr>
              <a:spLocks noChangeArrowheads="1"/>
            </p:cNvSpPr>
            <p:nvPr/>
          </p:nvSpPr>
          <p:spPr bwMode="auto">
            <a:xfrm>
              <a:off x="1008" y="2784"/>
              <a:ext cx="720" cy="240"/>
            </a:xfrm>
            <a:prstGeom prst="rect">
              <a:avLst/>
            </a:prstGeom>
            <a:noFill/>
            <a:ln w="9525">
              <a:solidFill>
                <a:schemeClr val="tx1"/>
              </a:solidFill>
              <a:miter lim="800000"/>
              <a:headEnd/>
              <a:tailEnd/>
            </a:ln>
          </p:spPr>
          <p:txBody>
            <a:bodyPr wrap="none" anchor="ctr"/>
            <a:lstStyle/>
            <a:p>
              <a:r>
                <a:rPr lang="en-US" altLang="zh-CN" sz="2400" dirty="0">
                  <a:latin typeface="微软雅黑" pitchFamily="34" charset="-122"/>
                  <a:ea typeface="微软雅黑" pitchFamily="34" charset="-122"/>
                </a:rPr>
                <a:t>data</a:t>
              </a:r>
            </a:p>
          </p:txBody>
        </p:sp>
        <p:sp>
          <p:nvSpPr>
            <p:cNvPr id="67" name="Rectangle 5"/>
            <p:cNvSpPr>
              <a:spLocks noChangeArrowheads="1"/>
            </p:cNvSpPr>
            <p:nvPr/>
          </p:nvSpPr>
          <p:spPr bwMode="auto">
            <a:xfrm>
              <a:off x="1728" y="2784"/>
              <a:ext cx="672" cy="240"/>
            </a:xfrm>
            <a:prstGeom prst="rect">
              <a:avLst/>
            </a:prstGeom>
            <a:noFill/>
            <a:ln w="9525">
              <a:solidFill>
                <a:schemeClr val="tx1"/>
              </a:solidFill>
              <a:miter lim="800000"/>
              <a:headEnd/>
              <a:tailEnd/>
            </a:ln>
          </p:spPr>
          <p:txBody>
            <a:bodyPr wrap="none" anchor="ctr"/>
            <a:lstStyle/>
            <a:p>
              <a:r>
                <a:rPr lang="en-US" altLang="zh-CN" sz="2400" dirty="0">
                  <a:latin typeface="微软雅黑" pitchFamily="34" charset="-122"/>
                  <a:ea typeface="微软雅黑" pitchFamily="34" charset="-122"/>
                </a:rPr>
                <a:t>next</a:t>
              </a:r>
            </a:p>
          </p:txBody>
        </p:sp>
      </p:grpSp>
      <p:grpSp>
        <p:nvGrpSpPr>
          <p:cNvPr id="58" name="Group 31"/>
          <p:cNvGrpSpPr>
            <a:grpSpLocks/>
          </p:cNvGrpSpPr>
          <p:nvPr/>
        </p:nvGrpSpPr>
        <p:grpSpPr bwMode="auto">
          <a:xfrm>
            <a:off x="7884045" y="3708609"/>
            <a:ext cx="910721" cy="567929"/>
            <a:chOff x="3560" y="2296"/>
            <a:chExt cx="597" cy="477"/>
          </a:xfrm>
        </p:grpSpPr>
        <p:sp>
          <p:nvSpPr>
            <p:cNvPr id="64" name="Rectangle 14"/>
            <p:cNvSpPr>
              <a:spLocks noChangeArrowheads="1"/>
            </p:cNvSpPr>
            <p:nvPr/>
          </p:nvSpPr>
          <p:spPr bwMode="auto">
            <a:xfrm>
              <a:off x="3560" y="2533"/>
              <a:ext cx="597" cy="240"/>
            </a:xfrm>
            <a:prstGeom prst="rect">
              <a:avLst/>
            </a:prstGeom>
            <a:noFill/>
            <a:ln w="9525">
              <a:solidFill>
                <a:schemeClr val="tx1"/>
              </a:solidFill>
              <a:miter lim="800000"/>
              <a:headEnd/>
              <a:tailEnd/>
            </a:ln>
          </p:spPr>
          <p:txBody>
            <a:bodyPr wrap="none" anchor="ctr"/>
            <a:lstStyle/>
            <a:p>
              <a:r>
                <a:rPr lang="en-US" altLang="zh-CN" sz="2400" dirty="0">
                  <a:latin typeface="微软雅黑" pitchFamily="34" charset="-122"/>
                  <a:ea typeface="微软雅黑" pitchFamily="34" charset="-122"/>
                </a:rPr>
                <a:t>next</a:t>
              </a:r>
            </a:p>
          </p:txBody>
        </p:sp>
        <p:sp>
          <p:nvSpPr>
            <p:cNvPr id="65" name="Rectangle 15"/>
            <p:cNvSpPr>
              <a:spLocks noChangeArrowheads="1"/>
            </p:cNvSpPr>
            <p:nvPr/>
          </p:nvSpPr>
          <p:spPr bwMode="auto">
            <a:xfrm>
              <a:off x="3560" y="2296"/>
              <a:ext cx="597" cy="240"/>
            </a:xfrm>
            <a:prstGeom prst="rect">
              <a:avLst/>
            </a:prstGeom>
            <a:noFill/>
            <a:ln w="9525">
              <a:solidFill>
                <a:schemeClr val="tx1"/>
              </a:solidFill>
              <a:miter lim="800000"/>
              <a:headEnd/>
              <a:tailEnd/>
            </a:ln>
          </p:spPr>
          <p:txBody>
            <a:bodyPr wrap="none" anchor="ctr"/>
            <a:lstStyle/>
            <a:p>
              <a:r>
                <a:rPr lang="en-US" altLang="zh-CN" sz="2400" dirty="0">
                  <a:latin typeface="微软雅黑" pitchFamily="34" charset="-122"/>
                  <a:ea typeface="微软雅黑" pitchFamily="34" charset="-122"/>
                </a:rPr>
                <a:t>data</a:t>
              </a:r>
            </a:p>
          </p:txBody>
        </p:sp>
      </p:grpSp>
      <p:sp>
        <p:nvSpPr>
          <p:cNvPr id="59" name="Line 30"/>
          <p:cNvSpPr>
            <a:spLocks noChangeShapeType="1"/>
          </p:cNvSpPr>
          <p:nvPr/>
        </p:nvSpPr>
        <p:spPr bwMode="auto">
          <a:xfrm>
            <a:off x="7572843" y="4140806"/>
            <a:ext cx="31120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 name="Line 32"/>
          <p:cNvSpPr>
            <a:spLocks noChangeShapeType="1"/>
          </p:cNvSpPr>
          <p:nvPr/>
        </p:nvSpPr>
        <p:spPr bwMode="auto">
          <a:xfrm flipH="1">
            <a:off x="6341289" y="4156284"/>
            <a:ext cx="21746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 name="Line 33"/>
          <p:cNvSpPr>
            <a:spLocks noChangeShapeType="1"/>
          </p:cNvSpPr>
          <p:nvPr/>
        </p:nvSpPr>
        <p:spPr bwMode="auto">
          <a:xfrm>
            <a:off x="7572843" y="3816956"/>
            <a:ext cx="31120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Line 34"/>
          <p:cNvSpPr>
            <a:spLocks noChangeShapeType="1"/>
          </p:cNvSpPr>
          <p:nvPr/>
        </p:nvSpPr>
        <p:spPr bwMode="auto">
          <a:xfrm>
            <a:off x="5302425" y="3801478"/>
            <a:ext cx="0" cy="13811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Line 35"/>
          <p:cNvSpPr>
            <a:spLocks noChangeShapeType="1"/>
          </p:cNvSpPr>
          <p:nvPr/>
        </p:nvSpPr>
        <p:spPr bwMode="auto">
          <a:xfrm>
            <a:off x="5302426" y="3801478"/>
            <a:ext cx="128929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矩形 53"/>
          <p:cNvSpPr/>
          <p:nvPr/>
        </p:nvSpPr>
        <p:spPr>
          <a:xfrm>
            <a:off x="195716" y="892085"/>
            <a:ext cx="648724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2.3.1 </a:t>
            </a:r>
            <a:r>
              <a:rPr lang="zh-CN" altLang="en-US" sz="2800" b="1" dirty="0">
                <a:solidFill>
                  <a:schemeClr val="bg1"/>
                </a:solidFill>
                <a:latin typeface="经典粗黑简" pitchFamily="49" charset="-122"/>
                <a:ea typeface="经典粗黑简" pitchFamily="49" charset="-122"/>
                <a:cs typeface="经典粗黑简" pitchFamily="49" charset="-122"/>
              </a:rPr>
              <a:t>线性表的链式存储结构</a:t>
            </a:r>
            <a:r>
              <a:rPr lang="en-US" altLang="zh-CN" sz="2800" b="1" dirty="0">
                <a:solidFill>
                  <a:schemeClr val="bg1"/>
                </a:solidFill>
                <a:latin typeface="经典粗黑简" pitchFamily="49" charset="-122"/>
                <a:ea typeface="经典粗黑简" pitchFamily="49" charset="-122"/>
                <a:cs typeface="经典粗黑简" pitchFamily="49" charset="-122"/>
              </a:rPr>
              <a:t>——</a:t>
            </a:r>
            <a:r>
              <a:rPr lang="zh-CN" altLang="en-US" sz="2800" b="1" dirty="0">
                <a:solidFill>
                  <a:schemeClr val="bg1"/>
                </a:solidFill>
                <a:latin typeface="经典粗黑简" pitchFamily="49" charset="-122"/>
                <a:ea typeface="经典粗黑简" pitchFamily="49" charset="-122"/>
                <a:cs typeface="经典粗黑简" pitchFamily="49" charset="-122"/>
              </a:rPr>
              <a:t>链表</a:t>
            </a:r>
          </a:p>
        </p:txBody>
      </p:sp>
      <p:cxnSp>
        <p:nvCxnSpPr>
          <p:cNvPr id="69" name="直接连接符 68"/>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01AF50DC-54C3-3D96-1579-7C258EA234A3}"/>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Tree>
    <p:extLst>
      <p:ext uri="{BB962C8B-B14F-4D97-AF65-F5344CB8AC3E}">
        <p14:creationId xmlns:p14="http://schemas.microsoft.com/office/powerpoint/2010/main" val="4271764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animBg="1"/>
      <p:bldP spid="22" grpId="0" animBg="1"/>
      <p:bldP spid="23" grpId="0" animBg="1"/>
      <p:bldP spid="24" grpId="0"/>
      <p:bldP spid="27" grpId="0"/>
      <p:bldP spid="28" grpId="0" animBg="1"/>
      <p:bldP spid="29" grpId="0" animBg="1"/>
      <p:bldP spid="30" grpId="0" animBg="1"/>
      <p:bldP spid="31" grpId="0" animBg="1"/>
      <p:bldP spid="34" grpId="0" animBg="1"/>
      <p:bldP spid="35" grpId="0" animBg="1"/>
      <p:bldP spid="36" grpId="0" animBg="1"/>
      <p:bldP spid="37" grpId="0" animBg="1"/>
      <p:bldP spid="41" grpId="0" animBg="1"/>
      <p:bldP spid="43" grpId="0" animBg="1"/>
      <p:bldP spid="44" grpId="0" animBg="1"/>
      <p:bldP spid="45" grpId="0" animBg="1"/>
      <p:bldP spid="46" grpId="0"/>
      <p:bldP spid="47" grpId="0"/>
      <p:bldP spid="48" grpId="0"/>
      <p:bldP spid="49" grpId="0"/>
      <p:bldP spid="50" grpId="0" animBg="1"/>
      <p:bldP spid="51" grpId="0"/>
      <p:bldP spid="52" grpId="0" animBg="1"/>
      <p:bldP spid="53" grpId="0"/>
      <p:bldP spid="55" grpId="0"/>
      <p:bldP spid="56" grpId="0"/>
      <p:bldP spid="59" grpId="0" animBg="1"/>
      <p:bldP spid="60" grpId="0" animBg="1"/>
      <p:bldP spid="61" grpId="0" animBg="1"/>
      <p:bldP spid="62" grpId="0" animBg="1"/>
      <p:bldP spid="6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5233156" y="2543879"/>
            <a:ext cx="1211052"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逻辑结构</a:t>
            </a:r>
          </a:p>
        </p:txBody>
      </p:sp>
      <p:sp>
        <p:nvSpPr>
          <p:cNvPr id="15" name="矩形 14"/>
          <p:cNvSpPr/>
          <p:nvPr/>
        </p:nvSpPr>
        <p:spPr>
          <a:xfrm>
            <a:off x="5233157" y="3297781"/>
            <a:ext cx="1278631"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物理结构</a:t>
            </a:r>
          </a:p>
        </p:txBody>
      </p:sp>
      <p:sp>
        <p:nvSpPr>
          <p:cNvPr id="16" name="矩形 15"/>
          <p:cNvSpPr/>
          <p:nvPr/>
        </p:nvSpPr>
        <p:spPr>
          <a:xfrm>
            <a:off x="2722274" y="2019611"/>
            <a:ext cx="6026191" cy="480131"/>
          </a:xfrm>
          <a:prstGeom prst="rect">
            <a:avLst/>
          </a:prstGeom>
        </p:spPr>
        <p:txBody>
          <a:bodyPr wrap="square">
            <a:spAutoFit/>
          </a:bodyPr>
          <a:lstStyle/>
          <a:p>
            <a:pPr lvl="1">
              <a:lnSpc>
                <a:spcPct val="90000"/>
              </a:lnSpc>
            </a:pPr>
            <a:r>
              <a:rPr lang="zh-CN" altLang="en-US" sz="2800" dirty="0">
                <a:latin typeface="微软雅黑" pitchFamily="34" charset="-122"/>
                <a:ea typeface="微软雅黑" pitchFamily="34" charset="-122"/>
                <a:cs typeface="经典粗黑简" pitchFamily="49" charset="-122"/>
              </a:rPr>
              <a:t>(</a:t>
            </a:r>
            <a:r>
              <a:rPr lang="en-US" altLang="zh-CN" sz="2800" dirty="0">
                <a:latin typeface="微软雅黑" pitchFamily="34" charset="-122"/>
                <a:ea typeface="微软雅黑" pitchFamily="34" charset="-122"/>
                <a:cs typeface="经典粗黑简" pitchFamily="49" charset="-122"/>
              </a:rPr>
              <a:t>a</a:t>
            </a:r>
            <a:r>
              <a:rPr lang="en-US" altLang="zh-CN" sz="2800" baseline="-25000" dirty="0">
                <a:latin typeface="微软雅黑" pitchFamily="34" charset="-122"/>
                <a:ea typeface="微软雅黑" pitchFamily="34" charset="-122"/>
                <a:cs typeface="经典粗黑简" pitchFamily="49" charset="-122"/>
              </a:rPr>
              <a:t>1</a:t>
            </a:r>
            <a:r>
              <a:rPr lang="en-US" altLang="zh-CN" sz="2800" dirty="0">
                <a:latin typeface="微软雅黑" pitchFamily="34" charset="-122"/>
                <a:ea typeface="微软雅黑" pitchFamily="34" charset="-122"/>
                <a:cs typeface="经典粗黑简" pitchFamily="49" charset="-122"/>
              </a:rPr>
              <a:t>, a</a:t>
            </a:r>
            <a:r>
              <a:rPr lang="en-US" altLang="zh-CN" sz="2800" baseline="-25000" dirty="0">
                <a:latin typeface="微软雅黑" pitchFamily="34" charset="-122"/>
                <a:ea typeface="微软雅黑" pitchFamily="34" charset="-122"/>
                <a:cs typeface="经典粗黑简" pitchFamily="49" charset="-122"/>
              </a:rPr>
              <a:t>2</a:t>
            </a:r>
            <a:r>
              <a:rPr lang="en-US" altLang="zh-CN" sz="2800" dirty="0">
                <a:latin typeface="微软雅黑" pitchFamily="34" charset="-122"/>
                <a:ea typeface="微软雅黑" pitchFamily="34" charset="-122"/>
                <a:cs typeface="经典粗黑简" pitchFamily="49" charset="-122"/>
              </a:rPr>
              <a:t>, …, a</a:t>
            </a:r>
            <a:r>
              <a:rPr lang="en-US" altLang="zh-CN" sz="2800" baseline="-25000" dirty="0">
                <a:latin typeface="微软雅黑" pitchFamily="34" charset="-122"/>
                <a:ea typeface="微软雅黑" pitchFamily="34" charset="-122"/>
                <a:cs typeface="经典粗黑简" pitchFamily="49" charset="-122"/>
              </a:rPr>
              <a:t>i-1</a:t>
            </a:r>
            <a:r>
              <a:rPr lang="en-US" altLang="zh-CN" sz="2800" dirty="0">
                <a:latin typeface="微软雅黑" pitchFamily="34" charset="-122"/>
                <a:ea typeface="微软雅黑" pitchFamily="34" charset="-122"/>
                <a:cs typeface="经典粗黑简" pitchFamily="49" charset="-122"/>
              </a:rPr>
              <a:t>, </a:t>
            </a:r>
            <a:r>
              <a:rPr lang="en-US" altLang="zh-CN" sz="2800" dirty="0" err="1">
                <a:latin typeface="微软雅黑" pitchFamily="34" charset="-122"/>
                <a:ea typeface="微软雅黑" pitchFamily="34" charset="-122"/>
                <a:cs typeface="经典粗黑简" pitchFamily="49" charset="-122"/>
              </a:rPr>
              <a:t>a</a:t>
            </a:r>
            <a:r>
              <a:rPr lang="en-US" altLang="zh-CN" sz="2800" baseline="-25000" dirty="0" err="1">
                <a:latin typeface="微软雅黑" pitchFamily="34" charset="-122"/>
                <a:ea typeface="微软雅黑" pitchFamily="34" charset="-122"/>
                <a:cs typeface="经典粗黑简" pitchFamily="49" charset="-122"/>
              </a:rPr>
              <a:t>i</a:t>
            </a:r>
            <a:r>
              <a:rPr lang="en-US" altLang="zh-CN" sz="2800" dirty="0">
                <a:latin typeface="微软雅黑" pitchFamily="34" charset="-122"/>
                <a:ea typeface="微软雅黑" pitchFamily="34" charset="-122"/>
                <a:cs typeface="经典粗黑简" pitchFamily="49" charset="-122"/>
              </a:rPr>
              <a:t>, a</a:t>
            </a:r>
            <a:r>
              <a:rPr lang="en-US" altLang="zh-CN" sz="2800" baseline="-25000" dirty="0">
                <a:latin typeface="微软雅黑" pitchFamily="34" charset="-122"/>
                <a:ea typeface="微软雅黑" pitchFamily="34" charset="-122"/>
                <a:cs typeface="经典粗黑简" pitchFamily="49" charset="-122"/>
              </a:rPr>
              <a:t>i＋1</a:t>
            </a:r>
            <a:r>
              <a:rPr lang="en-US" altLang="zh-CN" sz="2800" dirty="0">
                <a:latin typeface="微软雅黑" pitchFamily="34" charset="-122"/>
                <a:ea typeface="微软雅黑" pitchFamily="34" charset="-122"/>
                <a:cs typeface="经典粗黑简" pitchFamily="49" charset="-122"/>
              </a:rPr>
              <a:t>, …, a</a:t>
            </a:r>
            <a:r>
              <a:rPr lang="en-US" altLang="zh-CN" sz="2800" baseline="-25000" dirty="0">
                <a:latin typeface="微软雅黑" pitchFamily="34" charset="-122"/>
                <a:ea typeface="微软雅黑" pitchFamily="34" charset="-122"/>
                <a:cs typeface="经典粗黑简" pitchFamily="49" charset="-122"/>
              </a:rPr>
              <a:t>n</a:t>
            </a:r>
            <a:r>
              <a:rPr lang="en-US" altLang="zh-CN" sz="2800" dirty="0">
                <a:latin typeface="微软雅黑" pitchFamily="34" charset="-122"/>
                <a:ea typeface="微软雅黑" pitchFamily="34" charset="-122"/>
                <a:cs typeface="经典粗黑简" pitchFamily="49" charset="-122"/>
              </a:rPr>
              <a:t>)</a:t>
            </a:r>
          </a:p>
        </p:txBody>
      </p:sp>
      <p:sp>
        <p:nvSpPr>
          <p:cNvPr id="17" name="左大括号 16"/>
          <p:cNvSpPr/>
          <p:nvPr/>
        </p:nvSpPr>
        <p:spPr>
          <a:xfrm rot="16200000">
            <a:off x="5540044" y="293585"/>
            <a:ext cx="162095" cy="438254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Rectangle 5"/>
          <p:cNvSpPr>
            <a:spLocks noChangeArrowheads="1"/>
          </p:cNvSpPr>
          <p:nvPr/>
        </p:nvSpPr>
        <p:spPr bwMode="auto">
          <a:xfrm>
            <a:off x="2425781" y="284178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23" name="Line 6"/>
          <p:cNvSpPr>
            <a:spLocks noChangeShapeType="1"/>
          </p:cNvSpPr>
          <p:nvPr/>
        </p:nvSpPr>
        <p:spPr bwMode="auto">
          <a:xfrm>
            <a:off x="2959181" y="284178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Rectangle 25"/>
          <p:cNvSpPr>
            <a:spLocks noChangeArrowheads="1"/>
          </p:cNvSpPr>
          <p:nvPr/>
        </p:nvSpPr>
        <p:spPr bwMode="auto">
          <a:xfrm>
            <a:off x="4589666" y="291574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7" name="Rectangle 36"/>
          <p:cNvSpPr>
            <a:spLocks noChangeArrowheads="1"/>
          </p:cNvSpPr>
          <p:nvPr/>
        </p:nvSpPr>
        <p:spPr bwMode="auto">
          <a:xfrm>
            <a:off x="6348254" y="290588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8" name="Line 29"/>
          <p:cNvSpPr>
            <a:spLocks noChangeShapeType="1"/>
          </p:cNvSpPr>
          <p:nvPr/>
        </p:nvSpPr>
        <p:spPr bwMode="auto">
          <a:xfrm>
            <a:off x="2044781" y="3095953"/>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Rectangle 5"/>
          <p:cNvSpPr>
            <a:spLocks noChangeArrowheads="1"/>
          </p:cNvSpPr>
          <p:nvPr/>
        </p:nvSpPr>
        <p:spPr bwMode="auto">
          <a:xfrm>
            <a:off x="3601438" y="284715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30" name="Line 6"/>
          <p:cNvSpPr>
            <a:spLocks noChangeShapeType="1"/>
          </p:cNvSpPr>
          <p:nvPr/>
        </p:nvSpPr>
        <p:spPr bwMode="auto">
          <a:xfrm>
            <a:off x="4134838" y="284715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9"/>
          <p:cNvSpPr>
            <a:spLocks noChangeShapeType="1"/>
          </p:cNvSpPr>
          <p:nvPr/>
        </p:nvSpPr>
        <p:spPr bwMode="auto">
          <a:xfrm>
            <a:off x="3220438" y="310132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Line 29"/>
          <p:cNvSpPr>
            <a:spLocks noChangeShapeType="1"/>
          </p:cNvSpPr>
          <p:nvPr/>
        </p:nvSpPr>
        <p:spPr bwMode="auto">
          <a:xfrm>
            <a:off x="5001957" y="3092108"/>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a:off x="4325338" y="3098640"/>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 name="Rectangle 5"/>
          <p:cNvSpPr>
            <a:spLocks noChangeArrowheads="1"/>
          </p:cNvSpPr>
          <p:nvPr/>
        </p:nvSpPr>
        <p:spPr bwMode="auto">
          <a:xfrm>
            <a:off x="5218563" y="285718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37" name="Line 6"/>
          <p:cNvSpPr>
            <a:spLocks noChangeShapeType="1"/>
          </p:cNvSpPr>
          <p:nvPr/>
        </p:nvSpPr>
        <p:spPr bwMode="auto">
          <a:xfrm>
            <a:off x="5751963" y="285718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29"/>
          <p:cNvSpPr>
            <a:spLocks noChangeShapeType="1"/>
          </p:cNvSpPr>
          <p:nvPr/>
        </p:nvSpPr>
        <p:spPr bwMode="auto">
          <a:xfrm>
            <a:off x="5983271" y="311225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5"/>
          <p:cNvSpPr>
            <a:spLocks noChangeArrowheads="1"/>
          </p:cNvSpPr>
          <p:nvPr/>
        </p:nvSpPr>
        <p:spPr bwMode="auto">
          <a:xfrm>
            <a:off x="7063963" y="285888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44" name="Line 6"/>
          <p:cNvSpPr>
            <a:spLocks noChangeShapeType="1"/>
          </p:cNvSpPr>
          <p:nvPr/>
        </p:nvSpPr>
        <p:spPr bwMode="auto">
          <a:xfrm>
            <a:off x="7623490" y="285888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9"/>
          <p:cNvSpPr>
            <a:spLocks noChangeShapeType="1"/>
          </p:cNvSpPr>
          <p:nvPr/>
        </p:nvSpPr>
        <p:spPr bwMode="auto">
          <a:xfrm>
            <a:off x="6682963" y="3106529"/>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矩形 45"/>
          <p:cNvSpPr/>
          <p:nvPr/>
        </p:nvSpPr>
        <p:spPr>
          <a:xfrm>
            <a:off x="834833" y="1422453"/>
            <a:ext cx="8139358" cy="707886"/>
          </a:xfrm>
          <a:prstGeom prst="rect">
            <a:avLst/>
          </a:prstGeom>
        </p:spPr>
        <p:txBody>
          <a:bodyPr wrap="square">
            <a:spAutoFit/>
          </a:bodyPr>
          <a:lstStyle/>
          <a:p>
            <a:r>
              <a:rPr lang="zh-CN" altLang="zh-CN" sz="2000" dirty="0">
                <a:solidFill>
                  <a:srgbClr val="FF0000"/>
                </a:solidFill>
                <a:latin typeface="微软雅黑" pitchFamily="34" charset="-122"/>
                <a:ea typeface="微软雅黑" pitchFamily="34" charset="-122"/>
                <a:cs typeface="经典粗黑简" pitchFamily="49" charset="-122"/>
              </a:rPr>
              <a:t>链表</a:t>
            </a:r>
            <a:r>
              <a:rPr lang="zh-CN" altLang="en-US" sz="2000" dirty="0">
                <a:solidFill>
                  <a:srgbClr val="FF0000"/>
                </a:solidFill>
                <a:latin typeface="微软雅黑" pitchFamily="34" charset="-122"/>
                <a:ea typeface="微软雅黑" pitchFamily="34" charset="-122"/>
                <a:cs typeface="经典粗黑简" pitchFamily="49" charset="-122"/>
              </a:rPr>
              <a:t>（</a:t>
            </a:r>
            <a:r>
              <a:rPr lang="en-US" altLang="zh-CN" sz="2000" dirty="0">
                <a:solidFill>
                  <a:srgbClr val="FF0000"/>
                </a:solidFill>
                <a:latin typeface="微软雅黑" pitchFamily="34" charset="-122"/>
                <a:ea typeface="微软雅黑" pitchFamily="34" charset="-122"/>
                <a:cs typeface="经典粗黑简" pitchFamily="49" charset="-122"/>
              </a:rPr>
              <a:t>Link List</a:t>
            </a:r>
            <a:r>
              <a:rPr lang="zh-CN" altLang="en-US" sz="2000" dirty="0">
                <a:solidFill>
                  <a:srgbClr val="FF0000"/>
                </a:solidFill>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是指用</a:t>
            </a:r>
            <a:r>
              <a:rPr lang="zh-CN" altLang="zh-CN" sz="2000" dirty="0">
                <a:latin typeface="微软雅黑" pitchFamily="34" charset="-122"/>
                <a:ea typeface="微软雅黑" pitchFamily="34" charset="-122"/>
                <a:cs typeface="经典粗黑简" pitchFamily="49" charset="-122"/>
              </a:rPr>
              <a:t>链式存储结构</a:t>
            </a:r>
            <a:r>
              <a:rPr lang="zh-CN" altLang="en-US" sz="2000" dirty="0">
                <a:latin typeface="微软雅黑" pitchFamily="34" charset="-122"/>
                <a:ea typeface="微软雅黑" pitchFamily="34" charset="-122"/>
                <a:cs typeface="经典粗黑简" pitchFamily="49" charset="-122"/>
              </a:rPr>
              <a:t>表示的线性表，它用任意的存储单元存放线性表中的数据元素，数据元素之间的关系使用</a:t>
            </a:r>
            <a:r>
              <a:rPr lang="zh-CN" altLang="en-US" sz="2000" dirty="0">
                <a:solidFill>
                  <a:srgbClr val="FF0000"/>
                </a:solidFill>
                <a:latin typeface="微软雅黑" pitchFamily="34" charset="-122"/>
                <a:ea typeface="微软雅黑" pitchFamily="34" charset="-122"/>
                <a:cs typeface="经典粗黑简" pitchFamily="49" charset="-122"/>
              </a:rPr>
              <a:t>指针</a:t>
            </a:r>
            <a:r>
              <a:rPr lang="zh-CN" altLang="en-US" sz="2000" dirty="0">
                <a:latin typeface="微软雅黑" pitchFamily="34" charset="-122"/>
                <a:ea typeface="微软雅黑" pitchFamily="34" charset="-122"/>
                <a:cs typeface="经典粗黑简" pitchFamily="49" charset="-122"/>
              </a:rPr>
              <a:t>来表示。</a:t>
            </a:r>
          </a:p>
        </p:txBody>
      </p:sp>
      <p:sp>
        <p:nvSpPr>
          <p:cNvPr id="47" name="矩形 46"/>
          <p:cNvSpPr/>
          <p:nvPr/>
        </p:nvSpPr>
        <p:spPr>
          <a:xfrm>
            <a:off x="1672558" y="2063375"/>
            <a:ext cx="1210588" cy="400110"/>
          </a:xfrm>
          <a:prstGeom prst="rect">
            <a:avLst/>
          </a:prstGeom>
        </p:spPr>
        <p:txBody>
          <a:bodyPr wrap="none">
            <a:spAutoFit/>
          </a:bodyPr>
          <a:lstStyle/>
          <a:p>
            <a:r>
              <a:rPr lang="zh-CN" altLang="en-US" sz="2000" dirty="0">
                <a:latin typeface="微软雅黑" pitchFamily="34" charset="-122"/>
                <a:ea typeface="微软雅黑" pitchFamily="34" charset="-122"/>
                <a:cs typeface="经典粗黑简" pitchFamily="49" charset="-122"/>
              </a:rPr>
              <a:t>线性表：</a:t>
            </a:r>
          </a:p>
        </p:txBody>
      </p:sp>
      <p:sp>
        <p:nvSpPr>
          <p:cNvPr id="48" name="矩形 47"/>
          <p:cNvSpPr/>
          <p:nvPr/>
        </p:nvSpPr>
        <p:spPr>
          <a:xfrm>
            <a:off x="1280390" y="2890747"/>
            <a:ext cx="833882" cy="400110"/>
          </a:xfrm>
          <a:prstGeom prst="rect">
            <a:avLst/>
          </a:prstGeom>
        </p:spPr>
        <p:txBody>
          <a:bodyPr wrap="none">
            <a:spAutoFit/>
          </a:bodyPr>
          <a:lstStyle/>
          <a:p>
            <a:pPr algn="r"/>
            <a:r>
              <a:rPr lang="en-US" altLang="zh-CN" sz="2000" dirty="0">
                <a:latin typeface="微软雅黑" pitchFamily="34" charset="-122"/>
                <a:ea typeface="微软雅黑" pitchFamily="34" charset="-122"/>
              </a:rPr>
              <a:t>Head</a:t>
            </a:r>
          </a:p>
        </p:txBody>
      </p:sp>
      <p:sp>
        <p:nvSpPr>
          <p:cNvPr id="54" name="矩形 53"/>
          <p:cNvSpPr/>
          <p:nvPr/>
        </p:nvSpPr>
        <p:spPr>
          <a:xfrm>
            <a:off x="370476" y="3294271"/>
            <a:ext cx="2055306" cy="400110"/>
          </a:xfrm>
          <a:prstGeom prst="rect">
            <a:avLst/>
          </a:prstGeom>
        </p:spPr>
        <p:txBody>
          <a:bodyPr wrap="square">
            <a:spAutoFit/>
          </a:bodyPr>
          <a:lstStyle/>
          <a:p>
            <a:pPr>
              <a:spcBef>
                <a:spcPts val="13"/>
              </a:spcBef>
            </a:pPr>
            <a:r>
              <a:rPr lang="zh-CN" altLang="en-US" sz="2000" dirty="0">
                <a:latin typeface="微软雅黑" pitchFamily="34" charset="-122"/>
                <a:ea typeface="微软雅黑" pitchFamily="34" charset="-122"/>
                <a:cs typeface="经典粗黑简" pitchFamily="49" charset="-122"/>
              </a:rPr>
              <a:t>链式</a:t>
            </a:r>
            <a:r>
              <a:rPr lang="zh-CN" altLang="zh-CN" sz="2000" dirty="0">
                <a:latin typeface="微软雅黑" pitchFamily="34" charset="-122"/>
                <a:ea typeface="微软雅黑" pitchFamily="34" charset="-122"/>
                <a:cs typeface="经典粗黑简" pitchFamily="49" charset="-122"/>
              </a:rPr>
              <a:t>存储</a:t>
            </a:r>
            <a:r>
              <a:rPr lang="zh-CN" altLang="en-US" sz="2000" dirty="0">
                <a:latin typeface="微软雅黑" pitchFamily="34" charset="-122"/>
                <a:ea typeface="微软雅黑" pitchFamily="34" charset="-122"/>
                <a:cs typeface="经典粗黑简" pitchFamily="49" charset="-122"/>
              </a:rPr>
              <a:t>的特点：</a:t>
            </a:r>
            <a:endParaRPr lang="en-US" altLang="zh-CN" sz="2000" dirty="0">
              <a:latin typeface="微软雅黑" pitchFamily="34" charset="-122"/>
              <a:ea typeface="微软雅黑" pitchFamily="34" charset="-122"/>
              <a:cs typeface="经典粗黑简" pitchFamily="49" charset="-122"/>
            </a:endParaRPr>
          </a:p>
        </p:txBody>
      </p:sp>
      <p:sp>
        <p:nvSpPr>
          <p:cNvPr id="68" name="矩形 67"/>
          <p:cNvSpPr/>
          <p:nvPr/>
        </p:nvSpPr>
        <p:spPr>
          <a:xfrm>
            <a:off x="1000046" y="3595284"/>
            <a:ext cx="4859545" cy="400110"/>
          </a:xfrm>
          <a:prstGeom prst="rect">
            <a:avLst/>
          </a:prstGeom>
        </p:spPr>
        <p:txBody>
          <a:bodyPr wrap="square">
            <a:spAutoFit/>
          </a:bodyPr>
          <a:lstStyle/>
          <a:p>
            <a:pPr>
              <a:spcBef>
                <a:spcPts val="13"/>
              </a:spcBef>
            </a:pPr>
            <a:r>
              <a:rPr lang="zh-CN" altLang="en-US" sz="2000" dirty="0">
                <a:latin typeface="微软雅黑" pitchFamily="34" charset="-122"/>
                <a:ea typeface="微软雅黑" pitchFamily="34" charset="-122"/>
                <a:cs typeface="经典粗黑简" pitchFamily="49" charset="-122"/>
              </a:rPr>
              <a:t>①、存储空间的存储单元地址不要求连续；</a:t>
            </a:r>
            <a:endParaRPr lang="en-US" altLang="zh-CN" sz="2000" dirty="0">
              <a:latin typeface="微软雅黑" pitchFamily="34" charset="-122"/>
              <a:ea typeface="微软雅黑" pitchFamily="34" charset="-122"/>
              <a:cs typeface="经典粗黑简" pitchFamily="49" charset="-122"/>
            </a:endParaRPr>
          </a:p>
        </p:txBody>
      </p:sp>
      <p:sp>
        <p:nvSpPr>
          <p:cNvPr id="69" name="矩形 68"/>
          <p:cNvSpPr/>
          <p:nvPr/>
        </p:nvSpPr>
        <p:spPr>
          <a:xfrm>
            <a:off x="990503" y="3952096"/>
            <a:ext cx="7983689" cy="707886"/>
          </a:xfrm>
          <a:prstGeom prst="rect">
            <a:avLst/>
          </a:prstGeom>
        </p:spPr>
        <p:txBody>
          <a:bodyPr wrap="square">
            <a:spAutoFit/>
          </a:bodyPr>
          <a:lstStyle/>
          <a:p>
            <a:pPr>
              <a:spcBef>
                <a:spcPts val="13"/>
              </a:spcBef>
            </a:pPr>
            <a:r>
              <a:rPr lang="zh-CN" altLang="en-US" sz="2000" dirty="0">
                <a:latin typeface="微软雅黑" pitchFamily="34" charset="-122"/>
                <a:ea typeface="微软雅黑" pitchFamily="34" charset="-122"/>
                <a:cs typeface="经典粗黑简" pitchFamily="49" charset="-122"/>
              </a:rPr>
              <a:t>②、通过指针表示</a:t>
            </a:r>
            <a:r>
              <a:rPr lang="zh-CN" altLang="zh-CN" sz="2000" dirty="0">
                <a:latin typeface="微软雅黑" pitchFamily="34" charset="-122"/>
                <a:ea typeface="微软雅黑" pitchFamily="34" charset="-122"/>
                <a:cs typeface="经典粗黑简" pitchFamily="49" charset="-122"/>
              </a:rPr>
              <a:t>逻辑关系</a:t>
            </a:r>
            <a:r>
              <a:rPr lang="zh-CN" altLang="en-US" sz="2000" dirty="0">
                <a:latin typeface="微软雅黑" pitchFamily="34" charset="-122"/>
                <a:ea typeface="微软雅黑" pitchFamily="34" charset="-122"/>
                <a:cs typeface="经典粗黑简" pitchFamily="49" charset="-122"/>
              </a:rPr>
              <a:t>，逻辑上相邻的数据元素其物理存储位置一般不相邻；</a:t>
            </a:r>
            <a:endParaRPr lang="en-US" altLang="zh-CN" sz="2000" dirty="0">
              <a:latin typeface="微软雅黑" pitchFamily="34" charset="-122"/>
              <a:ea typeface="微软雅黑" pitchFamily="34" charset="-122"/>
              <a:cs typeface="经典粗黑简" pitchFamily="49" charset="-122"/>
            </a:endParaRPr>
          </a:p>
        </p:txBody>
      </p:sp>
      <p:sp>
        <p:nvSpPr>
          <p:cNvPr id="70" name="矩形 69"/>
          <p:cNvSpPr/>
          <p:nvPr/>
        </p:nvSpPr>
        <p:spPr>
          <a:xfrm>
            <a:off x="990502" y="4547904"/>
            <a:ext cx="4179470" cy="400110"/>
          </a:xfrm>
          <a:prstGeom prst="rect">
            <a:avLst/>
          </a:prstGeom>
        </p:spPr>
        <p:txBody>
          <a:bodyPr wrap="square">
            <a:spAutoFit/>
          </a:bodyPr>
          <a:lstStyle/>
          <a:p>
            <a:pPr>
              <a:spcBef>
                <a:spcPts val="13"/>
              </a:spcBef>
            </a:pPr>
            <a:r>
              <a:rPr lang="zh-CN" altLang="en-US" sz="2000" dirty="0">
                <a:latin typeface="微软雅黑" pitchFamily="34" charset="-122"/>
                <a:ea typeface="微软雅黑" pitchFamily="34" charset="-122"/>
                <a:cs typeface="经典粗黑简" pitchFamily="49" charset="-122"/>
              </a:rPr>
              <a:t>③、只能顺序存取，不能随机存取；</a:t>
            </a:r>
          </a:p>
        </p:txBody>
      </p:sp>
      <p:cxnSp>
        <p:nvCxnSpPr>
          <p:cNvPr id="38" name="直接连接符 37"/>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6E9A95FC-0749-E722-44A2-D56F834F5A90}"/>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5" name="矩形 4">
            <a:extLst>
              <a:ext uri="{FF2B5EF4-FFF2-40B4-BE49-F238E27FC236}">
                <a16:creationId xmlns:a16="http://schemas.microsoft.com/office/drawing/2014/main" id="{EB45CB2C-46A7-44E0-579E-2CED2B97D92E}"/>
              </a:ext>
            </a:extLst>
          </p:cNvPr>
          <p:cNvSpPr/>
          <p:nvPr/>
        </p:nvSpPr>
        <p:spPr>
          <a:xfrm>
            <a:off x="195716" y="892085"/>
            <a:ext cx="648724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2.3.1 </a:t>
            </a:r>
            <a:r>
              <a:rPr lang="zh-CN" altLang="en-US" sz="2800" b="1" dirty="0">
                <a:solidFill>
                  <a:schemeClr val="bg1"/>
                </a:solidFill>
                <a:latin typeface="经典粗黑简" pitchFamily="49" charset="-122"/>
                <a:ea typeface="经典粗黑简" pitchFamily="49" charset="-122"/>
                <a:cs typeface="经典粗黑简" pitchFamily="49" charset="-122"/>
              </a:rPr>
              <a:t>线性表的链式存储结构</a:t>
            </a:r>
            <a:r>
              <a:rPr lang="en-US" altLang="zh-CN" sz="2800" b="1" dirty="0">
                <a:solidFill>
                  <a:schemeClr val="bg1"/>
                </a:solidFill>
                <a:latin typeface="经典粗黑简" pitchFamily="49" charset="-122"/>
                <a:ea typeface="经典粗黑简" pitchFamily="49" charset="-122"/>
                <a:cs typeface="经典粗黑简" pitchFamily="49" charset="-122"/>
              </a:rPr>
              <a:t>——</a:t>
            </a:r>
            <a:r>
              <a:rPr lang="zh-CN" altLang="en-US" sz="2800" b="1" dirty="0">
                <a:solidFill>
                  <a:schemeClr val="bg1"/>
                </a:solidFill>
                <a:latin typeface="经典粗黑简" pitchFamily="49" charset="-122"/>
                <a:ea typeface="经典粗黑简" pitchFamily="49" charset="-122"/>
                <a:cs typeface="经典粗黑简" pitchFamily="49" charset="-122"/>
              </a:rPr>
              <a:t>链表</a:t>
            </a:r>
          </a:p>
        </p:txBody>
      </p:sp>
    </p:spTree>
    <p:extLst>
      <p:ext uri="{BB962C8B-B14F-4D97-AF65-F5344CB8AC3E}">
        <p14:creationId xmlns:p14="http://schemas.microsoft.com/office/powerpoint/2010/main" val="3677461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4379280" y="2704594"/>
            <a:ext cx="1482408"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逻辑结构</a:t>
            </a:r>
          </a:p>
        </p:txBody>
      </p:sp>
      <p:sp>
        <p:nvSpPr>
          <p:cNvPr id="33" name="矩形 32"/>
          <p:cNvSpPr/>
          <p:nvPr/>
        </p:nvSpPr>
        <p:spPr>
          <a:xfrm>
            <a:off x="2248226" y="2085697"/>
            <a:ext cx="6140198" cy="480131"/>
          </a:xfrm>
          <a:prstGeom prst="rect">
            <a:avLst/>
          </a:prstGeom>
        </p:spPr>
        <p:txBody>
          <a:bodyPr wrap="square">
            <a:spAutoFit/>
          </a:bodyPr>
          <a:lstStyle/>
          <a:p>
            <a:pPr lvl="1">
              <a:lnSpc>
                <a:spcPct val="90000"/>
              </a:lnSpc>
            </a:pPr>
            <a:r>
              <a:rPr lang="zh-CN" altLang="en-US" sz="2800" dirty="0">
                <a:latin typeface="微软雅黑" pitchFamily="34" charset="-122"/>
                <a:ea typeface="微软雅黑" pitchFamily="34" charset="-122"/>
                <a:cs typeface="经典粗黑简" pitchFamily="49" charset="-122"/>
              </a:rPr>
              <a:t>(</a:t>
            </a:r>
            <a:r>
              <a:rPr lang="en-US" altLang="zh-CN" sz="2800" dirty="0">
                <a:latin typeface="微软雅黑" pitchFamily="34" charset="-122"/>
                <a:ea typeface="微软雅黑" pitchFamily="34" charset="-122"/>
                <a:cs typeface="经典粗黑简" pitchFamily="49" charset="-122"/>
              </a:rPr>
              <a:t>a</a:t>
            </a:r>
            <a:r>
              <a:rPr lang="en-US" altLang="zh-CN" sz="2800" baseline="-25000" dirty="0">
                <a:latin typeface="微软雅黑" pitchFamily="34" charset="-122"/>
                <a:ea typeface="微软雅黑" pitchFamily="34" charset="-122"/>
                <a:cs typeface="经典粗黑简" pitchFamily="49" charset="-122"/>
              </a:rPr>
              <a:t>1</a:t>
            </a:r>
            <a:r>
              <a:rPr lang="en-US" altLang="zh-CN" sz="2800" dirty="0">
                <a:latin typeface="微软雅黑" pitchFamily="34" charset="-122"/>
                <a:ea typeface="微软雅黑" pitchFamily="34" charset="-122"/>
                <a:cs typeface="经典粗黑简" pitchFamily="49" charset="-122"/>
              </a:rPr>
              <a:t>, a</a:t>
            </a:r>
            <a:r>
              <a:rPr lang="en-US" altLang="zh-CN" sz="2800" baseline="-25000" dirty="0">
                <a:latin typeface="微软雅黑" pitchFamily="34" charset="-122"/>
                <a:ea typeface="微软雅黑" pitchFamily="34" charset="-122"/>
                <a:cs typeface="经典粗黑简" pitchFamily="49" charset="-122"/>
              </a:rPr>
              <a:t>2</a:t>
            </a:r>
            <a:r>
              <a:rPr lang="en-US" altLang="zh-CN" sz="2800" dirty="0">
                <a:latin typeface="微软雅黑" pitchFamily="34" charset="-122"/>
                <a:ea typeface="微软雅黑" pitchFamily="34" charset="-122"/>
                <a:cs typeface="经典粗黑简" pitchFamily="49" charset="-122"/>
              </a:rPr>
              <a:t>, …, a</a:t>
            </a:r>
            <a:r>
              <a:rPr lang="en-US" altLang="zh-CN" sz="2800" baseline="-25000" dirty="0">
                <a:latin typeface="微软雅黑" pitchFamily="34" charset="-122"/>
                <a:ea typeface="微软雅黑" pitchFamily="34" charset="-122"/>
                <a:cs typeface="经典粗黑简" pitchFamily="49" charset="-122"/>
              </a:rPr>
              <a:t>i-1</a:t>
            </a:r>
            <a:r>
              <a:rPr lang="en-US" altLang="zh-CN" sz="2800" dirty="0">
                <a:latin typeface="微软雅黑" pitchFamily="34" charset="-122"/>
                <a:ea typeface="微软雅黑" pitchFamily="34" charset="-122"/>
                <a:cs typeface="经典粗黑简" pitchFamily="49" charset="-122"/>
              </a:rPr>
              <a:t>, </a:t>
            </a:r>
            <a:r>
              <a:rPr lang="en-US" altLang="zh-CN" sz="2800" dirty="0" err="1">
                <a:latin typeface="微软雅黑" pitchFamily="34" charset="-122"/>
                <a:ea typeface="微软雅黑" pitchFamily="34" charset="-122"/>
                <a:cs typeface="经典粗黑简" pitchFamily="49" charset="-122"/>
              </a:rPr>
              <a:t>a</a:t>
            </a:r>
            <a:r>
              <a:rPr lang="en-US" altLang="zh-CN" sz="2800" baseline="-25000" dirty="0" err="1">
                <a:latin typeface="微软雅黑" pitchFamily="34" charset="-122"/>
                <a:ea typeface="微软雅黑" pitchFamily="34" charset="-122"/>
                <a:cs typeface="经典粗黑简" pitchFamily="49" charset="-122"/>
              </a:rPr>
              <a:t>i</a:t>
            </a:r>
            <a:r>
              <a:rPr lang="en-US" altLang="zh-CN" sz="2800" dirty="0">
                <a:latin typeface="微软雅黑" pitchFamily="34" charset="-122"/>
                <a:ea typeface="微软雅黑" pitchFamily="34" charset="-122"/>
                <a:cs typeface="经典粗黑简" pitchFamily="49" charset="-122"/>
              </a:rPr>
              <a:t>, a</a:t>
            </a:r>
            <a:r>
              <a:rPr lang="en-US" altLang="zh-CN" sz="2800" baseline="-25000" dirty="0">
                <a:latin typeface="微软雅黑" pitchFamily="34" charset="-122"/>
                <a:ea typeface="微软雅黑" pitchFamily="34" charset="-122"/>
                <a:cs typeface="经典粗黑简" pitchFamily="49" charset="-122"/>
              </a:rPr>
              <a:t>i＋1</a:t>
            </a:r>
            <a:r>
              <a:rPr lang="en-US" altLang="zh-CN" sz="2800" dirty="0">
                <a:latin typeface="微软雅黑" pitchFamily="34" charset="-122"/>
                <a:ea typeface="微软雅黑" pitchFamily="34" charset="-122"/>
                <a:cs typeface="经典粗黑简" pitchFamily="49" charset="-122"/>
              </a:rPr>
              <a:t>, …, a</a:t>
            </a:r>
            <a:r>
              <a:rPr lang="en-US" altLang="zh-CN" sz="2800" baseline="-25000" dirty="0">
                <a:latin typeface="微软雅黑" pitchFamily="34" charset="-122"/>
                <a:ea typeface="微软雅黑" pitchFamily="34" charset="-122"/>
                <a:cs typeface="经典粗黑简" pitchFamily="49" charset="-122"/>
              </a:rPr>
              <a:t>n</a:t>
            </a:r>
            <a:r>
              <a:rPr lang="en-US" altLang="zh-CN" sz="2800" dirty="0">
                <a:latin typeface="微软雅黑" pitchFamily="34" charset="-122"/>
                <a:ea typeface="微软雅黑" pitchFamily="34" charset="-122"/>
                <a:cs typeface="经典粗黑简" pitchFamily="49" charset="-122"/>
              </a:rPr>
              <a:t>)</a:t>
            </a:r>
          </a:p>
        </p:txBody>
      </p:sp>
      <p:sp>
        <p:nvSpPr>
          <p:cNvPr id="38" name="左大括号 37"/>
          <p:cNvSpPr/>
          <p:nvPr/>
        </p:nvSpPr>
        <p:spPr>
          <a:xfrm rot="16200000">
            <a:off x="4992171" y="483795"/>
            <a:ext cx="204484" cy="428377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Rectangle 5"/>
          <p:cNvSpPr>
            <a:spLocks noChangeArrowheads="1"/>
          </p:cNvSpPr>
          <p:nvPr/>
        </p:nvSpPr>
        <p:spPr bwMode="auto">
          <a:xfrm>
            <a:off x="2419128" y="321770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40" name="Line 6"/>
          <p:cNvSpPr>
            <a:spLocks noChangeShapeType="1"/>
          </p:cNvSpPr>
          <p:nvPr/>
        </p:nvSpPr>
        <p:spPr bwMode="auto">
          <a:xfrm>
            <a:off x="2952528" y="321770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Rectangle 25"/>
          <p:cNvSpPr>
            <a:spLocks noChangeArrowheads="1"/>
          </p:cNvSpPr>
          <p:nvPr/>
        </p:nvSpPr>
        <p:spPr bwMode="auto">
          <a:xfrm>
            <a:off x="4583013" y="329167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Rectangle 36"/>
          <p:cNvSpPr>
            <a:spLocks noChangeArrowheads="1"/>
          </p:cNvSpPr>
          <p:nvPr/>
        </p:nvSpPr>
        <p:spPr bwMode="auto">
          <a:xfrm>
            <a:off x="6322400" y="3289137"/>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1" name="Line 29"/>
          <p:cNvSpPr>
            <a:spLocks noChangeShapeType="1"/>
          </p:cNvSpPr>
          <p:nvPr/>
        </p:nvSpPr>
        <p:spPr bwMode="auto">
          <a:xfrm>
            <a:off x="2038128" y="34718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Rectangle 5"/>
          <p:cNvSpPr>
            <a:spLocks noChangeArrowheads="1"/>
          </p:cNvSpPr>
          <p:nvPr/>
        </p:nvSpPr>
        <p:spPr bwMode="auto">
          <a:xfrm>
            <a:off x="3594785" y="3223079"/>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53" name="Line 6"/>
          <p:cNvSpPr>
            <a:spLocks noChangeShapeType="1"/>
          </p:cNvSpPr>
          <p:nvPr/>
        </p:nvSpPr>
        <p:spPr bwMode="auto">
          <a:xfrm>
            <a:off x="4128185" y="322307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29"/>
          <p:cNvSpPr>
            <a:spLocks noChangeShapeType="1"/>
          </p:cNvSpPr>
          <p:nvPr/>
        </p:nvSpPr>
        <p:spPr bwMode="auto">
          <a:xfrm>
            <a:off x="3213785" y="3477252"/>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Line 29"/>
          <p:cNvSpPr>
            <a:spLocks noChangeShapeType="1"/>
          </p:cNvSpPr>
          <p:nvPr/>
        </p:nvSpPr>
        <p:spPr bwMode="auto">
          <a:xfrm>
            <a:off x="4995304" y="3468033"/>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Line 29"/>
          <p:cNvSpPr>
            <a:spLocks noChangeShapeType="1"/>
          </p:cNvSpPr>
          <p:nvPr/>
        </p:nvSpPr>
        <p:spPr bwMode="auto">
          <a:xfrm>
            <a:off x="4318685" y="3474565"/>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 name="Rectangle 5"/>
          <p:cNvSpPr>
            <a:spLocks noChangeArrowheads="1"/>
          </p:cNvSpPr>
          <p:nvPr/>
        </p:nvSpPr>
        <p:spPr bwMode="auto">
          <a:xfrm>
            <a:off x="5198511" y="324700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61" name="Line 6"/>
          <p:cNvSpPr>
            <a:spLocks noChangeShapeType="1"/>
          </p:cNvSpPr>
          <p:nvPr/>
        </p:nvSpPr>
        <p:spPr bwMode="auto">
          <a:xfrm>
            <a:off x="5731911" y="324700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29"/>
          <p:cNvSpPr>
            <a:spLocks noChangeShapeType="1"/>
          </p:cNvSpPr>
          <p:nvPr/>
        </p:nvSpPr>
        <p:spPr bwMode="auto">
          <a:xfrm>
            <a:off x="5963219" y="350207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 name="Rectangle 5"/>
          <p:cNvSpPr>
            <a:spLocks noChangeArrowheads="1"/>
          </p:cNvSpPr>
          <p:nvPr/>
        </p:nvSpPr>
        <p:spPr bwMode="auto">
          <a:xfrm>
            <a:off x="7038109" y="3242137"/>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71" name="Line 6"/>
          <p:cNvSpPr>
            <a:spLocks noChangeShapeType="1"/>
          </p:cNvSpPr>
          <p:nvPr/>
        </p:nvSpPr>
        <p:spPr bwMode="auto">
          <a:xfrm>
            <a:off x="7597636" y="3242137"/>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29"/>
          <p:cNvSpPr>
            <a:spLocks noChangeShapeType="1"/>
          </p:cNvSpPr>
          <p:nvPr/>
        </p:nvSpPr>
        <p:spPr bwMode="auto">
          <a:xfrm>
            <a:off x="6657109" y="34897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 name="矩形 72"/>
          <p:cNvSpPr/>
          <p:nvPr/>
        </p:nvSpPr>
        <p:spPr>
          <a:xfrm>
            <a:off x="1066890" y="1526185"/>
            <a:ext cx="7753582" cy="400110"/>
          </a:xfrm>
          <a:prstGeom prst="rect">
            <a:avLst/>
          </a:prstGeom>
        </p:spPr>
        <p:txBody>
          <a:bodyPr wrap="square">
            <a:spAutoFit/>
          </a:bodyPr>
          <a:lstStyle/>
          <a:p>
            <a:r>
              <a:rPr lang="zh-CN" altLang="en-US" sz="2000" dirty="0">
                <a:solidFill>
                  <a:srgbClr val="FF0000"/>
                </a:solidFill>
                <a:latin typeface="微软雅黑" pitchFamily="34" charset="-122"/>
                <a:ea typeface="微软雅黑" pitchFamily="34" charset="-122"/>
                <a:cs typeface="经典粗黑简" pitchFamily="49" charset="-122"/>
              </a:rPr>
              <a:t>单链表：</a:t>
            </a:r>
            <a:r>
              <a:rPr lang="zh-CN" altLang="en-US" sz="2000" dirty="0">
                <a:latin typeface="微软雅黑" pitchFamily="34" charset="-122"/>
                <a:ea typeface="微软雅黑" pitchFamily="34" charset="-122"/>
                <a:cs typeface="经典粗黑简" pitchFamily="49" charset="-122"/>
              </a:rPr>
              <a:t>结点中只包含一个指针域的链表称之为</a:t>
            </a:r>
            <a:r>
              <a:rPr lang="zh-CN" altLang="en-US" sz="2000" dirty="0">
                <a:solidFill>
                  <a:srgbClr val="FF0000"/>
                </a:solidFill>
                <a:latin typeface="微软雅黑" pitchFamily="34" charset="-122"/>
                <a:ea typeface="微软雅黑" pitchFamily="34" charset="-122"/>
                <a:cs typeface="经典粗黑简" pitchFamily="49" charset="-122"/>
              </a:rPr>
              <a:t>线性链表</a:t>
            </a:r>
            <a:r>
              <a:rPr lang="zh-CN" altLang="en-US" sz="2000" dirty="0">
                <a:latin typeface="微软雅黑" pitchFamily="34" charset="-122"/>
                <a:ea typeface="微软雅黑" pitchFamily="34" charset="-122"/>
                <a:cs typeface="经典粗黑简" pitchFamily="49" charset="-122"/>
              </a:rPr>
              <a:t>或</a:t>
            </a:r>
            <a:r>
              <a:rPr lang="zh-CN" altLang="en-US" sz="2000" dirty="0">
                <a:solidFill>
                  <a:srgbClr val="FF0000"/>
                </a:solidFill>
                <a:latin typeface="微软雅黑" pitchFamily="34" charset="-122"/>
                <a:ea typeface="微软雅黑" pitchFamily="34" charset="-122"/>
                <a:cs typeface="经典粗黑简" pitchFamily="49" charset="-122"/>
              </a:rPr>
              <a:t>单链表</a:t>
            </a:r>
            <a:r>
              <a:rPr lang="zh-CN" altLang="en-US" sz="2000" dirty="0">
                <a:latin typeface="微软雅黑" pitchFamily="34" charset="-122"/>
                <a:ea typeface="微软雅黑" pitchFamily="34" charset="-122"/>
                <a:cs typeface="经典粗黑简" pitchFamily="49" charset="-122"/>
              </a:rPr>
              <a:t>。</a:t>
            </a:r>
          </a:p>
        </p:txBody>
      </p:sp>
      <p:sp>
        <p:nvSpPr>
          <p:cNvPr id="74" name="矩形 73"/>
          <p:cNvSpPr/>
          <p:nvPr/>
        </p:nvSpPr>
        <p:spPr>
          <a:xfrm>
            <a:off x="1208239" y="2134170"/>
            <a:ext cx="1415772"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线性表：</a:t>
            </a:r>
          </a:p>
        </p:txBody>
      </p:sp>
      <p:sp>
        <p:nvSpPr>
          <p:cNvPr id="75" name="矩形 74"/>
          <p:cNvSpPr/>
          <p:nvPr/>
        </p:nvSpPr>
        <p:spPr>
          <a:xfrm>
            <a:off x="1014051" y="3266672"/>
            <a:ext cx="1093568" cy="523220"/>
          </a:xfrm>
          <a:prstGeom prst="rect">
            <a:avLst/>
          </a:prstGeom>
        </p:spPr>
        <p:txBody>
          <a:bodyPr wrap="none">
            <a:spAutoFit/>
          </a:bodyPr>
          <a:lstStyle/>
          <a:p>
            <a:pPr algn="r"/>
            <a:r>
              <a:rPr lang="en-US" altLang="zh-CN" sz="2800" dirty="0">
                <a:latin typeface="微软雅黑" pitchFamily="34" charset="-122"/>
                <a:ea typeface="微软雅黑" pitchFamily="34" charset="-122"/>
              </a:rPr>
              <a:t>Head</a:t>
            </a:r>
          </a:p>
        </p:txBody>
      </p:sp>
      <p:sp>
        <p:nvSpPr>
          <p:cNvPr id="76" name="矩形 75"/>
          <p:cNvSpPr/>
          <p:nvPr/>
        </p:nvSpPr>
        <p:spPr>
          <a:xfrm>
            <a:off x="4784889" y="3703759"/>
            <a:ext cx="1482408"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物理结构</a:t>
            </a:r>
          </a:p>
        </p:txBody>
      </p:sp>
      <p:grpSp>
        <p:nvGrpSpPr>
          <p:cNvPr id="78" name="Group 36"/>
          <p:cNvGrpSpPr>
            <a:grpSpLocks/>
          </p:cNvGrpSpPr>
          <p:nvPr/>
        </p:nvGrpSpPr>
        <p:grpSpPr bwMode="auto">
          <a:xfrm>
            <a:off x="1163229" y="4061047"/>
            <a:ext cx="4992947" cy="742951"/>
            <a:chOff x="884" y="2462"/>
            <a:chExt cx="3273" cy="624"/>
          </a:xfrm>
        </p:grpSpPr>
        <p:sp>
          <p:nvSpPr>
            <p:cNvPr id="79" name="Rectangle 8"/>
            <p:cNvSpPr>
              <a:spLocks noChangeArrowheads="1"/>
            </p:cNvSpPr>
            <p:nvPr/>
          </p:nvSpPr>
          <p:spPr bwMode="auto">
            <a:xfrm>
              <a:off x="2488" y="2462"/>
              <a:ext cx="71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l"/>
              <a:r>
                <a:rPr kumimoji="0" lang="zh-CN" altLang="en-US" sz="2000" dirty="0"/>
                <a:t>数据域</a:t>
              </a:r>
            </a:p>
          </p:txBody>
        </p:sp>
        <p:sp>
          <p:nvSpPr>
            <p:cNvPr id="80" name="Rectangle 10"/>
            <p:cNvSpPr>
              <a:spLocks noChangeArrowheads="1"/>
            </p:cNvSpPr>
            <p:nvPr/>
          </p:nvSpPr>
          <p:spPr bwMode="auto">
            <a:xfrm>
              <a:off x="2480" y="2750"/>
              <a:ext cx="71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l"/>
              <a:r>
                <a:rPr kumimoji="0" lang="zh-CN" altLang="en-US" sz="2000" dirty="0"/>
                <a:t>指针域</a:t>
              </a:r>
            </a:p>
          </p:txBody>
        </p:sp>
        <p:grpSp>
          <p:nvGrpSpPr>
            <p:cNvPr id="81" name="Group 20"/>
            <p:cNvGrpSpPr>
              <a:grpSpLocks/>
            </p:cNvGrpSpPr>
            <p:nvPr/>
          </p:nvGrpSpPr>
          <p:grpSpPr bwMode="auto">
            <a:xfrm>
              <a:off x="884" y="2704"/>
              <a:ext cx="1152" cy="240"/>
              <a:chOff x="1008" y="2784"/>
              <a:chExt cx="1392" cy="240"/>
            </a:xfrm>
          </p:grpSpPr>
          <p:sp>
            <p:nvSpPr>
              <p:cNvPr id="90" name="Rectangle 4"/>
              <p:cNvSpPr>
                <a:spLocks noChangeArrowheads="1"/>
              </p:cNvSpPr>
              <p:nvPr/>
            </p:nvSpPr>
            <p:spPr bwMode="auto">
              <a:xfrm>
                <a:off x="1008" y="2784"/>
                <a:ext cx="720" cy="240"/>
              </a:xfrm>
              <a:prstGeom prst="rect">
                <a:avLst/>
              </a:prstGeom>
              <a:noFill/>
              <a:ln w="9525">
                <a:solidFill>
                  <a:schemeClr val="tx1"/>
                </a:solidFill>
                <a:miter lim="800000"/>
                <a:headEnd/>
                <a:tailEnd/>
              </a:ln>
            </p:spPr>
            <p:txBody>
              <a:bodyPr wrap="none" anchor="ctr"/>
              <a:lstStyle/>
              <a:p>
                <a:r>
                  <a:rPr lang="en-US" altLang="zh-CN" sz="2400" dirty="0">
                    <a:latin typeface="微软雅黑" pitchFamily="34" charset="-122"/>
                    <a:ea typeface="微软雅黑" pitchFamily="34" charset="-122"/>
                  </a:rPr>
                  <a:t>data</a:t>
                </a:r>
              </a:p>
            </p:txBody>
          </p:sp>
          <p:sp>
            <p:nvSpPr>
              <p:cNvPr id="91" name="Rectangle 5"/>
              <p:cNvSpPr>
                <a:spLocks noChangeArrowheads="1"/>
              </p:cNvSpPr>
              <p:nvPr/>
            </p:nvSpPr>
            <p:spPr bwMode="auto">
              <a:xfrm>
                <a:off x="1728" y="2784"/>
                <a:ext cx="672" cy="240"/>
              </a:xfrm>
              <a:prstGeom prst="rect">
                <a:avLst/>
              </a:prstGeom>
              <a:noFill/>
              <a:ln w="9525">
                <a:solidFill>
                  <a:schemeClr val="tx1"/>
                </a:solidFill>
                <a:miter lim="800000"/>
                <a:headEnd/>
                <a:tailEnd/>
              </a:ln>
            </p:spPr>
            <p:txBody>
              <a:bodyPr wrap="none" anchor="ctr"/>
              <a:lstStyle/>
              <a:p>
                <a:r>
                  <a:rPr lang="en-US" altLang="zh-CN" sz="2400" dirty="0">
                    <a:latin typeface="微软雅黑" pitchFamily="34" charset="-122"/>
                    <a:ea typeface="微软雅黑" pitchFamily="34" charset="-122"/>
                  </a:rPr>
                  <a:t>next</a:t>
                </a:r>
              </a:p>
            </p:txBody>
          </p:sp>
        </p:grpSp>
        <p:grpSp>
          <p:nvGrpSpPr>
            <p:cNvPr id="82" name="Group 31"/>
            <p:cNvGrpSpPr>
              <a:grpSpLocks/>
            </p:cNvGrpSpPr>
            <p:nvPr/>
          </p:nvGrpSpPr>
          <p:grpSpPr bwMode="auto">
            <a:xfrm>
              <a:off x="3560" y="2523"/>
              <a:ext cx="597" cy="477"/>
              <a:chOff x="3560" y="2296"/>
              <a:chExt cx="597" cy="477"/>
            </a:xfrm>
          </p:grpSpPr>
          <p:sp>
            <p:nvSpPr>
              <p:cNvPr id="88" name="Rectangle 14"/>
              <p:cNvSpPr>
                <a:spLocks noChangeArrowheads="1"/>
              </p:cNvSpPr>
              <p:nvPr/>
            </p:nvSpPr>
            <p:spPr bwMode="auto">
              <a:xfrm>
                <a:off x="3560" y="2533"/>
                <a:ext cx="597" cy="240"/>
              </a:xfrm>
              <a:prstGeom prst="rect">
                <a:avLst/>
              </a:prstGeom>
              <a:noFill/>
              <a:ln w="9525">
                <a:solidFill>
                  <a:schemeClr val="tx1"/>
                </a:solidFill>
                <a:miter lim="800000"/>
                <a:headEnd/>
                <a:tailEnd/>
              </a:ln>
            </p:spPr>
            <p:txBody>
              <a:bodyPr wrap="none" anchor="ctr"/>
              <a:lstStyle/>
              <a:p>
                <a:r>
                  <a:rPr lang="en-US" altLang="zh-CN" sz="2400" dirty="0">
                    <a:latin typeface="微软雅黑" pitchFamily="34" charset="-122"/>
                    <a:ea typeface="微软雅黑" pitchFamily="34" charset="-122"/>
                  </a:rPr>
                  <a:t>next</a:t>
                </a:r>
              </a:p>
            </p:txBody>
          </p:sp>
          <p:sp>
            <p:nvSpPr>
              <p:cNvPr id="89" name="Rectangle 15"/>
              <p:cNvSpPr>
                <a:spLocks noChangeArrowheads="1"/>
              </p:cNvSpPr>
              <p:nvPr/>
            </p:nvSpPr>
            <p:spPr bwMode="auto">
              <a:xfrm>
                <a:off x="3560" y="2296"/>
                <a:ext cx="597" cy="240"/>
              </a:xfrm>
              <a:prstGeom prst="rect">
                <a:avLst/>
              </a:prstGeom>
              <a:noFill/>
              <a:ln w="9525">
                <a:solidFill>
                  <a:schemeClr val="tx1"/>
                </a:solidFill>
                <a:miter lim="800000"/>
                <a:headEnd/>
                <a:tailEnd/>
              </a:ln>
            </p:spPr>
            <p:txBody>
              <a:bodyPr wrap="none" anchor="ctr"/>
              <a:lstStyle/>
              <a:p>
                <a:r>
                  <a:rPr lang="en-US" altLang="zh-CN" sz="2400" dirty="0">
                    <a:latin typeface="微软雅黑" pitchFamily="34" charset="-122"/>
                    <a:ea typeface="微软雅黑" pitchFamily="34" charset="-122"/>
                  </a:rPr>
                  <a:t>data</a:t>
                </a:r>
              </a:p>
            </p:txBody>
          </p:sp>
        </p:grpSp>
        <p:sp>
          <p:nvSpPr>
            <p:cNvPr id="83" name="Line 30"/>
            <p:cNvSpPr>
              <a:spLocks noChangeShapeType="1"/>
            </p:cNvSpPr>
            <p:nvPr/>
          </p:nvSpPr>
          <p:spPr bwMode="auto">
            <a:xfrm>
              <a:off x="3152" y="2886"/>
              <a:ext cx="40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 name="Line 32"/>
            <p:cNvSpPr>
              <a:spLocks noChangeShapeType="1"/>
            </p:cNvSpPr>
            <p:nvPr/>
          </p:nvSpPr>
          <p:spPr bwMode="auto">
            <a:xfrm flipH="1">
              <a:off x="2064" y="2886"/>
              <a:ext cx="40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 name="Line 33"/>
            <p:cNvSpPr>
              <a:spLocks noChangeShapeType="1"/>
            </p:cNvSpPr>
            <p:nvPr/>
          </p:nvSpPr>
          <p:spPr bwMode="auto">
            <a:xfrm>
              <a:off x="3152" y="2614"/>
              <a:ext cx="40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 name="Line 34"/>
            <p:cNvSpPr>
              <a:spLocks noChangeShapeType="1"/>
            </p:cNvSpPr>
            <p:nvPr/>
          </p:nvSpPr>
          <p:spPr bwMode="auto">
            <a:xfrm>
              <a:off x="1383" y="2588"/>
              <a:ext cx="0" cy="11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 name="Line 35"/>
            <p:cNvSpPr>
              <a:spLocks noChangeShapeType="1"/>
            </p:cNvSpPr>
            <p:nvPr/>
          </p:nvSpPr>
          <p:spPr bwMode="auto">
            <a:xfrm>
              <a:off x="1383" y="2588"/>
              <a:ext cx="104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cxnSp>
        <p:nvCxnSpPr>
          <p:cNvPr id="45" name="直接连接符 44"/>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781B6961-77D1-2B9F-6618-6D90F5006CAF}"/>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5" name="矩形 4">
            <a:extLst>
              <a:ext uri="{FF2B5EF4-FFF2-40B4-BE49-F238E27FC236}">
                <a16:creationId xmlns:a16="http://schemas.microsoft.com/office/drawing/2014/main" id="{EFFAE638-728E-1B06-6691-12C4DFB0C93A}"/>
              </a:ext>
            </a:extLst>
          </p:cNvPr>
          <p:cNvSpPr/>
          <p:nvPr/>
        </p:nvSpPr>
        <p:spPr>
          <a:xfrm>
            <a:off x="195717" y="892085"/>
            <a:ext cx="242829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a:t>
            </a:r>
          </a:p>
        </p:txBody>
      </p:sp>
    </p:spTree>
    <p:extLst>
      <p:ext uri="{BB962C8B-B14F-4D97-AF65-F5344CB8AC3E}">
        <p14:creationId xmlns:p14="http://schemas.microsoft.com/office/powerpoint/2010/main" val="2289075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8" grpId="0" animBg="1"/>
      <p:bldP spid="39" grpId="0" animBg="1"/>
      <p:bldP spid="40" grpId="0" animBg="1"/>
      <p:bldP spid="42" grpId="0"/>
      <p:bldP spid="50" grpId="0"/>
      <p:bldP spid="51" grpId="0" animBg="1"/>
      <p:bldP spid="52" grpId="0" animBg="1"/>
      <p:bldP spid="53" grpId="0" animBg="1"/>
      <p:bldP spid="55" grpId="0" animBg="1"/>
      <p:bldP spid="58" grpId="0" animBg="1"/>
      <p:bldP spid="59" grpId="0" animBg="1"/>
      <p:bldP spid="60" grpId="0" animBg="1"/>
      <p:bldP spid="61" grpId="0" animBg="1"/>
      <p:bldP spid="65" grpId="0" animBg="1"/>
      <p:bldP spid="67" grpId="0" animBg="1"/>
      <p:bldP spid="71" grpId="0" animBg="1"/>
      <p:bldP spid="72" grpId="0" animBg="1"/>
      <p:bldP spid="73" grpId="0"/>
      <p:bldP spid="74" grpId="0"/>
      <p:bldP spid="75" grpId="0"/>
      <p:bldP spid="7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405001" y="2743623"/>
            <a:ext cx="4776958" cy="461665"/>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单链表结点类型的</a:t>
            </a:r>
            <a:r>
              <a:rPr lang="en-US" altLang="zh-CN" sz="2400" dirty="0">
                <a:latin typeface="微软雅黑" pitchFamily="34" charset="-122"/>
                <a:ea typeface="微软雅黑" pitchFamily="34" charset="-122"/>
                <a:cs typeface="经典粗黑简" pitchFamily="49" charset="-122"/>
              </a:rPr>
              <a:t>C</a:t>
            </a:r>
            <a:r>
              <a:rPr lang="zh-CN" altLang="en-US" sz="2400" dirty="0">
                <a:latin typeface="微软雅黑" pitchFamily="34" charset="-122"/>
                <a:ea typeface="微软雅黑" pitchFamily="34" charset="-122"/>
                <a:cs typeface="经典粗黑简" pitchFamily="49" charset="-122"/>
              </a:rPr>
              <a:t>语言实现</a:t>
            </a:r>
            <a:endParaRPr lang="en-US" altLang="zh-CN" sz="2400" dirty="0">
              <a:latin typeface="微软雅黑" pitchFamily="34" charset="-122"/>
              <a:ea typeface="微软雅黑" pitchFamily="34" charset="-122"/>
              <a:cs typeface="经典粗黑简" pitchFamily="49" charset="-122"/>
            </a:endParaRPr>
          </a:p>
        </p:txBody>
      </p:sp>
      <p:grpSp>
        <p:nvGrpSpPr>
          <p:cNvPr id="45" name="Group 36"/>
          <p:cNvGrpSpPr>
            <a:grpSpLocks/>
          </p:cNvGrpSpPr>
          <p:nvPr/>
        </p:nvGrpSpPr>
        <p:grpSpPr bwMode="auto">
          <a:xfrm>
            <a:off x="564269" y="1865568"/>
            <a:ext cx="4992947" cy="742951"/>
            <a:chOff x="884" y="2462"/>
            <a:chExt cx="3273" cy="624"/>
          </a:xfrm>
        </p:grpSpPr>
        <p:sp>
          <p:nvSpPr>
            <p:cNvPr id="46" name="Rectangle 8"/>
            <p:cNvSpPr>
              <a:spLocks noChangeArrowheads="1"/>
            </p:cNvSpPr>
            <p:nvPr/>
          </p:nvSpPr>
          <p:spPr bwMode="auto">
            <a:xfrm>
              <a:off x="2488" y="2462"/>
              <a:ext cx="71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l"/>
              <a:r>
                <a:rPr kumimoji="0" lang="zh-CN" altLang="en-US" sz="2000" dirty="0"/>
                <a:t>数据域</a:t>
              </a:r>
            </a:p>
          </p:txBody>
        </p:sp>
        <p:sp>
          <p:nvSpPr>
            <p:cNvPr id="47" name="Rectangle 10"/>
            <p:cNvSpPr>
              <a:spLocks noChangeArrowheads="1"/>
            </p:cNvSpPr>
            <p:nvPr/>
          </p:nvSpPr>
          <p:spPr bwMode="auto">
            <a:xfrm>
              <a:off x="2480" y="2750"/>
              <a:ext cx="71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l"/>
              <a:r>
                <a:rPr kumimoji="0" lang="zh-CN" altLang="en-US" sz="2000" dirty="0"/>
                <a:t>指针域</a:t>
              </a:r>
            </a:p>
          </p:txBody>
        </p:sp>
        <p:grpSp>
          <p:nvGrpSpPr>
            <p:cNvPr id="48" name="Group 20"/>
            <p:cNvGrpSpPr>
              <a:grpSpLocks/>
            </p:cNvGrpSpPr>
            <p:nvPr/>
          </p:nvGrpSpPr>
          <p:grpSpPr bwMode="auto">
            <a:xfrm>
              <a:off x="884" y="2704"/>
              <a:ext cx="1152" cy="240"/>
              <a:chOff x="1008" y="2784"/>
              <a:chExt cx="1392" cy="240"/>
            </a:xfrm>
          </p:grpSpPr>
          <p:sp>
            <p:nvSpPr>
              <p:cNvPr id="68" name="Rectangle 4"/>
              <p:cNvSpPr>
                <a:spLocks noChangeArrowheads="1"/>
              </p:cNvSpPr>
              <p:nvPr/>
            </p:nvSpPr>
            <p:spPr bwMode="auto">
              <a:xfrm>
                <a:off x="1008" y="2784"/>
                <a:ext cx="720" cy="240"/>
              </a:xfrm>
              <a:prstGeom prst="rect">
                <a:avLst/>
              </a:prstGeom>
              <a:noFill/>
              <a:ln w="9525">
                <a:solidFill>
                  <a:schemeClr val="tx1"/>
                </a:solidFill>
                <a:miter lim="800000"/>
                <a:headEnd/>
                <a:tailEnd/>
              </a:ln>
            </p:spPr>
            <p:txBody>
              <a:bodyPr wrap="none" anchor="ctr"/>
              <a:lstStyle/>
              <a:p>
                <a:r>
                  <a:rPr lang="en-US" altLang="zh-CN" sz="2400" dirty="0">
                    <a:latin typeface="微软雅黑" pitchFamily="34" charset="-122"/>
                    <a:ea typeface="微软雅黑" pitchFamily="34" charset="-122"/>
                  </a:rPr>
                  <a:t>data</a:t>
                </a:r>
              </a:p>
            </p:txBody>
          </p:sp>
          <p:sp>
            <p:nvSpPr>
              <p:cNvPr id="69" name="Rectangle 5"/>
              <p:cNvSpPr>
                <a:spLocks noChangeArrowheads="1"/>
              </p:cNvSpPr>
              <p:nvPr/>
            </p:nvSpPr>
            <p:spPr bwMode="auto">
              <a:xfrm>
                <a:off x="1728" y="2784"/>
                <a:ext cx="672" cy="240"/>
              </a:xfrm>
              <a:prstGeom prst="rect">
                <a:avLst/>
              </a:prstGeom>
              <a:noFill/>
              <a:ln w="9525">
                <a:solidFill>
                  <a:schemeClr val="tx1"/>
                </a:solidFill>
                <a:miter lim="800000"/>
                <a:headEnd/>
                <a:tailEnd/>
              </a:ln>
            </p:spPr>
            <p:txBody>
              <a:bodyPr wrap="none" anchor="ctr"/>
              <a:lstStyle/>
              <a:p>
                <a:r>
                  <a:rPr lang="en-US" altLang="zh-CN" sz="2400" dirty="0">
                    <a:latin typeface="微软雅黑" pitchFamily="34" charset="-122"/>
                    <a:ea typeface="微软雅黑" pitchFamily="34" charset="-122"/>
                  </a:rPr>
                  <a:t>next</a:t>
                </a:r>
              </a:p>
            </p:txBody>
          </p:sp>
        </p:grpSp>
        <p:grpSp>
          <p:nvGrpSpPr>
            <p:cNvPr id="49" name="Group 31"/>
            <p:cNvGrpSpPr>
              <a:grpSpLocks/>
            </p:cNvGrpSpPr>
            <p:nvPr/>
          </p:nvGrpSpPr>
          <p:grpSpPr bwMode="auto">
            <a:xfrm>
              <a:off x="3560" y="2523"/>
              <a:ext cx="597" cy="477"/>
              <a:chOff x="3560" y="2296"/>
              <a:chExt cx="597" cy="477"/>
            </a:xfrm>
          </p:grpSpPr>
          <p:sp>
            <p:nvSpPr>
              <p:cNvPr id="64" name="Rectangle 14"/>
              <p:cNvSpPr>
                <a:spLocks noChangeArrowheads="1"/>
              </p:cNvSpPr>
              <p:nvPr/>
            </p:nvSpPr>
            <p:spPr bwMode="auto">
              <a:xfrm>
                <a:off x="3560" y="2533"/>
                <a:ext cx="597" cy="240"/>
              </a:xfrm>
              <a:prstGeom prst="rect">
                <a:avLst/>
              </a:prstGeom>
              <a:noFill/>
              <a:ln w="9525">
                <a:solidFill>
                  <a:schemeClr val="tx1"/>
                </a:solidFill>
                <a:miter lim="800000"/>
                <a:headEnd/>
                <a:tailEnd/>
              </a:ln>
            </p:spPr>
            <p:txBody>
              <a:bodyPr wrap="none" anchor="ctr"/>
              <a:lstStyle/>
              <a:p>
                <a:r>
                  <a:rPr lang="en-US" altLang="zh-CN" sz="2400" dirty="0">
                    <a:latin typeface="微软雅黑" pitchFamily="34" charset="-122"/>
                    <a:ea typeface="微软雅黑" pitchFamily="34" charset="-122"/>
                  </a:rPr>
                  <a:t>next</a:t>
                </a:r>
              </a:p>
            </p:txBody>
          </p:sp>
          <p:sp>
            <p:nvSpPr>
              <p:cNvPr id="66" name="Rectangle 15"/>
              <p:cNvSpPr>
                <a:spLocks noChangeArrowheads="1"/>
              </p:cNvSpPr>
              <p:nvPr/>
            </p:nvSpPr>
            <p:spPr bwMode="auto">
              <a:xfrm>
                <a:off x="3560" y="2296"/>
                <a:ext cx="597" cy="240"/>
              </a:xfrm>
              <a:prstGeom prst="rect">
                <a:avLst/>
              </a:prstGeom>
              <a:noFill/>
              <a:ln w="9525">
                <a:solidFill>
                  <a:schemeClr val="tx1"/>
                </a:solidFill>
                <a:miter lim="800000"/>
                <a:headEnd/>
                <a:tailEnd/>
              </a:ln>
            </p:spPr>
            <p:txBody>
              <a:bodyPr wrap="none" anchor="ctr"/>
              <a:lstStyle/>
              <a:p>
                <a:r>
                  <a:rPr lang="en-US" altLang="zh-CN" sz="2400" dirty="0">
                    <a:latin typeface="微软雅黑" pitchFamily="34" charset="-122"/>
                    <a:ea typeface="微软雅黑" pitchFamily="34" charset="-122"/>
                  </a:rPr>
                  <a:t>data</a:t>
                </a:r>
              </a:p>
            </p:txBody>
          </p:sp>
        </p:grpSp>
        <p:sp>
          <p:nvSpPr>
            <p:cNvPr id="54" name="Line 30"/>
            <p:cNvSpPr>
              <a:spLocks noChangeShapeType="1"/>
            </p:cNvSpPr>
            <p:nvPr/>
          </p:nvSpPr>
          <p:spPr bwMode="auto">
            <a:xfrm>
              <a:off x="3152" y="2886"/>
              <a:ext cx="40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 name="Line 32"/>
            <p:cNvSpPr>
              <a:spLocks noChangeShapeType="1"/>
            </p:cNvSpPr>
            <p:nvPr/>
          </p:nvSpPr>
          <p:spPr bwMode="auto">
            <a:xfrm flipH="1">
              <a:off x="2064" y="2886"/>
              <a:ext cx="40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Line 33"/>
            <p:cNvSpPr>
              <a:spLocks noChangeShapeType="1"/>
            </p:cNvSpPr>
            <p:nvPr/>
          </p:nvSpPr>
          <p:spPr bwMode="auto">
            <a:xfrm>
              <a:off x="3152" y="2614"/>
              <a:ext cx="40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Line 34"/>
            <p:cNvSpPr>
              <a:spLocks noChangeShapeType="1"/>
            </p:cNvSpPr>
            <p:nvPr/>
          </p:nvSpPr>
          <p:spPr bwMode="auto">
            <a:xfrm>
              <a:off x="1383" y="2588"/>
              <a:ext cx="0" cy="11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Line 35"/>
            <p:cNvSpPr>
              <a:spLocks noChangeShapeType="1"/>
            </p:cNvSpPr>
            <p:nvPr/>
          </p:nvSpPr>
          <p:spPr bwMode="auto">
            <a:xfrm>
              <a:off x="1383" y="2588"/>
              <a:ext cx="104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0" name="矩形 69"/>
          <p:cNvSpPr/>
          <p:nvPr/>
        </p:nvSpPr>
        <p:spPr>
          <a:xfrm>
            <a:off x="471391" y="3273828"/>
            <a:ext cx="4388641" cy="1631216"/>
          </a:xfrm>
          <a:prstGeom prst="rect">
            <a:avLst/>
          </a:prstGeom>
        </p:spPr>
        <p:txBody>
          <a:bodyPr wrap="square">
            <a:spAutoFit/>
          </a:bodyPr>
          <a:lstStyle/>
          <a:p>
            <a:r>
              <a:rPr lang="en-US" altLang="zh-CN" sz="2000" dirty="0" err="1">
                <a:latin typeface="Times New Roman" pitchFamily="18" charset="0"/>
                <a:ea typeface="宋体" pitchFamily="2" charset="-122"/>
              </a:rPr>
              <a:t>typedef</a:t>
            </a:r>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struct</a:t>
            </a:r>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LNode</a:t>
            </a:r>
            <a:endParaRPr lang="zh-CN" altLang="zh-CN" sz="2000" dirty="0">
              <a:latin typeface="Times New Roman" pitchFamily="18" charset="0"/>
              <a:ea typeface="宋体" pitchFamily="2" charset="-122"/>
            </a:endParaRPr>
          </a:p>
          <a:p>
            <a:r>
              <a:rPr lang="en-US" altLang="zh-CN" sz="2000" dirty="0">
                <a:latin typeface="Times New Roman" pitchFamily="18" charset="0"/>
                <a:ea typeface="宋体" pitchFamily="2" charset="-122"/>
              </a:rPr>
              <a:t>{</a:t>
            </a:r>
          </a:p>
          <a:p>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ElemType</a:t>
            </a:r>
            <a:r>
              <a:rPr lang="en-US" altLang="zh-CN" sz="2000" dirty="0">
                <a:latin typeface="Times New Roman" pitchFamily="18" charset="0"/>
                <a:ea typeface="宋体" pitchFamily="2" charset="-122"/>
              </a:rPr>
              <a:t>         data;   //</a:t>
            </a:r>
            <a:r>
              <a:rPr lang="zh-CN" altLang="en-US" sz="2000" dirty="0">
                <a:latin typeface="Times New Roman" pitchFamily="18" charset="0"/>
                <a:ea typeface="宋体" pitchFamily="2" charset="-122"/>
              </a:rPr>
              <a:t>数据域</a:t>
            </a:r>
            <a:endParaRPr lang="en-US" altLang="zh-CN" sz="2000" dirty="0">
              <a:latin typeface="Times New Roman" pitchFamily="18" charset="0"/>
              <a:ea typeface="宋体" pitchFamily="2" charset="-122"/>
            </a:endParaRPr>
          </a:p>
          <a:p>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struct</a:t>
            </a:r>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LNode</a:t>
            </a:r>
            <a:r>
              <a:rPr lang="en-US" altLang="zh-CN" sz="2000" dirty="0">
                <a:latin typeface="Times New Roman" pitchFamily="18" charset="0"/>
                <a:ea typeface="宋体" pitchFamily="2" charset="-122"/>
              </a:rPr>
              <a:t>    *next; //</a:t>
            </a:r>
            <a:r>
              <a:rPr lang="zh-CN" altLang="en-US" sz="2000" dirty="0">
                <a:latin typeface="Times New Roman" pitchFamily="18" charset="0"/>
                <a:ea typeface="宋体" pitchFamily="2" charset="-122"/>
              </a:rPr>
              <a:t>指针域</a:t>
            </a:r>
            <a:r>
              <a:rPr lang="en-US" altLang="zh-CN" sz="2000" dirty="0">
                <a:latin typeface="Times New Roman" pitchFamily="18" charset="0"/>
                <a:ea typeface="宋体" pitchFamily="2" charset="-122"/>
              </a:rPr>
              <a:t>        </a:t>
            </a:r>
            <a:endParaRPr lang="zh-CN" altLang="zh-CN" sz="2000" dirty="0">
              <a:latin typeface="Times New Roman" pitchFamily="18" charset="0"/>
              <a:ea typeface="宋体" pitchFamily="2" charset="-122"/>
            </a:endParaRPr>
          </a:p>
          <a:p>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LinkNode</a:t>
            </a:r>
            <a:r>
              <a:rPr lang="en-US" altLang="zh-CN" sz="2000" dirty="0">
                <a:latin typeface="Times New Roman" pitchFamily="18" charset="0"/>
                <a:ea typeface="宋体" pitchFamily="2" charset="-122"/>
              </a:rPr>
              <a:t>, * </a:t>
            </a:r>
            <a:r>
              <a:rPr lang="en-US" altLang="zh-CN" sz="2000" dirty="0" err="1">
                <a:latin typeface="Times New Roman" pitchFamily="18" charset="0"/>
                <a:ea typeface="宋体" pitchFamily="2" charset="-122"/>
              </a:rPr>
              <a:t>LinkList</a:t>
            </a:r>
            <a:r>
              <a:rPr lang="en-US" altLang="zh-CN" sz="2000" dirty="0">
                <a:latin typeface="Times New Roman" pitchFamily="18" charset="0"/>
                <a:ea typeface="宋体" pitchFamily="2" charset="-122"/>
              </a:rPr>
              <a:t>;</a:t>
            </a:r>
            <a:endParaRPr lang="zh-CN" altLang="zh-CN" sz="2000" dirty="0">
              <a:latin typeface="Times New Roman" pitchFamily="18" charset="0"/>
              <a:ea typeface="宋体" pitchFamily="2" charset="-122"/>
            </a:endParaRPr>
          </a:p>
        </p:txBody>
      </p:sp>
      <p:sp>
        <p:nvSpPr>
          <p:cNvPr id="92" name="矩形 91"/>
          <p:cNvSpPr/>
          <p:nvPr/>
        </p:nvSpPr>
        <p:spPr>
          <a:xfrm>
            <a:off x="5724502" y="1622901"/>
            <a:ext cx="1702710" cy="400110"/>
          </a:xfrm>
          <a:prstGeom prst="rect">
            <a:avLst/>
          </a:prstGeom>
        </p:spPr>
        <p:txBody>
          <a:bodyPr wrap="none">
            <a:spAutoFit/>
          </a:bodyPr>
          <a:lstStyle/>
          <a:p>
            <a:r>
              <a:rPr lang="en-US" altLang="zh-CN" sz="2000" dirty="0" err="1">
                <a:latin typeface="Times New Roman" pitchFamily="18" charset="0"/>
                <a:ea typeface="宋体" pitchFamily="2" charset="-122"/>
              </a:rPr>
              <a:t>LinkNode</a:t>
            </a:r>
            <a:r>
              <a:rPr lang="en-US" altLang="zh-CN" sz="2000" dirty="0">
                <a:latin typeface="Times New Roman" pitchFamily="18" charset="0"/>
                <a:ea typeface="宋体" pitchFamily="2" charset="-122"/>
              </a:rPr>
              <a:t> L</a:t>
            </a:r>
            <a:r>
              <a:rPr lang="zh-CN" altLang="en-US" sz="2000" dirty="0">
                <a:latin typeface="Times New Roman" pitchFamily="18" charset="0"/>
                <a:ea typeface="宋体" pitchFamily="2" charset="-122"/>
              </a:rPr>
              <a:t>；</a:t>
            </a:r>
            <a:endParaRPr lang="zh-CN" altLang="zh-CN" sz="2000" dirty="0">
              <a:latin typeface="Times New Roman" pitchFamily="18" charset="0"/>
              <a:ea typeface="宋体" pitchFamily="2" charset="-122"/>
            </a:endParaRPr>
          </a:p>
        </p:txBody>
      </p:sp>
      <p:sp>
        <p:nvSpPr>
          <p:cNvPr id="93" name="矩形 92"/>
          <p:cNvSpPr/>
          <p:nvPr/>
        </p:nvSpPr>
        <p:spPr>
          <a:xfrm>
            <a:off x="5800155" y="2733768"/>
            <a:ext cx="1635384" cy="400110"/>
          </a:xfrm>
          <a:prstGeom prst="rect">
            <a:avLst/>
          </a:prstGeom>
        </p:spPr>
        <p:txBody>
          <a:bodyPr wrap="square">
            <a:spAutoFit/>
          </a:bodyPr>
          <a:lstStyle/>
          <a:p>
            <a:r>
              <a:rPr lang="en-US" altLang="zh-CN" sz="2000" dirty="0" err="1">
                <a:latin typeface="Times New Roman" pitchFamily="18" charset="0"/>
                <a:ea typeface="宋体" pitchFamily="2" charset="-122"/>
              </a:rPr>
              <a:t>LinkNode</a:t>
            </a:r>
            <a:r>
              <a:rPr lang="en-US" altLang="zh-CN" sz="2000" dirty="0">
                <a:latin typeface="Times New Roman" pitchFamily="18" charset="0"/>
                <a:ea typeface="宋体" pitchFamily="2" charset="-122"/>
              </a:rPr>
              <a:t>  *p</a:t>
            </a:r>
            <a:r>
              <a:rPr lang="zh-CN" altLang="en-US" sz="2000" dirty="0">
                <a:latin typeface="Times New Roman" pitchFamily="18" charset="0"/>
                <a:ea typeface="宋体" pitchFamily="2" charset="-122"/>
              </a:rPr>
              <a:t>；</a:t>
            </a:r>
            <a:endParaRPr lang="zh-CN" altLang="zh-CN" sz="2000" dirty="0">
              <a:latin typeface="Times New Roman" pitchFamily="18" charset="0"/>
              <a:ea typeface="宋体" pitchFamily="2" charset="-122"/>
            </a:endParaRPr>
          </a:p>
        </p:txBody>
      </p:sp>
      <p:sp>
        <p:nvSpPr>
          <p:cNvPr id="94" name="矩形 93"/>
          <p:cNvSpPr/>
          <p:nvPr/>
        </p:nvSpPr>
        <p:spPr>
          <a:xfrm>
            <a:off x="5800155" y="3003798"/>
            <a:ext cx="1649811" cy="400110"/>
          </a:xfrm>
          <a:prstGeom prst="rect">
            <a:avLst/>
          </a:prstGeom>
        </p:spPr>
        <p:txBody>
          <a:bodyPr wrap="none">
            <a:spAutoFit/>
          </a:bodyPr>
          <a:lstStyle/>
          <a:p>
            <a:r>
              <a:rPr lang="en-US" altLang="zh-CN" sz="2000" dirty="0" err="1">
                <a:latin typeface="Times New Roman" pitchFamily="18" charset="0"/>
                <a:ea typeface="宋体" pitchFamily="2" charset="-122"/>
              </a:rPr>
              <a:t>LinkList</a:t>
            </a:r>
            <a:r>
              <a:rPr lang="en-US" altLang="zh-CN" sz="2000" dirty="0">
                <a:latin typeface="Times New Roman" pitchFamily="18" charset="0"/>
                <a:ea typeface="宋体" pitchFamily="2" charset="-122"/>
              </a:rPr>
              <a:t>      p;</a:t>
            </a:r>
            <a:endParaRPr lang="zh-CN" altLang="zh-CN" sz="2000" dirty="0">
              <a:latin typeface="Times New Roman" pitchFamily="18" charset="0"/>
              <a:ea typeface="宋体" pitchFamily="2" charset="-122"/>
            </a:endParaRPr>
          </a:p>
        </p:txBody>
      </p:sp>
      <p:sp>
        <p:nvSpPr>
          <p:cNvPr id="95" name="Rectangle 5"/>
          <p:cNvSpPr>
            <a:spLocks noChangeArrowheads="1"/>
          </p:cNvSpPr>
          <p:nvPr/>
        </p:nvSpPr>
        <p:spPr bwMode="auto">
          <a:xfrm>
            <a:off x="6615122" y="2011975"/>
            <a:ext cx="1413262" cy="431756"/>
          </a:xfrm>
          <a:prstGeom prst="rect">
            <a:avLst/>
          </a:prstGeom>
          <a:noFill/>
          <a:ln w="9525">
            <a:solidFill>
              <a:schemeClr val="tx1"/>
            </a:solidFill>
            <a:miter lim="800000"/>
            <a:headEnd/>
            <a:tailEnd/>
          </a:ln>
        </p:spPr>
        <p:txBody>
          <a:bodyPr wrap="none" anchor="ctr"/>
          <a:lstStyle/>
          <a:p>
            <a:pPr>
              <a:spcBef>
                <a:spcPct val="20000"/>
              </a:spcBef>
            </a:pPr>
            <a:r>
              <a:rPr lang="en-US" altLang="zh-CN" sz="2000" baseline="-25000" dirty="0"/>
              <a:t> </a:t>
            </a:r>
            <a:r>
              <a:rPr lang="en-US" altLang="zh-CN" sz="2000" dirty="0">
                <a:latin typeface="Times New Roman" pitchFamily="18" charset="0"/>
                <a:ea typeface="宋体" pitchFamily="2" charset="-122"/>
              </a:rPr>
              <a:t>data</a:t>
            </a:r>
            <a:r>
              <a:rPr lang="en-US" altLang="zh-CN" sz="2000" dirty="0"/>
              <a:t>    </a:t>
            </a:r>
            <a:r>
              <a:rPr lang="en-US" altLang="zh-CN" sz="2000" dirty="0">
                <a:latin typeface="Times New Roman" pitchFamily="18" charset="0"/>
                <a:ea typeface="宋体" pitchFamily="2" charset="-122"/>
              </a:rPr>
              <a:t>next</a:t>
            </a:r>
            <a:endParaRPr lang="en-US" altLang="zh-CN" sz="2000" dirty="0"/>
          </a:p>
        </p:txBody>
      </p:sp>
      <p:sp>
        <p:nvSpPr>
          <p:cNvPr id="96" name="Line 6"/>
          <p:cNvSpPr>
            <a:spLocks noChangeShapeType="1"/>
          </p:cNvSpPr>
          <p:nvPr/>
        </p:nvSpPr>
        <p:spPr bwMode="auto">
          <a:xfrm>
            <a:off x="7350084" y="202346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97" name="矩形 96"/>
          <p:cNvSpPr/>
          <p:nvPr/>
        </p:nvSpPr>
        <p:spPr>
          <a:xfrm>
            <a:off x="6242904" y="1923678"/>
            <a:ext cx="341760" cy="400110"/>
          </a:xfrm>
          <a:prstGeom prst="rect">
            <a:avLst/>
          </a:prstGeom>
        </p:spPr>
        <p:txBody>
          <a:bodyPr wrap="none">
            <a:spAutoFit/>
          </a:bodyPr>
          <a:lstStyle/>
          <a:p>
            <a:r>
              <a:rPr lang="en-US" altLang="zh-CN" sz="2000" dirty="0">
                <a:latin typeface="Times New Roman" pitchFamily="18" charset="0"/>
                <a:ea typeface="宋体" pitchFamily="2" charset="-122"/>
              </a:rPr>
              <a:t>L</a:t>
            </a:r>
            <a:endParaRPr lang="zh-CN" altLang="zh-CN" sz="2000" dirty="0">
              <a:latin typeface="Times New Roman" pitchFamily="18" charset="0"/>
              <a:ea typeface="宋体" pitchFamily="2" charset="-122"/>
            </a:endParaRPr>
          </a:p>
        </p:txBody>
      </p:sp>
      <p:sp>
        <p:nvSpPr>
          <p:cNvPr id="98" name="矩形 97"/>
          <p:cNvSpPr/>
          <p:nvPr/>
        </p:nvSpPr>
        <p:spPr>
          <a:xfrm>
            <a:off x="6530172" y="2443730"/>
            <a:ext cx="832279" cy="400110"/>
          </a:xfrm>
          <a:prstGeom prst="rect">
            <a:avLst/>
          </a:prstGeom>
        </p:spPr>
        <p:txBody>
          <a:bodyPr wrap="none">
            <a:spAutoFit/>
          </a:bodyPr>
          <a:lstStyle/>
          <a:p>
            <a:r>
              <a:rPr lang="en-US" altLang="zh-CN" sz="2000" dirty="0" err="1">
                <a:latin typeface="Times New Roman" pitchFamily="18" charset="0"/>
                <a:ea typeface="宋体" pitchFamily="2" charset="-122"/>
              </a:rPr>
              <a:t>L.data</a:t>
            </a:r>
            <a:endParaRPr lang="zh-CN" altLang="zh-CN" sz="2000" dirty="0">
              <a:latin typeface="Times New Roman" pitchFamily="18" charset="0"/>
              <a:ea typeface="宋体" pitchFamily="2" charset="-122"/>
            </a:endParaRPr>
          </a:p>
        </p:txBody>
      </p:sp>
      <p:sp>
        <p:nvSpPr>
          <p:cNvPr id="99" name="矩形 98"/>
          <p:cNvSpPr/>
          <p:nvPr/>
        </p:nvSpPr>
        <p:spPr>
          <a:xfrm>
            <a:off x="7478681" y="2443730"/>
            <a:ext cx="846707" cy="400110"/>
          </a:xfrm>
          <a:prstGeom prst="rect">
            <a:avLst/>
          </a:prstGeom>
        </p:spPr>
        <p:txBody>
          <a:bodyPr wrap="none">
            <a:spAutoFit/>
          </a:bodyPr>
          <a:lstStyle/>
          <a:p>
            <a:r>
              <a:rPr lang="en-US" altLang="zh-CN" sz="2000" dirty="0" err="1">
                <a:latin typeface="Times New Roman" pitchFamily="18" charset="0"/>
                <a:ea typeface="宋体" pitchFamily="2" charset="-122"/>
              </a:rPr>
              <a:t>L.next</a:t>
            </a:r>
            <a:endParaRPr lang="zh-CN" altLang="zh-CN" sz="2000" dirty="0">
              <a:latin typeface="Times New Roman" pitchFamily="18" charset="0"/>
              <a:ea typeface="宋体" pitchFamily="2" charset="-122"/>
            </a:endParaRPr>
          </a:p>
        </p:txBody>
      </p:sp>
      <p:sp>
        <p:nvSpPr>
          <p:cNvPr id="100" name="矩形 99"/>
          <p:cNvSpPr/>
          <p:nvPr/>
        </p:nvSpPr>
        <p:spPr>
          <a:xfrm>
            <a:off x="5800156" y="3342244"/>
            <a:ext cx="883575" cy="400110"/>
          </a:xfrm>
          <a:prstGeom prst="rect">
            <a:avLst/>
          </a:prstGeom>
        </p:spPr>
        <p:txBody>
          <a:bodyPr wrap="none">
            <a:spAutoFit/>
          </a:bodyPr>
          <a:lstStyle/>
          <a:p>
            <a:r>
              <a:rPr lang="en-US" altLang="zh-CN" sz="2000" dirty="0">
                <a:latin typeface="Times New Roman" pitchFamily="18" charset="0"/>
                <a:ea typeface="宋体" pitchFamily="2" charset="-122"/>
              </a:rPr>
              <a:t>p=&amp;L;</a:t>
            </a:r>
            <a:endParaRPr lang="zh-CN" altLang="zh-CN" sz="2000" dirty="0">
              <a:latin typeface="Times New Roman" pitchFamily="18" charset="0"/>
              <a:ea typeface="宋体" pitchFamily="2" charset="-122"/>
            </a:endParaRPr>
          </a:p>
        </p:txBody>
      </p:sp>
      <p:sp>
        <p:nvSpPr>
          <p:cNvPr id="101" name="Rectangle 5"/>
          <p:cNvSpPr>
            <a:spLocks noChangeArrowheads="1"/>
          </p:cNvSpPr>
          <p:nvPr/>
        </p:nvSpPr>
        <p:spPr bwMode="auto">
          <a:xfrm>
            <a:off x="7071323" y="3699213"/>
            <a:ext cx="1311897" cy="431756"/>
          </a:xfrm>
          <a:prstGeom prst="rect">
            <a:avLst/>
          </a:prstGeom>
          <a:noFill/>
          <a:ln w="9525">
            <a:solidFill>
              <a:schemeClr val="tx1"/>
            </a:solidFill>
            <a:miter lim="800000"/>
            <a:headEnd/>
            <a:tailEnd/>
          </a:ln>
        </p:spPr>
        <p:txBody>
          <a:bodyPr wrap="none" anchor="ctr"/>
          <a:lstStyle/>
          <a:p>
            <a:pPr>
              <a:spcBef>
                <a:spcPct val="20000"/>
              </a:spcBef>
            </a:pPr>
            <a:r>
              <a:rPr lang="en-US" altLang="zh-CN" sz="2000" baseline="-25000" dirty="0"/>
              <a:t> </a:t>
            </a:r>
            <a:r>
              <a:rPr lang="en-US" altLang="zh-CN" sz="2000" dirty="0">
                <a:latin typeface="Times New Roman" pitchFamily="18" charset="0"/>
                <a:ea typeface="宋体" pitchFamily="2" charset="-122"/>
              </a:rPr>
              <a:t>data</a:t>
            </a:r>
            <a:r>
              <a:rPr lang="en-US" altLang="zh-CN" sz="2000" dirty="0"/>
              <a:t>    </a:t>
            </a:r>
            <a:r>
              <a:rPr lang="en-US" altLang="zh-CN" sz="2000" dirty="0">
                <a:latin typeface="Times New Roman" pitchFamily="18" charset="0"/>
                <a:ea typeface="宋体" pitchFamily="2" charset="-122"/>
              </a:rPr>
              <a:t>next</a:t>
            </a:r>
            <a:endParaRPr lang="en-US" altLang="zh-CN" sz="2000" dirty="0"/>
          </a:p>
        </p:txBody>
      </p:sp>
      <p:sp>
        <p:nvSpPr>
          <p:cNvPr id="102" name="Line 6"/>
          <p:cNvSpPr>
            <a:spLocks noChangeShapeType="1"/>
          </p:cNvSpPr>
          <p:nvPr/>
        </p:nvSpPr>
        <p:spPr bwMode="auto">
          <a:xfrm>
            <a:off x="7740352" y="3699213"/>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103" name="矩形 102"/>
          <p:cNvSpPr/>
          <p:nvPr/>
        </p:nvSpPr>
        <p:spPr>
          <a:xfrm>
            <a:off x="6395448" y="3688493"/>
            <a:ext cx="312906" cy="400110"/>
          </a:xfrm>
          <a:prstGeom prst="rect">
            <a:avLst/>
          </a:prstGeom>
        </p:spPr>
        <p:txBody>
          <a:bodyPr wrap="none">
            <a:spAutoFit/>
          </a:bodyPr>
          <a:lstStyle/>
          <a:p>
            <a:r>
              <a:rPr lang="en-US" altLang="zh-CN" sz="2000" dirty="0">
                <a:latin typeface="Times New Roman" pitchFamily="18" charset="0"/>
                <a:ea typeface="宋体" pitchFamily="2" charset="-122"/>
              </a:rPr>
              <a:t>p</a:t>
            </a:r>
            <a:endParaRPr lang="zh-CN" altLang="zh-CN" sz="2000" dirty="0">
              <a:latin typeface="Times New Roman" pitchFamily="18" charset="0"/>
              <a:ea typeface="宋体" pitchFamily="2" charset="-122"/>
            </a:endParaRPr>
          </a:p>
        </p:txBody>
      </p:sp>
      <p:sp>
        <p:nvSpPr>
          <p:cNvPr id="104" name="Line 29"/>
          <p:cNvSpPr>
            <a:spLocks noChangeShapeType="1"/>
          </p:cNvSpPr>
          <p:nvPr/>
        </p:nvSpPr>
        <p:spPr bwMode="auto">
          <a:xfrm>
            <a:off x="6707697" y="391509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p>
        </p:txBody>
      </p:sp>
      <p:sp>
        <p:nvSpPr>
          <p:cNvPr id="105" name="矩形 104"/>
          <p:cNvSpPr/>
          <p:nvPr/>
        </p:nvSpPr>
        <p:spPr>
          <a:xfrm>
            <a:off x="6675074" y="4130968"/>
            <a:ext cx="968535" cy="400110"/>
          </a:xfrm>
          <a:prstGeom prst="rect">
            <a:avLst/>
          </a:prstGeom>
        </p:spPr>
        <p:txBody>
          <a:bodyPr wrap="none">
            <a:spAutoFit/>
          </a:bodyPr>
          <a:lstStyle/>
          <a:p>
            <a:r>
              <a:rPr lang="en-US" altLang="zh-CN" sz="2000" dirty="0">
                <a:latin typeface="Times New Roman" pitchFamily="18" charset="0"/>
                <a:ea typeface="宋体" pitchFamily="2" charset="-122"/>
              </a:rPr>
              <a:t>p-&gt;data</a:t>
            </a:r>
            <a:endParaRPr lang="zh-CN" altLang="zh-CN" sz="2000" dirty="0">
              <a:latin typeface="Times New Roman" pitchFamily="18" charset="0"/>
              <a:ea typeface="宋体" pitchFamily="2" charset="-122"/>
            </a:endParaRPr>
          </a:p>
        </p:txBody>
      </p:sp>
      <p:sp>
        <p:nvSpPr>
          <p:cNvPr id="106" name="矩形 105"/>
          <p:cNvSpPr/>
          <p:nvPr/>
        </p:nvSpPr>
        <p:spPr>
          <a:xfrm>
            <a:off x="7891740" y="4112336"/>
            <a:ext cx="982961" cy="400110"/>
          </a:xfrm>
          <a:prstGeom prst="rect">
            <a:avLst/>
          </a:prstGeom>
        </p:spPr>
        <p:txBody>
          <a:bodyPr wrap="none">
            <a:spAutoFit/>
          </a:bodyPr>
          <a:lstStyle/>
          <a:p>
            <a:r>
              <a:rPr lang="en-US" altLang="zh-CN" sz="2000" dirty="0">
                <a:latin typeface="Times New Roman" pitchFamily="18" charset="0"/>
                <a:ea typeface="宋体" pitchFamily="2" charset="-122"/>
              </a:rPr>
              <a:t>p-&gt;next</a:t>
            </a:r>
            <a:endParaRPr lang="zh-CN" altLang="zh-CN" sz="2000" dirty="0">
              <a:latin typeface="Times New Roman" pitchFamily="18" charset="0"/>
              <a:ea typeface="宋体" pitchFamily="2" charset="-122"/>
            </a:endParaRPr>
          </a:p>
        </p:txBody>
      </p:sp>
      <p:cxnSp>
        <p:nvCxnSpPr>
          <p:cNvPr id="39" name="直接连接符 38"/>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471391" y="3057804"/>
            <a:ext cx="2246064" cy="369332"/>
          </a:xfrm>
          <a:prstGeom prst="rect">
            <a:avLst/>
          </a:prstGeom>
        </p:spPr>
        <p:txBody>
          <a:bodyPr wrap="none">
            <a:spAutoFit/>
          </a:bodyPr>
          <a:lstStyle/>
          <a:p>
            <a:r>
              <a:rPr lang="en-US" altLang="zh-CN" dirty="0" err="1">
                <a:latin typeface="Times New Roman" pitchFamily="18" charset="0"/>
                <a:ea typeface="宋体" pitchFamily="2" charset="-122"/>
              </a:rPr>
              <a:t>typedef</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int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ElemType</a:t>
            </a:r>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p:txBody>
      </p:sp>
      <p:sp>
        <p:nvSpPr>
          <p:cNvPr id="3" name="Rectangle 2">
            <a:extLst>
              <a:ext uri="{FF2B5EF4-FFF2-40B4-BE49-F238E27FC236}">
                <a16:creationId xmlns:a16="http://schemas.microsoft.com/office/drawing/2014/main" id="{1A551409-B47B-C7C0-DBB0-DD56C1BC5A07}"/>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37" name="矩形 36">
            <a:extLst>
              <a:ext uri="{FF2B5EF4-FFF2-40B4-BE49-F238E27FC236}">
                <a16:creationId xmlns:a16="http://schemas.microsoft.com/office/drawing/2014/main" id="{12F4DB78-ED55-4DA7-8903-D56C5ED20CDD}"/>
              </a:ext>
            </a:extLst>
          </p:cNvPr>
          <p:cNvSpPr/>
          <p:nvPr/>
        </p:nvSpPr>
        <p:spPr>
          <a:xfrm>
            <a:off x="195717" y="892085"/>
            <a:ext cx="242829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a:t>
            </a:r>
          </a:p>
        </p:txBody>
      </p:sp>
    </p:spTree>
    <p:extLst>
      <p:ext uri="{BB962C8B-B14F-4D97-AF65-F5344CB8AC3E}">
        <p14:creationId xmlns:p14="http://schemas.microsoft.com/office/powerpoint/2010/main" val="242631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92" grpId="0"/>
      <p:bldP spid="93" grpId="0"/>
      <p:bldP spid="94" grpId="0"/>
      <p:bldP spid="95" grpId="0" animBg="1"/>
      <p:bldP spid="96" grpId="0" animBg="1"/>
      <p:bldP spid="97" grpId="0"/>
      <p:bldP spid="98" grpId="0"/>
      <p:bldP spid="99" grpId="0"/>
      <p:bldP spid="100" grpId="0"/>
      <p:bldP spid="101" grpId="0" animBg="1"/>
      <p:bldP spid="102" grpId="0" animBg="1"/>
      <p:bldP spid="103" grpId="0"/>
      <p:bldP spid="104" grpId="0" animBg="1"/>
      <p:bldP spid="105" grpId="0"/>
      <p:bldP spid="106" grpId="0"/>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5"/>
          <p:cNvSpPr>
            <a:spLocks noChangeArrowheads="1"/>
          </p:cNvSpPr>
          <p:nvPr/>
        </p:nvSpPr>
        <p:spPr bwMode="auto">
          <a:xfrm>
            <a:off x="2282197" y="170765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37" name="Line 6"/>
          <p:cNvSpPr>
            <a:spLocks noChangeShapeType="1"/>
          </p:cNvSpPr>
          <p:nvPr/>
        </p:nvSpPr>
        <p:spPr bwMode="auto">
          <a:xfrm>
            <a:off x="2815597" y="170765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Rectangle 25"/>
          <p:cNvSpPr>
            <a:spLocks noChangeArrowheads="1"/>
          </p:cNvSpPr>
          <p:nvPr/>
        </p:nvSpPr>
        <p:spPr bwMode="auto">
          <a:xfrm>
            <a:off x="4446082" y="17816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0" name="Rectangle 36"/>
          <p:cNvSpPr>
            <a:spLocks noChangeArrowheads="1"/>
          </p:cNvSpPr>
          <p:nvPr/>
        </p:nvSpPr>
        <p:spPr bwMode="auto">
          <a:xfrm>
            <a:off x="6336966" y="1803621"/>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1" name="Line 29"/>
          <p:cNvSpPr>
            <a:spLocks noChangeShapeType="1"/>
          </p:cNvSpPr>
          <p:nvPr/>
        </p:nvSpPr>
        <p:spPr bwMode="auto">
          <a:xfrm>
            <a:off x="1901197" y="196182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 name="Rectangle 5"/>
          <p:cNvSpPr>
            <a:spLocks noChangeArrowheads="1"/>
          </p:cNvSpPr>
          <p:nvPr/>
        </p:nvSpPr>
        <p:spPr bwMode="auto">
          <a:xfrm>
            <a:off x="3457854" y="171302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50" name="Line 6"/>
          <p:cNvSpPr>
            <a:spLocks noChangeShapeType="1"/>
          </p:cNvSpPr>
          <p:nvPr/>
        </p:nvSpPr>
        <p:spPr bwMode="auto">
          <a:xfrm>
            <a:off x="3991254" y="171302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29"/>
          <p:cNvSpPr>
            <a:spLocks noChangeShapeType="1"/>
          </p:cNvSpPr>
          <p:nvPr/>
        </p:nvSpPr>
        <p:spPr bwMode="auto">
          <a:xfrm>
            <a:off x="3076854" y="196720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 name="Line 29"/>
          <p:cNvSpPr>
            <a:spLocks noChangeShapeType="1"/>
          </p:cNvSpPr>
          <p:nvPr/>
        </p:nvSpPr>
        <p:spPr bwMode="auto">
          <a:xfrm>
            <a:off x="4858373" y="1957982"/>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Line 29"/>
          <p:cNvSpPr>
            <a:spLocks noChangeShapeType="1"/>
          </p:cNvSpPr>
          <p:nvPr/>
        </p:nvSpPr>
        <p:spPr bwMode="auto">
          <a:xfrm>
            <a:off x="4181754" y="1964514"/>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5"/>
          <p:cNvSpPr>
            <a:spLocks noChangeArrowheads="1"/>
          </p:cNvSpPr>
          <p:nvPr/>
        </p:nvSpPr>
        <p:spPr bwMode="auto">
          <a:xfrm>
            <a:off x="5061302" y="174148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60" name="Line 6"/>
          <p:cNvSpPr>
            <a:spLocks noChangeShapeType="1"/>
          </p:cNvSpPr>
          <p:nvPr/>
        </p:nvSpPr>
        <p:spPr bwMode="auto">
          <a:xfrm>
            <a:off x="5594702" y="174148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29"/>
          <p:cNvSpPr>
            <a:spLocks noChangeShapeType="1"/>
          </p:cNvSpPr>
          <p:nvPr/>
        </p:nvSpPr>
        <p:spPr bwMode="auto">
          <a:xfrm>
            <a:off x="6004952" y="1996557"/>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 name="Rectangle 5"/>
          <p:cNvSpPr>
            <a:spLocks noChangeArrowheads="1"/>
          </p:cNvSpPr>
          <p:nvPr/>
        </p:nvSpPr>
        <p:spPr bwMode="auto">
          <a:xfrm>
            <a:off x="7052675" y="175662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74" name="Line 6"/>
          <p:cNvSpPr>
            <a:spLocks noChangeShapeType="1"/>
          </p:cNvSpPr>
          <p:nvPr/>
        </p:nvSpPr>
        <p:spPr bwMode="auto">
          <a:xfrm>
            <a:off x="7612202" y="175662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29"/>
          <p:cNvSpPr>
            <a:spLocks noChangeShapeType="1"/>
          </p:cNvSpPr>
          <p:nvPr/>
        </p:nvSpPr>
        <p:spPr bwMode="auto">
          <a:xfrm>
            <a:off x="6671675" y="2004262"/>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 name="矩形 75"/>
          <p:cNvSpPr/>
          <p:nvPr/>
        </p:nvSpPr>
        <p:spPr>
          <a:xfrm>
            <a:off x="877120" y="1756621"/>
            <a:ext cx="1093568" cy="523220"/>
          </a:xfrm>
          <a:prstGeom prst="rect">
            <a:avLst/>
          </a:prstGeom>
        </p:spPr>
        <p:txBody>
          <a:bodyPr wrap="none">
            <a:spAutoFit/>
          </a:bodyPr>
          <a:lstStyle/>
          <a:p>
            <a:pPr algn="r"/>
            <a:r>
              <a:rPr lang="en-US" altLang="zh-CN" sz="2800" dirty="0">
                <a:latin typeface="微软雅黑" pitchFamily="34" charset="-122"/>
                <a:ea typeface="微软雅黑" pitchFamily="34" charset="-122"/>
              </a:rPr>
              <a:t>Head</a:t>
            </a:r>
          </a:p>
        </p:txBody>
      </p:sp>
      <p:sp>
        <p:nvSpPr>
          <p:cNvPr id="77" name="Rectangle 3"/>
          <p:cNvSpPr txBox="1">
            <a:spLocks noChangeArrowheads="1"/>
          </p:cNvSpPr>
          <p:nvPr/>
        </p:nvSpPr>
        <p:spPr>
          <a:xfrm>
            <a:off x="842285" y="2242382"/>
            <a:ext cx="3375743" cy="3151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dirty="0">
                <a:latin typeface="微软雅黑" pitchFamily="34" charset="-122"/>
                <a:ea typeface="微软雅黑" pitchFamily="34" charset="-122"/>
                <a:cs typeface="经典粗黑简" pitchFamily="49" charset="-122"/>
              </a:rPr>
              <a:t>带附加头结点的单链表</a:t>
            </a:r>
          </a:p>
        </p:txBody>
      </p:sp>
      <p:sp>
        <p:nvSpPr>
          <p:cNvPr id="78" name="Rectangle 5"/>
          <p:cNvSpPr>
            <a:spLocks noChangeArrowheads="1"/>
          </p:cNvSpPr>
          <p:nvPr/>
        </p:nvSpPr>
        <p:spPr bwMode="auto">
          <a:xfrm>
            <a:off x="2785882" y="256641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79" name="Line 6"/>
          <p:cNvSpPr>
            <a:spLocks noChangeShapeType="1"/>
          </p:cNvSpPr>
          <p:nvPr/>
        </p:nvSpPr>
        <p:spPr bwMode="auto">
          <a:xfrm>
            <a:off x="3319282" y="256641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Rectangle 25"/>
          <p:cNvSpPr>
            <a:spLocks noChangeArrowheads="1"/>
          </p:cNvSpPr>
          <p:nvPr/>
        </p:nvSpPr>
        <p:spPr bwMode="auto">
          <a:xfrm>
            <a:off x="4949767" y="264038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82" name="Rectangle 36"/>
          <p:cNvSpPr>
            <a:spLocks noChangeArrowheads="1"/>
          </p:cNvSpPr>
          <p:nvPr/>
        </p:nvSpPr>
        <p:spPr bwMode="auto">
          <a:xfrm>
            <a:off x="6896615" y="266238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83" name="Line 29"/>
          <p:cNvSpPr>
            <a:spLocks noChangeShapeType="1"/>
          </p:cNvSpPr>
          <p:nvPr/>
        </p:nvSpPr>
        <p:spPr bwMode="auto">
          <a:xfrm>
            <a:off x="1233404" y="2818089"/>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 name="Rectangle 5"/>
          <p:cNvSpPr>
            <a:spLocks noChangeArrowheads="1"/>
          </p:cNvSpPr>
          <p:nvPr/>
        </p:nvSpPr>
        <p:spPr bwMode="auto">
          <a:xfrm>
            <a:off x="3961539" y="2571792"/>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85" name="Line 6"/>
          <p:cNvSpPr>
            <a:spLocks noChangeShapeType="1"/>
          </p:cNvSpPr>
          <p:nvPr/>
        </p:nvSpPr>
        <p:spPr bwMode="auto">
          <a:xfrm>
            <a:off x="4494939" y="2571792"/>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Line 29"/>
          <p:cNvSpPr>
            <a:spLocks noChangeShapeType="1"/>
          </p:cNvSpPr>
          <p:nvPr/>
        </p:nvSpPr>
        <p:spPr bwMode="auto">
          <a:xfrm>
            <a:off x="3580539" y="2825965"/>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 name="Line 29"/>
          <p:cNvSpPr>
            <a:spLocks noChangeShapeType="1"/>
          </p:cNvSpPr>
          <p:nvPr/>
        </p:nvSpPr>
        <p:spPr bwMode="auto">
          <a:xfrm>
            <a:off x="4685439" y="2823278"/>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1" name="Rectangle 5"/>
          <p:cNvSpPr>
            <a:spLocks noChangeArrowheads="1"/>
          </p:cNvSpPr>
          <p:nvPr/>
        </p:nvSpPr>
        <p:spPr bwMode="auto">
          <a:xfrm>
            <a:off x="5686199" y="2600249"/>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07" name="Line 6"/>
          <p:cNvSpPr>
            <a:spLocks noChangeShapeType="1"/>
          </p:cNvSpPr>
          <p:nvPr/>
        </p:nvSpPr>
        <p:spPr bwMode="auto">
          <a:xfrm>
            <a:off x="6219599" y="260024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 name="Line 29"/>
          <p:cNvSpPr>
            <a:spLocks noChangeShapeType="1"/>
          </p:cNvSpPr>
          <p:nvPr/>
        </p:nvSpPr>
        <p:spPr bwMode="auto">
          <a:xfrm>
            <a:off x="5305199" y="2854422"/>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 name="Line 29"/>
          <p:cNvSpPr>
            <a:spLocks noChangeShapeType="1"/>
          </p:cNvSpPr>
          <p:nvPr/>
        </p:nvSpPr>
        <p:spPr bwMode="auto">
          <a:xfrm>
            <a:off x="6450906" y="2855322"/>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 name="Rectangle 5"/>
          <p:cNvSpPr>
            <a:spLocks noChangeArrowheads="1"/>
          </p:cNvSpPr>
          <p:nvPr/>
        </p:nvSpPr>
        <p:spPr bwMode="auto">
          <a:xfrm>
            <a:off x="7612324" y="261538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114" name="Line 6"/>
          <p:cNvSpPr>
            <a:spLocks noChangeShapeType="1"/>
          </p:cNvSpPr>
          <p:nvPr/>
        </p:nvSpPr>
        <p:spPr bwMode="auto">
          <a:xfrm>
            <a:off x="8171851" y="261538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 name="Line 29"/>
          <p:cNvSpPr>
            <a:spLocks noChangeShapeType="1"/>
          </p:cNvSpPr>
          <p:nvPr/>
        </p:nvSpPr>
        <p:spPr bwMode="auto">
          <a:xfrm>
            <a:off x="7231324" y="2863026"/>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6" name="矩形 115"/>
          <p:cNvSpPr/>
          <p:nvPr/>
        </p:nvSpPr>
        <p:spPr>
          <a:xfrm>
            <a:off x="139836" y="2608090"/>
            <a:ext cx="1093568" cy="523220"/>
          </a:xfrm>
          <a:prstGeom prst="rect">
            <a:avLst/>
          </a:prstGeom>
        </p:spPr>
        <p:txBody>
          <a:bodyPr wrap="none">
            <a:spAutoFit/>
          </a:bodyPr>
          <a:lstStyle/>
          <a:p>
            <a:pPr algn="r"/>
            <a:r>
              <a:rPr lang="en-US" altLang="zh-CN" sz="2800" dirty="0">
                <a:latin typeface="微软雅黑" pitchFamily="34" charset="-122"/>
                <a:ea typeface="微软雅黑" pitchFamily="34" charset="-122"/>
              </a:rPr>
              <a:t>Head</a:t>
            </a:r>
          </a:p>
        </p:txBody>
      </p:sp>
      <p:sp>
        <p:nvSpPr>
          <p:cNvPr id="117" name="Rectangle 5"/>
          <p:cNvSpPr>
            <a:spLocks noChangeArrowheads="1"/>
          </p:cNvSpPr>
          <p:nvPr/>
        </p:nvSpPr>
        <p:spPr bwMode="auto">
          <a:xfrm>
            <a:off x="1624690" y="2566418"/>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18" name="Line 29"/>
          <p:cNvSpPr>
            <a:spLocks noChangeShapeType="1"/>
          </p:cNvSpPr>
          <p:nvPr/>
        </p:nvSpPr>
        <p:spPr bwMode="auto">
          <a:xfrm>
            <a:off x="2419347" y="2825965"/>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9" name="Line 6"/>
          <p:cNvSpPr>
            <a:spLocks noChangeShapeType="1"/>
          </p:cNvSpPr>
          <p:nvPr/>
        </p:nvSpPr>
        <p:spPr bwMode="auto">
          <a:xfrm>
            <a:off x="2178460" y="2571932"/>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 name="矩形 119"/>
          <p:cNvSpPr/>
          <p:nvPr/>
        </p:nvSpPr>
        <p:spPr>
          <a:xfrm>
            <a:off x="754490" y="3229561"/>
            <a:ext cx="1338828" cy="369332"/>
          </a:xfrm>
          <a:prstGeom prst="rect">
            <a:avLst/>
          </a:prstGeom>
        </p:spPr>
        <p:txBody>
          <a:bodyPr wrap="none">
            <a:spAutoFit/>
          </a:bodyPr>
          <a:lstStyle/>
          <a:p>
            <a:r>
              <a:rPr lang="zh-CN" altLang="en-US" dirty="0">
                <a:latin typeface="微软雅黑" pitchFamily="34" charset="-122"/>
                <a:ea typeface="微软雅黑" pitchFamily="34" charset="-122"/>
                <a:cs typeface="经典粗黑简" pitchFamily="49" charset="-122"/>
              </a:rPr>
              <a:t>附加头结点</a:t>
            </a:r>
            <a:endParaRPr lang="zh-CN" altLang="en-US" dirty="0"/>
          </a:p>
        </p:txBody>
      </p:sp>
      <p:sp>
        <p:nvSpPr>
          <p:cNvPr id="121" name="矩形标注 120"/>
          <p:cNvSpPr/>
          <p:nvPr/>
        </p:nvSpPr>
        <p:spPr>
          <a:xfrm rot="10800000">
            <a:off x="691677" y="3188612"/>
            <a:ext cx="1401641" cy="346166"/>
          </a:xfrm>
          <a:prstGeom prst="wedgeRectCallout">
            <a:avLst>
              <a:gd name="adj1" fmla="val -36559"/>
              <a:gd name="adj2" fmla="val 10967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矩形 121"/>
          <p:cNvSpPr/>
          <p:nvPr/>
        </p:nvSpPr>
        <p:spPr>
          <a:xfrm>
            <a:off x="722830" y="3539968"/>
            <a:ext cx="4919661" cy="923330"/>
          </a:xfrm>
          <a:prstGeom prst="rect">
            <a:avLst/>
          </a:prstGeom>
        </p:spPr>
        <p:txBody>
          <a:bodyPr wrap="square">
            <a:spAutoFit/>
          </a:bodyPr>
          <a:lstStyle/>
          <a:p>
            <a:pPr marL="0" lvl="1"/>
            <a:r>
              <a:rPr lang="zh-CN" altLang="en-US" dirty="0">
                <a:latin typeface="微软雅黑" pitchFamily="34" charset="-122"/>
                <a:ea typeface="微软雅黑" pitchFamily="34" charset="-122"/>
                <a:cs typeface="经典粗黑简" pitchFamily="49" charset="-122"/>
              </a:rPr>
              <a:t>附加头结点：头结点除指针域外可以存储链表的其他信息，如链表的长度、链表的说明等信息，也可以不存储任何信息。</a:t>
            </a:r>
          </a:p>
        </p:txBody>
      </p:sp>
      <p:sp>
        <p:nvSpPr>
          <p:cNvPr id="123" name="矩形 122"/>
          <p:cNvSpPr/>
          <p:nvPr/>
        </p:nvSpPr>
        <p:spPr>
          <a:xfrm>
            <a:off x="5670846" y="3243690"/>
            <a:ext cx="2547257" cy="369332"/>
          </a:xfrm>
          <a:prstGeom prst="rect">
            <a:avLst/>
          </a:prstGeom>
        </p:spPr>
        <p:txBody>
          <a:bodyPr wrap="square">
            <a:spAutoFit/>
          </a:bodyPr>
          <a:lstStyle/>
          <a:p>
            <a:pPr marL="0" lvl="1"/>
            <a:r>
              <a:rPr lang="zh-CN" altLang="en-US" dirty="0">
                <a:latin typeface="微软雅黑" pitchFamily="34" charset="-122"/>
                <a:ea typeface="微软雅黑" pitchFamily="34" charset="-122"/>
                <a:cs typeface="经典粗黑简" pitchFamily="49" charset="-122"/>
              </a:rPr>
              <a:t>带附加头结点的空链表：</a:t>
            </a:r>
          </a:p>
        </p:txBody>
      </p:sp>
      <p:sp>
        <p:nvSpPr>
          <p:cNvPr id="124" name="Rectangle 228"/>
          <p:cNvSpPr>
            <a:spLocks noChangeArrowheads="1"/>
          </p:cNvSpPr>
          <p:nvPr/>
        </p:nvSpPr>
        <p:spPr bwMode="auto">
          <a:xfrm>
            <a:off x="6206949" y="3748133"/>
            <a:ext cx="965109" cy="461665"/>
          </a:xfrm>
          <a:prstGeom prst="rect">
            <a:avLst/>
          </a:prstGeom>
          <a:noFill/>
          <a:ln>
            <a:noFill/>
          </a:ln>
        </p:spPr>
        <p:txBody>
          <a:bodyPr wrap="square">
            <a:spAutoFit/>
          </a:bodyPr>
          <a:lstStyle/>
          <a:p>
            <a:pPr algn="r"/>
            <a:r>
              <a:rPr kumimoji="0" lang="en-US" altLang="zh-CN" sz="2400" b="1" dirty="0"/>
              <a:t>Head</a:t>
            </a:r>
          </a:p>
        </p:txBody>
      </p:sp>
      <p:sp>
        <p:nvSpPr>
          <p:cNvPr id="125" name="Line 29"/>
          <p:cNvSpPr>
            <a:spLocks noChangeShapeType="1"/>
          </p:cNvSpPr>
          <p:nvPr/>
        </p:nvSpPr>
        <p:spPr bwMode="auto">
          <a:xfrm>
            <a:off x="7128512" y="3938412"/>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6" name="Rectangle 5"/>
          <p:cNvSpPr>
            <a:spLocks noChangeArrowheads="1"/>
          </p:cNvSpPr>
          <p:nvPr/>
        </p:nvSpPr>
        <p:spPr bwMode="auto">
          <a:xfrm>
            <a:off x="7509512" y="3711911"/>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a:t>       </a:t>
            </a:r>
            <a:r>
              <a:rPr lang="zh-CN" altLang="en-US" sz="2400"/>
              <a:t>^</a:t>
            </a:r>
            <a:endParaRPr lang="en-US" altLang="zh-CN" sz="2400" dirty="0"/>
          </a:p>
        </p:txBody>
      </p:sp>
      <p:sp>
        <p:nvSpPr>
          <p:cNvPr id="127" name="Line 6"/>
          <p:cNvSpPr>
            <a:spLocks noChangeShapeType="1"/>
          </p:cNvSpPr>
          <p:nvPr/>
        </p:nvSpPr>
        <p:spPr bwMode="auto">
          <a:xfrm>
            <a:off x="8042912" y="371191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cxnSp>
        <p:nvCxnSpPr>
          <p:cNvPr id="57" name="直接连接符 56"/>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873AA13F-0D64-CCEB-D050-1D081FBA2B01}"/>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52" name="矩形 51">
            <a:extLst>
              <a:ext uri="{FF2B5EF4-FFF2-40B4-BE49-F238E27FC236}">
                <a16:creationId xmlns:a16="http://schemas.microsoft.com/office/drawing/2014/main" id="{679769FC-B253-4F91-86C4-BD080C0C469B}"/>
              </a:ext>
            </a:extLst>
          </p:cNvPr>
          <p:cNvSpPr/>
          <p:nvPr/>
        </p:nvSpPr>
        <p:spPr>
          <a:xfrm>
            <a:off x="195717" y="892085"/>
            <a:ext cx="242829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a:t>
            </a:r>
          </a:p>
        </p:txBody>
      </p:sp>
    </p:spTree>
    <p:extLst>
      <p:ext uri="{BB962C8B-B14F-4D97-AF65-F5344CB8AC3E}">
        <p14:creationId xmlns:p14="http://schemas.microsoft.com/office/powerpoint/2010/main" val="2625761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2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2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animBg="1"/>
      <p:bldP spid="79" grpId="0" animBg="1"/>
      <p:bldP spid="80" grpId="0"/>
      <p:bldP spid="82" grpId="0"/>
      <p:bldP spid="83" grpId="0" animBg="1"/>
      <p:bldP spid="84" grpId="0" animBg="1"/>
      <p:bldP spid="85" grpId="0" animBg="1"/>
      <p:bldP spid="86" grpId="0" animBg="1"/>
      <p:bldP spid="90" grpId="0" animBg="1"/>
      <p:bldP spid="91" grpId="0" animBg="1"/>
      <p:bldP spid="107" grpId="0" animBg="1"/>
      <p:bldP spid="108" grpId="0" animBg="1"/>
      <p:bldP spid="111" grpId="0" animBg="1"/>
      <p:bldP spid="113" grpId="0" animBg="1"/>
      <p:bldP spid="114" grpId="0" animBg="1"/>
      <p:bldP spid="115" grpId="0" animBg="1"/>
      <p:bldP spid="116" grpId="0"/>
      <p:bldP spid="117" grpId="0" animBg="1"/>
      <p:bldP spid="118" grpId="0" animBg="1"/>
      <p:bldP spid="119" grpId="0" animBg="1"/>
      <p:bldP spid="120" grpId="0"/>
      <p:bldP spid="121" grpId="0" animBg="1"/>
      <p:bldP spid="122" grpId="0"/>
      <p:bldP spid="123" grpId="0"/>
      <p:bldP spid="124" grpId="0"/>
      <p:bldP spid="125" grpId="0" animBg="1"/>
      <p:bldP spid="126" grpId="0" animBg="1"/>
      <p:bldP spid="12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1122525" y="1545727"/>
            <a:ext cx="4968552"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①</a:t>
            </a:r>
            <a:r>
              <a:rPr lang="zh-CN" altLang="en-US" sz="2000" dirty="0">
                <a:latin typeface="微软雅黑" pitchFamily="34" charset="-122"/>
                <a:ea typeface="微软雅黑" pitchFamily="34" charset="-122"/>
                <a:cs typeface="经典粗黑简" pitchFamily="49" charset="-122"/>
              </a:rPr>
              <a:t>初始化链表</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创建空的单链表</a:t>
            </a:r>
          </a:p>
        </p:txBody>
      </p:sp>
      <p:sp>
        <p:nvSpPr>
          <p:cNvPr id="54" name="Rectangle 228"/>
          <p:cNvSpPr>
            <a:spLocks noChangeArrowheads="1"/>
          </p:cNvSpPr>
          <p:nvPr/>
        </p:nvSpPr>
        <p:spPr bwMode="auto">
          <a:xfrm>
            <a:off x="6300192" y="1845765"/>
            <a:ext cx="482555" cy="461665"/>
          </a:xfrm>
          <a:prstGeom prst="rect">
            <a:avLst/>
          </a:prstGeom>
          <a:noFill/>
          <a:ln>
            <a:noFill/>
          </a:ln>
        </p:spPr>
        <p:txBody>
          <a:bodyPr wrap="square">
            <a:spAutoFit/>
          </a:bodyPr>
          <a:lstStyle/>
          <a:p>
            <a:pPr algn="r"/>
            <a:r>
              <a:rPr kumimoji="0" lang="en-US" altLang="zh-CN" sz="2400" b="1" dirty="0"/>
              <a:t>L</a:t>
            </a:r>
          </a:p>
        </p:txBody>
      </p:sp>
      <p:sp>
        <p:nvSpPr>
          <p:cNvPr id="56" name="Line 29"/>
          <p:cNvSpPr>
            <a:spLocks noChangeShapeType="1"/>
          </p:cNvSpPr>
          <p:nvPr/>
        </p:nvSpPr>
        <p:spPr bwMode="auto">
          <a:xfrm>
            <a:off x="6739201" y="2036045"/>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Rectangle 5"/>
          <p:cNvSpPr>
            <a:spLocks noChangeArrowheads="1"/>
          </p:cNvSpPr>
          <p:nvPr/>
        </p:nvSpPr>
        <p:spPr bwMode="auto">
          <a:xfrm>
            <a:off x="7120201" y="1809544"/>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a:t>       </a:t>
            </a:r>
            <a:r>
              <a:rPr lang="zh-CN" altLang="en-US" sz="2400"/>
              <a:t>^</a:t>
            </a:r>
            <a:endParaRPr lang="en-US" altLang="zh-CN" sz="2400" dirty="0"/>
          </a:p>
        </p:txBody>
      </p:sp>
      <p:sp>
        <p:nvSpPr>
          <p:cNvPr id="61" name="Line 6"/>
          <p:cNvSpPr>
            <a:spLocks noChangeShapeType="1"/>
          </p:cNvSpPr>
          <p:nvPr/>
        </p:nvSpPr>
        <p:spPr bwMode="auto">
          <a:xfrm>
            <a:off x="7653601" y="180954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cxnSp>
        <p:nvCxnSpPr>
          <p:cNvPr id="16" name="直接连接符 15"/>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35C93536-F3AD-E0EB-1344-6A8B31A6DBB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4" name="矩形 3">
            <a:extLst>
              <a:ext uri="{FF2B5EF4-FFF2-40B4-BE49-F238E27FC236}">
                <a16:creationId xmlns:a16="http://schemas.microsoft.com/office/drawing/2014/main" id="{9B0FA961-6AB5-2433-BDD1-A945079BA55E}"/>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
        <p:nvSpPr>
          <p:cNvPr id="6" name="文本框 5">
            <a:extLst>
              <a:ext uri="{FF2B5EF4-FFF2-40B4-BE49-F238E27FC236}">
                <a16:creationId xmlns:a16="http://schemas.microsoft.com/office/drawing/2014/main" id="{D52384F0-596E-E93B-912A-C433EE696183}"/>
              </a:ext>
            </a:extLst>
          </p:cNvPr>
          <p:cNvSpPr txBox="1"/>
          <p:nvPr/>
        </p:nvSpPr>
        <p:spPr>
          <a:xfrm>
            <a:off x="876582" y="2210739"/>
            <a:ext cx="7688650" cy="1730602"/>
          </a:xfrm>
          <a:prstGeom prst="rect">
            <a:avLst/>
          </a:prstGeom>
          <a:noFill/>
        </p:spPr>
        <p:txBody>
          <a:bodyPr wrap="square">
            <a:spAutoFit/>
          </a:bodyPr>
          <a:lstStyle/>
          <a:p>
            <a:pPr algn="l">
              <a:lnSpc>
                <a:spcPct val="120000"/>
              </a:lnSpc>
            </a:pPr>
            <a:r>
              <a:rPr kumimoji="1" lang="en-US" altLang="zh-CN" sz="1800" dirty="0">
                <a:solidFill>
                  <a:srgbClr val="0000FF"/>
                </a:solidFill>
                <a:latin typeface="Consolas" pitchFamily="49" charset="0"/>
                <a:ea typeface="仿宋" pitchFamily="49" charset="-122"/>
                <a:cs typeface="Consolas" pitchFamily="49" charset="0"/>
              </a:rPr>
              <a:t>void </a:t>
            </a:r>
            <a:r>
              <a:rPr kumimoji="1" lang="en-US" altLang="zh-CN" sz="1800" dirty="0" err="1">
                <a:solidFill>
                  <a:srgbClr val="FF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InitList</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LinkNode</a:t>
            </a:r>
            <a:r>
              <a:rPr kumimoji="1" lang="en-US" altLang="zh-CN" sz="1800" dirty="0">
                <a:solidFill>
                  <a:srgbClr val="0000FF"/>
                </a:solidFill>
                <a:latin typeface="Consolas" pitchFamily="49" charset="0"/>
                <a:ea typeface="仿宋" pitchFamily="49" charset="-122"/>
                <a:cs typeface="Consolas" pitchFamily="49" charset="0"/>
              </a:rPr>
              <a:t> *&amp;L)</a:t>
            </a:r>
          </a:p>
          <a:p>
            <a:pPr algn="l">
              <a:lnSpc>
                <a:spcPct val="120000"/>
              </a:lnSpc>
            </a:pPr>
            <a:r>
              <a:rPr kumimoji="1" lang="en-US" altLang="zh-CN" sz="1800" dirty="0">
                <a:solidFill>
                  <a:srgbClr val="0000FF"/>
                </a:solidFill>
                <a:latin typeface="Consolas" pitchFamily="49" charset="0"/>
                <a:ea typeface="仿宋" pitchFamily="49" charset="-122"/>
                <a:cs typeface="Consolas" pitchFamily="49" charset="0"/>
              </a:rPr>
              <a:t> {</a:t>
            </a:r>
          </a:p>
          <a:p>
            <a:pPr algn="l">
              <a:lnSpc>
                <a:spcPct val="120000"/>
              </a:lnSpc>
            </a:pPr>
            <a:r>
              <a:rPr kumimoji="1" lang="en-US" altLang="zh-CN" sz="1800" dirty="0">
                <a:solidFill>
                  <a:srgbClr val="0000FF"/>
                </a:solidFill>
                <a:latin typeface="Consolas" pitchFamily="49" charset="0"/>
                <a:ea typeface="仿宋" pitchFamily="49" charset="-122"/>
                <a:cs typeface="Consolas" pitchFamily="49" charset="0"/>
              </a:rPr>
              <a:t>    L=(</a:t>
            </a:r>
            <a:r>
              <a:rPr kumimoji="1" lang="en-US" altLang="zh-CN" sz="1800" dirty="0" err="1">
                <a:solidFill>
                  <a:srgbClr val="0000FF"/>
                </a:solidFill>
                <a:latin typeface="Consolas" pitchFamily="49" charset="0"/>
                <a:ea typeface="仿宋" pitchFamily="49" charset="-122"/>
                <a:cs typeface="Consolas" pitchFamily="49" charset="0"/>
              </a:rPr>
              <a:t>LinkNode</a:t>
            </a:r>
            <a:r>
              <a:rPr kumimoji="1" lang="en-US" altLang="zh-CN" sz="1800" dirty="0">
                <a:solidFill>
                  <a:srgbClr val="0000FF"/>
                </a:solidFill>
                <a:latin typeface="Consolas" pitchFamily="49" charset="0"/>
                <a:ea typeface="仿宋" pitchFamily="49" charset="-122"/>
                <a:cs typeface="Consolas" pitchFamily="49" charset="0"/>
              </a:rPr>
              <a:t> *)malloc(</a:t>
            </a:r>
            <a:r>
              <a:rPr kumimoji="1" lang="en-US" altLang="zh-CN" sz="1800" dirty="0" err="1">
                <a:solidFill>
                  <a:srgbClr val="0000FF"/>
                </a:solidFill>
                <a:latin typeface="Consolas" pitchFamily="49" charset="0"/>
                <a:ea typeface="仿宋" pitchFamily="49" charset="-122"/>
                <a:cs typeface="Consolas" pitchFamily="49" charset="0"/>
              </a:rPr>
              <a:t>sizeof</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LinkNode</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70C0"/>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创建头结点</a:t>
            </a:r>
          </a:p>
          <a:p>
            <a:pPr algn="l">
              <a:lnSpc>
                <a:spcPct val="1200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L-&gt;next=NULL;</a:t>
            </a:r>
          </a:p>
          <a:p>
            <a:pPr algn="l">
              <a:lnSpc>
                <a:spcPct val="120000"/>
              </a:lnSpc>
            </a:pPr>
            <a:r>
              <a:rPr kumimoji="1" lang="en-US" altLang="zh-CN" sz="1800" dirty="0">
                <a:solidFill>
                  <a:srgbClr val="0000FF"/>
                </a:solidFill>
                <a:latin typeface="Consolas" pitchFamily="49" charset="0"/>
                <a:ea typeface="仿宋" pitchFamily="49" charset="-122"/>
                <a:cs typeface="Consolas" pitchFamily="49" charset="0"/>
              </a:rPr>
              <a:t> }</a:t>
            </a:r>
            <a:endParaRPr lang="en-US" altLang="zh-CN" sz="1800" dirty="0">
              <a:solidFill>
                <a:srgbClr val="0000FF"/>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16416306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C4C0F-0988-0227-88F0-A95CEC1F3B4A}"/>
            </a:ext>
          </a:extLst>
        </p:cNvPr>
        <p:cNvGrpSpPr/>
        <p:nvPr/>
      </p:nvGrpSpPr>
      <p:grpSpPr>
        <a:xfrm>
          <a:off x="0" y="0"/>
          <a:ext cx="0" cy="0"/>
          <a:chOff x="0" y="0"/>
          <a:chExt cx="0" cy="0"/>
        </a:xfrm>
      </p:grpSpPr>
      <p:sp>
        <p:nvSpPr>
          <p:cNvPr id="53" name="矩形 52">
            <a:extLst>
              <a:ext uri="{FF2B5EF4-FFF2-40B4-BE49-F238E27FC236}">
                <a16:creationId xmlns:a16="http://schemas.microsoft.com/office/drawing/2014/main" id="{D051303A-31ED-9802-323C-033152895B8F}"/>
              </a:ext>
            </a:extLst>
          </p:cNvPr>
          <p:cNvSpPr/>
          <p:nvPr/>
        </p:nvSpPr>
        <p:spPr>
          <a:xfrm>
            <a:off x="1089217" y="1572624"/>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②</a:t>
            </a:r>
            <a:r>
              <a:rPr lang="zh-CN" altLang="en-US" sz="2000" dirty="0">
                <a:latin typeface="微软雅黑" pitchFamily="34" charset="-122"/>
                <a:ea typeface="微软雅黑" pitchFamily="34" charset="-122"/>
                <a:cs typeface="经典粗黑简" pitchFamily="49" charset="-122"/>
              </a:rPr>
              <a:t>销毁单链表</a:t>
            </a:r>
          </a:p>
        </p:txBody>
      </p:sp>
      <p:cxnSp>
        <p:nvCxnSpPr>
          <p:cNvPr id="16" name="直接连接符 15">
            <a:extLst>
              <a:ext uri="{FF2B5EF4-FFF2-40B4-BE49-F238E27FC236}">
                <a16:creationId xmlns:a16="http://schemas.microsoft.com/office/drawing/2014/main" id="{E1E6DA26-C45B-AA80-1908-E1B2126831F2}"/>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82EF6C7D-89DC-C5E5-9A82-D846FA1D8B61}"/>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5" name="Rectangle 5">
            <a:extLst>
              <a:ext uri="{FF2B5EF4-FFF2-40B4-BE49-F238E27FC236}">
                <a16:creationId xmlns:a16="http://schemas.microsoft.com/office/drawing/2014/main" id="{00574059-DFE2-4A86-5553-D30E3BE04961}"/>
              </a:ext>
            </a:extLst>
          </p:cNvPr>
          <p:cNvSpPr>
            <a:spLocks noChangeArrowheads="1"/>
          </p:cNvSpPr>
          <p:nvPr/>
        </p:nvSpPr>
        <p:spPr bwMode="auto">
          <a:xfrm>
            <a:off x="2010856" y="414797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7" name="Line 6">
            <a:extLst>
              <a:ext uri="{FF2B5EF4-FFF2-40B4-BE49-F238E27FC236}">
                <a16:creationId xmlns:a16="http://schemas.microsoft.com/office/drawing/2014/main" id="{43D95479-CB07-4896-CDF1-82B8D6013673}"/>
              </a:ext>
            </a:extLst>
          </p:cNvPr>
          <p:cNvSpPr>
            <a:spLocks noChangeShapeType="1"/>
          </p:cNvSpPr>
          <p:nvPr/>
        </p:nvSpPr>
        <p:spPr bwMode="auto">
          <a:xfrm>
            <a:off x="2544256" y="414797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Rectangle 25">
            <a:extLst>
              <a:ext uri="{FF2B5EF4-FFF2-40B4-BE49-F238E27FC236}">
                <a16:creationId xmlns:a16="http://schemas.microsoft.com/office/drawing/2014/main" id="{B6F15C2B-92AD-8A2B-B63C-B1F29EC1250E}"/>
              </a:ext>
            </a:extLst>
          </p:cNvPr>
          <p:cNvSpPr>
            <a:spLocks noChangeArrowheads="1"/>
          </p:cNvSpPr>
          <p:nvPr/>
        </p:nvSpPr>
        <p:spPr bwMode="auto">
          <a:xfrm>
            <a:off x="4174741" y="422193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9" name="Rectangle 36">
            <a:extLst>
              <a:ext uri="{FF2B5EF4-FFF2-40B4-BE49-F238E27FC236}">
                <a16:creationId xmlns:a16="http://schemas.microsoft.com/office/drawing/2014/main" id="{19FFFE88-A043-0627-2A80-482E2E238376}"/>
              </a:ext>
            </a:extLst>
          </p:cNvPr>
          <p:cNvSpPr>
            <a:spLocks noChangeArrowheads="1"/>
          </p:cNvSpPr>
          <p:nvPr/>
        </p:nvSpPr>
        <p:spPr bwMode="auto">
          <a:xfrm>
            <a:off x="7308890" y="4243941"/>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0" name="Line 29">
            <a:extLst>
              <a:ext uri="{FF2B5EF4-FFF2-40B4-BE49-F238E27FC236}">
                <a16:creationId xmlns:a16="http://schemas.microsoft.com/office/drawing/2014/main" id="{7449FF6E-759C-23A1-4532-4BE9C62536BB}"/>
              </a:ext>
            </a:extLst>
          </p:cNvPr>
          <p:cNvSpPr>
            <a:spLocks noChangeShapeType="1"/>
          </p:cNvSpPr>
          <p:nvPr/>
        </p:nvSpPr>
        <p:spPr bwMode="auto">
          <a:xfrm>
            <a:off x="458378" y="4399645"/>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Rectangle 5">
            <a:extLst>
              <a:ext uri="{FF2B5EF4-FFF2-40B4-BE49-F238E27FC236}">
                <a16:creationId xmlns:a16="http://schemas.microsoft.com/office/drawing/2014/main" id="{74023B43-56E3-C14C-9D15-D6F13C3474AC}"/>
              </a:ext>
            </a:extLst>
          </p:cNvPr>
          <p:cNvSpPr>
            <a:spLocks noChangeArrowheads="1"/>
          </p:cNvSpPr>
          <p:nvPr/>
        </p:nvSpPr>
        <p:spPr bwMode="auto">
          <a:xfrm>
            <a:off x="3186513" y="415334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3" name="Line 6">
            <a:extLst>
              <a:ext uri="{FF2B5EF4-FFF2-40B4-BE49-F238E27FC236}">
                <a16:creationId xmlns:a16="http://schemas.microsoft.com/office/drawing/2014/main" id="{F4DF5733-F600-67BF-5BEA-538B910C0BE2}"/>
              </a:ext>
            </a:extLst>
          </p:cNvPr>
          <p:cNvSpPr>
            <a:spLocks noChangeShapeType="1"/>
          </p:cNvSpPr>
          <p:nvPr/>
        </p:nvSpPr>
        <p:spPr bwMode="auto">
          <a:xfrm>
            <a:off x="3719913" y="415334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29">
            <a:extLst>
              <a:ext uri="{FF2B5EF4-FFF2-40B4-BE49-F238E27FC236}">
                <a16:creationId xmlns:a16="http://schemas.microsoft.com/office/drawing/2014/main" id="{D33CB22D-423A-362D-A01C-6DFC0C45C631}"/>
              </a:ext>
            </a:extLst>
          </p:cNvPr>
          <p:cNvSpPr>
            <a:spLocks noChangeShapeType="1"/>
          </p:cNvSpPr>
          <p:nvPr/>
        </p:nvSpPr>
        <p:spPr bwMode="auto">
          <a:xfrm>
            <a:off x="2805513" y="440752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Rectangle 5">
            <a:extLst>
              <a:ext uri="{FF2B5EF4-FFF2-40B4-BE49-F238E27FC236}">
                <a16:creationId xmlns:a16="http://schemas.microsoft.com/office/drawing/2014/main" id="{A9F6C527-3680-7FD0-1123-8DBF83FC04F0}"/>
              </a:ext>
            </a:extLst>
          </p:cNvPr>
          <p:cNvSpPr>
            <a:spLocks noChangeArrowheads="1"/>
          </p:cNvSpPr>
          <p:nvPr/>
        </p:nvSpPr>
        <p:spPr bwMode="auto">
          <a:xfrm>
            <a:off x="4788024" y="4169976"/>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17" name="Line 6">
            <a:extLst>
              <a:ext uri="{FF2B5EF4-FFF2-40B4-BE49-F238E27FC236}">
                <a16:creationId xmlns:a16="http://schemas.microsoft.com/office/drawing/2014/main" id="{1B8407A1-E4A4-8EAC-A081-1E2B809DE0A8}"/>
              </a:ext>
            </a:extLst>
          </p:cNvPr>
          <p:cNvSpPr>
            <a:spLocks noChangeShapeType="1"/>
          </p:cNvSpPr>
          <p:nvPr/>
        </p:nvSpPr>
        <p:spPr bwMode="auto">
          <a:xfrm>
            <a:off x="5524597" y="4164600"/>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29">
            <a:extLst>
              <a:ext uri="{FF2B5EF4-FFF2-40B4-BE49-F238E27FC236}">
                <a16:creationId xmlns:a16="http://schemas.microsoft.com/office/drawing/2014/main" id="{811AD4DC-0618-F8FA-A2B3-A20B29DD3F2F}"/>
              </a:ext>
            </a:extLst>
          </p:cNvPr>
          <p:cNvSpPr>
            <a:spLocks noChangeShapeType="1"/>
          </p:cNvSpPr>
          <p:nvPr/>
        </p:nvSpPr>
        <p:spPr bwMode="auto">
          <a:xfrm>
            <a:off x="4587032" y="4398302"/>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29">
            <a:extLst>
              <a:ext uri="{FF2B5EF4-FFF2-40B4-BE49-F238E27FC236}">
                <a16:creationId xmlns:a16="http://schemas.microsoft.com/office/drawing/2014/main" id="{BC9BC19C-7C57-C3B1-3359-9672A5F9C82E}"/>
              </a:ext>
            </a:extLst>
          </p:cNvPr>
          <p:cNvSpPr>
            <a:spLocks noChangeShapeType="1"/>
          </p:cNvSpPr>
          <p:nvPr/>
        </p:nvSpPr>
        <p:spPr bwMode="auto">
          <a:xfrm>
            <a:off x="3910413" y="4404834"/>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Rectangle 5">
            <a:extLst>
              <a:ext uri="{FF2B5EF4-FFF2-40B4-BE49-F238E27FC236}">
                <a16:creationId xmlns:a16="http://schemas.microsoft.com/office/drawing/2014/main" id="{BDA7004C-279D-737F-558C-333D3C6C89BA}"/>
              </a:ext>
            </a:extLst>
          </p:cNvPr>
          <p:cNvSpPr>
            <a:spLocks noChangeArrowheads="1"/>
          </p:cNvSpPr>
          <p:nvPr/>
        </p:nvSpPr>
        <p:spPr bwMode="auto">
          <a:xfrm>
            <a:off x="6180783" y="418180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1" name="Line 6">
            <a:extLst>
              <a:ext uri="{FF2B5EF4-FFF2-40B4-BE49-F238E27FC236}">
                <a16:creationId xmlns:a16="http://schemas.microsoft.com/office/drawing/2014/main" id="{95A6FD10-AED7-BB7C-2142-DF62D2B31A9F}"/>
              </a:ext>
            </a:extLst>
          </p:cNvPr>
          <p:cNvSpPr>
            <a:spLocks noChangeShapeType="1"/>
          </p:cNvSpPr>
          <p:nvPr/>
        </p:nvSpPr>
        <p:spPr bwMode="auto">
          <a:xfrm>
            <a:off x="6714183" y="418180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9">
            <a:extLst>
              <a:ext uri="{FF2B5EF4-FFF2-40B4-BE49-F238E27FC236}">
                <a16:creationId xmlns:a16="http://schemas.microsoft.com/office/drawing/2014/main" id="{67E73704-4814-D8A5-8C54-45B3CDD733F2}"/>
              </a:ext>
            </a:extLst>
          </p:cNvPr>
          <p:cNvSpPr>
            <a:spLocks noChangeShapeType="1"/>
          </p:cNvSpPr>
          <p:nvPr/>
        </p:nvSpPr>
        <p:spPr bwMode="auto">
          <a:xfrm>
            <a:off x="5799783" y="44359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9">
            <a:extLst>
              <a:ext uri="{FF2B5EF4-FFF2-40B4-BE49-F238E27FC236}">
                <a16:creationId xmlns:a16="http://schemas.microsoft.com/office/drawing/2014/main" id="{A9A0F9FD-ECBC-50CC-32ED-662773683B81}"/>
              </a:ext>
            </a:extLst>
          </p:cNvPr>
          <p:cNvSpPr>
            <a:spLocks noChangeShapeType="1"/>
          </p:cNvSpPr>
          <p:nvPr/>
        </p:nvSpPr>
        <p:spPr bwMode="auto">
          <a:xfrm>
            <a:off x="6945491" y="4436877"/>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Rectangle 5">
            <a:extLst>
              <a:ext uri="{FF2B5EF4-FFF2-40B4-BE49-F238E27FC236}">
                <a16:creationId xmlns:a16="http://schemas.microsoft.com/office/drawing/2014/main" id="{556E44BE-8D1C-3D67-AC32-DF1D1F191348}"/>
              </a:ext>
            </a:extLst>
          </p:cNvPr>
          <p:cNvSpPr>
            <a:spLocks noChangeArrowheads="1"/>
          </p:cNvSpPr>
          <p:nvPr/>
        </p:nvSpPr>
        <p:spPr bwMode="auto">
          <a:xfrm>
            <a:off x="8024599" y="419694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25" name="Line 6">
            <a:extLst>
              <a:ext uri="{FF2B5EF4-FFF2-40B4-BE49-F238E27FC236}">
                <a16:creationId xmlns:a16="http://schemas.microsoft.com/office/drawing/2014/main" id="{D02DFEB9-955C-0BA2-753F-184E12DB2A65}"/>
              </a:ext>
            </a:extLst>
          </p:cNvPr>
          <p:cNvSpPr>
            <a:spLocks noChangeShapeType="1"/>
          </p:cNvSpPr>
          <p:nvPr/>
        </p:nvSpPr>
        <p:spPr bwMode="auto">
          <a:xfrm>
            <a:off x="8584126" y="419694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9">
            <a:extLst>
              <a:ext uri="{FF2B5EF4-FFF2-40B4-BE49-F238E27FC236}">
                <a16:creationId xmlns:a16="http://schemas.microsoft.com/office/drawing/2014/main" id="{936D25AD-693A-56C2-390E-91641FEB4782}"/>
              </a:ext>
            </a:extLst>
          </p:cNvPr>
          <p:cNvSpPr>
            <a:spLocks noChangeShapeType="1"/>
          </p:cNvSpPr>
          <p:nvPr/>
        </p:nvSpPr>
        <p:spPr bwMode="auto">
          <a:xfrm>
            <a:off x="7643599" y="4444582"/>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矩形 26">
            <a:extLst>
              <a:ext uri="{FF2B5EF4-FFF2-40B4-BE49-F238E27FC236}">
                <a16:creationId xmlns:a16="http://schemas.microsoft.com/office/drawing/2014/main" id="{6249B801-E322-F5A9-070B-045D48B9DE83}"/>
              </a:ext>
            </a:extLst>
          </p:cNvPr>
          <p:cNvSpPr/>
          <p:nvPr/>
        </p:nvSpPr>
        <p:spPr>
          <a:xfrm>
            <a:off x="89367" y="4189646"/>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28" name="Rectangle 5">
            <a:extLst>
              <a:ext uri="{FF2B5EF4-FFF2-40B4-BE49-F238E27FC236}">
                <a16:creationId xmlns:a16="http://schemas.microsoft.com/office/drawing/2014/main" id="{F0B9E023-E1CF-5B9D-66EA-BDC704914461}"/>
              </a:ext>
            </a:extLst>
          </p:cNvPr>
          <p:cNvSpPr>
            <a:spLocks noChangeArrowheads="1"/>
          </p:cNvSpPr>
          <p:nvPr/>
        </p:nvSpPr>
        <p:spPr bwMode="auto">
          <a:xfrm>
            <a:off x="849664" y="4147974"/>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29" name="Line 29">
            <a:extLst>
              <a:ext uri="{FF2B5EF4-FFF2-40B4-BE49-F238E27FC236}">
                <a16:creationId xmlns:a16="http://schemas.microsoft.com/office/drawing/2014/main" id="{9EB21363-575F-97F8-23F6-ACE8FFD81EC6}"/>
              </a:ext>
            </a:extLst>
          </p:cNvPr>
          <p:cNvSpPr>
            <a:spLocks noChangeShapeType="1"/>
          </p:cNvSpPr>
          <p:nvPr/>
        </p:nvSpPr>
        <p:spPr bwMode="auto">
          <a:xfrm>
            <a:off x="1644321" y="440752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Line 6">
            <a:extLst>
              <a:ext uri="{FF2B5EF4-FFF2-40B4-BE49-F238E27FC236}">
                <a16:creationId xmlns:a16="http://schemas.microsoft.com/office/drawing/2014/main" id="{1FB776CB-DDE5-7271-8988-2C4509FCEF8B}"/>
              </a:ext>
            </a:extLst>
          </p:cNvPr>
          <p:cNvSpPr>
            <a:spLocks noChangeShapeType="1"/>
          </p:cNvSpPr>
          <p:nvPr/>
        </p:nvSpPr>
        <p:spPr bwMode="auto">
          <a:xfrm>
            <a:off x="1403434" y="416001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9">
            <a:extLst>
              <a:ext uri="{FF2B5EF4-FFF2-40B4-BE49-F238E27FC236}">
                <a16:creationId xmlns:a16="http://schemas.microsoft.com/office/drawing/2014/main" id="{D2E9D1A5-1AC9-6FA4-A82B-8F06DAB4A5B7}"/>
              </a:ext>
            </a:extLst>
          </p:cNvPr>
          <p:cNvSpPr>
            <a:spLocks noChangeShapeType="1"/>
          </p:cNvSpPr>
          <p:nvPr/>
        </p:nvSpPr>
        <p:spPr bwMode="auto">
          <a:xfrm>
            <a:off x="1662810" y="3950121"/>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AutoShape 30">
            <a:extLst>
              <a:ext uri="{FF2B5EF4-FFF2-40B4-BE49-F238E27FC236}">
                <a16:creationId xmlns:a16="http://schemas.microsoft.com/office/drawing/2014/main" id="{A272107D-F1CC-E087-B624-A7028DC901DC}"/>
              </a:ext>
            </a:extLst>
          </p:cNvPr>
          <p:cNvSpPr>
            <a:spLocks noChangeArrowheads="1"/>
          </p:cNvSpPr>
          <p:nvPr/>
        </p:nvSpPr>
        <p:spPr bwMode="auto">
          <a:xfrm>
            <a:off x="1965627" y="3851441"/>
            <a:ext cx="6337440" cy="228600"/>
          </a:xfrm>
          <a:prstGeom prst="rightArrow">
            <a:avLst>
              <a:gd name="adj1" fmla="val 50000"/>
              <a:gd name="adj2" fmla="val 56250"/>
            </a:avLst>
          </a:prstGeom>
          <a:solidFill>
            <a:srgbClr val="FFCC00"/>
          </a:solidFill>
          <a:ln w="6350">
            <a:solidFill>
              <a:schemeClr val="tx1"/>
            </a:solidFill>
            <a:miter lim="800000"/>
            <a:headEnd/>
            <a:tailEnd/>
          </a:ln>
        </p:spPr>
        <p:txBody>
          <a:bodyPr wrap="none" anchor="ctr"/>
          <a:lstStyle/>
          <a:p>
            <a:endParaRPr lang="zh-CN" altLang="en-US"/>
          </a:p>
        </p:txBody>
      </p:sp>
      <p:sp>
        <p:nvSpPr>
          <p:cNvPr id="33" name="Rectangle 55">
            <a:extLst>
              <a:ext uri="{FF2B5EF4-FFF2-40B4-BE49-F238E27FC236}">
                <a16:creationId xmlns:a16="http://schemas.microsoft.com/office/drawing/2014/main" id="{B75DCB03-9118-010B-013D-694D0B534D8A}"/>
              </a:ext>
            </a:extLst>
          </p:cNvPr>
          <p:cNvSpPr>
            <a:spLocks noChangeArrowheads="1"/>
          </p:cNvSpPr>
          <p:nvPr/>
        </p:nvSpPr>
        <p:spPr bwMode="auto">
          <a:xfrm>
            <a:off x="1373909" y="3534614"/>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34" name="Text Box 131">
            <a:extLst>
              <a:ext uri="{FF2B5EF4-FFF2-40B4-BE49-F238E27FC236}">
                <a16:creationId xmlns:a16="http://schemas.microsoft.com/office/drawing/2014/main" id="{565E019C-D54D-B66D-C4EA-CDB88616D4E8}"/>
              </a:ext>
            </a:extLst>
          </p:cNvPr>
          <p:cNvSpPr txBox="1">
            <a:spLocks noChangeArrowheads="1"/>
          </p:cNvSpPr>
          <p:nvPr/>
        </p:nvSpPr>
        <p:spPr bwMode="auto">
          <a:xfrm>
            <a:off x="1044291" y="2358230"/>
            <a:ext cx="7358114" cy="1200329"/>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a:spAutoFit/>
          </a:bodyPr>
          <a:lstStyle/>
          <a:p>
            <a:pPr algn="l"/>
            <a:r>
              <a:rPr kumimoji="1" lang="en-US" altLang="zh-CN" sz="1800" dirty="0">
                <a:solidFill>
                  <a:srgbClr val="0000FF"/>
                </a:solidFill>
                <a:latin typeface="Consolas" pitchFamily="49" charset="0"/>
                <a:ea typeface="仿宋" pitchFamily="49" charset="-122"/>
                <a:cs typeface="Consolas" pitchFamily="49" charset="0"/>
              </a:rPr>
              <a:t>void </a:t>
            </a:r>
            <a:r>
              <a:rPr kumimoji="1" lang="en-US" altLang="zh-CN" sz="1800" dirty="0" err="1">
                <a:solidFill>
                  <a:srgbClr val="FF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DestroyList</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LinkNode</a:t>
            </a:r>
            <a:r>
              <a:rPr kumimoji="1" lang="en-US" altLang="zh-CN" sz="1800" dirty="0">
                <a:solidFill>
                  <a:srgbClr val="0000FF"/>
                </a:solidFill>
                <a:latin typeface="Consolas" pitchFamily="49" charset="0"/>
                <a:ea typeface="仿宋" pitchFamily="49" charset="-122"/>
                <a:cs typeface="Consolas" pitchFamily="49" charset="0"/>
              </a:rPr>
              <a:t> *&amp;L)</a:t>
            </a:r>
          </a:p>
          <a:p>
            <a:pPr algn="l"/>
            <a:r>
              <a:rPr kumimoji="1" lang="en-US" altLang="zh-CN" sz="1800" dirty="0">
                <a:solidFill>
                  <a:srgbClr val="0000FF"/>
                </a:solidFill>
                <a:latin typeface="Consolas" pitchFamily="49" charset="0"/>
                <a:ea typeface="仿宋" pitchFamily="49" charset="-122"/>
                <a:cs typeface="Consolas" pitchFamily="49" charset="0"/>
              </a:rPr>
              <a:t>{   </a:t>
            </a:r>
          </a:p>
          <a:p>
            <a:pPr algn="l"/>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LinkNode</a:t>
            </a:r>
            <a:r>
              <a:rPr kumimoji="1" lang="en-US" altLang="zh-CN" sz="1800" dirty="0">
                <a:solidFill>
                  <a:srgbClr val="0000FF"/>
                </a:solidFill>
                <a:latin typeface="Consolas" pitchFamily="49" charset="0"/>
                <a:ea typeface="仿宋" pitchFamily="49" charset="-122"/>
                <a:cs typeface="Consolas" pitchFamily="49" charset="0"/>
              </a:rPr>
              <a:t> *pre=L</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 *p=L-&gt;next;   </a:t>
            </a:r>
            <a:r>
              <a:rPr kumimoji="1" lang="en-US" altLang="zh-CN" sz="1800" dirty="0">
                <a:solidFill>
                  <a:srgbClr val="0070C0"/>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//pre</a:t>
            </a:r>
            <a:r>
              <a:rPr kumimoji="1" lang="zh-CN" altLang="en-US" sz="1800" dirty="0">
                <a:solidFill>
                  <a:srgbClr val="00B0F0"/>
                </a:solidFill>
                <a:latin typeface="Consolas" pitchFamily="49" charset="0"/>
                <a:ea typeface="仿宋" pitchFamily="49" charset="-122"/>
                <a:cs typeface="Consolas" pitchFamily="49" charset="0"/>
              </a:rPr>
              <a:t>指向</a:t>
            </a:r>
            <a:r>
              <a:rPr kumimoji="1" lang="en-US" altLang="zh-CN" sz="1800" dirty="0">
                <a:solidFill>
                  <a:srgbClr val="00B0F0"/>
                </a:solidFill>
                <a:latin typeface="Consolas" pitchFamily="49" charset="0"/>
                <a:ea typeface="仿宋" pitchFamily="49" charset="-122"/>
                <a:cs typeface="Consolas" pitchFamily="49" charset="0"/>
              </a:rPr>
              <a:t>p</a:t>
            </a:r>
            <a:r>
              <a:rPr kumimoji="1" lang="zh-CN" altLang="en-US" sz="1800" dirty="0">
                <a:solidFill>
                  <a:srgbClr val="00B0F0"/>
                </a:solidFill>
                <a:latin typeface="Consolas" pitchFamily="49" charset="0"/>
                <a:ea typeface="仿宋" pitchFamily="49" charset="-122"/>
                <a:cs typeface="Consolas" pitchFamily="49" charset="0"/>
              </a:rPr>
              <a:t>的前驱结点</a:t>
            </a:r>
          </a:p>
          <a:p>
            <a:pPr algn="l"/>
            <a:r>
              <a:rPr kumimoji="1" lang="zh-CN" altLang="en-US" sz="1800" dirty="0">
                <a:solidFill>
                  <a:srgbClr val="0000FF"/>
                </a:solidFill>
                <a:latin typeface="Consolas" pitchFamily="49" charset="0"/>
                <a:ea typeface="仿宋" pitchFamily="49" charset="-122"/>
                <a:cs typeface="Consolas" pitchFamily="49" charset="0"/>
              </a:rPr>
              <a:t>     </a:t>
            </a:r>
            <a:endParaRPr lang="en-US" altLang="zh-CN" sz="1800" dirty="0">
              <a:solidFill>
                <a:srgbClr val="0000FF"/>
              </a:solidFill>
              <a:latin typeface="Consolas" pitchFamily="49" charset="0"/>
              <a:ea typeface="仿宋" pitchFamily="49" charset="-122"/>
              <a:cs typeface="Consolas" pitchFamily="49" charset="0"/>
            </a:endParaRPr>
          </a:p>
        </p:txBody>
      </p:sp>
      <p:sp>
        <p:nvSpPr>
          <p:cNvPr id="35" name="Rectangle 55">
            <a:extLst>
              <a:ext uri="{FF2B5EF4-FFF2-40B4-BE49-F238E27FC236}">
                <a16:creationId xmlns:a16="http://schemas.microsoft.com/office/drawing/2014/main" id="{58640F1E-6036-8965-0043-D88A3FFFD74C}"/>
              </a:ext>
            </a:extLst>
          </p:cNvPr>
          <p:cNvSpPr>
            <a:spLocks noChangeArrowheads="1"/>
          </p:cNvSpPr>
          <p:nvPr/>
        </p:nvSpPr>
        <p:spPr bwMode="auto">
          <a:xfrm>
            <a:off x="177032" y="3534614"/>
            <a:ext cx="6711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pre</a:t>
            </a:r>
            <a:endParaRPr lang="zh-CN" altLang="en-US" sz="2400" dirty="0">
              <a:latin typeface="微软雅黑" pitchFamily="34" charset="-122"/>
              <a:ea typeface="微软雅黑" pitchFamily="34" charset="-122"/>
            </a:endParaRPr>
          </a:p>
        </p:txBody>
      </p:sp>
      <p:sp>
        <p:nvSpPr>
          <p:cNvPr id="36" name="Line 29">
            <a:extLst>
              <a:ext uri="{FF2B5EF4-FFF2-40B4-BE49-F238E27FC236}">
                <a16:creationId xmlns:a16="http://schemas.microsoft.com/office/drawing/2014/main" id="{5C8EB3A0-5E18-4317-F1FE-A5C5963846C4}"/>
              </a:ext>
            </a:extLst>
          </p:cNvPr>
          <p:cNvSpPr>
            <a:spLocks noChangeShapeType="1"/>
          </p:cNvSpPr>
          <p:nvPr/>
        </p:nvSpPr>
        <p:spPr bwMode="auto">
          <a:xfrm>
            <a:off x="512598" y="3893746"/>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 name="矩形 37">
            <a:extLst>
              <a:ext uri="{FF2B5EF4-FFF2-40B4-BE49-F238E27FC236}">
                <a16:creationId xmlns:a16="http://schemas.microsoft.com/office/drawing/2014/main" id="{949EFEF9-9713-4F38-97CF-574F98116E63}"/>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15634892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0215E-3432-E9C5-994A-C488C0814925}"/>
            </a:ext>
          </a:extLst>
        </p:cNvPr>
        <p:cNvGrpSpPr/>
        <p:nvPr/>
      </p:nvGrpSpPr>
      <p:grpSpPr>
        <a:xfrm>
          <a:off x="0" y="0"/>
          <a:ext cx="0" cy="0"/>
          <a:chOff x="0" y="0"/>
          <a:chExt cx="0" cy="0"/>
        </a:xfrm>
      </p:grpSpPr>
      <p:cxnSp>
        <p:nvCxnSpPr>
          <p:cNvPr id="16" name="直接连接符 15">
            <a:extLst>
              <a:ext uri="{FF2B5EF4-FFF2-40B4-BE49-F238E27FC236}">
                <a16:creationId xmlns:a16="http://schemas.microsoft.com/office/drawing/2014/main" id="{040FDD64-B7D2-B91F-215F-5D4B75C470E8}"/>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51ACC237-C167-747E-BA5C-CD36E8BE863E}"/>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5" name="Rectangle 5">
            <a:extLst>
              <a:ext uri="{FF2B5EF4-FFF2-40B4-BE49-F238E27FC236}">
                <a16:creationId xmlns:a16="http://schemas.microsoft.com/office/drawing/2014/main" id="{3849D3DF-749A-F952-CCE8-19461294B007}"/>
              </a:ext>
            </a:extLst>
          </p:cNvPr>
          <p:cNvSpPr>
            <a:spLocks noChangeArrowheads="1"/>
          </p:cNvSpPr>
          <p:nvPr/>
        </p:nvSpPr>
        <p:spPr bwMode="auto">
          <a:xfrm>
            <a:off x="2010876" y="454073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6" name="Line 6">
            <a:extLst>
              <a:ext uri="{FF2B5EF4-FFF2-40B4-BE49-F238E27FC236}">
                <a16:creationId xmlns:a16="http://schemas.microsoft.com/office/drawing/2014/main" id="{6382D3DA-87FE-483C-FBD1-21D4FBACD3A2}"/>
              </a:ext>
            </a:extLst>
          </p:cNvPr>
          <p:cNvSpPr>
            <a:spLocks noChangeShapeType="1"/>
          </p:cNvSpPr>
          <p:nvPr/>
        </p:nvSpPr>
        <p:spPr bwMode="auto">
          <a:xfrm>
            <a:off x="2544276" y="4540733"/>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Rectangle 25">
            <a:extLst>
              <a:ext uri="{FF2B5EF4-FFF2-40B4-BE49-F238E27FC236}">
                <a16:creationId xmlns:a16="http://schemas.microsoft.com/office/drawing/2014/main" id="{08449BE2-2FA7-E201-423E-E7624F73B62B}"/>
              </a:ext>
            </a:extLst>
          </p:cNvPr>
          <p:cNvSpPr>
            <a:spLocks noChangeArrowheads="1"/>
          </p:cNvSpPr>
          <p:nvPr/>
        </p:nvSpPr>
        <p:spPr bwMode="auto">
          <a:xfrm>
            <a:off x="4174761" y="461469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8" name="Rectangle 36">
            <a:extLst>
              <a:ext uri="{FF2B5EF4-FFF2-40B4-BE49-F238E27FC236}">
                <a16:creationId xmlns:a16="http://schemas.microsoft.com/office/drawing/2014/main" id="{9437B12D-DCBC-7141-541B-9569F1522897}"/>
              </a:ext>
            </a:extLst>
          </p:cNvPr>
          <p:cNvSpPr>
            <a:spLocks noChangeArrowheads="1"/>
          </p:cNvSpPr>
          <p:nvPr/>
        </p:nvSpPr>
        <p:spPr bwMode="auto">
          <a:xfrm>
            <a:off x="7308910" y="463670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9" name="Line 29">
            <a:extLst>
              <a:ext uri="{FF2B5EF4-FFF2-40B4-BE49-F238E27FC236}">
                <a16:creationId xmlns:a16="http://schemas.microsoft.com/office/drawing/2014/main" id="{8A64B5D7-A2BF-3CE0-AE6F-72E4E01F0115}"/>
              </a:ext>
            </a:extLst>
          </p:cNvPr>
          <p:cNvSpPr>
            <a:spLocks noChangeShapeType="1"/>
          </p:cNvSpPr>
          <p:nvPr/>
        </p:nvSpPr>
        <p:spPr bwMode="auto">
          <a:xfrm>
            <a:off x="458398" y="479240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5">
            <a:extLst>
              <a:ext uri="{FF2B5EF4-FFF2-40B4-BE49-F238E27FC236}">
                <a16:creationId xmlns:a16="http://schemas.microsoft.com/office/drawing/2014/main" id="{C87534D5-87C0-B313-C7FA-70AF53E3A3AF}"/>
              </a:ext>
            </a:extLst>
          </p:cNvPr>
          <p:cNvSpPr>
            <a:spLocks noChangeArrowheads="1"/>
          </p:cNvSpPr>
          <p:nvPr/>
        </p:nvSpPr>
        <p:spPr bwMode="auto">
          <a:xfrm>
            <a:off x="3186533" y="4546107"/>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1" name="Line 6">
            <a:extLst>
              <a:ext uri="{FF2B5EF4-FFF2-40B4-BE49-F238E27FC236}">
                <a16:creationId xmlns:a16="http://schemas.microsoft.com/office/drawing/2014/main" id="{1DF46DAE-3F34-51F6-74E2-4C424835E285}"/>
              </a:ext>
            </a:extLst>
          </p:cNvPr>
          <p:cNvSpPr>
            <a:spLocks noChangeShapeType="1"/>
          </p:cNvSpPr>
          <p:nvPr/>
        </p:nvSpPr>
        <p:spPr bwMode="auto">
          <a:xfrm>
            <a:off x="3719933" y="4546107"/>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29">
            <a:extLst>
              <a:ext uri="{FF2B5EF4-FFF2-40B4-BE49-F238E27FC236}">
                <a16:creationId xmlns:a16="http://schemas.microsoft.com/office/drawing/2014/main" id="{46C81606-B27F-A12C-94CA-A01CBEE8C2F1}"/>
              </a:ext>
            </a:extLst>
          </p:cNvPr>
          <p:cNvSpPr>
            <a:spLocks noChangeShapeType="1"/>
          </p:cNvSpPr>
          <p:nvPr/>
        </p:nvSpPr>
        <p:spPr bwMode="auto">
          <a:xfrm>
            <a:off x="2805533" y="480028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Rectangle 5">
            <a:extLst>
              <a:ext uri="{FF2B5EF4-FFF2-40B4-BE49-F238E27FC236}">
                <a16:creationId xmlns:a16="http://schemas.microsoft.com/office/drawing/2014/main" id="{123753E6-A098-A36D-C10C-9ED8C2268E03}"/>
              </a:ext>
            </a:extLst>
          </p:cNvPr>
          <p:cNvSpPr>
            <a:spLocks noChangeArrowheads="1"/>
          </p:cNvSpPr>
          <p:nvPr/>
        </p:nvSpPr>
        <p:spPr bwMode="auto">
          <a:xfrm>
            <a:off x="4788044" y="4562735"/>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15" name="Line 6">
            <a:extLst>
              <a:ext uri="{FF2B5EF4-FFF2-40B4-BE49-F238E27FC236}">
                <a16:creationId xmlns:a16="http://schemas.microsoft.com/office/drawing/2014/main" id="{2F4F58ED-60A3-E642-BCAE-21D6AAE6429D}"/>
              </a:ext>
            </a:extLst>
          </p:cNvPr>
          <p:cNvSpPr>
            <a:spLocks noChangeShapeType="1"/>
          </p:cNvSpPr>
          <p:nvPr/>
        </p:nvSpPr>
        <p:spPr bwMode="auto">
          <a:xfrm>
            <a:off x="5524617" y="4557359"/>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29">
            <a:extLst>
              <a:ext uri="{FF2B5EF4-FFF2-40B4-BE49-F238E27FC236}">
                <a16:creationId xmlns:a16="http://schemas.microsoft.com/office/drawing/2014/main" id="{0044A679-D9B9-D7AB-695D-3B44E65BD465}"/>
              </a:ext>
            </a:extLst>
          </p:cNvPr>
          <p:cNvSpPr>
            <a:spLocks noChangeShapeType="1"/>
          </p:cNvSpPr>
          <p:nvPr/>
        </p:nvSpPr>
        <p:spPr bwMode="auto">
          <a:xfrm>
            <a:off x="4587052" y="4791061"/>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29">
            <a:extLst>
              <a:ext uri="{FF2B5EF4-FFF2-40B4-BE49-F238E27FC236}">
                <a16:creationId xmlns:a16="http://schemas.microsoft.com/office/drawing/2014/main" id="{9F7BDF95-5636-0387-478D-D554335F785A}"/>
              </a:ext>
            </a:extLst>
          </p:cNvPr>
          <p:cNvSpPr>
            <a:spLocks noChangeShapeType="1"/>
          </p:cNvSpPr>
          <p:nvPr/>
        </p:nvSpPr>
        <p:spPr bwMode="auto">
          <a:xfrm>
            <a:off x="3910433" y="4797593"/>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Rectangle 5">
            <a:extLst>
              <a:ext uri="{FF2B5EF4-FFF2-40B4-BE49-F238E27FC236}">
                <a16:creationId xmlns:a16="http://schemas.microsoft.com/office/drawing/2014/main" id="{A4B4161D-5054-23E3-0101-6DA22C5360B4}"/>
              </a:ext>
            </a:extLst>
          </p:cNvPr>
          <p:cNvSpPr>
            <a:spLocks noChangeArrowheads="1"/>
          </p:cNvSpPr>
          <p:nvPr/>
        </p:nvSpPr>
        <p:spPr bwMode="auto">
          <a:xfrm>
            <a:off x="6180803" y="457456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0" name="Line 6">
            <a:extLst>
              <a:ext uri="{FF2B5EF4-FFF2-40B4-BE49-F238E27FC236}">
                <a16:creationId xmlns:a16="http://schemas.microsoft.com/office/drawing/2014/main" id="{A8353068-31A0-0BD0-2C99-F7FEB7105FAA}"/>
              </a:ext>
            </a:extLst>
          </p:cNvPr>
          <p:cNvSpPr>
            <a:spLocks noChangeShapeType="1"/>
          </p:cNvSpPr>
          <p:nvPr/>
        </p:nvSpPr>
        <p:spPr bwMode="auto">
          <a:xfrm>
            <a:off x="6714203" y="457456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9">
            <a:extLst>
              <a:ext uri="{FF2B5EF4-FFF2-40B4-BE49-F238E27FC236}">
                <a16:creationId xmlns:a16="http://schemas.microsoft.com/office/drawing/2014/main" id="{38AEE8CC-EC35-33EE-E199-374001F8790A}"/>
              </a:ext>
            </a:extLst>
          </p:cNvPr>
          <p:cNvSpPr>
            <a:spLocks noChangeShapeType="1"/>
          </p:cNvSpPr>
          <p:nvPr/>
        </p:nvSpPr>
        <p:spPr bwMode="auto">
          <a:xfrm>
            <a:off x="5799803" y="482873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9">
            <a:extLst>
              <a:ext uri="{FF2B5EF4-FFF2-40B4-BE49-F238E27FC236}">
                <a16:creationId xmlns:a16="http://schemas.microsoft.com/office/drawing/2014/main" id="{D8251906-D6CC-4BB8-C31A-6E398182B24F}"/>
              </a:ext>
            </a:extLst>
          </p:cNvPr>
          <p:cNvSpPr>
            <a:spLocks noChangeShapeType="1"/>
          </p:cNvSpPr>
          <p:nvPr/>
        </p:nvSpPr>
        <p:spPr bwMode="auto">
          <a:xfrm>
            <a:off x="6945511" y="4829636"/>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Rectangle 5">
            <a:extLst>
              <a:ext uri="{FF2B5EF4-FFF2-40B4-BE49-F238E27FC236}">
                <a16:creationId xmlns:a16="http://schemas.microsoft.com/office/drawing/2014/main" id="{5932F828-6E3C-5D1F-6338-15129957FECC}"/>
              </a:ext>
            </a:extLst>
          </p:cNvPr>
          <p:cNvSpPr>
            <a:spLocks noChangeArrowheads="1"/>
          </p:cNvSpPr>
          <p:nvPr/>
        </p:nvSpPr>
        <p:spPr bwMode="auto">
          <a:xfrm>
            <a:off x="8024619" y="4589699"/>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24" name="Line 6">
            <a:extLst>
              <a:ext uri="{FF2B5EF4-FFF2-40B4-BE49-F238E27FC236}">
                <a16:creationId xmlns:a16="http://schemas.microsoft.com/office/drawing/2014/main" id="{000D23CB-74DF-0D87-DC5F-078E7F9B2D0B}"/>
              </a:ext>
            </a:extLst>
          </p:cNvPr>
          <p:cNvSpPr>
            <a:spLocks noChangeShapeType="1"/>
          </p:cNvSpPr>
          <p:nvPr/>
        </p:nvSpPr>
        <p:spPr bwMode="auto">
          <a:xfrm>
            <a:off x="8584146" y="458969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9">
            <a:extLst>
              <a:ext uri="{FF2B5EF4-FFF2-40B4-BE49-F238E27FC236}">
                <a16:creationId xmlns:a16="http://schemas.microsoft.com/office/drawing/2014/main" id="{52D392D3-F4B4-B27D-C923-B5303AEB1909}"/>
              </a:ext>
            </a:extLst>
          </p:cNvPr>
          <p:cNvSpPr>
            <a:spLocks noChangeShapeType="1"/>
          </p:cNvSpPr>
          <p:nvPr/>
        </p:nvSpPr>
        <p:spPr bwMode="auto">
          <a:xfrm>
            <a:off x="7643619" y="483734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矩形 25">
            <a:extLst>
              <a:ext uri="{FF2B5EF4-FFF2-40B4-BE49-F238E27FC236}">
                <a16:creationId xmlns:a16="http://schemas.microsoft.com/office/drawing/2014/main" id="{97D4972A-10E4-BEBB-847B-E19B676F3A6C}"/>
              </a:ext>
            </a:extLst>
          </p:cNvPr>
          <p:cNvSpPr/>
          <p:nvPr/>
        </p:nvSpPr>
        <p:spPr>
          <a:xfrm>
            <a:off x="89387" y="4582405"/>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27" name="Rectangle 5">
            <a:extLst>
              <a:ext uri="{FF2B5EF4-FFF2-40B4-BE49-F238E27FC236}">
                <a16:creationId xmlns:a16="http://schemas.microsoft.com/office/drawing/2014/main" id="{0CDCB7B3-161A-D1D0-65A7-06971673D6A5}"/>
              </a:ext>
            </a:extLst>
          </p:cNvPr>
          <p:cNvSpPr>
            <a:spLocks noChangeArrowheads="1"/>
          </p:cNvSpPr>
          <p:nvPr/>
        </p:nvSpPr>
        <p:spPr bwMode="auto">
          <a:xfrm>
            <a:off x="849684" y="4540733"/>
            <a:ext cx="914400" cy="431756"/>
          </a:xfrm>
          <a:prstGeom prst="rect">
            <a:avLst/>
          </a:prstGeom>
          <a:pattFill prst="wdUpDiag">
            <a:fgClr>
              <a:srgbClr val="92D050"/>
            </a:fgClr>
            <a:bgClr>
              <a:schemeClr val="bg1"/>
            </a:bgClr>
          </a:patt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28" name="Line 29">
            <a:extLst>
              <a:ext uri="{FF2B5EF4-FFF2-40B4-BE49-F238E27FC236}">
                <a16:creationId xmlns:a16="http://schemas.microsoft.com/office/drawing/2014/main" id="{3A6A1830-AA03-83C5-0FCC-BB043AE8AF15}"/>
              </a:ext>
            </a:extLst>
          </p:cNvPr>
          <p:cNvSpPr>
            <a:spLocks noChangeShapeType="1"/>
          </p:cNvSpPr>
          <p:nvPr/>
        </p:nvSpPr>
        <p:spPr bwMode="auto">
          <a:xfrm>
            <a:off x="1644341" y="480028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Line 6">
            <a:extLst>
              <a:ext uri="{FF2B5EF4-FFF2-40B4-BE49-F238E27FC236}">
                <a16:creationId xmlns:a16="http://schemas.microsoft.com/office/drawing/2014/main" id="{40C5DDBB-8955-CFA7-10DB-CDB45201220D}"/>
              </a:ext>
            </a:extLst>
          </p:cNvPr>
          <p:cNvSpPr>
            <a:spLocks noChangeShapeType="1"/>
          </p:cNvSpPr>
          <p:nvPr/>
        </p:nvSpPr>
        <p:spPr bwMode="auto">
          <a:xfrm>
            <a:off x="1403454" y="455277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9">
            <a:extLst>
              <a:ext uri="{FF2B5EF4-FFF2-40B4-BE49-F238E27FC236}">
                <a16:creationId xmlns:a16="http://schemas.microsoft.com/office/drawing/2014/main" id="{1B32BCD0-DB30-2EF3-2E3E-7C4C849C5FE0}"/>
              </a:ext>
            </a:extLst>
          </p:cNvPr>
          <p:cNvSpPr>
            <a:spLocks noChangeShapeType="1"/>
          </p:cNvSpPr>
          <p:nvPr/>
        </p:nvSpPr>
        <p:spPr bwMode="auto">
          <a:xfrm>
            <a:off x="1662830" y="4342880"/>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AutoShape 30">
            <a:extLst>
              <a:ext uri="{FF2B5EF4-FFF2-40B4-BE49-F238E27FC236}">
                <a16:creationId xmlns:a16="http://schemas.microsoft.com/office/drawing/2014/main" id="{8979B52B-E070-F207-47FE-4E7A991B1985}"/>
              </a:ext>
            </a:extLst>
          </p:cNvPr>
          <p:cNvSpPr>
            <a:spLocks noChangeArrowheads="1"/>
          </p:cNvSpPr>
          <p:nvPr/>
        </p:nvSpPr>
        <p:spPr bwMode="auto">
          <a:xfrm>
            <a:off x="1965647" y="4244200"/>
            <a:ext cx="6337440" cy="228600"/>
          </a:xfrm>
          <a:prstGeom prst="rightArrow">
            <a:avLst>
              <a:gd name="adj1" fmla="val 50000"/>
              <a:gd name="adj2" fmla="val 56250"/>
            </a:avLst>
          </a:prstGeom>
          <a:solidFill>
            <a:srgbClr val="FFCC00"/>
          </a:solidFill>
          <a:ln w="6350">
            <a:solidFill>
              <a:schemeClr val="tx1"/>
            </a:solidFill>
            <a:miter lim="800000"/>
            <a:headEnd/>
            <a:tailEnd/>
          </a:ln>
        </p:spPr>
        <p:txBody>
          <a:bodyPr wrap="none" anchor="ctr"/>
          <a:lstStyle/>
          <a:p>
            <a:endParaRPr lang="zh-CN" altLang="en-US"/>
          </a:p>
        </p:txBody>
      </p:sp>
      <p:sp>
        <p:nvSpPr>
          <p:cNvPr id="32" name="Rectangle 55">
            <a:extLst>
              <a:ext uri="{FF2B5EF4-FFF2-40B4-BE49-F238E27FC236}">
                <a16:creationId xmlns:a16="http://schemas.microsoft.com/office/drawing/2014/main" id="{B7707E52-A9F8-1F46-1E50-13BCDD430327}"/>
              </a:ext>
            </a:extLst>
          </p:cNvPr>
          <p:cNvSpPr>
            <a:spLocks noChangeArrowheads="1"/>
          </p:cNvSpPr>
          <p:nvPr/>
        </p:nvSpPr>
        <p:spPr bwMode="auto">
          <a:xfrm>
            <a:off x="1373929" y="3927373"/>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33" name="Rectangle 55">
            <a:extLst>
              <a:ext uri="{FF2B5EF4-FFF2-40B4-BE49-F238E27FC236}">
                <a16:creationId xmlns:a16="http://schemas.microsoft.com/office/drawing/2014/main" id="{8774784B-3230-DA6A-A0F7-1052B7F26342}"/>
              </a:ext>
            </a:extLst>
          </p:cNvPr>
          <p:cNvSpPr>
            <a:spLocks noChangeArrowheads="1"/>
          </p:cNvSpPr>
          <p:nvPr/>
        </p:nvSpPr>
        <p:spPr bwMode="auto">
          <a:xfrm>
            <a:off x="177052" y="3927373"/>
            <a:ext cx="6711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pre</a:t>
            </a:r>
            <a:endParaRPr lang="zh-CN" altLang="en-US" sz="2400" dirty="0">
              <a:latin typeface="微软雅黑" pitchFamily="34" charset="-122"/>
              <a:ea typeface="微软雅黑" pitchFamily="34" charset="-122"/>
            </a:endParaRPr>
          </a:p>
        </p:txBody>
      </p:sp>
      <p:sp>
        <p:nvSpPr>
          <p:cNvPr id="34" name="Line 29">
            <a:extLst>
              <a:ext uri="{FF2B5EF4-FFF2-40B4-BE49-F238E27FC236}">
                <a16:creationId xmlns:a16="http://schemas.microsoft.com/office/drawing/2014/main" id="{1520F8BD-64CE-81F3-132F-C9DAFCBB8A2F}"/>
              </a:ext>
            </a:extLst>
          </p:cNvPr>
          <p:cNvSpPr>
            <a:spLocks noChangeShapeType="1"/>
          </p:cNvSpPr>
          <p:nvPr/>
        </p:nvSpPr>
        <p:spPr bwMode="auto">
          <a:xfrm>
            <a:off x="512618" y="4286505"/>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文本框 36">
            <a:extLst>
              <a:ext uri="{FF2B5EF4-FFF2-40B4-BE49-F238E27FC236}">
                <a16:creationId xmlns:a16="http://schemas.microsoft.com/office/drawing/2014/main" id="{4162B024-5F50-40F5-F1D9-BCBBD0FA02CD}"/>
              </a:ext>
            </a:extLst>
          </p:cNvPr>
          <p:cNvSpPr txBox="1"/>
          <p:nvPr/>
        </p:nvSpPr>
        <p:spPr>
          <a:xfrm>
            <a:off x="648898" y="2317077"/>
            <a:ext cx="8495102" cy="1709827"/>
          </a:xfrm>
          <a:prstGeom prst="rect">
            <a:avLst/>
          </a:prstGeom>
          <a:noFill/>
        </p:spPr>
        <p:txBody>
          <a:bodyPr wrap="square">
            <a:spAutoFit/>
          </a:bodyPr>
          <a:lstStyle/>
          <a:p>
            <a:pPr algn="l">
              <a:lnSpc>
                <a:spcPts val="1800"/>
              </a:lnSpc>
            </a:pPr>
            <a:r>
              <a:rPr kumimoji="1" lang="en-US" altLang="zh-CN" sz="1800" dirty="0">
                <a:solidFill>
                  <a:srgbClr val="0000FF"/>
                </a:solidFill>
                <a:latin typeface="Consolas" pitchFamily="49" charset="0"/>
                <a:ea typeface="仿宋" pitchFamily="49" charset="-122"/>
                <a:cs typeface="Consolas" pitchFamily="49" charset="0"/>
              </a:rPr>
              <a:t>    while (p!=NULL)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扫描单链表</a:t>
            </a:r>
            <a:r>
              <a:rPr kumimoji="1" lang="en-US" altLang="zh-CN" sz="1800" dirty="0">
                <a:solidFill>
                  <a:srgbClr val="00B0F0"/>
                </a:solidFill>
                <a:latin typeface="Consolas" pitchFamily="49" charset="0"/>
                <a:ea typeface="仿宋" pitchFamily="49" charset="-122"/>
                <a:cs typeface="Consolas" pitchFamily="49" charset="0"/>
              </a:rPr>
              <a:t>L</a:t>
            </a:r>
          </a:p>
          <a:p>
            <a:pPr algn="l">
              <a:lnSpc>
                <a:spcPts val="1800"/>
              </a:lnSpc>
            </a:pPr>
            <a:r>
              <a:rPr kumimoji="1" lang="en-US" altLang="zh-CN" sz="1800" dirty="0">
                <a:solidFill>
                  <a:srgbClr val="0000FF"/>
                </a:solidFill>
                <a:latin typeface="Consolas" pitchFamily="49" charset="0"/>
                <a:ea typeface="仿宋" pitchFamily="49" charset="-122"/>
                <a:cs typeface="Consolas" pitchFamily="49" charset="0"/>
              </a:rPr>
              <a:t>    {  </a:t>
            </a:r>
            <a:r>
              <a:rPr kumimoji="1" lang="en-US" altLang="zh-CN" sz="1800" dirty="0">
                <a:solidFill>
                  <a:srgbClr val="C00000"/>
                </a:solidFill>
                <a:latin typeface="Consolas" pitchFamily="49" charset="0"/>
                <a:ea typeface="仿宋" pitchFamily="49" charset="-122"/>
                <a:cs typeface="Consolas" pitchFamily="49" charset="0"/>
              </a:rPr>
              <a:t>free(pre);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释放</a:t>
            </a:r>
            <a:r>
              <a:rPr kumimoji="1" lang="en-US" altLang="zh-CN" sz="1800" dirty="0">
                <a:solidFill>
                  <a:srgbClr val="00B0F0"/>
                </a:solidFill>
                <a:latin typeface="Consolas" pitchFamily="49" charset="0"/>
                <a:ea typeface="仿宋" pitchFamily="49" charset="-122"/>
                <a:cs typeface="Consolas" pitchFamily="49" charset="0"/>
              </a:rPr>
              <a:t>pre</a:t>
            </a:r>
            <a:r>
              <a:rPr kumimoji="1" lang="zh-CN" altLang="en-US" sz="1800" dirty="0">
                <a:solidFill>
                  <a:srgbClr val="00B0F0"/>
                </a:solidFill>
                <a:latin typeface="Consolas" pitchFamily="49" charset="0"/>
                <a:ea typeface="仿宋" pitchFamily="49" charset="-122"/>
                <a:cs typeface="Consolas" pitchFamily="49" charset="0"/>
              </a:rPr>
              <a:t>结点</a:t>
            </a:r>
          </a:p>
          <a:p>
            <a:pPr algn="l">
              <a:lnSpc>
                <a:spcPts val="18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pre=p;		</a:t>
            </a:r>
            <a:r>
              <a:rPr kumimoji="1" lang="en-US" altLang="zh-CN" sz="1800" dirty="0">
                <a:solidFill>
                  <a:srgbClr val="00B0F0"/>
                </a:solidFill>
                <a:latin typeface="Consolas" pitchFamily="49" charset="0"/>
                <a:ea typeface="仿宋" pitchFamily="49" charset="-122"/>
                <a:cs typeface="Consolas" pitchFamily="49" charset="0"/>
              </a:rPr>
              <a:t>//pre</a:t>
            </a:r>
            <a:r>
              <a:rPr kumimoji="1" lang="zh-CN" altLang="en-US" sz="1800" dirty="0">
                <a:solidFill>
                  <a:srgbClr val="00B0F0"/>
                </a:solidFill>
                <a:latin typeface="Consolas" pitchFamily="49" charset="0"/>
                <a:ea typeface="仿宋" pitchFamily="49" charset="-122"/>
                <a:cs typeface="Consolas" pitchFamily="49" charset="0"/>
              </a:rPr>
              <a:t>、</a:t>
            </a:r>
            <a:r>
              <a:rPr kumimoji="1" lang="en-US" altLang="zh-CN" sz="1800" dirty="0">
                <a:solidFill>
                  <a:srgbClr val="00B0F0"/>
                </a:solidFill>
                <a:latin typeface="Consolas" pitchFamily="49" charset="0"/>
                <a:ea typeface="仿宋" pitchFamily="49" charset="-122"/>
                <a:cs typeface="Consolas" pitchFamily="49" charset="0"/>
              </a:rPr>
              <a:t>p</a:t>
            </a:r>
            <a:r>
              <a:rPr kumimoji="1" lang="zh-CN" altLang="en-US" sz="1800" dirty="0">
                <a:solidFill>
                  <a:srgbClr val="00B0F0"/>
                </a:solidFill>
                <a:latin typeface="Consolas" pitchFamily="49" charset="0"/>
                <a:ea typeface="仿宋" pitchFamily="49" charset="-122"/>
                <a:cs typeface="Consolas" pitchFamily="49" charset="0"/>
              </a:rPr>
              <a:t>同步后移一个结点</a:t>
            </a:r>
          </a:p>
          <a:p>
            <a:pPr algn="l">
              <a:lnSpc>
                <a:spcPts val="18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p=pre-&gt;next;</a:t>
            </a:r>
          </a:p>
          <a:p>
            <a:pPr algn="l">
              <a:lnSpc>
                <a:spcPts val="1800"/>
              </a:lnSpc>
            </a:pPr>
            <a:r>
              <a:rPr kumimoji="1" lang="en-US" altLang="zh-CN" sz="1800" dirty="0">
                <a:solidFill>
                  <a:srgbClr val="0000FF"/>
                </a:solidFill>
                <a:latin typeface="Consolas" pitchFamily="49" charset="0"/>
                <a:ea typeface="仿宋" pitchFamily="49" charset="-122"/>
                <a:cs typeface="Consolas" pitchFamily="49" charset="0"/>
              </a:rPr>
              <a:t>    }</a:t>
            </a:r>
          </a:p>
          <a:p>
            <a:pPr algn="l">
              <a:lnSpc>
                <a:spcPts val="1800"/>
              </a:lnSpc>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C00000"/>
                </a:solidFill>
                <a:latin typeface="Consolas" pitchFamily="49" charset="0"/>
                <a:ea typeface="仿宋" pitchFamily="49" charset="-122"/>
                <a:cs typeface="Consolas" pitchFamily="49" charset="0"/>
              </a:rPr>
              <a:t>free(pre);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循环结束时，</a:t>
            </a:r>
            <a:r>
              <a:rPr kumimoji="1" lang="en-US" altLang="zh-CN" sz="1800" dirty="0">
                <a:solidFill>
                  <a:srgbClr val="00B0F0"/>
                </a:solidFill>
                <a:latin typeface="Consolas" pitchFamily="49" charset="0"/>
                <a:ea typeface="仿宋" pitchFamily="49" charset="-122"/>
                <a:cs typeface="Consolas" pitchFamily="49" charset="0"/>
              </a:rPr>
              <a:t>p</a:t>
            </a:r>
            <a:r>
              <a:rPr kumimoji="1" lang="zh-CN" altLang="en-US" sz="1800" dirty="0">
                <a:solidFill>
                  <a:srgbClr val="00B0F0"/>
                </a:solidFill>
                <a:latin typeface="Consolas" pitchFamily="49" charset="0"/>
                <a:ea typeface="仿宋" pitchFamily="49" charset="-122"/>
                <a:cs typeface="Consolas" pitchFamily="49" charset="0"/>
              </a:rPr>
              <a:t>为</a:t>
            </a:r>
            <a:r>
              <a:rPr kumimoji="1" lang="en-US" altLang="zh-CN" sz="1800" dirty="0">
                <a:solidFill>
                  <a:srgbClr val="00B0F0"/>
                </a:solidFill>
                <a:latin typeface="Consolas" pitchFamily="49" charset="0"/>
                <a:ea typeface="仿宋" pitchFamily="49" charset="-122"/>
                <a:cs typeface="Consolas" pitchFamily="49" charset="0"/>
              </a:rPr>
              <a:t>NULL</a:t>
            </a:r>
            <a:r>
              <a:rPr kumimoji="1" lang="zh-CN" altLang="en-US" sz="1800" dirty="0">
                <a:solidFill>
                  <a:srgbClr val="00B0F0"/>
                </a:solidFill>
                <a:latin typeface="Consolas" pitchFamily="49" charset="0"/>
                <a:ea typeface="仿宋" pitchFamily="49" charset="-122"/>
                <a:cs typeface="Consolas" pitchFamily="49" charset="0"/>
              </a:rPr>
              <a:t>，</a:t>
            </a:r>
            <a:r>
              <a:rPr kumimoji="1" lang="en-US" altLang="zh-CN" sz="1800" dirty="0">
                <a:solidFill>
                  <a:srgbClr val="00B0F0"/>
                </a:solidFill>
                <a:latin typeface="Consolas" pitchFamily="49" charset="0"/>
                <a:ea typeface="仿宋" pitchFamily="49" charset="-122"/>
                <a:cs typeface="Consolas" pitchFamily="49" charset="0"/>
              </a:rPr>
              <a:t>pre</a:t>
            </a:r>
            <a:r>
              <a:rPr kumimoji="1" lang="zh-CN" altLang="en-US" sz="1800" dirty="0">
                <a:solidFill>
                  <a:srgbClr val="00B0F0"/>
                </a:solidFill>
                <a:latin typeface="Consolas" pitchFamily="49" charset="0"/>
                <a:ea typeface="仿宋" pitchFamily="49" charset="-122"/>
                <a:cs typeface="Consolas" pitchFamily="49" charset="0"/>
              </a:rPr>
              <a:t>指向尾结点，释放它</a:t>
            </a:r>
          </a:p>
          <a:p>
            <a:pPr algn="l">
              <a:lnSpc>
                <a:spcPts val="1800"/>
              </a:lnSpc>
            </a:pPr>
            <a:r>
              <a:rPr kumimoji="1" lang="en-US" altLang="zh-CN" sz="1800" dirty="0">
                <a:solidFill>
                  <a:srgbClr val="0000FF"/>
                </a:solidFill>
                <a:latin typeface="Consolas" pitchFamily="49" charset="0"/>
                <a:ea typeface="仿宋" pitchFamily="49" charset="-122"/>
                <a:cs typeface="Consolas" pitchFamily="49" charset="0"/>
              </a:rPr>
              <a:t>}</a:t>
            </a:r>
            <a:endParaRPr lang="en-US" altLang="zh-CN" sz="1800" dirty="0">
              <a:solidFill>
                <a:srgbClr val="0000FF"/>
              </a:solidFill>
              <a:latin typeface="Consolas" pitchFamily="49" charset="0"/>
              <a:ea typeface="仿宋" pitchFamily="49" charset="-122"/>
              <a:cs typeface="Consolas" pitchFamily="49" charset="0"/>
            </a:endParaRPr>
          </a:p>
        </p:txBody>
      </p:sp>
      <p:sp>
        <p:nvSpPr>
          <p:cNvPr id="39" name="矩形 38">
            <a:extLst>
              <a:ext uri="{FF2B5EF4-FFF2-40B4-BE49-F238E27FC236}">
                <a16:creationId xmlns:a16="http://schemas.microsoft.com/office/drawing/2014/main" id="{B6719958-B45E-7BCD-9646-AB91809FEB80}"/>
              </a:ext>
            </a:extLst>
          </p:cNvPr>
          <p:cNvSpPr/>
          <p:nvPr/>
        </p:nvSpPr>
        <p:spPr>
          <a:xfrm>
            <a:off x="1089217" y="1572624"/>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②</a:t>
            </a:r>
            <a:r>
              <a:rPr lang="zh-CN" altLang="en-US" sz="2000" dirty="0">
                <a:latin typeface="微软雅黑" pitchFamily="34" charset="-122"/>
                <a:ea typeface="微软雅黑" pitchFamily="34" charset="-122"/>
                <a:cs typeface="经典粗黑简" pitchFamily="49" charset="-122"/>
              </a:rPr>
              <a:t>销毁单链表</a:t>
            </a:r>
          </a:p>
        </p:txBody>
      </p:sp>
      <p:sp>
        <p:nvSpPr>
          <p:cNvPr id="35" name="矩形 34">
            <a:extLst>
              <a:ext uri="{FF2B5EF4-FFF2-40B4-BE49-F238E27FC236}">
                <a16:creationId xmlns:a16="http://schemas.microsoft.com/office/drawing/2014/main" id="{D82C6593-2D3C-4456-B88D-EEE98E0D9051}"/>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40532104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F87C5-C6C0-55BB-B884-4D66B5101FA1}"/>
            </a:ext>
          </a:extLst>
        </p:cNvPr>
        <p:cNvGrpSpPr/>
        <p:nvPr/>
      </p:nvGrpSpPr>
      <p:grpSpPr>
        <a:xfrm>
          <a:off x="0" y="0"/>
          <a:ext cx="0" cy="0"/>
          <a:chOff x="0" y="0"/>
          <a:chExt cx="0" cy="0"/>
        </a:xfrm>
      </p:grpSpPr>
      <p:cxnSp>
        <p:nvCxnSpPr>
          <p:cNvPr id="16" name="直接连接符 15">
            <a:extLst>
              <a:ext uri="{FF2B5EF4-FFF2-40B4-BE49-F238E27FC236}">
                <a16:creationId xmlns:a16="http://schemas.microsoft.com/office/drawing/2014/main" id="{3786AC99-9226-6FD4-AAA4-D25CC582987C}"/>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0DDF1ED6-4FBB-3544-D56C-B4AD8A31B8BE}"/>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5" name="Rectangle 5">
            <a:extLst>
              <a:ext uri="{FF2B5EF4-FFF2-40B4-BE49-F238E27FC236}">
                <a16:creationId xmlns:a16="http://schemas.microsoft.com/office/drawing/2014/main" id="{7E8969CB-5214-1A96-B89D-0E3AC537F1F5}"/>
              </a:ext>
            </a:extLst>
          </p:cNvPr>
          <p:cNvSpPr>
            <a:spLocks noChangeArrowheads="1"/>
          </p:cNvSpPr>
          <p:nvPr/>
        </p:nvSpPr>
        <p:spPr bwMode="auto">
          <a:xfrm>
            <a:off x="2010876" y="434865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6" name="Line 6">
            <a:extLst>
              <a:ext uri="{FF2B5EF4-FFF2-40B4-BE49-F238E27FC236}">
                <a16:creationId xmlns:a16="http://schemas.microsoft.com/office/drawing/2014/main" id="{398AF459-4A81-3678-EFDF-761C871B978E}"/>
              </a:ext>
            </a:extLst>
          </p:cNvPr>
          <p:cNvSpPr>
            <a:spLocks noChangeShapeType="1"/>
          </p:cNvSpPr>
          <p:nvPr/>
        </p:nvSpPr>
        <p:spPr bwMode="auto">
          <a:xfrm>
            <a:off x="2544276" y="434865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Rectangle 25">
            <a:extLst>
              <a:ext uri="{FF2B5EF4-FFF2-40B4-BE49-F238E27FC236}">
                <a16:creationId xmlns:a16="http://schemas.microsoft.com/office/drawing/2014/main" id="{E5DC16EE-A8BE-E4AC-B3E4-CF00F2E7DC77}"/>
              </a:ext>
            </a:extLst>
          </p:cNvPr>
          <p:cNvSpPr>
            <a:spLocks noChangeArrowheads="1"/>
          </p:cNvSpPr>
          <p:nvPr/>
        </p:nvSpPr>
        <p:spPr bwMode="auto">
          <a:xfrm>
            <a:off x="4174761" y="442261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8" name="Rectangle 36">
            <a:extLst>
              <a:ext uri="{FF2B5EF4-FFF2-40B4-BE49-F238E27FC236}">
                <a16:creationId xmlns:a16="http://schemas.microsoft.com/office/drawing/2014/main" id="{42224B61-74D6-1FE3-ADDA-D14C043966CA}"/>
              </a:ext>
            </a:extLst>
          </p:cNvPr>
          <p:cNvSpPr>
            <a:spLocks noChangeArrowheads="1"/>
          </p:cNvSpPr>
          <p:nvPr/>
        </p:nvSpPr>
        <p:spPr bwMode="auto">
          <a:xfrm>
            <a:off x="7308910" y="4444617"/>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9" name="Line 29">
            <a:extLst>
              <a:ext uri="{FF2B5EF4-FFF2-40B4-BE49-F238E27FC236}">
                <a16:creationId xmlns:a16="http://schemas.microsoft.com/office/drawing/2014/main" id="{DA719625-F6DE-FD9E-D908-6D54AE0F2490}"/>
              </a:ext>
            </a:extLst>
          </p:cNvPr>
          <p:cNvSpPr>
            <a:spLocks noChangeShapeType="1"/>
          </p:cNvSpPr>
          <p:nvPr/>
        </p:nvSpPr>
        <p:spPr bwMode="auto">
          <a:xfrm>
            <a:off x="458398" y="460032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5">
            <a:extLst>
              <a:ext uri="{FF2B5EF4-FFF2-40B4-BE49-F238E27FC236}">
                <a16:creationId xmlns:a16="http://schemas.microsoft.com/office/drawing/2014/main" id="{BE341818-7616-C90D-8154-EBA087568499}"/>
              </a:ext>
            </a:extLst>
          </p:cNvPr>
          <p:cNvSpPr>
            <a:spLocks noChangeArrowheads="1"/>
          </p:cNvSpPr>
          <p:nvPr/>
        </p:nvSpPr>
        <p:spPr bwMode="auto">
          <a:xfrm>
            <a:off x="3186533" y="435402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1" name="Line 6">
            <a:extLst>
              <a:ext uri="{FF2B5EF4-FFF2-40B4-BE49-F238E27FC236}">
                <a16:creationId xmlns:a16="http://schemas.microsoft.com/office/drawing/2014/main" id="{A18A2C98-461C-2C81-2CEF-6FD4335D4C04}"/>
              </a:ext>
            </a:extLst>
          </p:cNvPr>
          <p:cNvSpPr>
            <a:spLocks noChangeShapeType="1"/>
          </p:cNvSpPr>
          <p:nvPr/>
        </p:nvSpPr>
        <p:spPr bwMode="auto">
          <a:xfrm>
            <a:off x="3719933" y="435402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29">
            <a:extLst>
              <a:ext uri="{FF2B5EF4-FFF2-40B4-BE49-F238E27FC236}">
                <a16:creationId xmlns:a16="http://schemas.microsoft.com/office/drawing/2014/main" id="{763EB4A7-20A5-80D8-6DA5-CB8A4719BEBF}"/>
              </a:ext>
            </a:extLst>
          </p:cNvPr>
          <p:cNvSpPr>
            <a:spLocks noChangeShapeType="1"/>
          </p:cNvSpPr>
          <p:nvPr/>
        </p:nvSpPr>
        <p:spPr bwMode="auto">
          <a:xfrm>
            <a:off x="2805533" y="460819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Rectangle 5">
            <a:extLst>
              <a:ext uri="{FF2B5EF4-FFF2-40B4-BE49-F238E27FC236}">
                <a16:creationId xmlns:a16="http://schemas.microsoft.com/office/drawing/2014/main" id="{C30C9620-C6A8-12A2-C33F-BB01FE286B57}"/>
              </a:ext>
            </a:extLst>
          </p:cNvPr>
          <p:cNvSpPr>
            <a:spLocks noChangeArrowheads="1"/>
          </p:cNvSpPr>
          <p:nvPr/>
        </p:nvSpPr>
        <p:spPr bwMode="auto">
          <a:xfrm>
            <a:off x="4788044" y="4370652"/>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15" name="Line 6">
            <a:extLst>
              <a:ext uri="{FF2B5EF4-FFF2-40B4-BE49-F238E27FC236}">
                <a16:creationId xmlns:a16="http://schemas.microsoft.com/office/drawing/2014/main" id="{34031AEB-85A4-F356-C3D9-D71FCDFE42CD}"/>
              </a:ext>
            </a:extLst>
          </p:cNvPr>
          <p:cNvSpPr>
            <a:spLocks noChangeShapeType="1"/>
          </p:cNvSpPr>
          <p:nvPr/>
        </p:nvSpPr>
        <p:spPr bwMode="auto">
          <a:xfrm>
            <a:off x="5524617" y="4365276"/>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29">
            <a:extLst>
              <a:ext uri="{FF2B5EF4-FFF2-40B4-BE49-F238E27FC236}">
                <a16:creationId xmlns:a16="http://schemas.microsoft.com/office/drawing/2014/main" id="{53AB522D-34CF-C64A-08D4-6AD5690CAAE4}"/>
              </a:ext>
            </a:extLst>
          </p:cNvPr>
          <p:cNvSpPr>
            <a:spLocks noChangeShapeType="1"/>
          </p:cNvSpPr>
          <p:nvPr/>
        </p:nvSpPr>
        <p:spPr bwMode="auto">
          <a:xfrm>
            <a:off x="4587052" y="4598978"/>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29">
            <a:extLst>
              <a:ext uri="{FF2B5EF4-FFF2-40B4-BE49-F238E27FC236}">
                <a16:creationId xmlns:a16="http://schemas.microsoft.com/office/drawing/2014/main" id="{65AA3C1D-5677-BFDB-0B79-2F1875B0E8CD}"/>
              </a:ext>
            </a:extLst>
          </p:cNvPr>
          <p:cNvSpPr>
            <a:spLocks noChangeShapeType="1"/>
          </p:cNvSpPr>
          <p:nvPr/>
        </p:nvSpPr>
        <p:spPr bwMode="auto">
          <a:xfrm>
            <a:off x="3910433" y="4605510"/>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Rectangle 5">
            <a:extLst>
              <a:ext uri="{FF2B5EF4-FFF2-40B4-BE49-F238E27FC236}">
                <a16:creationId xmlns:a16="http://schemas.microsoft.com/office/drawing/2014/main" id="{D46F5D19-99F3-4592-0D35-A24B60C31429}"/>
              </a:ext>
            </a:extLst>
          </p:cNvPr>
          <p:cNvSpPr>
            <a:spLocks noChangeArrowheads="1"/>
          </p:cNvSpPr>
          <p:nvPr/>
        </p:nvSpPr>
        <p:spPr bwMode="auto">
          <a:xfrm>
            <a:off x="6180803" y="438248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0" name="Line 6">
            <a:extLst>
              <a:ext uri="{FF2B5EF4-FFF2-40B4-BE49-F238E27FC236}">
                <a16:creationId xmlns:a16="http://schemas.microsoft.com/office/drawing/2014/main" id="{B1C63F06-5311-81C2-B48A-60E50A7BEAE4}"/>
              </a:ext>
            </a:extLst>
          </p:cNvPr>
          <p:cNvSpPr>
            <a:spLocks noChangeShapeType="1"/>
          </p:cNvSpPr>
          <p:nvPr/>
        </p:nvSpPr>
        <p:spPr bwMode="auto">
          <a:xfrm>
            <a:off x="6714203" y="438248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9">
            <a:extLst>
              <a:ext uri="{FF2B5EF4-FFF2-40B4-BE49-F238E27FC236}">
                <a16:creationId xmlns:a16="http://schemas.microsoft.com/office/drawing/2014/main" id="{7AEBA4D1-93A1-3F8A-35D9-5C01AAF56924}"/>
              </a:ext>
            </a:extLst>
          </p:cNvPr>
          <p:cNvSpPr>
            <a:spLocks noChangeShapeType="1"/>
          </p:cNvSpPr>
          <p:nvPr/>
        </p:nvSpPr>
        <p:spPr bwMode="auto">
          <a:xfrm>
            <a:off x="5799803" y="463665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9">
            <a:extLst>
              <a:ext uri="{FF2B5EF4-FFF2-40B4-BE49-F238E27FC236}">
                <a16:creationId xmlns:a16="http://schemas.microsoft.com/office/drawing/2014/main" id="{E4E13F80-38C0-9A99-E8FF-3216689D5148}"/>
              </a:ext>
            </a:extLst>
          </p:cNvPr>
          <p:cNvSpPr>
            <a:spLocks noChangeShapeType="1"/>
          </p:cNvSpPr>
          <p:nvPr/>
        </p:nvSpPr>
        <p:spPr bwMode="auto">
          <a:xfrm>
            <a:off x="6945511" y="4637553"/>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Rectangle 5">
            <a:extLst>
              <a:ext uri="{FF2B5EF4-FFF2-40B4-BE49-F238E27FC236}">
                <a16:creationId xmlns:a16="http://schemas.microsoft.com/office/drawing/2014/main" id="{77FDD6F0-26F8-627D-D821-D05F844BE480}"/>
              </a:ext>
            </a:extLst>
          </p:cNvPr>
          <p:cNvSpPr>
            <a:spLocks noChangeArrowheads="1"/>
          </p:cNvSpPr>
          <p:nvPr/>
        </p:nvSpPr>
        <p:spPr bwMode="auto">
          <a:xfrm>
            <a:off x="8024619" y="4397616"/>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24" name="Line 6">
            <a:extLst>
              <a:ext uri="{FF2B5EF4-FFF2-40B4-BE49-F238E27FC236}">
                <a16:creationId xmlns:a16="http://schemas.microsoft.com/office/drawing/2014/main" id="{09C8F178-D862-041E-8141-3854C696160B}"/>
              </a:ext>
            </a:extLst>
          </p:cNvPr>
          <p:cNvSpPr>
            <a:spLocks noChangeShapeType="1"/>
          </p:cNvSpPr>
          <p:nvPr/>
        </p:nvSpPr>
        <p:spPr bwMode="auto">
          <a:xfrm>
            <a:off x="8584146" y="4397616"/>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9">
            <a:extLst>
              <a:ext uri="{FF2B5EF4-FFF2-40B4-BE49-F238E27FC236}">
                <a16:creationId xmlns:a16="http://schemas.microsoft.com/office/drawing/2014/main" id="{3E64DD14-E33B-1D54-FB80-DA14644D95A4}"/>
              </a:ext>
            </a:extLst>
          </p:cNvPr>
          <p:cNvSpPr>
            <a:spLocks noChangeShapeType="1"/>
          </p:cNvSpPr>
          <p:nvPr/>
        </p:nvSpPr>
        <p:spPr bwMode="auto">
          <a:xfrm>
            <a:off x="7643619" y="464525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矩形 25">
            <a:extLst>
              <a:ext uri="{FF2B5EF4-FFF2-40B4-BE49-F238E27FC236}">
                <a16:creationId xmlns:a16="http://schemas.microsoft.com/office/drawing/2014/main" id="{EB95DB80-93F2-A6BC-E34A-C1376CB1CEB3}"/>
              </a:ext>
            </a:extLst>
          </p:cNvPr>
          <p:cNvSpPr/>
          <p:nvPr/>
        </p:nvSpPr>
        <p:spPr>
          <a:xfrm>
            <a:off x="89387" y="4390322"/>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27" name="Rectangle 5">
            <a:extLst>
              <a:ext uri="{FF2B5EF4-FFF2-40B4-BE49-F238E27FC236}">
                <a16:creationId xmlns:a16="http://schemas.microsoft.com/office/drawing/2014/main" id="{92AEBB89-CAD7-1E10-46FF-A8DD415877EE}"/>
              </a:ext>
            </a:extLst>
          </p:cNvPr>
          <p:cNvSpPr>
            <a:spLocks noChangeArrowheads="1"/>
          </p:cNvSpPr>
          <p:nvPr/>
        </p:nvSpPr>
        <p:spPr bwMode="auto">
          <a:xfrm>
            <a:off x="849684" y="4348650"/>
            <a:ext cx="914400" cy="431756"/>
          </a:xfrm>
          <a:prstGeom prst="rect">
            <a:avLst/>
          </a:prstGeom>
          <a:pattFill prst="wdUpDiag">
            <a:fgClr>
              <a:srgbClr val="92D050"/>
            </a:fgClr>
            <a:bgClr>
              <a:schemeClr val="bg1"/>
            </a:bgClr>
          </a:patt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28" name="Line 29">
            <a:extLst>
              <a:ext uri="{FF2B5EF4-FFF2-40B4-BE49-F238E27FC236}">
                <a16:creationId xmlns:a16="http://schemas.microsoft.com/office/drawing/2014/main" id="{CC28BF58-36CD-9B24-0BE0-F081813B0E1C}"/>
              </a:ext>
            </a:extLst>
          </p:cNvPr>
          <p:cNvSpPr>
            <a:spLocks noChangeShapeType="1"/>
          </p:cNvSpPr>
          <p:nvPr/>
        </p:nvSpPr>
        <p:spPr bwMode="auto">
          <a:xfrm>
            <a:off x="1644341" y="460819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Line 6">
            <a:extLst>
              <a:ext uri="{FF2B5EF4-FFF2-40B4-BE49-F238E27FC236}">
                <a16:creationId xmlns:a16="http://schemas.microsoft.com/office/drawing/2014/main" id="{3BEE76A4-9060-BA00-3D03-E9A5DBD04B2E}"/>
              </a:ext>
            </a:extLst>
          </p:cNvPr>
          <p:cNvSpPr>
            <a:spLocks noChangeShapeType="1"/>
          </p:cNvSpPr>
          <p:nvPr/>
        </p:nvSpPr>
        <p:spPr bwMode="auto">
          <a:xfrm>
            <a:off x="1403454" y="436069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9">
            <a:extLst>
              <a:ext uri="{FF2B5EF4-FFF2-40B4-BE49-F238E27FC236}">
                <a16:creationId xmlns:a16="http://schemas.microsoft.com/office/drawing/2014/main" id="{4147C6A5-1408-791F-00CA-F38988B3126F}"/>
              </a:ext>
            </a:extLst>
          </p:cNvPr>
          <p:cNvSpPr>
            <a:spLocks noChangeShapeType="1"/>
          </p:cNvSpPr>
          <p:nvPr/>
        </p:nvSpPr>
        <p:spPr bwMode="auto">
          <a:xfrm>
            <a:off x="2961434" y="4067377"/>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AutoShape 30">
            <a:extLst>
              <a:ext uri="{FF2B5EF4-FFF2-40B4-BE49-F238E27FC236}">
                <a16:creationId xmlns:a16="http://schemas.microsoft.com/office/drawing/2014/main" id="{D6350C8D-1B9C-668F-AC62-8A92A56992B5}"/>
              </a:ext>
            </a:extLst>
          </p:cNvPr>
          <p:cNvSpPr>
            <a:spLocks noChangeArrowheads="1"/>
          </p:cNvSpPr>
          <p:nvPr/>
        </p:nvSpPr>
        <p:spPr bwMode="auto">
          <a:xfrm>
            <a:off x="3186533" y="4052117"/>
            <a:ext cx="5116554" cy="228600"/>
          </a:xfrm>
          <a:prstGeom prst="rightArrow">
            <a:avLst>
              <a:gd name="adj1" fmla="val 50000"/>
              <a:gd name="adj2" fmla="val 56250"/>
            </a:avLst>
          </a:prstGeom>
          <a:solidFill>
            <a:srgbClr val="FFCC00"/>
          </a:solidFill>
          <a:ln w="6350">
            <a:solidFill>
              <a:schemeClr val="tx1"/>
            </a:solidFill>
            <a:miter lim="800000"/>
            <a:headEnd/>
            <a:tailEnd/>
          </a:ln>
        </p:spPr>
        <p:txBody>
          <a:bodyPr wrap="none" anchor="ctr"/>
          <a:lstStyle/>
          <a:p>
            <a:endParaRPr lang="zh-CN" altLang="en-US"/>
          </a:p>
        </p:txBody>
      </p:sp>
      <p:sp>
        <p:nvSpPr>
          <p:cNvPr id="32" name="Rectangle 55">
            <a:extLst>
              <a:ext uri="{FF2B5EF4-FFF2-40B4-BE49-F238E27FC236}">
                <a16:creationId xmlns:a16="http://schemas.microsoft.com/office/drawing/2014/main" id="{E213E9EC-0CB8-C999-5B5E-B583BEA8FA90}"/>
              </a:ext>
            </a:extLst>
          </p:cNvPr>
          <p:cNvSpPr>
            <a:spLocks noChangeArrowheads="1"/>
          </p:cNvSpPr>
          <p:nvPr/>
        </p:nvSpPr>
        <p:spPr bwMode="auto">
          <a:xfrm>
            <a:off x="2672533" y="365187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33" name="Rectangle 55">
            <a:extLst>
              <a:ext uri="{FF2B5EF4-FFF2-40B4-BE49-F238E27FC236}">
                <a16:creationId xmlns:a16="http://schemas.microsoft.com/office/drawing/2014/main" id="{B6B2FB66-FC67-0B4A-9269-E3B8829F6BE8}"/>
              </a:ext>
            </a:extLst>
          </p:cNvPr>
          <p:cNvSpPr>
            <a:spLocks noChangeArrowheads="1"/>
          </p:cNvSpPr>
          <p:nvPr/>
        </p:nvSpPr>
        <p:spPr bwMode="auto">
          <a:xfrm>
            <a:off x="1475656" y="3651870"/>
            <a:ext cx="6711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pre</a:t>
            </a:r>
            <a:endParaRPr lang="zh-CN" altLang="en-US" sz="2400" dirty="0">
              <a:latin typeface="微软雅黑" pitchFamily="34" charset="-122"/>
              <a:ea typeface="微软雅黑" pitchFamily="34" charset="-122"/>
            </a:endParaRPr>
          </a:p>
        </p:txBody>
      </p:sp>
      <p:sp>
        <p:nvSpPr>
          <p:cNvPr id="34" name="Line 29">
            <a:extLst>
              <a:ext uri="{FF2B5EF4-FFF2-40B4-BE49-F238E27FC236}">
                <a16:creationId xmlns:a16="http://schemas.microsoft.com/office/drawing/2014/main" id="{0E5115D6-823B-AE6E-A830-2D17A93382CE}"/>
              </a:ext>
            </a:extLst>
          </p:cNvPr>
          <p:cNvSpPr>
            <a:spLocks noChangeShapeType="1"/>
          </p:cNvSpPr>
          <p:nvPr/>
        </p:nvSpPr>
        <p:spPr bwMode="auto">
          <a:xfrm>
            <a:off x="1811222" y="4011002"/>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文本框 36">
            <a:extLst>
              <a:ext uri="{FF2B5EF4-FFF2-40B4-BE49-F238E27FC236}">
                <a16:creationId xmlns:a16="http://schemas.microsoft.com/office/drawing/2014/main" id="{8D69E579-49E1-04DF-47C7-AF83C900715A}"/>
              </a:ext>
            </a:extLst>
          </p:cNvPr>
          <p:cNvSpPr txBox="1"/>
          <p:nvPr/>
        </p:nvSpPr>
        <p:spPr>
          <a:xfrm>
            <a:off x="648898" y="2036117"/>
            <a:ext cx="8495102" cy="1709827"/>
          </a:xfrm>
          <a:prstGeom prst="rect">
            <a:avLst/>
          </a:prstGeom>
          <a:noFill/>
        </p:spPr>
        <p:txBody>
          <a:bodyPr wrap="square">
            <a:spAutoFit/>
          </a:bodyPr>
          <a:lstStyle/>
          <a:p>
            <a:pPr algn="l">
              <a:lnSpc>
                <a:spcPts val="1800"/>
              </a:lnSpc>
            </a:pPr>
            <a:r>
              <a:rPr kumimoji="1" lang="en-US" altLang="zh-CN" sz="1800" dirty="0">
                <a:solidFill>
                  <a:srgbClr val="0000FF"/>
                </a:solidFill>
                <a:latin typeface="Consolas" pitchFamily="49" charset="0"/>
                <a:ea typeface="仿宋" pitchFamily="49" charset="-122"/>
                <a:cs typeface="Consolas" pitchFamily="49" charset="0"/>
              </a:rPr>
              <a:t>    while (p!=NULL)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扫描单链表</a:t>
            </a:r>
            <a:r>
              <a:rPr kumimoji="1" lang="en-US" altLang="zh-CN" sz="1800" dirty="0">
                <a:solidFill>
                  <a:srgbClr val="00B0F0"/>
                </a:solidFill>
                <a:latin typeface="Consolas" pitchFamily="49" charset="0"/>
                <a:ea typeface="仿宋" pitchFamily="49" charset="-122"/>
                <a:cs typeface="Consolas" pitchFamily="49" charset="0"/>
              </a:rPr>
              <a:t>L</a:t>
            </a:r>
          </a:p>
          <a:p>
            <a:pPr algn="l">
              <a:lnSpc>
                <a:spcPts val="1800"/>
              </a:lnSpc>
            </a:pPr>
            <a:r>
              <a:rPr kumimoji="1" lang="en-US" altLang="zh-CN" sz="1800" dirty="0">
                <a:solidFill>
                  <a:srgbClr val="0000FF"/>
                </a:solidFill>
                <a:latin typeface="Consolas" pitchFamily="49" charset="0"/>
                <a:ea typeface="仿宋" pitchFamily="49" charset="-122"/>
                <a:cs typeface="Consolas" pitchFamily="49" charset="0"/>
              </a:rPr>
              <a:t>    {  </a:t>
            </a:r>
            <a:r>
              <a:rPr kumimoji="1" lang="en-US" altLang="zh-CN" sz="1800" dirty="0">
                <a:solidFill>
                  <a:srgbClr val="C00000"/>
                </a:solidFill>
                <a:latin typeface="Consolas" pitchFamily="49" charset="0"/>
                <a:ea typeface="仿宋" pitchFamily="49" charset="-122"/>
                <a:cs typeface="Consolas" pitchFamily="49" charset="0"/>
              </a:rPr>
              <a:t>free(pre);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释放</a:t>
            </a:r>
            <a:r>
              <a:rPr kumimoji="1" lang="en-US" altLang="zh-CN" sz="1800" dirty="0">
                <a:solidFill>
                  <a:srgbClr val="00B0F0"/>
                </a:solidFill>
                <a:latin typeface="Consolas" pitchFamily="49" charset="0"/>
                <a:ea typeface="仿宋" pitchFamily="49" charset="-122"/>
                <a:cs typeface="Consolas" pitchFamily="49" charset="0"/>
              </a:rPr>
              <a:t>pre</a:t>
            </a:r>
            <a:r>
              <a:rPr kumimoji="1" lang="zh-CN" altLang="en-US" sz="1800" dirty="0">
                <a:solidFill>
                  <a:srgbClr val="00B0F0"/>
                </a:solidFill>
                <a:latin typeface="Consolas" pitchFamily="49" charset="0"/>
                <a:ea typeface="仿宋" pitchFamily="49" charset="-122"/>
                <a:cs typeface="Consolas" pitchFamily="49" charset="0"/>
              </a:rPr>
              <a:t>结点</a:t>
            </a:r>
          </a:p>
          <a:p>
            <a:pPr algn="l">
              <a:lnSpc>
                <a:spcPts val="18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pre=p;		</a:t>
            </a:r>
            <a:r>
              <a:rPr kumimoji="1" lang="en-US" altLang="zh-CN" sz="1800" dirty="0">
                <a:solidFill>
                  <a:srgbClr val="00B0F0"/>
                </a:solidFill>
                <a:latin typeface="Consolas" pitchFamily="49" charset="0"/>
                <a:ea typeface="仿宋" pitchFamily="49" charset="-122"/>
                <a:cs typeface="Consolas" pitchFamily="49" charset="0"/>
              </a:rPr>
              <a:t>//pre</a:t>
            </a:r>
            <a:r>
              <a:rPr kumimoji="1" lang="zh-CN" altLang="en-US" sz="1800" dirty="0">
                <a:solidFill>
                  <a:srgbClr val="00B0F0"/>
                </a:solidFill>
                <a:latin typeface="Consolas" pitchFamily="49" charset="0"/>
                <a:ea typeface="仿宋" pitchFamily="49" charset="-122"/>
                <a:cs typeface="Consolas" pitchFamily="49" charset="0"/>
              </a:rPr>
              <a:t>、</a:t>
            </a:r>
            <a:r>
              <a:rPr kumimoji="1" lang="en-US" altLang="zh-CN" sz="1800" dirty="0">
                <a:solidFill>
                  <a:srgbClr val="00B0F0"/>
                </a:solidFill>
                <a:latin typeface="Consolas" pitchFamily="49" charset="0"/>
                <a:ea typeface="仿宋" pitchFamily="49" charset="-122"/>
                <a:cs typeface="Consolas" pitchFamily="49" charset="0"/>
              </a:rPr>
              <a:t>p</a:t>
            </a:r>
            <a:r>
              <a:rPr kumimoji="1" lang="zh-CN" altLang="en-US" sz="1800" dirty="0">
                <a:solidFill>
                  <a:srgbClr val="00B0F0"/>
                </a:solidFill>
                <a:latin typeface="Consolas" pitchFamily="49" charset="0"/>
                <a:ea typeface="仿宋" pitchFamily="49" charset="-122"/>
                <a:cs typeface="Consolas" pitchFamily="49" charset="0"/>
              </a:rPr>
              <a:t>同步后移一个结点</a:t>
            </a:r>
          </a:p>
          <a:p>
            <a:pPr algn="l">
              <a:lnSpc>
                <a:spcPts val="18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p=pre-&gt;next;</a:t>
            </a:r>
          </a:p>
          <a:p>
            <a:pPr algn="l">
              <a:lnSpc>
                <a:spcPts val="1800"/>
              </a:lnSpc>
            </a:pPr>
            <a:r>
              <a:rPr kumimoji="1" lang="en-US" altLang="zh-CN" sz="1800" dirty="0">
                <a:solidFill>
                  <a:srgbClr val="0000FF"/>
                </a:solidFill>
                <a:latin typeface="Consolas" pitchFamily="49" charset="0"/>
                <a:ea typeface="仿宋" pitchFamily="49" charset="-122"/>
                <a:cs typeface="Consolas" pitchFamily="49" charset="0"/>
              </a:rPr>
              <a:t>    }</a:t>
            </a:r>
          </a:p>
          <a:p>
            <a:pPr algn="l">
              <a:lnSpc>
                <a:spcPts val="1800"/>
              </a:lnSpc>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C00000"/>
                </a:solidFill>
                <a:latin typeface="Consolas" pitchFamily="49" charset="0"/>
                <a:ea typeface="仿宋" pitchFamily="49" charset="-122"/>
                <a:cs typeface="Consolas" pitchFamily="49" charset="0"/>
              </a:rPr>
              <a:t>free(pre);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循环结束时，</a:t>
            </a:r>
            <a:r>
              <a:rPr kumimoji="1" lang="en-US" altLang="zh-CN" sz="1800" dirty="0">
                <a:solidFill>
                  <a:srgbClr val="00B0F0"/>
                </a:solidFill>
                <a:latin typeface="Consolas" pitchFamily="49" charset="0"/>
                <a:ea typeface="仿宋" pitchFamily="49" charset="-122"/>
                <a:cs typeface="Consolas" pitchFamily="49" charset="0"/>
              </a:rPr>
              <a:t>p</a:t>
            </a:r>
            <a:r>
              <a:rPr kumimoji="1" lang="zh-CN" altLang="en-US" sz="1800" dirty="0">
                <a:solidFill>
                  <a:srgbClr val="00B0F0"/>
                </a:solidFill>
                <a:latin typeface="Consolas" pitchFamily="49" charset="0"/>
                <a:ea typeface="仿宋" pitchFamily="49" charset="-122"/>
                <a:cs typeface="Consolas" pitchFamily="49" charset="0"/>
              </a:rPr>
              <a:t>为</a:t>
            </a:r>
            <a:r>
              <a:rPr kumimoji="1" lang="en-US" altLang="zh-CN" sz="1800" dirty="0">
                <a:solidFill>
                  <a:srgbClr val="00B0F0"/>
                </a:solidFill>
                <a:latin typeface="Consolas" pitchFamily="49" charset="0"/>
                <a:ea typeface="仿宋" pitchFamily="49" charset="-122"/>
                <a:cs typeface="Consolas" pitchFamily="49" charset="0"/>
              </a:rPr>
              <a:t>NULL</a:t>
            </a:r>
            <a:r>
              <a:rPr kumimoji="1" lang="zh-CN" altLang="en-US" sz="1800" dirty="0">
                <a:solidFill>
                  <a:srgbClr val="00B0F0"/>
                </a:solidFill>
                <a:latin typeface="Consolas" pitchFamily="49" charset="0"/>
                <a:ea typeface="仿宋" pitchFamily="49" charset="-122"/>
                <a:cs typeface="Consolas" pitchFamily="49" charset="0"/>
              </a:rPr>
              <a:t>，</a:t>
            </a:r>
            <a:r>
              <a:rPr kumimoji="1" lang="en-US" altLang="zh-CN" sz="1800" dirty="0">
                <a:solidFill>
                  <a:srgbClr val="00B0F0"/>
                </a:solidFill>
                <a:latin typeface="Consolas" pitchFamily="49" charset="0"/>
                <a:ea typeface="仿宋" pitchFamily="49" charset="-122"/>
                <a:cs typeface="Consolas" pitchFamily="49" charset="0"/>
              </a:rPr>
              <a:t>pre</a:t>
            </a:r>
            <a:r>
              <a:rPr kumimoji="1" lang="zh-CN" altLang="en-US" sz="1800" dirty="0">
                <a:solidFill>
                  <a:srgbClr val="00B0F0"/>
                </a:solidFill>
                <a:latin typeface="Consolas" pitchFamily="49" charset="0"/>
                <a:ea typeface="仿宋" pitchFamily="49" charset="-122"/>
                <a:cs typeface="Consolas" pitchFamily="49" charset="0"/>
              </a:rPr>
              <a:t>指向尾结点，释放它</a:t>
            </a:r>
          </a:p>
          <a:p>
            <a:pPr algn="l">
              <a:lnSpc>
                <a:spcPts val="1800"/>
              </a:lnSpc>
            </a:pPr>
            <a:r>
              <a:rPr kumimoji="1" lang="en-US" altLang="zh-CN" sz="1800" dirty="0">
                <a:solidFill>
                  <a:srgbClr val="0000FF"/>
                </a:solidFill>
                <a:latin typeface="Consolas" pitchFamily="49" charset="0"/>
                <a:ea typeface="仿宋" pitchFamily="49" charset="-122"/>
                <a:cs typeface="Consolas" pitchFamily="49" charset="0"/>
              </a:rPr>
              <a:t>}</a:t>
            </a:r>
            <a:endParaRPr lang="en-US" altLang="zh-CN" sz="1800" dirty="0">
              <a:solidFill>
                <a:srgbClr val="0000FF"/>
              </a:solidFill>
              <a:latin typeface="Consolas" pitchFamily="49" charset="0"/>
              <a:ea typeface="仿宋" pitchFamily="49" charset="-122"/>
              <a:cs typeface="Consolas" pitchFamily="49" charset="0"/>
            </a:endParaRPr>
          </a:p>
        </p:txBody>
      </p:sp>
      <p:sp>
        <p:nvSpPr>
          <p:cNvPr id="35" name="矩形 34">
            <a:extLst>
              <a:ext uri="{FF2B5EF4-FFF2-40B4-BE49-F238E27FC236}">
                <a16:creationId xmlns:a16="http://schemas.microsoft.com/office/drawing/2014/main" id="{9BEBC95F-FDEC-BD64-B041-2B93F6CEDC50}"/>
              </a:ext>
            </a:extLst>
          </p:cNvPr>
          <p:cNvSpPr/>
          <p:nvPr/>
        </p:nvSpPr>
        <p:spPr>
          <a:xfrm>
            <a:off x="1089217" y="1572624"/>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②</a:t>
            </a:r>
            <a:r>
              <a:rPr lang="zh-CN" altLang="en-US" sz="2000" dirty="0">
                <a:latin typeface="微软雅黑" pitchFamily="34" charset="-122"/>
                <a:ea typeface="微软雅黑" pitchFamily="34" charset="-122"/>
                <a:cs typeface="经典粗黑简" pitchFamily="49" charset="-122"/>
              </a:rPr>
              <a:t>销毁单链表</a:t>
            </a:r>
          </a:p>
        </p:txBody>
      </p:sp>
      <p:sp>
        <p:nvSpPr>
          <p:cNvPr id="36" name="矩形 35">
            <a:extLst>
              <a:ext uri="{FF2B5EF4-FFF2-40B4-BE49-F238E27FC236}">
                <a16:creationId xmlns:a16="http://schemas.microsoft.com/office/drawing/2014/main" id="{AEEF6390-92AC-4BED-8C2F-DC6FD9590403}"/>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19988878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CD110-60B5-646B-C9A3-D70E62A58E04}"/>
            </a:ext>
          </a:extLst>
        </p:cNvPr>
        <p:cNvGrpSpPr/>
        <p:nvPr/>
      </p:nvGrpSpPr>
      <p:grpSpPr>
        <a:xfrm>
          <a:off x="0" y="0"/>
          <a:ext cx="0" cy="0"/>
          <a:chOff x="0" y="0"/>
          <a:chExt cx="0" cy="0"/>
        </a:xfrm>
      </p:grpSpPr>
      <p:cxnSp>
        <p:nvCxnSpPr>
          <p:cNvPr id="16" name="直接连接符 15">
            <a:extLst>
              <a:ext uri="{FF2B5EF4-FFF2-40B4-BE49-F238E27FC236}">
                <a16:creationId xmlns:a16="http://schemas.microsoft.com/office/drawing/2014/main" id="{9F7BCFBE-F0E7-C9CD-81DD-59ED29032575}"/>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F1D4FCC9-DF9F-0C62-A22C-FC00847BA651}"/>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3" name="Text Box 131">
            <a:extLst>
              <a:ext uri="{FF2B5EF4-FFF2-40B4-BE49-F238E27FC236}">
                <a16:creationId xmlns:a16="http://schemas.microsoft.com/office/drawing/2014/main" id="{6084ED8E-334F-050B-3194-9DDEF22D4D0E}"/>
              </a:ext>
            </a:extLst>
          </p:cNvPr>
          <p:cNvSpPr txBox="1">
            <a:spLocks noChangeArrowheads="1"/>
          </p:cNvSpPr>
          <p:nvPr/>
        </p:nvSpPr>
        <p:spPr bwMode="auto">
          <a:xfrm>
            <a:off x="827584" y="1972734"/>
            <a:ext cx="8208911" cy="3027495"/>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ts val="2300"/>
              </a:lnSpc>
            </a:pPr>
            <a:r>
              <a:rPr kumimoji="1" lang="en-US" altLang="zh-CN" sz="1800" dirty="0">
                <a:solidFill>
                  <a:srgbClr val="0000FF"/>
                </a:solidFill>
                <a:latin typeface="Consolas" pitchFamily="49" charset="0"/>
                <a:ea typeface="仿宋" pitchFamily="49" charset="-122"/>
                <a:cs typeface="Consolas" pitchFamily="49" charset="0"/>
              </a:rPr>
              <a:t>void </a:t>
            </a:r>
            <a:r>
              <a:rPr kumimoji="1" lang="en-US" altLang="zh-CN" sz="1800" dirty="0" err="1">
                <a:solidFill>
                  <a:srgbClr val="FF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DestroyList</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LinkNode</a:t>
            </a:r>
            <a:r>
              <a:rPr kumimoji="1" lang="en-US" altLang="zh-CN" sz="1800" dirty="0">
                <a:solidFill>
                  <a:srgbClr val="0000FF"/>
                </a:solidFill>
                <a:latin typeface="Consolas" pitchFamily="49" charset="0"/>
                <a:ea typeface="仿宋" pitchFamily="49" charset="-122"/>
                <a:cs typeface="Consolas" pitchFamily="49" charset="0"/>
              </a:rPr>
              <a:t> *&amp;L)</a:t>
            </a:r>
          </a:p>
          <a:p>
            <a:pPr algn="l">
              <a:lnSpc>
                <a:spcPts val="2300"/>
              </a:lnSpc>
            </a:pPr>
            <a:r>
              <a:rPr kumimoji="1" lang="en-US" altLang="zh-CN" sz="1800" dirty="0">
                <a:solidFill>
                  <a:srgbClr val="0000FF"/>
                </a:solidFill>
                <a:latin typeface="Consolas" pitchFamily="49" charset="0"/>
                <a:ea typeface="仿宋" pitchFamily="49" charset="-122"/>
                <a:cs typeface="Consolas" pitchFamily="49" charset="0"/>
              </a:rPr>
              <a:t>{   </a:t>
            </a:r>
          </a:p>
          <a:p>
            <a:pPr algn="l">
              <a:lnSpc>
                <a:spcPts val="2300"/>
              </a:lnSpc>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LinkNode</a:t>
            </a:r>
            <a:r>
              <a:rPr kumimoji="1" lang="en-US" altLang="zh-CN" sz="1800" dirty="0">
                <a:solidFill>
                  <a:srgbClr val="0000FF"/>
                </a:solidFill>
                <a:latin typeface="Consolas" pitchFamily="49" charset="0"/>
                <a:ea typeface="仿宋" pitchFamily="49" charset="-122"/>
                <a:cs typeface="Consolas" pitchFamily="49" charset="0"/>
              </a:rPr>
              <a:t> *pre=L</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 *p=L-&gt;next;   </a:t>
            </a:r>
            <a:r>
              <a:rPr kumimoji="1" lang="en-US" altLang="zh-CN" sz="1800" dirty="0">
                <a:solidFill>
                  <a:srgbClr val="0070C0"/>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//pre</a:t>
            </a:r>
            <a:r>
              <a:rPr kumimoji="1" lang="zh-CN" altLang="en-US" sz="1800" dirty="0">
                <a:solidFill>
                  <a:srgbClr val="00B0F0"/>
                </a:solidFill>
                <a:latin typeface="Consolas" pitchFamily="49" charset="0"/>
                <a:ea typeface="仿宋" pitchFamily="49" charset="-122"/>
                <a:cs typeface="Consolas" pitchFamily="49" charset="0"/>
              </a:rPr>
              <a:t>指向</a:t>
            </a:r>
            <a:r>
              <a:rPr kumimoji="1" lang="en-US" altLang="zh-CN" sz="1800" dirty="0">
                <a:solidFill>
                  <a:srgbClr val="00B0F0"/>
                </a:solidFill>
                <a:latin typeface="Consolas" pitchFamily="49" charset="0"/>
                <a:ea typeface="仿宋" pitchFamily="49" charset="-122"/>
                <a:cs typeface="Consolas" pitchFamily="49" charset="0"/>
              </a:rPr>
              <a:t>p</a:t>
            </a:r>
            <a:r>
              <a:rPr kumimoji="1" lang="zh-CN" altLang="en-US" sz="1800" dirty="0">
                <a:solidFill>
                  <a:srgbClr val="00B0F0"/>
                </a:solidFill>
                <a:latin typeface="Consolas" pitchFamily="49" charset="0"/>
                <a:ea typeface="仿宋" pitchFamily="49" charset="-122"/>
                <a:cs typeface="Consolas" pitchFamily="49" charset="0"/>
              </a:rPr>
              <a:t>的前驱结点</a:t>
            </a:r>
          </a:p>
          <a:p>
            <a:pPr>
              <a:lnSpc>
                <a:spcPts val="2300"/>
              </a:lnSpc>
            </a:pPr>
            <a:r>
              <a:rPr kumimoji="1" lang="en-US" altLang="zh-CN" dirty="0">
                <a:solidFill>
                  <a:srgbClr val="0000FF"/>
                </a:solidFill>
                <a:latin typeface="Consolas" pitchFamily="49" charset="0"/>
                <a:ea typeface="仿宋" pitchFamily="49" charset="-122"/>
                <a:cs typeface="Consolas" pitchFamily="49" charset="0"/>
              </a:rPr>
              <a:t>   while (p!=NULL)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扫描单链表</a:t>
            </a:r>
            <a:r>
              <a:rPr kumimoji="1" lang="en-US" altLang="zh-CN" dirty="0">
                <a:solidFill>
                  <a:srgbClr val="00B0F0"/>
                </a:solidFill>
                <a:latin typeface="Consolas" pitchFamily="49" charset="0"/>
                <a:ea typeface="仿宋" pitchFamily="49" charset="-122"/>
                <a:cs typeface="Consolas" pitchFamily="49" charset="0"/>
              </a:rPr>
              <a:t>L</a:t>
            </a:r>
          </a:p>
          <a:p>
            <a:pPr>
              <a:lnSpc>
                <a:spcPts val="2300"/>
              </a:lnSpc>
            </a:pPr>
            <a:r>
              <a:rPr kumimoji="1" lang="en-US" altLang="zh-CN" dirty="0">
                <a:solidFill>
                  <a:srgbClr val="0000FF"/>
                </a:solidFill>
                <a:latin typeface="Consolas" pitchFamily="49" charset="0"/>
                <a:ea typeface="仿宋" pitchFamily="49" charset="-122"/>
                <a:cs typeface="Consolas" pitchFamily="49" charset="0"/>
              </a:rPr>
              <a:t>    {  </a:t>
            </a:r>
            <a:r>
              <a:rPr kumimoji="1" lang="en-US" altLang="zh-CN" dirty="0">
                <a:solidFill>
                  <a:srgbClr val="C00000"/>
                </a:solidFill>
                <a:latin typeface="Consolas" pitchFamily="49" charset="0"/>
                <a:ea typeface="仿宋" pitchFamily="49" charset="-122"/>
                <a:cs typeface="Consolas" pitchFamily="49" charset="0"/>
              </a:rPr>
              <a:t>free(pre);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释放</a:t>
            </a:r>
            <a:r>
              <a:rPr kumimoji="1" lang="en-US" altLang="zh-CN" dirty="0">
                <a:solidFill>
                  <a:srgbClr val="00B0F0"/>
                </a:solidFill>
                <a:latin typeface="Consolas" pitchFamily="49" charset="0"/>
                <a:ea typeface="仿宋" pitchFamily="49" charset="-122"/>
                <a:cs typeface="Consolas" pitchFamily="49" charset="0"/>
              </a:rPr>
              <a:t>pre</a:t>
            </a:r>
            <a:r>
              <a:rPr kumimoji="1" lang="zh-CN" altLang="en-US" dirty="0">
                <a:solidFill>
                  <a:srgbClr val="00B0F0"/>
                </a:solidFill>
                <a:latin typeface="Consolas" pitchFamily="49" charset="0"/>
                <a:ea typeface="仿宋" pitchFamily="49" charset="-122"/>
                <a:cs typeface="Consolas" pitchFamily="49" charset="0"/>
              </a:rPr>
              <a:t>结点</a:t>
            </a:r>
          </a:p>
          <a:p>
            <a:pPr>
              <a:lnSpc>
                <a:spcPts val="2300"/>
              </a:lnSpc>
            </a:pPr>
            <a:r>
              <a:rPr kumimoji="1" lang="zh-CN" altLang="en-US" dirty="0">
                <a:solidFill>
                  <a:srgbClr val="0000FF"/>
                </a:solidFill>
                <a:latin typeface="Consolas" pitchFamily="49" charset="0"/>
                <a:ea typeface="仿宋" pitchFamily="49" charset="-122"/>
                <a:cs typeface="Consolas" pitchFamily="49" charset="0"/>
              </a:rPr>
              <a:t>      </a:t>
            </a:r>
            <a:r>
              <a:rPr kumimoji="1" lang="en-US" altLang="zh-CN" dirty="0">
                <a:solidFill>
                  <a:srgbClr val="0000FF"/>
                </a:solidFill>
                <a:latin typeface="Consolas" pitchFamily="49" charset="0"/>
                <a:ea typeface="仿宋" pitchFamily="49" charset="-122"/>
                <a:cs typeface="Consolas" pitchFamily="49" charset="0"/>
              </a:rPr>
              <a:t>pre=p;		</a:t>
            </a:r>
            <a:r>
              <a:rPr kumimoji="1" lang="en-US" altLang="zh-CN" dirty="0">
                <a:solidFill>
                  <a:srgbClr val="00B0F0"/>
                </a:solidFill>
                <a:latin typeface="Consolas" pitchFamily="49" charset="0"/>
                <a:ea typeface="仿宋" pitchFamily="49" charset="-122"/>
                <a:cs typeface="Consolas" pitchFamily="49" charset="0"/>
              </a:rPr>
              <a:t>//pre</a:t>
            </a:r>
            <a:r>
              <a:rPr kumimoji="1" lang="zh-CN" altLang="en-US" dirty="0">
                <a:solidFill>
                  <a:srgbClr val="00B0F0"/>
                </a:solidFill>
                <a:latin typeface="Consolas" pitchFamily="49" charset="0"/>
                <a:ea typeface="仿宋" pitchFamily="49" charset="-122"/>
                <a:cs typeface="Consolas" pitchFamily="49" charset="0"/>
              </a:rPr>
              <a:t>、</a:t>
            </a:r>
            <a:r>
              <a:rPr kumimoji="1" lang="en-US" altLang="zh-CN" dirty="0">
                <a:solidFill>
                  <a:srgbClr val="00B0F0"/>
                </a:solidFill>
                <a:latin typeface="Consolas" pitchFamily="49" charset="0"/>
                <a:ea typeface="仿宋" pitchFamily="49" charset="-122"/>
                <a:cs typeface="Consolas" pitchFamily="49" charset="0"/>
              </a:rPr>
              <a:t>p</a:t>
            </a:r>
            <a:r>
              <a:rPr kumimoji="1" lang="zh-CN" altLang="en-US" dirty="0">
                <a:solidFill>
                  <a:srgbClr val="00B0F0"/>
                </a:solidFill>
                <a:latin typeface="Consolas" pitchFamily="49" charset="0"/>
                <a:ea typeface="仿宋" pitchFamily="49" charset="-122"/>
                <a:cs typeface="Consolas" pitchFamily="49" charset="0"/>
              </a:rPr>
              <a:t>同步后移一个结点</a:t>
            </a:r>
          </a:p>
          <a:p>
            <a:pPr>
              <a:lnSpc>
                <a:spcPts val="2300"/>
              </a:lnSpc>
            </a:pPr>
            <a:r>
              <a:rPr kumimoji="1" lang="zh-CN" altLang="en-US" dirty="0">
                <a:solidFill>
                  <a:srgbClr val="0000FF"/>
                </a:solidFill>
                <a:latin typeface="Consolas" pitchFamily="49" charset="0"/>
                <a:ea typeface="仿宋" pitchFamily="49" charset="-122"/>
                <a:cs typeface="Consolas" pitchFamily="49" charset="0"/>
              </a:rPr>
              <a:t>      </a:t>
            </a:r>
            <a:r>
              <a:rPr kumimoji="1" lang="en-US" altLang="zh-CN" dirty="0">
                <a:solidFill>
                  <a:srgbClr val="0000FF"/>
                </a:solidFill>
                <a:latin typeface="Consolas" pitchFamily="49" charset="0"/>
                <a:ea typeface="仿宋" pitchFamily="49" charset="-122"/>
                <a:cs typeface="Consolas" pitchFamily="49" charset="0"/>
              </a:rPr>
              <a:t>p=pre-&gt;next;</a:t>
            </a:r>
          </a:p>
          <a:p>
            <a:pPr>
              <a:lnSpc>
                <a:spcPts val="2300"/>
              </a:lnSpc>
            </a:pPr>
            <a:r>
              <a:rPr kumimoji="1" lang="en-US" altLang="zh-CN" dirty="0">
                <a:solidFill>
                  <a:srgbClr val="0000FF"/>
                </a:solidFill>
                <a:latin typeface="Consolas" pitchFamily="49" charset="0"/>
                <a:ea typeface="仿宋" pitchFamily="49" charset="-122"/>
                <a:cs typeface="Consolas" pitchFamily="49" charset="0"/>
              </a:rPr>
              <a:t>    }</a:t>
            </a:r>
          </a:p>
          <a:p>
            <a:pPr>
              <a:lnSpc>
                <a:spcPts val="2300"/>
              </a:lnSpc>
            </a:pPr>
            <a:r>
              <a:rPr kumimoji="1" lang="en-US" altLang="zh-CN" dirty="0">
                <a:solidFill>
                  <a:srgbClr val="0000FF"/>
                </a:solidFill>
                <a:latin typeface="Consolas" pitchFamily="49" charset="0"/>
                <a:ea typeface="仿宋" pitchFamily="49" charset="-122"/>
                <a:cs typeface="Consolas" pitchFamily="49" charset="0"/>
              </a:rPr>
              <a:t>    </a:t>
            </a:r>
            <a:r>
              <a:rPr kumimoji="1" lang="en-US" altLang="zh-CN" dirty="0">
                <a:solidFill>
                  <a:srgbClr val="C00000"/>
                </a:solidFill>
                <a:latin typeface="Consolas" pitchFamily="49" charset="0"/>
                <a:ea typeface="仿宋" pitchFamily="49" charset="-122"/>
                <a:cs typeface="Consolas" pitchFamily="49" charset="0"/>
              </a:rPr>
              <a:t>free(pre);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循环结束时，</a:t>
            </a:r>
            <a:r>
              <a:rPr kumimoji="1" lang="en-US" altLang="zh-CN" dirty="0">
                <a:solidFill>
                  <a:srgbClr val="00B0F0"/>
                </a:solidFill>
                <a:latin typeface="Consolas" pitchFamily="49" charset="0"/>
                <a:ea typeface="仿宋" pitchFamily="49" charset="-122"/>
                <a:cs typeface="Consolas" pitchFamily="49" charset="0"/>
              </a:rPr>
              <a:t>p</a:t>
            </a:r>
            <a:r>
              <a:rPr kumimoji="1" lang="zh-CN" altLang="en-US" dirty="0">
                <a:solidFill>
                  <a:srgbClr val="00B0F0"/>
                </a:solidFill>
                <a:latin typeface="Consolas" pitchFamily="49" charset="0"/>
                <a:ea typeface="仿宋" pitchFamily="49" charset="-122"/>
                <a:cs typeface="Consolas" pitchFamily="49" charset="0"/>
              </a:rPr>
              <a:t>为</a:t>
            </a:r>
            <a:r>
              <a:rPr kumimoji="1" lang="en-US" altLang="zh-CN" dirty="0">
                <a:solidFill>
                  <a:srgbClr val="00B0F0"/>
                </a:solidFill>
                <a:latin typeface="Consolas" pitchFamily="49" charset="0"/>
                <a:ea typeface="仿宋" pitchFamily="49" charset="-122"/>
                <a:cs typeface="Consolas" pitchFamily="49" charset="0"/>
              </a:rPr>
              <a:t>NULL</a:t>
            </a:r>
            <a:r>
              <a:rPr kumimoji="1" lang="zh-CN" altLang="en-US" dirty="0">
                <a:solidFill>
                  <a:srgbClr val="00B0F0"/>
                </a:solidFill>
                <a:latin typeface="Consolas" pitchFamily="49" charset="0"/>
                <a:ea typeface="仿宋" pitchFamily="49" charset="-122"/>
                <a:cs typeface="Consolas" pitchFamily="49" charset="0"/>
              </a:rPr>
              <a:t>，</a:t>
            </a:r>
            <a:r>
              <a:rPr kumimoji="1" lang="en-US" altLang="zh-CN" dirty="0">
                <a:solidFill>
                  <a:srgbClr val="00B0F0"/>
                </a:solidFill>
                <a:latin typeface="Consolas" pitchFamily="49" charset="0"/>
                <a:ea typeface="仿宋" pitchFamily="49" charset="-122"/>
                <a:cs typeface="Consolas" pitchFamily="49" charset="0"/>
              </a:rPr>
              <a:t>pre</a:t>
            </a:r>
            <a:r>
              <a:rPr kumimoji="1" lang="zh-CN" altLang="en-US" dirty="0">
                <a:solidFill>
                  <a:srgbClr val="00B0F0"/>
                </a:solidFill>
                <a:latin typeface="Consolas" pitchFamily="49" charset="0"/>
                <a:ea typeface="仿宋" pitchFamily="49" charset="-122"/>
                <a:cs typeface="Consolas" pitchFamily="49" charset="0"/>
              </a:rPr>
              <a:t>指向尾结点，释放它</a:t>
            </a:r>
          </a:p>
          <a:p>
            <a:pPr>
              <a:lnSpc>
                <a:spcPts val="2300"/>
              </a:lnSpc>
            </a:pPr>
            <a:r>
              <a:rPr kumimoji="1" lang="en-US" altLang="zh-CN" dirty="0">
                <a:solidFill>
                  <a:srgbClr val="0000FF"/>
                </a:solidFill>
                <a:latin typeface="Consolas" pitchFamily="49" charset="0"/>
                <a:ea typeface="仿宋" pitchFamily="49" charset="-122"/>
                <a:cs typeface="Consolas" pitchFamily="49" charset="0"/>
              </a:rPr>
              <a:t>}</a:t>
            </a:r>
            <a:endParaRPr lang="en-US" altLang="zh-CN" dirty="0">
              <a:solidFill>
                <a:srgbClr val="0000FF"/>
              </a:solidFill>
              <a:latin typeface="Consolas" pitchFamily="49" charset="0"/>
              <a:ea typeface="仿宋" pitchFamily="49" charset="-122"/>
              <a:cs typeface="Consolas" pitchFamily="49" charset="0"/>
            </a:endParaRPr>
          </a:p>
        </p:txBody>
      </p:sp>
      <p:sp>
        <p:nvSpPr>
          <p:cNvPr id="38" name="矩形 37">
            <a:extLst>
              <a:ext uri="{FF2B5EF4-FFF2-40B4-BE49-F238E27FC236}">
                <a16:creationId xmlns:a16="http://schemas.microsoft.com/office/drawing/2014/main" id="{D1ACFE7C-7794-CC92-C34C-99CD788D4FD2}"/>
              </a:ext>
            </a:extLst>
          </p:cNvPr>
          <p:cNvSpPr/>
          <p:nvPr/>
        </p:nvSpPr>
        <p:spPr>
          <a:xfrm>
            <a:off x="1089217" y="1572624"/>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②</a:t>
            </a:r>
            <a:r>
              <a:rPr lang="zh-CN" altLang="en-US" sz="2000" dirty="0">
                <a:latin typeface="微软雅黑" pitchFamily="34" charset="-122"/>
                <a:ea typeface="微软雅黑" pitchFamily="34" charset="-122"/>
                <a:cs typeface="经典粗黑简" pitchFamily="49" charset="-122"/>
              </a:rPr>
              <a:t>销毁单链表</a:t>
            </a:r>
          </a:p>
        </p:txBody>
      </p:sp>
      <p:sp>
        <p:nvSpPr>
          <p:cNvPr id="7" name="矩形 6">
            <a:extLst>
              <a:ext uri="{FF2B5EF4-FFF2-40B4-BE49-F238E27FC236}">
                <a16:creationId xmlns:a16="http://schemas.microsoft.com/office/drawing/2014/main" id="{F91DE1BB-3202-48FF-B9BE-2DAABCA71629}"/>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1432692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83785-641F-0D8B-1A28-188D9D29031E}"/>
            </a:ext>
          </a:extLst>
        </p:cNvPr>
        <p:cNvGrpSpPr/>
        <p:nvPr/>
      </p:nvGrpSpPr>
      <p:grpSpPr>
        <a:xfrm>
          <a:off x="0" y="0"/>
          <a:ext cx="0" cy="0"/>
          <a:chOff x="0" y="0"/>
          <a:chExt cx="0" cy="0"/>
        </a:xfrm>
      </p:grpSpPr>
      <p:sp>
        <p:nvSpPr>
          <p:cNvPr id="53" name="矩形 52">
            <a:extLst>
              <a:ext uri="{FF2B5EF4-FFF2-40B4-BE49-F238E27FC236}">
                <a16:creationId xmlns:a16="http://schemas.microsoft.com/office/drawing/2014/main" id="{2544A264-CB75-7175-57BB-45AB6F143884}"/>
              </a:ext>
            </a:extLst>
          </p:cNvPr>
          <p:cNvSpPr/>
          <p:nvPr/>
        </p:nvSpPr>
        <p:spPr>
          <a:xfrm>
            <a:off x="1141944" y="1542133"/>
            <a:ext cx="2879637"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③</a:t>
            </a:r>
            <a:r>
              <a:rPr lang="zh-CN" altLang="en-US" sz="2000" dirty="0">
                <a:latin typeface="微软雅黑" pitchFamily="34" charset="-122"/>
                <a:ea typeface="微软雅黑" pitchFamily="34" charset="-122"/>
                <a:cs typeface="经典粗黑简" pitchFamily="49" charset="-122"/>
              </a:rPr>
              <a:t>判断单链表是否为空</a:t>
            </a:r>
          </a:p>
        </p:txBody>
      </p:sp>
      <p:cxnSp>
        <p:nvCxnSpPr>
          <p:cNvPr id="16" name="直接连接符 15">
            <a:extLst>
              <a:ext uri="{FF2B5EF4-FFF2-40B4-BE49-F238E27FC236}">
                <a16:creationId xmlns:a16="http://schemas.microsoft.com/office/drawing/2014/main" id="{27B54F45-5D5C-B9F4-892C-D51EED6E2DCD}"/>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9D6D81E0-FE3B-9C08-7715-D5D28386CE09}"/>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5" name="Text Box 3">
            <a:extLst>
              <a:ext uri="{FF2B5EF4-FFF2-40B4-BE49-F238E27FC236}">
                <a16:creationId xmlns:a16="http://schemas.microsoft.com/office/drawing/2014/main" id="{F7A3DACE-77F1-0B8D-4D07-462757948BC9}"/>
              </a:ext>
            </a:extLst>
          </p:cNvPr>
          <p:cNvSpPr txBox="1">
            <a:spLocks noChangeArrowheads="1"/>
          </p:cNvSpPr>
          <p:nvPr/>
        </p:nvSpPr>
        <p:spPr bwMode="auto">
          <a:xfrm>
            <a:off x="1115616" y="2298824"/>
            <a:ext cx="5029209" cy="1471511"/>
          </a:xfrm>
          <a:prstGeom prst="rect">
            <a:avLst/>
          </a:prstGeom>
          <a:gradFill flip="none"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2700000" scaled="1"/>
            <a:tileRect/>
          </a:gra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80000" rIns="144000" bIns="180000">
            <a:spAutoFit/>
          </a:bodyPr>
          <a:lstStyle/>
          <a:p>
            <a:pPr algn="l"/>
            <a:r>
              <a:rPr lang="en-US" altLang="zh-CN" sz="1800" err="1">
                <a:solidFill>
                  <a:srgbClr val="0000FF"/>
                </a:solidFill>
                <a:latin typeface="Consolas" pitchFamily="49" charset="0"/>
                <a:cs typeface="Consolas" pitchFamily="49" charset="0"/>
              </a:rPr>
              <a:t>bool</a:t>
            </a:r>
            <a:r>
              <a:rPr lang="en-US" altLang="zh-CN" sz="1800">
                <a:solidFill>
                  <a:srgbClr val="0000FF"/>
                </a:solidFill>
                <a:latin typeface="Consolas" pitchFamily="49" charset="0"/>
                <a:cs typeface="Consolas" pitchFamily="49" charset="0"/>
              </a:rPr>
              <a:t> </a:t>
            </a:r>
            <a:r>
              <a:rPr lang="en-US" altLang="zh-CN" sz="1800">
                <a:solidFill>
                  <a:srgbClr val="FF0000"/>
                </a:solidFill>
                <a:effectLst>
                  <a:outerShdw blurRad="38100" dist="38100" dir="2700000" algn="tl">
                    <a:srgbClr val="000000">
                      <a:alpha val="43137"/>
                    </a:srgbClr>
                  </a:outerShdw>
                </a:effectLst>
                <a:latin typeface="Consolas" pitchFamily="49" charset="0"/>
                <a:cs typeface="Consolas" pitchFamily="49" charset="0"/>
              </a:rPr>
              <a:t>ListEmpty</a:t>
            </a:r>
            <a:r>
              <a:rPr lang="en-US" altLang="zh-CN" sz="1800">
                <a:solidFill>
                  <a:srgbClr val="0000FF"/>
                </a:solidFill>
                <a:latin typeface="Consolas" pitchFamily="49" charset="0"/>
                <a:cs typeface="Consolas" pitchFamily="49" charset="0"/>
              </a:rPr>
              <a:t>(LinkNode </a:t>
            </a:r>
            <a:r>
              <a:rPr lang="en-US" altLang="zh-CN" sz="1800" dirty="0">
                <a:solidFill>
                  <a:srgbClr val="0000FF"/>
                </a:solidFill>
                <a:latin typeface="Consolas" pitchFamily="49" charset="0"/>
                <a:cs typeface="Consolas" pitchFamily="49" charset="0"/>
              </a:rPr>
              <a:t>*L)</a:t>
            </a:r>
          </a:p>
          <a:p>
            <a:pPr algn="l"/>
            <a:r>
              <a:rPr lang="en-US" altLang="zh-CN" sz="1800" dirty="0">
                <a:solidFill>
                  <a:srgbClr val="0000FF"/>
                </a:solidFill>
                <a:latin typeface="Consolas" pitchFamily="49" charset="0"/>
                <a:cs typeface="Consolas" pitchFamily="49" charset="0"/>
              </a:rPr>
              <a:t>{</a:t>
            </a:r>
          </a:p>
          <a:p>
            <a:pPr algn="l"/>
            <a:r>
              <a:rPr lang="zh-CN" altLang="en-US" sz="1800" dirty="0">
                <a:solidFill>
                  <a:srgbClr val="0000FF"/>
                </a:solidFill>
                <a:latin typeface="Consolas" pitchFamily="49" charset="0"/>
                <a:cs typeface="Consolas" pitchFamily="49" charset="0"/>
              </a:rPr>
              <a:t>　　</a:t>
            </a:r>
            <a:r>
              <a:rPr lang="en-US" altLang="zh-CN" sz="1800" dirty="0">
                <a:solidFill>
                  <a:srgbClr val="0000FF"/>
                </a:solidFill>
                <a:latin typeface="Consolas" pitchFamily="49" charset="0"/>
                <a:cs typeface="Consolas" pitchFamily="49" charset="0"/>
              </a:rPr>
              <a:t>return(L-&gt;next==NULL);</a:t>
            </a:r>
          </a:p>
          <a:p>
            <a:pPr algn="l"/>
            <a:r>
              <a:rPr lang="en-US" altLang="zh-CN" sz="1800" dirty="0">
                <a:solidFill>
                  <a:srgbClr val="0000FF"/>
                </a:solidFill>
                <a:latin typeface="Consolas" pitchFamily="49" charset="0"/>
                <a:cs typeface="Consolas" pitchFamily="49" charset="0"/>
              </a:rPr>
              <a:t>}</a:t>
            </a:r>
          </a:p>
        </p:txBody>
      </p:sp>
      <p:sp>
        <p:nvSpPr>
          <p:cNvPr id="7" name="文本框 6">
            <a:extLst>
              <a:ext uri="{FF2B5EF4-FFF2-40B4-BE49-F238E27FC236}">
                <a16:creationId xmlns:a16="http://schemas.microsoft.com/office/drawing/2014/main" id="{AD817A44-8E35-1B46-3603-13E0757480A4}"/>
              </a:ext>
            </a:extLst>
          </p:cNvPr>
          <p:cNvSpPr txBox="1"/>
          <p:nvPr/>
        </p:nvSpPr>
        <p:spPr>
          <a:xfrm>
            <a:off x="1044290" y="3928249"/>
            <a:ext cx="7344134" cy="369332"/>
          </a:xfrm>
          <a:prstGeom prst="rect">
            <a:avLst/>
          </a:prstGeom>
          <a:noFill/>
        </p:spPr>
        <p:txBody>
          <a:bodyPr wrap="square">
            <a:spAutoFit/>
          </a:bodyPr>
          <a:lstStyle/>
          <a:p>
            <a:r>
              <a:rPr kumimoji="1" lang="zh-CN" altLang="en-US" sz="1800" dirty="0">
                <a:latin typeface="Consolas" pitchFamily="49" charset="0"/>
                <a:ea typeface="楷体" pitchFamily="49" charset="-122"/>
                <a:cs typeface="Consolas" pitchFamily="49" charset="0"/>
              </a:rPr>
              <a:t>若单链表</a:t>
            </a:r>
            <a:r>
              <a:rPr kumimoji="1" lang="en-US" altLang="zh-CN" sz="1800" dirty="0">
                <a:latin typeface="Consolas" pitchFamily="49" charset="0"/>
                <a:ea typeface="楷体" pitchFamily="49" charset="-122"/>
                <a:cs typeface="Consolas" pitchFamily="49" charset="0"/>
              </a:rPr>
              <a:t>L</a:t>
            </a:r>
            <a:r>
              <a:rPr kumimoji="1" lang="zh-CN" altLang="en-US" sz="1800" dirty="0">
                <a:latin typeface="Consolas" pitchFamily="49" charset="0"/>
                <a:ea typeface="楷体" pitchFamily="49" charset="-122"/>
                <a:cs typeface="Consolas" pitchFamily="49" charset="0"/>
              </a:rPr>
              <a:t>没有数据结点，则返回真（</a:t>
            </a:r>
            <a:r>
              <a:rPr kumimoji="1" lang="en-US" altLang="zh-CN" sz="1800" dirty="0">
                <a:latin typeface="Consolas" pitchFamily="49" charset="0"/>
                <a:ea typeface="楷体" pitchFamily="49" charset="-122"/>
                <a:cs typeface="Consolas" pitchFamily="49" charset="0"/>
              </a:rPr>
              <a:t>true</a:t>
            </a:r>
            <a:r>
              <a:rPr kumimoji="1" lang="zh-CN" altLang="en-US" sz="1800" dirty="0">
                <a:latin typeface="Consolas" pitchFamily="49" charset="0"/>
                <a:ea typeface="楷体" pitchFamily="49" charset="-122"/>
                <a:cs typeface="Consolas" pitchFamily="49" charset="0"/>
              </a:rPr>
              <a:t>），否则返回假（</a:t>
            </a:r>
            <a:r>
              <a:rPr kumimoji="1" lang="en-US" altLang="zh-CN" sz="1800" dirty="0">
                <a:latin typeface="Consolas" pitchFamily="49" charset="0"/>
                <a:ea typeface="楷体" pitchFamily="49" charset="-122"/>
                <a:cs typeface="Consolas" pitchFamily="49" charset="0"/>
              </a:rPr>
              <a:t>false</a:t>
            </a:r>
            <a:r>
              <a:rPr kumimoji="1" lang="zh-CN" altLang="en-US" sz="1800" dirty="0">
                <a:latin typeface="Consolas" pitchFamily="49" charset="0"/>
                <a:ea typeface="楷体" pitchFamily="49" charset="-122"/>
                <a:cs typeface="Consolas" pitchFamily="49" charset="0"/>
              </a:rPr>
              <a:t>）。</a:t>
            </a:r>
            <a:r>
              <a:rPr kumimoji="1" lang="zh-CN" altLang="en-US" sz="1800" dirty="0">
                <a:solidFill>
                  <a:srgbClr val="FF3300"/>
                </a:solidFill>
                <a:latin typeface="Consolas" pitchFamily="49" charset="0"/>
                <a:ea typeface="楷体" pitchFamily="49" charset="-122"/>
                <a:cs typeface="Consolas" pitchFamily="49" charset="0"/>
              </a:rPr>
              <a:t> </a:t>
            </a:r>
            <a:endParaRPr lang="zh-CN" altLang="en-US" dirty="0"/>
          </a:p>
        </p:txBody>
      </p:sp>
      <p:sp>
        <p:nvSpPr>
          <p:cNvPr id="8" name="Rectangle 228">
            <a:extLst>
              <a:ext uri="{FF2B5EF4-FFF2-40B4-BE49-F238E27FC236}">
                <a16:creationId xmlns:a16="http://schemas.microsoft.com/office/drawing/2014/main" id="{B8CCF85A-AA41-9B1B-0F75-3E62AFA68115}"/>
              </a:ext>
            </a:extLst>
          </p:cNvPr>
          <p:cNvSpPr>
            <a:spLocks noChangeArrowheads="1"/>
          </p:cNvSpPr>
          <p:nvPr/>
        </p:nvSpPr>
        <p:spPr bwMode="auto">
          <a:xfrm>
            <a:off x="6416287" y="2751987"/>
            <a:ext cx="482555" cy="461665"/>
          </a:xfrm>
          <a:prstGeom prst="rect">
            <a:avLst/>
          </a:prstGeom>
          <a:noFill/>
          <a:ln>
            <a:noFill/>
          </a:ln>
        </p:spPr>
        <p:txBody>
          <a:bodyPr wrap="square">
            <a:spAutoFit/>
          </a:bodyPr>
          <a:lstStyle/>
          <a:p>
            <a:pPr algn="r"/>
            <a:r>
              <a:rPr kumimoji="0" lang="en-US" altLang="zh-CN" sz="2400" b="1" dirty="0"/>
              <a:t>L</a:t>
            </a:r>
          </a:p>
        </p:txBody>
      </p:sp>
      <p:sp>
        <p:nvSpPr>
          <p:cNvPr id="9" name="Line 29">
            <a:extLst>
              <a:ext uri="{FF2B5EF4-FFF2-40B4-BE49-F238E27FC236}">
                <a16:creationId xmlns:a16="http://schemas.microsoft.com/office/drawing/2014/main" id="{7290ED92-8D94-FCE6-1EB4-2B963F588290}"/>
              </a:ext>
            </a:extLst>
          </p:cNvPr>
          <p:cNvSpPr>
            <a:spLocks noChangeShapeType="1"/>
          </p:cNvSpPr>
          <p:nvPr/>
        </p:nvSpPr>
        <p:spPr bwMode="auto">
          <a:xfrm>
            <a:off x="6855296" y="294226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5">
            <a:extLst>
              <a:ext uri="{FF2B5EF4-FFF2-40B4-BE49-F238E27FC236}">
                <a16:creationId xmlns:a16="http://schemas.microsoft.com/office/drawing/2014/main" id="{0275E5FD-9DEA-F967-FDFC-A0D2C630541F}"/>
              </a:ext>
            </a:extLst>
          </p:cNvPr>
          <p:cNvSpPr>
            <a:spLocks noChangeArrowheads="1"/>
          </p:cNvSpPr>
          <p:nvPr/>
        </p:nvSpPr>
        <p:spPr bwMode="auto">
          <a:xfrm>
            <a:off x="7236296" y="2715766"/>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a:t>       </a:t>
            </a:r>
            <a:r>
              <a:rPr lang="zh-CN" altLang="en-US" sz="2400"/>
              <a:t>^</a:t>
            </a:r>
            <a:endParaRPr lang="en-US" altLang="zh-CN" sz="2400" dirty="0"/>
          </a:p>
        </p:txBody>
      </p:sp>
      <p:sp>
        <p:nvSpPr>
          <p:cNvPr id="11" name="Line 6">
            <a:extLst>
              <a:ext uri="{FF2B5EF4-FFF2-40B4-BE49-F238E27FC236}">
                <a16:creationId xmlns:a16="http://schemas.microsoft.com/office/drawing/2014/main" id="{14799FC9-8979-032F-8BB8-79AA387CA5FB}"/>
              </a:ext>
            </a:extLst>
          </p:cNvPr>
          <p:cNvSpPr>
            <a:spLocks noChangeShapeType="1"/>
          </p:cNvSpPr>
          <p:nvPr/>
        </p:nvSpPr>
        <p:spPr bwMode="auto">
          <a:xfrm>
            <a:off x="7769696" y="2715766"/>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矩形 11">
            <a:extLst>
              <a:ext uri="{FF2B5EF4-FFF2-40B4-BE49-F238E27FC236}">
                <a16:creationId xmlns:a16="http://schemas.microsoft.com/office/drawing/2014/main" id="{08451029-CD68-4347-8BF7-8DA0C8B42425}"/>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22203194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10D8C-3906-8077-81D0-A58F49225934}"/>
            </a:ext>
          </a:extLst>
        </p:cNvPr>
        <p:cNvGrpSpPr/>
        <p:nvPr/>
      </p:nvGrpSpPr>
      <p:grpSpPr>
        <a:xfrm>
          <a:off x="0" y="0"/>
          <a:ext cx="0" cy="0"/>
          <a:chOff x="0" y="0"/>
          <a:chExt cx="0" cy="0"/>
        </a:xfrm>
      </p:grpSpPr>
      <p:sp>
        <p:nvSpPr>
          <p:cNvPr id="53" name="矩形 52">
            <a:extLst>
              <a:ext uri="{FF2B5EF4-FFF2-40B4-BE49-F238E27FC236}">
                <a16:creationId xmlns:a16="http://schemas.microsoft.com/office/drawing/2014/main" id="{62BA4800-D0DE-7A3D-D397-90128B716A9A}"/>
              </a:ext>
            </a:extLst>
          </p:cNvPr>
          <p:cNvSpPr/>
          <p:nvPr/>
        </p:nvSpPr>
        <p:spPr>
          <a:xfrm>
            <a:off x="1053170" y="1513985"/>
            <a:ext cx="2302784"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④</a:t>
            </a:r>
            <a:r>
              <a:rPr lang="zh-CN" altLang="en-US" sz="2000" dirty="0">
                <a:latin typeface="微软雅黑" pitchFamily="34" charset="-122"/>
                <a:ea typeface="微软雅黑" pitchFamily="34" charset="-122"/>
                <a:cs typeface="经典粗黑简" pitchFamily="49" charset="-122"/>
              </a:rPr>
              <a:t>求单链表的长度</a:t>
            </a:r>
          </a:p>
        </p:txBody>
      </p:sp>
      <p:cxnSp>
        <p:nvCxnSpPr>
          <p:cNvPr id="16" name="直接连接符 15">
            <a:extLst>
              <a:ext uri="{FF2B5EF4-FFF2-40B4-BE49-F238E27FC236}">
                <a16:creationId xmlns:a16="http://schemas.microsoft.com/office/drawing/2014/main" id="{66DDB751-CFA7-8BF4-0772-838F1EBD59A0}"/>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6" name="Rectangle 5">
            <a:extLst>
              <a:ext uri="{FF2B5EF4-FFF2-40B4-BE49-F238E27FC236}">
                <a16:creationId xmlns:a16="http://schemas.microsoft.com/office/drawing/2014/main" id="{43C53B2D-2CE1-52FC-CD6B-BCF0A3071026}"/>
              </a:ext>
            </a:extLst>
          </p:cNvPr>
          <p:cNvSpPr>
            <a:spLocks noChangeArrowheads="1"/>
          </p:cNvSpPr>
          <p:nvPr/>
        </p:nvSpPr>
        <p:spPr bwMode="auto">
          <a:xfrm>
            <a:off x="2124826" y="444423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7" name="Line 6">
            <a:extLst>
              <a:ext uri="{FF2B5EF4-FFF2-40B4-BE49-F238E27FC236}">
                <a16:creationId xmlns:a16="http://schemas.microsoft.com/office/drawing/2014/main" id="{B900ADDA-3B5F-7348-13EB-1E123A004B6A}"/>
              </a:ext>
            </a:extLst>
          </p:cNvPr>
          <p:cNvSpPr>
            <a:spLocks noChangeShapeType="1"/>
          </p:cNvSpPr>
          <p:nvPr/>
        </p:nvSpPr>
        <p:spPr bwMode="auto">
          <a:xfrm>
            <a:off x="2658226" y="444423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Rectangle 25">
            <a:extLst>
              <a:ext uri="{FF2B5EF4-FFF2-40B4-BE49-F238E27FC236}">
                <a16:creationId xmlns:a16="http://schemas.microsoft.com/office/drawing/2014/main" id="{F2A7E16F-B243-8F33-3F91-04B701CED81C}"/>
              </a:ext>
            </a:extLst>
          </p:cNvPr>
          <p:cNvSpPr>
            <a:spLocks noChangeArrowheads="1"/>
          </p:cNvSpPr>
          <p:nvPr/>
        </p:nvSpPr>
        <p:spPr bwMode="auto">
          <a:xfrm>
            <a:off x="4288711" y="451819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99" name="Rectangle 36">
            <a:extLst>
              <a:ext uri="{FF2B5EF4-FFF2-40B4-BE49-F238E27FC236}">
                <a16:creationId xmlns:a16="http://schemas.microsoft.com/office/drawing/2014/main" id="{B0D5763A-EC2B-B835-4111-9D12611E4782}"/>
              </a:ext>
            </a:extLst>
          </p:cNvPr>
          <p:cNvSpPr>
            <a:spLocks noChangeArrowheads="1"/>
          </p:cNvSpPr>
          <p:nvPr/>
        </p:nvSpPr>
        <p:spPr bwMode="auto">
          <a:xfrm>
            <a:off x="7422860" y="4540201"/>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00" name="Line 29">
            <a:extLst>
              <a:ext uri="{FF2B5EF4-FFF2-40B4-BE49-F238E27FC236}">
                <a16:creationId xmlns:a16="http://schemas.microsoft.com/office/drawing/2014/main" id="{F11DE341-05B8-F268-17A3-7C26D6D97C4C}"/>
              </a:ext>
            </a:extLst>
          </p:cNvPr>
          <p:cNvSpPr>
            <a:spLocks noChangeShapeType="1"/>
          </p:cNvSpPr>
          <p:nvPr/>
        </p:nvSpPr>
        <p:spPr bwMode="auto">
          <a:xfrm>
            <a:off x="572348" y="4695905"/>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 name="Rectangle 5">
            <a:extLst>
              <a:ext uri="{FF2B5EF4-FFF2-40B4-BE49-F238E27FC236}">
                <a16:creationId xmlns:a16="http://schemas.microsoft.com/office/drawing/2014/main" id="{6ECEEC8F-3A2B-91D3-C548-212949716EEF}"/>
              </a:ext>
            </a:extLst>
          </p:cNvPr>
          <p:cNvSpPr>
            <a:spLocks noChangeArrowheads="1"/>
          </p:cNvSpPr>
          <p:nvPr/>
        </p:nvSpPr>
        <p:spPr bwMode="auto">
          <a:xfrm>
            <a:off x="3300483" y="444960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AB0D8FDF-6606-D6B0-DE49-5DC0C87B6CAB}"/>
              </a:ext>
            </a:extLst>
          </p:cNvPr>
          <p:cNvSpPr>
            <a:spLocks noChangeShapeType="1"/>
          </p:cNvSpPr>
          <p:nvPr/>
        </p:nvSpPr>
        <p:spPr bwMode="auto">
          <a:xfrm>
            <a:off x="3833883" y="444960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29">
            <a:extLst>
              <a:ext uri="{FF2B5EF4-FFF2-40B4-BE49-F238E27FC236}">
                <a16:creationId xmlns:a16="http://schemas.microsoft.com/office/drawing/2014/main" id="{6C1CA3CF-721C-9AD4-9996-C257527E83A2}"/>
              </a:ext>
            </a:extLst>
          </p:cNvPr>
          <p:cNvSpPr>
            <a:spLocks noChangeShapeType="1"/>
          </p:cNvSpPr>
          <p:nvPr/>
        </p:nvSpPr>
        <p:spPr bwMode="auto">
          <a:xfrm>
            <a:off x="2919483" y="470378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 name="Rectangle 5">
            <a:extLst>
              <a:ext uri="{FF2B5EF4-FFF2-40B4-BE49-F238E27FC236}">
                <a16:creationId xmlns:a16="http://schemas.microsoft.com/office/drawing/2014/main" id="{776DA8D7-981B-A661-07A4-DF69703ABB75}"/>
              </a:ext>
            </a:extLst>
          </p:cNvPr>
          <p:cNvSpPr>
            <a:spLocks noChangeArrowheads="1"/>
          </p:cNvSpPr>
          <p:nvPr/>
        </p:nvSpPr>
        <p:spPr bwMode="auto">
          <a:xfrm>
            <a:off x="4901994" y="4466236"/>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105" name="Line 6">
            <a:extLst>
              <a:ext uri="{FF2B5EF4-FFF2-40B4-BE49-F238E27FC236}">
                <a16:creationId xmlns:a16="http://schemas.microsoft.com/office/drawing/2014/main" id="{DCD339DA-D1F0-66DC-84BA-66ADDE42BB2B}"/>
              </a:ext>
            </a:extLst>
          </p:cNvPr>
          <p:cNvSpPr>
            <a:spLocks noChangeShapeType="1"/>
          </p:cNvSpPr>
          <p:nvPr/>
        </p:nvSpPr>
        <p:spPr bwMode="auto">
          <a:xfrm>
            <a:off x="5638567" y="4460860"/>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 name="Line 29">
            <a:extLst>
              <a:ext uri="{FF2B5EF4-FFF2-40B4-BE49-F238E27FC236}">
                <a16:creationId xmlns:a16="http://schemas.microsoft.com/office/drawing/2014/main" id="{7FDA9694-D5F3-B9C4-B187-4C64D15DFC1B}"/>
              </a:ext>
            </a:extLst>
          </p:cNvPr>
          <p:cNvSpPr>
            <a:spLocks noChangeShapeType="1"/>
          </p:cNvSpPr>
          <p:nvPr/>
        </p:nvSpPr>
        <p:spPr bwMode="auto">
          <a:xfrm>
            <a:off x="4701002" y="4694562"/>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 name="Line 29">
            <a:extLst>
              <a:ext uri="{FF2B5EF4-FFF2-40B4-BE49-F238E27FC236}">
                <a16:creationId xmlns:a16="http://schemas.microsoft.com/office/drawing/2014/main" id="{E5D1FCB2-AA62-1DF2-152D-5B87B2FCDEE2}"/>
              </a:ext>
            </a:extLst>
          </p:cNvPr>
          <p:cNvSpPr>
            <a:spLocks noChangeShapeType="1"/>
          </p:cNvSpPr>
          <p:nvPr/>
        </p:nvSpPr>
        <p:spPr bwMode="auto">
          <a:xfrm>
            <a:off x="4024383" y="4701094"/>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 name="Rectangle 5">
            <a:extLst>
              <a:ext uri="{FF2B5EF4-FFF2-40B4-BE49-F238E27FC236}">
                <a16:creationId xmlns:a16="http://schemas.microsoft.com/office/drawing/2014/main" id="{D564BFA5-B44A-0D83-24EE-1DF0D26DEF7B}"/>
              </a:ext>
            </a:extLst>
          </p:cNvPr>
          <p:cNvSpPr>
            <a:spLocks noChangeArrowheads="1"/>
          </p:cNvSpPr>
          <p:nvPr/>
        </p:nvSpPr>
        <p:spPr bwMode="auto">
          <a:xfrm>
            <a:off x="6294753" y="447806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09" name="Line 6">
            <a:extLst>
              <a:ext uri="{FF2B5EF4-FFF2-40B4-BE49-F238E27FC236}">
                <a16:creationId xmlns:a16="http://schemas.microsoft.com/office/drawing/2014/main" id="{FE112F15-0690-079A-01E1-E13D7CC49F08}"/>
              </a:ext>
            </a:extLst>
          </p:cNvPr>
          <p:cNvSpPr>
            <a:spLocks noChangeShapeType="1"/>
          </p:cNvSpPr>
          <p:nvPr/>
        </p:nvSpPr>
        <p:spPr bwMode="auto">
          <a:xfrm>
            <a:off x="6828153" y="447806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 name="Line 29">
            <a:extLst>
              <a:ext uri="{FF2B5EF4-FFF2-40B4-BE49-F238E27FC236}">
                <a16:creationId xmlns:a16="http://schemas.microsoft.com/office/drawing/2014/main" id="{8CEB81E6-DA12-8AC3-C68A-4A921F76CDE6}"/>
              </a:ext>
            </a:extLst>
          </p:cNvPr>
          <p:cNvSpPr>
            <a:spLocks noChangeShapeType="1"/>
          </p:cNvSpPr>
          <p:nvPr/>
        </p:nvSpPr>
        <p:spPr bwMode="auto">
          <a:xfrm>
            <a:off x="5913753" y="473223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 name="Line 29">
            <a:extLst>
              <a:ext uri="{FF2B5EF4-FFF2-40B4-BE49-F238E27FC236}">
                <a16:creationId xmlns:a16="http://schemas.microsoft.com/office/drawing/2014/main" id="{900F95D3-0270-5617-98FD-AAEC9591AEEE}"/>
              </a:ext>
            </a:extLst>
          </p:cNvPr>
          <p:cNvSpPr>
            <a:spLocks noChangeShapeType="1"/>
          </p:cNvSpPr>
          <p:nvPr/>
        </p:nvSpPr>
        <p:spPr bwMode="auto">
          <a:xfrm>
            <a:off x="7059461" y="4733137"/>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 name="Rectangle 5">
            <a:extLst>
              <a:ext uri="{FF2B5EF4-FFF2-40B4-BE49-F238E27FC236}">
                <a16:creationId xmlns:a16="http://schemas.microsoft.com/office/drawing/2014/main" id="{A59FBA5A-D9EA-F3DA-8FE4-B7F6BE6B21AC}"/>
              </a:ext>
            </a:extLst>
          </p:cNvPr>
          <p:cNvSpPr>
            <a:spLocks noChangeArrowheads="1"/>
          </p:cNvSpPr>
          <p:nvPr/>
        </p:nvSpPr>
        <p:spPr bwMode="auto">
          <a:xfrm>
            <a:off x="8138569" y="449320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113" name="Line 6">
            <a:extLst>
              <a:ext uri="{FF2B5EF4-FFF2-40B4-BE49-F238E27FC236}">
                <a16:creationId xmlns:a16="http://schemas.microsoft.com/office/drawing/2014/main" id="{A959828B-01D1-29FC-3CCE-12E45126A5A0}"/>
              </a:ext>
            </a:extLst>
          </p:cNvPr>
          <p:cNvSpPr>
            <a:spLocks noChangeShapeType="1"/>
          </p:cNvSpPr>
          <p:nvPr/>
        </p:nvSpPr>
        <p:spPr bwMode="auto">
          <a:xfrm>
            <a:off x="8698096" y="449320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 name="Line 29">
            <a:extLst>
              <a:ext uri="{FF2B5EF4-FFF2-40B4-BE49-F238E27FC236}">
                <a16:creationId xmlns:a16="http://schemas.microsoft.com/office/drawing/2014/main" id="{1184321A-3835-22A8-B257-F7F593EC2606}"/>
              </a:ext>
            </a:extLst>
          </p:cNvPr>
          <p:cNvSpPr>
            <a:spLocks noChangeShapeType="1"/>
          </p:cNvSpPr>
          <p:nvPr/>
        </p:nvSpPr>
        <p:spPr bwMode="auto">
          <a:xfrm>
            <a:off x="7757569" y="4740842"/>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 name="矩形 114">
            <a:extLst>
              <a:ext uri="{FF2B5EF4-FFF2-40B4-BE49-F238E27FC236}">
                <a16:creationId xmlns:a16="http://schemas.microsoft.com/office/drawing/2014/main" id="{D8310883-7755-5F08-5761-0E98F82F8F83}"/>
              </a:ext>
            </a:extLst>
          </p:cNvPr>
          <p:cNvSpPr/>
          <p:nvPr/>
        </p:nvSpPr>
        <p:spPr>
          <a:xfrm>
            <a:off x="203337" y="4485906"/>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116" name="Rectangle 5">
            <a:extLst>
              <a:ext uri="{FF2B5EF4-FFF2-40B4-BE49-F238E27FC236}">
                <a16:creationId xmlns:a16="http://schemas.microsoft.com/office/drawing/2014/main" id="{552EE245-1FEF-F46D-344C-B70D05EC375A}"/>
              </a:ext>
            </a:extLst>
          </p:cNvPr>
          <p:cNvSpPr>
            <a:spLocks noChangeArrowheads="1"/>
          </p:cNvSpPr>
          <p:nvPr/>
        </p:nvSpPr>
        <p:spPr bwMode="auto">
          <a:xfrm>
            <a:off x="963634" y="4444234"/>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17" name="Line 29">
            <a:extLst>
              <a:ext uri="{FF2B5EF4-FFF2-40B4-BE49-F238E27FC236}">
                <a16:creationId xmlns:a16="http://schemas.microsoft.com/office/drawing/2014/main" id="{B0D1C5AD-6DF1-4F87-3BE4-9F7C6BB57153}"/>
              </a:ext>
            </a:extLst>
          </p:cNvPr>
          <p:cNvSpPr>
            <a:spLocks noChangeShapeType="1"/>
          </p:cNvSpPr>
          <p:nvPr/>
        </p:nvSpPr>
        <p:spPr bwMode="auto">
          <a:xfrm>
            <a:off x="1758291" y="470378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 name="Line 6">
            <a:extLst>
              <a:ext uri="{FF2B5EF4-FFF2-40B4-BE49-F238E27FC236}">
                <a16:creationId xmlns:a16="http://schemas.microsoft.com/office/drawing/2014/main" id="{2DEB8F97-5562-18B4-5E4C-F5699C02F5B6}"/>
              </a:ext>
            </a:extLst>
          </p:cNvPr>
          <p:cNvSpPr>
            <a:spLocks noChangeShapeType="1"/>
          </p:cNvSpPr>
          <p:nvPr/>
        </p:nvSpPr>
        <p:spPr bwMode="auto">
          <a:xfrm>
            <a:off x="1517404" y="445627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 name="Rectangle 55">
            <a:extLst>
              <a:ext uri="{FF2B5EF4-FFF2-40B4-BE49-F238E27FC236}">
                <a16:creationId xmlns:a16="http://schemas.microsoft.com/office/drawing/2014/main" id="{F1D92A88-EE60-942C-0239-00C8686D7DF5}"/>
              </a:ext>
            </a:extLst>
          </p:cNvPr>
          <p:cNvSpPr>
            <a:spLocks noChangeArrowheads="1"/>
          </p:cNvSpPr>
          <p:nvPr/>
        </p:nvSpPr>
        <p:spPr bwMode="auto">
          <a:xfrm>
            <a:off x="384440" y="3867894"/>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121" name="Line 29">
            <a:extLst>
              <a:ext uri="{FF2B5EF4-FFF2-40B4-BE49-F238E27FC236}">
                <a16:creationId xmlns:a16="http://schemas.microsoft.com/office/drawing/2014/main" id="{6C3BE5AE-B9B3-9C22-7905-90A1716E9155}"/>
              </a:ext>
            </a:extLst>
          </p:cNvPr>
          <p:cNvSpPr>
            <a:spLocks noChangeShapeType="1"/>
          </p:cNvSpPr>
          <p:nvPr/>
        </p:nvSpPr>
        <p:spPr bwMode="auto">
          <a:xfrm>
            <a:off x="648161" y="4244828"/>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 name="AutoShape 30">
            <a:extLst>
              <a:ext uri="{FF2B5EF4-FFF2-40B4-BE49-F238E27FC236}">
                <a16:creationId xmlns:a16="http://schemas.microsoft.com/office/drawing/2014/main" id="{F344084B-B344-E5EF-147F-2AB3653D9493}"/>
              </a:ext>
            </a:extLst>
          </p:cNvPr>
          <p:cNvSpPr>
            <a:spLocks noChangeArrowheads="1"/>
          </p:cNvSpPr>
          <p:nvPr/>
        </p:nvSpPr>
        <p:spPr bwMode="auto">
          <a:xfrm>
            <a:off x="1115616" y="4147701"/>
            <a:ext cx="7301421" cy="228600"/>
          </a:xfrm>
          <a:prstGeom prst="rightArrow">
            <a:avLst>
              <a:gd name="adj1" fmla="val 50000"/>
              <a:gd name="adj2" fmla="val 56250"/>
            </a:avLst>
          </a:prstGeom>
          <a:solidFill>
            <a:srgbClr val="FFCC00"/>
          </a:solidFill>
          <a:ln w="6350">
            <a:solidFill>
              <a:schemeClr val="tx1"/>
            </a:solidFill>
            <a:miter lim="800000"/>
            <a:headEnd/>
            <a:tailEnd/>
          </a:ln>
        </p:spPr>
        <p:txBody>
          <a:bodyPr wrap="none" anchor="ctr"/>
          <a:lstStyle/>
          <a:p>
            <a:endParaRPr lang="zh-CN" altLang="en-US"/>
          </a:p>
        </p:txBody>
      </p:sp>
      <p:sp>
        <p:nvSpPr>
          <p:cNvPr id="2" name="Rectangle 2">
            <a:extLst>
              <a:ext uri="{FF2B5EF4-FFF2-40B4-BE49-F238E27FC236}">
                <a16:creationId xmlns:a16="http://schemas.microsoft.com/office/drawing/2014/main" id="{5131D58A-1640-2FBA-3CBD-9731FAE053F2}"/>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3" name="Text Box 42">
            <a:extLst>
              <a:ext uri="{FF2B5EF4-FFF2-40B4-BE49-F238E27FC236}">
                <a16:creationId xmlns:a16="http://schemas.microsoft.com/office/drawing/2014/main" id="{57343CF8-0BFE-3620-56C8-83E5B836EB0D}"/>
              </a:ext>
            </a:extLst>
          </p:cNvPr>
          <p:cNvSpPr txBox="1">
            <a:spLocks noChangeArrowheads="1"/>
          </p:cNvSpPr>
          <p:nvPr/>
        </p:nvSpPr>
        <p:spPr bwMode="auto">
          <a:xfrm>
            <a:off x="1054490" y="1893048"/>
            <a:ext cx="7523062" cy="2278592"/>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tIns="180000" bIns="180000">
            <a:spAutoFit/>
          </a:bodyPr>
          <a:lstStyle/>
          <a:p>
            <a:pPr algn="l">
              <a:lnSpc>
                <a:spcPts val="1500"/>
              </a:lnSpc>
            </a:pPr>
            <a:r>
              <a:rPr lang="en-US" altLang="zh-CN" sz="1400" dirty="0">
                <a:solidFill>
                  <a:srgbClr val="0000FF"/>
                </a:solidFill>
                <a:latin typeface="Consolas" pitchFamily="49" charset="0"/>
                <a:ea typeface="楷体" pitchFamily="49" charset="-122"/>
                <a:cs typeface="Consolas" pitchFamily="49" charset="0"/>
              </a:rPr>
              <a:t>int </a:t>
            </a:r>
            <a:r>
              <a:rPr lang="en-US" altLang="zh-CN" sz="1400" dirty="0" err="1">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ListLength</a:t>
            </a:r>
            <a:r>
              <a:rPr lang="en-US" altLang="zh-CN" sz="1400" dirty="0">
                <a:solidFill>
                  <a:srgbClr val="0000FF"/>
                </a:solidFill>
                <a:latin typeface="Consolas" pitchFamily="49" charset="0"/>
                <a:ea typeface="楷体" pitchFamily="49" charset="-122"/>
                <a:cs typeface="Consolas" pitchFamily="49" charset="0"/>
              </a:rPr>
              <a:t>(</a:t>
            </a:r>
            <a:r>
              <a:rPr lang="en-US" altLang="zh-CN" sz="1400" dirty="0" err="1">
                <a:solidFill>
                  <a:srgbClr val="0000FF"/>
                </a:solidFill>
                <a:latin typeface="Consolas" pitchFamily="49" charset="0"/>
                <a:ea typeface="楷体" pitchFamily="49" charset="-122"/>
                <a:cs typeface="Consolas" pitchFamily="49" charset="0"/>
              </a:rPr>
              <a:t>LinkNode</a:t>
            </a:r>
            <a:r>
              <a:rPr lang="en-US" altLang="zh-CN" sz="1400" dirty="0">
                <a:solidFill>
                  <a:srgbClr val="0000FF"/>
                </a:solidFill>
                <a:latin typeface="Consolas" pitchFamily="49" charset="0"/>
                <a:ea typeface="楷体" pitchFamily="49" charset="-122"/>
                <a:cs typeface="Consolas" pitchFamily="49" charset="0"/>
              </a:rPr>
              <a:t> *L)</a:t>
            </a:r>
          </a:p>
          <a:p>
            <a:pPr algn="l">
              <a:lnSpc>
                <a:spcPts val="1500"/>
              </a:lnSpc>
            </a:pPr>
            <a:r>
              <a:rPr lang="en-US" altLang="zh-CN" sz="1400" dirty="0">
                <a:solidFill>
                  <a:srgbClr val="0000FF"/>
                </a:solidFill>
                <a:latin typeface="Consolas" pitchFamily="49" charset="0"/>
                <a:ea typeface="楷体" pitchFamily="49" charset="-122"/>
                <a:cs typeface="Consolas" pitchFamily="49" charset="0"/>
              </a:rPr>
              <a:t>{</a:t>
            </a:r>
          </a:p>
          <a:p>
            <a:pPr algn="l">
              <a:lnSpc>
                <a:spcPts val="1500"/>
              </a:lnSpc>
            </a:pPr>
            <a:r>
              <a:rPr lang="en-US" altLang="zh-CN" sz="1400" dirty="0">
                <a:solidFill>
                  <a:srgbClr val="0000FF"/>
                </a:solidFill>
                <a:latin typeface="Consolas" pitchFamily="49" charset="0"/>
                <a:ea typeface="楷体" pitchFamily="49" charset="-122"/>
                <a:cs typeface="Consolas" pitchFamily="49" charset="0"/>
              </a:rPr>
              <a:t>  </a:t>
            </a:r>
            <a:r>
              <a:rPr lang="zh-CN" altLang="en-US" sz="1400" dirty="0">
                <a:solidFill>
                  <a:srgbClr val="0000FF"/>
                </a:solidFill>
                <a:latin typeface="Consolas" pitchFamily="49" charset="0"/>
                <a:ea typeface="楷体" pitchFamily="49" charset="-122"/>
                <a:cs typeface="Consolas" pitchFamily="49" charset="0"/>
              </a:rPr>
              <a:t>　</a:t>
            </a:r>
            <a:r>
              <a:rPr lang="en-US" altLang="zh-CN" sz="1400" dirty="0" err="1">
                <a:solidFill>
                  <a:srgbClr val="0000FF"/>
                </a:solidFill>
                <a:latin typeface="Consolas" pitchFamily="49" charset="0"/>
                <a:ea typeface="楷体" pitchFamily="49" charset="-122"/>
                <a:cs typeface="Consolas" pitchFamily="49" charset="0"/>
              </a:rPr>
              <a:t>int</a:t>
            </a:r>
            <a:r>
              <a:rPr lang="en-US" altLang="zh-CN" sz="1400" dirty="0">
                <a:solidFill>
                  <a:srgbClr val="0000FF"/>
                </a:solidFill>
                <a:latin typeface="Consolas" pitchFamily="49" charset="0"/>
                <a:ea typeface="楷体" pitchFamily="49" charset="-122"/>
                <a:cs typeface="Consolas" pitchFamily="49" charset="0"/>
              </a:rPr>
              <a:t> n=0;</a:t>
            </a:r>
          </a:p>
          <a:p>
            <a:pPr algn="l">
              <a:lnSpc>
                <a:spcPts val="1500"/>
              </a:lnSpc>
            </a:pPr>
            <a:r>
              <a:rPr lang="zh-CN" altLang="en-US" sz="1400" dirty="0">
                <a:solidFill>
                  <a:srgbClr val="0000FF"/>
                </a:solidFill>
                <a:latin typeface="Consolas" pitchFamily="49" charset="0"/>
                <a:ea typeface="楷体" pitchFamily="49" charset="-122"/>
                <a:cs typeface="Consolas" pitchFamily="49" charset="0"/>
              </a:rPr>
              <a:t>　  </a:t>
            </a:r>
            <a:r>
              <a:rPr lang="en-US" altLang="zh-CN" sz="1400" dirty="0" err="1">
                <a:solidFill>
                  <a:srgbClr val="0000FF"/>
                </a:solidFill>
                <a:latin typeface="Consolas" pitchFamily="49" charset="0"/>
                <a:ea typeface="楷体" pitchFamily="49" charset="-122"/>
                <a:cs typeface="Consolas" pitchFamily="49" charset="0"/>
              </a:rPr>
              <a:t>LinkNode</a:t>
            </a:r>
            <a:r>
              <a:rPr lang="en-US" altLang="zh-CN" sz="1400" dirty="0">
                <a:solidFill>
                  <a:srgbClr val="0000FF"/>
                </a:solidFill>
                <a:latin typeface="Consolas" pitchFamily="49" charset="0"/>
                <a:ea typeface="楷体" pitchFamily="49" charset="-122"/>
                <a:cs typeface="Consolas" pitchFamily="49" charset="0"/>
              </a:rPr>
              <a:t> *p=L;	</a:t>
            </a:r>
            <a:r>
              <a:rPr lang="en-US" altLang="zh-CN" sz="1400" dirty="0">
                <a:solidFill>
                  <a:srgbClr val="00B0F0"/>
                </a:solidFill>
                <a:latin typeface="Consolas" pitchFamily="49" charset="0"/>
                <a:ea typeface="楷体" pitchFamily="49" charset="-122"/>
                <a:cs typeface="Consolas" pitchFamily="49" charset="0"/>
              </a:rPr>
              <a:t>//p</a:t>
            </a:r>
            <a:r>
              <a:rPr lang="zh-CN" altLang="en-US" sz="1400" dirty="0">
                <a:solidFill>
                  <a:srgbClr val="00B0F0"/>
                </a:solidFill>
                <a:latin typeface="Consolas" pitchFamily="49" charset="0"/>
                <a:ea typeface="楷体" pitchFamily="49" charset="-122"/>
                <a:cs typeface="Consolas" pitchFamily="49" charset="0"/>
              </a:rPr>
              <a:t>指向头结点，</a:t>
            </a:r>
            <a:r>
              <a:rPr lang="en-US" altLang="zh-CN" sz="1400" dirty="0">
                <a:solidFill>
                  <a:srgbClr val="00B0F0"/>
                </a:solidFill>
                <a:latin typeface="Consolas" pitchFamily="49" charset="0"/>
                <a:ea typeface="楷体" pitchFamily="49" charset="-122"/>
                <a:cs typeface="Consolas" pitchFamily="49" charset="0"/>
              </a:rPr>
              <a:t>n</a:t>
            </a:r>
            <a:r>
              <a:rPr lang="zh-CN" altLang="en-US" sz="1400" dirty="0">
                <a:solidFill>
                  <a:srgbClr val="00B0F0"/>
                </a:solidFill>
                <a:latin typeface="Consolas" pitchFamily="49" charset="0"/>
                <a:ea typeface="楷体" pitchFamily="49" charset="-122"/>
                <a:cs typeface="Consolas" pitchFamily="49" charset="0"/>
              </a:rPr>
              <a:t>置为</a:t>
            </a:r>
            <a:r>
              <a:rPr lang="en-US" altLang="zh-CN" sz="1400" dirty="0">
                <a:solidFill>
                  <a:srgbClr val="00B0F0"/>
                </a:solidFill>
                <a:latin typeface="Consolas" pitchFamily="49" charset="0"/>
                <a:ea typeface="楷体" pitchFamily="49" charset="-122"/>
                <a:cs typeface="Consolas" pitchFamily="49" charset="0"/>
              </a:rPr>
              <a:t>0</a:t>
            </a:r>
            <a:r>
              <a:rPr lang="zh-CN" altLang="en-US" sz="1400" dirty="0">
                <a:solidFill>
                  <a:srgbClr val="00B0F0"/>
                </a:solidFill>
                <a:latin typeface="Consolas" pitchFamily="49" charset="0"/>
                <a:ea typeface="楷体" pitchFamily="49" charset="-122"/>
                <a:cs typeface="Consolas" pitchFamily="49" charset="0"/>
              </a:rPr>
              <a:t>（即头结点的序号为</a:t>
            </a:r>
            <a:r>
              <a:rPr lang="en-US" altLang="zh-CN" sz="1400" dirty="0">
                <a:solidFill>
                  <a:srgbClr val="00B0F0"/>
                </a:solidFill>
                <a:latin typeface="Consolas" pitchFamily="49" charset="0"/>
                <a:ea typeface="楷体" pitchFamily="49" charset="-122"/>
                <a:cs typeface="Consolas" pitchFamily="49" charset="0"/>
              </a:rPr>
              <a:t>0</a:t>
            </a:r>
            <a:r>
              <a:rPr lang="zh-CN" altLang="en-US" sz="1400" dirty="0">
                <a:solidFill>
                  <a:srgbClr val="00B0F0"/>
                </a:solidFill>
                <a:latin typeface="Consolas" pitchFamily="49" charset="0"/>
                <a:ea typeface="楷体" pitchFamily="49" charset="-122"/>
                <a:cs typeface="Consolas" pitchFamily="49" charset="0"/>
              </a:rPr>
              <a:t>）</a:t>
            </a:r>
            <a:endParaRPr lang="en-US" altLang="zh-CN" sz="1400" dirty="0">
              <a:solidFill>
                <a:srgbClr val="00B0F0"/>
              </a:solidFill>
              <a:latin typeface="Consolas" pitchFamily="49" charset="0"/>
              <a:ea typeface="楷体" pitchFamily="49" charset="-122"/>
              <a:cs typeface="Consolas" pitchFamily="49" charset="0"/>
            </a:endParaRPr>
          </a:p>
          <a:p>
            <a:pPr>
              <a:lnSpc>
                <a:spcPts val="1500"/>
              </a:lnSpc>
            </a:pPr>
            <a:r>
              <a:rPr lang="en-US" altLang="zh-CN" sz="1400" dirty="0">
                <a:solidFill>
                  <a:srgbClr val="0000FF"/>
                </a:solidFill>
                <a:latin typeface="Consolas" pitchFamily="49" charset="0"/>
                <a:ea typeface="楷体" pitchFamily="49" charset="-122"/>
                <a:cs typeface="Consolas" pitchFamily="49" charset="0"/>
              </a:rPr>
              <a:t>    </a:t>
            </a:r>
            <a:r>
              <a:rPr lang="en-US" altLang="zh-CN" sz="1400" dirty="0">
                <a:solidFill>
                  <a:srgbClr val="0000FF"/>
                </a:solidFill>
                <a:latin typeface="Consolas" pitchFamily="49" charset="0"/>
                <a:ea typeface="仿宋" pitchFamily="49" charset="-122"/>
                <a:cs typeface="Consolas" pitchFamily="49" charset="0"/>
              </a:rPr>
              <a:t>while (p-&gt;next!=NULL)</a:t>
            </a:r>
          </a:p>
          <a:p>
            <a:pPr>
              <a:lnSpc>
                <a:spcPts val="1500"/>
              </a:lnSpc>
            </a:pPr>
            <a:r>
              <a:rPr lang="en-US" altLang="zh-CN" sz="1400" dirty="0">
                <a:solidFill>
                  <a:srgbClr val="0000FF"/>
                </a:solidFill>
                <a:latin typeface="Consolas" pitchFamily="49" charset="0"/>
                <a:ea typeface="仿宋" pitchFamily="49" charset="-122"/>
                <a:cs typeface="Consolas" pitchFamily="49" charset="0"/>
              </a:rPr>
              <a:t>    {	n++;</a:t>
            </a:r>
          </a:p>
          <a:p>
            <a:pPr>
              <a:lnSpc>
                <a:spcPts val="1500"/>
              </a:lnSpc>
            </a:pPr>
            <a:r>
              <a:rPr lang="en-US" altLang="zh-CN" sz="1400" dirty="0">
                <a:solidFill>
                  <a:srgbClr val="0000FF"/>
                </a:solidFill>
                <a:latin typeface="Consolas" pitchFamily="49" charset="0"/>
                <a:ea typeface="仿宋" pitchFamily="49" charset="-122"/>
                <a:cs typeface="Consolas" pitchFamily="49" charset="0"/>
              </a:rPr>
              <a:t>	p=p-&gt;next;</a:t>
            </a:r>
          </a:p>
          <a:p>
            <a:pPr>
              <a:lnSpc>
                <a:spcPts val="1500"/>
              </a:lnSpc>
            </a:pPr>
            <a:r>
              <a:rPr lang="en-US" altLang="zh-CN" sz="1400" dirty="0">
                <a:solidFill>
                  <a:srgbClr val="0000FF"/>
                </a:solidFill>
                <a:latin typeface="Consolas" pitchFamily="49" charset="0"/>
                <a:ea typeface="仿宋" pitchFamily="49" charset="-122"/>
                <a:cs typeface="Consolas" pitchFamily="49" charset="0"/>
              </a:rPr>
              <a:t>    }</a:t>
            </a:r>
          </a:p>
          <a:p>
            <a:pPr>
              <a:lnSpc>
                <a:spcPts val="1500"/>
              </a:lnSpc>
            </a:pPr>
            <a:r>
              <a:rPr lang="en-US" altLang="zh-CN" sz="1400" dirty="0">
                <a:solidFill>
                  <a:srgbClr val="0000FF"/>
                </a:solidFill>
                <a:latin typeface="Consolas" pitchFamily="49" charset="0"/>
                <a:ea typeface="仿宋" pitchFamily="49" charset="-122"/>
                <a:cs typeface="Consolas" pitchFamily="49" charset="0"/>
              </a:rPr>
              <a:t>    return(n);		</a:t>
            </a:r>
            <a:r>
              <a:rPr lang="en-US" altLang="zh-CN" sz="1400" dirty="0">
                <a:solidFill>
                  <a:srgbClr val="00B0F0"/>
                </a:solidFill>
                <a:latin typeface="Consolas" pitchFamily="49" charset="0"/>
                <a:ea typeface="仿宋" pitchFamily="49" charset="-122"/>
                <a:cs typeface="Consolas" pitchFamily="49" charset="0"/>
              </a:rPr>
              <a:t>//</a:t>
            </a:r>
            <a:r>
              <a:rPr lang="zh-CN" altLang="en-US" sz="1400" dirty="0">
                <a:solidFill>
                  <a:srgbClr val="00B0F0"/>
                </a:solidFill>
                <a:latin typeface="Consolas" pitchFamily="49" charset="0"/>
                <a:ea typeface="仿宋" pitchFamily="49" charset="-122"/>
                <a:cs typeface="Consolas" pitchFamily="49" charset="0"/>
              </a:rPr>
              <a:t>循环结束，</a:t>
            </a:r>
            <a:r>
              <a:rPr lang="en-US" altLang="zh-CN" sz="1400" dirty="0">
                <a:solidFill>
                  <a:srgbClr val="00B0F0"/>
                </a:solidFill>
                <a:latin typeface="Consolas" pitchFamily="49" charset="0"/>
                <a:ea typeface="仿宋" pitchFamily="49" charset="-122"/>
                <a:cs typeface="Consolas" pitchFamily="49" charset="0"/>
              </a:rPr>
              <a:t>p</a:t>
            </a:r>
            <a:r>
              <a:rPr lang="zh-CN" altLang="en-US" sz="1400" dirty="0">
                <a:solidFill>
                  <a:srgbClr val="00B0F0"/>
                </a:solidFill>
                <a:latin typeface="Consolas" pitchFamily="49" charset="0"/>
                <a:ea typeface="仿宋" pitchFamily="49" charset="-122"/>
                <a:cs typeface="Consolas" pitchFamily="49" charset="0"/>
              </a:rPr>
              <a:t>指向尾结点，其序号</a:t>
            </a:r>
            <a:r>
              <a:rPr lang="en-US" altLang="zh-CN" sz="1400" dirty="0">
                <a:solidFill>
                  <a:srgbClr val="00B0F0"/>
                </a:solidFill>
                <a:latin typeface="Consolas" pitchFamily="49" charset="0"/>
                <a:ea typeface="仿宋" pitchFamily="49" charset="-122"/>
                <a:cs typeface="Consolas" pitchFamily="49" charset="0"/>
              </a:rPr>
              <a:t>n</a:t>
            </a:r>
            <a:r>
              <a:rPr lang="zh-CN" altLang="en-US" sz="1400" dirty="0">
                <a:solidFill>
                  <a:srgbClr val="00B0F0"/>
                </a:solidFill>
                <a:latin typeface="Consolas" pitchFamily="49" charset="0"/>
                <a:ea typeface="仿宋" pitchFamily="49" charset="-122"/>
                <a:cs typeface="Consolas" pitchFamily="49" charset="0"/>
              </a:rPr>
              <a:t>为结点个数</a:t>
            </a:r>
          </a:p>
          <a:p>
            <a:pPr>
              <a:lnSpc>
                <a:spcPts val="1500"/>
              </a:lnSpc>
            </a:pPr>
            <a:r>
              <a:rPr lang="en-US" altLang="zh-CN" sz="1400" dirty="0">
                <a:solidFill>
                  <a:srgbClr val="0000FF"/>
                </a:solidFill>
                <a:latin typeface="Consolas" pitchFamily="49" charset="0"/>
                <a:ea typeface="仿宋" pitchFamily="49" charset="-122"/>
                <a:cs typeface="Consolas" pitchFamily="49" charset="0"/>
              </a:rPr>
              <a:t>}</a:t>
            </a:r>
            <a:endParaRPr lang="en-US" altLang="zh-CN" sz="1400" dirty="0">
              <a:solidFill>
                <a:srgbClr val="0000FF"/>
              </a:solidFill>
              <a:latin typeface="Consolas" pitchFamily="49" charset="0"/>
              <a:ea typeface="楷体" pitchFamily="49" charset="-122"/>
              <a:cs typeface="Consolas" pitchFamily="49" charset="0"/>
            </a:endParaRPr>
          </a:p>
        </p:txBody>
      </p:sp>
      <p:sp>
        <p:nvSpPr>
          <p:cNvPr id="33" name="矩形 32">
            <a:extLst>
              <a:ext uri="{FF2B5EF4-FFF2-40B4-BE49-F238E27FC236}">
                <a16:creationId xmlns:a16="http://schemas.microsoft.com/office/drawing/2014/main" id="{DCA55379-8E50-45D9-A0A1-623C7B58352A}"/>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674176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直接连接符 15"/>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6" name="Rectangle 5"/>
          <p:cNvSpPr>
            <a:spLocks noChangeArrowheads="1"/>
          </p:cNvSpPr>
          <p:nvPr/>
        </p:nvSpPr>
        <p:spPr bwMode="auto">
          <a:xfrm>
            <a:off x="2124453" y="4396717"/>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7" name="Line 6"/>
          <p:cNvSpPr>
            <a:spLocks noChangeShapeType="1"/>
          </p:cNvSpPr>
          <p:nvPr/>
        </p:nvSpPr>
        <p:spPr bwMode="auto">
          <a:xfrm>
            <a:off x="2657853" y="4396717"/>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Rectangle 25"/>
          <p:cNvSpPr>
            <a:spLocks noChangeArrowheads="1"/>
          </p:cNvSpPr>
          <p:nvPr/>
        </p:nvSpPr>
        <p:spPr bwMode="auto">
          <a:xfrm>
            <a:off x="4288338" y="4470682"/>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99" name="Rectangle 36"/>
          <p:cNvSpPr>
            <a:spLocks noChangeArrowheads="1"/>
          </p:cNvSpPr>
          <p:nvPr/>
        </p:nvSpPr>
        <p:spPr bwMode="auto">
          <a:xfrm>
            <a:off x="7422487" y="4492684"/>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00" name="Line 29"/>
          <p:cNvSpPr>
            <a:spLocks noChangeShapeType="1"/>
          </p:cNvSpPr>
          <p:nvPr/>
        </p:nvSpPr>
        <p:spPr bwMode="auto">
          <a:xfrm>
            <a:off x="571975" y="464838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 name="Rectangle 5"/>
          <p:cNvSpPr>
            <a:spLocks noChangeArrowheads="1"/>
          </p:cNvSpPr>
          <p:nvPr/>
        </p:nvSpPr>
        <p:spPr bwMode="auto">
          <a:xfrm>
            <a:off x="3300110" y="440209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p:cNvSpPr>
            <a:spLocks noChangeShapeType="1"/>
          </p:cNvSpPr>
          <p:nvPr/>
        </p:nvSpPr>
        <p:spPr bwMode="auto">
          <a:xfrm>
            <a:off x="3833510" y="440209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29"/>
          <p:cNvSpPr>
            <a:spLocks noChangeShapeType="1"/>
          </p:cNvSpPr>
          <p:nvPr/>
        </p:nvSpPr>
        <p:spPr bwMode="auto">
          <a:xfrm>
            <a:off x="2919110" y="465626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 name="Rectangle 5"/>
          <p:cNvSpPr>
            <a:spLocks noChangeArrowheads="1"/>
          </p:cNvSpPr>
          <p:nvPr/>
        </p:nvSpPr>
        <p:spPr bwMode="auto">
          <a:xfrm>
            <a:off x="4901621" y="4418719"/>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105" name="Line 6"/>
          <p:cNvSpPr>
            <a:spLocks noChangeShapeType="1"/>
          </p:cNvSpPr>
          <p:nvPr/>
        </p:nvSpPr>
        <p:spPr bwMode="auto">
          <a:xfrm>
            <a:off x="5638194" y="4413343"/>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 name="Line 29"/>
          <p:cNvSpPr>
            <a:spLocks noChangeShapeType="1"/>
          </p:cNvSpPr>
          <p:nvPr/>
        </p:nvSpPr>
        <p:spPr bwMode="auto">
          <a:xfrm>
            <a:off x="4700629" y="4647045"/>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 name="Line 29"/>
          <p:cNvSpPr>
            <a:spLocks noChangeShapeType="1"/>
          </p:cNvSpPr>
          <p:nvPr/>
        </p:nvSpPr>
        <p:spPr bwMode="auto">
          <a:xfrm>
            <a:off x="4024010" y="4653577"/>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 name="Rectangle 5"/>
          <p:cNvSpPr>
            <a:spLocks noChangeArrowheads="1"/>
          </p:cNvSpPr>
          <p:nvPr/>
        </p:nvSpPr>
        <p:spPr bwMode="auto">
          <a:xfrm>
            <a:off x="6294380" y="443054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09" name="Line 6"/>
          <p:cNvSpPr>
            <a:spLocks noChangeShapeType="1"/>
          </p:cNvSpPr>
          <p:nvPr/>
        </p:nvSpPr>
        <p:spPr bwMode="auto">
          <a:xfrm>
            <a:off x="6827780" y="443054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 name="Line 29"/>
          <p:cNvSpPr>
            <a:spLocks noChangeShapeType="1"/>
          </p:cNvSpPr>
          <p:nvPr/>
        </p:nvSpPr>
        <p:spPr bwMode="auto">
          <a:xfrm>
            <a:off x="5913380" y="468472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 name="Line 29"/>
          <p:cNvSpPr>
            <a:spLocks noChangeShapeType="1"/>
          </p:cNvSpPr>
          <p:nvPr/>
        </p:nvSpPr>
        <p:spPr bwMode="auto">
          <a:xfrm>
            <a:off x="7059088" y="4685620"/>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 name="Rectangle 5"/>
          <p:cNvSpPr>
            <a:spLocks noChangeArrowheads="1"/>
          </p:cNvSpPr>
          <p:nvPr/>
        </p:nvSpPr>
        <p:spPr bwMode="auto">
          <a:xfrm>
            <a:off x="8138196" y="444568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113" name="Line 6"/>
          <p:cNvSpPr>
            <a:spLocks noChangeShapeType="1"/>
          </p:cNvSpPr>
          <p:nvPr/>
        </p:nvSpPr>
        <p:spPr bwMode="auto">
          <a:xfrm>
            <a:off x="8697723" y="4445683"/>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 name="Line 29"/>
          <p:cNvSpPr>
            <a:spLocks noChangeShapeType="1"/>
          </p:cNvSpPr>
          <p:nvPr/>
        </p:nvSpPr>
        <p:spPr bwMode="auto">
          <a:xfrm>
            <a:off x="7757196" y="4693325"/>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 name="矩形 114"/>
          <p:cNvSpPr/>
          <p:nvPr/>
        </p:nvSpPr>
        <p:spPr>
          <a:xfrm>
            <a:off x="202964" y="4438389"/>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116" name="Rectangle 5"/>
          <p:cNvSpPr>
            <a:spLocks noChangeArrowheads="1"/>
          </p:cNvSpPr>
          <p:nvPr/>
        </p:nvSpPr>
        <p:spPr bwMode="auto">
          <a:xfrm>
            <a:off x="963261" y="4396717"/>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17" name="Line 29"/>
          <p:cNvSpPr>
            <a:spLocks noChangeShapeType="1"/>
          </p:cNvSpPr>
          <p:nvPr/>
        </p:nvSpPr>
        <p:spPr bwMode="auto">
          <a:xfrm>
            <a:off x="1757918" y="465626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 name="Line 6"/>
          <p:cNvSpPr>
            <a:spLocks noChangeShapeType="1"/>
          </p:cNvSpPr>
          <p:nvPr/>
        </p:nvSpPr>
        <p:spPr bwMode="auto">
          <a:xfrm>
            <a:off x="1517031" y="4408762"/>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 name="Rectangle 55"/>
          <p:cNvSpPr>
            <a:spLocks noChangeArrowheads="1"/>
          </p:cNvSpPr>
          <p:nvPr/>
        </p:nvSpPr>
        <p:spPr bwMode="auto">
          <a:xfrm>
            <a:off x="1432283" y="3939902"/>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121" name="Line 29"/>
          <p:cNvSpPr>
            <a:spLocks noChangeShapeType="1"/>
          </p:cNvSpPr>
          <p:nvPr/>
        </p:nvSpPr>
        <p:spPr bwMode="auto">
          <a:xfrm>
            <a:off x="1757918" y="4178938"/>
            <a:ext cx="384693" cy="2286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 name="AutoShape 30"/>
          <p:cNvSpPr>
            <a:spLocks noChangeArrowheads="1"/>
          </p:cNvSpPr>
          <p:nvPr/>
        </p:nvSpPr>
        <p:spPr bwMode="auto">
          <a:xfrm>
            <a:off x="2079224" y="4155926"/>
            <a:ext cx="6337440" cy="228600"/>
          </a:xfrm>
          <a:prstGeom prst="rightArrow">
            <a:avLst>
              <a:gd name="adj1" fmla="val 50000"/>
              <a:gd name="adj2" fmla="val 56250"/>
            </a:avLst>
          </a:prstGeom>
          <a:solidFill>
            <a:srgbClr val="FFCC00"/>
          </a:solidFill>
          <a:ln w="6350">
            <a:solidFill>
              <a:schemeClr val="tx1"/>
            </a:solidFill>
            <a:miter lim="800000"/>
            <a:headEnd/>
            <a:tailEnd/>
          </a:ln>
        </p:spPr>
        <p:txBody>
          <a:bodyPr wrap="none" anchor="ctr"/>
          <a:lstStyle/>
          <a:p>
            <a:endParaRPr lang="zh-CN" altLang="en-US"/>
          </a:p>
        </p:txBody>
      </p:sp>
      <p:sp>
        <p:nvSpPr>
          <p:cNvPr id="2" name="Rectangle 2">
            <a:extLst>
              <a:ext uri="{FF2B5EF4-FFF2-40B4-BE49-F238E27FC236}">
                <a16:creationId xmlns:a16="http://schemas.microsoft.com/office/drawing/2014/main" id="{529EC834-21AD-662E-BE29-56E032CDEE13}"/>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7" name="矩形 6">
            <a:extLst>
              <a:ext uri="{FF2B5EF4-FFF2-40B4-BE49-F238E27FC236}">
                <a16:creationId xmlns:a16="http://schemas.microsoft.com/office/drawing/2014/main" id="{E900EB31-7807-4BB7-37D0-FB9CAC71DF12}"/>
              </a:ext>
            </a:extLst>
          </p:cNvPr>
          <p:cNvSpPr/>
          <p:nvPr/>
        </p:nvSpPr>
        <p:spPr>
          <a:xfrm>
            <a:off x="1053170" y="1513985"/>
            <a:ext cx="3374814"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⑤</a:t>
            </a:r>
            <a:r>
              <a:rPr lang="zh-CN" altLang="en-US" sz="2000" dirty="0">
                <a:latin typeface="微软雅黑" pitchFamily="34" charset="-122"/>
                <a:ea typeface="微软雅黑" pitchFamily="34" charset="-122"/>
                <a:cs typeface="经典粗黑简" pitchFamily="49" charset="-122"/>
              </a:rPr>
              <a:t>输出单链表（遍历单链表）</a:t>
            </a:r>
          </a:p>
        </p:txBody>
      </p:sp>
      <p:sp>
        <p:nvSpPr>
          <p:cNvPr id="8" name="Text Box 3">
            <a:extLst>
              <a:ext uri="{FF2B5EF4-FFF2-40B4-BE49-F238E27FC236}">
                <a16:creationId xmlns:a16="http://schemas.microsoft.com/office/drawing/2014/main" id="{AB95C91C-CDC8-B28B-1DDE-72CEBCD43207}"/>
              </a:ext>
            </a:extLst>
          </p:cNvPr>
          <p:cNvSpPr txBox="1">
            <a:spLocks noChangeArrowheads="1"/>
          </p:cNvSpPr>
          <p:nvPr/>
        </p:nvSpPr>
        <p:spPr bwMode="auto">
          <a:xfrm>
            <a:off x="1006475" y="1870068"/>
            <a:ext cx="7410189" cy="2295601"/>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44000" tIns="108000" rIns="144000" bIns="108000">
            <a:spAutoFit/>
          </a:bodyPr>
          <a:lstStyle/>
          <a:p>
            <a:pPr algn="l">
              <a:lnSpc>
                <a:spcPts val="1800"/>
              </a:lnSpc>
            </a:pPr>
            <a:r>
              <a:rPr lang="en-US" altLang="zh-CN" sz="1600" dirty="0">
                <a:solidFill>
                  <a:srgbClr val="0000FF"/>
                </a:solidFill>
                <a:latin typeface="Consolas" pitchFamily="49" charset="0"/>
                <a:ea typeface="仿宋" pitchFamily="49" charset="-122"/>
                <a:cs typeface="Consolas" pitchFamily="49" charset="0"/>
              </a:rPr>
              <a:t>void </a:t>
            </a:r>
            <a:r>
              <a:rPr lang="en-US" altLang="zh-CN" sz="1600" dirty="0" err="1">
                <a:solidFill>
                  <a:srgbClr val="FF33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DispList</a:t>
            </a:r>
            <a:r>
              <a:rPr lang="en-US" altLang="zh-CN" sz="1600" dirty="0">
                <a:solidFill>
                  <a:srgbClr val="0000FF"/>
                </a:solidFill>
                <a:latin typeface="Consolas" pitchFamily="49" charset="0"/>
                <a:ea typeface="仿宋" pitchFamily="49" charset="-122"/>
                <a:cs typeface="Consolas" pitchFamily="49" charset="0"/>
              </a:rPr>
              <a:t>(</a:t>
            </a:r>
            <a:r>
              <a:rPr lang="en-US" altLang="zh-CN" sz="1600" dirty="0" err="1">
                <a:solidFill>
                  <a:srgbClr val="0000FF"/>
                </a:solidFill>
                <a:latin typeface="Consolas" pitchFamily="49" charset="0"/>
                <a:ea typeface="仿宋" pitchFamily="49" charset="-122"/>
                <a:cs typeface="Consolas" pitchFamily="49" charset="0"/>
              </a:rPr>
              <a:t>LinkNode</a:t>
            </a:r>
            <a:r>
              <a:rPr lang="en-US" altLang="zh-CN" sz="1600" dirty="0">
                <a:solidFill>
                  <a:srgbClr val="0000FF"/>
                </a:solidFill>
                <a:latin typeface="Consolas" pitchFamily="49" charset="0"/>
                <a:ea typeface="仿宋" pitchFamily="49" charset="-122"/>
                <a:cs typeface="Consolas" pitchFamily="49" charset="0"/>
              </a:rPr>
              <a:t> *L)</a:t>
            </a:r>
          </a:p>
          <a:p>
            <a:pPr algn="l">
              <a:lnSpc>
                <a:spcPts val="1800"/>
              </a:lnSpc>
            </a:pPr>
            <a:r>
              <a:rPr lang="en-US" altLang="zh-CN" sz="1600" dirty="0">
                <a:solidFill>
                  <a:srgbClr val="0000FF"/>
                </a:solidFill>
                <a:latin typeface="Consolas" pitchFamily="49" charset="0"/>
                <a:ea typeface="仿宋" pitchFamily="49" charset="-122"/>
                <a:cs typeface="Consolas" pitchFamily="49" charset="0"/>
              </a:rPr>
              <a:t>{</a:t>
            </a:r>
          </a:p>
          <a:p>
            <a:pPr algn="l">
              <a:lnSpc>
                <a:spcPts val="1800"/>
              </a:lnSpc>
            </a:pPr>
            <a:r>
              <a:rPr lang="en-US" altLang="zh-CN" sz="1600" dirty="0">
                <a:solidFill>
                  <a:srgbClr val="0000FF"/>
                </a:solidFill>
                <a:latin typeface="Consolas" pitchFamily="49" charset="0"/>
                <a:ea typeface="仿宋" pitchFamily="49" charset="-122"/>
                <a:cs typeface="Consolas" pitchFamily="49" charset="0"/>
              </a:rPr>
              <a:t>   </a:t>
            </a:r>
            <a:r>
              <a:rPr lang="en-US" altLang="zh-CN" sz="1600" dirty="0" err="1">
                <a:solidFill>
                  <a:srgbClr val="0000FF"/>
                </a:solidFill>
                <a:latin typeface="Consolas" pitchFamily="49" charset="0"/>
                <a:ea typeface="仿宋" pitchFamily="49" charset="-122"/>
                <a:cs typeface="Consolas" pitchFamily="49" charset="0"/>
              </a:rPr>
              <a:t>LinkNode</a:t>
            </a:r>
            <a:r>
              <a:rPr lang="en-US" altLang="zh-CN" sz="1600" dirty="0">
                <a:solidFill>
                  <a:srgbClr val="0000FF"/>
                </a:solidFill>
                <a:latin typeface="Consolas" pitchFamily="49" charset="0"/>
                <a:ea typeface="仿宋" pitchFamily="49" charset="-122"/>
                <a:cs typeface="Consolas" pitchFamily="49" charset="0"/>
              </a:rPr>
              <a:t> *p=L-&gt;next;	</a:t>
            </a:r>
            <a:r>
              <a:rPr lang="en-US" altLang="zh-CN" sz="1600" dirty="0">
                <a:solidFill>
                  <a:srgbClr val="00B0F0"/>
                </a:solidFill>
                <a:latin typeface="Consolas" pitchFamily="49" charset="0"/>
                <a:ea typeface="仿宋" pitchFamily="49" charset="-122"/>
                <a:cs typeface="Consolas" pitchFamily="49" charset="0"/>
              </a:rPr>
              <a:t>//p</a:t>
            </a:r>
            <a:r>
              <a:rPr lang="zh-CN" altLang="en-US" sz="1600" dirty="0">
                <a:solidFill>
                  <a:srgbClr val="00B0F0"/>
                </a:solidFill>
                <a:latin typeface="Consolas" pitchFamily="49" charset="0"/>
                <a:ea typeface="仿宋" pitchFamily="49" charset="-122"/>
                <a:cs typeface="Consolas" pitchFamily="49" charset="0"/>
              </a:rPr>
              <a:t>指向开始结点</a:t>
            </a:r>
          </a:p>
          <a:p>
            <a:pPr algn="l">
              <a:lnSpc>
                <a:spcPts val="1800"/>
              </a:lnSpc>
            </a:pPr>
            <a:r>
              <a:rPr lang="zh-CN" altLang="en-US" sz="1600" dirty="0">
                <a:solidFill>
                  <a:srgbClr val="0000FF"/>
                </a:solidFill>
                <a:latin typeface="Consolas" pitchFamily="49" charset="0"/>
                <a:ea typeface="仿宋" pitchFamily="49" charset="-122"/>
                <a:cs typeface="Consolas" pitchFamily="49" charset="0"/>
              </a:rPr>
              <a:t>   </a:t>
            </a:r>
            <a:r>
              <a:rPr lang="en-US" altLang="zh-CN" sz="1600" dirty="0">
                <a:solidFill>
                  <a:srgbClr val="0000FF"/>
                </a:solidFill>
                <a:latin typeface="Consolas" pitchFamily="49" charset="0"/>
                <a:ea typeface="仿宋" pitchFamily="49" charset="-122"/>
                <a:cs typeface="Consolas" pitchFamily="49" charset="0"/>
              </a:rPr>
              <a:t>while (p!=NULL)		</a:t>
            </a:r>
            <a:r>
              <a:rPr lang="en-US" altLang="zh-CN" sz="1600" dirty="0">
                <a:solidFill>
                  <a:srgbClr val="00B0F0"/>
                </a:solidFill>
                <a:latin typeface="Consolas" pitchFamily="49" charset="0"/>
                <a:ea typeface="仿宋" pitchFamily="49" charset="-122"/>
                <a:cs typeface="Consolas" pitchFamily="49" charset="0"/>
              </a:rPr>
              <a:t>//p</a:t>
            </a:r>
            <a:r>
              <a:rPr lang="zh-CN" altLang="en-US" sz="1600" dirty="0">
                <a:solidFill>
                  <a:srgbClr val="00B0F0"/>
                </a:solidFill>
                <a:latin typeface="Consolas" pitchFamily="49" charset="0"/>
                <a:ea typeface="仿宋" pitchFamily="49" charset="-122"/>
                <a:cs typeface="Consolas" pitchFamily="49" charset="0"/>
              </a:rPr>
              <a:t>不为</a:t>
            </a:r>
            <a:r>
              <a:rPr lang="en-US" altLang="zh-CN" sz="1600" dirty="0">
                <a:solidFill>
                  <a:srgbClr val="00B0F0"/>
                </a:solidFill>
                <a:latin typeface="Consolas" pitchFamily="49" charset="0"/>
                <a:ea typeface="仿宋" pitchFamily="49" charset="-122"/>
                <a:cs typeface="Consolas" pitchFamily="49" charset="0"/>
              </a:rPr>
              <a:t>NULL</a:t>
            </a:r>
            <a:r>
              <a:rPr lang="zh-CN" altLang="en-US" sz="1600" dirty="0">
                <a:solidFill>
                  <a:srgbClr val="00B0F0"/>
                </a:solidFill>
                <a:latin typeface="Consolas" pitchFamily="49" charset="0"/>
                <a:ea typeface="仿宋" pitchFamily="49" charset="-122"/>
                <a:cs typeface="Consolas" pitchFamily="49" charset="0"/>
              </a:rPr>
              <a:t>，输出</a:t>
            </a:r>
            <a:r>
              <a:rPr lang="en-US" altLang="zh-CN" sz="1600" dirty="0">
                <a:solidFill>
                  <a:srgbClr val="00B0F0"/>
                </a:solidFill>
                <a:latin typeface="Consolas" pitchFamily="49" charset="0"/>
                <a:ea typeface="仿宋" pitchFamily="49" charset="-122"/>
                <a:cs typeface="Consolas" pitchFamily="49" charset="0"/>
              </a:rPr>
              <a:t>p</a:t>
            </a:r>
            <a:r>
              <a:rPr lang="zh-CN" altLang="en-US" sz="1600" dirty="0">
                <a:solidFill>
                  <a:srgbClr val="00B0F0"/>
                </a:solidFill>
                <a:latin typeface="Consolas" pitchFamily="49" charset="0"/>
                <a:ea typeface="仿宋" pitchFamily="49" charset="-122"/>
                <a:cs typeface="Consolas" pitchFamily="49" charset="0"/>
              </a:rPr>
              <a:t>结点的</a:t>
            </a:r>
            <a:r>
              <a:rPr lang="en-US" altLang="zh-CN" sz="1600" dirty="0">
                <a:solidFill>
                  <a:srgbClr val="00B0F0"/>
                </a:solidFill>
                <a:latin typeface="Consolas" pitchFamily="49" charset="0"/>
                <a:ea typeface="仿宋" pitchFamily="49" charset="-122"/>
                <a:cs typeface="Consolas" pitchFamily="49" charset="0"/>
              </a:rPr>
              <a:t>data</a:t>
            </a:r>
            <a:r>
              <a:rPr lang="zh-CN" altLang="en-US" sz="1600" dirty="0">
                <a:solidFill>
                  <a:srgbClr val="00B0F0"/>
                </a:solidFill>
                <a:latin typeface="Consolas" pitchFamily="49" charset="0"/>
                <a:ea typeface="仿宋" pitchFamily="49" charset="-122"/>
                <a:cs typeface="Consolas" pitchFamily="49" charset="0"/>
              </a:rPr>
              <a:t>域</a:t>
            </a:r>
          </a:p>
          <a:p>
            <a:pPr algn="l">
              <a:lnSpc>
                <a:spcPts val="1800"/>
              </a:lnSpc>
            </a:pPr>
            <a:r>
              <a:rPr lang="zh-CN" altLang="en-US" sz="1600" dirty="0">
                <a:solidFill>
                  <a:srgbClr val="0000FF"/>
                </a:solidFill>
                <a:latin typeface="Consolas" pitchFamily="49" charset="0"/>
                <a:ea typeface="仿宋" pitchFamily="49" charset="-122"/>
                <a:cs typeface="Consolas" pitchFamily="49" charset="0"/>
              </a:rPr>
              <a:t>   </a:t>
            </a:r>
            <a:r>
              <a:rPr lang="en-US" altLang="zh-CN" sz="1600" dirty="0">
                <a:solidFill>
                  <a:srgbClr val="0000FF"/>
                </a:solidFill>
                <a:latin typeface="Consolas" pitchFamily="49" charset="0"/>
                <a:ea typeface="仿宋" pitchFamily="49" charset="-122"/>
                <a:cs typeface="Consolas" pitchFamily="49" charset="0"/>
              </a:rPr>
              <a:t>{  </a:t>
            </a:r>
            <a:r>
              <a:rPr lang="en-US" altLang="zh-CN" sz="1600" dirty="0" err="1">
                <a:solidFill>
                  <a:srgbClr val="0000FF"/>
                </a:solidFill>
                <a:latin typeface="Consolas" pitchFamily="49" charset="0"/>
                <a:ea typeface="仿宋" pitchFamily="49" charset="-122"/>
                <a:cs typeface="Consolas" pitchFamily="49" charset="0"/>
              </a:rPr>
              <a:t>printf</a:t>
            </a:r>
            <a:r>
              <a:rPr lang="en-US" altLang="zh-CN" sz="1600" dirty="0">
                <a:solidFill>
                  <a:srgbClr val="0000FF"/>
                </a:solidFill>
                <a:latin typeface="Consolas" pitchFamily="49" charset="0"/>
                <a:ea typeface="仿宋" pitchFamily="49" charset="-122"/>
                <a:cs typeface="Consolas" pitchFamily="49" charset="0"/>
              </a:rPr>
              <a:t>("%d "</a:t>
            </a:r>
            <a:r>
              <a:rPr lang="zh-CN" altLang="en-US" sz="1600" dirty="0">
                <a:solidFill>
                  <a:srgbClr val="0000FF"/>
                </a:solidFill>
                <a:latin typeface="Consolas" pitchFamily="49" charset="0"/>
                <a:ea typeface="仿宋" pitchFamily="49" charset="-122"/>
                <a:cs typeface="Consolas" pitchFamily="49" charset="0"/>
              </a:rPr>
              <a:t>，</a:t>
            </a:r>
            <a:r>
              <a:rPr lang="en-US" altLang="zh-CN" sz="1600" dirty="0">
                <a:solidFill>
                  <a:srgbClr val="0000FF"/>
                </a:solidFill>
                <a:latin typeface="Consolas" pitchFamily="49" charset="0"/>
                <a:ea typeface="仿宋" pitchFamily="49" charset="-122"/>
                <a:cs typeface="Consolas" pitchFamily="49" charset="0"/>
              </a:rPr>
              <a:t>p-&gt;data);</a:t>
            </a:r>
          </a:p>
          <a:p>
            <a:pPr algn="l">
              <a:lnSpc>
                <a:spcPts val="1800"/>
              </a:lnSpc>
            </a:pPr>
            <a:r>
              <a:rPr lang="en-US" altLang="zh-CN" sz="1600" dirty="0">
                <a:solidFill>
                  <a:srgbClr val="0000FF"/>
                </a:solidFill>
                <a:latin typeface="Consolas" pitchFamily="49" charset="0"/>
                <a:ea typeface="仿宋" pitchFamily="49" charset="-122"/>
                <a:cs typeface="Consolas" pitchFamily="49" charset="0"/>
              </a:rPr>
              <a:t>      p=p-&gt;next;		</a:t>
            </a:r>
            <a:r>
              <a:rPr lang="en-US" altLang="zh-CN" sz="1600" dirty="0">
                <a:solidFill>
                  <a:srgbClr val="00B0F0"/>
                </a:solidFill>
                <a:latin typeface="Consolas" pitchFamily="49" charset="0"/>
                <a:ea typeface="仿宋" pitchFamily="49" charset="-122"/>
                <a:cs typeface="Consolas" pitchFamily="49" charset="0"/>
              </a:rPr>
              <a:t>//p</a:t>
            </a:r>
            <a:r>
              <a:rPr lang="zh-CN" altLang="en-US" sz="1600" dirty="0">
                <a:solidFill>
                  <a:srgbClr val="00B0F0"/>
                </a:solidFill>
                <a:latin typeface="Consolas" pitchFamily="49" charset="0"/>
                <a:ea typeface="仿宋" pitchFamily="49" charset="-122"/>
                <a:cs typeface="Consolas" pitchFamily="49" charset="0"/>
              </a:rPr>
              <a:t>移向下一个结点</a:t>
            </a:r>
          </a:p>
          <a:p>
            <a:pPr algn="l">
              <a:lnSpc>
                <a:spcPts val="1800"/>
              </a:lnSpc>
            </a:pPr>
            <a:r>
              <a:rPr lang="zh-CN" altLang="en-US" sz="1600" dirty="0">
                <a:solidFill>
                  <a:srgbClr val="0000FF"/>
                </a:solidFill>
                <a:latin typeface="Consolas" pitchFamily="49" charset="0"/>
                <a:ea typeface="仿宋" pitchFamily="49" charset="-122"/>
                <a:cs typeface="Consolas" pitchFamily="49" charset="0"/>
              </a:rPr>
              <a:t>   </a:t>
            </a:r>
            <a:r>
              <a:rPr lang="en-US" altLang="zh-CN" sz="1600" dirty="0">
                <a:solidFill>
                  <a:srgbClr val="0000FF"/>
                </a:solidFill>
                <a:latin typeface="Consolas" pitchFamily="49" charset="0"/>
                <a:ea typeface="仿宋" pitchFamily="49" charset="-122"/>
                <a:cs typeface="Consolas" pitchFamily="49" charset="0"/>
              </a:rPr>
              <a:t>}</a:t>
            </a:r>
          </a:p>
          <a:p>
            <a:pPr algn="l">
              <a:lnSpc>
                <a:spcPts val="1800"/>
              </a:lnSpc>
            </a:pPr>
            <a:r>
              <a:rPr lang="en-US" altLang="zh-CN" sz="1600" dirty="0">
                <a:solidFill>
                  <a:srgbClr val="0000FF"/>
                </a:solidFill>
                <a:latin typeface="Consolas" pitchFamily="49" charset="0"/>
                <a:ea typeface="仿宋" pitchFamily="49" charset="-122"/>
                <a:cs typeface="Consolas" pitchFamily="49" charset="0"/>
              </a:rPr>
              <a:t>   </a:t>
            </a:r>
            <a:r>
              <a:rPr lang="en-US" altLang="zh-CN" sz="1600" dirty="0" err="1">
                <a:solidFill>
                  <a:srgbClr val="0000FF"/>
                </a:solidFill>
                <a:latin typeface="Consolas" pitchFamily="49" charset="0"/>
                <a:ea typeface="仿宋" pitchFamily="49" charset="-122"/>
                <a:cs typeface="Consolas" pitchFamily="49" charset="0"/>
              </a:rPr>
              <a:t>printf</a:t>
            </a:r>
            <a:r>
              <a:rPr lang="en-US" altLang="zh-CN" sz="1600" dirty="0">
                <a:solidFill>
                  <a:srgbClr val="0000FF"/>
                </a:solidFill>
                <a:latin typeface="Consolas" pitchFamily="49" charset="0"/>
                <a:ea typeface="仿宋" pitchFamily="49" charset="-122"/>
                <a:cs typeface="Consolas" pitchFamily="49" charset="0"/>
              </a:rPr>
              <a:t>("\n");</a:t>
            </a:r>
          </a:p>
          <a:p>
            <a:pPr algn="l">
              <a:lnSpc>
                <a:spcPts val="1800"/>
              </a:lnSpc>
            </a:pPr>
            <a:r>
              <a:rPr lang="en-US" altLang="zh-CN" sz="1600" dirty="0">
                <a:solidFill>
                  <a:srgbClr val="0000FF"/>
                </a:solidFill>
                <a:latin typeface="Consolas" pitchFamily="49" charset="0"/>
                <a:ea typeface="仿宋" pitchFamily="49" charset="-122"/>
                <a:cs typeface="Consolas" pitchFamily="49" charset="0"/>
              </a:rPr>
              <a:t>}</a:t>
            </a:r>
          </a:p>
        </p:txBody>
      </p:sp>
      <p:sp>
        <p:nvSpPr>
          <p:cNvPr id="33" name="矩形 32">
            <a:extLst>
              <a:ext uri="{FF2B5EF4-FFF2-40B4-BE49-F238E27FC236}">
                <a16:creationId xmlns:a16="http://schemas.microsoft.com/office/drawing/2014/main" id="{D4A639C2-0A56-4D49-B2CB-6E6D0EAC83A5}"/>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176474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7EDE7-DBC8-76A1-00BD-139BB75A69B9}"/>
            </a:ext>
          </a:extLst>
        </p:cNvPr>
        <p:cNvGrpSpPr/>
        <p:nvPr/>
      </p:nvGrpSpPr>
      <p:grpSpPr>
        <a:xfrm>
          <a:off x="0" y="0"/>
          <a:ext cx="0" cy="0"/>
          <a:chOff x="0" y="0"/>
          <a:chExt cx="0" cy="0"/>
        </a:xfrm>
      </p:grpSpPr>
      <p:cxnSp>
        <p:nvCxnSpPr>
          <p:cNvPr id="16" name="直接连接符 15">
            <a:extLst>
              <a:ext uri="{FF2B5EF4-FFF2-40B4-BE49-F238E27FC236}">
                <a16:creationId xmlns:a16="http://schemas.microsoft.com/office/drawing/2014/main" id="{E2235EBE-20CF-2611-68F3-58C6CA85D74E}"/>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6" name="Rectangle 5">
            <a:extLst>
              <a:ext uri="{FF2B5EF4-FFF2-40B4-BE49-F238E27FC236}">
                <a16:creationId xmlns:a16="http://schemas.microsoft.com/office/drawing/2014/main" id="{27B9D132-C099-1A30-E557-B486CF745E2A}"/>
              </a:ext>
            </a:extLst>
          </p:cNvPr>
          <p:cNvSpPr>
            <a:spLocks noChangeArrowheads="1"/>
          </p:cNvSpPr>
          <p:nvPr/>
        </p:nvSpPr>
        <p:spPr bwMode="auto">
          <a:xfrm>
            <a:off x="2124453" y="446872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7" name="Line 6">
            <a:extLst>
              <a:ext uri="{FF2B5EF4-FFF2-40B4-BE49-F238E27FC236}">
                <a16:creationId xmlns:a16="http://schemas.microsoft.com/office/drawing/2014/main" id="{88A1EA2E-281B-2715-2302-0277C8E0A789}"/>
              </a:ext>
            </a:extLst>
          </p:cNvPr>
          <p:cNvSpPr>
            <a:spLocks noChangeShapeType="1"/>
          </p:cNvSpPr>
          <p:nvPr/>
        </p:nvSpPr>
        <p:spPr bwMode="auto">
          <a:xfrm>
            <a:off x="2657853" y="446872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Rectangle 25">
            <a:extLst>
              <a:ext uri="{FF2B5EF4-FFF2-40B4-BE49-F238E27FC236}">
                <a16:creationId xmlns:a16="http://schemas.microsoft.com/office/drawing/2014/main" id="{A42F56D5-5688-AFC3-483F-F831022EB357}"/>
              </a:ext>
            </a:extLst>
          </p:cNvPr>
          <p:cNvSpPr>
            <a:spLocks noChangeArrowheads="1"/>
          </p:cNvSpPr>
          <p:nvPr/>
        </p:nvSpPr>
        <p:spPr bwMode="auto">
          <a:xfrm>
            <a:off x="4288338" y="454269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99" name="Rectangle 36">
            <a:extLst>
              <a:ext uri="{FF2B5EF4-FFF2-40B4-BE49-F238E27FC236}">
                <a16:creationId xmlns:a16="http://schemas.microsoft.com/office/drawing/2014/main" id="{34E384DD-AD69-007A-6E4A-91F8B77E2062}"/>
              </a:ext>
            </a:extLst>
          </p:cNvPr>
          <p:cNvSpPr>
            <a:spLocks noChangeArrowheads="1"/>
          </p:cNvSpPr>
          <p:nvPr/>
        </p:nvSpPr>
        <p:spPr bwMode="auto">
          <a:xfrm>
            <a:off x="7422487" y="4564692"/>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00" name="Line 29">
            <a:extLst>
              <a:ext uri="{FF2B5EF4-FFF2-40B4-BE49-F238E27FC236}">
                <a16:creationId xmlns:a16="http://schemas.microsoft.com/office/drawing/2014/main" id="{7BB64ADD-C9C9-9E07-21A2-9D00ECB8921A}"/>
              </a:ext>
            </a:extLst>
          </p:cNvPr>
          <p:cNvSpPr>
            <a:spLocks noChangeShapeType="1"/>
          </p:cNvSpPr>
          <p:nvPr/>
        </p:nvSpPr>
        <p:spPr bwMode="auto">
          <a:xfrm>
            <a:off x="571975" y="4720396"/>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 name="Rectangle 5">
            <a:extLst>
              <a:ext uri="{FF2B5EF4-FFF2-40B4-BE49-F238E27FC236}">
                <a16:creationId xmlns:a16="http://schemas.microsoft.com/office/drawing/2014/main" id="{3813C197-A68B-E252-3D9B-02BB82BA3416}"/>
              </a:ext>
            </a:extLst>
          </p:cNvPr>
          <p:cNvSpPr>
            <a:spLocks noChangeArrowheads="1"/>
          </p:cNvSpPr>
          <p:nvPr/>
        </p:nvSpPr>
        <p:spPr bwMode="auto">
          <a:xfrm>
            <a:off x="3300110" y="4474099"/>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0A41C224-4D38-A4CC-17F0-67DC731F064D}"/>
              </a:ext>
            </a:extLst>
          </p:cNvPr>
          <p:cNvSpPr>
            <a:spLocks noChangeShapeType="1"/>
          </p:cNvSpPr>
          <p:nvPr/>
        </p:nvSpPr>
        <p:spPr bwMode="auto">
          <a:xfrm>
            <a:off x="3833510" y="447409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29">
            <a:extLst>
              <a:ext uri="{FF2B5EF4-FFF2-40B4-BE49-F238E27FC236}">
                <a16:creationId xmlns:a16="http://schemas.microsoft.com/office/drawing/2014/main" id="{52C08109-2AD4-BC1E-A9D5-8C4E467A6958}"/>
              </a:ext>
            </a:extLst>
          </p:cNvPr>
          <p:cNvSpPr>
            <a:spLocks noChangeShapeType="1"/>
          </p:cNvSpPr>
          <p:nvPr/>
        </p:nvSpPr>
        <p:spPr bwMode="auto">
          <a:xfrm>
            <a:off x="2919110" y="4728272"/>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 name="Rectangle 5">
            <a:extLst>
              <a:ext uri="{FF2B5EF4-FFF2-40B4-BE49-F238E27FC236}">
                <a16:creationId xmlns:a16="http://schemas.microsoft.com/office/drawing/2014/main" id="{E998AFB6-726D-6E36-9616-25543D8FC1BB}"/>
              </a:ext>
            </a:extLst>
          </p:cNvPr>
          <p:cNvSpPr>
            <a:spLocks noChangeArrowheads="1"/>
          </p:cNvSpPr>
          <p:nvPr/>
        </p:nvSpPr>
        <p:spPr bwMode="auto">
          <a:xfrm>
            <a:off x="4901621" y="4490727"/>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105" name="Line 6">
            <a:extLst>
              <a:ext uri="{FF2B5EF4-FFF2-40B4-BE49-F238E27FC236}">
                <a16:creationId xmlns:a16="http://schemas.microsoft.com/office/drawing/2014/main" id="{A2AC5081-E27B-821C-3F7A-45793DF2D65A}"/>
              </a:ext>
            </a:extLst>
          </p:cNvPr>
          <p:cNvSpPr>
            <a:spLocks noChangeShapeType="1"/>
          </p:cNvSpPr>
          <p:nvPr/>
        </p:nvSpPr>
        <p:spPr bwMode="auto">
          <a:xfrm>
            <a:off x="5638194" y="4485351"/>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 name="Line 29">
            <a:extLst>
              <a:ext uri="{FF2B5EF4-FFF2-40B4-BE49-F238E27FC236}">
                <a16:creationId xmlns:a16="http://schemas.microsoft.com/office/drawing/2014/main" id="{F3E317F2-695E-7DDC-386C-5EC0824CCAF6}"/>
              </a:ext>
            </a:extLst>
          </p:cNvPr>
          <p:cNvSpPr>
            <a:spLocks noChangeShapeType="1"/>
          </p:cNvSpPr>
          <p:nvPr/>
        </p:nvSpPr>
        <p:spPr bwMode="auto">
          <a:xfrm>
            <a:off x="4700629" y="4719053"/>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 name="Line 29">
            <a:extLst>
              <a:ext uri="{FF2B5EF4-FFF2-40B4-BE49-F238E27FC236}">
                <a16:creationId xmlns:a16="http://schemas.microsoft.com/office/drawing/2014/main" id="{538282B5-7CB4-FF4B-979B-EEA724B8A083}"/>
              </a:ext>
            </a:extLst>
          </p:cNvPr>
          <p:cNvSpPr>
            <a:spLocks noChangeShapeType="1"/>
          </p:cNvSpPr>
          <p:nvPr/>
        </p:nvSpPr>
        <p:spPr bwMode="auto">
          <a:xfrm>
            <a:off x="4024010" y="4725585"/>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 name="Rectangle 5">
            <a:extLst>
              <a:ext uri="{FF2B5EF4-FFF2-40B4-BE49-F238E27FC236}">
                <a16:creationId xmlns:a16="http://schemas.microsoft.com/office/drawing/2014/main" id="{CF628AEB-330A-9AD7-8848-89F58F718948}"/>
              </a:ext>
            </a:extLst>
          </p:cNvPr>
          <p:cNvSpPr>
            <a:spLocks noChangeArrowheads="1"/>
          </p:cNvSpPr>
          <p:nvPr/>
        </p:nvSpPr>
        <p:spPr bwMode="auto">
          <a:xfrm>
            <a:off x="6294380" y="4502556"/>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09" name="Line 6">
            <a:extLst>
              <a:ext uri="{FF2B5EF4-FFF2-40B4-BE49-F238E27FC236}">
                <a16:creationId xmlns:a16="http://schemas.microsoft.com/office/drawing/2014/main" id="{827D8387-EFC1-5262-765D-F773E875F6C1}"/>
              </a:ext>
            </a:extLst>
          </p:cNvPr>
          <p:cNvSpPr>
            <a:spLocks noChangeShapeType="1"/>
          </p:cNvSpPr>
          <p:nvPr/>
        </p:nvSpPr>
        <p:spPr bwMode="auto">
          <a:xfrm>
            <a:off x="6827780" y="4502556"/>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 name="Line 29">
            <a:extLst>
              <a:ext uri="{FF2B5EF4-FFF2-40B4-BE49-F238E27FC236}">
                <a16:creationId xmlns:a16="http://schemas.microsoft.com/office/drawing/2014/main" id="{FF8B0654-346A-4897-0641-37F9A7C5C3A2}"/>
              </a:ext>
            </a:extLst>
          </p:cNvPr>
          <p:cNvSpPr>
            <a:spLocks noChangeShapeType="1"/>
          </p:cNvSpPr>
          <p:nvPr/>
        </p:nvSpPr>
        <p:spPr bwMode="auto">
          <a:xfrm>
            <a:off x="5913380" y="4756729"/>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 name="Line 29">
            <a:extLst>
              <a:ext uri="{FF2B5EF4-FFF2-40B4-BE49-F238E27FC236}">
                <a16:creationId xmlns:a16="http://schemas.microsoft.com/office/drawing/2014/main" id="{D97E3F99-32C1-363D-46B1-336AEA424DF1}"/>
              </a:ext>
            </a:extLst>
          </p:cNvPr>
          <p:cNvSpPr>
            <a:spLocks noChangeShapeType="1"/>
          </p:cNvSpPr>
          <p:nvPr/>
        </p:nvSpPr>
        <p:spPr bwMode="auto">
          <a:xfrm>
            <a:off x="7059088" y="4757628"/>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 name="Rectangle 5">
            <a:extLst>
              <a:ext uri="{FF2B5EF4-FFF2-40B4-BE49-F238E27FC236}">
                <a16:creationId xmlns:a16="http://schemas.microsoft.com/office/drawing/2014/main" id="{D8F75A00-46B8-E37A-DCC0-67BD7D2EDECF}"/>
              </a:ext>
            </a:extLst>
          </p:cNvPr>
          <p:cNvSpPr>
            <a:spLocks noChangeArrowheads="1"/>
          </p:cNvSpPr>
          <p:nvPr/>
        </p:nvSpPr>
        <p:spPr bwMode="auto">
          <a:xfrm>
            <a:off x="8138196" y="451769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113" name="Line 6">
            <a:extLst>
              <a:ext uri="{FF2B5EF4-FFF2-40B4-BE49-F238E27FC236}">
                <a16:creationId xmlns:a16="http://schemas.microsoft.com/office/drawing/2014/main" id="{E7A26E8A-BE6E-115A-72E4-7C22C191E6B5}"/>
              </a:ext>
            </a:extLst>
          </p:cNvPr>
          <p:cNvSpPr>
            <a:spLocks noChangeShapeType="1"/>
          </p:cNvSpPr>
          <p:nvPr/>
        </p:nvSpPr>
        <p:spPr bwMode="auto">
          <a:xfrm>
            <a:off x="8697723" y="451769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 name="Line 29">
            <a:extLst>
              <a:ext uri="{FF2B5EF4-FFF2-40B4-BE49-F238E27FC236}">
                <a16:creationId xmlns:a16="http://schemas.microsoft.com/office/drawing/2014/main" id="{76842496-20C8-B5CA-E8DA-ED6630510A56}"/>
              </a:ext>
            </a:extLst>
          </p:cNvPr>
          <p:cNvSpPr>
            <a:spLocks noChangeShapeType="1"/>
          </p:cNvSpPr>
          <p:nvPr/>
        </p:nvSpPr>
        <p:spPr bwMode="auto">
          <a:xfrm>
            <a:off x="7757196" y="4765333"/>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 name="矩形 114">
            <a:extLst>
              <a:ext uri="{FF2B5EF4-FFF2-40B4-BE49-F238E27FC236}">
                <a16:creationId xmlns:a16="http://schemas.microsoft.com/office/drawing/2014/main" id="{5D3D2661-032A-FEBF-8348-0121F0C02416}"/>
              </a:ext>
            </a:extLst>
          </p:cNvPr>
          <p:cNvSpPr/>
          <p:nvPr/>
        </p:nvSpPr>
        <p:spPr>
          <a:xfrm>
            <a:off x="202964" y="4510397"/>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116" name="Rectangle 5">
            <a:extLst>
              <a:ext uri="{FF2B5EF4-FFF2-40B4-BE49-F238E27FC236}">
                <a16:creationId xmlns:a16="http://schemas.microsoft.com/office/drawing/2014/main" id="{2D4E5A09-0A18-5D18-050F-6EDBFF5F19B2}"/>
              </a:ext>
            </a:extLst>
          </p:cNvPr>
          <p:cNvSpPr>
            <a:spLocks noChangeArrowheads="1"/>
          </p:cNvSpPr>
          <p:nvPr/>
        </p:nvSpPr>
        <p:spPr bwMode="auto">
          <a:xfrm>
            <a:off x="963261" y="4468725"/>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17" name="Line 29">
            <a:extLst>
              <a:ext uri="{FF2B5EF4-FFF2-40B4-BE49-F238E27FC236}">
                <a16:creationId xmlns:a16="http://schemas.microsoft.com/office/drawing/2014/main" id="{3ACC8558-3C41-FCC7-3B57-036EB5A5E066}"/>
              </a:ext>
            </a:extLst>
          </p:cNvPr>
          <p:cNvSpPr>
            <a:spLocks noChangeShapeType="1"/>
          </p:cNvSpPr>
          <p:nvPr/>
        </p:nvSpPr>
        <p:spPr bwMode="auto">
          <a:xfrm>
            <a:off x="1757918" y="4728272"/>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 name="Line 6">
            <a:extLst>
              <a:ext uri="{FF2B5EF4-FFF2-40B4-BE49-F238E27FC236}">
                <a16:creationId xmlns:a16="http://schemas.microsoft.com/office/drawing/2014/main" id="{77EC87D1-A4F9-472A-FE56-310B79DB262A}"/>
              </a:ext>
            </a:extLst>
          </p:cNvPr>
          <p:cNvSpPr>
            <a:spLocks noChangeShapeType="1"/>
          </p:cNvSpPr>
          <p:nvPr/>
        </p:nvSpPr>
        <p:spPr bwMode="auto">
          <a:xfrm>
            <a:off x="1517031" y="448077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 name="Rectangle 55">
            <a:extLst>
              <a:ext uri="{FF2B5EF4-FFF2-40B4-BE49-F238E27FC236}">
                <a16:creationId xmlns:a16="http://schemas.microsoft.com/office/drawing/2014/main" id="{0DF38564-4C79-0E9D-5675-6DC66CDD9CFE}"/>
              </a:ext>
            </a:extLst>
          </p:cNvPr>
          <p:cNvSpPr>
            <a:spLocks noChangeArrowheads="1"/>
          </p:cNvSpPr>
          <p:nvPr/>
        </p:nvSpPr>
        <p:spPr bwMode="auto">
          <a:xfrm>
            <a:off x="271320" y="401342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121" name="Line 29">
            <a:extLst>
              <a:ext uri="{FF2B5EF4-FFF2-40B4-BE49-F238E27FC236}">
                <a16:creationId xmlns:a16="http://schemas.microsoft.com/office/drawing/2014/main" id="{AA64D20E-C8BC-A75B-43EE-9A9D67A9CB1A}"/>
              </a:ext>
            </a:extLst>
          </p:cNvPr>
          <p:cNvSpPr>
            <a:spLocks noChangeShapeType="1"/>
          </p:cNvSpPr>
          <p:nvPr/>
        </p:nvSpPr>
        <p:spPr bwMode="auto">
          <a:xfrm>
            <a:off x="575271" y="4281797"/>
            <a:ext cx="384693" cy="2286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 name="AutoShape 30">
            <a:extLst>
              <a:ext uri="{FF2B5EF4-FFF2-40B4-BE49-F238E27FC236}">
                <a16:creationId xmlns:a16="http://schemas.microsoft.com/office/drawing/2014/main" id="{64AF5FA1-DAEE-3130-BE97-8C3275F565E3}"/>
              </a:ext>
            </a:extLst>
          </p:cNvPr>
          <p:cNvSpPr>
            <a:spLocks noChangeArrowheads="1"/>
          </p:cNvSpPr>
          <p:nvPr/>
        </p:nvSpPr>
        <p:spPr bwMode="auto">
          <a:xfrm>
            <a:off x="1076680" y="4227934"/>
            <a:ext cx="7339984" cy="228600"/>
          </a:xfrm>
          <a:prstGeom prst="rightArrow">
            <a:avLst>
              <a:gd name="adj1" fmla="val 50000"/>
              <a:gd name="adj2" fmla="val 56250"/>
            </a:avLst>
          </a:prstGeom>
          <a:solidFill>
            <a:srgbClr val="FFCC00"/>
          </a:solidFill>
          <a:ln w="6350">
            <a:solidFill>
              <a:schemeClr val="tx1"/>
            </a:solidFill>
            <a:miter lim="800000"/>
            <a:headEnd/>
            <a:tailEnd/>
          </a:ln>
        </p:spPr>
        <p:txBody>
          <a:bodyPr wrap="none" anchor="ctr"/>
          <a:lstStyle/>
          <a:p>
            <a:endParaRPr lang="zh-CN" altLang="en-US"/>
          </a:p>
        </p:txBody>
      </p:sp>
      <p:sp>
        <p:nvSpPr>
          <p:cNvPr id="2" name="Rectangle 2">
            <a:extLst>
              <a:ext uri="{FF2B5EF4-FFF2-40B4-BE49-F238E27FC236}">
                <a16:creationId xmlns:a16="http://schemas.microsoft.com/office/drawing/2014/main" id="{376F7182-1362-C3A8-4B18-C104B9BA290E}"/>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7" name="矩形 6">
            <a:extLst>
              <a:ext uri="{FF2B5EF4-FFF2-40B4-BE49-F238E27FC236}">
                <a16:creationId xmlns:a16="http://schemas.microsoft.com/office/drawing/2014/main" id="{99DCACA3-014F-2E76-13CD-D9D997B7EDC9}"/>
              </a:ext>
            </a:extLst>
          </p:cNvPr>
          <p:cNvSpPr/>
          <p:nvPr/>
        </p:nvSpPr>
        <p:spPr>
          <a:xfrm>
            <a:off x="1053170" y="1513985"/>
            <a:ext cx="4238910"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⑥</a:t>
            </a:r>
            <a:r>
              <a:rPr lang="zh-CN" altLang="en-US" sz="2000" dirty="0">
                <a:latin typeface="微软雅黑" pitchFamily="34" charset="-122"/>
                <a:ea typeface="微软雅黑" pitchFamily="34" charset="-122"/>
                <a:cs typeface="经典粗黑简" pitchFamily="49" charset="-122"/>
              </a:rPr>
              <a:t>按序号读取单链表中的数据元素</a:t>
            </a:r>
          </a:p>
        </p:txBody>
      </p:sp>
      <p:sp>
        <p:nvSpPr>
          <p:cNvPr id="4" name="文本框 3">
            <a:extLst>
              <a:ext uri="{FF2B5EF4-FFF2-40B4-BE49-F238E27FC236}">
                <a16:creationId xmlns:a16="http://schemas.microsoft.com/office/drawing/2014/main" id="{1950CA0D-E76D-47D1-E304-41454310F2DC}"/>
              </a:ext>
            </a:extLst>
          </p:cNvPr>
          <p:cNvSpPr txBox="1"/>
          <p:nvPr/>
        </p:nvSpPr>
        <p:spPr>
          <a:xfrm>
            <a:off x="1076680" y="1886247"/>
            <a:ext cx="7339984" cy="307777"/>
          </a:xfrm>
          <a:prstGeom prst="rect">
            <a:avLst/>
          </a:prstGeom>
          <a:noFill/>
        </p:spPr>
        <p:txBody>
          <a:bodyPr wrap="square">
            <a:spAutoFit/>
          </a:bodyPr>
          <a:lstStyle/>
          <a:p>
            <a:r>
              <a:rPr lang="zh-CN" altLang="en-US" sz="1400" dirty="0">
                <a:latin typeface="微软雅黑" pitchFamily="34" charset="-122"/>
                <a:ea typeface="微软雅黑" pitchFamily="34" charset="-122"/>
                <a:cs typeface="经典粗黑简" pitchFamily="49" charset="-122"/>
              </a:rPr>
              <a:t>在单链表</a:t>
            </a:r>
            <a:r>
              <a:rPr lang="en-US" altLang="zh-CN" sz="1400" dirty="0">
                <a:latin typeface="微软雅黑" pitchFamily="34" charset="-122"/>
                <a:ea typeface="微软雅黑" pitchFamily="34" charset="-122"/>
                <a:cs typeface="经典粗黑简" pitchFamily="49" charset="-122"/>
              </a:rPr>
              <a:t>L</a:t>
            </a:r>
            <a:r>
              <a:rPr lang="zh-CN" altLang="en-US" sz="1400" dirty="0">
                <a:latin typeface="微软雅黑" pitchFamily="34" charset="-122"/>
                <a:ea typeface="微软雅黑" pitchFamily="34" charset="-122"/>
                <a:cs typeface="经典粗黑简" pitchFamily="49" charset="-122"/>
              </a:rPr>
              <a:t>中从头开始找到第</a:t>
            </a:r>
            <a:r>
              <a:rPr lang="en-US" altLang="zh-CN" sz="1400" dirty="0" err="1">
                <a:latin typeface="微软雅黑" pitchFamily="34" charset="-122"/>
                <a:ea typeface="微软雅黑" pitchFamily="34" charset="-122"/>
                <a:cs typeface="经典粗黑简" pitchFamily="49" charset="-122"/>
              </a:rPr>
              <a:t>i</a:t>
            </a:r>
            <a:r>
              <a:rPr lang="zh-CN" altLang="en-US" sz="1400" dirty="0">
                <a:latin typeface="微软雅黑" pitchFamily="34" charset="-122"/>
                <a:ea typeface="微软雅黑" pitchFamily="34" charset="-122"/>
                <a:cs typeface="经典粗黑简" pitchFamily="49" charset="-122"/>
              </a:rPr>
              <a:t>个结点，若存在第</a:t>
            </a:r>
            <a:r>
              <a:rPr lang="en-US" altLang="zh-CN" sz="1400" dirty="0" err="1">
                <a:latin typeface="微软雅黑" pitchFamily="34" charset="-122"/>
                <a:ea typeface="微软雅黑" pitchFamily="34" charset="-122"/>
                <a:cs typeface="经典粗黑简" pitchFamily="49" charset="-122"/>
              </a:rPr>
              <a:t>i</a:t>
            </a:r>
            <a:r>
              <a:rPr lang="zh-CN" altLang="en-US" sz="1400" dirty="0">
                <a:latin typeface="微软雅黑" pitchFamily="34" charset="-122"/>
                <a:ea typeface="微软雅黑" pitchFamily="34" charset="-122"/>
                <a:cs typeface="经典粗黑简" pitchFamily="49" charset="-122"/>
              </a:rPr>
              <a:t>个数据结点，则将其</a:t>
            </a:r>
            <a:r>
              <a:rPr lang="en-US" altLang="zh-CN" sz="1400" dirty="0">
                <a:latin typeface="微软雅黑" pitchFamily="34" charset="-122"/>
                <a:ea typeface="微软雅黑" pitchFamily="34" charset="-122"/>
                <a:cs typeface="经典粗黑简" pitchFamily="49" charset="-122"/>
              </a:rPr>
              <a:t>data</a:t>
            </a:r>
            <a:r>
              <a:rPr lang="zh-CN" altLang="en-US" sz="1400" dirty="0">
                <a:latin typeface="微软雅黑" pitchFamily="34" charset="-122"/>
                <a:ea typeface="微软雅黑" pitchFamily="34" charset="-122"/>
                <a:cs typeface="经典粗黑简" pitchFamily="49" charset="-122"/>
              </a:rPr>
              <a:t>域值赋给变量</a:t>
            </a:r>
            <a:r>
              <a:rPr lang="en-US" altLang="zh-CN" sz="1400" dirty="0">
                <a:latin typeface="微软雅黑" pitchFamily="34" charset="-122"/>
                <a:ea typeface="微软雅黑" pitchFamily="34" charset="-122"/>
                <a:cs typeface="经典粗黑简" pitchFamily="49" charset="-122"/>
              </a:rPr>
              <a:t>e</a:t>
            </a:r>
            <a:r>
              <a:rPr lang="zh-CN" altLang="en-US" sz="1400" dirty="0">
                <a:latin typeface="微软雅黑" pitchFamily="34" charset="-122"/>
                <a:ea typeface="微软雅黑" pitchFamily="34" charset="-122"/>
                <a:cs typeface="经典粗黑简" pitchFamily="49" charset="-122"/>
              </a:rPr>
              <a:t>。</a:t>
            </a:r>
          </a:p>
        </p:txBody>
      </p:sp>
      <p:sp>
        <p:nvSpPr>
          <p:cNvPr id="13" name="Text Box 2">
            <a:extLst>
              <a:ext uri="{FF2B5EF4-FFF2-40B4-BE49-F238E27FC236}">
                <a16:creationId xmlns:a16="http://schemas.microsoft.com/office/drawing/2014/main" id="{D705B18D-EDCD-142F-2467-EC9758486C24}"/>
              </a:ext>
            </a:extLst>
          </p:cNvPr>
          <p:cNvSpPr txBox="1">
            <a:spLocks noChangeArrowheads="1"/>
          </p:cNvSpPr>
          <p:nvPr/>
        </p:nvSpPr>
        <p:spPr bwMode="auto">
          <a:xfrm>
            <a:off x="1187624" y="2214290"/>
            <a:ext cx="7671537" cy="1938992"/>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bool </a:t>
            </a:r>
            <a:r>
              <a:rPr kumimoji="1" lang="en-US" altLang="zh-CN" sz="1400" dirty="0" err="1">
                <a:solidFill>
                  <a:srgbClr val="FF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GetElem</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LinkNode</a:t>
            </a:r>
            <a:r>
              <a:rPr kumimoji="1" lang="en-US" altLang="zh-CN" sz="1400" dirty="0">
                <a:solidFill>
                  <a:srgbClr val="0000FF"/>
                </a:solidFill>
                <a:latin typeface="Consolas" pitchFamily="49" charset="0"/>
                <a:ea typeface="仿宋" pitchFamily="49" charset="-122"/>
                <a:cs typeface="Consolas" pitchFamily="49" charset="0"/>
              </a:rPr>
              <a:t> *L</a:t>
            </a:r>
            <a:r>
              <a:rPr kumimoji="1" lang="zh-CN" altLang="en-US" sz="1400" dirty="0">
                <a:solidFill>
                  <a:srgbClr val="0000FF"/>
                </a:solidFill>
                <a:latin typeface="Consolas" pitchFamily="49" charset="0"/>
                <a:ea typeface="仿宋" pitchFamily="49" charset="-122"/>
                <a:cs typeface="Consolas" pitchFamily="49" charset="0"/>
              </a:rPr>
              <a:t>，</a:t>
            </a:r>
            <a:r>
              <a:rPr kumimoji="1" lang="en-US" altLang="zh-CN" sz="1400" dirty="0">
                <a:solidFill>
                  <a:srgbClr val="0000FF"/>
                </a:solidFill>
                <a:latin typeface="Consolas" pitchFamily="49" charset="0"/>
                <a:ea typeface="仿宋" pitchFamily="49" charset="-122"/>
                <a:cs typeface="Consolas" pitchFamily="49" charset="0"/>
              </a:rPr>
              <a:t>int </a:t>
            </a:r>
            <a:r>
              <a:rPr kumimoji="1" lang="en-US" altLang="zh-CN" sz="1400" dirty="0" err="1">
                <a:solidFill>
                  <a:srgbClr val="0000FF"/>
                </a:solidFill>
                <a:latin typeface="Consolas" pitchFamily="49" charset="0"/>
                <a:ea typeface="仿宋" pitchFamily="49" charset="-122"/>
                <a:cs typeface="Consolas" pitchFamily="49" charset="0"/>
              </a:rPr>
              <a:t>i</a:t>
            </a:r>
            <a:r>
              <a:rPr kumimoji="1" lang="zh-CN" altLang="en-US"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ElemType</a:t>
            </a:r>
            <a:r>
              <a:rPr kumimoji="1" lang="en-US" altLang="zh-CN" sz="1400" dirty="0">
                <a:solidFill>
                  <a:srgbClr val="0000FF"/>
                </a:solidFill>
                <a:latin typeface="Consolas" pitchFamily="49" charset="0"/>
                <a:ea typeface="仿宋" pitchFamily="49" charset="-122"/>
                <a:cs typeface="Consolas" pitchFamily="49" charset="0"/>
              </a:rPr>
              <a:t> &amp;e)</a:t>
            </a: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a:t>
            </a: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int j=0;</a:t>
            </a: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a:t>
            </a:r>
            <a:r>
              <a:rPr kumimoji="1" lang="en-US" altLang="zh-CN" sz="1400" dirty="0" err="1">
                <a:solidFill>
                  <a:srgbClr val="0000FF"/>
                </a:solidFill>
                <a:latin typeface="Consolas" pitchFamily="49" charset="0"/>
                <a:ea typeface="仿宋" pitchFamily="49" charset="-122"/>
                <a:cs typeface="Consolas" pitchFamily="49" charset="0"/>
              </a:rPr>
              <a:t>LinkNode</a:t>
            </a:r>
            <a:r>
              <a:rPr kumimoji="1" lang="en-US" altLang="zh-CN" sz="1400" dirty="0">
                <a:solidFill>
                  <a:srgbClr val="0000FF"/>
                </a:solidFill>
                <a:latin typeface="Consolas" pitchFamily="49" charset="0"/>
                <a:ea typeface="仿宋" pitchFamily="49" charset="-122"/>
                <a:cs typeface="Consolas" pitchFamily="49" charset="0"/>
              </a:rPr>
              <a:t> *p=L;	 </a:t>
            </a:r>
            <a:r>
              <a:rPr kumimoji="1" lang="en-US" altLang="zh-CN" sz="1400" dirty="0">
                <a:solidFill>
                  <a:srgbClr val="00B0F0"/>
                </a:solidFill>
                <a:latin typeface="Consolas" pitchFamily="49" charset="0"/>
                <a:ea typeface="仿宋" pitchFamily="49" charset="-122"/>
                <a:cs typeface="Consolas" pitchFamily="49" charset="0"/>
              </a:rPr>
              <a:t>//p</a:t>
            </a:r>
            <a:r>
              <a:rPr kumimoji="1" lang="zh-CN" altLang="en-US" sz="1400" dirty="0">
                <a:solidFill>
                  <a:srgbClr val="00B0F0"/>
                </a:solidFill>
                <a:latin typeface="Consolas" pitchFamily="49" charset="0"/>
                <a:ea typeface="仿宋" pitchFamily="49" charset="-122"/>
                <a:cs typeface="Consolas" pitchFamily="49" charset="0"/>
              </a:rPr>
              <a:t>指向头结点，</a:t>
            </a:r>
            <a:r>
              <a:rPr kumimoji="1" lang="en-US" altLang="zh-CN" sz="1400" dirty="0">
                <a:solidFill>
                  <a:srgbClr val="00B0F0"/>
                </a:solidFill>
                <a:latin typeface="Consolas" pitchFamily="49" charset="0"/>
                <a:ea typeface="仿宋" pitchFamily="49" charset="-122"/>
                <a:cs typeface="Consolas" pitchFamily="49" charset="0"/>
              </a:rPr>
              <a:t>j</a:t>
            </a:r>
            <a:r>
              <a:rPr kumimoji="1" lang="zh-CN" altLang="en-US" sz="1400" dirty="0">
                <a:solidFill>
                  <a:srgbClr val="00B0F0"/>
                </a:solidFill>
                <a:latin typeface="Consolas" pitchFamily="49" charset="0"/>
                <a:ea typeface="仿宋" pitchFamily="49" charset="-122"/>
                <a:cs typeface="Consolas" pitchFamily="49" charset="0"/>
              </a:rPr>
              <a:t>置为</a:t>
            </a:r>
            <a:r>
              <a:rPr kumimoji="1" lang="en-US" altLang="zh-CN" sz="1400" dirty="0">
                <a:solidFill>
                  <a:srgbClr val="00B0F0"/>
                </a:solidFill>
                <a:latin typeface="Consolas" pitchFamily="49" charset="0"/>
                <a:ea typeface="仿宋" pitchFamily="49" charset="-122"/>
                <a:cs typeface="Consolas" pitchFamily="49" charset="0"/>
              </a:rPr>
              <a:t>0</a:t>
            </a:r>
            <a:r>
              <a:rPr kumimoji="1" lang="zh-CN" altLang="en-US" sz="1400" dirty="0">
                <a:solidFill>
                  <a:srgbClr val="00B0F0"/>
                </a:solidFill>
                <a:latin typeface="Consolas" pitchFamily="49" charset="0"/>
                <a:ea typeface="仿宋" pitchFamily="49" charset="-122"/>
                <a:cs typeface="Consolas" pitchFamily="49" charset="0"/>
              </a:rPr>
              <a:t>（即头结点的序号为</a:t>
            </a:r>
            <a:r>
              <a:rPr kumimoji="1" lang="en-US" altLang="zh-CN" sz="1400" dirty="0">
                <a:solidFill>
                  <a:srgbClr val="00B0F0"/>
                </a:solidFill>
                <a:latin typeface="Consolas" pitchFamily="49" charset="0"/>
                <a:ea typeface="仿宋" pitchFamily="49" charset="-122"/>
                <a:cs typeface="Consolas" pitchFamily="49" charset="0"/>
              </a:rPr>
              <a:t>0</a:t>
            </a:r>
            <a:r>
              <a:rPr kumimoji="1" lang="zh-CN" altLang="en-US" sz="1400" dirty="0">
                <a:solidFill>
                  <a:srgbClr val="00B0F0"/>
                </a:solidFill>
                <a:latin typeface="Consolas" pitchFamily="49" charset="0"/>
                <a:ea typeface="仿宋" pitchFamily="49" charset="-122"/>
                <a:cs typeface="Consolas" pitchFamily="49" charset="0"/>
              </a:rPr>
              <a:t>）</a:t>
            </a:r>
            <a:endParaRPr kumimoji="1" lang="en-US" altLang="zh-CN" sz="1400" dirty="0">
              <a:solidFill>
                <a:srgbClr val="00B0F0"/>
              </a:solidFill>
              <a:latin typeface="Consolas" pitchFamily="49" charset="0"/>
              <a:ea typeface="仿宋" pitchFamily="49" charset="-122"/>
              <a:cs typeface="Consolas" pitchFamily="49" charset="0"/>
            </a:endParaRPr>
          </a:p>
          <a:p>
            <a:pPr algn="l">
              <a:lnSpc>
                <a:spcPts val="1600"/>
              </a:lnSpc>
            </a:pPr>
            <a:endParaRPr kumimoji="1" lang="en-US" altLang="zh-CN" sz="1400" dirty="0">
              <a:solidFill>
                <a:srgbClr val="0000FF"/>
              </a:solidFill>
              <a:latin typeface="Consolas" pitchFamily="49" charset="0"/>
              <a:ea typeface="仿宋" pitchFamily="49" charset="-122"/>
              <a:cs typeface="Consolas" pitchFamily="49" charset="0"/>
            </a:endParaRP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while (j&lt;</a:t>
            </a:r>
            <a:r>
              <a:rPr kumimoji="1" lang="en-US" altLang="zh-CN" sz="1400" dirty="0" err="1">
                <a:solidFill>
                  <a:srgbClr val="0000FF"/>
                </a:solidFill>
                <a:latin typeface="Consolas" pitchFamily="49" charset="0"/>
                <a:ea typeface="仿宋" pitchFamily="49" charset="-122"/>
                <a:cs typeface="Consolas" pitchFamily="49" charset="0"/>
              </a:rPr>
              <a:t>i</a:t>
            </a:r>
            <a:r>
              <a:rPr kumimoji="1" lang="en-US" altLang="zh-CN" sz="1400" dirty="0">
                <a:solidFill>
                  <a:srgbClr val="0000FF"/>
                </a:solidFill>
                <a:latin typeface="Consolas" pitchFamily="49" charset="0"/>
                <a:ea typeface="仿宋" pitchFamily="49" charset="-122"/>
                <a:cs typeface="Consolas" pitchFamily="49" charset="0"/>
              </a:rPr>
              <a:t> &amp;&amp; p!=NULL)</a:t>
            </a:r>
            <a:endParaRPr kumimoji="1" lang="zh-CN" altLang="en-US" sz="1400" dirty="0">
              <a:solidFill>
                <a:srgbClr val="0000FF"/>
              </a:solidFill>
              <a:latin typeface="Consolas" pitchFamily="49" charset="0"/>
              <a:ea typeface="仿宋" pitchFamily="49" charset="-122"/>
              <a:cs typeface="Consolas" pitchFamily="49" charset="0"/>
            </a:endParaRPr>
          </a:p>
          <a:p>
            <a:pPr algn="l">
              <a:lnSpc>
                <a:spcPts val="1600"/>
              </a:lnSpc>
            </a:pPr>
            <a:r>
              <a:rPr kumimoji="1" lang="zh-CN" altLang="en-US" sz="1400" dirty="0">
                <a:solidFill>
                  <a:srgbClr val="0000FF"/>
                </a:solidFill>
                <a:latin typeface="Consolas" pitchFamily="49" charset="0"/>
                <a:ea typeface="仿宋" pitchFamily="49" charset="-122"/>
                <a:cs typeface="Consolas" pitchFamily="49" charset="0"/>
              </a:rPr>
              <a:t>   </a:t>
            </a:r>
            <a:r>
              <a:rPr kumimoji="1" lang="en-US" altLang="zh-CN" sz="1400" dirty="0">
                <a:solidFill>
                  <a:srgbClr val="0000FF"/>
                </a:solidFill>
                <a:latin typeface="Consolas" pitchFamily="49" charset="0"/>
                <a:ea typeface="仿宋" pitchFamily="49" charset="-122"/>
                <a:cs typeface="Consolas" pitchFamily="49" charset="0"/>
              </a:rPr>
              <a:t>{	j++;</a:t>
            </a: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p=p-&gt;next;</a:t>
            </a: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a:t>
            </a:r>
            <a:endParaRPr kumimoji="1" lang="en-US" altLang="zh-CN" sz="1800" dirty="0">
              <a:solidFill>
                <a:srgbClr val="0000FF"/>
              </a:solidFill>
              <a:latin typeface="Consolas" pitchFamily="49" charset="0"/>
              <a:ea typeface="仿宋" pitchFamily="49" charset="-122"/>
              <a:cs typeface="Consolas" pitchFamily="49" charset="0"/>
            </a:endParaRPr>
          </a:p>
        </p:txBody>
      </p:sp>
      <p:sp>
        <p:nvSpPr>
          <p:cNvPr id="34" name="矩形 33">
            <a:extLst>
              <a:ext uri="{FF2B5EF4-FFF2-40B4-BE49-F238E27FC236}">
                <a16:creationId xmlns:a16="http://schemas.microsoft.com/office/drawing/2014/main" id="{70C66826-949E-4476-805B-D725DBD7CF99}"/>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24975987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9CAE2-7292-DECA-363C-EBA92ED9FCFD}"/>
            </a:ext>
          </a:extLst>
        </p:cNvPr>
        <p:cNvGrpSpPr/>
        <p:nvPr/>
      </p:nvGrpSpPr>
      <p:grpSpPr>
        <a:xfrm>
          <a:off x="0" y="0"/>
          <a:ext cx="0" cy="0"/>
          <a:chOff x="0" y="0"/>
          <a:chExt cx="0" cy="0"/>
        </a:xfrm>
      </p:grpSpPr>
      <p:cxnSp>
        <p:nvCxnSpPr>
          <p:cNvPr id="16" name="直接连接符 15">
            <a:extLst>
              <a:ext uri="{FF2B5EF4-FFF2-40B4-BE49-F238E27FC236}">
                <a16:creationId xmlns:a16="http://schemas.microsoft.com/office/drawing/2014/main" id="{3DB5BD08-A19C-15A8-5D50-0A60C85FA1A1}"/>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6" name="Rectangle 5">
            <a:extLst>
              <a:ext uri="{FF2B5EF4-FFF2-40B4-BE49-F238E27FC236}">
                <a16:creationId xmlns:a16="http://schemas.microsoft.com/office/drawing/2014/main" id="{CE092A55-D4A7-E985-5294-81BF493307F8}"/>
              </a:ext>
            </a:extLst>
          </p:cNvPr>
          <p:cNvSpPr>
            <a:spLocks noChangeArrowheads="1"/>
          </p:cNvSpPr>
          <p:nvPr/>
        </p:nvSpPr>
        <p:spPr bwMode="auto">
          <a:xfrm>
            <a:off x="2124453" y="446872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7" name="Line 6">
            <a:extLst>
              <a:ext uri="{FF2B5EF4-FFF2-40B4-BE49-F238E27FC236}">
                <a16:creationId xmlns:a16="http://schemas.microsoft.com/office/drawing/2014/main" id="{44FFE0C1-2E82-BF7E-1D44-F19A90F89CD1}"/>
              </a:ext>
            </a:extLst>
          </p:cNvPr>
          <p:cNvSpPr>
            <a:spLocks noChangeShapeType="1"/>
          </p:cNvSpPr>
          <p:nvPr/>
        </p:nvSpPr>
        <p:spPr bwMode="auto">
          <a:xfrm>
            <a:off x="2657853" y="446872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Rectangle 25">
            <a:extLst>
              <a:ext uri="{FF2B5EF4-FFF2-40B4-BE49-F238E27FC236}">
                <a16:creationId xmlns:a16="http://schemas.microsoft.com/office/drawing/2014/main" id="{0780E32D-295A-6240-862E-DC35742E6A08}"/>
              </a:ext>
            </a:extLst>
          </p:cNvPr>
          <p:cNvSpPr>
            <a:spLocks noChangeArrowheads="1"/>
          </p:cNvSpPr>
          <p:nvPr/>
        </p:nvSpPr>
        <p:spPr bwMode="auto">
          <a:xfrm>
            <a:off x="4288338" y="454269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99" name="Rectangle 36">
            <a:extLst>
              <a:ext uri="{FF2B5EF4-FFF2-40B4-BE49-F238E27FC236}">
                <a16:creationId xmlns:a16="http://schemas.microsoft.com/office/drawing/2014/main" id="{E50884D3-8EEC-5E3A-BB5F-EF77B6800499}"/>
              </a:ext>
            </a:extLst>
          </p:cNvPr>
          <p:cNvSpPr>
            <a:spLocks noChangeArrowheads="1"/>
          </p:cNvSpPr>
          <p:nvPr/>
        </p:nvSpPr>
        <p:spPr bwMode="auto">
          <a:xfrm>
            <a:off x="7422487" y="4564692"/>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00" name="Line 29">
            <a:extLst>
              <a:ext uri="{FF2B5EF4-FFF2-40B4-BE49-F238E27FC236}">
                <a16:creationId xmlns:a16="http://schemas.microsoft.com/office/drawing/2014/main" id="{BDF2E33C-2956-821D-4E74-E5F94017CC09}"/>
              </a:ext>
            </a:extLst>
          </p:cNvPr>
          <p:cNvSpPr>
            <a:spLocks noChangeShapeType="1"/>
          </p:cNvSpPr>
          <p:nvPr/>
        </p:nvSpPr>
        <p:spPr bwMode="auto">
          <a:xfrm>
            <a:off x="571975" y="4720396"/>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 name="Rectangle 5">
            <a:extLst>
              <a:ext uri="{FF2B5EF4-FFF2-40B4-BE49-F238E27FC236}">
                <a16:creationId xmlns:a16="http://schemas.microsoft.com/office/drawing/2014/main" id="{F505CF7F-48B4-C034-857B-D26797C724CF}"/>
              </a:ext>
            </a:extLst>
          </p:cNvPr>
          <p:cNvSpPr>
            <a:spLocks noChangeArrowheads="1"/>
          </p:cNvSpPr>
          <p:nvPr/>
        </p:nvSpPr>
        <p:spPr bwMode="auto">
          <a:xfrm>
            <a:off x="3300110" y="4474099"/>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AA176F77-E660-1703-1047-F86BD719E75A}"/>
              </a:ext>
            </a:extLst>
          </p:cNvPr>
          <p:cNvSpPr>
            <a:spLocks noChangeShapeType="1"/>
          </p:cNvSpPr>
          <p:nvPr/>
        </p:nvSpPr>
        <p:spPr bwMode="auto">
          <a:xfrm>
            <a:off x="3833510" y="447409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29">
            <a:extLst>
              <a:ext uri="{FF2B5EF4-FFF2-40B4-BE49-F238E27FC236}">
                <a16:creationId xmlns:a16="http://schemas.microsoft.com/office/drawing/2014/main" id="{7BD1693E-3571-7B1B-3135-07F044531A63}"/>
              </a:ext>
            </a:extLst>
          </p:cNvPr>
          <p:cNvSpPr>
            <a:spLocks noChangeShapeType="1"/>
          </p:cNvSpPr>
          <p:nvPr/>
        </p:nvSpPr>
        <p:spPr bwMode="auto">
          <a:xfrm>
            <a:off x="2919110" y="4728272"/>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 name="Rectangle 5">
            <a:extLst>
              <a:ext uri="{FF2B5EF4-FFF2-40B4-BE49-F238E27FC236}">
                <a16:creationId xmlns:a16="http://schemas.microsoft.com/office/drawing/2014/main" id="{564800FE-0DA6-E2F7-F302-DCB821F9CAEF}"/>
              </a:ext>
            </a:extLst>
          </p:cNvPr>
          <p:cNvSpPr>
            <a:spLocks noChangeArrowheads="1"/>
          </p:cNvSpPr>
          <p:nvPr/>
        </p:nvSpPr>
        <p:spPr bwMode="auto">
          <a:xfrm>
            <a:off x="4901621" y="4490727"/>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105" name="Line 6">
            <a:extLst>
              <a:ext uri="{FF2B5EF4-FFF2-40B4-BE49-F238E27FC236}">
                <a16:creationId xmlns:a16="http://schemas.microsoft.com/office/drawing/2014/main" id="{F5DAF673-3218-A028-13C4-7A5C0F1D2ABD}"/>
              </a:ext>
            </a:extLst>
          </p:cNvPr>
          <p:cNvSpPr>
            <a:spLocks noChangeShapeType="1"/>
          </p:cNvSpPr>
          <p:nvPr/>
        </p:nvSpPr>
        <p:spPr bwMode="auto">
          <a:xfrm>
            <a:off x="5638194" y="4485351"/>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 name="Line 29">
            <a:extLst>
              <a:ext uri="{FF2B5EF4-FFF2-40B4-BE49-F238E27FC236}">
                <a16:creationId xmlns:a16="http://schemas.microsoft.com/office/drawing/2014/main" id="{48E1C6A7-9CFD-B4F5-48B2-7C8A401EA195}"/>
              </a:ext>
            </a:extLst>
          </p:cNvPr>
          <p:cNvSpPr>
            <a:spLocks noChangeShapeType="1"/>
          </p:cNvSpPr>
          <p:nvPr/>
        </p:nvSpPr>
        <p:spPr bwMode="auto">
          <a:xfrm>
            <a:off x="4700629" y="4719053"/>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 name="Line 29">
            <a:extLst>
              <a:ext uri="{FF2B5EF4-FFF2-40B4-BE49-F238E27FC236}">
                <a16:creationId xmlns:a16="http://schemas.microsoft.com/office/drawing/2014/main" id="{B0592DE8-6B41-CBEE-81AF-863BCD8FBC6B}"/>
              </a:ext>
            </a:extLst>
          </p:cNvPr>
          <p:cNvSpPr>
            <a:spLocks noChangeShapeType="1"/>
          </p:cNvSpPr>
          <p:nvPr/>
        </p:nvSpPr>
        <p:spPr bwMode="auto">
          <a:xfrm>
            <a:off x="4024010" y="4725585"/>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 name="Rectangle 5">
            <a:extLst>
              <a:ext uri="{FF2B5EF4-FFF2-40B4-BE49-F238E27FC236}">
                <a16:creationId xmlns:a16="http://schemas.microsoft.com/office/drawing/2014/main" id="{45E7A409-D939-F902-24F8-578E5967F181}"/>
              </a:ext>
            </a:extLst>
          </p:cNvPr>
          <p:cNvSpPr>
            <a:spLocks noChangeArrowheads="1"/>
          </p:cNvSpPr>
          <p:nvPr/>
        </p:nvSpPr>
        <p:spPr bwMode="auto">
          <a:xfrm>
            <a:off x="6294380" y="4502556"/>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09" name="Line 6">
            <a:extLst>
              <a:ext uri="{FF2B5EF4-FFF2-40B4-BE49-F238E27FC236}">
                <a16:creationId xmlns:a16="http://schemas.microsoft.com/office/drawing/2014/main" id="{05043F44-38FB-8CB3-9B2E-271B7831AF81}"/>
              </a:ext>
            </a:extLst>
          </p:cNvPr>
          <p:cNvSpPr>
            <a:spLocks noChangeShapeType="1"/>
          </p:cNvSpPr>
          <p:nvPr/>
        </p:nvSpPr>
        <p:spPr bwMode="auto">
          <a:xfrm>
            <a:off x="6827780" y="4502556"/>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 name="Line 29">
            <a:extLst>
              <a:ext uri="{FF2B5EF4-FFF2-40B4-BE49-F238E27FC236}">
                <a16:creationId xmlns:a16="http://schemas.microsoft.com/office/drawing/2014/main" id="{B81E4A96-8479-E539-2148-6096D42532DD}"/>
              </a:ext>
            </a:extLst>
          </p:cNvPr>
          <p:cNvSpPr>
            <a:spLocks noChangeShapeType="1"/>
          </p:cNvSpPr>
          <p:nvPr/>
        </p:nvSpPr>
        <p:spPr bwMode="auto">
          <a:xfrm>
            <a:off x="5913380" y="4756729"/>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 name="Line 29">
            <a:extLst>
              <a:ext uri="{FF2B5EF4-FFF2-40B4-BE49-F238E27FC236}">
                <a16:creationId xmlns:a16="http://schemas.microsoft.com/office/drawing/2014/main" id="{C9FADFF4-ED9B-1F0B-A6FB-AF36A22D99FA}"/>
              </a:ext>
            </a:extLst>
          </p:cNvPr>
          <p:cNvSpPr>
            <a:spLocks noChangeShapeType="1"/>
          </p:cNvSpPr>
          <p:nvPr/>
        </p:nvSpPr>
        <p:spPr bwMode="auto">
          <a:xfrm>
            <a:off x="7059088" y="4757628"/>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 name="Rectangle 5">
            <a:extLst>
              <a:ext uri="{FF2B5EF4-FFF2-40B4-BE49-F238E27FC236}">
                <a16:creationId xmlns:a16="http://schemas.microsoft.com/office/drawing/2014/main" id="{E73080BA-2D65-9653-D92D-07FAF650FA7B}"/>
              </a:ext>
            </a:extLst>
          </p:cNvPr>
          <p:cNvSpPr>
            <a:spLocks noChangeArrowheads="1"/>
          </p:cNvSpPr>
          <p:nvPr/>
        </p:nvSpPr>
        <p:spPr bwMode="auto">
          <a:xfrm>
            <a:off x="8138196" y="451769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113" name="Line 6">
            <a:extLst>
              <a:ext uri="{FF2B5EF4-FFF2-40B4-BE49-F238E27FC236}">
                <a16:creationId xmlns:a16="http://schemas.microsoft.com/office/drawing/2014/main" id="{05564A5C-746E-6F6C-23BD-AE816514862D}"/>
              </a:ext>
            </a:extLst>
          </p:cNvPr>
          <p:cNvSpPr>
            <a:spLocks noChangeShapeType="1"/>
          </p:cNvSpPr>
          <p:nvPr/>
        </p:nvSpPr>
        <p:spPr bwMode="auto">
          <a:xfrm>
            <a:off x="8697723" y="451769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 name="Line 29">
            <a:extLst>
              <a:ext uri="{FF2B5EF4-FFF2-40B4-BE49-F238E27FC236}">
                <a16:creationId xmlns:a16="http://schemas.microsoft.com/office/drawing/2014/main" id="{97687387-9842-017C-C0F0-9CA9DFB83396}"/>
              </a:ext>
            </a:extLst>
          </p:cNvPr>
          <p:cNvSpPr>
            <a:spLocks noChangeShapeType="1"/>
          </p:cNvSpPr>
          <p:nvPr/>
        </p:nvSpPr>
        <p:spPr bwMode="auto">
          <a:xfrm>
            <a:off x="7757196" y="4765333"/>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 name="矩形 114">
            <a:extLst>
              <a:ext uri="{FF2B5EF4-FFF2-40B4-BE49-F238E27FC236}">
                <a16:creationId xmlns:a16="http://schemas.microsoft.com/office/drawing/2014/main" id="{0632EB21-194F-2E98-7D01-1E6231299671}"/>
              </a:ext>
            </a:extLst>
          </p:cNvPr>
          <p:cNvSpPr/>
          <p:nvPr/>
        </p:nvSpPr>
        <p:spPr>
          <a:xfrm>
            <a:off x="202964" y="4510397"/>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116" name="Rectangle 5">
            <a:extLst>
              <a:ext uri="{FF2B5EF4-FFF2-40B4-BE49-F238E27FC236}">
                <a16:creationId xmlns:a16="http://schemas.microsoft.com/office/drawing/2014/main" id="{FF1C8D01-7186-9950-0B94-09E16BB38675}"/>
              </a:ext>
            </a:extLst>
          </p:cNvPr>
          <p:cNvSpPr>
            <a:spLocks noChangeArrowheads="1"/>
          </p:cNvSpPr>
          <p:nvPr/>
        </p:nvSpPr>
        <p:spPr bwMode="auto">
          <a:xfrm>
            <a:off x="963261" y="4468725"/>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17" name="Line 29">
            <a:extLst>
              <a:ext uri="{FF2B5EF4-FFF2-40B4-BE49-F238E27FC236}">
                <a16:creationId xmlns:a16="http://schemas.microsoft.com/office/drawing/2014/main" id="{88CB59B0-3385-039D-3316-9BE81CFFE162}"/>
              </a:ext>
            </a:extLst>
          </p:cNvPr>
          <p:cNvSpPr>
            <a:spLocks noChangeShapeType="1"/>
          </p:cNvSpPr>
          <p:nvPr/>
        </p:nvSpPr>
        <p:spPr bwMode="auto">
          <a:xfrm>
            <a:off x="1757918" y="4728272"/>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 name="Line 6">
            <a:extLst>
              <a:ext uri="{FF2B5EF4-FFF2-40B4-BE49-F238E27FC236}">
                <a16:creationId xmlns:a16="http://schemas.microsoft.com/office/drawing/2014/main" id="{AFC7324F-1DF1-27C9-DC27-7132638FDD9E}"/>
              </a:ext>
            </a:extLst>
          </p:cNvPr>
          <p:cNvSpPr>
            <a:spLocks noChangeShapeType="1"/>
          </p:cNvSpPr>
          <p:nvPr/>
        </p:nvSpPr>
        <p:spPr bwMode="auto">
          <a:xfrm>
            <a:off x="1517031" y="448077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 name="Rectangle 55">
            <a:extLst>
              <a:ext uri="{FF2B5EF4-FFF2-40B4-BE49-F238E27FC236}">
                <a16:creationId xmlns:a16="http://schemas.microsoft.com/office/drawing/2014/main" id="{5451675A-9029-E35C-61B5-BCBE3601A0F7}"/>
              </a:ext>
            </a:extLst>
          </p:cNvPr>
          <p:cNvSpPr>
            <a:spLocks noChangeArrowheads="1"/>
          </p:cNvSpPr>
          <p:nvPr/>
        </p:nvSpPr>
        <p:spPr bwMode="auto">
          <a:xfrm>
            <a:off x="5636959" y="3992678"/>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121" name="Line 29">
            <a:extLst>
              <a:ext uri="{FF2B5EF4-FFF2-40B4-BE49-F238E27FC236}">
                <a16:creationId xmlns:a16="http://schemas.microsoft.com/office/drawing/2014/main" id="{92499625-27B0-5D85-A3DB-E6BEE569250C}"/>
              </a:ext>
            </a:extLst>
          </p:cNvPr>
          <p:cNvSpPr>
            <a:spLocks noChangeShapeType="1"/>
          </p:cNvSpPr>
          <p:nvPr/>
        </p:nvSpPr>
        <p:spPr bwMode="auto">
          <a:xfrm>
            <a:off x="5940910" y="4261055"/>
            <a:ext cx="384693" cy="2286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 name="AutoShape 30">
            <a:extLst>
              <a:ext uri="{FF2B5EF4-FFF2-40B4-BE49-F238E27FC236}">
                <a16:creationId xmlns:a16="http://schemas.microsoft.com/office/drawing/2014/main" id="{51107252-A3D9-6A20-B8C3-A9307C9F94DE}"/>
              </a:ext>
            </a:extLst>
          </p:cNvPr>
          <p:cNvSpPr>
            <a:spLocks noChangeArrowheads="1"/>
          </p:cNvSpPr>
          <p:nvPr/>
        </p:nvSpPr>
        <p:spPr bwMode="auto">
          <a:xfrm>
            <a:off x="6516216" y="4227934"/>
            <a:ext cx="1900448" cy="228600"/>
          </a:xfrm>
          <a:prstGeom prst="rightArrow">
            <a:avLst>
              <a:gd name="adj1" fmla="val 50000"/>
              <a:gd name="adj2" fmla="val 56250"/>
            </a:avLst>
          </a:prstGeom>
          <a:solidFill>
            <a:srgbClr val="FFCC00"/>
          </a:solidFill>
          <a:ln w="6350">
            <a:solidFill>
              <a:schemeClr val="tx1"/>
            </a:solidFill>
            <a:miter lim="800000"/>
            <a:headEnd/>
            <a:tailEnd/>
          </a:ln>
        </p:spPr>
        <p:txBody>
          <a:bodyPr wrap="none" anchor="ctr"/>
          <a:lstStyle/>
          <a:p>
            <a:endParaRPr lang="zh-CN" altLang="en-US"/>
          </a:p>
        </p:txBody>
      </p:sp>
      <p:sp>
        <p:nvSpPr>
          <p:cNvPr id="2" name="Rectangle 2">
            <a:extLst>
              <a:ext uri="{FF2B5EF4-FFF2-40B4-BE49-F238E27FC236}">
                <a16:creationId xmlns:a16="http://schemas.microsoft.com/office/drawing/2014/main" id="{9E693D30-96EF-A868-B2DF-B36B08EE2C61}"/>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7" name="矩形 6">
            <a:extLst>
              <a:ext uri="{FF2B5EF4-FFF2-40B4-BE49-F238E27FC236}">
                <a16:creationId xmlns:a16="http://schemas.microsoft.com/office/drawing/2014/main" id="{67C397FC-740A-EE28-44E8-9016009BEDC7}"/>
              </a:ext>
            </a:extLst>
          </p:cNvPr>
          <p:cNvSpPr/>
          <p:nvPr/>
        </p:nvSpPr>
        <p:spPr>
          <a:xfrm>
            <a:off x="1053170" y="1513985"/>
            <a:ext cx="4238910"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⑥</a:t>
            </a:r>
            <a:r>
              <a:rPr lang="zh-CN" altLang="en-US" sz="2000" dirty="0">
                <a:latin typeface="微软雅黑" pitchFamily="34" charset="-122"/>
                <a:ea typeface="微软雅黑" pitchFamily="34" charset="-122"/>
                <a:cs typeface="经典粗黑简" pitchFamily="49" charset="-122"/>
              </a:rPr>
              <a:t>按序号读取单链表中的数据元素</a:t>
            </a:r>
          </a:p>
        </p:txBody>
      </p:sp>
      <p:sp>
        <p:nvSpPr>
          <p:cNvPr id="13" name="Text Box 2">
            <a:extLst>
              <a:ext uri="{FF2B5EF4-FFF2-40B4-BE49-F238E27FC236}">
                <a16:creationId xmlns:a16="http://schemas.microsoft.com/office/drawing/2014/main" id="{950C44E7-32E3-B24C-5554-645DA670BB94}"/>
              </a:ext>
            </a:extLst>
          </p:cNvPr>
          <p:cNvSpPr txBox="1">
            <a:spLocks noChangeArrowheads="1"/>
          </p:cNvSpPr>
          <p:nvPr/>
        </p:nvSpPr>
        <p:spPr bwMode="auto">
          <a:xfrm>
            <a:off x="1187624" y="2214290"/>
            <a:ext cx="7671537" cy="1938992"/>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bool </a:t>
            </a:r>
            <a:r>
              <a:rPr kumimoji="1" lang="en-US" altLang="zh-CN" sz="1400" dirty="0" err="1">
                <a:solidFill>
                  <a:srgbClr val="FF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GetElem</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LinkNode</a:t>
            </a:r>
            <a:r>
              <a:rPr kumimoji="1" lang="en-US" altLang="zh-CN" sz="1400" dirty="0">
                <a:solidFill>
                  <a:srgbClr val="0000FF"/>
                </a:solidFill>
                <a:latin typeface="Consolas" pitchFamily="49" charset="0"/>
                <a:ea typeface="仿宋" pitchFamily="49" charset="-122"/>
                <a:cs typeface="Consolas" pitchFamily="49" charset="0"/>
              </a:rPr>
              <a:t> *L</a:t>
            </a:r>
            <a:r>
              <a:rPr kumimoji="1" lang="zh-CN" altLang="en-US" sz="1400" dirty="0">
                <a:solidFill>
                  <a:srgbClr val="0000FF"/>
                </a:solidFill>
                <a:latin typeface="Consolas" pitchFamily="49" charset="0"/>
                <a:ea typeface="仿宋" pitchFamily="49" charset="-122"/>
                <a:cs typeface="Consolas" pitchFamily="49" charset="0"/>
              </a:rPr>
              <a:t>，</a:t>
            </a:r>
            <a:r>
              <a:rPr kumimoji="1" lang="en-US" altLang="zh-CN" sz="1400" dirty="0">
                <a:solidFill>
                  <a:srgbClr val="0000FF"/>
                </a:solidFill>
                <a:latin typeface="Consolas" pitchFamily="49" charset="0"/>
                <a:ea typeface="仿宋" pitchFamily="49" charset="-122"/>
                <a:cs typeface="Consolas" pitchFamily="49" charset="0"/>
              </a:rPr>
              <a:t>int </a:t>
            </a:r>
            <a:r>
              <a:rPr kumimoji="1" lang="en-US" altLang="zh-CN" sz="1400" dirty="0" err="1">
                <a:solidFill>
                  <a:srgbClr val="0000FF"/>
                </a:solidFill>
                <a:latin typeface="Consolas" pitchFamily="49" charset="0"/>
                <a:ea typeface="仿宋" pitchFamily="49" charset="-122"/>
                <a:cs typeface="Consolas" pitchFamily="49" charset="0"/>
              </a:rPr>
              <a:t>i</a:t>
            </a:r>
            <a:r>
              <a:rPr kumimoji="1" lang="zh-CN" altLang="en-US"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ElemType</a:t>
            </a:r>
            <a:r>
              <a:rPr kumimoji="1" lang="en-US" altLang="zh-CN" sz="1400" dirty="0">
                <a:solidFill>
                  <a:srgbClr val="0000FF"/>
                </a:solidFill>
                <a:latin typeface="Consolas" pitchFamily="49" charset="0"/>
                <a:ea typeface="仿宋" pitchFamily="49" charset="-122"/>
                <a:cs typeface="Consolas" pitchFamily="49" charset="0"/>
              </a:rPr>
              <a:t> &amp;e)</a:t>
            </a: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a:t>
            </a: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int j=0;</a:t>
            </a: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a:t>
            </a:r>
            <a:r>
              <a:rPr kumimoji="1" lang="en-US" altLang="zh-CN" sz="1400" dirty="0" err="1">
                <a:solidFill>
                  <a:srgbClr val="0000FF"/>
                </a:solidFill>
                <a:latin typeface="Consolas" pitchFamily="49" charset="0"/>
                <a:ea typeface="仿宋" pitchFamily="49" charset="-122"/>
                <a:cs typeface="Consolas" pitchFamily="49" charset="0"/>
              </a:rPr>
              <a:t>LinkNode</a:t>
            </a:r>
            <a:r>
              <a:rPr kumimoji="1" lang="en-US" altLang="zh-CN" sz="1400" dirty="0">
                <a:solidFill>
                  <a:srgbClr val="0000FF"/>
                </a:solidFill>
                <a:latin typeface="Consolas" pitchFamily="49" charset="0"/>
                <a:ea typeface="仿宋" pitchFamily="49" charset="-122"/>
                <a:cs typeface="Consolas" pitchFamily="49" charset="0"/>
              </a:rPr>
              <a:t> *p=L;	 </a:t>
            </a:r>
            <a:r>
              <a:rPr kumimoji="1" lang="en-US" altLang="zh-CN" sz="1400" dirty="0">
                <a:solidFill>
                  <a:srgbClr val="00B0F0"/>
                </a:solidFill>
                <a:latin typeface="Consolas" pitchFamily="49" charset="0"/>
                <a:ea typeface="仿宋" pitchFamily="49" charset="-122"/>
                <a:cs typeface="Consolas" pitchFamily="49" charset="0"/>
              </a:rPr>
              <a:t>//p</a:t>
            </a:r>
            <a:r>
              <a:rPr kumimoji="1" lang="zh-CN" altLang="en-US" sz="1400" dirty="0">
                <a:solidFill>
                  <a:srgbClr val="00B0F0"/>
                </a:solidFill>
                <a:latin typeface="Consolas" pitchFamily="49" charset="0"/>
                <a:ea typeface="仿宋" pitchFamily="49" charset="-122"/>
                <a:cs typeface="Consolas" pitchFamily="49" charset="0"/>
              </a:rPr>
              <a:t>指向头结点，</a:t>
            </a:r>
            <a:r>
              <a:rPr kumimoji="1" lang="en-US" altLang="zh-CN" sz="1400" dirty="0">
                <a:solidFill>
                  <a:srgbClr val="00B0F0"/>
                </a:solidFill>
                <a:latin typeface="Consolas" pitchFamily="49" charset="0"/>
                <a:ea typeface="仿宋" pitchFamily="49" charset="-122"/>
                <a:cs typeface="Consolas" pitchFamily="49" charset="0"/>
              </a:rPr>
              <a:t>j</a:t>
            </a:r>
            <a:r>
              <a:rPr kumimoji="1" lang="zh-CN" altLang="en-US" sz="1400" dirty="0">
                <a:solidFill>
                  <a:srgbClr val="00B0F0"/>
                </a:solidFill>
                <a:latin typeface="Consolas" pitchFamily="49" charset="0"/>
                <a:ea typeface="仿宋" pitchFamily="49" charset="-122"/>
                <a:cs typeface="Consolas" pitchFamily="49" charset="0"/>
              </a:rPr>
              <a:t>置为</a:t>
            </a:r>
            <a:r>
              <a:rPr kumimoji="1" lang="en-US" altLang="zh-CN" sz="1400" dirty="0">
                <a:solidFill>
                  <a:srgbClr val="00B0F0"/>
                </a:solidFill>
                <a:latin typeface="Consolas" pitchFamily="49" charset="0"/>
                <a:ea typeface="仿宋" pitchFamily="49" charset="-122"/>
                <a:cs typeface="Consolas" pitchFamily="49" charset="0"/>
              </a:rPr>
              <a:t>0</a:t>
            </a:r>
            <a:r>
              <a:rPr kumimoji="1" lang="zh-CN" altLang="en-US" sz="1400" dirty="0">
                <a:solidFill>
                  <a:srgbClr val="00B0F0"/>
                </a:solidFill>
                <a:latin typeface="Consolas" pitchFamily="49" charset="0"/>
                <a:ea typeface="仿宋" pitchFamily="49" charset="-122"/>
                <a:cs typeface="Consolas" pitchFamily="49" charset="0"/>
              </a:rPr>
              <a:t>（即头结点的序号为</a:t>
            </a:r>
            <a:r>
              <a:rPr kumimoji="1" lang="en-US" altLang="zh-CN" sz="1400" dirty="0">
                <a:solidFill>
                  <a:srgbClr val="00B0F0"/>
                </a:solidFill>
                <a:latin typeface="Consolas" pitchFamily="49" charset="0"/>
                <a:ea typeface="仿宋" pitchFamily="49" charset="-122"/>
                <a:cs typeface="Consolas" pitchFamily="49" charset="0"/>
              </a:rPr>
              <a:t>0</a:t>
            </a:r>
            <a:r>
              <a:rPr kumimoji="1" lang="zh-CN" altLang="en-US" sz="1400" dirty="0">
                <a:solidFill>
                  <a:srgbClr val="00B0F0"/>
                </a:solidFill>
                <a:latin typeface="Consolas" pitchFamily="49" charset="0"/>
                <a:ea typeface="仿宋" pitchFamily="49" charset="-122"/>
                <a:cs typeface="Consolas" pitchFamily="49" charset="0"/>
              </a:rPr>
              <a:t>）</a:t>
            </a:r>
            <a:endParaRPr kumimoji="1" lang="en-US" altLang="zh-CN" sz="1400" dirty="0">
              <a:solidFill>
                <a:srgbClr val="00B0F0"/>
              </a:solidFill>
              <a:latin typeface="Consolas" pitchFamily="49" charset="0"/>
              <a:ea typeface="仿宋" pitchFamily="49" charset="-122"/>
              <a:cs typeface="Consolas" pitchFamily="49" charset="0"/>
            </a:endParaRPr>
          </a:p>
          <a:p>
            <a:pPr algn="l">
              <a:lnSpc>
                <a:spcPts val="1600"/>
              </a:lnSpc>
            </a:pPr>
            <a:endParaRPr kumimoji="1" lang="en-US" altLang="zh-CN" sz="1400" dirty="0">
              <a:solidFill>
                <a:srgbClr val="0000FF"/>
              </a:solidFill>
              <a:latin typeface="Consolas" pitchFamily="49" charset="0"/>
              <a:ea typeface="仿宋" pitchFamily="49" charset="-122"/>
              <a:cs typeface="Consolas" pitchFamily="49" charset="0"/>
            </a:endParaRP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while (j&lt;</a:t>
            </a:r>
            <a:r>
              <a:rPr kumimoji="1" lang="en-US" altLang="zh-CN" sz="1400" dirty="0" err="1">
                <a:solidFill>
                  <a:srgbClr val="0000FF"/>
                </a:solidFill>
                <a:latin typeface="Consolas" pitchFamily="49" charset="0"/>
                <a:ea typeface="仿宋" pitchFamily="49" charset="-122"/>
                <a:cs typeface="Consolas" pitchFamily="49" charset="0"/>
              </a:rPr>
              <a:t>i</a:t>
            </a:r>
            <a:r>
              <a:rPr kumimoji="1" lang="en-US" altLang="zh-CN" sz="1400" dirty="0">
                <a:solidFill>
                  <a:srgbClr val="0000FF"/>
                </a:solidFill>
                <a:latin typeface="Consolas" pitchFamily="49" charset="0"/>
                <a:ea typeface="仿宋" pitchFamily="49" charset="-122"/>
                <a:cs typeface="Consolas" pitchFamily="49" charset="0"/>
              </a:rPr>
              <a:t> &amp;&amp; p!=NULL)</a:t>
            </a:r>
            <a:endParaRPr kumimoji="1" lang="zh-CN" altLang="en-US" sz="1400" dirty="0">
              <a:solidFill>
                <a:srgbClr val="0000FF"/>
              </a:solidFill>
              <a:latin typeface="Consolas" pitchFamily="49" charset="0"/>
              <a:ea typeface="仿宋" pitchFamily="49" charset="-122"/>
              <a:cs typeface="Consolas" pitchFamily="49" charset="0"/>
            </a:endParaRPr>
          </a:p>
          <a:p>
            <a:pPr algn="l">
              <a:lnSpc>
                <a:spcPts val="1600"/>
              </a:lnSpc>
            </a:pPr>
            <a:r>
              <a:rPr kumimoji="1" lang="zh-CN" altLang="en-US" sz="1400" dirty="0">
                <a:solidFill>
                  <a:srgbClr val="0000FF"/>
                </a:solidFill>
                <a:latin typeface="Consolas" pitchFamily="49" charset="0"/>
                <a:ea typeface="仿宋" pitchFamily="49" charset="-122"/>
                <a:cs typeface="Consolas" pitchFamily="49" charset="0"/>
              </a:rPr>
              <a:t>   </a:t>
            </a:r>
            <a:r>
              <a:rPr kumimoji="1" lang="en-US" altLang="zh-CN" sz="1400" dirty="0">
                <a:solidFill>
                  <a:srgbClr val="0000FF"/>
                </a:solidFill>
                <a:latin typeface="Consolas" pitchFamily="49" charset="0"/>
                <a:ea typeface="仿宋" pitchFamily="49" charset="-122"/>
                <a:cs typeface="Consolas" pitchFamily="49" charset="0"/>
              </a:rPr>
              <a:t>{	j++;</a:t>
            </a: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p=p-&gt;next;</a:t>
            </a: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a:t>
            </a:r>
            <a:endParaRPr kumimoji="1" lang="en-US" altLang="zh-CN" sz="1800" dirty="0">
              <a:solidFill>
                <a:srgbClr val="0000FF"/>
              </a:solidFill>
              <a:latin typeface="Consolas" pitchFamily="49" charset="0"/>
              <a:ea typeface="仿宋" pitchFamily="49" charset="-122"/>
              <a:cs typeface="Consolas" pitchFamily="49" charset="0"/>
            </a:endParaRPr>
          </a:p>
        </p:txBody>
      </p:sp>
      <p:sp>
        <p:nvSpPr>
          <p:cNvPr id="3" name="文本框 2">
            <a:extLst>
              <a:ext uri="{FF2B5EF4-FFF2-40B4-BE49-F238E27FC236}">
                <a16:creationId xmlns:a16="http://schemas.microsoft.com/office/drawing/2014/main" id="{D26B3960-D4B1-20E2-507F-B9F70F6F4DB2}"/>
              </a:ext>
            </a:extLst>
          </p:cNvPr>
          <p:cNvSpPr txBox="1"/>
          <p:nvPr/>
        </p:nvSpPr>
        <p:spPr>
          <a:xfrm>
            <a:off x="1076680" y="1886247"/>
            <a:ext cx="7339984" cy="307777"/>
          </a:xfrm>
          <a:prstGeom prst="rect">
            <a:avLst/>
          </a:prstGeom>
          <a:noFill/>
        </p:spPr>
        <p:txBody>
          <a:bodyPr wrap="square">
            <a:spAutoFit/>
          </a:bodyPr>
          <a:lstStyle/>
          <a:p>
            <a:r>
              <a:rPr lang="zh-CN" altLang="en-US" sz="1400" dirty="0">
                <a:latin typeface="微软雅黑" pitchFamily="34" charset="-122"/>
                <a:ea typeface="微软雅黑" pitchFamily="34" charset="-122"/>
                <a:cs typeface="经典粗黑简" pitchFamily="49" charset="-122"/>
              </a:rPr>
              <a:t>在单链表</a:t>
            </a:r>
            <a:r>
              <a:rPr lang="en-US" altLang="zh-CN" sz="1400" dirty="0">
                <a:latin typeface="微软雅黑" pitchFamily="34" charset="-122"/>
                <a:ea typeface="微软雅黑" pitchFamily="34" charset="-122"/>
                <a:cs typeface="经典粗黑简" pitchFamily="49" charset="-122"/>
              </a:rPr>
              <a:t>L</a:t>
            </a:r>
            <a:r>
              <a:rPr lang="zh-CN" altLang="en-US" sz="1400" dirty="0">
                <a:latin typeface="微软雅黑" pitchFamily="34" charset="-122"/>
                <a:ea typeface="微软雅黑" pitchFamily="34" charset="-122"/>
                <a:cs typeface="经典粗黑简" pitchFamily="49" charset="-122"/>
              </a:rPr>
              <a:t>中从头开始找到第</a:t>
            </a:r>
            <a:r>
              <a:rPr lang="en-US" altLang="zh-CN" sz="1400" dirty="0" err="1">
                <a:latin typeface="微软雅黑" pitchFamily="34" charset="-122"/>
                <a:ea typeface="微软雅黑" pitchFamily="34" charset="-122"/>
                <a:cs typeface="经典粗黑简" pitchFamily="49" charset="-122"/>
              </a:rPr>
              <a:t>i</a:t>
            </a:r>
            <a:r>
              <a:rPr lang="zh-CN" altLang="en-US" sz="1400" dirty="0">
                <a:latin typeface="微软雅黑" pitchFamily="34" charset="-122"/>
                <a:ea typeface="微软雅黑" pitchFamily="34" charset="-122"/>
                <a:cs typeface="经典粗黑简" pitchFamily="49" charset="-122"/>
              </a:rPr>
              <a:t>个结点，若存在第</a:t>
            </a:r>
            <a:r>
              <a:rPr lang="en-US" altLang="zh-CN" sz="1400" dirty="0" err="1">
                <a:latin typeface="微软雅黑" pitchFamily="34" charset="-122"/>
                <a:ea typeface="微软雅黑" pitchFamily="34" charset="-122"/>
                <a:cs typeface="经典粗黑简" pitchFamily="49" charset="-122"/>
              </a:rPr>
              <a:t>i</a:t>
            </a:r>
            <a:r>
              <a:rPr lang="zh-CN" altLang="en-US" sz="1400" dirty="0">
                <a:latin typeface="微软雅黑" pitchFamily="34" charset="-122"/>
                <a:ea typeface="微软雅黑" pitchFamily="34" charset="-122"/>
                <a:cs typeface="经典粗黑简" pitchFamily="49" charset="-122"/>
              </a:rPr>
              <a:t>个数据结点，则将其</a:t>
            </a:r>
            <a:r>
              <a:rPr lang="en-US" altLang="zh-CN" sz="1400" dirty="0">
                <a:latin typeface="微软雅黑" pitchFamily="34" charset="-122"/>
                <a:ea typeface="微软雅黑" pitchFamily="34" charset="-122"/>
                <a:cs typeface="经典粗黑简" pitchFamily="49" charset="-122"/>
              </a:rPr>
              <a:t>data</a:t>
            </a:r>
            <a:r>
              <a:rPr lang="zh-CN" altLang="en-US" sz="1400" dirty="0">
                <a:latin typeface="微软雅黑" pitchFamily="34" charset="-122"/>
                <a:ea typeface="微软雅黑" pitchFamily="34" charset="-122"/>
                <a:cs typeface="经典粗黑简" pitchFamily="49" charset="-122"/>
              </a:rPr>
              <a:t>域值赋给变量</a:t>
            </a:r>
            <a:r>
              <a:rPr lang="en-US" altLang="zh-CN" sz="1400" dirty="0">
                <a:latin typeface="微软雅黑" pitchFamily="34" charset="-122"/>
                <a:ea typeface="微软雅黑" pitchFamily="34" charset="-122"/>
                <a:cs typeface="经典粗黑简" pitchFamily="49" charset="-122"/>
              </a:rPr>
              <a:t>e</a:t>
            </a:r>
            <a:r>
              <a:rPr lang="zh-CN" altLang="en-US" sz="1400" dirty="0">
                <a:latin typeface="微软雅黑" pitchFamily="34" charset="-122"/>
                <a:ea typeface="微软雅黑" pitchFamily="34" charset="-122"/>
                <a:cs typeface="经典粗黑简" pitchFamily="49" charset="-122"/>
              </a:rPr>
              <a:t>。</a:t>
            </a:r>
          </a:p>
        </p:txBody>
      </p:sp>
      <p:sp>
        <p:nvSpPr>
          <p:cNvPr id="34" name="矩形 33">
            <a:extLst>
              <a:ext uri="{FF2B5EF4-FFF2-40B4-BE49-F238E27FC236}">
                <a16:creationId xmlns:a16="http://schemas.microsoft.com/office/drawing/2014/main" id="{F5BDDBD1-A0B0-4544-BCCD-336D9F9024ED}"/>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33656216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CC513-6A09-2672-1BAE-87ACD432F93A}"/>
            </a:ext>
          </a:extLst>
        </p:cNvPr>
        <p:cNvGrpSpPr/>
        <p:nvPr/>
      </p:nvGrpSpPr>
      <p:grpSpPr>
        <a:xfrm>
          <a:off x="0" y="0"/>
          <a:ext cx="0" cy="0"/>
          <a:chOff x="0" y="0"/>
          <a:chExt cx="0" cy="0"/>
        </a:xfrm>
      </p:grpSpPr>
      <p:cxnSp>
        <p:nvCxnSpPr>
          <p:cNvPr id="16" name="直接连接符 15">
            <a:extLst>
              <a:ext uri="{FF2B5EF4-FFF2-40B4-BE49-F238E27FC236}">
                <a16:creationId xmlns:a16="http://schemas.microsoft.com/office/drawing/2014/main" id="{B1300E39-D190-A650-75DA-B51BE0FD5379}"/>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6" name="Rectangle 5">
            <a:extLst>
              <a:ext uri="{FF2B5EF4-FFF2-40B4-BE49-F238E27FC236}">
                <a16:creationId xmlns:a16="http://schemas.microsoft.com/office/drawing/2014/main" id="{5A32FEC0-8805-DE8B-EACB-AE402A7A371D}"/>
              </a:ext>
            </a:extLst>
          </p:cNvPr>
          <p:cNvSpPr>
            <a:spLocks noChangeArrowheads="1"/>
          </p:cNvSpPr>
          <p:nvPr/>
        </p:nvSpPr>
        <p:spPr bwMode="auto">
          <a:xfrm>
            <a:off x="2124453" y="446872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7" name="Line 6">
            <a:extLst>
              <a:ext uri="{FF2B5EF4-FFF2-40B4-BE49-F238E27FC236}">
                <a16:creationId xmlns:a16="http://schemas.microsoft.com/office/drawing/2014/main" id="{6F141255-06F2-CC14-7D36-78A2717817E3}"/>
              </a:ext>
            </a:extLst>
          </p:cNvPr>
          <p:cNvSpPr>
            <a:spLocks noChangeShapeType="1"/>
          </p:cNvSpPr>
          <p:nvPr/>
        </p:nvSpPr>
        <p:spPr bwMode="auto">
          <a:xfrm>
            <a:off x="2657853" y="446872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Rectangle 25">
            <a:extLst>
              <a:ext uri="{FF2B5EF4-FFF2-40B4-BE49-F238E27FC236}">
                <a16:creationId xmlns:a16="http://schemas.microsoft.com/office/drawing/2014/main" id="{A9FE5C28-AB5B-A613-8294-3C47ACFD03B5}"/>
              </a:ext>
            </a:extLst>
          </p:cNvPr>
          <p:cNvSpPr>
            <a:spLocks noChangeArrowheads="1"/>
          </p:cNvSpPr>
          <p:nvPr/>
        </p:nvSpPr>
        <p:spPr bwMode="auto">
          <a:xfrm>
            <a:off x="4288338" y="454269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99" name="Rectangle 36">
            <a:extLst>
              <a:ext uri="{FF2B5EF4-FFF2-40B4-BE49-F238E27FC236}">
                <a16:creationId xmlns:a16="http://schemas.microsoft.com/office/drawing/2014/main" id="{2573325E-0545-ADAE-C079-727BACCF7495}"/>
              </a:ext>
            </a:extLst>
          </p:cNvPr>
          <p:cNvSpPr>
            <a:spLocks noChangeArrowheads="1"/>
          </p:cNvSpPr>
          <p:nvPr/>
        </p:nvSpPr>
        <p:spPr bwMode="auto">
          <a:xfrm>
            <a:off x="7422487" y="4564692"/>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00" name="Line 29">
            <a:extLst>
              <a:ext uri="{FF2B5EF4-FFF2-40B4-BE49-F238E27FC236}">
                <a16:creationId xmlns:a16="http://schemas.microsoft.com/office/drawing/2014/main" id="{F259E90A-0CE2-8B73-451D-204D657DA0D3}"/>
              </a:ext>
            </a:extLst>
          </p:cNvPr>
          <p:cNvSpPr>
            <a:spLocks noChangeShapeType="1"/>
          </p:cNvSpPr>
          <p:nvPr/>
        </p:nvSpPr>
        <p:spPr bwMode="auto">
          <a:xfrm>
            <a:off x="571975" y="4720396"/>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 name="Rectangle 5">
            <a:extLst>
              <a:ext uri="{FF2B5EF4-FFF2-40B4-BE49-F238E27FC236}">
                <a16:creationId xmlns:a16="http://schemas.microsoft.com/office/drawing/2014/main" id="{63101821-4489-2C8C-2FDD-88C4AF587207}"/>
              </a:ext>
            </a:extLst>
          </p:cNvPr>
          <p:cNvSpPr>
            <a:spLocks noChangeArrowheads="1"/>
          </p:cNvSpPr>
          <p:nvPr/>
        </p:nvSpPr>
        <p:spPr bwMode="auto">
          <a:xfrm>
            <a:off x="3300110" y="4474099"/>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ED9FE2C9-32D6-9468-03FE-93DEDA9D4825}"/>
              </a:ext>
            </a:extLst>
          </p:cNvPr>
          <p:cNvSpPr>
            <a:spLocks noChangeShapeType="1"/>
          </p:cNvSpPr>
          <p:nvPr/>
        </p:nvSpPr>
        <p:spPr bwMode="auto">
          <a:xfrm>
            <a:off x="3833510" y="447409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29">
            <a:extLst>
              <a:ext uri="{FF2B5EF4-FFF2-40B4-BE49-F238E27FC236}">
                <a16:creationId xmlns:a16="http://schemas.microsoft.com/office/drawing/2014/main" id="{CC7219BA-51C9-DEB5-5A70-44513ACFBB24}"/>
              </a:ext>
            </a:extLst>
          </p:cNvPr>
          <p:cNvSpPr>
            <a:spLocks noChangeShapeType="1"/>
          </p:cNvSpPr>
          <p:nvPr/>
        </p:nvSpPr>
        <p:spPr bwMode="auto">
          <a:xfrm>
            <a:off x="2919110" y="4728272"/>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 name="Rectangle 5">
            <a:extLst>
              <a:ext uri="{FF2B5EF4-FFF2-40B4-BE49-F238E27FC236}">
                <a16:creationId xmlns:a16="http://schemas.microsoft.com/office/drawing/2014/main" id="{19930731-5F61-BDED-0F65-1DA6E4E3E8A5}"/>
              </a:ext>
            </a:extLst>
          </p:cNvPr>
          <p:cNvSpPr>
            <a:spLocks noChangeArrowheads="1"/>
          </p:cNvSpPr>
          <p:nvPr/>
        </p:nvSpPr>
        <p:spPr bwMode="auto">
          <a:xfrm>
            <a:off x="4901621" y="4490727"/>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105" name="Line 6">
            <a:extLst>
              <a:ext uri="{FF2B5EF4-FFF2-40B4-BE49-F238E27FC236}">
                <a16:creationId xmlns:a16="http://schemas.microsoft.com/office/drawing/2014/main" id="{75D89BF2-7EE5-C2E7-3266-32BFE3998EA5}"/>
              </a:ext>
            </a:extLst>
          </p:cNvPr>
          <p:cNvSpPr>
            <a:spLocks noChangeShapeType="1"/>
          </p:cNvSpPr>
          <p:nvPr/>
        </p:nvSpPr>
        <p:spPr bwMode="auto">
          <a:xfrm>
            <a:off x="5638194" y="4485351"/>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 name="Line 29">
            <a:extLst>
              <a:ext uri="{FF2B5EF4-FFF2-40B4-BE49-F238E27FC236}">
                <a16:creationId xmlns:a16="http://schemas.microsoft.com/office/drawing/2014/main" id="{CE025A98-1F25-A9DF-3469-D94896E41A7C}"/>
              </a:ext>
            </a:extLst>
          </p:cNvPr>
          <p:cNvSpPr>
            <a:spLocks noChangeShapeType="1"/>
          </p:cNvSpPr>
          <p:nvPr/>
        </p:nvSpPr>
        <p:spPr bwMode="auto">
          <a:xfrm>
            <a:off x="4700629" y="4719053"/>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 name="Line 29">
            <a:extLst>
              <a:ext uri="{FF2B5EF4-FFF2-40B4-BE49-F238E27FC236}">
                <a16:creationId xmlns:a16="http://schemas.microsoft.com/office/drawing/2014/main" id="{BAA8CA97-82F7-E917-6014-55CC15E26423}"/>
              </a:ext>
            </a:extLst>
          </p:cNvPr>
          <p:cNvSpPr>
            <a:spLocks noChangeShapeType="1"/>
          </p:cNvSpPr>
          <p:nvPr/>
        </p:nvSpPr>
        <p:spPr bwMode="auto">
          <a:xfrm>
            <a:off x="4024010" y="4725585"/>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 name="Rectangle 5">
            <a:extLst>
              <a:ext uri="{FF2B5EF4-FFF2-40B4-BE49-F238E27FC236}">
                <a16:creationId xmlns:a16="http://schemas.microsoft.com/office/drawing/2014/main" id="{2A6A5519-1403-3CAD-8FA8-D4B37A421C36}"/>
              </a:ext>
            </a:extLst>
          </p:cNvPr>
          <p:cNvSpPr>
            <a:spLocks noChangeArrowheads="1"/>
          </p:cNvSpPr>
          <p:nvPr/>
        </p:nvSpPr>
        <p:spPr bwMode="auto">
          <a:xfrm>
            <a:off x="6294380" y="4502556"/>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09" name="Line 6">
            <a:extLst>
              <a:ext uri="{FF2B5EF4-FFF2-40B4-BE49-F238E27FC236}">
                <a16:creationId xmlns:a16="http://schemas.microsoft.com/office/drawing/2014/main" id="{6BAA53B5-E64F-0D72-B407-F427F0715315}"/>
              </a:ext>
            </a:extLst>
          </p:cNvPr>
          <p:cNvSpPr>
            <a:spLocks noChangeShapeType="1"/>
          </p:cNvSpPr>
          <p:nvPr/>
        </p:nvSpPr>
        <p:spPr bwMode="auto">
          <a:xfrm>
            <a:off x="6827780" y="4502556"/>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 name="Line 29">
            <a:extLst>
              <a:ext uri="{FF2B5EF4-FFF2-40B4-BE49-F238E27FC236}">
                <a16:creationId xmlns:a16="http://schemas.microsoft.com/office/drawing/2014/main" id="{40B437F9-798A-A67A-5C7B-9EEA083225AF}"/>
              </a:ext>
            </a:extLst>
          </p:cNvPr>
          <p:cNvSpPr>
            <a:spLocks noChangeShapeType="1"/>
          </p:cNvSpPr>
          <p:nvPr/>
        </p:nvSpPr>
        <p:spPr bwMode="auto">
          <a:xfrm>
            <a:off x="5913380" y="4756729"/>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 name="Line 29">
            <a:extLst>
              <a:ext uri="{FF2B5EF4-FFF2-40B4-BE49-F238E27FC236}">
                <a16:creationId xmlns:a16="http://schemas.microsoft.com/office/drawing/2014/main" id="{DF5E6093-FA11-42FE-E6C0-AA8A339BD184}"/>
              </a:ext>
            </a:extLst>
          </p:cNvPr>
          <p:cNvSpPr>
            <a:spLocks noChangeShapeType="1"/>
          </p:cNvSpPr>
          <p:nvPr/>
        </p:nvSpPr>
        <p:spPr bwMode="auto">
          <a:xfrm>
            <a:off x="7059088" y="4757628"/>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 name="Rectangle 5">
            <a:extLst>
              <a:ext uri="{FF2B5EF4-FFF2-40B4-BE49-F238E27FC236}">
                <a16:creationId xmlns:a16="http://schemas.microsoft.com/office/drawing/2014/main" id="{56911AD2-FA9A-3A83-4BA6-DAA76BA3CFAF}"/>
              </a:ext>
            </a:extLst>
          </p:cNvPr>
          <p:cNvSpPr>
            <a:spLocks noChangeArrowheads="1"/>
          </p:cNvSpPr>
          <p:nvPr/>
        </p:nvSpPr>
        <p:spPr bwMode="auto">
          <a:xfrm>
            <a:off x="8138196" y="451769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113" name="Line 6">
            <a:extLst>
              <a:ext uri="{FF2B5EF4-FFF2-40B4-BE49-F238E27FC236}">
                <a16:creationId xmlns:a16="http://schemas.microsoft.com/office/drawing/2014/main" id="{6D806982-C1EA-8DC1-282C-304E152E2D8A}"/>
              </a:ext>
            </a:extLst>
          </p:cNvPr>
          <p:cNvSpPr>
            <a:spLocks noChangeShapeType="1"/>
          </p:cNvSpPr>
          <p:nvPr/>
        </p:nvSpPr>
        <p:spPr bwMode="auto">
          <a:xfrm>
            <a:off x="8697723" y="451769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 name="Line 29">
            <a:extLst>
              <a:ext uri="{FF2B5EF4-FFF2-40B4-BE49-F238E27FC236}">
                <a16:creationId xmlns:a16="http://schemas.microsoft.com/office/drawing/2014/main" id="{776D53D6-7BAC-B3FC-F130-46A61E2C0BC8}"/>
              </a:ext>
            </a:extLst>
          </p:cNvPr>
          <p:cNvSpPr>
            <a:spLocks noChangeShapeType="1"/>
          </p:cNvSpPr>
          <p:nvPr/>
        </p:nvSpPr>
        <p:spPr bwMode="auto">
          <a:xfrm>
            <a:off x="7757196" y="4765333"/>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 name="矩形 114">
            <a:extLst>
              <a:ext uri="{FF2B5EF4-FFF2-40B4-BE49-F238E27FC236}">
                <a16:creationId xmlns:a16="http://schemas.microsoft.com/office/drawing/2014/main" id="{FBEB5F0C-724F-7716-C4B0-DABF6F194C48}"/>
              </a:ext>
            </a:extLst>
          </p:cNvPr>
          <p:cNvSpPr/>
          <p:nvPr/>
        </p:nvSpPr>
        <p:spPr>
          <a:xfrm>
            <a:off x="202964" y="4510397"/>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116" name="Rectangle 5">
            <a:extLst>
              <a:ext uri="{FF2B5EF4-FFF2-40B4-BE49-F238E27FC236}">
                <a16:creationId xmlns:a16="http://schemas.microsoft.com/office/drawing/2014/main" id="{6E3088BA-53E9-0D72-2078-1EA2625B3C18}"/>
              </a:ext>
            </a:extLst>
          </p:cNvPr>
          <p:cNvSpPr>
            <a:spLocks noChangeArrowheads="1"/>
          </p:cNvSpPr>
          <p:nvPr/>
        </p:nvSpPr>
        <p:spPr bwMode="auto">
          <a:xfrm>
            <a:off x="963261" y="4468725"/>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17" name="Line 29">
            <a:extLst>
              <a:ext uri="{FF2B5EF4-FFF2-40B4-BE49-F238E27FC236}">
                <a16:creationId xmlns:a16="http://schemas.microsoft.com/office/drawing/2014/main" id="{763A7DA8-85EF-DA6E-3F3E-2C4E011E9D49}"/>
              </a:ext>
            </a:extLst>
          </p:cNvPr>
          <p:cNvSpPr>
            <a:spLocks noChangeShapeType="1"/>
          </p:cNvSpPr>
          <p:nvPr/>
        </p:nvSpPr>
        <p:spPr bwMode="auto">
          <a:xfrm>
            <a:off x="1757918" y="4728272"/>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 name="Line 6">
            <a:extLst>
              <a:ext uri="{FF2B5EF4-FFF2-40B4-BE49-F238E27FC236}">
                <a16:creationId xmlns:a16="http://schemas.microsoft.com/office/drawing/2014/main" id="{0604519B-C6F8-34BA-A078-027AA957DBE2}"/>
              </a:ext>
            </a:extLst>
          </p:cNvPr>
          <p:cNvSpPr>
            <a:spLocks noChangeShapeType="1"/>
          </p:cNvSpPr>
          <p:nvPr/>
        </p:nvSpPr>
        <p:spPr bwMode="auto">
          <a:xfrm>
            <a:off x="1517031" y="448077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 name="Rectangle 55">
            <a:extLst>
              <a:ext uri="{FF2B5EF4-FFF2-40B4-BE49-F238E27FC236}">
                <a16:creationId xmlns:a16="http://schemas.microsoft.com/office/drawing/2014/main" id="{79DE405C-F77D-C88C-DE24-E434ED344E59}"/>
              </a:ext>
            </a:extLst>
          </p:cNvPr>
          <p:cNvSpPr>
            <a:spLocks noChangeArrowheads="1"/>
          </p:cNvSpPr>
          <p:nvPr/>
        </p:nvSpPr>
        <p:spPr bwMode="auto">
          <a:xfrm>
            <a:off x="5636959" y="3992678"/>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121" name="Line 29">
            <a:extLst>
              <a:ext uri="{FF2B5EF4-FFF2-40B4-BE49-F238E27FC236}">
                <a16:creationId xmlns:a16="http://schemas.microsoft.com/office/drawing/2014/main" id="{080B3679-73C5-9E1C-01C0-0EA799825DB5}"/>
              </a:ext>
            </a:extLst>
          </p:cNvPr>
          <p:cNvSpPr>
            <a:spLocks noChangeShapeType="1"/>
          </p:cNvSpPr>
          <p:nvPr/>
        </p:nvSpPr>
        <p:spPr bwMode="auto">
          <a:xfrm>
            <a:off x="5940910" y="4261055"/>
            <a:ext cx="384693" cy="2286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 name="AutoShape 30">
            <a:extLst>
              <a:ext uri="{FF2B5EF4-FFF2-40B4-BE49-F238E27FC236}">
                <a16:creationId xmlns:a16="http://schemas.microsoft.com/office/drawing/2014/main" id="{13E34436-110D-030F-9505-C37AB5FCBAA6}"/>
              </a:ext>
            </a:extLst>
          </p:cNvPr>
          <p:cNvSpPr>
            <a:spLocks noChangeArrowheads="1"/>
          </p:cNvSpPr>
          <p:nvPr/>
        </p:nvSpPr>
        <p:spPr bwMode="auto">
          <a:xfrm>
            <a:off x="6516216" y="4227934"/>
            <a:ext cx="1900448" cy="228600"/>
          </a:xfrm>
          <a:prstGeom prst="rightArrow">
            <a:avLst>
              <a:gd name="adj1" fmla="val 50000"/>
              <a:gd name="adj2" fmla="val 56250"/>
            </a:avLst>
          </a:prstGeom>
          <a:solidFill>
            <a:srgbClr val="FFCC00"/>
          </a:solidFill>
          <a:ln w="6350">
            <a:solidFill>
              <a:schemeClr val="tx1"/>
            </a:solidFill>
            <a:miter lim="800000"/>
            <a:headEnd/>
            <a:tailEnd/>
          </a:ln>
        </p:spPr>
        <p:txBody>
          <a:bodyPr wrap="none" anchor="ctr"/>
          <a:lstStyle/>
          <a:p>
            <a:endParaRPr lang="zh-CN" altLang="en-US"/>
          </a:p>
        </p:txBody>
      </p:sp>
      <p:sp>
        <p:nvSpPr>
          <p:cNvPr id="2" name="Rectangle 2">
            <a:extLst>
              <a:ext uri="{FF2B5EF4-FFF2-40B4-BE49-F238E27FC236}">
                <a16:creationId xmlns:a16="http://schemas.microsoft.com/office/drawing/2014/main" id="{BA71E5C8-074C-1525-5219-BB69B8808A59}"/>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7" name="矩形 6">
            <a:extLst>
              <a:ext uri="{FF2B5EF4-FFF2-40B4-BE49-F238E27FC236}">
                <a16:creationId xmlns:a16="http://schemas.microsoft.com/office/drawing/2014/main" id="{BA88FFC3-8300-5AA5-796B-17A41826C082}"/>
              </a:ext>
            </a:extLst>
          </p:cNvPr>
          <p:cNvSpPr/>
          <p:nvPr/>
        </p:nvSpPr>
        <p:spPr>
          <a:xfrm>
            <a:off x="1053170" y="1513985"/>
            <a:ext cx="4238910"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⑥</a:t>
            </a:r>
            <a:r>
              <a:rPr lang="zh-CN" altLang="en-US" sz="2000" dirty="0">
                <a:latin typeface="微软雅黑" pitchFamily="34" charset="-122"/>
                <a:ea typeface="微软雅黑" pitchFamily="34" charset="-122"/>
                <a:cs typeface="经典粗黑简" pitchFamily="49" charset="-122"/>
              </a:rPr>
              <a:t>按序号读取单链表中的数据元素</a:t>
            </a:r>
          </a:p>
        </p:txBody>
      </p:sp>
      <p:sp>
        <p:nvSpPr>
          <p:cNvPr id="5" name="Text Box 2">
            <a:extLst>
              <a:ext uri="{FF2B5EF4-FFF2-40B4-BE49-F238E27FC236}">
                <a16:creationId xmlns:a16="http://schemas.microsoft.com/office/drawing/2014/main" id="{37F3C537-24C4-50BC-CB08-CC9504B54272}"/>
              </a:ext>
            </a:extLst>
          </p:cNvPr>
          <p:cNvSpPr txBox="1">
            <a:spLocks noChangeArrowheads="1"/>
          </p:cNvSpPr>
          <p:nvPr/>
        </p:nvSpPr>
        <p:spPr bwMode="auto">
          <a:xfrm>
            <a:off x="1076680" y="2414058"/>
            <a:ext cx="7779236" cy="1799806"/>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tIns="180000" bIns="180000">
            <a:spAutoFit/>
          </a:bodyPr>
          <a:lstStyle/>
          <a:p>
            <a:pPr algn="l">
              <a:lnSpc>
                <a:spcPts val="1600"/>
              </a:lnSpc>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400" dirty="0">
                <a:solidFill>
                  <a:srgbClr val="0000FF"/>
                </a:solidFill>
                <a:latin typeface="Consolas" pitchFamily="49" charset="0"/>
                <a:ea typeface="仿宋" pitchFamily="49" charset="-122"/>
                <a:cs typeface="Consolas" pitchFamily="49" charset="0"/>
              </a:rPr>
              <a:t>if (p==NULL)	</a:t>
            </a:r>
            <a:r>
              <a:rPr kumimoji="1" lang="en-US" altLang="zh-CN" sz="1400" dirty="0">
                <a:solidFill>
                  <a:srgbClr val="00B0F0"/>
                </a:solidFill>
                <a:latin typeface="Consolas" pitchFamily="49" charset="0"/>
                <a:ea typeface="仿宋" pitchFamily="49" charset="-122"/>
                <a:cs typeface="Consolas" pitchFamily="49" charset="0"/>
              </a:rPr>
              <a:t>//</a:t>
            </a:r>
            <a:r>
              <a:rPr kumimoji="1" lang="zh-CN" altLang="en-US" sz="1400" dirty="0">
                <a:solidFill>
                  <a:srgbClr val="00B0F0"/>
                </a:solidFill>
                <a:latin typeface="Consolas" pitchFamily="49" charset="0"/>
                <a:ea typeface="仿宋" pitchFamily="49" charset="-122"/>
                <a:cs typeface="Consolas" pitchFamily="49" charset="0"/>
              </a:rPr>
              <a:t>不存在第</a:t>
            </a:r>
            <a:r>
              <a:rPr kumimoji="1" lang="en-US" altLang="zh-CN" sz="1400" i="1" dirty="0" err="1">
                <a:solidFill>
                  <a:srgbClr val="00B0F0"/>
                </a:solidFill>
                <a:latin typeface="Consolas" pitchFamily="49" charset="0"/>
                <a:ea typeface="仿宋" pitchFamily="49" charset="-122"/>
                <a:cs typeface="Consolas" pitchFamily="49" charset="0"/>
              </a:rPr>
              <a:t>i</a:t>
            </a:r>
            <a:r>
              <a:rPr kumimoji="1" lang="zh-CN" altLang="en-US" sz="1400" dirty="0">
                <a:solidFill>
                  <a:srgbClr val="00B0F0"/>
                </a:solidFill>
                <a:latin typeface="Consolas" pitchFamily="49" charset="0"/>
                <a:ea typeface="仿宋" pitchFamily="49" charset="-122"/>
                <a:cs typeface="Consolas" pitchFamily="49" charset="0"/>
              </a:rPr>
              <a:t>个数据结点，返回</a:t>
            </a:r>
            <a:r>
              <a:rPr kumimoji="1" lang="en-US" altLang="zh-CN" sz="1400" dirty="0">
                <a:solidFill>
                  <a:srgbClr val="00B0F0"/>
                </a:solidFill>
                <a:latin typeface="Consolas" pitchFamily="49" charset="0"/>
                <a:ea typeface="仿宋" pitchFamily="49" charset="-122"/>
                <a:cs typeface="Consolas" pitchFamily="49" charset="0"/>
              </a:rPr>
              <a:t>false</a:t>
            </a: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return false;</a:t>
            </a: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else			</a:t>
            </a:r>
            <a:r>
              <a:rPr kumimoji="1" lang="en-US" altLang="zh-CN" sz="1400" dirty="0">
                <a:solidFill>
                  <a:srgbClr val="00B0F0"/>
                </a:solidFill>
                <a:latin typeface="Consolas" pitchFamily="49" charset="0"/>
                <a:ea typeface="仿宋" pitchFamily="49" charset="-122"/>
                <a:cs typeface="Consolas" pitchFamily="49" charset="0"/>
              </a:rPr>
              <a:t>//</a:t>
            </a:r>
            <a:r>
              <a:rPr kumimoji="1" lang="zh-CN" altLang="en-US" sz="1400" dirty="0">
                <a:solidFill>
                  <a:srgbClr val="00B0F0"/>
                </a:solidFill>
                <a:latin typeface="Consolas" pitchFamily="49" charset="0"/>
                <a:ea typeface="仿宋" pitchFamily="49" charset="-122"/>
                <a:cs typeface="Consolas" pitchFamily="49" charset="0"/>
              </a:rPr>
              <a:t>存在第</a:t>
            </a:r>
            <a:r>
              <a:rPr kumimoji="1" lang="en-US" altLang="zh-CN" sz="1400" i="1" dirty="0" err="1">
                <a:solidFill>
                  <a:srgbClr val="00B0F0"/>
                </a:solidFill>
                <a:latin typeface="Consolas" pitchFamily="49" charset="0"/>
                <a:ea typeface="仿宋" pitchFamily="49" charset="-122"/>
                <a:cs typeface="Consolas" pitchFamily="49" charset="0"/>
              </a:rPr>
              <a:t>i</a:t>
            </a:r>
            <a:r>
              <a:rPr kumimoji="1" lang="zh-CN" altLang="en-US" sz="1400" dirty="0">
                <a:solidFill>
                  <a:srgbClr val="00B0F0"/>
                </a:solidFill>
                <a:latin typeface="Consolas" pitchFamily="49" charset="0"/>
                <a:ea typeface="仿宋" pitchFamily="49" charset="-122"/>
                <a:cs typeface="Consolas" pitchFamily="49" charset="0"/>
              </a:rPr>
              <a:t>个数据结点，返回</a:t>
            </a:r>
            <a:r>
              <a:rPr kumimoji="1" lang="en-US" altLang="zh-CN" sz="1400" dirty="0">
                <a:solidFill>
                  <a:srgbClr val="00B0F0"/>
                </a:solidFill>
                <a:latin typeface="Consolas" pitchFamily="49" charset="0"/>
                <a:ea typeface="仿宋" pitchFamily="49" charset="-122"/>
                <a:cs typeface="Consolas" pitchFamily="49" charset="0"/>
              </a:rPr>
              <a:t>true</a:t>
            </a: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  e=p-&gt;data;</a:t>
            </a: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return true;</a:t>
            </a: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   }</a:t>
            </a:r>
          </a:p>
          <a:p>
            <a:pPr algn="l">
              <a:lnSpc>
                <a:spcPts val="1600"/>
              </a:lnSpc>
            </a:pPr>
            <a:r>
              <a:rPr kumimoji="1" lang="en-US" altLang="zh-CN" sz="1400" dirty="0">
                <a:solidFill>
                  <a:srgbClr val="0000FF"/>
                </a:solidFill>
                <a:latin typeface="Consolas" pitchFamily="49" charset="0"/>
                <a:ea typeface="仿宋" pitchFamily="49" charset="-122"/>
                <a:cs typeface="Consolas" pitchFamily="49" charset="0"/>
              </a:rPr>
              <a:t>}</a:t>
            </a:r>
          </a:p>
        </p:txBody>
      </p:sp>
      <p:sp>
        <p:nvSpPr>
          <p:cNvPr id="4" name="文本框 3">
            <a:extLst>
              <a:ext uri="{FF2B5EF4-FFF2-40B4-BE49-F238E27FC236}">
                <a16:creationId xmlns:a16="http://schemas.microsoft.com/office/drawing/2014/main" id="{DD020199-7017-EB02-46DB-277F35D51EF6}"/>
              </a:ext>
            </a:extLst>
          </p:cNvPr>
          <p:cNvSpPr txBox="1"/>
          <p:nvPr/>
        </p:nvSpPr>
        <p:spPr>
          <a:xfrm>
            <a:off x="1076680" y="1886247"/>
            <a:ext cx="7339984" cy="307777"/>
          </a:xfrm>
          <a:prstGeom prst="rect">
            <a:avLst/>
          </a:prstGeom>
          <a:noFill/>
        </p:spPr>
        <p:txBody>
          <a:bodyPr wrap="square">
            <a:spAutoFit/>
          </a:bodyPr>
          <a:lstStyle/>
          <a:p>
            <a:r>
              <a:rPr lang="zh-CN" altLang="en-US" sz="1400" dirty="0">
                <a:latin typeface="微软雅黑" pitchFamily="34" charset="-122"/>
                <a:ea typeface="微软雅黑" pitchFamily="34" charset="-122"/>
                <a:cs typeface="经典粗黑简" pitchFamily="49" charset="-122"/>
              </a:rPr>
              <a:t>在单链表</a:t>
            </a:r>
            <a:r>
              <a:rPr lang="en-US" altLang="zh-CN" sz="1400" dirty="0">
                <a:latin typeface="微软雅黑" pitchFamily="34" charset="-122"/>
                <a:ea typeface="微软雅黑" pitchFamily="34" charset="-122"/>
                <a:cs typeface="经典粗黑简" pitchFamily="49" charset="-122"/>
              </a:rPr>
              <a:t>L</a:t>
            </a:r>
            <a:r>
              <a:rPr lang="zh-CN" altLang="en-US" sz="1400" dirty="0">
                <a:latin typeface="微软雅黑" pitchFamily="34" charset="-122"/>
                <a:ea typeface="微软雅黑" pitchFamily="34" charset="-122"/>
                <a:cs typeface="经典粗黑简" pitchFamily="49" charset="-122"/>
              </a:rPr>
              <a:t>中从头开始找到第</a:t>
            </a:r>
            <a:r>
              <a:rPr lang="en-US" altLang="zh-CN" sz="1400" dirty="0" err="1">
                <a:latin typeface="微软雅黑" pitchFamily="34" charset="-122"/>
                <a:ea typeface="微软雅黑" pitchFamily="34" charset="-122"/>
                <a:cs typeface="经典粗黑简" pitchFamily="49" charset="-122"/>
              </a:rPr>
              <a:t>i</a:t>
            </a:r>
            <a:r>
              <a:rPr lang="zh-CN" altLang="en-US" sz="1400" dirty="0">
                <a:latin typeface="微软雅黑" pitchFamily="34" charset="-122"/>
                <a:ea typeface="微软雅黑" pitchFamily="34" charset="-122"/>
                <a:cs typeface="经典粗黑简" pitchFamily="49" charset="-122"/>
              </a:rPr>
              <a:t>个结点，若存在第</a:t>
            </a:r>
            <a:r>
              <a:rPr lang="en-US" altLang="zh-CN" sz="1400" dirty="0" err="1">
                <a:latin typeface="微软雅黑" pitchFamily="34" charset="-122"/>
                <a:ea typeface="微软雅黑" pitchFamily="34" charset="-122"/>
                <a:cs typeface="经典粗黑简" pitchFamily="49" charset="-122"/>
              </a:rPr>
              <a:t>i</a:t>
            </a:r>
            <a:r>
              <a:rPr lang="zh-CN" altLang="en-US" sz="1400" dirty="0">
                <a:latin typeface="微软雅黑" pitchFamily="34" charset="-122"/>
                <a:ea typeface="微软雅黑" pitchFamily="34" charset="-122"/>
                <a:cs typeface="经典粗黑简" pitchFamily="49" charset="-122"/>
              </a:rPr>
              <a:t>个数据结点，则将其</a:t>
            </a:r>
            <a:r>
              <a:rPr lang="en-US" altLang="zh-CN" sz="1400" dirty="0">
                <a:latin typeface="微软雅黑" pitchFamily="34" charset="-122"/>
                <a:ea typeface="微软雅黑" pitchFamily="34" charset="-122"/>
                <a:cs typeface="经典粗黑简" pitchFamily="49" charset="-122"/>
              </a:rPr>
              <a:t>data</a:t>
            </a:r>
            <a:r>
              <a:rPr lang="zh-CN" altLang="en-US" sz="1400" dirty="0">
                <a:latin typeface="微软雅黑" pitchFamily="34" charset="-122"/>
                <a:ea typeface="微软雅黑" pitchFamily="34" charset="-122"/>
                <a:cs typeface="经典粗黑简" pitchFamily="49" charset="-122"/>
              </a:rPr>
              <a:t>域值赋给变量</a:t>
            </a:r>
            <a:r>
              <a:rPr lang="en-US" altLang="zh-CN" sz="1400" dirty="0">
                <a:latin typeface="微软雅黑" pitchFamily="34" charset="-122"/>
                <a:ea typeface="微软雅黑" pitchFamily="34" charset="-122"/>
                <a:cs typeface="经典粗黑简" pitchFamily="49" charset="-122"/>
              </a:rPr>
              <a:t>e</a:t>
            </a:r>
            <a:r>
              <a:rPr lang="zh-CN" altLang="en-US" sz="1400" dirty="0">
                <a:latin typeface="微软雅黑" pitchFamily="34" charset="-122"/>
                <a:ea typeface="微软雅黑" pitchFamily="34" charset="-122"/>
                <a:cs typeface="经典粗黑简" pitchFamily="49" charset="-122"/>
              </a:rPr>
              <a:t>。</a:t>
            </a:r>
          </a:p>
        </p:txBody>
      </p:sp>
      <p:sp>
        <p:nvSpPr>
          <p:cNvPr id="34" name="矩形 33">
            <a:extLst>
              <a:ext uri="{FF2B5EF4-FFF2-40B4-BE49-F238E27FC236}">
                <a16:creationId xmlns:a16="http://schemas.microsoft.com/office/drawing/2014/main" id="{08F89235-A098-4488-862E-A79713337DB8}"/>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3878540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2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2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
                                            <p:txEl>
                                              <p:pRg st="2" end="2"/>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
                                            <p:txEl>
                                              <p:pRg st="3" end="3"/>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
                                            <p:txEl>
                                              <p:pRg st="4" end="4"/>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
                                            <p:txEl>
                                              <p:pRg st="5" end="5"/>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P spid="97" grpId="0" animBg="1"/>
      <p:bldP spid="98" grpId="0"/>
      <p:bldP spid="99" grpId="0"/>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p:bldP spid="116" grpId="0" animBg="1"/>
      <p:bldP spid="117" grpId="0" animBg="1"/>
      <p:bldP spid="118" grpId="0" animBg="1"/>
      <p:bldP spid="120" grpId="0"/>
      <p:bldP spid="121" grpId="0" animBg="1"/>
      <p:bldP spid="12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F4301-4497-BA3A-4A40-831A777F1827}"/>
            </a:ext>
          </a:extLst>
        </p:cNvPr>
        <p:cNvGrpSpPr/>
        <p:nvPr/>
      </p:nvGrpSpPr>
      <p:grpSpPr>
        <a:xfrm>
          <a:off x="0" y="0"/>
          <a:ext cx="0" cy="0"/>
          <a:chOff x="0" y="0"/>
          <a:chExt cx="0" cy="0"/>
        </a:xfrm>
      </p:grpSpPr>
      <p:cxnSp>
        <p:nvCxnSpPr>
          <p:cNvPr id="16" name="直接连接符 15">
            <a:extLst>
              <a:ext uri="{FF2B5EF4-FFF2-40B4-BE49-F238E27FC236}">
                <a16:creationId xmlns:a16="http://schemas.microsoft.com/office/drawing/2014/main" id="{873C138B-D8BE-2114-7845-6FDEF527E8A2}"/>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B27890BE-9282-A331-DEDB-16E7D3B9F78F}"/>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7" name="矩形 6">
            <a:extLst>
              <a:ext uri="{FF2B5EF4-FFF2-40B4-BE49-F238E27FC236}">
                <a16:creationId xmlns:a16="http://schemas.microsoft.com/office/drawing/2014/main" id="{665D09C3-9118-2AD7-F1DF-D3039B5FB59E}"/>
              </a:ext>
            </a:extLst>
          </p:cNvPr>
          <p:cNvSpPr/>
          <p:nvPr/>
        </p:nvSpPr>
        <p:spPr>
          <a:xfrm>
            <a:off x="1053170" y="1513985"/>
            <a:ext cx="4238910"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⑥</a:t>
            </a:r>
            <a:r>
              <a:rPr lang="zh-CN" altLang="en-US" sz="2000" dirty="0">
                <a:latin typeface="微软雅黑" pitchFamily="34" charset="-122"/>
                <a:ea typeface="微软雅黑" pitchFamily="34" charset="-122"/>
                <a:cs typeface="经典粗黑简" pitchFamily="49" charset="-122"/>
              </a:rPr>
              <a:t>按序号读取单链表中的数据元素</a:t>
            </a:r>
          </a:p>
        </p:txBody>
      </p:sp>
      <p:sp>
        <p:nvSpPr>
          <p:cNvPr id="8" name="文本框 7">
            <a:extLst>
              <a:ext uri="{FF2B5EF4-FFF2-40B4-BE49-F238E27FC236}">
                <a16:creationId xmlns:a16="http://schemas.microsoft.com/office/drawing/2014/main" id="{5EB57939-D31A-834F-DED9-41E98A6D45D4}"/>
              </a:ext>
            </a:extLst>
          </p:cNvPr>
          <p:cNvSpPr txBox="1"/>
          <p:nvPr/>
        </p:nvSpPr>
        <p:spPr>
          <a:xfrm>
            <a:off x="1108770" y="2162876"/>
            <a:ext cx="6991622" cy="2980624"/>
          </a:xfrm>
          <a:prstGeom prst="rect">
            <a:avLst/>
          </a:prstGeom>
          <a:noFill/>
        </p:spPr>
        <p:txBody>
          <a:bodyPr wrap="square">
            <a:spAutoFit/>
          </a:bodyPr>
          <a:lstStyle/>
          <a:p>
            <a:pPr>
              <a:lnSpc>
                <a:spcPts val="1400"/>
              </a:lnSpc>
            </a:pPr>
            <a:r>
              <a:rPr kumimoji="1" lang="en-US" altLang="zh-CN" sz="1400" dirty="0">
                <a:solidFill>
                  <a:srgbClr val="0000FF"/>
                </a:solidFill>
                <a:latin typeface="Consolas" pitchFamily="49" charset="0"/>
                <a:ea typeface="仿宋" pitchFamily="49" charset="-122"/>
                <a:cs typeface="Consolas" pitchFamily="49" charset="0"/>
              </a:rPr>
              <a:t>bool </a:t>
            </a:r>
            <a:r>
              <a:rPr kumimoji="1" lang="en-US" altLang="zh-CN" sz="1400" dirty="0" err="1">
                <a:solidFill>
                  <a:srgbClr val="0000FF"/>
                </a:solidFill>
                <a:latin typeface="Consolas" pitchFamily="49" charset="0"/>
                <a:ea typeface="仿宋" pitchFamily="49" charset="-122"/>
                <a:cs typeface="Consolas" pitchFamily="49" charset="0"/>
              </a:rPr>
              <a:t>GetElem</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LinkNode</a:t>
            </a:r>
            <a:r>
              <a:rPr kumimoji="1" lang="en-US" altLang="zh-CN" sz="1400" dirty="0">
                <a:solidFill>
                  <a:srgbClr val="0000FF"/>
                </a:solidFill>
                <a:latin typeface="Consolas" pitchFamily="49" charset="0"/>
                <a:ea typeface="仿宋" pitchFamily="49" charset="-122"/>
                <a:cs typeface="Consolas" pitchFamily="49" charset="0"/>
              </a:rPr>
              <a:t> *L</a:t>
            </a:r>
            <a:r>
              <a:rPr kumimoji="1" lang="zh-CN" altLang="en-US" sz="1400" dirty="0">
                <a:solidFill>
                  <a:srgbClr val="0000FF"/>
                </a:solidFill>
                <a:latin typeface="Consolas" pitchFamily="49" charset="0"/>
                <a:ea typeface="仿宋" pitchFamily="49" charset="-122"/>
                <a:cs typeface="Consolas" pitchFamily="49" charset="0"/>
              </a:rPr>
              <a:t>，</a:t>
            </a:r>
            <a:r>
              <a:rPr kumimoji="1" lang="en-US" altLang="zh-CN" sz="1400" dirty="0">
                <a:solidFill>
                  <a:srgbClr val="0000FF"/>
                </a:solidFill>
                <a:latin typeface="Consolas" pitchFamily="49" charset="0"/>
                <a:ea typeface="仿宋" pitchFamily="49" charset="-122"/>
                <a:cs typeface="Consolas" pitchFamily="49" charset="0"/>
              </a:rPr>
              <a:t>int </a:t>
            </a:r>
            <a:r>
              <a:rPr kumimoji="1" lang="en-US" altLang="zh-CN" sz="1400" dirty="0" err="1">
                <a:solidFill>
                  <a:srgbClr val="0000FF"/>
                </a:solidFill>
                <a:latin typeface="Consolas" pitchFamily="49" charset="0"/>
                <a:ea typeface="仿宋" pitchFamily="49" charset="-122"/>
                <a:cs typeface="Consolas" pitchFamily="49" charset="0"/>
              </a:rPr>
              <a:t>i</a:t>
            </a:r>
            <a:r>
              <a:rPr kumimoji="1" lang="zh-CN" altLang="en-US"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ElemType</a:t>
            </a:r>
            <a:r>
              <a:rPr kumimoji="1" lang="en-US" altLang="zh-CN" sz="1400" dirty="0">
                <a:solidFill>
                  <a:srgbClr val="0000FF"/>
                </a:solidFill>
                <a:latin typeface="Consolas" pitchFamily="49" charset="0"/>
                <a:ea typeface="仿宋" pitchFamily="49" charset="-122"/>
                <a:cs typeface="Consolas" pitchFamily="49" charset="0"/>
              </a:rPr>
              <a:t> &amp;e)</a:t>
            </a:r>
          </a:p>
          <a:p>
            <a:pPr>
              <a:lnSpc>
                <a:spcPts val="1400"/>
              </a:lnSpc>
            </a:pPr>
            <a:r>
              <a:rPr kumimoji="1" lang="en-US" altLang="zh-CN" sz="1400" dirty="0">
                <a:solidFill>
                  <a:srgbClr val="0000FF"/>
                </a:solidFill>
                <a:latin typeface="Consolas" pitchFamily="49" charset="0"/>
                <a:ea typeface="仿宋" pitchFamily="49" charset="-122"/>
                <a:cs typeface="Consolas" pitchFamily="49" charset="0"/>
              </a:rPr>
              <a:t>{  </a:t>
            </a:r>
          </a:p>
          <a:p>
            <a:pPr>
              <a:lnSpc>
                <a:spcPts val="1400"/>
              </a:lnSpc>
            </a:pPr>
            <a:r>
              <a:rPr kumimoji="1" lang="en-US" altLang="zh-CN" sz="1400" dirty="0">
                <a:solidFill>
                  <a:srgbClr val="0000FF"/>
                </a:solidFill>
                <a:latin typeface="Consolas" pitchFamily="49" charset="0"/>
                <a:ea typeface="仿宋" pitchFamily="49" charset="-122"/>
                <a:cs typeface="Consolas" pitchFamily="49" charset="0"/>
              </a:rPr>
              <a:t>   int j=0;</a:t>
            </a:r>
          </a:p>
          <a:p>
            <a:pPr>
              <a:lnSpc>
                <a:spcPts val="1400"/>
              </a:lnSpc>
            </a:pPr>
            <a:r>
              <a:rPr kumimoji="1" lang="en-US" altLang="zh-CN" sz="1400" dirty="0">
                <a:solidFill>
                  <a:srgbClr val="0000FF"/>
                </a:solidFill>
                <a:latin typeface="Consolas" pitchFamily="49" charset="0"/>
                <a:ea typeface="仿宋" pitchFamily="49" charset="-122"/>
                <a:cs typeface="Consolas" pitchFamily="49" charset="0"/>
              </a:rPr>
              <a:t>   </a:t>
            </a:r>
            <a:r>
              <a:rPr kumimoji="1" lang="en-US" altLang="zh-CN" sz="1400" dirty="0" err="1">
                <a:solidFill>
                  <a:srgbClr val="0000FF"/>
                </a:solidFill>
                <a:latin typeface="Consolas" pitchFamily="49" charset="0"/>
                <a:ea typeface="仿宋" pitchFamily="49" charset="-122"/>
                <a:cs typeface="Consolas" pitchFamily="49" charset="0"/>
              </a:rPr>
              <a:t>LinkNode</a:t>
            </a:r>
            <a:r>
              <a:rPr kumimoji="1" lang="en-US" altLang="zh-CN" sz="1400" dirty="0">
                <a:solidFill>
                  <a:srgbClr val="0000FF"/>
                </a:solidFill>
                <a:latin typeface="Consolas" pitchFamily="49" charset="0"/>
                <a:ea typeface="仿宋" pitchFamily="49" charset="-122"/>
                <a:cs typeface="Consolas" pitchFamily="49" charset="0"/>
              </a:rPr>
              <a:t> *p=L;	 //p</a:t>
            </a:r>
            <a:r>
              <a:rPr kumimoji="1" lang="zh-CN" altLang="en-US" sz="1400" dirty="0">
                <a:solidFill>
                  <a:srgbClr val="0000FF"/>
                </a:solidFill>
                <a:latin typeface="Consolas" pitchFamily="49" charset="0"/>
                <a:ea typeface="仿宋" pitchFamily="49" charset="-122"/>
                <a:cs typeface="Consolas" pitchFamily="49" charset="0"/>
              </a:rPr>
              <a:t>指向头结点，</a:t>
            </a:r>
            <a:r>
              <a:rPr kumimoji="1" lang="en-US" altLang="zh-CN" sz="1400" dirty="0">
                <a:solidFill>
                  <a:srgbClr val="0000FF"/>
                </a:solidFill>
                <a:latin typeface="Consolas" pitchFamily="49" charset="0"/>
                <a:ea typeface="仿宋" pitchFamily="49" charset="-122"/>
                <a:cs typeface="Consolas" pitchFamily="49" charset="0"/>
              </a:rPr>
              <a:t>j</a:t>
            </a:r>
            <a:r>
              <a:rPr kumimoji="1" lang="zh-CN" altLang="en-US" sz="1400" dirty="0">
                <a:solidFill>
                  <a:srgbClr val="0000FF"/>
                </a:solidFill>
                <a:latin typeface="Consolas" pitchFamily="49" charset="0"/>
                <a:ea typeface="仿宋" pitchFamily="49" charset="-122"/>
                <a:cs typeface="Consolas" pitchFamily="49" charset="0"/>
              </a:rPr>
              <a:t>置为</a:t>
            </a:r>
            <a:r>
              <a:rPr kumimoji="1" lang="en-US" altLang="zh-CN" sz="1400" dirty="0">
                <a:solidFill>
                  <a:srgbClr val="0000FF"/>
                </a:solidFill>
                <a:latin typeface="Consolas" pitchFamily="49" charset="0"/>
                <a:ea typeface="仿宋" pitchFamily="49" charset="-122"/>
                <a:cs typeface="Consolas" pitchFamily="49" charset="0"/>
              </a:rPr>
              <a:t>0</a:t>
            </a:r>
            <a:r>
              <a:rPr kumimoji="1" lang="zh-CN" altLang="en-US" sz="1400" dirty="0">
                <a:solidFill>
                  <a:srgbClr val="0000FF"/>
                </a:solidFill>
                <a:latin typeface="Consolas" pitchFamily="49" charset="0"/>
                <a:ea typeface="仿宋" pitchFamily="49" charset="-122"/>
                <a:cs typeface="Consolas" pitchFamily="49" charset="0"/>
              </a:rPr>
              <a:t>（即头结点的序号为</a:t>
            </a:r>
            <a:r>
              <a:rPr kumimoji="1" lang="en-US" altLang="zh-CN" sz="1400" dirty="0">
                <a:solidFill>
                  <a:srgbClr val="0000FF"/>
                </a:solidFill>
                <a:latin typeface="Consolas" pitchFamily="49" charset="0"/>
                <a:ea typeface="仿宋" pitchFamily="49" charset="-122"/>
                <a:cs typeface="Consolas" pitchFamily="49" charset="0"/>
              </a:rPr>
              <a:t>0</a:t>
            </a:r>
            <a:r>
              <a:rPr kumimoji="1" lang="zh-CN" altLang="en-US" sz="1400" dirty="0">
                <a:solidFill>
                  <a:srgbClr val="0000FF"/>
                </a:solidFill>
                <a:latin typeface="Consolas" pitchFamily="49" charset="0"/>
                <a:ea typeface="仿宋" pitchFamily="49" charset="-122"/>
                <a:cs typeface="Consolas" pitchFamily="49" charset="0"/>
              </a:rPr>
              <a:t>）</a:t>
            </a:r>
            <a:endParaRPr kumimoji="1" lang="en-US" altLang="zh-CN" sz="1400" dirty="0">
              <a:solidFill>
                <a:srgbClr val="0000FF"/>
              </a:solidFill>
              <a:latin typeface="Consolas" pitchFamily="49" charset="0"/>
              <a:ea typeface="仿宋" pitchFamily="49" charset="-122"/>
              <a:cs typeface="Consolas" pitchFamily="49" charset="0"/>
            </a:endParaRPr>
          </a:p>
          <a:p>
            <a:pPr>
              <a:lnSpc>
                <a:spcPts val="1400"/>
              </a:lnSpc>
            </a:pPr>
            <a:endParaRPr kumimoji="1" lang="en-US" altLang="zh-CN" sz="1400" dirty="0">
              <a:solidFill>
                <a:srgbClr val="0000FF"/>
              </a:solidFill>
              <a:latin typeface="Consolas" pitchFamily="49" charset="0"/>
              <a:ea typeface="仿宋" pitchFamily="49" charset="-122"/>
              <a:cs typeface="Consolas" pitchFamily="49" charset="0"/>
            </a:endParaRPr>
          </a:p>
          <a:p>
            <a:pPr>
              <a:lnSpc>
                <a:spcPts val="1400"/>
              </a:lnSpc>
            </a:pPr>
            <a:r>
              <a:rPr kumimoji="1" lang="en-US" altLang="zh-CN" sz="1400" dirty="0">
                <a:solidFill>
                  <a:srgbClr val="0000FF"/>
                </a:solidFill>
                <a:latin typeface="Consolas" pitchFamily="49" charset="0"/>
                <a:ea typeface="仿宋" pitchFamily="49" charset="-122"/>
                <a:cs typeface="Consolas" pitchFamily="49" charset="0"/>
              </a:rPr>
              <a:t>   while (j&lt;</a:t>
            </a:r>
            <a:r>
              <a:rPr kumimoji="1" lang="en-US" altLang="zh-CN" sz="1400" dirty="0" err="1">
                <a:solidFill>
                  <a:srgbClr val="0000FF"/>
                </a:solidFill>
                <a:latin typeface="Consolas" pitchFamily="49" charset="0"/>
                <a:ea typeface="仿宋" pitchFamily="49" charset="-122"/>
                <a:cs typeface="Consolas" pitchFamily="49" charset="0"/>
              </a:rPr>
              <a:t>i</a:t>
            </a:r>
            <a:r>
              <a:rPr kumimoji="1" lang="en-US" altLang="zh-CN" sz="1400" dirty="0">
                <a:solidFill>
                  <a:srgbClr val="0000FF"/>
                </a:solidFill>
                <a:latin typeface="Consolas" pitchFamily="49" charset="0"/>
                <a:ea typeface="仿宋" pitchFamily="49" charset="-122"/>
                <a:cs typeface="Consolas" pitchFamily="49" charset="0"/>
              </a:rPr>
              <a:t> &amp;&amp; p!=NULL)</a:t>
            </a:r>
            <a:endParaRPr kumimoji="1" lang="zh-CN" altLang="en-US" sz="1400" dirty="0">
              <a:solidFill>
                <a:srgbClr val="0000FF"/>
              </a:solidFill>
              <a:latin typeface="Consolas" pitchFamily="49" charset="0"/>
              <a:ea typeface="仿宋" pitchFamily="49" charset="-122"/>
              <a:cs typeface="Consolas" pitchFamily="49" charset="0"/>
            </a:endParaRPr>
          </a:p>
          <a:p>
            <a:pPr>
              <a:lnSpc>
                <a:spcPts val="1400"/>
              </a:lnSpc>
            </a:pPr>
            <a:r>
              <a:rPr kumimoji="1" lang="zh-CN" altLang="en-US" sz="1400" dirty="0">
                <a:solidFill>
                  <a:srgbClr val="0000FF"/>
                </a:solidFill>
                <a:latin typeface="Consolas" pitchFamily="49" charset="0"/>
                <a:ea typeface="仿宋" pitchFamily="49" charset="-122"/>
                <a:cs typeface="Consolas" pitchFamily="49" charset="0"/>
              </a:rPr>
              <a:t>   </a:t>
            </a:r>
            <a:r>
              <a:rPr kumimoji="1" lang="en-US" altLang="zh-CN" sz="1400" dirty="0">
                <a:solidFill>
                  <a:srgbClr val="0000FF"/>
                </a:solidFill>
                <a:latin typeface="Consolas" pitchFamily="49" charset="0"/>
                <a:ea typeface="仿宋" pitchFamily="49" charset="-122"/>
                <a:cs typeface="Consolas" pitchFamily="49" charset="0"/>
              </a:rPr>
              <a:t>{	</a:t>
            </a:r>
            <a:r>
              <a:rPr kumimoji="1" lang="en-US" altLang="zh-CN" sz="1400" dirty="0" err="1">
                <a:solidFill>
                  <a:srgbClr val="0000FF"/>
                </a:solidFill>
                <a:latin typeface="Consolas" pitchFamily="49" charset="0"/>
                <a:ea typeface="仿宋" pitchFamily="49" charset="-122"/>
                <a:cs typeface="Consolas" pitchFamily="49" charset="0"/>
              </a:rPr>
              <a:t>j++</a:t>
            </a:r>
            <a:r>
              <a:rPr kumimoji="1" lang="en-US" altLang="zh-CN" sz="1400" dirty="0">
                <a:solidFill>
                  <a:srgbClr val="0000FF"/>
                </a:solidFill>
                <a:latin typeface="Consolas" pitchFamily="49" charset="0"/>
                <a:ea typeface="仿宋" pitchFamily="49" charset="-122"/>
                <a:cs typeface="Consolas" pitchFamily="49" charset="0"/>
              </a:rPr>
              <a:t>;</a:t>
            </a:r>
          </a:p>
          <a:p>
            <a:pPr>
              <a:lnSpc>
                <a:spcPts val="1400"/>
              </a:lnSpc>
            </a:pPr>
            <a:r>
              <a:rPr kumimoji="1" lang="en-US" altLang="zh-CN" sz="1400" dirty="0">
                <a:solidFill>
                  <a:srgbClr val="0000FF"/>
                </a:solidFill>
                <a:latin typeface="Consolas" pitchFamily="49" charset="0"/>
                <a:ea typeface="仿宋" pitchFamily="49" charset="-122"/>
                <a:cs typeface="Consolas" pitchFamily="49" charset="0"/>
              </a:rPr>
              <a:t>	p=p-&gt;next;</a:t>
            </a:r>
          </a:p>
          <a:p>
            <a:pPr>
              <a:lnSpc>
                <a:spcPts val="1400"/>
              </a:lnSpc>
            </a:pPr>
            <a:r>
              <a:rPr kumimoji="1" lang="en-US" altLang="zh-CN" sz="1400" dirty="0">
                <a:solidFill>
                  <a:srgbClr val="0000FF"/>
                </a:solidFill>
                <a:latin typeface="Consolas" pitchFamily="49" charset="0"/>
                <a:ea typeface="仿宋" pitchFamily="49" charset="-122"/>
                <a:cs typeface="Consolas" pitchFamily="49" charset="0"/>
              </a:rPr>
              <a:t>   }</a:t>
            </a:r>
          </a:p>
          <a:p>
            <a:pPr algn="l">
              <a:lnSpc>
                <a:spcPts val="1400"/>
              </a:lnSpc>
            </a:pPr>
            <a:r>
              <a:rPr kumimoji="1" lang="en-US" altLang="zh-CN" sz="1400" dirty="0">
                <a:solidFill>
                  <a:srgbClr val="0000FF"/>
                </a:solidFill>
                <a:latin typeface="Consolas" pitchFamily="49" charset="0"/>
                <a:ea typeface="仿宋" pitchFamily="49" charset="-122"/>
                <a:cs typeface="Consolas" pitchFamily="49" charset="0"/>
              </a:rPr>
              <a:t>   if (p==NULL)	</a:t>
            </a:r>
            <a:r>
              <a:rPr kumimoji="1" lang="en-US" altLang="zh-CN" sz="1400" dirty="0">
                <a:solidFill>
                  <a:srgbClr val="00B0F0"/>
                </a:solidFill>
                <a:latin typeface="Consolas" pitchFamily="49" charset="0"/>
                <a:ea typeface="仿宋" pitchFamily="49" charset="-122"/>
                <a:cs typeface="Consolas" pitchFamily="49" charset="0"/>
              </a:rPr>
              <a:t>//</a:t>
            </a:r>
            <a:r>
              <a:rPr kumimoji="1" lang="zh-CN" altLang="en-US" sz="1400" dirty="0">
                <a:solidFill>
                  <a:srgbClr val="00B0F0"/>
                </a:solidFill>
                <a:latin typeface="Consolas" pitchFamily="49" charset="0"/>
                <a:ea typeface="仿宋" pitchFamily="49" charset="-122"/>
                <a:cs typeface="Consolas" pitchFamily="49" charset="0"/>
              </a:rPr>
              <a:t>不存在第</a:t>
            </a:r>
            <a:r>
              <a:rPr kumimoji="1" lang="en-US" altLang="zh-CN" sz="1400" i="1" dirty="0" err="1">
                <a:solidFill>
                  <a:srgbClr val="00B0F0"/>
                </a:solidFill>
                <a:latin typeface="Consolas" pitchFamily="49" charset="0"/>
                <a:ea typeface="仿宋" pitchFamily="49" charset="-122"/>
                <a:cs typeface="Consolas" pitchFamily="49" charset="0"/>
              </a:rPr>
              <a:t>i</a:t>
            </a:r>
            <a:r>
              <a:rPr kumimoji="1" lang="zh-CN" altLang="en-US" sz="1400" dirty="0">
                <a:solidFill>
                  <a:srgbClr val="00B0F0"/>
                </a:solidFill>
                <a:latin typeface="Consolas" pitchFamily="49" charset="0"/>
                <a:ea typeface="仿宋" pitchFamily="49" charset="-122"/>
                <a:cs typeface="Consolas" pitchFamily="49" charset="0"/>
              </a:rPr>
              <a:t>个数据结点，返回</a:t>
            </a:r>
            <a:r>
              <a:rPr kumimoji="1" lang="en-US" altLang="zh-CN" sz="1400" dirty="0">
                <a:solidFill>
                  <a:srgbClr val="00B0F0"/>
                </a:solidFill>
                <a:latin typeface="Consolas" pitchFamily="49" charset="0"/>
                <a:ea typeface="仿宋" pitchFamily="49" charset="-122"/>
                <a:cs typeface="Consolas" pitchFamily="49" charset="0"/>
              </a:rPr>
              <a:t>false</a:t>
            </a:r>
          </a:p>
          <a:p>
            <a:pPr algn="l">
              <a:lnSpc>
                <a:spcPts val="1400"/>
              </a:lnSpc>
            </a:pPr>
            <a:r>
              <a:rPr kumimoji="1" lang="en-US" altLang="zh-CN" sz="1400" dirty="0">
                <a:solidFill>
                  <a:srgbClr val="0000FF"/>
                </a:solidFill>
                <a:latin typeface="Consolas" pitchFamily="49" charset="0"/>
                <a:ea typeface="仿宋" pitchFamily="49" charset="-122"/>
                <a:cs typeface="Consolas" pitchFamily="49" charset="0"/>
              </a:rPr>
              <a:t>      return false;</a:t>
            </a:r>
          </a:p>
          <a:p>
            <a:pPr algn="l">
              <a:lnSpc>
                <a:spcPts val="1400"/>
              </a:lnSpc>
            </a:pPr>
            <a:r>
              <a:rPr kumimoji="1" lang="en-US" altLang="zh-CN" sz="1400" dirty="0">
                <a:solidFill>
                  <a:srgbClr val="0000FF"/>
                </a:solidFill>
                <a:latin typeface="Consolas" pitchFamily="49" charset="0"/>
                <a:ea typeface="仿宋" pitchFamily="49" charset="-122"/>
                <a:cs typeface="Consolas" pitchFamily="49" charset="0"/>
              </a:rPr>
              <a:t>   else			</a:t>
            </a:r>
            <a:r>
              <a:rPr kumimoji="1" lang="en-US" altLang="zh-CN" sz="1400" dirty="0">
                <a:solidFill>
                  <a:srgbClr val="00B0F0"/>
                </a:solidFill>
                <a:latin typeface="Consolas" pitchFamily="49" charset="0"/>
                <a:ea typeface="仿宋" pitchFamily="49" charset="-122"/>
                <a:cs typeface="Consolas" pitchFamily="49" charset="0"/>
              </a:rPr>
              <a:t>//</a:t>
            </a:r>
            <a:r>
              <a:rPr kumimoji="1" lang="zh-CN" altLang="en-US" sz="1400" dirty="0">
                <a:solidFill>
                  <a:srgbClr val="00B0F0"/>
                </a:solidFill>
                <a:latin typeface="Consolas" pitchFamily="49" charset="0"/>
                <a:ea typeface="仿宋" pitchFamily="49" charset="-122"/>
                <a:cs typeface="Consolas" pitchFamily="49" charset="0"/>
              </a:rPr>
              <a:t>存在第</a:t>
            </a:r>
            <a:r>
              <a:rPr kumimoji="1" lang="en-US" altLang="zh-CN" sz="1400" i="1" dirty="0" err="1">
                <a:solidFill>
                  <a:srgbClr val="00B0F0"/>
                </a:solidFill>
                <a:latin typeface="Consolas" pitchFamily="49" charset="0"/>
                <a:ea typeface="仿宋" pitchFamily="49" charset="-122"/>
                <a:cs typeface="Consolas" pitchFamily="49" charset="0"/>
              </a:rPr>
              <a:t>i</a:t>
            </a:r>
            <a:r>
              <a:rPr kumimoji="1" lang="zh-CN" altLang="en-US" sz="1400" dirty="0">
                <a:solidFill>
                  <a:srgbClr val="00B0F0"/>
                </a:solidFill>
                <a:latin typeface="Consolas" pitchFamily="49" charset="0"/>
                <a:ea typeface="仿宋" pitchFamily="49" charset="-122"/>
                <a:cs typeface="Consolas" pitchFamily="49" charset="0"/>
              </a:rPr>
              <a:t>个数据结点，返回</a:t>
            </a:r>
            <a:r>
              <a:rPr kumimoji="1" lang="en-US" altLang="zh-CN" sz="1400" dirty="0">
                <a:solidFill>
                  <a:srgbClr val="00B0F0"/>
                </a:solidFill>
                <a:latin typeface="Consolas" pitchFamily="49" charset="0"/>
                <a:ea typeface="仿宋" pitchFamily="49" charset="-122"/>
                <a:cs typeface="Consolas" pitchFamily="49" charset="0"/>
              </a:rPr>
              <a:t>true</a:t>
            </a:r>
          </a:p>
          <a:p>
            <a:pPr algn="l">
              <a:lnSpc>
                <a:spcPts val="1400"/>
              </a:lnSpc>
            </a:pPr>
            <a:r>
              <a:rPr kumimoji="1" lang="en-US" altLang="zh-CN" sz="1400" dirty="0">
                <a:solidFill>
                  <a:srgbClr val="0000FF"/>
                </a:solidFill>
                <a:latin typeface="Consolas" pitchFamily="49" charset="0"/>
                <a:ea typeface="仿宋" pitchFamily="49" charset="-122"/>
                <a:cs typeface="Consolas" pitchFamily="49" charset="0"/>
              </a:rPr>
              <a:t>   {  e=p-&gt;data;</a:t>
            </a:r>
          </a:p>
          <a:p>
            <a:pPr algn="l">
              <a:lnSpc>
                <a:spcPts val="1400"/>
              </a:lnSpc>
            </a:pPr>
            <a:r>
              <a:rPr kumimoji="1" lang="en-US" altLang="zh-CN" sz="1400" dirty="0">
                <a:solidFill>
                  <a:srgbClr val="0000FF"/>
                </a:solidFill>
                <a:latin typeface="Consolas" pitchFamily="49" charset="0"/>
                <a:ea typeface="仿宋" pitchFamily="49" charset="-122"/>
                <a:cs typeface="Consolas" pitchFamily="49" charset="0"/>
              </a:rPr>
              <a:t>      return true;</a:t>
            </a:r>
          </a:p>
          <a:p>
            <a:pPr algn="l">
              <a:lnSpc>
                <a:spcPts val="1400"/>
              </a:lnSpc>
            </a:pPr>
            <a:r>
              <a:rPr kumimoji="1" lang="en-US" altLang="zh-CN" sz="1400" dirty="0">
                <a:solidFill>
                  <a:srgbClr val="0000FF"/>
                </a:solidFill>
                <a:latin typeface="Consolas" pitchFamily="49" charset="0"/>
                <a:ea typeface="仿宋" pitchFamily="49" charset="-122"/>
                <a:cs typeface="Consolas" pitchFamily="49" charset="0"/>
              </a:rPr>
              <a:t>   }</a:t>
            </a:r>
          </a:p>
          <a:p>
            <a:pPr algn="l">
              <a:lnSpc>
                <a:spcPts val="1400"/>
              </a:lnSpc>
            </a:pPr>
            <a:r>
              <a:rPr kumimoji="1" lang="en-US" altLang="zh-CN" sz="1400" dirty="0">
                <a:solidFill>
                  <a:srgbClr val="0000FF"/>
                </a:solidFill>
                <a:latin typeface="Consolas" pitchFamily="49" charset="0"/>
                <a:ea typeface="仿宋" pitchFamily="49" charset="-122"/>
                <a:cs typeface="Consolas" pitchFamily="49" charset="0"/>
              </a:rPr>
              <a:t>}</a:t>
            </a:r>
            <a:endParaRPr lang="zh-CN" altLang="en-US" sz="1400" dirty="0"/>
          </a:p>
        </p:txBody>
      </p:sp>
      <p:sp>
        <p:nvSpPr>
          <p:cNvPr id="4" name="文本框 3">
            <a:extLst>
              <a:ext uri="{FF2B5EF4-FFF2-40B4-BE49-F238E27FC236}">
                <a16:creationId xmlns:a16="http://schemas.microsoft.com/office/drawing/2014/main" id="{38D1312A-A587-21BC-DF3D-4FC7771AE631}"/>
              </a:ext>
            </a:extLst>
          </p:cNvPr>
          <p:cNvSpPr txBox="1"/>
          <p:nvPr/>
        </p:nvSpPr>
        <p:spPr>
          <a:xfrm>
            <a:off x="1076680" y="1886247"/>
            <a:ext cx="7339984" cy="307777"/>
          </a:xfrm>
          <a:prstGeom prst="rect">
            <a:avLst/>
          </a:prstGeom>
          <a:noFill/>
        </p:spPr>
        <p:txBody>
          <a:bodyPr wrap="square">
            <a:spAutoFit/>
          </a:bodyPr>
          <a:lstStyle/>
          <a:p>
            <a:r>
              <a:rPr lang="zh-CN" altLang="en-US" sz="1400" dirty="0">
                <a:latin typeface="微软雅黑" pitchFamily="34" charset="-122"/>
                <a:ea typeface="微软雅黑" pitchFamily="34" charset="-122"/>
                <a:cs typeface="经典粗黑简" pitchFamily="49" charset="-122"/>
              </a:rPr>
              <a:t>在单链表</a:t>
            </a:r>
            <a:r>
              <a:rPr lang="en-US" altLang="zh-CN" sz="1400" dirty="0">
                <a:latin typeface="微软雅黑" pitchFamily="34" charset="-122"/>
                <a:ea typeface="微软雅黑" pitchFamily="34" charset="-122"/>
                <a:cs typeface="经典粗黑简" pitchFamily="49" charset="-122"/>
              </a:rPr>
              <a:t>L</a:t>
            </a:r>
            <a:r>
              <a:rPr lang="zh-CN" altLang="en-US" sz="1400" dirty="0">
                <a:latin typeface="微软雅黑" pitchFamily="34" charset="-122"/>
                <a:ea typeface="微软雅黑" pitchFamily="34" charset="-122"/>
                <a:cs typeface="经典粗黑简" pitchFamily="49" charset="-122"/>
              </a:rPr>
              <a:t>中从头开始找到第</a:t>
            </a:r>
            <a:r>
              <a:rPr lang="en-US" altLang="zh-CN" sz="1400" dirty="0" err="1">
                <a:latin typeface="微软雅黑" pitchFamily="34" charset="-122"/>
                <a:ea typeface="微软雅黑" pitchFamily="34" charset="-122"/>
                <a:cs typeface="经典粗黑简" pitchFamily="49" charset="-122"/>
              </a:rPr>
              <a:t>i</a:t>
            </a:r>
            <a:r>
              <a:rPr lang="zh-CN" altLang="en-US" sz="1400" dirty="0">
                <a:latin typeface="微软雅黑" pitchFamily="34" charset="-122"/>
                <a:ea typeface="微软雅黑" pitchFamily="34" charset="-122"/>
                <a:cs typeface="经典粗黑简" pitchFamily="49" charset="-122"/>
              </a:rPr>
              <a:t>个结点，若存在第</a:t>
            </a:r>
            <a:r>
              <a:rPr lang="en-US" altLang="zh-CN" sz="1400" dirty="0" err="1">
                <a:latin typeface="微软雅黑" pitchFamily="34" charset="-122"/>
                <a:ea typeface="微软雅黑" pitchFamily="34" charset="-122"/>
                <a:cs typeface="经典粗黑简" pitchFamily="49" charset="-122"/>
              </a:rPr>
              <a:t>i</a:t>
            </a:r>
            <a:r>
              <a:rPr lang="zh-CN" altLang="en-US" sz="1400" dirty="0">
                <a:latin typeface="微软雅黑" pitchFamily="34" charset="-122"/>
                <a:ea typeface="微软雅黑" pitchFamily="34" charset="-122"/>
                <a:cs typeface="经典粗黑简" pitchFamily="49" charset="-122"/>
              </a:rPr>
              <a:t>个数据结点，则将其</a:t>
            </a:r>
            <a:r>
              <a:rPr lang="en-US" altLang="zh-CN" sz="1400" dirty="0">
                <a:latin typeface="微软雅黑" pitchFamily="34" charset="-122"/>
                <a:ea typeface="微软雅黑" pitchFamily="34" charset="-122"/>
                <a:cs typeface="经典粗黑简" pitchFamily="49" charset="-122"/>
              </a:rPr>
              <a:t>data</a:t>
            </a:r>
            <a:r>
              <a:rPr lang="zh-CN" altLang="en-US" sz="1400" dirty="0">
                <a:latin typeface="微软雅黑" pitchFamily="34" charset="-122"/>
                <a:ea typeface="微软雅黑" pitchFamily="34" charset="-122"/>
                <a:cs typeface="经典粗黑简" pitchFamily="49" charset="-122"/>
              </a:rPr>
              <a:t>域值赋给变量</a:t>
            </a:r>
            <a:r>
              <a:rPr lang="en-US" altLang="zh-CN" sz="1400" dirty="0">
                <a:latin typeface="微软雅黑" pitchFamily="34" charset="-122"/>
                <a:ea typeface="微软雅黑" pitchFamily="34" charset="-122"/>
                <a:cs typeface="经典粗黑简" pitchFamily="49" charset="-122"/>
              </a:rPr>
              <a:t>e</a:t>
            </a:r>
            <a:r>
              <a:rPr lang="zh-CN" altLang="en-US" sz="1400" dirty="0">
                <a:latin typeface="微软雅黑" pitchFamily="34" charset="-122"/>
                <a:ea typeface="微软雅黑" pitchFamily="34" charset="-122"/>
                <a:cs typeface="经典粗黑简" pitchFamily="49" charset="-122"/>
              </a:rPr>
              <a:t>。</a:t>
            </a:r>
          </a:p>
        </p:txBody>
      </p:sp>
      <p:sp>
        <p:nvSpPr>
          <p:cNvPr id="9" name="矩形 8">
            <a:extLst>
              <a:ext uri="{FF2B5EF4-FFF2-40B4-BE49-F238E27FC236}">
                <a16:creationId xmlns:a16="http://schemas.microsoft.com/office/drawing/2014/main" id="{C8C55D2A-678F-49BC-8839-AFC322D87E79}"/>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10237931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79120-24DA-B7B2-F45D-338DBAC5EAA6}"/>
            </a:ext>
          </a:extLst>
        </p:cNvPr>
        <p:cNvGrpSpPr/>
        <p:nvPr/>
      </p:nvGrpSpPr>
      <p:grpSpPr>
        <a:xfrm>
          <a:off x="0" y="0"/>
          <a:ext cx="0" cy="0"/>
          <a:chOff x="0" y="0"/>
          <a:chExt cx="0" cy="0"/>
        </a:xfrm>
      </p:grpSpPr>
      <p:cxnSp>
        <p:nvCxnSpPr>
          <p:cNvPr id="16" name="直接连接符 15">
            <a:extLst>
              <a:ext uri="{FF2B5EF4-FFF2-40B4-BE49-F238E27FC236}">
                <a16:creationId xmlns:a16="http://schemas.microsoft.com/office/drawing/2014/main" id="{9F5B2E5F-E6F7-4B17-3F05-2AF4DB82E660}"/>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084D6680-33AD-C861-4457-B47D18370F52}"/>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7" name="矩形 6">
            <a:extLst>
              <a:ext uri="{FF2B5EF4-FFF2-40B4-BE49-F238E27FC236}">
                <a16:creationId xmlns:a16="http://schemas.microsoft.com/office/drawing/2014/main" id="{B3781DEB-B1E6-B2A7-E438-47AC1A6F1C75}"/>
              </a:ext>
            </a:extLst>
          </p:cNvPr>
          <p:cNvSpPr/>
          <p:nvPr/>
        </p:nvSpPr>
        <p:spPr>
          <a:xfrm>
            <a:off x="1053170" y="1513985"/>
            <a:ext cx="4238910"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⑦</a:t>
            </a:r>
            <a:r>
              <a:rPr lang="zh-CN" altLang="en-US" sz="2000" dirty="0">
                <a:latin typeface="微软雅黑" pitchFamily="34" charset="-122"/>
                <a:ea typeface="微软雅黑" pitchFamily="34" charset="-122"/>
                <a:cs typeface="经典粗黑简" pitchFamily="49" charset="-122"/>
              </a:rPr>
              <a:t>按值查找</a:t>
            </a:r>
          </a:p>
        </p:txBody>
      </p:sp>
      <p:sp>
        <p:nvSpPr>
          <p:cNvPr id="5" name="文本框 4">
            <a:extLst>
              <a:ext uri="{FF2B5EF4-FFF2-40B4-BE49-F238E27FC236}">
                <a16:creationId xmlns:a16="http://schemas.microsoft.com/office/drawing/2014/main" id="{67207FC9-4531-F09F-1F5B-ABD957F61A09}"/>
              </a:ext>
            </a:extLst>
          </p:cNvPr>
          <p:cNvSpPr txBox="1"/>
          <p:nvPr/>
        </p:nvSpPr>
        <p:spPr>
          <a:xfrm>
            <a:off x="1053170" y="1851670"/>
            <a:ext cx="7776864" cy="307777"/>
          </a:xfrm>
          <a:prstGeom prst="rect">
            <a:avLst/>
          </a:prstGeom>
          <a:noFill/>
        </p:spPr>
        <p:txBody>
          <a:bodyPr wrap="square">
            <a:spAutoFit/>
          </a:bodyPr>
          <a:lstStyle/>
          <a:p>
            <a:r>
              <a:rPr lang="zh-CN" altLang="en-US" sz="1400" dirty="0">
                <a:latin typeface="微软雅黑" pitchFamily="34" charset="-122"/>
                <a:ea typeface="微软雅黑" pitchFamily="34" charset="-122"/>
              </a:rPr>
              <a:t>在单链表</a:t>
            </a:r>
            <a:r>
              <a:rPr lang="en-US" altLang="zh-CN" sz="1400" dirty="0">
                <a:latin typeface="微软雅黑" pitchFamily="34" charset="-122"/>
                <a:ea typeface="微软雅黑" pitchFamily="34" charset="-122"/>
              </a:rPr>
              <a:t>L</a:t>
            </a:r>
            <a:r>
              <a:rPr lang="zh-CN" altLang="en-US" sz="1400" dirty="0">
                <a:latin typeface="微软雅黑" pitchFamily="34" charset="-122"/>
                <a:ea typeface="微软雅黑" pitchFamily="34" charset="-122"/>
              </a:rPr>
              <a:t>中从头开始找第一个值域与</a:t>
            </a:r>
            <a:r>
              <a:rPr lang="en-US" altLang="zh-CN" sz="1400" dirty="0">
                <a:latin typeface="微软雅黑" pitchFamily="34" charset="-122"/>
                <a:ea typeface="微软雅黑" pitchFamily="34" charset="-122"/>
              </a:rPr>
              <a:t>e</a:t>
            </a:r>
            <a:r>
              <a:rPr lang="zh-CN" altLang="en-US" sz="1400" dirty="0">
                <a:latin typeface="微软雅黑" pitchFamily="34" charset="-122"/>
                <a:ea typeface="微软雅黑" pitchFamily="34" charset="-122"/>
              </a:rPr>
              <a:t>相等的结点，若存在这样的结点，则返回位序，否则返回</a:t>
            </a:r>
            <a:r>
              <a:rPr lang="en-US" altLang="zh-CN" sz="1400" dirty="0">
                <a:latin typeface="微软雅黑" pitchFamily="34" charset="-122"/>
                <a:ea typeface="微软雅黑" pitchFamily="34" charset="-122"/>
              </a:rPr>
              <a:t>0</a:t>
            </a:r>
            <a:r>
              <a:rPr lang="zh-CN" altLang="en-US" sz="1400" dirty="0">
                <a:latin typeface="微软雅黑" pitchFamily="34" charset="-122"/>
                <a:ea typeface="微软雅黑" pitchFamily="34" charset="-122"/>
              </a:rPr>
              <a:t>。 </a:t>
            </a:r>
          </a:p>
        </p:txBody>
      </p:sp>
      <p:sp>
        <p:nvSpPr>
          <p:cNvPr id="9" name="Rectangle 5">
            <a:extLst>
              <a:ext uri="{FF2B5EF4-FFF2-40B4-BE49-F238E27FC236}">
                <a16:creationId xmlns:a16="http://schemas.microsoft.com/office/drawing/2014/main" id="{7EC42A95-4283-D9BC-1611-EA9A89E63984}"/>
              </a:ext>
            </a:extLst>
          </p:cNvPr>
          <p:cNvSpPr>
            <a:spLocks noChangeArrowheads="1"/>
          </p:cNvSpPr>
          <p:nvPr/>
        </p:nvSpPr>
        <p:spPr bwMode="auto">
          <a:xfrm>
            <a:off x="2096213" y="4337567"/>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0" name="Line 6">
            <a:extLst>
              <a:ext uri="{FF2B5EF4-FFF2-40B4-BE49-F238E27FC236}">
                <a16:creationId xmlns:a16="http://schemas.microsoft.com/office/drawing/2014/main" id="{05BE968C-C9F0-0DC4-984E-B0085B5939F8}"/>
              </a:ext>
            </a:extLst>
          </p:cNvPr>
          <p:cNvSpPr>
            <a:spLocks noChangeShapeType="1"/>
          </p:cNvSpPr>
          <p:nvPr/>
        </p:nvSpPr>
        <p:spPr bwMode="auto">
          <a:xfrm>
            <a:off x="2629613" y="4337567"/>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Rectangle 25">
            <a:extLst>
              <a:ext uri="{FF2B5EF4-FFF2-40B4-BE49-F238E27FC236}">
                <a16:creationId xmlns:a16="http://schemas.microsoft.com/office/drawing/2014/main" id="{45A02761-99A2-1208-BF36-24F51676A064}"/>
              </a:ext>
            </a:extLst>
          </p:cNvPr>
          <p:cNvSpPr>
            <a:spLocks noChangeArrowheads="1"/>
          </p:cNvSpPr>
          <p:nvPr/>
        </p:nvSpPr>
        <p:spPr bwMode="auto">
          <a:xfrm>
            <a:off x="4260098" y="4411532"/>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2" name="Rectangle 36">
            <a:extLst>
              <a:ext uri="{FF2B5EF4-FFF2-40B4-BE49-F238E27FC236}">
                <a16:creationId xmlns:a16="http://schemas.microsoft.com/office/drawing/2014/main" id="{28656DC8-21FD-04B1-64E1-D46D7B2D0B90}"/>
              </a:ext>
            </a:extLst>
          </p:cNvPr>
          <p:cNvSpPr>
            <a:spLocks noChangeArrowheads="1"/>
          </p:cNvSpPr>
          <p:nvPr/>
        </p:nvSpPr>
        <p:spPr bwMode="auto">
          <a:xfrm>
            <a:off x="7394247" y="4433534"/>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3" name="Line 29">
            <a:extLst>
              <a:ext uri="{FF2B5EF4-FFF2-40B4-BE49-F238E27FC236}">
                <a16:creationId xmlns:a16="http://schemas.microsoft.com/office/drawing/2014/main" id="{7CFE976C-8854-87A0-8B8F-69251427A0A4}"/>
              </a:ext>
            </a:extLst>
          </p:cNvPr>
          <p:cNvSpPr>
            <a:spLocks noChangeShapeType="1"/>
          </p:cNvSpPr>
          <p:nvPr/>
        </p:nvSpPr>
        <p:spPr bwMode="auto">
          <a:xfrm>
            <a:off x="543735" y="458923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Rectangle 5">
            <a:extLst>
              <a:ext uri="{FF2B5EF4-FFF2-40B4-BE49-F238E27FC236}">
                <a16:creationId xmlns:a16="http://schemas.microsoft.com/office/drawing/2014/main" id="{8E9B70D5-F160-5021-8E54-D420F8C04C1F}"/>
              </a:ext>
            </a:extLst>
          </p:cNvPr>
          <p:cNvSpPr>
            <a:spLocks noChangeArrowheads="1"/>
          </p:cNvSpPr>
          <p:nvPr/>
        </p:nvSpPr>
        <p:spPr bwMode="auto">
          <a:xfrm>
            <a:off x="3271870" y="434294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5" name="Line 6">
            <a:extLst>
              <a:ext uri="{FF2B5EF4-FFF2-40B4-BE49-F238E27FC236}">
                <a16:creationId xmlns:a16="http://schemas.microsoft.com/office/drawing/2014/main" id="{C9B9E4E7-8971-45B3-AC16-47A9B184E730}"/>
              </a:ext>
            </a:extLst>
          </p:cNvPr>
          <p:cNvSpPr>
            <a:spLocks noChangeShapeType="1"/>
          </p:cNvSpPr>
          <p:nvPr/>
        </p:nvSpPr>
        <p:spPr bwMode="auto">
          <a:xfrm>
            <a:off x="3805270" y="434294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29">
            <a:extLst>
              <a:ext uri="{FF2B5EF4-FFF2-40B4-BE49-F238E27FC236}">
                <a16:creationId xmlns:a16="http://schemas.microsoft.com/office/drawing/2014/main" id="{28D0BCDB-A1AE-1996-D0F1-3E8D1D61E9FD}"/>
              </a:ext>
            </a:extLst>
          </p:cNvPr>
          <p:cNvSpPr>
            <a:spLocks noChangeShapeType="1"/>
          </p:cNvSpPr>
          <p:nvPr/>
        </p:nvSpPr>
        <p:spPr bwMode="auto">
          <a:xfrm>
            <a:off x="2890870" y="459711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Rectangle 5">
            <a:extLst>
              <a:ext uri="{FF2B5EF4-FFF2-40B4-BE49-F238E27FC236}">
                <a16:creationId xmlns:a16="http://schemas.microsoft.com/office/drawing/2014/main" id="{10D9534E-FAC4-6858-A742-17E87A896864}"/>
              </a:ext>
            </a:extLst>
          </p:cNvPr>
          <p:cNvSpPr>
            <a:spLocks noChangeArrowheads="1"/>
          </p:cNvSpPr>
          <p:nvPr/>
        </p:nvSpPr>
        <p:spPr bwMode="auto">
          <a:xfrm>
            <a:off x="4873381" y="4359569"/>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19" name="Line 6">
            <a:extLst>
              <a:ext uri="{FF2B5EF4-FFF2-40B4-BE49-F238E27FC236}">
                <a16:creationId xmlns:a16="http://schemas.microsoft.com/office/drawing/2014/main" id="{EB4A6EFC-FEBB-969A-D035-E8A8A268706D}"/>
              </a:ext>
            </a:extLst>
          </p:cNvPr>
          <p:cNvSpPr>
            <a:spLocks noChangeShapeType="1"/>
          </p:cNvSpPr>
          <p:nvPr/>
        </p:nvSpPr>
        <p:spPr bwMode="auto">
          <a:xfrm>
            <a:off x="5609954" y="4354193"/>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29">
            <a:extLst>
              <a:ext uri="{FF2B5EF4-FFF2-40B4-BE49-F238E27FC236}">
                <a16:creationId xmlns:a16="http://schemas.microsoft.com/office/drawing/2014/main" id="{18A1C9C1-5CAD-7829-F18A-2708172C2329}"/>
              </a:ext>
            </a:extLst>
          </p:cNvPr>
          <p:cNvSpPr>
            <a:spLocks noChangeShapeType="1"/>
          </p:cNvSpPr>
          <p:nvPr/>
        </p:nvSpPr>
        <p:spPr bwMode="auto">
          <a:xfrm>
            <a:off x="4672389" y="4587895"/>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9">
            <a:extLst>
              <a:ext uri="{FF2B5EF4-FFF2-40B4-BE49-F238E27FC236}">
                <a16:creationId xmlns:a16="http://schemas.microsoft.com/office/drawing/2014/main" id="{50BAAE71-8277-9D49-CCDA-3674C480A6F5}"/>
              </a:ext>
            </a:extLst>
          </p:cNvPr>
          <p:cNvSpPr>
            <a:spLocks noChangeShapeType="1"/>
          </p:cNvSpPr>
          <p:nvPr/>
        </p:nvSpPr>
        <p:spPr bwMode="auto">
          <a:xfrm>
            <a:off x="3995770" y="4594427"/>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Rectangle 5">
            <a:extLst>
              <a:ext uri="{FF2B5EF4-FFF2-40B4-BE49-F238E27FC236}">
                <a16:creationId xmlns:a16="http://schemas.microsoft.com/office/drawing/2014/main" id="{6FEA2300-F698-360B-4B47-56267288E6E4}"/>
              </a:ext>
            </a:extLst>
          </p:cNvPr>
          <p:cNvSpPr>
            <a:spLocks noChangeArrowheads="1"/>
          </p:cNvSpPr>
          <p:nvPr/>
        </p:nvSpPr>
        <p:spPr bwMode="auto">
          <a:xfrm>
            <a:off x="6266140" y="437139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3" name="Line 6">
            <a:extLst>
              <a:ext uri="{FF2B5EF4-FFF2-40B4-BE49-F238E27FC236}">
                <a16:creationId xmlns:a16="http://schemas.microsoft.com/office/drawing/2014/main" id="{C5B3968B-3984-331F-614A-1EE777B66295}"/>
              </a:ext>
            </a:extLst>
          </p:cNvPr>
          <p:cNvSpPr>
            <a:spLocks noChangeShapeType="1"/>
          </p:cNvSpPr>
          <p:nvPr/>
        </p:nvSpPr>
        <p:spPr bwMode="auto">
          <a:xfrm>
            <a:off x="6799540" y="437139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9">
            <a:extLst>
              <a:ext uri="{FF2B5EF4-FFF2-40B4-BE49-F238E27FC236}">
                <a16:creationId xmlns:a16="http://schemas.microsoft.com/office/drawing/2014/main" id="{286A2E2D-F519-A914-4283-A1AC74F49ABA}"/>
              </a:ext>
            </a:extLst>
          </p:cNvPr>
          <p:cNvSpPr>
            <a:spLocks noChangeShapeType="1"/>
          </p:cNvSpPr>
          <p:nvPr/>
        </p:nvSpPr>
        <p:spPr bwMode="auto">
          <a:xfrm>
            <a:off x="5885140" y="462557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Line 29">
            <a:extLst>
              <a:ext uri="{FF2B5EF4-FFF2-40B4-BE49-F238E27FC236}">
                <a16:creationId xmlns:a16="http://schemas.microsoft.com/office/drawing/2014/main" id="{314B4C89-6023-1C01-2B01-26A6D26E8D7C}"/>
              </a:ext>
            </a:extLst>
          </p:cNvPr>
          <p:cNvSpPr>
            <a:spLocks noChangeShapeType="1"/>
          </p:cNvSpPr>
          <p:nvPr/>
        </p:nvSpPr>
        <p:spPr bwMode="auto">
          <a:xfrm>
            <a:off x="7030848" y="4626470"/>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5">
            <a:extLst>
              <a:ext uri="{FF2B5EF4-FFF2-40B4-BE49-F238E27FC236}">
                <a16:creationId xmlns:a16="http://schemas.microsoft.com/office/drawing/2014/main" id="{D1C1EE47-1E29-BB5D-1D96-BE9341F006DE}"/>
              </a:ext>
            </a:extLst>
          </p:cNvPr>
          <p:cNvSpPr>
            <a:spLocks noChangeArrowheads="1"/>
          </p:cNvSpPr>
          <p:nvPr/>
        </p:nvSpPr>
        <p:spPr bwMode="auto">
          <a:xfrm>
            <a:off x="8109956" y="438653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27" name="Line 6">
            <a:extLst>
              <a:ext uri="{FF2B5EF4-FFF2-40B4-BE49-F238E27FC236}">
                <a16:creationId xmlns:a16="http://schemas.microsoft.com/office/drawing/2014/main" id="{505046F5-431C-6907-A0E5-213CF9A30AEF}"/>
              </a:ext>
            </a:extLst>
          </p:cNvPr>
          <p:cNvSpPr>
            <a:spLocks noChangeShapeType="1"/>
          </p:cNvSpPr>
          <p:nvPr/>
        </p:nvSpPr>
        <p:spPr bwMode="auto">
          <a:xfrm>
            <a:off x="8669483" y="4386533"/>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9">
            <a:extLst>
              <a:ext uri="{FF2B5EF4-FFF2-40B4-BE49-F238E27FC236}">
                <a16:creationId xmlns:a16="http://schemas.microsoft.com/office/drawing/2014/main" id="{9FF8B870-783A-13F3-4505-635163F3017C}"/>
              </a:ext>
            </a:extLst>
          </p:cNvPr>
          <p:cNvSpPr>
            <a:spLocks noChangeShapeType="1"/>
          </p:cNvSpPr>
          <p:nvPr/>
        </p:nvSpPr>
        <p:spPr bwMode="auto">
          <a:xfrm>
            <a:off x="7728956" y="4634175"/>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矩形 28">
            <a:extLst>
              <a:ext uri="{FF2B5EF4-FFF2-40B4-BE49-F238E27FC236}">
                <a16:creationId xmlns:a16="http://schemas.microsoft.com/office/drawing/2014/main" id="{97F57D0E-4983-842E-5A25-ACE134EECD60}"/>
              </a:ext>
            </a:extLst>
          </p:cNvPr>
          <p:cNvSpPr/>
          <p:nvPr/>
        </p:nvSpPr>
        <p:spPr>
          <a:xfrm>
            <a:off x="174724" y="4379239"/>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30" name="Rectangle 5">
            <a:extLst>
              <a:ext uri="{FF2B5EF4-FFF2-40B4-BE49-F238E27FC236}">
                <a16:creationId xmlns:a16="http://schemas.microsoft.com/office/drawing/2014/main" id="{5EA89959-DD69-C9D6-0690-3D90E9144FD9}"/>
              </a:ext>
            </a:extLst>
          </p:cNvPr>
          <p:cNvSpPr>
            <a:spLocks noChangeArrowheads="1"/>
          </p:cNvSpPr>
          <p:nvPr/>
        </p:nvSpPr>
        <p:spPr bwMode="auto">
          <a:xfrm>
            <a:off x="935021" y="4337567"/>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31" name="Line 29">
            <a:extLst>
              <a:ext uri="{FF2B5EF4-FFF2-40B4-BE49-F238E27FC236}">
                <a16:creationId xmlns:a16="http://schemas.microsoft.com/office/drawing/2014/main" id="{FCAADBA7-8196-7214-349B-D6862255E65D}"/>
              </a:ext>
            </a:extLst>
          </p:cNvPr>
          <p:cNvSpPr>
            <a:spLocks noChangeShapeType="1"/>
          </p:cNvSpPr>
          <p:nvPr/>
        </p:nvSpPr>
        <p:spPr bwMode="auto">
          <a:xfrm>
            <a:off x="1729678" y="459711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6">
            <a:extLst>
              <a:ext uri="{FF2B5EF4-FFF2-40B4-BE49-F238E27FC236}">
                <a16:creationId xmlns:a16="http://schemas.microsoft.com/office/drawing/2014/main" id="{C453343A-E628-1C45-F82A-5CA83A50660A}"/>
              </a:ext>
            </a:extLst>
          </p:cNvPr>
          <p:cNvSpPr>
            <a:spLocks noChangeShapeType="1"/>
          </p:cNvSpPr>
          <p:nvPr/>
        </p:nvSpPr>
        <p:spPr bwMode="auto">
          <a:xfrm>
            <a:off x="1488791" y="4349612"/>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29">
            <a:extLst>
              <a:ext uri="{FF2B5EF4-FFF2-40B4-BE49-F238E27FC236}">
                <a16:creationId xmlns:a16="http://schemas.microsoft.com/office/drawing/2014/main" id="{A01AEE94-5A7C-0892-F136-2E2BD4F2649E}"/>
              </a:ext>
            </a:extLst>
          </p:cNvPr>
          <p:cNvSpPr>
            <a:spLocks noChangeShapeType="1"/>
          </p:cNvSpPr>
          <p:nvPr/>
        </p:nvSpPr>
        <p:spPr bwMode="auto">
          <a:xfrm>
            <a:off x="1748167" y="4139714"/>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AutoShape 30">
            <a:extLst>
              <a:ext uri="{FF2B5EF4-FFF2-40B4-BE49-F238E27FC236}">
                <a16:creationId xmlns:a16="http://schemas.microsoft.com/office/drawing/2014/main" id="{A526626D-AAEE-4EF8-9E38-D3DA258394A3}"/>
              </a:ext>
            </a:extLst>
          </p:cNvPr>
          <p:cNvSpPr>
            <a:spLocks noChangeArrowheads="1"/>
          </p:cNvSpPr>
          <p:nvPr/>
        </p:nvSpPr>
        <p:spPr bwMode="auto">
          <a:xfrm>
            <a:off x="2050984" y="4041034"/>
            <a:ext cx="6337440" cy="228600"/>
          </a:xfrm>
          <a:prstGeom prst="rightArrow">
            <a:avLst>
              <a:gd name="adj1" fmla="val 50000"/>
              <a:gd name="adj2" fmla="val 56250"/>
            </a:avLst>
          </a:prstGeom>
          <a:solidFill>
            <a:srgbClr val="FFCC00"/>
          </a:solidFill>
          <a:ln w="6350">
            <a:solidFill>
              <a:schemeClr val="tx1"/>
            </a:solidFill>
            <a:miter lim="800000"/>
            <a:headEnd/>
            <a:tailEnd/>
          </a:ln>
        </p:spPr>
        <p:txBody>
          <a:bodyPr wrap="none" anchor="ctr"/>
          <a:lstStyle/>
          <a:p>
            <a:endParaRPr lang="zh-CN" altLang="en-US"/>
          </a:p>
        </p:txBody>
      </p:sp>
      <p:sp>
        <p:nvSpPr>
          <p:cNvPr id="35" name="Rectangle 55">
            <a:extLst>
              <a:ext uri="{FF2B5EF4-FFF2-40B4-BE49-F238E27FC236}">
                <a16:creationId xmlns:a16="http://schemas.microsoft.com/office/drawing/2014/main" id="{3AE0F83D-F979-A2DB-A25F-D2D7A4380530}"/>
              </a:ext>
            </a:extLst>
          </p:cNvPr>
          <p:cNvSpPr>
            <a:spLocks noChangeArrowheads="1"/>
          </p:cNvSpPr>
          <p:nvPr/>
        </p:nvSpPr>
        <p:spPr bwMode="auto">
          <a:xfrm>
            <a:off x="2008639" y="4732306"/>
            <a:ext cx="12419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r>
              <a:rPr lang="en-US" altLang="zh-CN" sz="2000" dirty="0" err="1">
                <a:latin typeface="Times New Roman" pitchFamily="18" charset="0"/>
              </a:rPr>
              <a:t>i</a:t>
            </a:r>
            <a:r>
              <a:rPr lang="en-US" altLang="zh-CN" sz="2000" dirty="0">
                <a:latin typeface="Times New Roman" pitchFamily="18" charset="0"/>
              </a:rPr>
              <a:t>=1</a:t>
            </a:r>
            <a:endParaRPr lang="en-US" altLang="zh-CN" sz="2000" dirty="0">
              <a:latin typeface="微软雅黑" pitchFamily="34" charset="-122"/>
              <a:ea typeface="微软雅黑" pitchFamily="34" charset="-122"/>
            </a:endParaRPr>
          </a:p>
        </p:txBody>
      </p:sp>
      <p:sp>
        <p:nvSpPr>
          <p:cNvPr id="37" name="文本框 36">
            <a:extLst>
              <a:ext uri="{FF2B5EF4-FFF2-40B4-BE49-F238E27FC236}">
                <a16:creationId xmlns:a16="http://schemas.microsoft.com/office/drawing/2014/main" id="{E1D076AB-FEC4-98E8-2BAC-E3BEE097D04F}"/>
              </a:ext>
            </a:extLst>
          </p:cNvPr>
          <p:cNvSpPr txBox="1"/>
          <p:nvPr/>
        </p:nvSpPr>
        <p:spPr>
          <a:xfrm>
            <a:off x="1069542" y="2150488"/>
            <a:ext cx="8074458" cy="2031325"/>
          </a:xfrm>
          <a:prstGeom prst="rect">
            <a:avLst/>
          </a:prstGeom>
          <a:noFill/>
        </p:spPr>
        <p:txBody>
          <a:bodyPr wrap="square">
            <a:spAutoFit/>
          </a:bodyPr>
          <a:lstStyle/>
          <a:p>
            <a:pPr algn="l"/>
            <a:r>
              <a:rPr lang="en-US" altLang="zh-CN" sz="1400" dirty="0">
                <a:solidFill>
                  <a:srgbClr val="0000FF"/>
                </a:solidFill>
                <a:latin typeface="Consolas" pitchFamily="49" charset="0"/>
                <a:ea typeface="楷体" pitchFamily="49" charset="-122"/>
                <a:cs typeface="Consolas" pitchFamily="49" charset="0"/>
              </a:rPr>
              <a:t>int </a:t>
            </a:r>
            <a:r>
              <a:rPr lang="en-US" altLang="zh-CN" sz="1400" dirty="0" err="1">
                <a:solidFill>
                  <a:srgbClr val="FF33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LocateElem</a:t>
            </a:r>
            <a:r>
              <a:rPr lang="en-US" altLang="zh-CN" sz="1400" dirty="0">
                <a:solidFill>
                  <a:srgbClr val="0000FF"/>
                </a:solidFill>
                <a:latin typeface="Consolas" pitchFamily="49" charset="0"/>
                <a:ea typeface="楷体" pitchFamily="49" charset="-122"/>
                <a:cs typeface="Consolas" pitchFamily="49" charset="0"/>
              </a:rPr>
              <a:t>(</a:t>
            </a:r>
            <a:r>
              <a:rPr lang="en-US" altLang="zh-CN" sz="1400" dirty="0" err="1">
                <a:solidFill>
                  <a:srgbClr val="0000FF"/>
                </a:solidFill>
                <a:latin typeface="Consolas" pitchFamily="49" charset="0"/>
                <a:ea typeface="楷体" pitchFamily="49" charset="-122"/>
                <a:cs typeface="Consolas" pitchFamily="49" charset="0"/>
              </a:rPr>
              <a:t>LinkNode</a:t>
            </a:r>
            <a:r>
              <a:rPr lang="en-US" altLang="zh-CN" sz="1400" dirty="0">
                <a:solidFill>
                  <a:srgbClr val="0000FF"/>
                </a:solidFill>
                <a:latin typeface="Consolas" pitchFamily="49" charset="0"/>
                <a:ea typeface="楷体" pitchFamily="49" charset="-122"/>
                <a:cs typeface="Consolas" pitchFamily="49" charset="0"/>
              </a:rPr>
              <a:t> *L</a:t>
            </a:r>
            <a:r>
              <a:rPr lang="zh-CN" altLang="en-US" sz="1400" dirty="0">
                <a:solidFill>
                  <a:srgbClr val="0000FF"/>
                </a:solidFill>
                <a:latin typeface="Consolas" pitchFamily="49" charset="0"/>
                <a:ea typeface="楷体" pitchFamily="49" charset="-122"/>
                <a:cs typeface="Consolas" pitchFamily="49" charset="0"/>
              </a:rPr>
              <a:t>，</a:t>
            </a:r>
            <a:r>
              <a:rPr lang="en-US" altLang="zh-CN" sz="1400" dirty="0" err="1">
                <a:solidFill>
                  <a:srgbClr val="0000FF"/>
                </a:solidFill>
                <a:latin typeface="Consolas" pitchFamily="49" charset="0"/>
                <a:ea typeface="楷体" pitchFamily="49" charset="-122"/>
                <a:cs typeface="Consolas" pitchFamily="49" charset="0"/>
              </a:rPr>
              <a:t>ElemType</a:t>
            </a:r>
            <a:r>
              <a:rPr lang="en-US" altLang="zh-CN" sz="1400" dirty="0">
                <a:solidFill>
                  <a:srgbClr val="0000FF"/>
                </a:solidFill>
                <a:latin typeface="Consolas" pitchFamily="49" charset="0"/>
                <a:ea typeface="楷体" pitchFamily="49" charset="-122"/>
                <a:cs typeface="Consolas" pitchFamily="49" charset="0"/>
              </a:rPr>
              <a:t> e)</a:t>
            </a:r>
          </a:p>
          <a:p>
            <a:pPr algn="l"/>
            <a:r>
              <a:rPr lang="en-US" altLang="zh-CN" sz="1400" dirty="0">
                <a:solidFill>
                  <a:srgbClr val="0000FF"/>
                </a:solidFill>
                <a:latin typeface="Consolas" pitchFamily="49" charset="0"/>
                <a:ea typeface="楷体" pitchFamily="49" charset="-122"/>
                <a:cs typeface="Consolas" pitchFamily="49" charset="0"/>
              </a:rPr>
              <a:t>{</a:t>
            </a:r>
          </a:p>
          <a:p>
            <a:pPr algn="l"/>
            <a:r>
              <a:rPr lang="en-US" altLang="zh-CN" sz="1400" dirty="0">
                <a:solidFill>
                  <a:srgbClr val="0000FF"/>
                </a:solidFill>
                <a:latin typeface="Consolas" pitchFamily="49" charset="0"/>
                <a:ea typeface="楷体" pitchFamily="49" charset="-122"/>
                <a:cs typeface="Consolas" pitchFamily="49" charset="0"/>
              </a:rPr>
              <a:t>   int </a:t>
            </a:r>
            <a:r>
              <a:rPr lang="en-US" altLang="zh-CN" sz="1400" dirty="0" err="1">
                <a:solidFill>
                  <a:srgbClr val="0000FF"/>
                </a:solidFill>
                <a:latin typeface="Consolas" pitchFamily="49" charset="0"/>
                <a:ea typeface="楷体" pitchFamily="49" charset="-122"/>
                <a:cs typeface="Consolas" pitchFamily="49" charset="0"/>
              </a:rPr>
              <a:t>i</a:t>
            </a:r>
            <a:r>
              <a:rPr lang="en-US" altLang="zh-CN" sz="1400" dirty="0">
                <a:solidFill>
                  <a:srgbClr val="0000FF"/>
                </a:solidFill>
                <a:latin typeface="Consolas" pitchFamily="49" charset="0"/>
                <a:ea typeface="楷体" pitchFamily="49" charset="-122"/>
                <a:cs typeface="Consolas" pitchFamily="49" charset="0"/>
              </a:rPr>
              <a:t>=1;</a:t>
            </a:r>
          </a:p>
          <a:p>
            <a:pPr algn="l"/>
            <a:r>
              <a:rPr lang="en-US" altLang="zh-CN" sz="1400" dirty="0">
                <a:solidFill>
                  <a:srgbClr val="0000FF"/>
                </a:solidFill>
                <a:latin typeface="Consolas" pitchFamily="49" charset="0"/>
                <a:ea typeface="楷体" pitchFamily="49" charset="-122"/>
                <a:cs typeface="Consolas" pitchFamily="49" charset="0"/>
              </a:rPr>
              <a:t>   </a:t>
            </a:r>
            <a:r>
              <a:rPr lang="en-US" altLang="zh-CN" sz="1400" dirty="0" err="1">
                <a:solidFill>
                  <a:srgbClr val="0000FF"/>
                </a:solidFill>
                <a:latin typeface="Consolas" pitchFamily="49" charset="0"/>
                <a:ea typeface="楷体" pitchFamily="49" charset="-122"/>
                <a:cs typeface="Consolas" pitchFamily="49" charset="0"/>
              </a:rPr>
              <a:t>LinkNode</a:t>
            </a:r>
            <a:r>
              <a:rPr lang="en-US" altLang="zh-CN" sz="1400" dirty="0">
                <a:solidFill>
                  <a:srgbClr val="0000FF"/>
                </a:solidFill>
                <a:latin typeface="Consolas" pitchFamily="49" charset="0"/>
                <a:ea typeface="楷体" pitchFamily="49" charset="-122"/>
                <a:cs typeface="Consolas" pitchFamily="49" charset="0"/>
              </a:rPr>
              <a:t> *p=L-&gt;next;	</a:t>
            </a:r>
            <a:r>
              <a:rPr lang="en-US" altLang="zh-CN" sz="1400" dirty="0">
                <a:solidFill>
                  <a:srgbClr val="00B0F0"/>
                </a:solidFill>
                <a:latin typeface="Consolas" pitchFamily="49" charset="0"/>
                <a:ea typeface="仿宋" pitchFamily="49" charset="-122"/>
                <a:cs typeface="Consolas" pitchFamily="49" charset="0"/>
              </a:rPr>
              <a:t>//p</a:t>
            </a:r>
            <a:r>
              <a:rPr lang="zh-CN" altLang="en-US" sz="1400" dirty="0">
                <a:solidFill>
                  <a:srgbClr val="00B0F0"/>
                </a:solidFill>
                <a:latin typeface="Consolas" pitchFamily="49" charset="0"/>
                <a:ea typeface="仿宋" pitchFamily="49" charset="-122"/>
                <a:cs typeface="Consolas" pitchFamily="49" charset="0"/>
              </a:rPr>
              <a:t>指向开始结点，</a:t>
            </a:r>
            <a:r>
              <a:rPr lang="en-US" altLang="zh-CN" sz="1400" dirty="0" err="1">
                <a:solidFill>
                  <a:srgbClr val="00B0F0"/>
                </a:solidFill>
                <a:latin typeface="Consolas" pitchFamily="49" charset="0"/>
                <a:ea typeface="仿宋" pitchFamily="49" charset="-122"/>
                <a:cs typeface="Consolas" pitchFamily="49" charset="0"/>
              </a:rPr>
              <a:t>i</a:t>
            </a:r>
            <a:r>
              <a:rPr lang="zh-CN" altLang="en-US" sz="1400" dirty="0">
                <a:solidFill>
                  <a:srgbClr val="00B0F0"/>
                </a:solidFill>
                <a:latin typeface="Consolas" pitchFamily="49" charset="0"/>
                <a:ea typeface="仿宋" pitchFamily="49" charset="-122"/>
                <a:cs typeface="Consolas" pitchFamily="49" charset="0"/>
              </a:rPr>
              <a:t>置为</a:t>
            </a:r>
            <a:r>
              <a:rPr lang="en-US" altLang="zh-CN" sz="1400" dirty="0">
                <a:solidFill>
                  <a:srgbClr val="00B0F0"/>
                </a:solidFill>
                <a:latin typeface="Consolas" pitchFamily="49" charset="0"/>
                <a:ea typeface="仿宋" pitchFamily="49" charset="-122"/>
                <a:cs typeface="Consolas" pitchFamily="49" charset="0"/>
              </a:rPr>
              <a:t>1  </a:t>
            </a:r>
          </a:p>
          <a:p>
            <a:pPr algn="l"/>
            <a:endParaRPr lang="en-US" altLang="zh-CN" sz="1400" dirty="0">
              <a:solidFill>
                <a:srgbClr val="0000FF"/>
              </a:solidFill>
              <a:latin typeface="Consolas" pitchFamily="49" charset="0"/>
              <a:ea typeface="楷体" pitchFamily="49" charset="-122"/>
              <a:cs typeface="Consolas" pitchFamily="49" charset="0"/>
            </a:endParaRPr>
          </a:p>
          <a:p>
            <a:pPr algn="l"/>
            <a:r>
              <a:rPr lang="en-US" altLang="zh-CN" sz="1400" dirty="0">
                <a:solidFill>
                  <a:srgbClr val="0000FF"/>
                </a:solidFill>
                <a:latin typeface="Consolas" pitchFamily="49" charset="0"/>
                <a:ea typeface="楷体" pitchFamily="49" charset="-122"/>
                <a:cs typeface="Consolas" pitchFamily="49" charset="0"/>
              </a:rPr>
              <a:t>   while (p!=NULL &amp;&amp; p-&gt;data!=e) </a:t>
            </a:r>
          </a:p>
          <a:p>
            <a:pPr algn="l"/>
            <a:r>
              <a:rPr lang="en-US" altLang="zh-CN" sz="1400" dirty="0">
                <a:solidFill>
                  <a:srgbClr val="0000FF"/>
                </a:solidFill>
                <a:latin typeface="Consolas" pitchFamily="49" charset="0"/>
                <a:ea typeface="楷体" pitchFamily="49" charset="-122"/>
                <a:cs typeface="Consolas" pitchFamily="49" charset="0"/>
              </a:rPr>
              <a:t>   {  p=p-&gt;next;  		</a:t>
            </a:r>
            <a:r>
              <a:rPr lang="en-US" altLang="zh-CN" sz="1400" dirty="0">
                <a:solidFill>
                  <a:srgbClr val="00B0F0"/>
                </a:solidFill>
                <a:latin typeface="Consolas" pitchFamily="49" charset="0"/>
                <a:ea typeface="仿宋" pitchFamily="49" charset="-122"/>
                <a:cs typeface="Consolas" pitchFamily="49" charset="0"/>
              </a:rPr>
              <a:t>//</a:t>
            </a:r>
            <a:r>
              <a:rPr lang="zh-CN" altLang="en-US" sz="1400" dirty="0">
                <a:solidFill>
                  <a:srgbClr val="00B0F0"/>
                </a:solidFill>
                <a:latin typeface="Consolas" pitchFamily="49" charset="0"/>
                <a:ea typeface="仿宋" pitchFamily="49" charset="-122"/>
                <a:cs typeface="Consolas" pitchFamily="49" charset="0"/>
              </a:rPr>
              <a:t>查找</a:t>
            </a:r>
            <a:r>
              <a:rPr lang="en-US" altLang="zh-CN" sz="1400" dirty="0">
                <a:solidFill>
                  <a:srgbClr val="00B0F0"/>
                </a:solidFill>
                <a:latin typeface="Consolas" pitchFamily="49" charset="0"/>
                <a:ea typeface="仿宋" pitchFamily="49" charset="-122"/>
                <a:cs typeface="Consolas" pitchFamily="49" charset="0"/>
              </a:rPr>
              <a:t>data</a:t>
            </a:r>
            <a:r>
              <a:rPr lang="zh-CN" altLang="en-US" sz="1400" dirty="0">
                <a:solidFill>
                  <a:srgbClr val="00B0F0"/>
                </a:solidFill>
                <a:latin typeface="Consolas" pitchFamily="49" charset="0"/>
                <a:ea typeface="仿宋" pitchFamily="49" charset="-122"/>
                <a:cs typeface="Consolas" pitchFamily="49" charset="0"/>
              </a:rPr>
              <a:t>值为</a:t>
            </a:r>
            <a:r>
              <a:rPr lang="en-US" altLang="zh-CN" sz="1400" i="1" dirty="0">
                <a:solidFill>
                  <a:srgbClr val="00B0F0"/>
                </a:solidFill>
                <a:latin typeface="Consolas" pitchFamily="49" charset="0"/>
                <a:ea typeface="仿宋" pitchFamily="49" charset="-122"/>
                <a:cs typeface="Consolas" pitchFamily="49" charset="0"/>
              </a:rPr>
              <a:t>e</a:t>
            </a:r>
            <a:r>
              <a:rPr lang="zh-CN" altLang="en-US" sz="1400" dirty="0">
                <a:solidFill>
                  <a:srgbClr val="00B0F0"/>
                </a:solidFill>
                <a:latin typeface="Consolas" pitchFamily="49" charset="0"/>
                <a:ea typeface="仿宋" pitchFamily="49" charset="-122"/>
                <a:cs typeface="Consolas" pitchFamily="49" charset="0"/>
              </a:rPr>
              <a:t>的结点，其序号为</a:t>
            </a:r>
            <a:r>
              <a:rPr lang="en-US" altLang="zh-CN" sz="1400" i="1" dirty="0" err="1">
                <a:solidFill>
                  <a:srgbClr val="00B0F0"/>
                </a:solidFill>
                <a:latin typeface="Consolas" pitchFamily="49" charset="0"/>
                <a:ea typeface="仿宋" pitchFamily="49" charset="-122"/>
                <a:cs typeface="Consolas" pitchFamily="49" charset="0"/>
              </a:rPr>
              <a:t>i</a:t>
            </a:r>
            <a:endParaRPr lang="en-US" altLang="zh-CN" sz="1400" i="1" dirty="0">
              <a:solidFill>
                <a:srgbClr val="00B0F0"/>
              </a:solidFill>
              <a:latin typeface="Consolas" pitchFamily="49" charset="0"/>
              <a:ea typeface="仿宋" pitchFamily="49" charset="-122"/>
              <a:cs typeface="Consolas" pitchFamily="49" charset="0"/>
            </a:endParaRPr>
          </a:p>
          <a:p>
            <a:pPr algn="l"/>
            <a:r>
              <a:rPr lang="en-US" altLang="zh-CN" sz="1400" dirty="0">
                <a:solidFill>
                  <a:srgbClr val="0000FF"/>
                </a:solidFill>
                <a:latin typeface="Consolas" pitchFamily="49" charset="0"/>
                <a:ea typeface="楷体" pitchFamily="49" charset="-122"/>
                <a:cs typeface="Consolas" pitchFamily="49" charset="0"/>
              </a:rPr>
              <a:t>      </a:t>
            </a:r>
            <a:r>
              <a:rPr lang="en-US" altLang="zh-CN" sz="1400" dirty="0" err="1">
                <a:solidFill>
                  <a:srgbClr val="0000FF"/>
                </a:solidFill>
                <a:latin typeface="Consolas" pitchFamily="49" charset="0"/>
                <a:ea typeface="楷体" pitchFamily="49" charset="-122"/>
                <a:cs typeface="Consolas" pitchFamily="49" charset="0"/>
              </a:rPr>
              <a:t>i</a:t>
            </a:r>
            <a:r>
              <a:rPr lang="en-US" altLang="zh-CN" sz="1400" dirty="0">
                <a:solidFill>
                  <a:srgbClr val="0000FF"/>
                </a:solidFill>
                <a:latin typeface="Consolas" pitchFamily="49" charset="0"/>
                <a:ea typeface="楷体" pitchFamily="49" charset="-122"/>
                <a:cs typeface="Consolas" pitchFamily="49" charset="0"/>
              </a:rPr>
              <a:t>++;</a:t>
            </a:r>
          </a:p>
          <a:p>
            <a:pPr algn="l"/>
            <a:r>
              <a:rPr lang="en-US" altLang="zh-CN" sz="1400" dirty="0">
                <a:solidFill>
                  <a:srgbClr val="0000FF"/>
                </a:solidFill>
                <a:latin typeface="Consolas" pitchFamily="49" charset="0"/>
                <a:ea typeface="楷体" pitchFamily="49" charset="-122"/>
                <a:cs typeface="Consolas" pitchFamily="49" charset="0"/>
              </a:rPr>
              <a:t>   }</a:t>
            </a:r>
          </a:p>
        </p:txBody>
      </p:sp>
      <p:sp>
        <p:nvSpPr>
          <p:cNvPr id="38" name="Rectangle 55">
            <a:extLst>
              <a:ext uri="{FF2B5EF4-FFF2-40B4-BE49-F238E27FC236}">
                <a16:creationId xmlns:a16="http://schemas.microsoft.com/office/drawing/2014/main" id="{A57CE45F-C4DE-4EB2-F507-1CD0D3DC6CA4}"/>
              </a:ext>
            </a:extLst>
          </p:cNvPr>
          <p:cNvSpPr>
            <a:spLocks noChangeArrowheads="1"/>
          </p:cNvSpPr>
          <p:nvPr/>
        </p:nvSpPr>
        <p:spPr bwMode="auto">
          <a:xfrm>
            <a:off x="1517630" y="379588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36" name="矩形 35">
            <a:extLst>
              <a:ext uri="{FF2B5EF4-FFF2-40B4-BE49-F238E27FC236}">
                <a16:creationId xmlns:a16="http://schemas.microsoft.com/office/drawing/2014/main" id="{1C78A917-17B6-4CC0-A0C1-728DD804C637}"/>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20407679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C8E64-2AFF-0716-27CC-DD34C6146396}"/>
            </a:ext>
          </a:extLst>
        </p:cNvPr>
        <p:cNvGrpSpPr/>
        <p:nvPr/>
      </p:nvGrpSpPr>
      <p:grpSpPr>
        <a:xfrm>
          <a:off x="0" y="0"/>
          <a:ext cx="0" cy="0"/>
          <a:chOff x="0" y="0"/>
          <a:chExt cx="0" cy="0"/>
        </a:xfrm>
      </p:grpSpPr>
      <p:cxnSp>
        <p:nvCxnSpPr>
          <p:cNvPr id="16" name="直接连接符 15">
            <a:extLst>
              <a:ext uri="{FF2B5EF4-FFF2-40B4-BE49-F238E27FC236}">
                <a16:creationId xmlns:a16="http://schemas.microsoft.com/office/drawing/2014/main" id="{9D5940C0-E669-851D-3CA6-7CA1B7BC8CF3}"/>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0A1EC517-812F-187D-4D93-7B4F91B03FC6}"/>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7" name="矩形 6">
            <a:extLst>
              <a:ext uri="{FF2B5EF4-FFF2-40B4-BE49-F238E27FC236}">
                <a16:creationId xmlns:a16="http://schemas.microsoft.com/office/drawing/2014/main" id="{D7171D83-8398-25BD-94F9-1CA1605E2CF6}"/>
              </a:ext>
            </a:extLst>
          </p:cNvPr>
          <p:cNvSpPr/>
          <p:nvPr/>
        </p:nvSpPr>
        <p:spPr>
          <a:xfrm>
            <a:off x="1053170" y="1513985"/>
            <a:ext cx="4238910"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⑦</a:t>
            </a:r>
            <a:r>
              <a:rPr lang="zh-CN" altLang="en-US" sz="2000" dirty="0">
                <a:latin typeface="微软雅黑" pitchFamily="34" charset="-122"/>
                <a:ea typeface="微软雅黑" pitchFamily="34" charset="-122"/>
                <a:cs typeface="经典粗黑简" pitchFamily="49" charset="-122"/>
              </a:rPr>
              <a:t>按值查找</a:t>
            </a:r>
          </a:p>
        </p:txBody>
      </p:sp>
      <p:sp>
        <p:nvSpPr>
          <p:cNvPr id="9" name="Rectangle 5">
            <a:extLst>
              <a:ext uri="{FF2B5EF4-FFF2-40B4-BE49-F238E27FC236}">
                <a16:creationId xmlns:a16="http://schemas.microsoft.com/office/drawing/2014/main" id="{13711E15-1BAF-01B4-88E1-BE6A81CEE12B}"/>
              </a:ext>
            </a:extLst>
          </p:cNvPr>
          <p:cNvSpPr>
            <a:spLocks noChangeArrowheads="1"/>
          </p:cNvSpPr>
          <p:nvPr/>
        </p:nvSpPr>
        <p:spPr bwMode="auto">
          <a:xfrm>
            <a:off x="2096213" y="4337567"/>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0" name="Line 6">
            <a:extLst>
              <a:ext uri="{FF2B5EF4-FFF2-40B4-BE49-F238E27FC236}">
                <a16:creationId xmlns:a16="http://schemas.microsoft.com/office/drawing/2014/main" id="{EF39C822-D1B7-B3A5-4974-91EC790EC74C}"/>
              </a:ext>
            </a:extLst>
          </p:cNvPr>
          <p:cNvSpPr>
            <a:spLocks noChangeShapeType="1"/>
          </p:cNvSpPr>
          <p:nvPr/>
        </p:nvSpPr>
        <p:spPr bwMode="auto">
          <a:xfrm>
            <a:off x="2629613" y="4337567"/>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Rectangle 25">
            <a:extLst>
              <a:ext uri="{FF2B5EF4-FFF2-40B4-BE49-F238E27FC236}">
                <a16:creationId xmlns:a16="http://schemas.microsoft.com/office/drawing/2014/main" id="{4F1F65D4-5660-4A22-8252-71396BD2AB6B}"/>
              </a:ext>
            </a:extLst>
          </p:cNvPr>
          <p:cNvSpPr>
            <a:spLocks noChangeArrowheads="1"/>
          </p:cNvSpPr>
          <p:nvPr/>
        </p:nvSpPr>
        <p:spPr bwMode="auto">
          <a:xfrm>
            <a:off x="4260098" y="4411532"/>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2" name="Rectangle 36">
            <a:extLst>
              <a:ext uri="{FF2B5EF4-FFF2-40B4-BE49-F238E27FC236}">
                <a16:creationId xmlns:a16="http://schemas.microsoft.com/office/drawing/2014/main" id="{A9999E0A-D01C-DC52-027D-66BDB9A6F7F1}"/>
              </a:ext>
            </a:extLst>
          </p:cNvPr>
          <p:cNvSpPr>
            <a:spLocks noChangeArrowheads="1"/>
          </p:cNvSpPr>
          <p:nvPr/>
        </p:nvSpPr>
        <p:spPr bwMode="auto">
          <a:xfrm>
            <a:off x="7394247" y="4433534"/>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3" name="Line 29">
            <a:extLst>
              <a:ext uri="{FF2B5EF4-FFF2-40B4-BE49-F238E27FC236}">
                <a16:creationId xmlns:a16="http://schemas.microsoft.com/office/drawing/2014/main" id="{29162352-F79B-8470-5675-3D40CC106BB7}"/>
              </a:ext>
            </a:extLst>
          </p:cNvPr>
          <p:cNvSpPr>
            <a:spLocks noChangeShapeType="1"/>
          </p:cNvSpPr>
          <p:nvPr/>
        </p:nvSpPr>
        <p:spPr bwMode="auto">
          <a:xfrm>
            <a:off x="543735" y="458923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Rectangle 5">
            <a:extLst>
              <a:ext uri="{FF2B5EF4-FFF2-40B4-BE49-F238E27FC236}">
                <a16:creationId xmlns:a16="http://schemas.microsoft.com/office/drawing/2014/main" id="{31020210-ABCF-15EE-00D5-AE0524EB7020}"/>
              </a:ext>
            </a:extLst>
          </p:cNvPr>
          <p:cNvSpPr>
            <a:spLocks noChangeArrowheads="1"/>
          </p:cNvSpPr>
          <p:nvPr/>
        </p:nvSpPr>
        <p:spPr bwMode="auto">
          <a:xfrm>
            <a:off x="3271870" y="434294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5" name="Line 6">
            <a:extLst>
              <a:ext uri="{FF2B5EF4-FFF2-40B4-BE49-F238E27FC236}">
                <a16:creationId xmlns:a16="http://schemas.microsoft.com/office/drawing/2014/main" id="{B74149A7-E07C-2A27-625D-6FAF1E150D50}"/>
              </a:ext>
            </a:extLst>
          </p:cNvPr>
          <p:cNvSpPr>
            <a:spLocks noChangeShapeType="1"/>
          </p:cNvSpPr>
          <p:nvPr/>
        </p:nvSpPr>
        <p:spPr bwMode="auto">
          <a:xfrm>
            <a:off x="3805270" y="434294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29">
            <a:extLst>
              <a:ext uri="{FF2B5EF4-FFF2-40B4-BE49-F238E27FC236}">
                <a16:creationId xmlns:a16="http://schemas.microsoft.com/office/drawing/2014/main" id="{4F9543C3-3EB6-7819-2452-37D0D6050EA4}"/>
              </a:ext>
            </a:extLst>
          </p:cNvPr>
          <p:cNvSpPr>
            <a:spLocks noChangeShapeType="1"/>
          </p:cNvSpPr>
          <p:nvPr/>
        </p:nvSpPr>
        <p:spPr bwMode="auto">
          <a:xfrm>
            <a:off x="2890870" y="459711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Rectangle 5">
            <a:extLst>
              <a:ext uri="{FF2B5EF4-FFF2-40B4-BE49-F238E27FC236}">
                <a16:creationId xmlns:a16="http://schemas.microsoft.com/office/drawing/2014/main" id="{3A8ADFDB-C891-1646-CE1C-1D94861472F1}"/>
              </a:ext>
            </a:extLst>
          </p:cNvPr>
          <p:cNvSpPr>
            <a:spLocks noChangeArrowheads="1"/>
          </p:cNvSpPr>
          <p:nvPr/>
        </p:nvSpPr>
        <p:spPr bwMode="auto">
          <a:xfrm>
            <a:off x="4873381" y="4359569"/>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19" name="Line 6">
            <a:extLst>
              <a:ext uri="{FF2B5EF4-FFF2-40B4-BE49-F238E27FC236}">
                <a16:creationId xmlns:a16="http://schemas.microsoft.com/office/drawing/2014/main" id="{5E9E8E00-3854-804A-4C7D-272F94B3B070}"/>
              </a:ext>
            </a:extLst>
          </p:cNvPr>
          <p:cNvSpPr>
            <a:spLocks noChangeShapeType="1"/>
          </p:cNvSpPr>
          <p:nvPr/>
        </p:nvSpPr>
        <p:spPr bwMode="auto">
          <a:xfrm>
            <a:off x="5609954" y="4354193"/>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29">
            <a:extLst>
              <a:ext uri="{FF2B5EF4-FFF2-40B4-BE49-F238E27FC236}">
                <a16:creationId xmlns:a16="http://schemas.microsoft.com/office/drawing/2014/main" id="{C53BFB1C-9F57-E276-680C-D5CA856F2FAF}"/>
              </a:ext>
            </a:extLst>
          </p:cNvPr>
          <p:cNvSpPr>
            <a:spLocks noChangeShapeType="1"/>
          </p:cNvSpPr>
          <p:nvPr/>
        </p:nvSpPr>
        <p:spPr bwMode="auto">
          <a:xfrm>
            <a:off x="4672389" y="4587895"/>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9">
            <a:extLst>
              <a:ext uri="{FF2B5EF4-FFF2-40B4-BE49-F238E27FC236}">
                <a16:creationId xmlns:a16="http://schemas.microsoft.com/office/drawing/2014/main" id="{6CB62046-21DB-C5AD-2F84-700C17C629A7}"/>
              </a:ext>
            </a:extLst>
          </p:cNvPr>
          <p:cNvSpPr>
            <a:spLocks noChangeShapeType="1"/>
          </p:cNvSpPr>
          <p:nvPr/>
        </p:nvSpPr>
        <p:spPr bwMode="auto">
          <a:xfrm>
            <a:off x="3995770" y="4594427"/>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Rectangle 5">
            <a:extLst>
              <a:ext uri="{FF2B5EF4-FFF2-40B4-BE49-F238E27FC236}">
                <a16:creationId xmlns:a16="http://schemas.microsoft.com/office/drawing/2014/main" id="{25EC9A03-BB84-7D8A-8028-3D08A7CF0530}"/>
              </a:ext>
            </a:extLst>
          </p:cNvPr>
          <p:cNvSpPr>
            <a:spLocks noChangeArrowheads="1"/>
          </p:cNvSpPr>
          <p:nvPr/>
        </p:nvSpPr>
        <p:spPr bwMode="auto">
          <a:xfrm>
            <a:off x="6266140" y="437139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3" name="Line 6">
            <a:extLst>
              <a:ext uri="{FF2B5EF4-FFF2-40B4-BE49-F238E27FC236}">
                <a16:creationId xmlns:a16="http://schemas.microsoft.com/office/drawing/2014/main" id="{6C321833-BFC8-A950-B397-B5752B77FED0}"/>
              </a:ext>
            </a:extLst>
          </p:cNvPr>
          <p:cNvSpPr>
            <a:spLocks noChangeShapeType="1"/>
          </p:cNvSpPr>
          <p:nvPr/>
        </p:nvSpPr>
        <p:spPr bwMode="auto">
          <a:xfrm>
            <a:off x="6799540" y="437139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9">
            <a:extLst>
              <a:ext uri="{FF2B5EF4-FFF2-40B4-BE49-F238E27FC236}">
                <a16:creationId xmlns:a16="http://schemas.microsoft.com/office/drawing/2014/main" id="{C00355A0-66C8-D7B9-075C-666335B4A20D}"/>
              </a:ext>
            </a:extLst>
          </p:cNvPr>
          <p:cNvSpPr>
            <a:spLocks noChangeShapeType="1"/>
          </p:cNvSpPr>
          <p:nvPr/>
        </p:nvSpPr>
        <p:spPr bwMode="auto">
          <a:xfrm>
            <a:off x="5885140" y="462557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Line 29">
            <a:extLst>
              <a:ext uri="{FF2B5EF4-FFF2-40B4-BE49-F238E27FC236}">
                <a16:creationId xmlns:a16="http://schemas.microsoft.com/office/drawing/2014/main" id="{E0D5FDEB-2D40-5117-883C-D2A3D0E40467}"/>
              </a:ext>
            </a:extLst>
          </p:cNvPr>
          <p:cNvSpPr>
            <a:spLocks noChangeShapeType="1"/>
          </p:cNvSpPr>
          <p:nvPr/>
        </p:nvSpPr>
        <p:spPr bwMode="auto">
          <a:xfrm>
            <a:off x="7030848" y="4626470"/>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5">
            <a:extLst>
              <a:ext uri="{FF2B5EF4-FFF2-40B4-BE49-F238E27FC236}">
                <a16:creationId xmlns:a16="http://schemas.microsoft.com/office/drawing/2014/main" id="{79C3217B-DB07-55AA-D666-5ACDEE6A4331}"/>
              </a:ext>
            </a:extLst>
          </p:cNvPr>
          <p:cNvSpPr>
            <a:spLocks noChangeArrowheads="1"/>
          </p:cNvSpPr>
          <p:nvPr/>
        </p:nvSpPr>
        <p:spPr bwMode="auto">
          <a:xfrm>
            <a:off x="8109956" y="438653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27" name="Line 6">
            <a:extLst>
              <a:ext uri="{FF2B5EF4-FFF2-40B4-BE49-F238E27FC236}">
                <a16:creationId xmlns:a16="http://schemas.microsoft.com/office/drawing/2014/main" id="{F6BCD6B7-A073-9B94-000B-94E6AE31FA6E}"/>
              </a:ext>
            </a:extLst>
          </p:cNvPr>
          <p:cNvSpPr>
            <a:spLocks noChangeShapeType="1"/>
          </p:cNvSpPr>
          <p:nvPr/>
        </p:nvSpPr>
        <p:spPr bwMode="auto">
          <a:xfrm>
            <a:off x="8669483" y="4386533"/>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9">
            <a:extLst>
              <a:ext uri="{FF2B5EF4-FFF2-40B4-BE49-F238E27FC236}">
                <a16:creationId xmlns:a16="http://schemas.microsoft.com/office/drawing/2014/main" id="{117E4064-D420-11BF-1098-038182D57C39}"/>
              </a:ext>
            </a:extLst>
          </p:cNvPr>
          <p:cNvSpPr>
            <a:spLocks noChangeShapeType="1"/>
          </p:cNvSpPr>
          <p:nvPr/>
        </p:nvSpPr>
        <p:spPr bwMode="auto">
          <a:xfrm>
            <a:off x="7728956" y="4634175"/>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矩形 28">
            <a:extLst>
              <a:ext uri="{FF2B5EF4-FFF2-40B4-BE49-F238E27FC236}">
                <a16:creationId xmlns:a16="http://schemas.microsoft.com/office/drawing/2014/main" id="{A2B97E6D-1213-9E55-54A9-4777ADD144C2}"/>
              </a:ext>
            </a:extLst>
          </p:cNvPr>
          <p:cNvSpPr/>
          <p:nvPr/>
        </p:nvSpPr>
        <p:spPr>
          <a:xfrm>
            <a:off x="174724" y="4379239"/>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30" name="Rectangle 5">
            <a:extLst>
              <a:ext uri="{FF2B5EF4-FFF2-40B4-BE49-F238E27FC236}">
                <a16:creationId xmlns:a16="http://schemas.microsoft.com/office/drawing/2014/main" id="{C0162389-1EEC-8438-0B0F-5E17617933D2}"/>
              </a:ext>
            </a:extLst>
          </p:cNvPr>
          <p:cNvSpPr>
            <a:spLocks noChangeArrowheads="1"/>
          </p:cNvSpPr>
          <p:nvPr/>
        </p:nvSpPr>
        <p:spPr bwMode="auto">
          <a:xfrm>
            <a:off x="935021" y="4337567"/>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31" name="Line 29">
            <a:extLst>
              <a:ext uri="{FF2B5EF4-FFF2-40B4-BE49-F238E27FC236}">
                <a16:creationId xmlns:a16="http://schemas.microsoft.com/office/drawing/2014/main" id="{E91F7836-3AE6-BC76-3E3A-F94C3959B992}"/>
              </a:ext>
            </a:extLst>
          </p:cNvPr>
          <p:cNvSpPr>
            <a:spLocks noChangeShapeType="1"/>
          </p:cNvSpPr>
          <p:nvPr/>
        </p:nvSpPr>
        <p:spPr bwMode="auto">
          <a:xfrm>
            <a:off x="1729678" y="459711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6">
            <a:extLst>
              <a:ext uri="{FF2B5EF4-FFF2-40B4-BE49-F238E27FC236}">
                <a16:creationId xmlns:a16="http://schemas.microsoft.com/office/drawing/2014/main" id="{92782BD9-8174-744F-B560-0A6ED1733CE0}"/>
              </a:ext>
            </a:extLst>
          </p:cNvPr>
          <p:cNvSpPr>
            <a:spLocks noChangeShapeType="1"/>
          </p:cNvSpPr>
          <p:nvPr/>
        </p:nvSpPr>
        <p:spPr bwMode="auto">
          <a:xfrm>
            <a:off x="1488791" y="4349612"/>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29">
            <a:extLst>
              <a:ext uri="{FF2B5EF4-FFF2-40B4-BE49-F238E27FC236}">
                <a16:creationId xmlns:a16="http://schemas.microsoft.com/office/drawing/2014/main" id="{F3553243-C063-5951-0061-4A2807F54209}"/>
              </a:ext>
            </a:extLst>
          </p:cNvPr>
          <p:cNvSpPr>
            <a:spLocks noChangeShapeType="1"/>
          </p:cNvSpPr>
          <p:nvPr/>
        </p:nvSpPr>
        <p:spPr bwMode="auto">
          <a:xfrm>
            <a:off x="1748167" y="4139714"/>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AutoShape 30">
            <a:extLst>
              <a:ext uri="{FF2B5EF4-FFF2-40B4-BE49-F238E27FC236}">
                <a16:creationId xmlns:a16="http://schemas.microsoft.com/office/drawing/2014/main" id="{1BEF7891-03CF-4B9B-33E5-6E1D9E62DD8F}"/>
              </a:ext>
            </a:extLst>
          </p:cNvPr>
          <p:cNvSpPr>
            <a:spLocks noChangeArrowheads="1"/>
          </p:cNvSpPr>
          <p:nvPr/>
        </p:nvSpPr>
        <p:spPr bwMode="auto">
          <a:xfrm>
            <a:off x="2050984" y="4041034"/>
            <a:ext cx="6337440" cy="228600"/>
          </a:xfrm>
          <a:prstGeom prst="rightArrow">
            <a:avLst>
              <a:gd name="adj1" fmla="val 50000"/>
              <a:gd name="adj2" fmla="val 56250"/>
            </a:avLst>
          </a:prstGeom>
          <a:solidFill>
            <a:srgbClr val="FFCC00"/>
          </a:solidFill>
          <a:ln w="6350">
            <a:solidFill>
              <a:schemeClr val="tx1"/>
            </a:solidFill>
            <a:miter lim="800000"/>
            <a:headEnd/>
            <a:tailEnd/>
          </a:ln>
        </p:spPr>
        <p:txBody>
          <a:bodyPr wrap="none" anchor="ctr"/>
          <a:lstStyle/>
          <a:p>
            <a:endParaRPr lang="zh-CN" altLang="en-US"/>
          </a:p>
        </p:txBody>
      </p:sp>
      <p:sp>
        <p:nvSpPr>
          <p:cNvPr id="35" name="Rectangle 55">
            <a:extLst>
              <a:ext uri="{FF2B5EF4-FFF2-40B4-BE49-F238E27FC236}">
                <a16:creationId xmlns:a16="http://schemas.microsoft.com/office/drawing/2014/main" id="{E992D701-8FDD-5E8C-798D-A17A9582D5BD}"/>
              </a:ext>
            </a:extLst>
          </p:cNvPr>
          <p:cNvSpPr>
            <a:spLocks noChangeArrowheads="1"/>
          </p:cNvSpPr>
          <p:nvPr/>
        </p:nvSpPr>
        <p:spPr bwMode="auto">
          <a:xfrm>
            <a:off x="2008639" y="4732306"/>
            <a:ext cx="12419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r>
              <a:rPr lang="en-US" altLang="zh-CN" sz="2000" dirty="0" err="1">
                <a:latin typeface="Times New Roman" pitchFamily="18" charset="0"/>
              </a:rPr>
              <a:t>i</a:t>
            </a:r>
            <a:r>
              <a:rPr lang="en-US" altLang="zh-CN" sz="2000" dirty="0">
                <a:latin typeface="Times New Roman" pitchFamily="18" charset="0"/>
              </a:rPr>
              <a:t>=1</a:t>
            </a:r>
            <a:endParaRPr lang="en-US" altLang="zh-CN" sz="2000" dirty="0">
              <a:latin typeface="微软雅黑" pitchFamily="34" charset="-122"/>
              <a:ea typeface="微软雅黑" pitchFamily="34" charset="-122"/>
            </a:endParaRPr>
          </a:p>
        </p:txBody>
      </p:sp>
      <p:sp>
        <p:nvSpPr>
          <p:cNvPr id="38" name="Rectangle 55">
            <a:extLst>
              <a:ext uri="{FF2B5EF4-FFF2-40B4-BE49-F238E27FC236}">
                <a16:creationId xmlns:a16="http://schemas.microsoft.com/office/drawing/2014/main" id="{D36B44B9-E2C1-F6C2-139D-65E5046B9AD4}"/>
              </a:ext>
            </a:extLst>
          </p:cNvPr>
          <p:cNvSpPr>
            <a:spLocks noChangeArrowheads="1"/>
          </p:cNvSpPr>
          <p:nvPr/>
        </p:nvSpPr>
        <p:spPr bwMode="auto">
          <a:xfrm>
            <a:off x="1517630" y="379588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3" name="Text Box 53">
            <a:extLst>
              <a:ext uri="{FF2B5EF4-FFF2-40B4-BE49-F238E27FC236}">
                <a16:creationId xmlns:a16="http://schemas.microsoft.com/office/drawing/2014/main" id="{37EEF5DA-5213-6AA0-51BE-0BA67A6CDA8A}"/>
              </a:ext>
            </a:extLst>
          </p:cNvPr>
          <p:cNvSpPr txBox="1">
            <a:spLocks noChangeArrowheads="1"/>
          </p:cNvSpPr>
          <p:nvPr/>
        </p:nvSpPr>
        <p:spPr bwMode="auto">
          <a:xfrm>
            <a:off x="1102076" y="2214341"/>
            <a:ext cx="6704464" cy="1737019"/>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216000" rIns="144000" bIns="252000">
            <a:spAutoFit/>
          </a:bodyPr>
          <a:lstStyle/>
          <a:p>
            <a:pPr algn="l">
              <a:lnSpc>
                <a:spcPts val="2000"/>
              </a:lnSpc>
            </a:pPr>
            <a:r>
              <a:rPr lang="en-US" altLang="zh-CN" sz="1400" dirty="0">
                <a:solidFill>
                  <a:srgbClr val="0000FF"/>
                </a:solidFill>
                <a:latin typeface="Consolas" pitchFamily="49" charset="0"/>
                <a:ea typeface="仿宋" pitchFamily="49" charset="-122"/>
                <a:cs typeface="Consolas" pitchFamily="49" charset="0"/>
              </a:rPr>
              <a:t>   if (p==NULL)	</a:t>
            </a:r>
            <a:r>
              <a:rPr lang="en-US" altLang="zh-CN" sz="1400" dirty="0">
                <a:solidFill>
                  <a:srgbClr val="00B0F0"/>
                </a:solidFill>
                <a:latin typeface="Consolas" pitchFamily="49" charset="0"/>
                <a:ea typeface="仿宋" pitchFamily="49" charset="-122"/>
                <a:cs typeface="Consolas" pitchFamily="49" charset="0"/>
              </a:rPr>
              <a:t>//</a:t>
            </a:r>
            <a:r>
              <a:rPr lang="zh-CN" altLang="en-US" sz="1400" dirty="0">
                <a:solidFill>
                  <a:srgbClr val="00B0F0"/>
                </a:solidFill>
                <a:latin typeface="Consolas" pitchFamily="49" charset="0"/>
                <a:ea typeface="仿宋" pitchFamily="49" charset="-122"/>
                <a:cs typeface="Consolas" pitchFamily="49" charset="0"/>
              </a:rPr>
              <a:t>不存在元素值为</a:t>
            </a:r>
            <a:r>
              <a:rPr lang="en-US" altLang="zh-CN" sz="1400" i="1" dirty="0">
                <a:solidFill>
                  <a:srgbClr val="00B0F0"/>
                </a:solidFill>
                <a:latin typeface="Consolas" pitchFamily="49" charset="0"/>
                <a:ea typeface="仿宋" pitchFamily="49" charset="-122"/>
                <a:cs typeface="Consolas" pitchFamily="49" charset="0"/>
              </a:rPr>
              <a:t>e</a:t>
            </a:r>
            <a:r>
              <a:rPr lang="zh-CN" altLang="en-US" sz="1400" dirty="0">
                <a:solidFill>
                  <a:srgbClr val="00B0F0"/>
                </a:solidFill>
                <a:latin typeface="Consolas" pitchFamily="49" charset="0"/>
                <a:ea typeface="仿宋" pitchFamily="49" charset="-122"/>
                <a:cs typeface="Consolas" pitchFamily="49" charset="0"/>
              </a:rPr>
              <a:t>的结点，返回</a:t>
            </a:r>
            <a:r>
              <a:rPr lang="en-US" altLang="zh-CN" sz="1400" dirty="0">
                <a:solidFill>
                  <a:srgbClr val="00B0F0"/>
                </a:solidFill>
                <a:latin typeface="Consolas" pitchFamily="49" charset="0"/>
                <a:ea typeface="仿宋" pitchFamily="49" charset="-122"/>
                <a:cs typeface="Consolas" pitchFamily="49" charset="0"/>
              </a:rPr>
              <a:t>0</a:t>
            </a:r>
          </a:p>
          <a:p>
            <a:pPr algn="l">
              <a:lnSpc>
                <a:spcPts val="2000"/>
              </a:lnSpc>
            </a:pPr>
            <a:r>
              <a:rPr lang="en-US" altLang="zh-CN" sz="1400" dirty="0">
                <a:solidFill>
                  <a:srgbClr val="0000FF"/>
                </a:solidFill>
                <a:latin typeface="Consolas" pitchFamily="49" charset="0"/>
                <a:ea typeface="仿宋" pitchFamily="49" charset="-122"/>
                <a:cs typeface="Consolas" pitchFamily="49" charset="0"/>
              </a:rPr>
              <a:t>      return 0;</a:t>
            </a:r>
          </a:p>
          <a:p>
            <a:pPr algn="l">
              <a:lnSpc>
                <a:spcPts val="2000"/>
              </a:lnSpc>
            </a:pPr>
            <a:r>
              <a:rPr lang="en-US" altLang="zh-CN" sz="1400" dirty="0">
                <a:solidFill>
                  <a:srgbClr val="0000FF"/>
                </a:solidFill>
                <a:latin typeface="Consolas" pitchFamily="49" charset="0"/>
                <a:ea typeface="仿宋" pitchFamily="49" charset="-122"/>
                <a:cs typeface="Consolas" pitchFamily="49" charset="0"/>
              </a:rPr>
              <a:t>   else			</a:t>
            </a:r>
            <a:r>
              <a:rPr lang="en-US" altLang="zh-CN" sz="1400" dirty="0">
                <a:solidFill>
                  <a:srgbClr val="00B0F0"/>
                </a:solidFill>
                <a:latin typeface="Consolas" pitchFamily="49" charset="0"/>
                <a:ea typeface="仿宋" pitchFamily="49" charset="-122"/>
                <a:cs typeface="Consolas" pitchFamily="49" charset="0"/>
              </a:rPr>
              <a:t>//</a:t>
            </a:r>
            <a:r>
              <a:rPr lang="zh-CN" altLang="en-US" sz="1400" dirty="0">
                <a:solidFill>
                  <a:srgbClr val="00B0F0"/>
                </a:solidFill>
                <a:latin typeface="Consolas" pitchFamily="49" charset="0"/>
                <a:ea typeface="仿宋" pitchFamily="49" charset="-122"/>
                <a:cs typeface="Consolas" pitchFamily="49" charset="0"/>
              </a:rPr>
              <a:t>存在元素值为</a:t>
            </a:r>
            <a:r>
              <a:rPr lang="en-US" altLang="zh-CN" sz="1400" dirty="0">
                <a:solidFill>
                  <a:srgbClr val="00B0F0"/>
                </a:solidFill>
                <a:latin typeface="Consolas" pitchFamily="49" charset="0"/>
                <a:ea typeface="仿宋" pitchFamily="49" charset="-122"/>
                <a:cs typeface="Consolas" pitchFamily="49" charset="0"/>
              </a:rPr>
              <a:t>e</a:t>
            </a:r>
            <a:r>
              <a:rPr lang="zh-CN" altLang="en-US" sz="1400" dirty="0">
                <a:solidFill>
                  <a:srgbClr val="00B0F0"/>
                </a:solidFill>
                <a:latin typeface="Consolas" pitchFamily="49" charset="0"/>
                <a:ea typeface="仿宋" pitchFamily="49" charset="-122"/>
                <a:cs typeface="Consolas" pitchFamily="49" charset="0"/>
              </a:rPr>
              <a:t>的结点，返回其逻辑序号</a:t>
            </a:r>
            <a:r>
              <a:rPr lang="en-US" altLang="zh-CN" sz="1400" i="1" dirty="0" err="1">
                <a:solidFill>
                  <a:srgbClr val="00B0F0"/>
                </a:solidFill>
                <a:latin typeface="Consolas" pitchFamily="49" charset="0"/>
                <a:ea typeface="仿宋" pitchFamily="49" charset="-122"/>
                <a:cs typeface="Consolas" pitchFamily="49" charset="0"/>
              </a:rPr>
              <a:t>i</a:t>
            </a:r>
            <a:endParaRPr lang="en-US" altLang="zh-CN" sz="1400" i="1" dirty="0">
              <a:solidFill>
                <a:srgbClr val="00B0F0"/>
              </a:solidFill>
              <a:latin typeface="Consolas" pitchFamily="49" charset="0"/>
              <a:ea typeface="仿宋" pitchFamily="49" charset="-122"/>
              <a:cs typeface="Consolas" pitchFamily="49" charset="0"/>
            </a:endParaRPr>
          </a:p>
          <a:p>
            <a:pPr algn="l">
              <a:lnSpc>
                <a:spcPts val="2000"/>
              </a:lnSpc>
            </a:pPr>
            <a:r>
              <a:rPr lang="en-US" altLang="zh-CN" sz="1400" dirty="0">
                <a:solidFill>
                  <a:srgbClr val="0000FF"/>
                </a:solidFill>
                <a:latin typeface="Consolas" pitchFamily="49" charset="0"/>
                <a:ea typeface="仿宋" pitchFamily="49" charset="-122"/>
                <a:cs typeface="Consolas" pitchFamily="49" charset="0"/>
              </a:rPr>
              <a:t>      return </a:t>
            </a:r>
            <a:r>
              <a:rPr lang="en-US" altLang="zh-CN" sz="1400" dirty="0" err="1">
                <a:solidFill>
                  <a:srgbClr val="0000FF"/>
                </a:solidFill>
                <a:latin typeface="Consolas" pitchFamily="49" charset="0"/>
                <a:ea typeface="仿宋" pitchFamily="49" charset="-122"/>
                <a:cs typeface="Consolas" pitchFamily="49" charset="0"/>
              </a:rPr>
              <a:t>i</a:t>
            </a:r>
            <a:r>
              <a:rPr lang="en-US" altLang="zh-CN" sz="1400" dirty="0">
                <a:solidFill>
                  <a:srgbClr val="0000FF"/>
                </a:solidFill>
                <a:latin typeface="Consolas" pitchFamily="49" charset="0"/>
                <a:ea typeface="仿宋" pitchFamily="49" charset="-122"/>
                <a:cs typeface="Consolas" pitchFamily="49" charset="0"/>
              </a:rPr>
              <a:t>;</a:t>
            </a:r>
          </a:p>
          <a:p>
            <a:pPr algn="l">
              <a:lnSpc>
                <a:spcPts val="2000"/>
              </a:lnSpc>
            </a:pPr>
            <a:r>
              <a:rPr lang="en-US" altLang="zh-CN" sz="1400" dirty="0">
                <a:solidFill>
                  <a:srgbClr val="0000FF"/>
                </a:solidFill>
                <a:latin typeface="Consolas" pitchFamily="49" charset="0"/>
                <a:ea typeface="仿宋" pitchFamily="49" charset="-122"/>
                <a:cs typeface="Consolas" pitchFamily="49" charset="0"/>
              </a:rPr>
              <a:t>}</a:t>
            </a:r>
          </a:p>
        </p:txBody>
      </p:sp>
      <p:sp>
        <p:nvSpPr>
          <p:cNvPr id="4" name="文本框 3">
            <a:extLst>
              <a:ext uri="{FF2B5EF4-FFF2-40B4-BE49-F238E27FC236}">
                <a16:creationId xmlns:a16="http://schemas.microsoft.com/office/drawing/2014/main" id="{7D990A18-E0B3-3212-22DB-DD92F61DC102}"/>
              </a:ext>
            </a:extLst>
          </p:cNvPr>
          <p:cNvSpPr txBox="1"/>
          <p:nvPr/>
        </p:nvSpPr>
        <p:spPr>
          <a:xfrm>
            <a:off x="1053170" y="1851670"/>
            <a:ext cx="7776864" cy="307777"/>
          </a:xfrm>
          <a:prstGeom prst="rect">
            <a:avLst/>
          </a:prstGeom>
          <a:noFill/>
        </p:spPr>
        <p:txBody>
          <a:bodyPr wrap="square">
            <a:spAutoFit/>
          </a:bodyPr>
          <a:lstStyle/>
          <a:p>
            <a:r>
              <a:rPr lang="zh-CN" altLang="en-US" sz="1400" dirty="0">
                <a:latin typeface="微软雅黑" pitchFamily="34" charset="-122"/>
                <a:ea typeface="微软雅黑" pitchFamily="34" charset="-122"/>
              </a:rPr>
              <a:t>在单链表</a:t>
            </a:r>
            <a:r>
              <a:rPr lang="en-US" altLang="zh-CN" sz="1400" dirty="0">
                <a:latin typeface="微软雅黑" pitchFamily="34" charset="-122"/>
                <a:ea typeface="微软雅黑" pitchFamily="34" charset="-122"/>
              </a:rPr>
              <a:t>L</a:t>
            </a:r>
            <a:r>
              <a:rPr lang="zh-CN" altLang="en-US" sz="1400" dirty="0">
                <a:latin typeface="微软雅黑" pitchFamily="34" charset="-122"/>
                <a:ea typeface="微软雅黑" pitchFamily="34" charset="-122"/>
              </a:rPr>
              <a:t>中从头开始找第一个值域与</a:t>
            </a:r>
            <a:r>
              <a:rPr lang="en-US" altLang="zh-CN" sz="1400" dirty="0">
                <a:latin typeface="微软雅黑" pitchFamily="34" charset="-122"/>
                <a:ea typeface="微软雅黑" pitchFamily="34" charset="-122"/>
              </a:rPr>
              <a:t>e</a:t>
            </a:r>
            <a:r>
              <a:rPr lang="zh-CN" altLang="en-US" sz="1400" dirty="0">
                <a:latin typeface="微软雅黑" pitchFamily="34" charset="-122"/>
                <a:ea typeface="微软雅黑" pitchFamily="34" charset="-122"/>
              </a:rPr>
              <a:t>相等的结点，若存在这样的结点，则返回位序，否则返回</a:t>
            </a:r>
            <a:r>
              <a:rPr lang="en-US" altLang="zh-CN" sz="1400" dirty="0">
                <a:latin typeface="微软雅黑" pitchFamily="34" charset="-122"/>
                <a:ea typeface="微软雅黑" pitchFamily="34" charset="-122"/>
              </a:rPr>
              <a:t>0</a:t>
            </a:r>
            <a:r>
              <a:rPr lang="zh-CN" altLang="en-US" sz="1400" dirty="0">
                <a:latin typeface="微软雅黑" pitchFamily="34" charset="-122"/>
                <a:ea typeface="微软雅黑" pitchFamily="34" charset="-122"/>
              </a:rPr>
              <a:t>。 </a:t>
            </a:r>
          </a:p>
        </p:txBody>
      </p:sp>
      <p:sp>
        <p:nvSpPr>
          <p:cNvPr id="36" name="矩形 35">
            <a:extLst>
              <a:ext uri="{FF2B5EF4-FFF2-40B4-BE49-F238E27FC236}">
                <a16:creationId xmlns:a16="http://schemas.microsoft.com/office/drawing/2014/main" id="{823029B2-5896-410F-B371-87AAFAD650C0}"/>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2000793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CD40C-C0A5-BD46-E308-5277C427CBEE}"/>
            </a:ext>
          </a:extLst>
        </p:cNvPr>
        <p:cNvGrpSpPr/>
        <p:nvPr/>
      </p:nvGrpSpPr>
      <p:grpSpPr>
        <a:xfrm>
          <a:off x="0" y="0"/>
          <a:ext cx="0" cy="0"/>
          <a:chOff x="0" y="0"/>
          <a:chExt cx="0" cy="0"/>
        </a:xfrm>
      </p:grpSpPr>
      <p:cxnSp>
        <p:nvCxnSpPr>
          <p:cNvPr id="16" name="直接连接符 15">
            <a:extLst>
              <a:ext uri="{FF2B5EF4-FFF2-40B4-BE49-F238E27FC236}">
                <a16:creationId xmlns:a16="http://schemas.microsoft.com/office/drawing/2014/main" id="{A857170D-E611-35AF-4468-FE56FDADA2A8}"/>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0B066F29-F65B-CAB7-3193-F26F208B559C}"/>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7" name="矩形 6">
            <a:extLst>
              <a:ext uri="{FF2B5EF4-FFF2-40B4-BE49-F238E27FC236}">
                <a16:creationId xmlns:a16="http://schemas.microsoft.com/office/drawing/2014/main" id="{64F57EF6-F091-271C-599C-6F58BC52AFAC}"/>
              </a:ext>
            </a:extLst>
          </p:cNvPr>
          <p:cNvSpPr/>
          <p:nvPr/>
        </p:nvSpPr>
        <p:spPr>
          <a:xfrm>
            <a:off x="1053170" y="1513985"/>
            <a:ext cx="4238910"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⑦</a:t>
            </a:r>
            <a:r>
              <a:rPr lang="zh-CN" altLang="en-US" sz="2000" dirty="0">
                <a:latin typeface="微软雅黑" pitchFamily="34" charset="-122"/>
                <a:ea typeface="微软雅黑" pitchFamily="34" charset="-122"/>
                <a:cs typeface="经典粗黑简" pitchFamily="49" charset="-122"/>
              </a:rPr>
              <a:t>按值查找</a:t>
            </a:r>
          </a:p>
        </p:txBody>
      </p:sp>
      <p:sp>
        <p:nvSpPr>
          <p:cNvPr id="36" name="文本框 35">
            <a:extLst>
              <a:ext uri="{FF2B5EF4-FFF2-40B4-BE49-F238E27FC236}">
                <a16:creationId xmlns:a16="http://schemas.microsoft.com/office/drawing/2014/main" id="{AA7996F4-A57B-A07C-EE97-B7AE620E6882}"/>
              </a:ext>
            </a:extLst>
          </p:cNvPr>
          <p:cNvSpPr txBox="1"/>
          <p:nvPr/>
        </p:nvSpPr>
        <p:spPr>
          <a:xfrm>
            <a:off x="1069542" y="2150488"/>
            <a:ext cx="8074458" cy="2964914"/>
          </a:xfrm>
          <a:prstGeom prst="rect">
            <a:avLst/>
          </a:prstGeom>
          <a:noFill/>
        </p:spPr>
        <p:txBody>
          <a:bodyPr wrap="square">
            <a:spAutoFit/>
          </a:bodyPr>
          <a:lstStyle/>
          <a:p>
            <a:pPr algn="l">
              <a:lnSpc>
                <a:spcPts val="1600"/>
              </a:lnSpc>
            </a:pPr>
            <a:r>
              <a:rPr lang="en-US" altLang="zh-CN" sz="1400" dirty="0">
                <a:solidFill>
                  <a:srgbClr val="0000FF"/>
                </a:solidFill>
                <a:latin typeface="Consolas" pitchFamily="49" charset="0"/>
                <a:ea typeface="楷体" pitchFamily="49" charset="-122"/>
                <a:cs typeface="Consolas" pitchFamily="49" charset="0"/>
              </a:rPr>
              <a:t>int </a:t>
            </a:r>
            <a:r>
              <a:rPr lang="en-US" altLang="zh-CN" sz="1400" dirty="0" err="1">
                <a:solidFill>
                  <a:srgbClr val="FF33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LocateElem</a:t>
            </a:r>
            <a:r>
              <a:rPr lang="en-US" altLang="zh-CN" sz="1400" dirty="0">
                <a:solidFill>
                  <a:srgbClr val="0000FF"/>
                </a:solidFill>
                <a:latin typeface="Consolas" pitchFamily="49" charset="0"/>
                <a:ea typeface="楷体" pitchFamily="49" charset="-122"/>
                <a:cs typeface="Consolas" pitchFamily="49" charset="0"/>
              </a:rPr>
              <a:t>(</a:t>
            </a:r>
            <a:r>
              <a:rPr lang="en-US" altLang="zh-CN" sz="1400" dirty="0" err="1">
                <a:solidFill>
                  <a:srgbClr val="0000FF"/>
                </a:solidFill>
                <a:latin typeface="Consolas" pitchFamily="49" charset="0"/>
                <a:ea typeface="楷体" pitchFamily="49" charset="-122"/>
                <a:cs typeface="Consolas" pitchFamily="49" charset="0"/>
              </a:rPr>
              <a:t>LinkNode</a:t>
            </a:r>
            <a:r>
              <a:rPr lang="en-US" altLang="zh-CN" sz="1400" dirty="0">
                <a:solidFill>
                  <a:srgbClr val="0000FF"/>
                </a:solidFill>
                <a:latin typeface="Consolas" pitchFamily="49" charset="0"/>
                <a:ea typeface="楷体" pitchFamily="49" charset="-122"/>
                <a:cs typeface="Consolas" pitchFamily="49" charset="0"/>
              </a:rPr>
              <a:t> *L</a:t>
            </a:r>
            <a:r>
              <a:rPr lang="zh-CN" altLang="en-US" sz="1400" dirty="0">
                <a:solidFill>
                  <a:srgbClr val="0000FF"/>
                </a:solidFill>
                <a:latin typeface="Consolas" pitchFamily="49" charset="0"/>
                <a:ea typeface="楷体" pitchFamily="49" charset="-122"/>
                <a:cs typeface="Consolas" pitchFamily="49" charset="0"/>
              </a:rPr>
              <a:t>，</a:t>
            </a:r>
            <a:r>
              <a:rPr lang="en-US" altLang="zh-CN" sz="1400" dirty="0" err="1">
                <a:solidFill>
                  <a:srgbClr val="0000FF"/>
                </a:solidFill>
                <a:latin typeface="Consolas" pitchFamily="49" charset="0"/>
                <a:ea typeface="楷体" pitchFamily="49" charset="-122"/>
                <a:cs typeface="Consolas" pitchFamily="49" charset="0"/>
              </a:rPr>
              <a:t>ElemType</a:t>
            </a:r>
            <a:r>
              <a:rPr lang="en-US" altLang="zh-CN" sz="1400" dirty="0">
                <a:solidFill>
                  <a:srgbClr val="0000FF"/>
                </a:solidFill>
                <a:latin typeface="Consolas" pitchFamily="49" charset="0"/>
                <a:ea typeface="楷体" pitchFamily="49" charset="-122"/>
                <a:cs typeface="Consolas" pitchFamily="49" charset="0"/>
              </a:rPr>
              <a:t> e)</a:t>
            </a:r>
          </a:p>
          <a:p>
            <a:pPr algn="l">
              <a:lnSpc>
                <a:spcPts val="1600"/>
              </a:lnSpc>
            </a:pPr>
            <a:r>
              <a:rPr lang="en-US" altLang="zh-CN" sz="1400" dirty="0">
                <a:solidFill>
                  <a:srgbClr val="0000FF"/>
                </a:solidFill>
                <a:latin typeface="Consolas" pitchFamily="49" charset="0"/>
                <a:ea typeface="楷体" pitchFamily="49" charset="-122"/>
                <a:cs typeface="Consolas" pitchFamily="49" charset="0"/>
              </a:rPr>
              <a:t>{</a:t>
            </a:r>
          </a:p>
          <a:p>
            <a:pPr algn="l">
              <a:lnSpc>
                <a:spcPts val="1600"/>
              </a:lnSpc>
            </a:pPr>
            <a:r>
              <a:rPr lang="en-US" altLang="zh-CN" sz="1400" dirty="0">
                <a:solidFill>
                  <a:srgbClr val="0000FF"/>
                </a:solidFill>
                <a:latin typeface="Consolas" pitchFamily="49" charset="0"/>
                <a:ea typeface="楷体" pitchFamily="49" charset="-122"/>
                <a:cs typeface="Consolas" pitchFamily="49" charset="0"/>
              </a:rPr>
              <a:t>   int </a:t>
            </a:r>
            <a:r>
              <a:rPr lang="en-US" altLang="zh-CN" sz="1400" dirty="0" err="1">
                <a:solidFill>
                  <a:srgbClr val="0000FF"/>
                </a:solidFill>
                <a:latin typeface="Consolas" pitchFamily="49" charset="0"/>
                <a:ea typeface="楷体" pitchFamily="49" charset="-122"/>
                <a:cs typeface="Consolas" pitchFamily="49" charset="0"/>
              </a:rPr>
              <a:t>i</a:t>
            </a:r>
            <a:r>
              <a:rPr lang="en-US" altLang="zh-CN" sz="1400" dirty="0">
                <a:solidFill>
                  <a:srgbClr val="0000FF"/>
                </a:solidFill>
                <a:latin typeface="Consolas" pitchFamily="49" charset="0"/>
                <a:ea typeface="楷体" pitchFamily="49" charset="-122"/>
                <a:cs typeface="Consolas" pitchFamily="49" charset="0"/>
              </a:rPr>
              <a:t>=1;</a:t>
            </a:r>
          </a:p>
          <a:p>
            <a:pPr algn="l">
              <a:lnSpc>
                <a:spcPts val="1600"/>
              </a:lnSpc>
            </a:pPr>
            <a:r>
              <a:rPr lang="en-US" altLang="zh-CN" sz="1400" dirty="0">
                <a:solidFill>
                  <a:srgbClr val="0000FF"/>
                </a:solidFill>
                <a:latin typeface="Consolas" pitchFamily="49" charset="0"/>
                <a:ea typeface="楷体" pitchFamily="49" charset="-122"/>
                <a:cs typeface="Consolas" pitchFamily="49" charset="0"/>
              </a:rPr>
              <a:t>   </a:t>
            </a:r>
            <a:r>
              <a:rPr lang="en-US" altLang="zh-CN" sz="1400" dirty="0" err="1">
                <a:solidFill>
                  <a:srgbClr val="0000FF"/>
                </a:solidFill>
                <a:latin typeface="Consolas" pitchFamily="49" charset="0"/>
                <a:ea typeface="楷体" pitchFamily="49" charset="-122"/>
                <a:cs typeface="Consolas" pitchFamily="49" charset="0"/>
              </a:rPr>
              <a:t>LinkNode</a:t>
            </a:r>
            <a:r>
              <a:rPr lang="en-US" altLang="zh-CN" sz="1400" dirty="0">
                <a:solidFill>
                  <a:srgbClr val="0000FF"/>
                </a:solidFill>
                <a:latin typeface="Consolas" pitchFamily="49" charset="0"/>
                <a:ea typeface="楷体" pitchFamily="49" charset="-122"/>
                <a:cs typeface="Consolas" pitchFamily="49" charset="0"/>
              </a:rPr>
              <a:t> *p=L-&gt;next;	</a:t>
            </a:r>
            <a:r>
              <a:rPr lang="en-US" altLang="zh-CN" sz="1400" dirty="0">
                <a:solidFill>
                  <a:srgbClr val="00B0F0"/>
                </a:solidFill>
                <a:latin typeface="Consolas" pitchFamily="49" charset="0"/>
                <a:ea typeface="仿宋" pitchFamily="49" charset="-122"/>
                <a:cs typeface="Consolas" pitchFamily="49" charset="0"/>
              </a:rPr>
              <a:t>//p</a:t>
            </a:r>
            <a:r>
              <a:rPr lang="zh-CN" altLang="en-US" sz="1400" dirty="0">
                <a:solidFill>
                  <a:srgbClr val="00B0F0"/>
                </a:solidFill>
                <a:latin typeface="Consolas" pitchFamily="49" charset="0"/>
                <a:ea typeface="仿宋" pitchFamily="49" charset="-122"/>
                <a:cs typeface="Consolas" pitchFamily="49" charset="0"/>
              </a:rPr>
              <a:t>指向开始结点，</a:t>
            </a:r>
            <a:r>
              <a:rPr lang="en-US" altLang="zh-CN" sz="1400" dirty="0" err="1">
                <a:solidFill>
                  <a:srgbClr val="00B0F0"/>
                </a:solidFill>
                <a:latin typeface="Consolas" pitchFamily="49" charset="0"/>
                <a:ea typeface="仿宋" pitchFamily="49" charset="-122"/>
                <a:cs typeface="Consolas" pitchFamily="49" charset="0"/>
              </a:rPr>
              <a:t>i</a:t>
            </a:r>
            <a:r>
              <a:rPr lang="zh-CN" altLang="en-US" sz="1400" dirty="0">
                <a:solidFill>
                  <a:srgbClr val="00B0F0"/>
                </a:solidFill>
                <a:latin typeface="Consolas" pitchFamily="49" charset="0"/>
                <a:ea typeface="仿宋" pitchFamily="49" charset="-122"/>
                <a:cs typeface="Consolas" pitchFamily="49" charset="0"/>
              </a:rPr>
              <a:t>置为</a:t>
            </a:r>
            <a:r>
              <a:rPr lang="en-US" altLang="zh-CN" sz="1400" dirty="0">
                <a:solidFill>
                  <a:srgbClr val="00B0F0"/>
                </a:solidFill>
                <a:latin typeface="Consolas" pitchFamily="49" charset="0"/>
                <a:ea typeface="仿宋" pitchFamily="49" charset="-122"/>
                <a:cs typeface="Consolas" pitchFamily="49" charset="0"/>
              </a:rPr>
              <a:t>1  </a:t>
            </a:r>
          </a:p>
          <a:p>
            <a:pPr algn="l">
              <a:lnSpc>
                <a:spcPts val="1600"/>
              </a:lnSpc>
            </a:pPr>
            <a:endParaRPr lang="en-US" altLang="zh-CN" sz="1400" dirty="0">
              <a:solidFill>
                <a:srgbClr val="0000FF"/>
              </a:solidFill>
              <a:latin typeface="Consolas" pitchFamily="49" charset="0"/>
              <a:ea typeface="楷体" pitchFamily="49" charset="-122"/>
              <a:cs typeface="Consolas" pitchFamily="49" charset="0"/>
            </a:endParaRPr>
          </a:p>
          <a:p>
            <a:pPr algn="l">
              <a:lnSpc>
                <a:spcPts val="1600"/>
              </a:lnSpc>
            </a:pPr>
            <a:r>
              <a:rPr lang="en-US" altLang="zh-CN" sz="1400" dirty="0">
                <a:solidFill>
                  <a:srgbClr val="0000FF"/>
                </a:solidFill>
                <a:latin typeface="Consolas" pitchFamily="49" charset="0"/>
                <a:ea typeface="楷体" pitchFamily="49" charset="-122"/>
                <a:cs typeface="Consolas" pitchFamily="49" charset="0"/>
              </a:rPr>
              <a:t>   while (p!=NULL &amp;&amp; p-&gt;data!=e) </a:t>
            </a:r>
          </a:p>
          <a:p>
            <a:pPr algn="l">
              <a:lnSpc>
                <a:spcPts val="1600"/>
              </a:lnSpc>
            </a:pPr>
            <a:r>
              <a:rPr lang="en-US" altLang="zh-CN" sz="1400" dirty="0">
                <a:solidFill>
                  <a:srgbClr val="0000FF"/>
                </a:solidFill>
                <a:latin typeface="Consolas" pitchFamily="49" charset="0"/>
                <a:ea typeface="楷体" pitchFamily="49" charset="-122"/>
                <a:cs typeface="Consolas" pitchFamily="49" charset="0"/>
              </a:rPr>
              <a:t>   {  p=p-&gt;next;  		</a:t>
            </a:r>
            <a:r>
              <a:rPr lang="en-US" altLang="zh-CN" sz="1400" dirty="0">
                <a:solidFill>
                  <a:srgbClr val="00B0F0"/>
                </a:solidFill>
                <a:latin typeface="Consolas" pitchFamily="49" charset="0"/>
                <a:ea typeface="仿宋" pitchFamily="49" charset="-122"/>
                <a:cs typeface="Consolas" pitchFamily="49" charset="0"/>
              </a:rPr>
              <a:t>//</a:t>
            </a:r>
            <a:r>
              <a:rPr lang="zh-CN" altLang="en-US" sz="1400" dirty="0">
                <a:solidFill>
                  <a:srgbClr val="00B0F0"/>
                </a:solidFill>
                <a:latin typeface="Consolas" pitchFamily="49" charset="0"/>
                <a:ea typeface="仿宋" pitchFamily="49" charset="-122"/>
                <a:cs typeface="Consolas" pitchFamily="49" charset="0"/>
              </a:rPr>
              <a:t>查找</a:t>
            </a:r>
            <a:r>
              <a:rPr lang="en-US" altLang="zh-CN" sz="1400" dirty="0">
                <a:solidFill>
                  <a:srgbClr val="00B0F0"/>
                </a:solidFill>
                <a:latin typeface="Consolas" pitchFamily="49" charset="0"/>
                <a:ea typeface="仿宋" pitchFamily="49" charset="-122"/>
                <a:cs typeface="Consolas" pitchFamily="49" charset="0"/>
              </a:rPr>
              <a:t>data</a:t>
            </a:r>
            <a:r>
              <a:rPr lang="zh-CN" altLang="en-US" sz="1400" dirty="0">
                <a:solidFill>
                  <a:srgbClr val="00B0F0"/>
                </a:solidFill>
                <a:latin typeface="Consolas" pitchFamily="49" charset="0"/>
                <a:ea typeface="仿宋" pitchFamily="49" charset="-122"/>
                <a:cs typeface="Consolas" pitchFamily="49" charset="0"/>
              </a:rPr>
              <a:t>值为</a:t>
            </a:r>
            <a:r>
              <a:rPr lang="en-US" altLang="zh-CN" sz="1400" i="1" dirty="0">
                <a:solidFill>
                  <a:srgbClr val="00B0F0"/>
                </a:solidFill>
                <a:latin typeface="Consolas" pitchFamily="49" charset="0"/>
                <a:ea typeface="仿宋" pitchFamily="49" charset="-122"/>
                <a:cs typeface="Consolas" pitchFamily="49" charset="0"/>
              </a:rPr>
              <a:t>e</a:t>
            </a:r>
            <a:r>
              <a:rPr lang="zh-CN" altLang="en-US" sz="1400" dirty="0">
                <a:solidFill>
                  <a:srgbClr val="00B0F0"/>
                </a:solidFill>
                <a:latin typeface="Consolas" pitchFamily="49" charset="0"/>
                <a:ea typeface="仿宋" pitchFamily="49" charset="-122"/>
                <a:cs typeface="Consolas" pitchFamily="49" charset="0"/>
              </a:rPr>
              <a:t>的结点，其序号为</a:t>
            </a:r>
            <a:r>
              <a:rPr lang="en-US" altLang="zh-CN" sz="1400" i="1" dirty="0" err="1">
                <a:solidFill>
                  <a:srgbClr val="00B0F0"/>
                </a:solidFill>
                <a:latin typeface="Consolas" pitchFamily="49" charset="0"/>
                <a:ea typeface="仿宋" pitchFamily="49" charset="-122"/>
                <a:cs typeface="Consolas" pitchFamily="49" charset="0"/>
              </a:rPr>
              <a:t>i</a:t>
            </a:r>
            <a:endParaRPr lang="en-US" altLang="zh-CN" sz="1400" i="1" dirty="0">
              <a:solidFill>
                <a:srgbClr val="00B0F0"/>
              </a:solidFill>
              <a:latin typeface="Consolas" pitchFamily="49" charset="0"/>
              <a:ea typeface="仿宋" pitchFamily="49" charset="-122"/>
              <a:cs typeface="Consolas" pitchFamily="49" charset="0"/>
            </a:endParaRPr>
          </a:p>
          <a:p>
            <a:pPr algn="l">
              <a:lnSpc>
                <a:spcPts val="1600"/>
              </a:lnSpc>
            </a:pPr>
            <a:r>
              <a:rPr lang="en-US" altLang="zh-CN" sz="1400" dirty="0">
                <a:solidFill>
                  <a:srgbClr val="0000FF"/>
                </a:solidFill>
                <a:latin typeface="Consolas" pitchFamily="49" charset="0"/>
                <a:ea typeface="楷体" pitchFamily="49" charset="-122"/>
                <a:cs typeface="Consolas" pitchFamily="49" charset="0"/>
              </a:rPr>
              <a:t>      </a:t>
            </a:r>
            <a:r>
              <a:rPr lang="en-US" altLang="zh-CN" sz="1400" dirty="0" err="1">
                <a:solidFill>
                  <a:srgbClr val="0000FF"/>
                </a:solidFill>
                <a:latin typeface="Consolas" pitchFamily="49" charset="0"/>
                <a:ea typeface="楷体" pitchFamily="49" charset="-122"/>
                <a:cs typeface="Consolas" pitchFamily="49" charset="0"/>
              </a:rPr>
              <a:t>i</a:t>
            </a:r>
            <a:r>
              <a:rPr lang="en-US" altLang="zh-CN" sz="1400" dirty="0">
                <a:solidFill>
                  <a:srgbClr val="0000FF"/>
                </a:solidFill>
                <a:latin typeface="Consolas" pitchFamily="49" charset="0"/>
                <a:ea typeface="楷体" pitchFamily="49" charset="-122"/>
                <a:cs typeface="Consolas" pitchFamily="49" charset="0"/>
              </a:rPr>
              <a:t>++;</a:t>
            </a:r>
          </a:p>
          <a:p>
            <a:pPr algn="l">
              <a:lnSpc>
                <a:spcPts val="1600"/>
              </a:lnSpc>
            </a:pPr>
            <a:r>
              <a:rPr lang="en-US" altLang="zh-CN" sz="1400" dirty="0">
                <a:solidFill>
                  <a:srgbClr val="0000FF"/>
                </a:solidFill>
                <a:latin typeface="Consolas" pitchFamily="49" charset="0"/>
                <a:ea typeface="楷体" pitchFamily="49" charset="-122"/>
                <a:cs typeface="Consolas" pitchFamily="49" charset="0"/>
              </a:rPr>
              <a:t>   }</a:t>
            </a:r>
          </a:p>
          <a:p>
            <a:pPr>
              <a:lnSpc>
                <a:spcPts val="1600"/>
              </a:lnSpc>
            </a:pPr>
            <a:r>
              <a:rPr lang="en-US" altLang="zh-CN" sz="1400" dirty="0">
                <a:solidFill>
                  <a:srgbClr val="0000FF"/>
                </a:solidFill>
                <a:latin typeface="Consolas" pitchFamily="49" charset="0"/>
                <a:ea typeface="仿宋" pitchFamily="49" charset="-122"/>
                <a:cs typeface="Consolas" pitchFamily="49" charset="0"/>
              </a:rPr>
              <a:t>   if (p==NULL)	</a:t>
            </a:r>
            <a:r>
              <a:rPr lang="en-US" altLang="zh-CN" sz="1400" dirty="0">
                <a:solidFill>
                  <a:srgbClr val="00B0F0"/>
                </a:solidFill>
                <a:latin typeface="Consolas" pitchFamily="49" charset="0"/>
                <a:ea typeface="仿宋" pitchFamily="49" charset="-122"/>
                <a:cs typeface="Consolas" pitchFamily="49" charset="0"/>
              </a:rPr>
              <a:t>//</a:t>
            </a:r>
            <a:r>
              <a:rPr lang="zh-CN" altLang="en-US" sz="1400" dirty="0">
                <a:solidFill>
                  <a:srgbClr val="00B0F0"/>
                </a:solidFill>
                <a:latin typeface="Consolas" pitchFamily="49" charset="0"/>
                <a:ea typeface="仿宋" pitchFamily="49" charset="-122"/>
                <a:cs typeface="Consolas" pitchFamily="49" charset="0"/>
              </a:rPr>
              <a:t>不存在元素值为</a:t>
            </a:r>
            <a:r>
              <a:rPr lang="en-US" altLang="zh-CN" sz="1400" i="1" dirty="0">
                <a:solidFill>
                  <a:srgbClr val="00B0F0"/>
                </a:solidFill>
                <a:latin typeface="Consolas" pitchFamily="49" charset="0"/>
                <a:ea typeface="仿宋" pitchFamily="49" charset="-122"/>
                <a:cs typeface="Consolas" pitchFamily="49" charset="0"/>
              </a:rPr>
              <a:t>e</a:t>
            </a:r>
            <a:r>
              <a:rPr lang="zh-CN" altLang="en-US" sz="1400" dirty="0">
                <a:solidFill>
                  <a:srgbClr val="00B0F0"/>
                </a:solidFill>
                <a:latin typeface="Consolas" pitchFamily="49" charset="0"/>
                <a:ea typeface="仿宋" pitchFamily="49" charset="-122"/>
                <a:cs typeface="Consolas" pitchFamily="49" charset="0"/>
              </a:rPr>
              <a:t>的结点，返回</a:t>
            </a:r>
            <a:r>
              <a:rPr lang="en-US" altLang="zh-CN" sz="1400" dirty="0">
                <a:solidFill>
                  <a:srgbClr val="00B0F0"/>
                </a:solidFill>
                <a:latin typeface="Consolas" pitchFamily="49" charset="0"/>
                <a:ea typeface="仿宋" pitchFamily="49" charset="-122"/>
                <a:cs typeface="Consolas" pitchFamily="49" charset="0"/>
              </a:rPr>
              <a:t>0</a:t>
            </a:r>
          </a:p>
          <a:p>
            <a:pPr>
              <a:lnSpc>
                <a:spcPts val="1600"/>
              </a:lnSpc>
            </a:pPr>
            <a:r>
              <a:rPr lang="en-US" altLang="zh-CN" sz="1400" dirty="0">
                <a:solidFill>
                  <a:srgbClr val="0000FF"/>
                </a:solidFill>
                <a:latin typeface="Consolas" pitchFamily="49" charset="0"/>
                <a:ea typeface="仿宋" pitchFamily="49" charset="-122"/>
                <a:cs typeface="Consolas" pitchFamily="49" charset="0"/>
              </a:rPr>
              <a:t>      return 0;</a:t>
            </a:r>
          </a:p>
          <a:p>
            <a:pPr>
              <a:lnSpc>
                <a:spcPts val="1600"/>
              </a:lnSpc>
            </a:pPr>
            <a:r>
              <a:rPr lang="en-US" altLang="zh-CN" sz="1400" dirty="0">
                <a:solidFill>
                  <a:srgbClr val="0000FF"/>
                </a:solidFill>
                <a:latin typeface="Consolas" pitchFamily="49" charset="0"/>
                <a:ea typeface="仿宋" pitchFamily="49" charset="-122"/>
                <a:cs typeface="Consolas" pitchFamily="49" charset="0"/>
              </a:rPr>
              <a:t>   else			</a:t>
            </a:r>
            <a:r>
              <a:rPr lang="en-US" altLang="zh-CN" sz="1400" dirty="0">
                <a:solidFill>
                  <a:srgbClr val="00B0F0"/>
                </a:solidFill>
                <a:latin typeface="Consolas" pitchFamily="49" charset="0"/>
                <a:ea typeface="仿宋" pitchFamily="49" charset="-122"/>
                <a:cs typeface="Consolas" pitchFamily="49" charset="0"/>
              </a:rPr>
              <a:t>//</a:t>
            </a:r>
            <a:r>
              <a:rPr lang="zh-CN" altLang="en-US" sz="1400" dirty="0">
                <a:solidFill>
                  <a:srgbClr val="00B0F0"/>
                </a:solidFill>
                <a:latin typeface="Consolas" pitchFamily="49" charset="0"/>
                <a:ea typeface="仿宋" pitchFamily="49" charset="-122"/>
                <a:cs typeface="Consolas" pitchFamily="49" charset="0"/>
              </a:rPr>
              <a:t>存在元素值为</a:t>
            </a:r>
            <a:r>
              <a:rPr lang="en-US" altLang="zh-CN" sz="1400" dirty="0">
                <a:solidFill>
                  <a:srgbClr val="00B0F0"/>
                </a:solidFill>
                <a:latin typeface="Consolas" pitchFamily="49" charset="0"/>
                <a:ea typeface="仿宋" pitchFamily="49" charset="-122"/>
                <a:cs typeface="Consolas" pitchFamily="49" charset="0"/>
              </a:rPr>
              <a:t>e</a:t>
            </a:r>
            <a:r>
              <a:rPr lang="zh-CN" altLang="en-US" sz="1400" dirty="0">
                <a:solidFill>
                  <a:srgbClr val="00B0F0"/>
                </a:solidFill>
                <a:latin typeface="Consolas" pitchFamily="49" charset="0"/>
                <a:ea typeface="仿宋" pitchFamily="49" charset="-122"/>
                <a:cs typeface="Consolas" pitchFamily="49" charset="0"/>
              </a:rPr>
              <a:t>的结点，返回其逻辑序号</a:t>
            </a:r>
            <a:r>
              <a:rPr lang="en-US" altLang="zh-CN" sz="1400" i="1" dirty="0" err="1">
                <a:solidFill>
                  <a:srgbClr val="00B0F0"/>
                </a:solidFill>
                <a:latin typeface="Consolas" pitchFamily="49" charset="0"/>
                <a:ea typeface="仿宋" pitchFamily="49" charset="-122"/>
                <a:cs typeface="Consolas" pitchFamily="49" charset="0"/>
              </a:rPr>
              <a:t>i</a:t>
            </a:r>
            <a:endParaRPr lang="en-US" altLang="zh-CN" sz="1400" i="1" dirty="0">
              <a:solidFill>
                <a:srgbClr val="00B0F0"/>
              </a:solidFill>
              <a:latin typeface="Consolas" pitchFamily="49" charset="0"/>
              <a:ea typeface="仿宋" pitchFamily="49" charset="-122"/>
              <a:cs typeface="Consolas" pitchFamily="49" charset="0"/>
            </a:endParaRPr>
          </a:p>
          <a:p>
            <a:pPr>
              <a:lnSpc>
                <a:spcPts val="1600"/>
              </a:lnSpc>
            </a:pPr>
            <a:r>
              <a:rPr lang="en-US" altLang="zh-CN" sz="1400" dirty="0">
                <a:solidFill>
                  <a:srgbClr val="0000FF"/>
                </a:solidFill>
                <a:latin typeface="Consolas" pitchFamily="49" charset="0"/>
                <a:ea typeface="仿宋" pitchFamily="49" charset="-122"/>
                <a:cs typeface="Consolas" pitchFamily="49" charset="0"/>
              </a:rPr>
              <a:t>      return </a:t>
            </a:r>
            <a:r>
              <a:rPr lang="en-US" altLang="zh-CN" sz="1400" dirty="0" err="1">
                <a:solidFill>
                  <a:srgbClr val="0000FF"/>
                </a:solidFill>
                <a:latin typeface="Consolas" pitchFamily="49" charset="0"/>
                <a:ea typeface="仿宋" pitchFamily="49" charset="-122"/>
                <a:cs typeface="Consolas" pitchFamily="49" charset="0"/>
              </a:rPr>
              <a:t>i</a:t>
            </a:r>
            <a:r>
              <a:rPr lang="en-US" altLang="zh-CN" sz="1400" dirty="0">
                <a:solidFill>
                  <a:srgbClr val="0000FF"/>
                </a:solidFill>
                <a:latin typeface="Consolas" pitchFamily="49" charset="0"/>
                <a:ea typeface="仿宋" pitchFamily="49" charset="-122"/>
                <a:cs typeface="Consolas" pitchFamily="49" charset="0"/>
              </a:rPr>
              <a:t>;</a:t>
            </a:r>
          </a:p>
          <a:p>
            <a:pPr>
              <a:lnSpc>
                <a:spcPts val="1600"/>
              </a:lnSpc>
            </a:pPr>
            <a:r>
              <a:rPr lang="en-US" altLang="zh-CN" sz="1400" dirty="0">
                <a:solidFill>
                  <a:srgbClr val="0000FF"/>
                </a:solidFill>
                <a:latin typeface="Consolas" pitchFamily="49" charset="0"/>
                <a:ea typeface="仿宋" pitchFamily="49" charset="-122"/>
                <a:cs typeface="Consolas" pitchFamily="49" charset="0"/>
              </a:rPr>
              <a:t>}</a:t>
            </a:r>
            <a:endParaRPr lang="en-US" altLang="zh-CN" sz="1400" dirty="0">
              <a:solidFill>
                <a:srgbClr val="0000FF"/>
              </a:solidFill>
              <a:latin typeface="Consolas" pitchFamily="49" charset="0"/>
              <a:ea typeface="楷体" pitchFamily="49" charset="-122"/>
              <a:cs typeface="Consolas" pitchFamily="49" charset="0"/>
            </a:endParaRPr>
          </a:p>
        </p:txBody>
      </p:sp>
      <p:sp>
        <p:nvSpPr>
          <p:cNvPr id="3" name="文本框 2">
            <a:extLst>
              <a:ext uri="{FF2B5EF4-FFF2-40B4-BE49-F238E27FC236}">
                <a16:creationId xmlns:a16="http://schemas.microsoft.com/office/drawing/2014/main" id="{CCD5FDD8-D43B-1DAE-12F8-FEEC9E8E69A2}"/>
              </a:ext>
            </a:extLst>
          </p:cNvPr>
          <p:cNvSpPr txBox="1"/>
          <p:nvPr/>
        </p:nvSpPr>
        <p:spPr>
          <a:xfrm>
            <a:off x="1053170" y="1851670"/>
            <a:ext cx="7776864" cy="307777"/>
          </a:xfrm>
          <a:prstGeom prst="rect">
            <a:avLst/>
          </a:prstGeom>
          <a:noFill/>
        </p:spPr>
        <p:txBody>
          <a:bodyPr wrap="square">
            <a:spAutoFit/>
          </a:bodyPr>
          <a:lstStyle/>
          <a:p>
            <a:r>
              <a:rPr lang="zh-CN" altLang="en-US" sz="1400" dirty="0">
                <a:latin typeface="微软雅黑" pitchFamily="34" charset="-122"/>
                <a:ea typeface="微软雅黑" pitchFamily="34" charset="-122"/>
              </a:rPr>
              <a:t>在单链表</a:t>
            </a:r>
            <a:r>
              <a:rPr lang="en-US" altLang="zh-CN" sz="1400" dirty="0">
                <a:latin typeface="微软雅黑" pitchFamily="34" charset="-122"/>
                <a:ea typeface="微软雅黑" pitchFamily="34" charset="-122"/>
              </a:rPr>
              <a:t>L</a:t>
            </a:r>
            <a:r>
              <a:rPr lang="zh-CN" altLang="en-US" sz="1400" dirty="0">
                <a:latin typeface="微软雅黑" pitchFamily="34" charset="-122"/>
                <a:ea typeface="微软雅黑" pitchFamily="34" charset="-122"/>
              </a:rPr>
              <a:t>中从头开始找第一个值域与</a:t>
            </a:r>
            <a:r>
              <a:rPr lang="en-US" altLang="zh-CN" sz="1400" dirty="0">
                <a:latin typeface="微软雅黑" pitchFamily="34" charset="-122"/>
                <a:ea typeface="微软雅黑" pitchFamily="34" charset="-122"/>
              </a:rPr>
              <a:t>e</a:t>
            </a:r>
            <a:r>
              <a:rPr lang="zh-CN" altLang="en-US" sz="1400" dirty="0">
                <a:latin typeface="微软雅黑" pitchFamily="34" charset="-122"/>
                <a:ea typeface="微软雅黑" pitchFamily="34" charset="-122"/>
              </a:rPr>
              <a:t>相等的结点，若存在这样的结点，则返回位序，否则返回</a:t>
            </a:r>
            <a:r>
              <a:rPr lang="en-US" altLang="zh-CN" sz="1400" dirty="0">
                <a:latin typeface="微软雅黑" pitchFamily="34" charset="-122"/>
                <a:ea typeface="微软雅黑" pitchFamily="34" charset="-122"/>
              </a:rPr>
              <a:t>0</a:t>
            </a:r>
            <a:r>
              <a:rPr lang="zh-CN" altLang="en-US" sz="1400" dirty="0">
                <a:latin typeface="微软雅黑" pitchFamily="34" charset="-122"/>
                <a:ea typeface="微软雅黑" pitchFamily="34" charset="-122"/>
              </a:rPr>
              <a:t>。 </a:t>
            </a:r>
          </a:p>
        </p:txBody>
      </p:sp>
      <p:sp>
        <p:nvSpPr>
          <p:cNvPr id="8" name="矩形 7">
            <a:extLst>
              <a:ext uri="{FF2B5EF4-FFF2-40B4-BE49-F238E27FC236}">
                <a16:creationId xmlns:a16="http://schemas.microsoft.com/office/drawing/2014/main" id="{BE2F621A-C694-4144-A76D-B45BF52C1A64}"/>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28770944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2248120" y="1727838"/>
            <a:ext cx="4071260" cy="523220"/>
          </a:xfrm>
          <a:prstGeom prst="rect">
            <a:avLst/>
          </a:prstGeom>
        </p:spPr>
        <p:txBody>
          <a:bodyPr wrap="square">
            <a:spAutoFit/>
          </a:bodyPr>
          <a:lstStyle/>
          <a:p>
            <a:pPr lvl="1">
              <a:buFont typeface="Wingdings" pitchFamily="2" charset="2"/>
              <a:buNone/>
            </a:pPr>
            <a:r>
              <a:rPr lang="zh-CN" altLang="en-US" sz="2800" dirty="0"/>
              <a:t>(</a:t>
            </a:r>
            <a:r>
              <a:rPr lang="en-US" altLang="zh-CN" sz="2800" dirty="0"/>
              <a:t>a</a:t>
            </a:r>
            <a:r>
              <a:rPr lang="en-US" altLang="zh-CN" sz="2800" baseline="-25000" dirty="0"/>
              <a:t>1</a:t>
            </a:r>
            <a:r>
              <a:rPr lang="en-US" altLang="zh-CN" sz="2800" dirty="0"/>
              <a:t>, a</a:t>
            </a:r>
            <a:r>
              <a:rPr lang="en-US" altLang="zh-CN" sz="2800" baseline="-25000" dirty="0"/>
              <a:t>2</a:t>
            </a:r>
            <a:r>
              <a:rPr lang="en-US" altLang="zh-CN" sz="2800" dirty="0"/>
              <a:t>, …, </a:t>
            </a:r>
            <a:r>
              <a:rPr lang="en-US" altLang="zh-CN" sz="2800" dirty="0">
                <a:solidFill>
                  <a:srgbClr val="00B050"/>
                </a:solidFill>
              </a:rPr>
              <a:t>a</a:t>
            </a:r>
            <a:r>
              <a:rPr lang="en-US" altLang="zh-CN" sz="2800" baseline="-25000" dirty="0">
                <a:solidFill>
                  <a:srgbClr val="00B050"/>
                </a:solidFill>
              </a:rPr>
              <a:t>i-1</a:t>
            </a:r>
            <a:r>
              <a:rPr lang="en-US" altLang="zh-CN" sz="2800" dirty="0">
                <a:solidFill>
                  <a:srgbClr val="00B050"/>
                </a:solidFill>
              </a:rPr>
              <a:t>, </a:t>
            </a:r>
            <a:r>
              <a:rPr lang="en-US" altLang="zh-CN" sz="2800" dirty="0" err="1">
                <a:solidFill>
                  <a:srgbClr val="00B050"/>
                </a:solidFill>
              </a:rPr>
              <a:t>a</a:t>
            </a:r>
            <a:r>
              <a:rPr lang="en-US" altLang="zh-CN" sz="2800" baseline="-25000" dirty="0" err="1">
                <a:solidFill>
                  <a:srgbClr val="00B050"/>
                </a:solidFill>
              </a:rPr>
              <a:t>i</a:t>
            </a:r>
            <a:r>
              <a:rPr lang="en-US" altLang="zh-CN" sz="2800" dirty="0">
                <a:solidFill>
                  <a:srgbClr val="00B050"/>
                </a:solidFill>
              </a:rPr>
              <a:t>, </a:t>
            </a:r>
            <a:r>
              <a:rPr lang="en-US" altLang="zh-CN" sz="2800" dirty="0"/>
              <a:t>…, a</a:t>
            </a:r>
            <a:r>
              <a:rPr lang="en-US" altLang="zh-CN" sz="2800" baseline="-25000" dirty="0"/>
              <a:t>n</a:t>
            </a:r>
            <a:r>
              <a:rPr lang="en-US" altLang="zh-CN" sz="2800" dirty="0"/>
              <a:t>)</a:t>
            </a:r>
            <a:endParaRPr lang="zh-CN" altLang="en-US" sz="2800" dirty="0">
              <a:latin typeface="微软雅黑" pitchFamily="34" charset="-122"/>
              <a:ea typeface="微软雅黑" pitchFamily="34" charset="-122"/>
              <a:cs typeface="经典粗黑简" pitchFamily="49" charset="-122"/>
            </a:endParaRPr>
          </a:p>
        </p:txBody>
      </p:sp>
      <p:sp>
        <p:nvSpPr>
          <p:cNvPr id="14" name="矩形 13"/>
          <p:cNvSpPr/>
          <p:nvPr/>
        </p:nvSpPr>
        <p:spPr>
          <a:xfrm>
            <a:off x="2248121" y="2453354"/>
            <a:ext cx="4522373" cy="523220"/>
          </a:xfrm>
          <a:prstGeom prst="rect">
            <a:avLst/>
          </a:prstGeom>
        </p:spPr>
        <p:txBody>
          <a:bodyPr wrap="square">
            <a:spAutoFit/>
          </a:bodyPr>
          <a:lstStyle/>
          <a:p>
            <a:pPr lvl="1">
              <a:buFont typeface="Wingdings" pitchFamily="2" charset="2"/>
              <a:buNone/>
            </a:pPr>
            <a:r>
              <a:rPr kumimoji="1" lang="zh-CN" altLang="en-US" sz="2800" dirty="0"/>
              <a:t>(</a:t>
            </a:r>
            <a:r>
              <a:rPr kumimoji="1" lang="en-US" altLang="zh-CN" sz="2800" dirty="0"/>
              <a:t>a</a:t>
            </a:r>
            <a:r>
              <a:rPr kumimoji="1" lang="en-US" altLang="zh-CN" sz="2800" baseline="-25000" dirty="0"/>
              <a:t>1</a:t>
            </a:r>
            <a:r>
              <a:rPr kumimoji="1" lang="en-US" altLang="zh-CN" sz="2800" dirty="0"/>
              <a:t>, a</a:t>
            </a:r>
            <a:r>
              <a:rPr kumimoji="1" lang="en-US" altLang="zh-CN" sz="2800" baseline="-25000" dirty="0"/>
              <a:t>2</a:t>
            </a:r>
            <a:r>
              <a:rPr kumimoji="1" lang="en-US" altLang="zh-CN" sz="2800" dirty="0"/>
              <a:t>, …, </a:t>
            </a:r>
            <a:r>
              <a:rPr kumimoji="1" lang="en-US" altLang="zh-CN" sz="2800" dirty="0">
                <a:solidFill>
                  <a:srgbClr val="00B050"/>
                </a:solidFill>
              </a:rPr>
              <a:t>a</a:t>
            </a:r>
            <a:r>
              <a:rPr kumimoji="1" lang="en-US" altLang="zh-CN" sz="2800" baseline="-25000" dirty="0">
                <a:solidFill>
                  <a:srgbClr val="00B050"/>
                </a:solidFill>
              </a:rPr>
              <a:t>i-1</a:t>
            </a:r>
            <a:r>
              <a:rPr kumimoji="1" lang="en-US" altLang="zh-CN" sz="2800" dirty="0">
                <a:solidFill>
                  <a:srgbClr val="00B050"/>
                </a:solidFill>
              </a:rPr>
              <a:t>,</a:t>
            </a:r>
            <a:r>
              <a:rPr kumimoji="1" lang="en-US" altLang="zh-CN" sz="2800" dirty="0"/>
              <a:t> </a:t>
            </a:r>
            <a:r>
              <a:rPr kumimoji="1" lang="en-US" altLang="zh-CN" sz="2800" dirty="0">
                <a:solidFill>
                  <a:srgbClr val="FF0000"/>
                </a:solidFill>
              </a:rPr>
              <a:t>e</a:t>
            </a:r>
            <a:r>
              <a:rPr kumimoji="1" lang="en-US" altLang="zh-CN" sz="2800" dirty="0"/>
              <a:t>, </a:t>
            </a:r>
            <a:r>
              <a:rPr kumimoji="1" lang="en-US" altLang="zh-CN" sz="2800" dirty="0" err="1">
                <a:solidFill>
                  <a:srgbClr val="00B050"/>
                </a:solidFill>
              </a:rPr>
              <a:t>a</a:t>
            </a:r>
            <a:r>
              <a:rPr kumimoji="1" lang="en-US" altLang="zh-CN" sz="2800" baseline="-25000" dirty="0" err="1">
                <a:solidFill>
                  <a:srgbClr val="00B050"/>
                </a:solidFill>
              </a:rPr>
              <a:t>i</a:t>
            </a:r>
            <a:r>
              <a:rPr kumimoji="1" lang="en-US" altLang="zh-CN" sz="2800" dirty="0"/>
              <a:t>, …, a</a:t>
            </a:r>
            <a:r>
              <a:rPr kumimoji="1" lang="en-US" altLang="zh-CN" sz="2800" baseline="-25000" dirty="0"/>
              <a:t>n</a:t>
            </a:r>
            <a:r>
              <a:rPr kumimoji="1" lang="en-US" altLang="zh-CN" sz="2800" dirty="0"/>
              <a:t>)</a:t>
            </a:r>
            <a:endParaRPr lang="zh-CN" altLang="en-US" sz="2800" dirty="0">
              <a:latin typeface="微软雅黑" pitchFamily="34" charset="-122"/>
              <a:ea typeface="微软雅黑" pitchFamily="34" charset="-122"/>
              <a:cs typeface="经典粗黑简" pitchFamily="49" charset="-122"/>
            </a:endParaRPr>
          </a:p>
        </p:txBody>
      </p:sp>
      <p:sp>
        <p:nvSpPr>
          <p:cNvPr id="15" name="下箭头 14"/>
          <p:cNvSpPr/>
          <p:nvPr/>
        </p:nvSpPr>
        <p:spPr>
          <a:xfrm>
            <a:off x="3854855" y="2251058"/>
            <a:ext cx="1741713" cy="389084"/>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67961" y="3085608"/>
            <a:ext cx="7750631"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将元素</a:t>
            </a:r>
            <a:r>
              <a:rPr lang="en-US" altLang="zh-CN" sz="2000" dirty="0">
                <a:latin typeface="微软雅黑" pitchFamily="34" charset="-122"/>
                <a:ea typeface="微软雅黑" pitchFamily="34" charset="-122"/>
                <a:cs typeface="经典粗黑简" pitchFamily="49" charset="-122"/>
              </a:rPr>
              <a:t>e</a:t>
            </a:r>
            <a:r>
              <a:rPr lang="zh-CN" altLang="en-US" sz="2000" dirty="0">
                <a:latin typeface="微软雅黑" pitchFamily="34" charset="-122"/>
                <a:ea typeface="微软雅黑" pitchFamily="34" charset="-122"/>
                <a:cs typeface="经典粗黑简" pitchFamily="49" charset="-122"/>
              </a:rPr>
              <a:t>插入到线性表中，构成新的线性表，即不破坏原线性关系；</a:t>
            </a:r>
          </a:p>
        </p:txBody>
      </p:sp>
      <p:sp>
        <p:nvSpPr>
          <p:cNvPr id="17" name="矩形 16"/>
          <p:cNvSpPr/>
          <p:nvPr/>
        </p:nvSpPr>
        <p:spPr>
          <a:xfrm>
            <a:off x="967961" y="3523486"/>
            <a:ext cx="2223686" cy="400110"/>
          </a:xfrm>
          <a:prstGeom prst="rect">
            <a:avLst/>
          </a:prstGeom>
        </p:spPr>
        <p:txBody>
          <a:bodyPr wrap="none">
            <a:spAutoFit/>
          </a:bodyPr>
          <a:lstStyle/>
          <a:p>
            <a:r>
              <a:rPr lang="zh-CN" altLang="en-US" sz="2000" dirty="0">
                <a:latin typeface="微软雅黑" pitchFamily="34" charset="-122"/>
                <a:ea typeface="微软雅黑" pitchFamily="34" charset="-122"/>
                <a:cs typeface="经典粗黑简" pitchFamily="49" charset="-122"/>
              </a:rPr>
              <a:t>表的长度为</a:t>
            </a:r>
            <a:r>
              <a:rPr lang="en-US" altLang="zh-CN" sz="2000" dirty="0">
                <a:latin typeface="微软雅黑" pitchFamily="34" charset="-122"/>
                <a:ea typeface="微软雅黑" pitchFamily="34" charset="-122"/>
                <a:cs typeface="经典粗黑简" pitchFamily="49" charset="-122"/>
              </a:rPr>
              <a:t>n+1</a:t>
            </a:r>
            <a:r>
              <a:rPr lang="zh-CN" altLang="en-US" sz="2000" dirty="0">
                <a:latin typeface="微软雅黑" pitchFamily="34" charset="-122"/>
                <a:ea typeface="微软雅黑" pitchFamily="34" charset="-122"/>
                <a:cs typeface="经典粗黑简" pitchFamily="49" charset="-122"/>
              </a:rPr>
              <a:t>；</a:t>
            </a:r>
          </a:p>
        </p:txBody>
      </p:sp>
      <p:sp>
        <p:nvSpPr>
          <p:cNvPr id="18" name="矩形 17"/>
          <p:cNvSpPr/>
          <p:nvPr/>
        </p:nvSpPr>
        <p:spPr>
          <a:xfrm>
            <a:off x="967961" y="3961363"/>
            <a:ext cx="7673983" cy="707886"/>
          </a:xfrm>
          <a:prstGeom prst="rect">
            <a:avLst/>
          </a:prstGeom>
        </p:spPr>
        <p:txBody>
          <a:bodyPr wrap="square">
            <a:spAutoFit/>
          </a:bodyPr>
          <a:lstStyle/>
          <a:p>
            <a:pPr marL="0" lvl="1"/>
            <a:r>
              <a:rPr lang="zh-CN" altLang="en-US" sz="2000" dirty="0">
                <a:latin typeface="微软雅黑" pitchFamily="34" charset="-122"/>
                <a:ea typeface="微软雅黑" pitchFamily="34" charset="-122"/>
                <a:cs typeface="经典粗黑简" pitchFamily="49" charset="-122"/>
              </a:rPr>
              <a:t>将元素</a:t>
            </a:r>
            <a:r>
              <a:rPr lang="en-US" altLang="zh-CN" sz="2000" dirty="0">
                <a:latin typeface="微软雅黑" pitchFamily="34" charset="-122"/>
                <a:ea typeface="微软雅黑" pitchFamily="34" charset="-122"/>
                <a:cs typeface="经典粗黑简" pitchFamily="49" charset="-122"/>
              </a:rPr>
              <a:t>e</a:t>
            </a:r>
            <a:r>
              <a:rPr lang="zh-CN" altLang="en-US" sz="2000" dirty="0">
                <a:latin typeface="微软雅黑" pitchFamily="34" charset="-122"/>
                <a:ea typeface="微软雅黑" pitchFamily="34" charset="-122"/>
                <a:cs typeface="经典粗黑简" pitchFamily="49" charset="-122"/>
              </a:rPr>
              <a:t>插入到元素</a:t>
            </a:r>
            <a:r>
              <a:rPr lang="en-US" altLang="zh-CN" sz="2000" dirty="0">
                <a:latin typeface="微软雅黑" pitchFamily="34" charset="-122"/>
                <a:ea typeface="微软雅黑" pitchFamily="34" charset="-122"/>
                <a:cs typeface="经典粗黑简" pitchFamily="49" charset="-122"/>
              </a:rPr>
              <a:t>a</a:t>
            </a:r>
            <a:r>
              <a:rPr lang="en-US" altLang="zh-CN" sz="2000" baseline="-25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之后，</a:t>
            </a:r>
            <a:r>
              <a:rPr lang="en-US" altLang="zh-CN" sz="2000" dirty="0">
                <a:latin typeface="微软雅黑" pitchFamily="34" charset="-122"/>
                <a:ea typeface="微软雅黑" pitchFamily="34" charset="-122"/>
                <a:cs typeface="经典粗黑简" pitchFamily="49" charset="-122"/>
              </a:rPr>
              <a:t>a</a:t>
            </a:r>
            <a:r>
              <a:rPr lang="en-US" altLang="zh-CN" sz="2000" baseline="-25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的直接后继和</a:t>
            </a:r>
            <a:r>
              <a:rPr lang="en-US" altLang="zh-CN" sz="2000" dirty="0" err="1">
                <a:latin typeface="微软雅黑" pitchFamily="34" charset="-122"/>
                <a:ea typeface="微软雅黑" pitchFamily="34" charset="-122"/>
                <a:cs typeface="经典粗黑简" pitchFamily="49" charset="-122"/>
              </a:rPr>
              <a:t>a</a:t>
            </a:r>
            <a:r>
              <a:rPr lang="en-US" altLang="zh-CN" sz="2000" baseline="-25000" dirty="0" err="1">
                <a:latin typeface="微软雅黑" pitchFamily="34" charset="-122"/>
                <a:ea typeface="微软雅黑" pitchFamily="34" charset="-122"/>
                <a:cs typeface="经典粗黑简" pitchFamily="49" charset="-122"/>
              </a:rPr>
              <a:t>i</a:t>
            </a:r>
            <a:r>
              <a:rPr lang="en-US" altLang="zh-CN" sz="2000" dirty="0">
                <a:latin typeface="微软雅黑" pitchFamily="34" charset="-122"/>
                <a:ea typeface="微软雅黑" pitchFamily="34" charset="-122"/>
                <a:cs typeface="经典粗黑简" pitchFamily="49" charset="-122"/>
              </a:rPr>
              <a:t> </a:t>
            </a:r>
            <a:r>
              <a:rPr lang="zh-CN" altLang="en-US" sz="2000" dirty="0">
                <a:latin typeface="微软雅黑" pitchFamily="34" charset="-122"/>
                <a:ea typeface="微软雅黑" pitchFamily="34" charset="-122"/>
                <a:cs typeface="经典粗黑简" pitchFamily="49" charset="-122"/>
              </a:rPr>
              <a:t>的直接前驱就改变了，需要在链表的存储结构上反映出来；</a:t>
            </a:r>
          </a:p>
        </p:txBody>
      </p:sp>
      <p:sp>
        <p:nvSpPr>
          <p:cNvPr id="24" name="矩形 23"/>
          <p:cNvSpPr/>
          <p:nvPr/>
        </p:nvSpPr>
        <p:spPr>
          <a:xfrm>
            <a:off x="1090565" y="1514431"/>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⑧</a:t>
            </a:r>
            <a:r>
              <a:rPr lang="zh-CN" altLang="en-US" sz="2000" dirty="0">
                <a:latin typeface="微软雅黑" pitchFamily="34" charset="-122"/>
                <a:ea typeface="微软雅黑" pitchFamily="34" charset="-122"/>
                <a:cs typeface="经典粗黑简" pitchFamily="49" charset="-122"/>
              </a:rPr>
              <a:t>插入操作</a:t>
            </a:r>
          </a:p>
        </p:txBody>
      </p:sp>
      <p:cxnSp>
        <p:nvCxnSpPr>
          <p:cNvPr id="27" name="直接连接符 26"/>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2581EB9B-9376-BD57-4D6C-AC03450C4C89}"/>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12" name="矩形 11">
            <a:extLst>
              <a:ext uri="{FF2B5EF4-FFF2-40B4-BE49-F238E27FC236}">
                <a16:creationId xmlns:a16="http://schemas.microsoft.com/office/drawing/2014/main" id="{F44D3A43-E557-4B39-8732-A0D64C75227F}"/>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935888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P spid="16" grpId="0"/>
      <p:bldP spid="17" grpId="0"/>
      <p:bldP spid="1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5"/>
          <p:cNvSpPr>
            <a:spLocks noChangeArrowheads="1"/>
          </p:cNvSpPr>
          <p:nvPr/>
        </p:nvSpPr>
        <p:spPr bwMode="auto">
          <a:xfrm>
            <a:off x="2108646" y="229963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20" name="Line 6"/>
          <p:cNvSpPr>
            <a:spLocks noChangeShapeType="1"/>
          </p:cNvSpPr>
          <p:nvPr/>
        </p:nvSpPr>
        <p:spPr bwMode="auto">
          <a:xfrm>
            <a:off x="2642046"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Rectangle 25"/>
          <p:cNvSpPr>
            <a:spLocks noChangeArrowheads="1"/>
          </p:cNvSpPr>
          <p:nvPr/>
        </p:nvSpPr>
        <p:spPr bwMode="auto">
          <a:xfrm>
            <a:off x="4272531" y="237359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3" name="Rectangle 36"/>
          <p:cNvSpPr>
            <a:spLocks noChangeArrowheads="1"/>
          </p:cNvSpPr>
          <p:nvPr/>
        </p:nvSpPr>
        <p:spPr bwMode="auto">
          <a:xfrm>
            <a:off x="7441525" y="2395597"/>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4" name="Rectangle 228"/>
          <p:cNvSpPr>
            <a:spLocks noChangeArrowheads="1"/>
          </p:cNvSpPr>
          <p:nvPr/>
        </p:nvSpPr>
        <p:spPr bwMode="auto">
          <a:xfrm>
            <a:off x="306393" y="233585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25" name="Line 29"/>
          <p:cNvSpPr>
            <a:spLocks noChangeShapeType="1"/>
          </p:cNvSpPr>
          <p:nvPr/>
        </p:nvSpPr>
        <p:spPr bwMode="auto">
          <a:xfrm>
            <a:off x="572038" y="252613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5"/>
          <p:cNvSpPr>
            <a:spLocks noChangeArrowheads="1"/>
          </p:cNvSpPr>
          <p:nvPr/>
        </p:nvSpPr>
        <p:spPr bwMode="auto">
          <a:xfrm>
            <a:off x="3284303" y="230500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27" name="Line 6"/>
          <p:cNvSpPr>
            <a:spLocks noChangeShapeType="1"/>
          </p:cNvSpPr>
          <p:nvPr/>
        </p:nvSpPr>
        <p:spPr bwMode="auto">
          <a:xfrm>
            <a:off x="3817703" y="230500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9"/>
          <p:cNvSpPr>
            <a:spLocks noChangeShapeType="1"/>
          </p:cNvSpPr>
          <p:nvPr/>
        </p:nvSpPr>
        <p:spPr bwMode="auto">
          <a:xfrm>
            <a:off x="2903303"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Rectangle 5"/>
          <p:cNvSpPr>
            <a:spLocks noChangeArrowheads="1"/>
          </p:cNvSpPr>
          <p:nvPr/>
        </p:nvSpPr>
        <p:spPr bwMode="auto">
          <a:xfrm>
            <a:off x="4885814" y="2321632"/>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30" name="Line 6"/>
          <p:cNvSpPr>
            <a:spLocks noChangeShapeType="1"/>
          </p:cNvSpPr>
          <p:nvPr/>
        </p:nvSpPr>
        <p:spPr bwMode="auto">
          <a:xfrm>
            <a:off x="5622387" y="2316257"/>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9"/>
          <p:cNvSpPr>
            <a:spLocks noChangeShapeType="1"/>
          </p:cNvSpPr>
          <p:nvPr/>
        </p:nvSpPr>
        <p:spPr bwMode="auto">
          <a:xfrm>
            <a:off x="4587464" y="2560335"/>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29"/>
          <p:cNvSpPr>
            <a:spLocks noChangeShapeType="1"/>
          </p:cNvSpPr>
          <p:nvPr/>
        </p:nvSpPr>
        <p:spPr bwMode="auto">
          <a:xfrm>
            <a:off x="4008203" y="2556491"/>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Rectangle 5"/>
          <p:cNvSpPr>
            <a:spLocks noChangeArrowheads="1"/>
          </p:cNvSpPr>
          <p:nvPr/>
        </p:nvSpPr>
        <p:spPr bwMode="auto">
          <a:xfrm>
            <a:off x="6278573" y="233346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200" dirty="0">
                <a:latin typeface="微软雅黑" pitchFamily="34" charset="-122"/>
                <a:ea typeface="微软雅黑" pitchFamily="34" charset="-122"/>
              </a:rPr>
              <a:t> </a:t>
            </a:r>
            <a:r>
              <a:rPr lang="en-US" altLang="zh-CN" sz="2400" dirty="0"/>
              <a:t>   </a:t>
            </a:r>
          </a:p>
        </p:txBody>
      </p:sp>
      <p:sp>
        <p:nvSpPr>
          <p:cNvPr id="34" name="Line 6"/>
          <p:cNvSpPr>
            <a:spLocks noChangeShapeType="1"/>
          </p:cNvSpPr>
          <p:nvPr/>
        </p:nvSpPr>
        <p:spPr bwMode="auto">
          <a:xfrm>
            <a:off x="6811973" y="233346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a:off x="5897573" y="258763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 name="Line 29"/>
          <p:cNvSpPr>
            <a:spLocks noChangeShapeType="1"/>
          </p:cNvSpPr>
          <p:nvPr/>
        </p:nvSpPr>
        <p:spPr bwMode="auto">
          <a:xfrm>
            <a:off x="7043281" y="258853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Rectangle 5"/>
          <p:cNvSpPr>
            <a:spLocks noChangeArrowheads="1"/>
          </p:cNvSpPr>
          <p:nvPr/>
        </p:nvSpPr>
        <p:spPr bwMode="auto">
          <a:xfrm>
            <a:off x="8157234" y="2348597"/>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600" baseline="-25000" dirty="0"/>
              <a:t> </a:t>
            </a:r>
            <a:r>
              <a:rPr lang="zh-CN" altLang="en-US" sz="2400" dirty="0"/>
              <a:t>^</a:t>
            </a:r>
            <a:r>
              <a:rPr lang="en-US" altLang="zh-CN" sz="2400" dirty="0"/>
              <a:t>  </a:t>
            </a:r>
          </a:p>
        </p:txBody>
      </p:sp>
      <p:sp>
        <p:nvSpPr>
          <p:cNvPr id="41" name="Line 6"/>
          <p:cNvSpPr>
            <a:spLocks noChangeShapeType="1"/>
          </p:cNvSpPr>
          <p:nvPr/>
        </p:nvSpPr>
        <p:spPr bwMode="auto">
          <a:xfrm>
            <a:off x="8690634" y="2348597"/>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9"/>
          <p:cNvSpPr>
            <a:spLocks noChangeShapeType="1"/>
          </p:cNvSpPr>
          <p:nvPr/>
        </p:nvSpPr>
        <p:spPr bwMode="auto">
          <a:xfrm>
            <a:off x="7776234" y="260277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5"/>
          <p:cNvSpPr>
            <a:spLocks noChangeArrowheads="1"/>
          </p:cNvSpPr>
          <p:nvPr/>
        </p:nvSpPr>
        <p:spPr bwMode="auto">
          <a:xfrm>
            <a:off x="953038" y="2299630"/>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44" name="Line 6"/>
          <p:cNvSpPr>
            <a:spLocks noChangeShapeType="1"/>
          </p:cNvSpPr>
          <p:nvPr/>
        </p:nvSpPr>
        <p:spPr bwMode="auto">
          <a:xfrm>
            <a:off x="1486438"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9"/>
          <p:cNvSpPr>
            <a:spLocks noChangeShapeType="1"/>
          </p:cNvSpPr>
          <p:nvPr/>
        </p:nvSpPr>
        <p:spPr bwMode="auto">
          <a:xfrm>
            <a:off x="1747695"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Rectangle 57"/>
          <p:cNvSpPr>
            <a:spLocks noChangeArrowheads="1"/>
          </p:cNvSpPr>
          <p:nvPr/>
        </p:nvSpPr>
        <p:spPr bwMode="auto">
          <a:xfrm>
            <a:off x="4768021" y="2753388"/>
            <a:ext cx="1013740"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j=i-1</a:t>
            </a:r>
            <a:endParaRPr kumimoji="0" lang="zh-CN" altLang="en-US" sz="2400" dirty="0">
              <a:ea typeface="Li Super" charset="-122"/>
            </a:endParaRPr>
          </a:p>
        </p:txBody>
      </p:sp>
      <p:sp>
        <p:nvSpPr>
          <p:cNvPr id="47" name="Rectangle 55"/>
          <p:cNvSpPr>
            <a:spLocks noChangeArrowheads="1"/>
          </p:cNvSpPr>
          <p:nvPr/>
        </p:nvSpPr>
        <p:spPr bwMode="auto">
          <a:xfrm>
            <a:off x="4391445" y="165364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48" name="Line 29"/>
          <p:cNvSpPr>
            <a:spLocks noChangeShapeType="1"/>
          </p:cNvSpPr>
          <p:nvPr/>
        </p:nvSpPr>
        <p:spPr bwMode="auto">
          <a:xfrm>
            <a:off x="4587464" y="1959322"/>
            <a:ext cx="298351" cy="38513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Rectangle 55"/>
          <p:cNvSpPr>
            <a:spLocks noChangeArrowheads="1"/>
          </p:cNvSpPr>
          <p:nvPr/>
        </p:nvSpPr>
        <p:spPr bwMode="auto">
          <a:xfrm>
            <a:off x="4754444" y="19340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50" name="矩形 49"/>
          <p:cNvSpPr/>
          <p:nvPr/>
        </p:nvSpPr>
        <p:spPr>
          <a:xfrm>
            <a:off x="323528" y="3057804"/>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51" name="矩形 50"/>
          <p:cNvSpPr/>
          <p:nvPr/>
        </p:nvSpPr>
        <p:spPr>
          <a:xfrm>
            <a:off x="761593" y="3381840"/>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53" name="矩形 52"/>
          <p:cNvSpPr/>
          <p:nvPr/>
        </p:nvSpPr>
        <p:spPr>
          <a:xfrm>
            <a:off x="4934999" y="2922205"/>
            <a:ext cx="4061664" cy="2169825"/>
          </a:xfrm>
          <a:prstGeom prst="rect">
            <a:avLst/>
          </a:prstGeom>
        </p:spPr>
        <p:txBody>
          <a:bodyPr wrap="square">
            <a:spAutoFit/>
          </a:bodyPr>
          <a:lstStyle/>
          <a:p>
            <a:pPr marL="1143000" lvl="2" indent="-228600">
              <a:spcBef>
                <a:spcPct val="15000"/>
              </a:spcBef>
              <a:buClr>
                <a:schemeClr val="tx1"/>
              </a:buClr>
              <a:buSzPct val="65000"/>
            </a:pPr>
            <a:r>
              <a:rPr lang="en-US" altLang="zh-CN" sz="2000" dirty="0">
                <a:latin typeface="Times New Roman" pitchFamily="18" charset="0"/>
                <a:ea typeface="宋体" pitchFamily="2" charset="-122"/>
              </a:rPr>
              <a:t>p =L;   j = 0;    </a:t>
            </a:r>
          </a:p>
          <a:p>
            <a:pPr marL="1143000" lvl="2" indent="-228600">
              <a:spcBef>
                <a:spcPct val="15000"/>
              </a:spcBef>
              <a:buClr>
                <a:schemeClr val="tx1"/>
              </a:buClr>
              <a:buSzPct val="65000"/>
            </a:pPr>
            <a:r>
              <a:rPr lang="en-US" altLang="zh-CN" sz="2000" dirty="0">
                <a:latin typeface="Times New Roman" pitchFamily="18" charset="0"/>
                <a:ea typeface="宋体" pitchFamily="2" charset="-122"/>
              </a:rPr>
              <a:t>while (p!=NULL &amp;&amp; j &lt; </a:t>
            </a:r>
            <a:r>
              <a:rPr lang="en-US" altLang="zh-CN" sz="2000" dirty="0">
                <a:solidFill>
                  <a:srgbClr val="FF0000"/>
                </a:solidFill>
                <a:latin typeface="Times New Roman" pitchFamily="18" charset="0"/>
                <a:ea typeface="宋体" pitchFamily="2" charset="-122"/>
              </a:rPr>
              <a:t>i-1</a:t>
            </a:r>
            <a:r>
              <a:rPr lang="en-US" altLang="zh-CN" sz="2000" dirty="0">
                <a:latin typeface="Times New Roman" pitchFamily="18" charset="0"/>
                <a:ea typeface="宋体" pitchFamily="2" charset="-122"/>
              </a:rPr>
              <a:t>) </a:t>
            </a:r>
          </a:p>
          <a:p>
            <a:pPr marL="1143000" lvl="2" indent="-228600">
              <a:spcBef>
                <a:spcPct val="15000"/>
              </a:spcBef>
              <a:buClr>
                <a:schemeClr val="tx1"/>
              </a:buClr>
              <a:buSzPct val="65000"/>
            </a:pPr>
            <a:r>
              <a:rPr lang="en-US" altLang="zh-CN" sz="2000" dirty="0">
                <a:latin typeface="Times New Roman" pitchFamily="18" charset="0"/>
                <a:ea typeface="宋体" pitchFamily="2" charset="-122"/>
              </a:rPr>
              <a:t>{      </a:t>
            </a:r>
          </a:p>
          <a:p>
            <a:pPr marL="1143000" lvl="2" indent="-228600">
              <a:spcBef>
                <a:spcPct val="15000"/>
              </a:spcBef>
              <a:buClr>
                <a:schemeClr val="tx1"/>
              </a:buClr>
              <a:buSzPct val="65000"/>
            </a:pPr>
            <a:r>
              <a:rPr lang="zh-CN" altLang="en-US" sz="2000" dirty="0">
                <a:latin typeface="Times New Roman" pitchFamily="18" charset="0"/>
                <a:ea typeface="宋体" pitchFamily="2" charset="-122"/>
              </a:rPr>
              <a:t>             </a:t>
            </a:r>
            <a:r>
              <a:rPr lang="en-US" altLang="zh-CN" sz="2000" dirty="0">
                <a:latin typeface="Times New Roman" pitchFamily="18" charset="0"/>
                <a:ea typeface="宋体" pitchFamily="2" charset="-122"/>
              </a:rPr>
              <a:t>p = p-&gt;next;</a:t>
            </a:r>
          </a:p>
          <a:p>
            <a:pPr marL="1143000" lvl="2" indent="-228600">
              <a:spcBef>
                <a:spcPct val="15000"/>
              </a:spcBef>
              <a:buClr>
                <a:schemeClr val="tx1"/>
              </a:buClr>
              <a:buSzPct val="65000"/>
            </a:pPr>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j++</a:t>
            </a:r>
            <a:r>
              <a:rPr lang="en-US" altLang="zh-CN" sz="2000" dirty="0">
                <a:latin typeface="Times New Roman" pitchFamily="18" charset="0"/>
                <a:ea typeface="宋体" pitchFamily="2" charset="-122"/>
              </a:rPr>
              <a:t>;</a:t>
            </a:r>
          </a:p>
          <a:p>
            <a:pPr marL="1143000" lvl="2" indent="-228600">
              <a:spcBef>
                <a:spcPct val="15000"/>
              </a:spcBef>
              <a:buClr>
                <a:schemeClr val="tx1"/>
              </a:buClr>
              <a:buSzPct val="65000"/>
            </a:pPr>
            <a:r>
              <a:rPr lang="en-US" altLang="zh-CN" sz="2000" dirty="0">
                <a:latin typeface="Times New Roman" pitchFamily="18" charset="0"/>
                <a:ea typeface="宋体" pitchFamily="2" charset="-122"/>
              </a:rPr>
              <a:t>}	</a:t>
            </a:r>
            <a:endParaRPr lang="zh-CN" altLang="en-US" sz="2000" dirty="0">
              <a:latin typeface="Times New Roman" pitchFamily="18" charset="0"/>
              <a:ea typeface="宋体" pitchFamily="2" charset="-122"/>
            </a:endParaRPr>
          </a:p>
        </p:txBody>
      </p:sp>
      <p:sp>
        <p:nvSpPr>
          <p:cNvPr id="54" name="左大括号 53"/>
          <p:cNvSpPr/>
          <p:nvPr/>
        </p:nvSpPr>
        <p:spPr>
          <a:xfrm>
            <a:off x="5521150" y="3165697"/>
            <a:ext cx="202473" cy="187405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 name="Rectangle 57"/>
          <p:cNvSpPr>
            <a:spLocks noChangeArrowheads="1"/>
          </p:cNvSpPr>
          <p:nvPr/>
        </p:nvSpPr>
        <p:spPr bwMode="auto">
          <a:xfrm>
            <a:off x="885588" y="2731386"/>
            <a:ext cx="794434"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j=0</a:t>
            </a:r>
            <a:endParaRPr kumimoji="0" lang="zh-CN" altLang="en-US" sz="2400" dirty="0">
              <a:ea typeface="Li Super" charset="-122"/>
            </a:endParaRPr>
          </a:p>
        </p:txBody>
      </p:sp>
      <p:sp>
        <p:nvSpPr>
          <p:cNvPr id="56" name="Rectangle 55"/>
          <p:cNvSpPr>
            <a:spLocks noChangeArrowheads="1"/>
          </p:cNvSpPr>
          <p:nvPr/>
        </p:nvSpPr>
        <p:spPr bwMode="auto">
          <a:xfrm>
            <a:off x="306393" y="179400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57" name="Line 29"/>
          <p:cNvSpPr>
            <a:spLocks noChangeShapeType="1"/>
          </p:cNvSpPr>
          <p:nvPr/>
        </p:nvSpPr>
        <p:spPr bwMode="auto">
          <a:xfrm>
            <a:off x="722811" y="2107271"/>
            <a:ext cx="252617" cy="19236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虚尾箭头 57"/>
          <p:cNvSpPr/>
          <p:nvPr/>
        </p:nvSpPr>
        <p:spPr>
          <a:xfrm>
            <a:off x="1410238" y="2051151"/>
            <a:ext cx="3177226" cy="229357"/>
          </a:xfrm>
          <a:prstGeom prst="striped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4198703" y="3877610"/>
            <a:ext cx="1210588" cy="400110"/>
          </a:xfrm>
          <a:prstGeom prst="rect">
            <a:avLst/>
          </a:prstGeom>
        </p:spPr>
        <p:txBody>
          <a:bodyPr wrap="none">
            <a:spAutoFit/>
          </a:bodyPr>
          <a:lstStyle/>
          <a:p>
            <a:pPr marL="0" lvl="1"/>
            <a:r>
              <a:rPr lang="zh-CN" altLang="en-US" sz="2000" dirty="0">
                <a:latin typeface="微软雅黑" pitchFamily="34" charset="-122"/>
                <a:ea typeface="微软雅黑" pitchFamily="34" charset="-122"/>
                <a:cs typeface="经典粗黑简" pitchFamily="49" charset="-122"/>
              </a:rPr>
              <a:t>顺</a:t>
            </a:r>
            <a:r>
              <a:rPr lang="zh-CN" altLang="en-US" sz="2000" dirty="0">
                <a:solidFill>
                  <a:srgbClr val="FF0000"/>
                </a:solidFill>
                <a:latin typeface="微软雅黑" pitchFamily="34" charset="-122"/>
                <a:ea typeface="微软雅黑" pitchFamily="34" charset="-122"/>
                <a:cs typeface="经典粗黑简" pitchFamily="49" charset="-122"/>
              </a:rPr>
              <a:t>藤</a:t>
            </a:r>
            <a:r>
              <a:rPr lang="zh-CN" altLang="en-US" sz="2000" dirty="0">
                <a:latin typeface="微软雅黑" pitchFamily="34" charset="-122"/>
                <a:ea typeface="微软雅黑" pitchFamily="34" charset="-122"/>
                <a:cs typeface="经典粗黑简" pitchFamily="49" charset="-122"/>
              </a:rPr>
              <a:t>摸</a:t>
            </a:r>
            <a:r>
              <a:rPr lang="zh-CN" altLang="en-US" sz="2000" dirty="0">
                <a:solidFill>
                  <a:srgbClr val="FF0000"/>
                </a:solidFill>
                <a:latin typeface="微软雅黑" pitchFamily="34" charset="-122"/>
                <a:ea typeface="微软雅黑" pitchFamily="34" charset="-122"/>
                <a:cs typeface="经典粗黑简" pitchFamily="49" charset="-122"/>
              </a:rPr>
              <a:t>瓜</a:t>
            </a:r>
          </a:p>
        </p:txBody>
      </p:sp>
      <p:cxnSp>
        <p:nvCxnSpPr>
          <p:cNvPr id="63" name="直接连接符 6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9FD57E7E-BC7D-D18C-6011-7D38E02BBC32}"/>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4" name="矩形 3">
            <a:extLst>
              <a:ext uri="{FF2B5EF4-FFF2-40B4-BE49-F238E27FC236}">
                <a16:creationId xmlns:a16="http://schemas.microsoft.com/office/drawing/2014/main" id="{E149D13E-F9A6-D2DD-DD54-459C4872D1D9}"/>
              </a:ext>
            </a:extLst>
          </p:cNvPr>
          <p:cNvSpPr/>
          <p:nvPr/>
        </p:nvSpPr>
        <p:spPr>
          <a:xfrm>
            <a:off x="1090565" y="1514431"/>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⑧</a:t>
            </a:r>
            <a:r>
              <a:rPr lang="zh-CN" altLang="en-US" sz="2000" dirty="0">
                <a:latin typeface="微软雅黑" pitchFamily="34" charset="-122"/>
                <a:ea typeface="微软雅黑" pitchFamily="34" charset="-122"/>
                <a:cs typeface="经典粗黑简" pitchFamily="49" charset="-122"/>
              </a:rPr>
              <a:t>插入操作</a:t>
            </a:r>
          </a:p>
        </p:txBody>
      </p:sp>
      <p:sp>
        <p:nvSpPr>
          <p:cNvPr id="52" name="矩形 51">
            <a:extLst>
              <a:ext uri="{FF2B5EF4-FFF2-40B4-BE49-F238E27FC236}">
                <a16:creationId xmlns:a16="http://schemas.microsoft.com/office/drawing/2014/main" id="{F6D34E2C-45B1-4C3D-80DA-56DE10643F1A}"/>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217283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P spid="48" grpId="0" animBg="1"/>
      <p:bldP spid="49" grpId="0"/>
      <p:bldP spid="50" grpId="0"/>
      <p:bldP spid="51" grpId="0"/>
      <p:bldP spid="53" grpId="0"/>
      <p:bldP spid="54" grpId="0" animBg="1"/>
      <p:bldP spid="55" grpId="0"/>
      <p:bldP spid="56" grpId="0"/>
      <p:bldP spid="57" grpId="0" animBg="1"/>
      <p:bldP spid="58" grpId="0" animBg="1"/>
      <p:bldP spid="5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586CA-1BEA-F145-6318-A0115B9AF1DF}"/>
            </a:ext>
          </a:extLst>
        </p:cNvPr>
        <p:cNvGrpSpPr/>
        <p:nvPr/>
      </p:nvGrpSpPr>
      <p:grpSpPr>
        <a:xfrm>
          <a:off x="0" y="0"/>
          <a:ext cx="0" cy="0"/>
          <a:chOff x="0" y="0"/>
          <a:chExt cx="0" cy="0"/>
        </a:xfrm>
      </p:grpSpPr>
      <p:sp>
        <p:nvSpPr>
          <p:cNvPr id="19" name="Rectangle 5">
            <a:extLst>
              <a:ext uri="{FF2B5EF4-FFF2-40B4-BE49-F238E27FC236}">
                <a16:creationId xmlns:a16="http://schemas.microsoft.com/office/drawing/2014/main" id="{E9FC5B13-959C-62BC-5158-4E5005F5A40F}"/>
              </a:ext>
            </a:extLst>
          </p:cNvPr>
          <p:cNvSpPr>
            <a:spLocks noChangeArrowheads="1"/>
          </p:cNvSpPr>
          <p:nvPr/>
        </p:nvSpPr>
        <p:spPr bwMode="auto">
          <a:xfrm>
            <a:off x="2108646" y="229963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20" name="Line 6">
            <a:extLst>
              <a:ext uri="{FF2B5EF4-FFF2-40B4-BE49-F238E27FC236}">
                <a16:creationId xmlns:a16="http://schemas.microsoft.com/office/drawing/2014/main" id="{B2A7F6FD-5FBA-1270-27DF-1A7DE8F4249B}"/>
              </a:ext>
            </a:extLst>
          </p:cNvPr>
          <p:cNvSpPr>
            <a:spLocks noChangeShapeType="1"/>
          </p:cNvSpPr>
          <p:nvPr/>
        </p:nvSpPr>
        <p:spPr bwMode="auto">
          <a:xfrm>
            <a:off x="2642046"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Rectangle 25">
            <a:extLst>
              <a:ext uri="{FF2B5EF4-FFF2-40B4-BE49-F238E27FC236}">
                <a16:creationId xmlns:a16="http://schemas.microsoft.com/office/drawing/2014/main" id="{7164513C-F91B-EFFB-1CF4-285F216E1F6B}"/>
              </a:ext>
            </a:extLst>
          </p:cNvPr>
          <p:cNvSpPr>
            <a:spLocks noChangeArrowheads="1"/>
          </p:cNvSpPr>
          <p:nvPr/>
        </p:nvSpPr>
        <p:spPr bwMode="auto">
          <a:xfrm>
            <a:off x="4272531" y="237359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3" name="Rectangle 36">
            <a:extLst>
              <a:ext uri="{FF2B5EF4-FFF2-40B4-BE49-F238E27FC236}">
                <a16:creationId xmlns:a16="http://schemas.microsoft.com/office/drawing/2014/main" id="{071BE5BC-BB4B-6EE4-8B9A-F07A4FEBE0A1}"/>
              </a:ext>
            </a:extLst>
          </p:cNvPr>
          <p:cNvSpPr>
            <a:spLocks noChangeArrowheads="1"/>
          </p:cNvSpPr>
          <p:nvPr/>
        </p:nvSpPr>
        <p:spPr bwMode="auto">
          <a:xfrm>
            <a:off x="7441525" y="2395597"/>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4" name="Rectangle 228">
            <a:extLst>
              <a:ext uri="{FF2B5EF4-FFF2-40B4-BE49-F238E27FC236}">
                <a16:creationId xmlns:a16="http://schemas.microsoft.com/office/drawing/2014/main" id="{0293F707-C6F1-59A4-1396-632C28368456}"/>
              </a:ext>
            </a:extLst>
          </p:cNvPr>
          <p:cNvSpPr>
            <a:spLocks noChangeArrowheads="1"/>
          </p:cNvSpPr>
          <p:nvPr/>
        </p:nvSpPr>
        <p:spPr bwMode="auto">
          <a:xfrm>
            <a:off x="306393" y="233585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25" name="Line 29">
            <a:extLst>
              <a:ext uri="{FF2B5EF4-FFF2-40B4-BE49-F238E27FC236}">
                <a16:creationId xmlns:a16="http://schemas.microsoft.com/office/drawing/2014/main" id="{CA172380-BAF8-5C7C-F8F5-43F60ABEB23D}"/>
              </a:ext>
            </a:extLst>
          </p:cNvPr>
          <p:cNvSpPr>
            <a:spLocks noChangeShapeType="1"/>
          </p:cNvSpPr>
          <p:nvPr/>
        </p:nvSpPr>
        <p:spPr bwMode="auto">
          <a:xfrm>
            <a:off x="572038" y="252613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5">
            <a:extLst>
              <a:ext uri="{FF2B5EF4-FFF2-40B4-BE49-F238E27FC236}">
                <a16:creationId xmlns:a16="http://schemas.microsoft.com/office/drawing/2014/main" id="{DBEBF615-F965-5306-6052-10423AE8D37A}"/>
              </a:ext>
            </a:extLst>
          </p:cNvPr>
          <p:cNvSpPr>
            <a:spLocks noChangeArrowheads="1"/>
          </p:cNvSpPr>
          <p:nvPr/>
        </p:nvSpPr>
        <p:spPr bwMode="auto">
          <a:xfrm>
            <a:off x="3284303" y="230500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27" name="Line 6">
            <a:extLst>
              <a:ext uri="{FF2B5EF4-FFF2-40B4-BE49-F238E27FC236}">
                <a16:creationId xmlns:a16="http://schemas.microsoft.com/office/drawing/2014/main" id="{EFC3DB81-A3A3-ABF3-F262-B3CF9F9E2671}"/>
              </a:ext>
            </a:extLst>
          </p:cNvPr>
          <p:cNvSpPr>
            <a:spLocks noChangeShapeType="1"/>
          </p:cNvSpPr>
          <p:nvPr/>
        </p:nvSpPr>
        <p:spPr bwMode="auto">
          <a:xfrm>
            <a:off x="3817703" y="230500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9">
            <a:extLst>
              <a:ext uri="{FF2B5EF4-FFF2-40B4-BE49-F238E27FC236}">
                <a16:creationId xmlns:a16="http://schemas.microsoft.com/office/drawing/2014/main" id="{25CA23AE-D723-9A50-D5A2-6DEDF1016681}"/>
              </a:ext>
            </a:extLst>
          </p:cNvPr>
          <p:cNvSpPr>
            <a:spLocks noChangeShapeType="1"/>
          </p:cNvSpPr>
          <p:nvPr/>
        </p:nvSpPr>
        <p:spPr bwMode="auto">
          <a:xfrm>
            <a:off x="2903303"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Rectangle 5">
            <a:extLst>
              <a:ext uri="{FF2B5EF4-FFF2-40B4-BE49-F238E27FC236}">
                <a16:creationId xmlns:a16="http://schemas.microsoft.com/office/drawing/2014/main" id="{F747D7B4-94C9-116C-00D2-E0F135C84878}"/>
              </a:ext>
            </a:extLst>
          </p:cNvPr>
          <p:cNvSpPr>
            <a:spLocks noChangeArrowheads="1"/>
          </p:cNvSpPr>
          <p:nvPr/>
        </p:nvSpPr>
        <p:spPr bwMode="auto">
          <a:xfrm>
            <a:off x="4885814" y="2321632"/>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30" name="Line 6">
            <a:extLst>
              <a:ext uri="{FF2B5EF4-FFF2-40B4-BE49-F238E27FC236}">
                <a16:creationId xmlns:a16="http://schemas.microsoft.com/office/drawing/2014/main" id="{DCE96C12-4389-B7C9-1986-558CC948D7EF}"/>
              </a:ext>
            </a:extLst>
          </p:cNvPr>
          <p:cNvSpPr>
            <a:spLocks noChangeShapeType="1"/>
          </p:cNvSpPr>
          <p:nvPr/>
        </p:nvSpPr>
        <p:spPr bwMode="auto">
          <a:xfrm>
            <a:off x="5622387" y="2316257"/>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9">
            <a:extLst>
              <a:ext uri="{FF2B5EF4-FFF2-40B4-BE49-F238E27FC236}">
                <a16:creationId xmlns:a16="http://schemas.microsoft.com/office/drawing/2014/main" id="{59965099-B953-964B-AE37-23141C8E6FC0}"/>
              </a:ext>
            </a:extLst>
          </p:cNvPr>
          <p:cNvSpPr>
            <a:spLocks noChangeShapeType="1"/>
          </p:cNvSpPr>
          <p:nvPr/>
        </p:nvSpPr>
        <p:spPr bwMode="auto">
          <a:xfrm>
            <a:off x="4587464" y="2560335"/>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29">
            <a:extLst>
              <a:ext uri="{FF2B5EF4-FFF2-40B4-BE49-F238E27FC236}">
                <a16:creationId xmlns:a16="http://schemas.microsoft.com/office/drawing/2014/main" id="{0BBFAD91-132C-0B6E-A85F-0DF76619685E}"/>
              </a:ext>
            </a:extLst>
          </p:cNvPr>
          <p:cNvSpPr>
            <a:spLocks noChangeShapeType="1"/>
          </p:cNvSpPr>
          <p:nvPr/>
        </p:nvSpPr>
        <p:spPr bwMode="auto">
          <a:xfrm>
            <a:off x="4008203" y="2556491"/>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Rectangle 5">
            <a:extLst>
              <a:ext uri="{FF2B5EF4-FFF2-40B4-BE49-F238E27FC236}">
                <a16:creationId xmlns:a16="http://schemas.microsoft.com/office/drawing/2014/main" id="{0B90A82F-94A4-FC7E-40D4-0689BA3F33F4}"/>
              </a:ext>
            </a:extLst>
          </p:cNvPr>
          <p:cNvSpPr>
            <a:spLocks noChangeArrowheads="1"/>
          </p:cNvSpPr>
          <p:nvPr/>
        </p:nvSpPr>
        <p:spPr bwMode="auto">
          <a:xfrm>
            <a:off x="6278573" y="233346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200" dirty="0">
                <a:latin typeface="微软雅黑" pitchFamily="34" charset="-122"/>
                <a:ea typeface="微软雅黑" pitchFamily="34" charset="-122"/>
              </a:rPr>
              <a:t> </a:t>
            </a:r>
            <a:r>
              <a:rPr lang="en-US" altLang="zh-CN" sz="2400" dirty="0"/>
              <a:t>   </a:t>
            </a:r>
          </a:p>
        </p:txBody>
      </p:sp>
      <p:sp>
        <p:nvSpPr>
          <p:cNvPr id="34" name="Line 6">
            <a:extLst>
              <a:ext uri="{FF2B5EF4-FFF2-40B4-BE49-F238E27FC236}">
                <a16:creationId xmlns:a16="http://schemas.microsoft.com/office/drawing/2014/main" id="{EB3A5176-DE12-1EAE-48BB-9E0AE1DC9CD6}"/>
              </a:ext>
            </a:extLst>
          </p:cNvPr>
          <p:cNvSpPr>
            <a:spLocks noChangeShapeType="1"/>
          </p:cNvSpPr>
          <p:nvPr/>
        </p:nvSpPr>
        <p:spPr bwMode="auto">
          <a:xfrm>
            <a:off x="6811973" y="233346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9">
            <a:extLst>
              <a:ext uri="{FF2B5EF4-FFF2-40B4-BE49-F238E27FC236}">
                <a16:creationId xmlns:a16="http://schemas.microsoft.com/office/drawing/2014/main" id="{2B1A7E2F-7C49-D5DA-BEA8-4225CD9FEF29}"/>
              </a:ext>
            </a:extLst>
          </p:cNvPr>
          <p:cNvSpPr>
            <a:spLocks noChangeShapeType="1"/>
          </p:cNvSpPr>
          <p:nvPr/>
        </p:nvSpPr>
        <p:spPr bwMode="auto">
          <a:xfrm>
            <a:off x="5897573" y="258763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 name="Line 29">
            <a:extLst>
              <a:ext uri="{FF2B5EF4-FFF2-40B4-BE49-F238E27FC236}">
                <a16:creationId xmlns:a16="http://schemas.microsoft.com/office/drawing/2014/main" id="{A9BDAA63-F6F5-5371-AF00-608968EF1D79}"/>
              </a:ext>
            </a:extLst>
          </p:cNvPr>
          <p:cNvSpPr>
            <a:spLocks noChangeShapeType="1"/>
          </p:cNvSpPr>
          <p:nvPr/>
        </p:nvSpPr>
        <p:spPr bwMode="auto">
          <a:xfrm>
            <a:off x="7043281" y="258853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Rectangle 5">
            <a:extLst>
              <a:ext uri="{FF2B5EF4-FFF2-40B4-BE49-F238E27FC236}">
                <a16:creationId xmlns:a16="http://schemas.microsoft.com/office/drawing/2014/main" id="{D98209A3-E290-74A8-A900-DE27DDE53D2F}"/>
              </a:ext>
            </a:extLst>
          </p:cNvPr>
          <p:cNvSpPr>
            <a:spLocks noChangeArrowheads="1"/>
          </p:cNvSpPr>
          <p:nvPr/>
        </p:nvSpPr>
        <p:spPr bwMode="auto">
          <a:xfrm>
            <a:off x="8157234" y="2348597"/>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600" baseline="-25000" dirty="0"/>
              <a:t> </a:t>
            </a:r>
            <a:r>
              <a:rPr lang="zh-CN" altLang="en-US" sz="2400" dirty="0"/>
              <a:t>^</a:t>
            </a:r>
            <a:r>
              <a:rPr lang="en-US" altLang="zh-CN" sz="2400" dirty="0"/>
              <a:t>  </a:t>
            </a:r>
          </a:p>
        </p:txBody>
      </p:sp>
      <p:sp>
        <p:nvSpPr>
          <p:cNvPr id="41" name="Line 6">
            <a:extLst>
              <a:ext uri="{FF2B5EF4-FFF2-40B4-BE49-F238E27FC236}">
                <a16:creationId xmlns:a16="http://schemas.microsoft.com/office/drawing/2014/main" id="{CC9D7247-5E0A-7C43-1E3F-E158DD704CAF}"/>
              </a:ext>
            </a:extLst>
          </p:cNvPr>
          <p:cNvSpPr>
            <a:spLocks noChangeShapeType="1"/>
          </p:cNvSpPr>
          <p:nvPr/>
        </p:nvSpPr>
        <p:spPr bwMode="auto">
          <a:xfrm>
            <a:off x="8690634" y="2348597"/>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9">
            <a:extLst>
              <a:ext uri="{FF2B5EF4-FFF2-40B4-BE49-F238E27FC236}">
                <a16:creationId xmlns:a16="http://schemas.microsoft.com/office/drawing/2014/main" id="{CB471C29-533D-A1BC-CE6C-05359F0DB6DE}"/>
              </a:ext>
            </a:extLst>
          </p:cNvPr>
          <p:cNvSpPr>
            <a:spLocks noChangeShapeType="1"/>
          </p:cNvSpPr>
          <p:nvPr/>
        </p:nvSpPr>
        <p:spPr bwMode="auto">
          <a:xfrm>
            <a:off x="7776234" y="260277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5">
            <a:extLst>
              <a:ext uri="{FF2B5EF4-FFF2-40B4-BE49-F238E27FC236}">
                <a16:creationId xmlns:a16="http://schemas.microsoft.com/office/drawing/2014/main" id="{F2A876DD-5EAD-8CC7-8F1A-004CD70FB7BC}"/>
              </a:ext>
            </a:extLst>
          </p:cNvPr>
          <p:cNvSpPr>
            <a:spLocks noChangeArrowheads="1"/>
          </p:cNvSpPr>
          <p:nvPr/>
        </p:nvSpPr>
        <p:spPr bwMode="auto">
          <a:xfrm>
            <a:off x="953038" y="2299630"/>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44" name="Line 6">
            <a:extLst>
              <a:ext uri="{FF2B5EF4-FFF2-40B4-BE49-F238E27FC236}">
                <a16:creationId xmlns:a16="http://schemas.microsoft.com/office/drawing/2014/main" id="{8C4F9B90-3E93-5EBE-6A50-F0F499395455}"/>
              </a:ext>
            </a:extLst>
          </p:cNvPr>
          <p:cNvSpPr>
            <a:spLocks noChangeShapeType="1"/>
          </p:cNvSpPr>
          <p:nvPr/>
        </p:nvSpPr>
        <p:spPr bwMode="auto">
          <a:xfrm>
            <a:off x="1486438"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9">
            <a:extLst>
              <a:ext uri="{FF2B5EF4-FFF2-40B4-BE49-F238E27FC236}">
                <a16:creationId xmlns:a16="http://schemas.microsoft.com/office/drawing/2014/main" id="{39ADE1B5-69ED-C26B-F0B8-BD54F1086C28}"/>
              </a:ext>
            </a:extLst>
          </p:cNvPr>
          <p:cNvSpPr>
            <a:spLocks noChangeShapeType="1"/>
          </p:cNvSpPr>
          <p:nvPr/>
        </p:nvSpPr>
        <p:spPr bwMode="auto">
          <a:xfrm>
            <a:off x="1747695"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Rectangle 57">
            <a:extLst>
              <a:ext uri="{FF2B5EF4-FFF2-40B4-BE49-F238E27FC236}">
                <a16:creationId xmlns:a16="http://schemas.microsoft.com/office/drawing/2014/main" id="{A7A8C2F9-7038-0AB3-6A37-85DAAEA95ACE}"/>
              </a:ext>
            </a:extLst>
          </p:cNvPr>
          <p:cNvSpPr>
            <a:spLocks noChangeArrowheads="1"/>
          </p:cNvSpPr>
          <p:nvPr/>
        </p:nvSpPr>
        <p:spPr bwMode="auto">
          <a:xfrm>
            <a:off x="4768021" y="2753388"/>
            <a:ext cx="1013740"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j=i-1</a:t>
            </a:r>
            <a:endParaRPr kumimoji="0" lang="zh-CN" altLang="en-US" sz="2400" dirty="0">
              <a:ea typeface="Li Super" charset="-122"/>
            </a:endParaRPr>
          </a:p>
        </p:txBody>
      </p:sp>
      <p:sp>
        <p:nvSpPr>
          <p:cNvPr id="47" name="Rectangle 55">
            <a:extLst>
              <a:ext uri="{FF2B5EF4-FFF2-40B4-BE49-F238E27FC236}">
                <a16:creationId xmlns:a16="http://schemas.microsoft.com/office/drawing/2014/main" id="{7FBE919E-BC05-4652-FD29-3634950E9D11}"/>
              </a:ext>
            </a:extLst>
          </p:cNvPr>
          <p:cNvSpPr>
            <a:spLocks noChangeArrowheads="1"/>
          </p:cNvSpPr>
          <p:nvPr/>
        </p:nvSpPr>
        <p:spPr bwMode="auto">
          <a:xfrm>
            <a:off x="4391445" y="165364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48" name="Line 29">
            <a:extLst>
              <a:ext uri="{FF2B5EF4-FFF2-40B4-BE49-F238E27FC236}">
                <a16:creationId xmlns:a16="http://schemas.microsoft.com/office/drawing/2014/main" id="{90D1E059-0B08-604A-0001-4BCE7BABC1D4}"/>
              </a:ext>
            </a:extLst>
          </p:cNvPr>
          <p:cNvSpPr>
            <a:spLocks noChangeShapeType="1"/>
          </p:cNvSpPr>
          <p:nvPr/>
        </p:nvSpPr>
        <p:spPr bwMode="auto">
          <a:xfrm>
            <a:off x="4587464" y="1959322"/>
            <a:ext cx="298351" cy="38513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Rectangle 55">
            <a:extLst>
              <a:ext uri="{FF2B5EF4-FFF2-40B4-BE49-F238E27FC236}">
                <a16:creationId xmlns:a16="http://schemas.microsoft.com/office/drawing/2014/main" id="{9DCBD2E4-E3F5-5F1D-7115-FB4CFDF30EA4}"/>
              </a:ext>
            </a:extLst>
          </p:cNvPr>
          <p:cNvSpPr>
            <a:spLocks noChangeArrowheads="1"/>
          </p:cNvSpPr>
          <p:nvPr/>
        </p:nvSpPr>
        <p:spPr bwMode="auto">
          <a:xfrm>
            <a:off x="4754444" y="19340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50" name="矩形 49">
            <a:extLst>
              <a:ext uri="{FF2B5EF4-FFF2-40B4-BE49-F238E27FC236}">
                <a16:creationId xmlns:a16="http://schemas.microsoft.com/office/drawing/2014/main" id="{A4C8C4DB-6EA5-FD91-4FAF-04C23C09265D}"/>
              </a:ext>
            </a:extLst>
          </p:cNvPr>
          <p:cNvSpPr/>
          <p:nvPr/>
        </p:nvSpPr>
        <p:spPr>
          <a:xfrm>
            <a:off x="323528" y="3057804"/>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51" name="矩形 50">
            <a:extLst>
              <a:ext uri="{FF2B5EF4-FFF2-40B4-BE49-F238E27FC236}">
                <a16:creationId xmlns:a16="http://schemas.microsoft.com/office/drawing/2014/main" id="{B97311E8-BB5F-07D9-59E8-74C853FA97DA}"/>
              </a:ext>
            </a:extLst>
          </p:cNvPr>
          <p:cNvSpPr/>
          <p:nvPr/>
        </p:nvSpPr>
        <p:spPr>
          <a:xfrm>
            <a:off x="761593" y="3381840"/>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55" name="Rectangle 57">
            <a:extLst>
              <a:ext uri="{FF2B5EF4-FFF2-40B4-BE49-F238E27FC236}">
                <a16:creationId xmlns:a16="http://schemas.microsoft.com/office/drawing/2014/main" id="{50F4DCCC-0BA4-A655-AE5E-02C281FA2592}"/>
              </a:ext>
            </a:extLst>
          </p:cNvPr>
          <p:cNvSpPr>
            <a:spLocks noChangeArrowheads="1"/>
          </p:cNvSpPr>
          <p:nvPr/>
        </p:nvSpPr>
        <p:spPr bwMode="auto">
          <a:xfrm>
            <a:off x="885588" y="2731386"/>
            <a:ext cx="794434"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j=0</a:t>
            </a:r>
            <a:endParaRPr kumimoji="0" lang="zh-CN" altLang="en-US" sz="2400" dirty="0">
              <a:ea typeface="Li Super" charset="-122"/>
            </a:endParaRPr>
          </a:p>
        </p:txBody>
      </p:sp>
      <p:sp>
        <p:nvSpPr>
          <p:cNvPr id="56" name="Rectangle 55">
            <a:extLst>
              <a:ext uri="{FF2B5EF4-FFF2-40B4-BE49-F238E27FC236}">
                <a16:creationId xmlns:a16="http://schemas.microsoft.com/office/drawing/2014/main" id="{A0472E6E-F907-7E0C-2F15-3B0A529A84CA}"/>
              </a:ext>
            </a:extLst>
          </p:cNvPr>
          <p:cNvSpPr>
            <a:spLocks noChangeArrowheads="1"/>
          </p:cNvSpPr>
          <p:nvPr/>
        </p:nvSpPr>
        <p:spPr bwMode="auto">
          <a:xfrm>
            <a:off x="306393" y="179400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57" name="Line 29">
            <a:extLst>
              <a:ext uri="{FF2B5EF4-FFF2-40B4-BE49-F238E27FC236}">
                <a16:creationId xmlns:a16="http://schemas.microsoft.com/office/drawing/2014/main" id="{C68E44B3-6618-17F9-1D02-8AEBB8D06E20}"/>
              </a:ext>
            </a:extLst>
          </p:cNvPr>
          <p:cNvSpPr>
            <a:spLocks noChangeShapeType="1"/>
          </p:cNvSpPr>
          <p:nvPr/>
        </p:nvSpPr>
        <p:spPr bwMode="auto">
          <a:xfrm>
            <a:off x="722811" y="2107271"/>
            <a:ext cx="252617" cy="19236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虚尾箭头 57">
            <a:extLst>
              <a:ext uri="{FF2B5EF4-FFF2-40B4-BE49-F238E27FC236}">
                <a16:creationId xmlns:a16="http://schemas.microsoft.com/office/drawing/2014/main" id="{2C642672-F125-F49C-E1FF-78DB2D542E9F}"/>
              </a:ext>
            </a:extLst>
          </p:cNvPr>
          <p:cNvSpPr/>
          <p:nvPr/>
        </p:nvSpPr>
        <p:spPr>
          <a:xfrm>
            <a:off x="1410238" y="2051151"/>
            <a:ext cx="3177226" cy="229357"/>
          </a:xfrm>
          <a:prstGeom prst="striped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D2FAE6D3-F0CB-6E67-1315-1DB0BA1E4A06}"/>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7E8E79BD-5B08-9CC9-FAB0-4A4ABC90A8D4}"/>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4" name="矩形 3">
            <a:extLst>
              <a:ext uri="{FF2B5EF4-FFF2-40B4-BE49-F238E27FC236}">
                <a16:creationId xmlns:a16="http://schemas.microsoft.com/office/drawing/2014/main" id="{53F208EC-6CE9-804E-584C-11C946D60D26}"/>
              </a:ext>
            </a:extLst>
          </p:cNvPr>
          <p:cNvSpPr/>
          <p:nvPr/>
        </p:nvSpPr>
        <p:spPr>
          <a:xfrm>
            <a:off x="1090565" y="1514431"/>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⑧</a:t>
            </a:r>
            <a:r>
              <a:rPr lang="zh-CN" altLang="en-US" sz="2000" dirty="0">
                <a:latin typeface="微软雅黑" pitchFamily="34" charset="-122"/>
                <a:ea typeface="微软雅黑" pitchFamily="34" charset="-122"/>
                <a:cs typeface="经典粗黑简" pitchFamily="49" charset="-122"/>
              </a:rPr>
              <a:t>插入操作</a:t>
            </a:r>
          </a:p>
        </p:txBody>
      </p:sp>
      <p:sp>
        <p:nvSpPr>
          <p:cNvPr id="5" name="矩形 4">
            <a:extLst>
              <a:ext uri="{FF2B5EF4-FFF2-40B4-BE49-F238E27FC236}">
                <a16:creationId xmlns:a16="http://schemas.microsoft.com/office/drawing/2014/main" id="{A85161BF-DEA6-339F-56C6-B3063F9962B7}"/>
              </a:ext>
            </a:extLst>
          </p:cNvPr>
          <p:cNvSpPr/>
          <p:nvPr/>
        </p:nvSpPr>
        <p:spPr>
          <a:xfrm>
            <a:off x="755576" y="3651870"/>
            <a:ext cx="3602268" cy="400110"/>
          </a:xfrm>
          <a:prstGeom prst="rect">
            <a:avLst/>
          </a:prstGeom>
        </p:spPr>
        <p:txBody>
          <a:bodyPr wrap="none">
            <a:spAutoFit/>
          </a:bodyPr>
          <a:lstStyle/>
          <a:p>
            <a:pPr marL="342900"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申请一个结点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并填入</a:t>
            </a:r>
            <a:r>
              <a:rPr lang="en-US" altLang="zh-CN" sz="2000" dirty="0">
                <a:latin typeface="微软雅黑" pitchFamily="34" charset="-122"/>
                <a:ea typeface="微软雅黑" pitchFamily="34" charset="-122"/>
                <a:cs typeface="经典粗黑简" pitchFamily="49" charset="-122"/>
              </a:rPr>
              <a:t>e</a:t>
            </a:r>
            <a:r>
              <a:rPr lang="zh-CN" altLang="en-US" sz="2000" dirty="0">
                <a:latin typeface="微软雅黑" pitchFamily="34" charset="-122"/>
                <a:ea typeface="微软雅黑" pitchFamily="34" charset="-122"/>
                <a:cs typeface="经典粗黑简" pitchFamily="49" charset="-122"/>
              </a:rPr>
              <a:t>值；</a:t>
            </a:r>
          </a:p>
        </p:txBody>
      </p:sp>
      <p:sp>
        <p:nvSpPr>
          <p:cNvPr id="6" name="Rectangle 5">
            <a:extLst>
              <a:ext uri="{FF2B5EF4-FFF2-40B4-BE49-F238E27FC236}">
                <a16:creationId xmlns:a16="http://schemas.microsoft.com/office/drawing/2014/main" id="{827D7EAD-D270-470D-EAD5-A021966F8D97}"/>
              </a:ext>
            </a:extLst>
          </p:cNvPr>
          <p:cNvSpPr>
            <a:spLocks noChangeArrowheads="1"/>
          </p:cNvSpPr>
          <p:nvPr/>
        </p:nvSpPr>
        <p:spPr bwMode="auto">
          <a:xfrm>
            <a:off x="5465216" y="309841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2400" dirty="0"/>
              <a:t>  e </a:t>
            </a:r>
          </a:p>
        </p:txBody>
      </p:sp>
      <p:sp>
        <p:nvSpPr>
          <p:cNvPr id="7" name="Line 6">
            <a:extLst>
              <a:ext uri="{FF2B5EF4-FFF2-40B4-BE49-F238E27FC236}">
                <a16:creationId xmlns:a16="http://schemas.microsoft.com/office/drawing/2014/main" id="{12672713-EC84-8C4A-D4C0-0DD9243EB722}"/>
              </a:ext>
            </a:extLst>
          </p:cNvPr>
          <p:cNvSpPr>
            <a:spLocks noChangeShapeType="1"/>
          </p:cNvSpPr>
          <p:nvPr/>
        </p:nvSpPr>
        <p:spPr bwMode="auto">
          <a:xfrm>
            <a:off x="6077418" y="3112102"/>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Rectangle 55">
            <a:extLst>
              <a:ext uri="{FF2B5EF4-FFF2-40B4-BE49-F238E27FC236}">
                <a16:creationId xmlns:a16="http://schemas.microsoft.com/office/drawing/2014/main" id="{1716452B-7106-5642-6FC5-FCBE559AE0F9}"/>
              </a:ext>
            </a:extLst>
          </p:cNvPr>
          <p:cNvSpPr>
            <a:spLocks noChangeArrowheads="1"/>
          </p:cNvSpPr>
          <p:nvPr/>
        </p:nvSpPr>
        <p:spPr bwMode="auto">
          <a:xfrm>
            <a:off x="4595074" y="314105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s</a:t>
            </a:r>
            <a:endParaRPr kumimoji="0" lang="zh-CN" altLang="en-US" sz="2400" dirty="0">
              <a:ea typeface="CFNEOP+TimesNewRoman" charset="-122"/>
            </a:endParaRPr>
          </a:p>
        </p:txBody>
      </p:sp>
      <p:sp>
        <p:nvSpPr>
          <p:cNvPr id="9" name="Line 29">
            <a:extLst>
              <a:ext uri="{FF2B5EF4-FFF2-40B4-BE49-F238E27FC236}">
                <a16:creationId xmlns:a16="http://schemas.microsoft.com/office/drawing/2014/main" id="{6EE34604-C3AE-D5C7-B081-E3C3E5DE3560}"/>
              </a:ext>
            </a:extLst>
          </p:cNvPr>
          <p:cNvSpPr>
            <a:spLocks noChangeShapeType="1"/>
          </p:cNvSpPr>
          <p:nvPr/>
        </p:nvSpPr>
        <p:spPr bwMode="auto">
          <a:xfrm>
            <a:off x="4949508" y="3327981"/>
            <a:ext cx="515709" cy="510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55">
            <a:extLst>
              <a:ext uri="{FF2B5EF4-FFF2-40B4-BE49-F238E27FC236}">
                <a16:creationId xmlns:a16="http://schemas.microsoft.com/office/drawing/2014/main" id="{ABFDC3CD-9C15-1336-31C4-711E4EDC4047}"/>
              </a:ext>
            </a:extLst>
          </p:cNvPr>
          <p:cNvSpPr>
            <a:spLocks noChangeArrowheads="1"/>
          </p:cNvSpPr>
          <p:nvPr/>
        </p:nvSpPr>
        <p:spPr bwMode="auto">
          <a:xfrm>
            <a:off x="5094336" y="345544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13" name="文本框 12">
            <a:extLst>
              <a:ext uri="{FF2B5EF4-FFF2-40B4-BE49-F238E27FC236}">
                <a16:creationId xmlns:a16="http://schemas.microsoft.com/office/drawing/2014/main" id="{40F003D0-C9CF-C980-37DB-B0C9C463E4F0}"/>
              </a:ext>
            </a:extLst>
          </p:cNvPr>
          <p:cNvSpPr txBox="1"/>
          <p:nvPr/>
        </p:nvSpPr>
        <p:spPr>
          <a:xfrm>
            <a:off x="844205" y="4129618"/>
            <a:ext cx="5946995" cy="736420"/>
          </a:xfrm>
          <a:prstGeom prst="rect">
            <a:avLst/>
          </a:prstGeom>
          <a:noFill/>
        </p:spPr>
        <p:txBody>
          <a:bodyPr wrap="square">
            <a:spAutoFit/>
          </a:bodyPr>
          <a:lstStyle/>
          <a:p>
            <a:pPr algn="l">
              <a:lnSpc>
                <a:spcPts val="2600"/>
              </a:lnSpc>
            </a:pPr>
            <a:r>
              <a:rPr kumimoji="1" lang="en-US" altLang="zh-CN" sz="1800" dirty="0">
                <a:solidFill>
                  <a:srgbClr val="0000FF"/>
                </a:solidFill>
                <a:latin typeface="Consolas" pitchFamily="49" charset="0"/>
                <a:ea typeface="仿宋" pitchFamily="49" charset="-122"/>
                <a:cs typeface="Consolas" pitchFamily="49" charset="0"/>
              </a:rPr>
              <a:t>s=(</a:t>
            </a:r>
            <a:r>
              <a:rPr kumimoji="1" lang="en-US" altLang="zh-CN" sz="1800" dirty="0" err="1">
                <a:solidFill>
                  <a:srgbClr val="0000FF"/>
                </a:solidFill>
                <a:latin typeface="Consolas" pitchFamily="49" charset="0"/>
                <a:ea typeface="仿宋" pitchFamily="49" charset="-122"/>
                <a:cs typeface="Consolas" pitchFamily="49" charset="0"/>
              </a:rPr>
              <a:t>LinkNode</a:t>
            </a:r>
            <a:r>
              <a:rPr kumimoji="1" lang="en-US" altLang="zh-CN" sz="1800" dirty="0">
                <a:solidFill>
                  <a:srgbClr val="0000FF"/>
                </a:solidFill>
                <a:latin typeface="Consolas" pitchFamily="49" charset="0"/>
                <a:ea typeface="仿宋" pitchFamily="49" charset="-122"/>
                <a:cs typeface="Consolas" pitchFamily="49" charset="0"/>
              </a:rPr>
              <a:t> *)malloc(</a:t>
            </a:r>
            <a:r>
              <a:rPr kumimoji="1" lang="en-US" altLang="zh-CN" sz="1800" dirty="0" err="1">
                <a:solidFill>
                  <a:srgbClr val="0000FF"/>
                </a:solidFill>
                <a:latin typeface="Consolas" pitchFamily="49" charset="0"/>
                <a:ea typeface="仿宋" pitchFamily="49" charset="-122"/>
                <a:cs typeface="Consolas" pitchFamily="49" charset="0"/>
              </a:rPr>
              <a:t>sizeof</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dirty="0" err="1">
                <a:solidFill>
                  <a:srgbClr val="0000FF"/>
                </a:solidFill>
                <a:latin typeface="Consolas" pitchFamily="49" charset="0"/>
                <a:ea typeface="仿宋" pitchFamily="49" charset="-122"/>
                <a:cs typeface="Consolas" pitchFamily="49" charset="0"/>
              </a:rPr>
              <a:t>LinkNode</a:t>
            </a:r>
            <a:r>
              <a:rPr kumimoji="1" lang="en-US" altLang="zh-CN" sz="1800" dirty="0">
                <a:solidFill>
                  <a:srgbClr val="0000FF"/>
                </a:solidFill>
                <a:latin typeface="Consolas" pitchFamily="49" charset="0"/>
                <a:ea typeface="仿宋" pitchFamily="49" charset="-122"/>
                <a:cs typeface="Consolas" pitchFamily="49" charset="0"/>
              </a:rPr>
              <a:t>));</a:t>
            </a:r>
          </a:p>
          <a:p>
            <a:pPr algn="l">
              <a:lnSpc>
                <a:spcPts val="2600"/>
              </a:lnSpc>
            </a:pPr>
            <a:r>
              <a:rPr kumimoji="1" lang="en-US" altLang="zh-CN" sz="1800" dirty="0">
                <a:solidFill>
                  <a:srgbClr val="0000FF"/>
                </a:solidFill>
                <a:latin typeface="Consolas" pitchFamily="49" charset="0"/>
                <a:ea typeface="仿宋" pitchFamily="49" charset="-122"/>
                <a:cs typeface="Consolas" pitchFamily="49" charset="0"/>
              </a:rPr>
              <a:t>s-&gt;data=e;	</a:t>
            </a:r>
            <a:endParaRPr lang="zh-CN" altLang="en-US" dirty="0"/>
          </a:p>
        </p:txBody>
      </p:sp>
      <p:sp>
        <p:nvSpPr>
          <p:cNvPr id="52" name="矩形 51">
            <a:extLst>
              <a:ext uri="{FF2B5EF4-FFF2-40B4-BE49-F238E27FC236}">
                <a16:creationId xmlns:a16="http://schemas.microsoft.com/office/drawing/2014/main" id="{AF280463-D7BF-43E0-90EC-E3A88ED91DC1}"/>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78760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6DEBE-CD0E-EEB2-1FFB-56DD44101128}"/>
            </a:ext>
          </a:extLst>
        </p:cNvPr>
        <p:cNvGrpSpPr/>
        <p:nvPr/>
      </p:nvGrpSpPr>
      <p:grpSpPr>
        <a:xfrm>
          <a:off x="0" y="0"/>
          <a:ext cx="0" cy="0"/>
          <a:chOff x="0" y="0"/>
          <a:chExt cx="0" cy="0"/>
        </a:xfrm>
      </p:grpSpPr>
      <p:sp>
        <p:nvSpPr>
          <p:cNvPr id="19" name="Rectangle 5">
            <a:extLst>
              <a:ext uri="{FF2B5EF4-FFF2-40B4-BE49-F238E27FC236}">
                <a16:creationId xmlns:a16="http://schemas.microsoft.com/office/drawing/2014/main" id="{D37C3A4B-D698-9999-4058-0E9BB64E8CF3}"/>
              </a:ext>
            </a:extLst>
          </p:cNvPr>
          <p:cNvSpPr>
            <a:spLocks noChangeArrowheads="1"/>
          </p:cNvSpPr>
          <p:nvPr/>
        </p:nvSpPr>
        <p:spPr bwMode="auto">
          <a:xfrm>
            <a:off x="2108646" y="229963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20" name="Line 6">
            <a:extLst>
              <a:ext uri="{FF2B5EF4-FFF2-40B4-BE49-F238E27FC236}">
                <a16:creationId xmlns:a16="http://schemas.microsoft.com/office/drawing/2014/main" id="{DB578C06-EFE4-C8B4-8DCF-AE8274E48C58}"/>
              </a:ext>
            </a:extLst>
          </p:cNvPr>
          <p:cNvSpPr>
            <a:spLocks noChangeShapeType="1"/>
          </p:cNvSpPr>
          <p:nvPr/>
        </p:nvSpPr>
        <p:spPr bwMode="auto">
          <a:xfrm>
            <a:off x="2642046"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Rectangle 25">
            <a:extLst>
              <a:ext uri="{FF2B5EF4-FFF2-40B4-BE49-F238E27FC236}">
                <a16:creationId xmlns:a16="http://schemas.microsoft.com/office/drawing/2014/main" id="{59A6959C-D281-B8E0-4A2C-419DD4B739C5}"/>
              </a:ext>
            </a:extLst>
          </p:cNvPr>
          <p:cNvSpPr>
            <a:spLocks noChangeArrowheads="1"/>
          </p:cNvSpPr>
          <p:nvPr/>
        </p:nvSpPr>
        <p:spPr bwMode="auto">
          <a:xfrm>
            <a:off x="4272531" y="237359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3" name="Rectangle 36">
            <a:extLst>
              <a:ext uri="{FF2B5EF4-FFF2-40B4-BE49-F238E27FC236}">
                <a16:creationId xmlns:a16="http://schemas.microsoft.com/office/drawing/2014/main" id="{319063FF-37EA-1AE2-D67A-87009D1D5FB7}"/>
              </a:ext>
            </a:extLst>
          </p:cNvPr>
          <p:cNvSpPr>
            <a:spLocks noChangeArrowheads="1"/>
          </p:cNvSpPr>
          <p:nvPr/>
        </p:nvSpPr>
        <p:spPr bwMode="auto">
          <a:xfrm>
            <a:off x="7441525" y="2395597"/>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4" name="Rectangle 228">
            <a:extLst>
              <a:ext uri="{FF2B5EF4-FFF2-40B4-BE49-F238E27FC236}">
                <a16:creationId xmlns:a16="http://schemas.microsoft.com/office/drawing/2014/main" id="{2CBD21CA-38F8-EB2C-CBE8-F47DD2A95D8B}"/>
              </a:ext>
            </a:extLst>
          </p:cNvPr>
          <p:cNvSpPr>
            <a:spLocks noChangeArrowheads="1"/>
          </p:cNvSpPr>
          <p:nvPr/>
        </p:nvSpPr>
        <p:spPr bwMode="auto">
          <a:xfrm>
            <a:off x="306393" y="233585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25" name="Line 29">
            <a:extLst>
              <a:ext uri="{FF2B5EF4-FFF2-40B4-BE49-F238E27FC236}">
                <a16:creationId xmlns:a16="http://schemas.microsoft.com/office/drawing/2014/main" id="{EFFDE2FE-D1A6-1A5B-92BB-831FD50A1488}"/>
              </a:ext>
            </a:extLst>
          </p:cNvPr>
          <p:cNvSpPr>
            <a:spLocks noChangeShapeType="1"/>
          </p:cNvSpPr>
          <p:nvPr/>
        </p:nvSpPr>
        <p:spPr bwMode="auto">
          <a:xfrm>
            <a:off x="572038" y="252613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5">
            <a:extLst>
              <a:ext uri="{FF2B5EF4-FFF2-40B4-BE49-F238E27FC236}">
                <a16:creationId xmlns:a16="http://schemas.microsoft.com/office/drawing/2014/main" id="{6082E2DC-7633-D44A-3870-5ABB90C1EEF3}"/>
              </a:ext>
            </a:extLst>
          </p:cNvPr>
          <p:cNvSpPr>
            <a:spLocks noChangeArrowheads="1"/>
          </p:cNvSpPr>
          <p:nvPr/>
        </p:nvSpPr>
        <p:spPr bwMode="auto">
          <a:xfrm>
            <a:off x="3284303" y="230500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27" name="Line 6">
            <a:extLst>
              <a:ext uri="{FF2B5EF4-FFF2-40B4-BE49-F238E27FC236}">
                <a16:creationId xmlns:a16="http://schemas.microsoft.com/office/drawing/2014/main" id="{F4B0405E-CA62-C930-91E4-E3C9B5361EF6}"/>
              </a:ext>
            </a:extLst>
          </p:cNvPr>
          <p:cNvSpPr>
            <a:spLocks noChangeShapeType="1"/>
          </p:cNvSpPr>
          <p:nvPr/>
        </p:nvSpPr>
        <p:spPr bwMode="auto">
          <a:xfrm>
            <a:off x="3817703" y="230500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9">
            <a:extLst>
              <a:ext uri="{FF2B5EF4-FFF2-40B4-BE49-F238E27FC236}">
                <a16:creationId xmlns:a16="http://schemas.microsoft.com/office/drawing/2014/main" id="{509F9D86-2F1E-0A5A-4EF7-57335600F966}"/>
              </a:ext>
            </a:extLst>
          </p:cNvPr>
          <p:cNvSpPr>
            <a:spLocks noChangeShapeType="1"/>
          </p:cNvSpPr>
          <p:nvPr/>
        </p:nvSpPr>
        <p:spPr bwMode="auto">
          <a:xfrm>
            <a:off x="2903303"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Rectangle 5">
            <a:extLst>
              <a:ext uri="{FF2B5EF4-FFF2-40B4-BE49-F238E27FC236}">
                <a16:creationId xmlns:a16="http://schemas.microsoft.com/office/drawing/2014/main" id="{08D1705C-D019-40B0-5F4F-D7E1B90FA757}"/>
              </a:ext>
            </a:extLst>
          </p:cNvPr>
          <p:cNvSpPr>
            <a:spLocks noChangeArrowheads="1"/>
          </p:cNvSpPr>
          <p:nvPr/>
        </p:nvSpPr>
        <p:spPr bwMode="auto">
          <a:xfrm>
            <a:off x="4885814" y="2321632"/>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30" name="Line 6">
            <a:extLst>
              <a:ext uri="{FF2B5EF4-FFF2-40B4-BE49-F238E27FC236}">
                <a16:creationId xmlns:a16="http://schemas.microsoft.com/office/drawing/2014/main" id="{90A50098-F7D6-3261-573F-EAD7C05EFFC2}"/>
              </a:ext>
            </a:extLst>
          </p:cNvPr>
          <p:cNvSpPr>
            <a:spLocks noChangeShapeType="1"/>
          </p:cNvSpPr>
          <p:nvPr/>
        </p:nvSpPr>
        <p:spPr bwMode="auto">
          <a:xfrm>
            <a:off x="5622387" y="2316257"/>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9">
            <a:extLst>
              <a:ext uri="{FF2B5EF4-FFF2-40B4-BE49-F238E27FC236}">
                <a16:creationId xmlns:a16="http://schemas.microsoft.com/office/drawing/2014/main" id="{636B1034-0224-81F0-05C8-35C05862DA64}"/>
              </a:ext>
            </a:extLst>
          </p:cNvPr>
          <p:cNvSpPr>
            <a:spLocks noChangeShapeType="1"/>
          </p:cNvSpPr>
          <p:nvPr/>
        </p:nvSpPr>
        <p:spPr bwMode="auto">
          <a:xfrm>
            <a:off x="4587464" y="2560335"/>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29">
            <a:extLst>
              <a:ext uri="{FF2B5EF4-FFF2-40B4-BE49-F238E27FC236}">
                <a16:creationId xmlns:a16="http://schemas.microsoft.com/office/drawing/2014/main" id="{2DB1593D-752D-BBD7-1EF0-E43D118EFD67}"/>
              </a:ext>
            </a:extLst>
          </p:cNvPr>
          <p:cNvSpPr>
            <a:spLocks noChangeShapeType="1"/>
          </p:cNvSpPr>
          <p:nvPr/>
        </p:nvSpPr>
        <p:spPr bwMode="auto">
          <a:xfrm>
            <a:off x="4008203" y="2556491"/>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Rectangle 5">
            <a:extLst>
              <a:ext uri="{FF2B5EF4-FFF2-40B4-BE49-F238E27FC236}">
                <a16:creationId xmlns:a16="http://schemas.microsoft.com/office/drawing/2014/main" id="{6515490C-0E47-52BF-B733-CAA981DBAC34}"/>
              </a:ext>
            </a:extLst>
          </p:cNvPr>
          <p:cNvSpPr>
            <a:spLocks noChangeArrowheads="1"/>
          </p:cNvSpPr>
          <p:nvPr/>
        </p:nvSpPr>
        <p:spPr bwMode="auto">
          <a:xfrm>
            <a:off x="6278573" y="233346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200" dirty="0">
                <a:latin typeface="微软雅黑" pitchFamily="34" charset="-122"/>
                <a:ea typeface="微软雅黑" pitchFamily="34" charset="-122"/>
              </a:rPr>
              <a:t> </a:t>
            </a:r>
            <a:r>
              <a:rPr lang="en-US" altLang="zh-CN" sz="2400" dirty="0"/>
              <a:t>   </a:t>
            </a:r>
          </a:p>
        </p:txBody>
      </p:sp>
      <p:sp>
        <p:nvSpPr>
          <p:cNvPr id="34" name="Line 6">
            <a:extLst>
              <a:ext uri="{FF2B5EF4-FFF2-40B4-BE49-F238E27FC236}">
                <a16:creationId xmlns:a16="http://schemas.microsoft.com/office/drawing/2014/main" id="{1BD2119F-CD3F-8434-DCE1-7B5682298E04}"/>
              </a:ext>
            </a:extLst>
          </p:cNvPr>
          <p:cNvSpPr>
            <a:spLocks noChangeShapeType="1"/>
          </p:cNvSpPr>
          <p:nvPr/>
        </p:nvSpPr>
        <p:spPr bwMode="auto">
          <a:xfrm>
            <a:off x="6811973" y="233346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9">
            <a:extLst>
              <a:ext uri="{FF2B5EF4-FFF2-40B4-BE49-F238E27FC236}">
                <a16:creationId xmlns:a16="http://schemas.microsoft.com/office/drawing/2014/main" id="{DF748692-49F3-1003-1965-671620A017CC}"/>
              </a:ext>
            </a:extLst>
          </p:cNvPr>
          <p:cNvSpPr>
            <a:spLocks noChangeShapeType="1"/>
          </p:cNvSpPr>
          <p:nvPr/>
        </p:nvSpPr>
        <p:spPr bwMode="auto">
          <a:xfrm>
            <a:off x="5897573" y="258763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 name="Line 29">
            <a:extLst>
              <a:ext uri="{FF2B5EF4-FFF2-40B4-BE49-F238E27FC236}">
                <a16:creationId xmlns:a16="http://schemas.microsoft.com/office/drawing/2014/main" id="{61181EF8-623B-4370-9E26-42C078F0DD36}"/>
              </a:ext>
            </a:extLst>
          </p:cNvPr>
          <p:cNvSpPr>
            <a:spLocks noChangeShapeType="1"/>
          </p:cNvSpPr>
          <p:nvPr/>
        </p:nvSpPr>
        <p:spPr bwMode="auto">
          <a:xfrm>
            <a:off x="7043281" y="258853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Rectangle 5">
            <a:extLst>
              <a:ext uri="{FF2B5EF4-FFF2-40B4-BE49-F238E27FC236}">
                <a16:creationId xmlns:a16="http://schemas.microsoft.com/office/drawing/2014/main" id="{7ABAD79B-010B-D0A4-8AE8-811320245B7C}"/>
              </a:ext>
            </a:extLst>
          </p:cNvPr>
          <p:cNvSpPr>
            <a:spLocks noChangeArrowheads="1"/>
          </p:cNvSpPr>
          <p:nvPr/>
        </p:nvSpPr>
        <p:spPr bwMode="auto">
          <a:xfrm>
            <a:off x="8157234" y="2348597"/>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600" baseline="-25000" dirty="0"/>
              <a:t> </a:t>
            </a:r>
            <a:r>
              <a:rPr lang="zh-CN" altLang="en-US" sz="2400" dirty="0"/>
              <a:t>^</a:t>
            </a:r>
            <a:r>
              <a:rPr lang="en-US" altLang="zh-CN" sz="2400" dirty="0"/>
              <a:t>  </a:t>
            </a:r>
          </a:p>
        </p:txBody>
      </p:sp>
      <p:sp>
        <p:nvSpPr>
          <p:cNvPr id="41" name="Line 6">
            <a:extLst>
              <a:ext uri="{FF2B5EF4-FFF2-40B4-BE49-F238E27FC236}">
                <a16:creationId xmlns:a16="http://schemas.microsoft.com/office/drawing/2014/main" id="{F11B4C50-AA3C-3430-1DCD-627EAD072D98}"/>
              </a:ext>
            </a:extLst>
          </p:cNvPr>
          <p:cNvSpPr>
            <a:spLocks noChangeShapeType="1"/>
          </p:cNvSpPr>
          <p:nvPr/>
        </p:nvSpPr>
        <p:spPr bwMode="auto">
          <a:xfrm>
            <a:off x="8690634" y="2348597"/>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9">
            <a:extLst>
              <a:ext uri="{FF2B5EF4-FFF2-40B4-BE49-F238E27FC236}">
                <a16:creationId xmlns:a16="http://schemas.microsoft.com/office/drawing/2014/main" id="{D807E7DD-A425-BE36-8E49-FF184F82065F}"/>
              </a:ext>
            </a:extLst>
          </p:cNvPr>
          <p:cNvSpPr>
            <a:spLocks noChangeShapeType="1"/>
          </p:cNvSpPr>
          <p:nvPr/>
        </p:nvSpPr>
        <p:spPr bwMode="auto">
          <a:xfrm>
            <a:off x="7776234" y="260277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5">
            <a:extLst>
              <a:ext uri="{FF2B5EF4-FFF2-40B4-BE49-F238E27FC236}">
                <a16:creationId xmlns:a16="http://schemas.microsoft.com/office/drawing/2014/main" id="{933FCDCE-41B8-D99C-3234-21529399E9AC}"/>
              </a:ext>
            </a:extLst>
          </p:cNvPr>
          <p:cNvSpPr>
            <a:spLocks noChangeArrowheads="1"/>
          </p:cNvSpPr>
          <p:nvPr/>
        </p:nvSpPr>
        <p:spPr bwMode="auto">
          <a:xfrm>
            <a:off x="953038" y="2299630"/>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44" name="Line 6">
            <a:extLst>
              <a:ext uri="{FF2B5EF4-FFF2-40B4-BE49-F238E27FC236}">
                <a16:creationId xmlns:a16="http://schemas.microsoft.com/office/drawing/2014/main" id="{50BEA021-B7E9-C435-1473-2CD0D204E231}"/>
              </a:ext>
            </a:extLst>
          </p:cNvPr>
          <p:cNvSpPr>
            <a:spLocks noChangeShapeType="1"/>
          </p:cNvSpPr>
          <p:nvPr/>
        </p:nvSpPr>
        <p:spPr bwMode="auto">
          <a:xfrm>
            <a:off x="1486438"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9">
            <a:extLst>
              <a:ext uri="{FF2B5EF4-FFF2-40B4-BE49-F238E27FC236}">
                <a16:creationId xmlns:a16="http://schemas.microsoft.com/office/drawing/2014/main" id="{D957D35A-58F7-E7A4-D7E7-03B181B1208D}"/>
              </a:ext>
            </a:extLst>
          </p:cNvPr>
          <p:cNvSpPr>
            <a:spLocks noChangeShapeType="1"/>
          </p:cNvSpPr>
          <p:nvPr/>
        </p:nvSpPr>
        <p:spPr bwMode="auto">
          <a:xfrm>
            <a:off x="1747695"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Rectangle 57">
            <a:extLst>
              <a:ext uri="{FF2B5EF4-FFF2-40B4-BE49-F238E27FC236}">
                <a16:creationId xmlns:a16="http://schemas.microsoft.com/office/drawing/2014/main" id="{8E7CEF30-9D0A-1E44-C7B1-225B6D6D7748}"/>
              </a:ext>
            </a:extLst>
          </p:cNvPr>
          <p:cNvSpPr>
            <a:spLocks noChangeArrowheads="1"/>
          </p:cNvSpPr>
          <p:nvPr/>
        </p:nvSpPr>
        <p:spPr bwMode="auto">
          <a:xfrm>
            <a:off x="4768021" y="2753388"/>
            <a:ext cx="1013740"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j=i-1</a:t>
            </a:r>
            <a:endParaRPr kumimoji="0" lang="zh-CN" altLang="en-US" sz="2400" dirty="0">
              <a:ea typeface="Li Super" charset="-122"/>
            </a:endParaRPr>
          </a:p>
        </p:txBody>
      </p:sp>
      <p:sp>
        <p:nvSpPr>
          <p:cNvPr id="47" name="Rectangle 55">
            <a:extLst>
              <a:ext uri="{FF2B5EF4-FFF2-40B4-BE49-F238E27FC236}">
                <a16:creationId xmlns:a16="http://schemas.microsoft.com/office/drawing/2014/main" id="{D2B24283-EC09-742C-47FE-F37EBC78913D}"/>
              </a:ext>
            </a:extLst>
          </p:cNvPr>
          <p:cNvSpPr>
            <a:spLocks noChangeArrowheads="1"/>
          </p:cNvSpPr>
          <p:nvPr/>
        </p:nvSpPr>
        <p:spPr bwMode="auto">
          <a:xfrm>
            <a:off x="4391445" y="165364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48" name="Line 29">
            <a:extLst>
              <a:ext uri="{FF2B5EF4-FFF2-40B4-BE49-F238E27FC236}">
                <a16:creationId xmlns:a16="http://schemas.microsoft.com/office/drawing/2014/main" id="{AD587570-DCAB-AB7E-1F82-544512328E97}"/>
              </a:ext>
            </a:extLst>
          </p:cNvPr>
          <p:cNvSpPr>
            <a:spLocks noChangeShapeType="1"/>
          </p:cNvSpPr>
          <p:nvPr/>
        </p:nvSpPr>
        <p:spPr bwMode="auto">
          <a:xfrm>
            <a:off x="4587464" y="1959322"/>
            <a:ext cx="298351" cy="38513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Rectangle 55">
            <a:extLst>
              <a:ext uri="{FF2B5EF4-FFF2-40B4-BE49-F238E27FC236}">
                <a16:creationId xmlns:a16="http://schemas.microsoft.com/office/drawing/2014/main" id="{8095B5C2-A3CE-CF69-5BD2-AE03962FC1F7}"/>
              </a:ext>
            </a:extLst>
          </p:cNvPr>
          <p:cNvSpPr>
            <a:spLocks noChangeArrowheads="1"/>
          </p:cNvSpPr>
          <p:nvPr/>
        </p:nvSpPr>
        <p:spPr bwMode="auto">
          <a:xfrm>
            <a:off x="4754444" y="19340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50" name="矩形 49">
            <a:extLst>
              <a:ext uri="{FF2B5EF4-FFF2-40B4-BE49-F238E27FC236}">
                <a16:creationId xmlns:a16="http://schemas.microsoft.com/office/drawing/2014/main" id="{4307CCF6-F57C-E5BB-8797-94E399A6E280}"/>
              </a:ext>
            </a:extLst>
          </p:cNvPr>
          <p:cNvSpPr/>
          <p:nvPr/>
        </p:nvSpPr>
        <p:spPr>
          <a:xfrm>
            <a:off x="323528" y="3057804"/>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51" name="矩形 50">
            <a:extLst>
              <a:ext uri="{FF2B5EF4-FFF2-40B4-BE49-F238E27FC236}">
                <a16:creationId xmlns:a16="http://schemas.microsoft.com/office/drawing/2014/main" id="{1E4FB3C4-25F6-65C5-2F85-9849CED9E615}"/>
              </a:ext>
            </a:extLst>
          </p:cNvPr>
          <p:cNvSpPr/>
          <p:nvPr/>
        </p:nvSpPr>
        <p:spPr>
          <a:xfrm>
            <a:off x="761593" y="3381840"/>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55" name="Rectangle 57">
            <a:extLst>
              <a:ext uri="{FF2B5EF4-FFF2-40B4-BE49-F238E27FC236}">
                <a16:creationId xmlns:a16="http://schemas.microsoft.com/office/drawing/2014/main" id="{E4626B2B-A107-AF83-B11D-7ED10F9A9762}"/>
              </a:ext>
            </a:extLst>
          </p:cNvPr>
          <p:cNvSpPr>
            <a:spLocks noChangeArrowheads="1"/>
          </p:cNvSpPr>
          <p:nvPr/>
        </p:nvSpPr>
        <p:spPr bwMode="auto">
          <a:xfrm>
            <a:off x="885588" y="2731386"/>
            <a:ext cx="794434"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j=0</a:t>
            </a:r>
            <a:endParaRPr kumimoji="0" lang="zh-CN" altLang="en-US" sz="2400" dirty="0">
              <a:ea typeface="Li Super" charset="-122"/>
            </a:endParaRPr>
          </a:p>
        </p:txBody>
      </p:sp>
      <p:sp>
        <p:nvSpPr>
          <p:cNvPr id="56" name="Rectangle 55">
            <a:extLst>
              <a:ext uri="{FF2B5EF4-FFF2-40B4-BE49-F238E27FC236}">
                <a16:creationId xmlns:a16="http://schemas.microsoft.com/office/drawing/2014/main" id="{0AF48864-A528-DBFE-7611-11ECEB1E7EC4}"/>
              </a:ext>
            </a:extLst>
          </p:cNvPr>
          <p:cNvSpPr>
            <a:spLocks noChangeArrowheads="1"/>
          </p:cNvSpPr>
          <p:nvPr/>
        </p:nvSpPr>
        <p:spPr bwMode="auto">
          <a:xfrm>
            <a:off x="306393" y="179400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57" name="Line 29">
            <a:extLst>
              <a:ext uri="{FF2B5EF4-FFF2-40B4-BE49-F238E27FC236}">
                <a16:creationId xmlns:a16="http://schemas.microsoft.com/office/drawing/2014/main" id="{A6DEBAC1-2E8E-8F0E-4645-660400282693}"/>
              </a:ext>
            </a:extLst>
          </p:cNvPr>
          <p:cNvSpPr>
            <a:spLocks noChangeShapeType="1"/>
          </p:cNvSpPr>
          <p:nvPr/>
        </p:nvSpPr>
        <p:spPr bwMode="auto">
          <a:xfrm>
            <a:off x="722811" y="2107271"/>
            <a:ext cx="252617" cy="19236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虚尾箭头 57">
            <a:extLst>
              <a:ext uri="{FF2B5EF4-FFF2-40B4-BE49-F238E27FC236}">
                <a16:creationId xmlns:a16="http://schemas.microsoft.com/office/drawing/2014/main" id="{3F9E6942-D700-AAFE-1A17-72F2E1E196D7}"/>
              </a:ext>
            </a:extLst>
          </p:cNvPr>
          <p:cNvSpPr/>
          <p:nvPr/>
        </p:nvSpPr>
        <p:spPr>
          <a:xfrm>
            <a:off x="1410238" y="2051151"/>
            <a:ext cx="3177226" cy="229357"/>
          </a:xfrm>
          <a:prstGeom prst="striped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04D8296C-BBCF-1796-EC54-D1B74C255538}"/>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0F68DAA5-B1C6-1E7E-67C3-5BCF2F4C8D2D}"/>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4" name="矩形 3">
            <a:extLst>
              <a:ext uri="{FF2B5EF4-FFF2-40B4-BE49-F238E27FC236}">
                <a16:creationId xmlns:a16="http://schemas.microsoft.com/office/drawing/2014/main" id="{A3D533EC-7713-90E3-2201-C67121C6EC67}"/>
              </a:ext>
            </a:extLst>
          </p:cNvPr>
          <p:cNvSpPr/>
          <p:nvPr/>
        </p:nvSpPr>
        <p:spPr>
          <a:xfrm>
            <a:off x="1090565" y="1514431"/>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⑧</a:t>
            </a:r>
            <a:r>
              <a:rPr lang="zh-CN" altLang="en-US" sz="2000" dirty="0">
                <a:latin typeface="微软雅黑" pitchFamily="34" charset="-122"/>
                <a:ea typeface="微软雅黑" pitchFamily="34" charset="-122"/>
                <a:cs typeface="经典粗黑简" pitchFamily="49" charset="-122"/>
              </a:rPr>
              <a:t>插入操作</a:t>
            </a:r>
          </a:p>
        </p:txBody>
      </p:sp>
      <p:sp>
        <p:nvSpPr>
          <p:cNvPr id="5" name="矩形 4">
            <a:extLst>
              <a:ext uri="{FF2B5EF4-FFF2-40B4-BE49-F238E27FC236}">
                <a16:creationId xmlns:a16="http://schemas.microsoft.com/office/drawing/2014/main" id="{028C5A8E-4F01-5579-2CF9-BA7182590780}"/>
              </a:ext>
            </a:extLst>
          </p:cNvPr>
          <p:cNvSpPr/>
          <p:nvPr/>
        </p:nvSpPr>
        <p:spPr>
          <a:xfrm>
            <a:off x="755576" y="3651870"/>
            <a:ext cx="3602268" cy="400110"/>
          </a:xfrm>
          <a:prstGeom prst="rect">
            <a:avLst/>
          </a:prstGeom>
        </p:spPr>
        <p:txBody>
          <a:bodyPr wrap="none">
            <a:spAutoFit/>
          </a:bodyPr>
          <a:lstStyle/>
          <a:p>
            <a:pPr marL="342900"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申请一个结点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并填入</a:t>
            </a:r>
            <a:r>
              <a:rPr lang="en-US" altLang="zh-CN" sz="2000" dirty="0">
                <a:latin typeface="微软雅黑" pitchFamily="34" charset="-122"/>
                <a:ea typeface="微软雅黑" pitchFamily="34" charset="-122"/>
                <a:cs typeface="经典粗黑简" pitchFamily="49" charset="-122"/>
              </a:rPr>
              <a:t>e</a:t>
            </a:r>
            <a:r>
              <a:rPr lang="zh-CN" altLang="en-US" sz="2000" dirty="0">
                <a:latin typeface="微软雅黑" pitchFamily="34" charset="-122"/>
                <a:ea typeface="微软雅黑" pitchFamily="34" charset="-122"/>
                <a:cs typeface="经典粗黑简" pitchFamily="49" charset="-122"/>
              </a:rPr>
              <a:t>值；</a:t>
            </a:r>
          </a:p>
        </p:txBody>
      </p:sp>
      <p:sp>
        <p:nvSpPr>
          <p:cNvPr id="6" name="Rectangle 5">
            <a:extLst>
              <a:ext uri="{FF2B5EF4-FFF2-40B4-BE49-F238E27FC236}">
                <a16:creationId xmlns:a16="http://schemas.microsoft.com/office/drawing/2014/main" id="{F99340AE-818E-5000-BF29-63E7B0C90361}"/>
              </a:ext>
            </a:extLst>
          </p:cNvPr>
          <p:cNvSpPr>
            <a:spLocks noChangeArrowheads="1"/>
          </p:cNvSpPr>
          <p:nvPr/>
        </p:nvSpPr>
        <p:spPr bwMode="auto">
          <a:xfrm>
            <a:off x="5465216" y="309841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2400" dirty="0"/>
              <a:t>  e </a:t>
            </a:r>
          </a:p>
        </p:txBody>
      </p:sp>
      <p:sp>
        <p:nvSpPr>
          <p:cNvPr id="7" name="Line 6">
            <a:extLst>
              <a:ext uri="{FF2B5EF4-FFF2-40B4-BE49-F238E27FC236}">
                <a16:creationId xmlns:a16="http://schemas.microsoft.com/office/drawing/2014/main" id="{2A92807D-FCF9-DABA-801D-CB2E70934C71}"/>
              </a:ext>
            </a:extLst>
          </p:cNvPr>
          <p:cNvSpPr>
            <a:spLocks noChangeShapeType="1"/>
          </p:cNvSpPr>
          <p:nvPr/>
        </p:nvSpPr>
        <p:spPr bwMode="auto">
          <a:xfrm>
            <a:off x="6077418" y="3112102"/>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Rectangle 55">
            <a:extLst>
              <a:ext uri="{FF2B5EF4-FFF2-40B4-BE49-F238E27FC236}">
                <a16:creationId xmlns:a16="http://schemas.microsoft.com/office/drawing/2014/main" id="{56A38268-CE93-DC95-9527-7BE7C8D70494}"/>
              </a:ext>
            </a:extLst>
          </p:cNvPr>
          <p:cNvSpPr>
            <a:spLocks noChangeArrowheads="1"/>
          </p:cNvSpPr>
          <p:nvPr/>
        </p:nvSpPr>
        <p:spPr bwMode="auto">
          <a:xfrm>
            <a:off x="4595074" y="314105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s</a:t>
            </a:r>
            <a:endParaRPr kumimoji="0" lang="zh-CN" altLang="en-US" sz="2400" dirty="0">
              <a:ea typeface="CFNEOP+TimesNewRoman" charset="-122"/>
            </a:endParaRPr>
          </a:p>
        </p:txBody>
      </p:sp>
      <p:sp>
        <p:nvSpPr>
          <p:cNvPr id="9" name="Line 29">
            <a:extLst>
              <a:ext uri="{FF2B5EF4-FFF2-40B4-BE49-F238E27FC236}">
                <a16:creationId xmlns:a16="http://schemas.microsoft.com/office/drawing/2014/main" id="{9B6F48F6-CFA0-2DCF-3BBE-537717D86266}"/>
              </a:ext>
            </a:extLst>
          </p:cNvPr>
          <p:cNvSpPr>
            <a:spLocks noChangeShapeType="1"/>
          </p:cNvSpPr>
          <p:nvPr/>
        </p:nvSpPr>
        <p:spPr bwMode="auto">
          <a:xfrm>
            <a:off x="4949508" y="3327981"/>
            <a:ext cx="515709" cy="510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55">
            <a:extLst>
              <a:ext uri="{FF2B5EF4-FFF2-40B4-BE49-F238E27FC236}">
                <a16:creationId xmlns:a16="http://schemas.microsoft.com/office/drawing/2014/main" id="{C6A88D9B-5134-EA9B-0D40-6CD2CEC7C8A8}"/>
              </a:ext>
            </a:extLst>
          </p:cNvPr>
          <p:cNvSpPr>
            <a:spLocks noChangeArrowheads="1"/>
          </p:cNvSpPr>
          <p:nvPr/>
        </p:nvSpPr>
        <p:spPr bwMode="auto">
          <a:xfrm>
            <a:off x="5094336" y="345544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11" name="Rectangle 40">
            <a:extLst>
              <a:ext uri="{FF2B5EF4-FFF2-40B4-BE49-F238E27FC236}">
                <a16:creationId xmlns:a16="http://schemas.microsoft.com/office/drawing/2014/main" id="{BE2D2B8B-1955-18C9-51ED-814A28BB3481}"/>
              </a:ext>
            </a:extLst>
          </p:cNvPr>
          <p:cNvSpPr>
            <a:spLocks noChangeArrowheads="1"/>
          </p:cNvSpPr>
          <p:nvPr/>
        </p:nvSpPr>
        <p:spPr bwMode="auto">
          <a:xfrm>
            <a:off x="755577" y="3956271"/>
            <a:ext cx="442846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15000"/>
              </a:spcBef>
              <a:buClr>
                <a:schemeClr val="bg1"/>
              </a:buClr>
              <a:buSzPct val="95000"/>
              <a:buFont typeface="Wingdings" pitchFamily="2" charset="2"/>
              <a:buNone/>
            </a:pPr>
            <a:r>
              <a:rPr lang="en-US" altLang="zh-CN" sz="2000" dirty="0">
                <a:latin typeface="微软雅黑" pitchFamily="34" charset="-122"/>
                <a:ea typeface="微软雅黑" pitchFamily="34" charset="-122"/>
                <a:cs typeface="经典粗黑简" pitchFamily="49" charset="-122"/>
              </a:rPr>
              <a:t>③</a:t>
            </a:r>
            <a:r>
              <a:rPr lang="zh-CN" altLang="en-US" sz="2000" dirty="0">
                <a:latin typeface="微软雅黑" pitchFamily="34" charset="-122"/>
                <a:ea typeface="微软雅黑" pitchFamily="34" charset="-122"/>
                <a:cs typeface="经典粗黑简" pitchFamily="49" charset="-122"/>
              </a:rPr>
              <a:t> 修改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的指针域指向</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的下一结点；</a:t>
            </a:r>
          </a:p>
        </p:txBody>
      </p:sp>
      <p:sp>
        <p:nvSpPr>
          <p:cNvPr id="12" name="矩形 11">
            <a:extLst>
              <a:ext uri="{FF2B5EF4-FFF2-40B4-BE49-F238E27FC236}">
                <a16:creationId xmlns:a16="http://schemas.microsoft.com/office/drawing/2014/main" id="{FA388F67-0465-06CE-6A69-F2BC1889D467}"/>
              </a:ext>
            </a:extLst>
          </p:cNvPr>
          <p:cNvSpPr/>
          <p:nvPr/>
        </p:nvSpPr>
        <p:spPr>
          <a:xfrm>
            <a:off x="1403189" y="4361756"/>
            <a:ext cx="2954655" cy="369332"/>
          </a:xfrm>
          <a:prstGeom prst="rect">
            <a:avLst/>
          </a:prstGeom>
        </p:spPr>
        <p:txBody>
          <a:bodyPr wrap="none">
            <a:spAutoFit/>
          </a:bodyPr>
          <a:lstStyle/>
          <a:p>
            <a:r>
              <a:rPr kumimoji="1" lang="en-US" altLang="zh-CN" dirty="0">
                <a:solidFill>
                  <a:srgbClr val="0000FF"/>
                </a:solidFill>
                <a:latin typeface="Consolas" pitchFamily="49" charset="0"/>
                <a:ea typeface="仿宋" pitchFamily="49" charset="-122"/>
                <a:cs typeface="Consolas" pitchFamily="49" charset="0"/>
              </a:rPr>
              <a:t>s-&gt;next = p-&gt;next; 	</a:t>
            </a:r>
            <a:endParaRPr kumimoji="1" lang="zh-CN" altLang="en-US" dirty="0">
              <a:solidFill>
                <a:srgbClr val="0000FF"/>
              </a:solidFill>
              <a:latin typeface="Consolas" pitchFamily="49" charset="0"/>
              <a:ea typeface="仿宋" pitchFamily="49" charset="-122"/>
              <a:cs typeface="Consolas" pitchFamily="49" charset="0"/>
            </a:endParaRPr>
          </a:p>
        </p:txBody>
      </p:sp>
      <p:cxnSp>
        <p:nvCxnSpPr>
          <p:cNvPr id="14" name="曲线连接符 56">
            <a:extLst>
              <a:ext uri="{FF2B5EF4-FFF2-40B4-BE49-F238E27FC236}">
                <a16:creationId xmlns:a16="http://schemas.microsoft.com/office/drawing/2014/main" id="{B3FB3E1E-BCC2-8CDC-99E2-9FA7B87A15C6}"/>
              </a:ext>
            </a:extLst>
          </p:cNvPr>
          <p:cNvCxnSpPr/>
          <p:nvPr/>
        </p:nvCxnSpPr>
        <p:spPr>
          <a:xfrm rot="5400000" flipH="1" flipV="1">
            <a:off x="5918900" y="3011612"/>
            <a:ext cx="639901" cy="79448"/>
          </a:xfrm>
          <a:prstGeom prst="curvedConnector3">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55">
            <a:extLst>
              <a:ext uri="{FF2B5EF4-FFF2-40B4-BE49-F238E27FC236}">
                <a16:creationId xmlns:a16="http://schemas.microsoft.com/office/drawing/2014/main" id="{30A21F82-72DD-3FA4-5FE2-D603B6F314F7}"/>
              </a:ext>
            </a:extLst>
          </p:cNvPr>
          <p:cNvSpPr>
            <a:spLocks noChangeArrowheads="1"/>
          </p:cNvSpPr>
          <p:nvPr/>
        </p:nvSpPr>
        <p:spPr bwMode="auto">
          <a:xfrm>
            <a:off x="6170381" y="277384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52" name="矩形 51">
            <a:extLst>
              <a:ext uri="{FF2B5EF4-FFF2-40B4-BE49-F238E27FC236}">
                <a16:creationId xmlns:a16="http://schemas.microsoft.com/office/drawing/2014/main" id="{4B637183-BF07-472F-B210-2855D95B0FB3}"/>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3987608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C6915-6228-E533-9774-42A8C5AE1EA7}"/>
            </a:ext>
          </a:extLst>
        </p:cNvPr>
        <p:cNvGrpSpPr/>
        <p:nvPr/>
      </p:nvGrpSpPr>
      <p:grpSpPr>
        <a:xfrm>
          <a:off x="0" y="0"/>
          <a:ext cx="0" cy="0"/>
          <a:chOff x="0" y="0"/>
          <a:chExt cx="0" cy="0"/>
        </a:xfrm>
      </p:grpSpPr>
      <p:sp>
        <p:nvSpPr>
          <p:cNvPr id="19" name="Rectangle 5">
            <a:extLst>
              <a:ext uri="{FF2B5EF4-FFF2-40B4-BE49-F238E27FC236}">
                <a16:creationId xmlns:a16="http://schemas.microsoft.com/office/drawing/2014/main" id="{59F8C20C-33F3-EE13-4C2B-20BEB57F3C25}"/>
              </a:ext>
            </a:extLst>
          </p:cNvPr>
          <p:cNvSpPr>
            <a:spLocks noChangeArrowheads="1"/>
          </p:cNvSpPr>
          <p:nvPr/>
        </p:nvSpPr>
        <p:spPr bwMode="auto">
          <a:xfrm>
            <a:off x="2108646" y="229963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20" name="Line 6">
            <a:extLst>
              <a:ext uri="{FF2B5EF4-FFF2-40B4-BE49-F238E27FC236}">
                <a16:creationId xmlns:a16="http://schemas.microsoft.com/office/drawing/2014/main" id="{5AF9986E-1163-651A-AB0E-01598B010B82}"/>
              </a:ext>
            </a:extLst>
          </p:cNvPr>
          <p:cNvSpPr>
            <a:spLocks noChangeShapeType="1"/>
          </p:cNvSpPr>
          <p:nvPr/>
        </p:nvSpPr>
        <p:spPr bwMode="auto">
          <a:xfrm>
            <a:off x="2642046"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Rectangle 25">
            <a:extLst>
              <a:ext uri="{FF2B5EF4-FFF2-40B4-BE49-F238E27FC236}">
                <a16:creationId xmlns:a16="http://schemas.microsoft.com/office/drawing/2014/main" id="{1F77741E-2D27-DA06-15B8-AF78BB2662F3}"/>
              </a:ext>
            </a:extLst>
          </p:cNvPr>
          <p:cNvSpPr>
            <a:spLocks noChangeArrowheads="1"/>
          </p:cNvSpPr>
          <p:nvPr/>
        </p:nvSpPr>
        <p:spPr bwMode="auto">
          <a:xfrm>
            <a:off x="4272531" y="237359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3" name="Rectangle 36">
            <a:extLst>
              <a:ext uri="{FF2B5EF4-FFF2-40B4-BE49-F238E27FC236}">
                <a16:creationId xmlns:a16="http://schemas.microsoft.com/office/drawing/2014/main" id="{D3C156C4-43EE-1F7F-B92B-A3DE1735EBE9}"/>
              </a:ext>
            </a:extLst>
          </p:cNvPr>
          <p:cNvSpPr>
            <a:spLocks noChangeArrowheads="1"/>
          </p:cNvSpPr>
          <p:nvPr/>
        </p:nvSpPr>
        <p:spPr bwMode="auto">
          <a:xfrm>
            <a:off x="7441525" y="2395597"/>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4" name="Rectangle 228">
            <a:extLst>
              <a:ext uri="{FF2B5EF4-FFF2-40B4-BE49-F238E27FC236}">
                <a16:creationId xmlns:a16="http://schemas.microsoft.com/office/drawing/2014/main" id="{2CFDED7F-E22F-2E7E-9F17-EE70ACA3FA43}"/>
              </a:ext>
            </a:extLst>
          </p:cNvPr>
          <p:cNvSpPr>
            <a:spLocks noChangeArrowheads="1"/>
          </p:cNvSpPr>
          <p:nvPr/>
        </p:nvSpPr>
        <p:spPr bwMode="auto">
          <a:xfrm>
            <a:off x="306393" y="233585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25" name="Line 29">
            <a:extLst>
              <a:ext uri="{FF2B5EF4-FFF2-40B4-BE49-F238E27FC236}">
                <a16:creationId xmlns:a16="http://schemas.microsoft.com/office/drawing/2014/main" id="{2572FA3C-822B-E823-0043-35F87C485E65}"/>
              </a:ext>
            </a:extLst>
          </p:cNvPr>
          <p:cNvSpPr>
            <a:spLocks noChangeShapeType="1"/>
          </p:cNvSpPr>
          <p:nvPr/>
        </p:nvSpPr>
        <p:spPr bwMode="auto">
          <a:xfrm>
            <a:off x="572038" y="252613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5">
            <a:extLst>
              <a:ext uri="{FF2B5EF4-FFF2-40B4-BE49-F238E27FC236}">
                <a16:creationId xmlns:a16="http://schemas.microsoft.com/office/drawing/2014/main" id="{3A55780B-9E8A-D546-D1D8-0F5B5B8AA283}"/>
              </a:ext>
            </a:extLst>
          </p:cNvPr>
          <p:cNvSpPr>
            <a:spLocks noChangeArrowheads="1"/>
          </p:cNvSpPr>
          <p:nvPr/>
        </p:nvSpPr>
        <p:spPr bwMode="auto">
          <a:xfrm>
            <a:off x="3284303" y="230500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27" name="Line 6">
            <a:extLst>
              <a:ext uri="{FF2B5EF4-FFF2-40B4-BE49-F238E27FC236}">
                <a16:creationId xmlns:a16="http://schemas.microsoft.com/office/drawing/2014/main" id="{FC04E113-1E55-9CAA-91F4-E0FA583B5DB0}"/>
              </a:ext>
            </a:extLst>
          </p:cNvPr>
          <p:cNvSpPr>
            <a:spLocks noChangeShapeType="1"/>
          </p:cNvSpPr>
          <p:nvPr/>
        </p:nvSpPr>
        <p:spPr bwMode="auto">
          <a:xfrm>
            <a:off x="3817703" y="230500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9">
            <a:extLst>
              <a:ext uri="{FF2B5EF4-FFF2-40B4-BE49-F238E27FC236}">
                <a16:creationId xmlns:a16="http://schemas.microsoft.com/office/drawing/2014/main" id="{CCE21C32-C813-C5CC-B4D6-D1425FCE609F}"/>
              </a:ext>
            </a:extLst>
          </p:cNvPr>
          <p:cNvSpPr>
            <a:spLocks noChangeShapeType="1"/>
          </p:cNvSpPr>
          <p:nvPr/>
        </p:nvSpPr>
        <p:spPr bwMode="auto">
          <a:xfrm>
            <a:off x="2903303"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Rectangle 5">
            <a:extLst>
              <a:ext uri="{FF2B5EF4-FFF2-40B4-BE49-F238E27FC236}">
                <a16:creationId xmlns:a16="http://schemas.microsoft.com/office/drawing/2014/main" id="{71CD9E0E-7AAB-5264-D5E1-C32981D36028}"/>
              </a:ext>
            </a:extLst>
          </p:cNvPr>
          <p:cNvSpPr>
            <a:spLocks noChangeArrowheads="1"/>
          </p:cNvSpPr>
          <p:nvPr/>
        </p:nvSpPr>
        <p:spPr bwMode="auto">
          <a:xfrm>
            <a:off x="4885814" y="2321632"/>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30" name="Line 6">
            <a:extLst>
              <a:ext uri="{FF2B5EF4-FFF2-40B4-BE49-F238E27FC236}">
                <a16:creationId xmlns:a16="http://schemas.microsoft.com/office/drawing/2014/main" id="{90F801EE-0BE0-2FBC-EA31-C15290C5617D}"/>
              </a:ext>
            </a:extLst>
          </p:cNvPr>
          <p:cNvSpPr>
            <a:spLocks noChangeShapeType="1"/>
          </p:cNvSpPr>
          <p:nvPr/>
        </p:nvSpPr>
        <p:spPr bwMode="auto">
          <a:xfrm>
            <a:off x="5622387" y="2316257"/>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9">
            <a:extLst>
              <a:ext uri="{FF2B5EF4-FFF2-40B4-BE49-F238E27FC236}">
                <a16:creationId xmlns:a16="http://schemas.microsoft.com/office/drawing/2014/main" id="{C8588203-F11C-618F-CF02-CBBDDBCB553D}"/>
              </a:ext>
            </a:extLst>
          </p:cNvPr>
          <p:cNvSpPr>
            <a:spLocks noChangeShapeType="1"/>
          </p:cNvSpPr>
          <p:nvPr/>
        </p:nvSpPr>
        <p:spPr bwMode="auto">
          <a:xfrm>
            <a:off x="4587464" y="2560335"/>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29">
            <a:extLst>
              <a:ext uri="{FF2B5EF4-FFF2-40B4-BE49-F238E27FC236}">
                <a16:creationId xmlns:a16="http://schemas.microsoft.com/office/drawing/2014/main" id="{2D402FD8-F59A-A121-043E-786136FF545B}"/>
              </a:ext>
            </a:extLst>
          </p:cNvPr>
          <p:cNvSpPr>
            <a:spLocks noChangeShapeType="1"/>
          </p:cNvSpPr>
          <p:nvPr/>
        </p:nvSpPr>
        <p:spPr bwMode="auto">
          <a:xfrm>
            <a:off x="4008203" y="2556491"/>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Rectangle 5">
            <a:extLst>
              <a:ext uri="{FF2B5EF4-FFF2-40B4-BE49-F238E27FC236}">
                <a16:creationId xmlns:a16="http://schemas.microsoft.com/office/drawing/2014/main" id="{257F2BA1-9C66-B5B0-A986-28B8582B97B6}"/>
              </a:ext>
            </a:extLst>
          </p:cNvPr>
          <p:cNvSpPr>
            <a:spLocks noChangeArrowheads="1"/>
          </p:cNvSpPr>
          <p:nvPr/>
        </p:nvSpPr>
        <p:spPr bwMode="auto">
          <a:xfrm>
            <a:off x="6278573" y="233346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200" dirty="0">
                <a:latin typeface="微软雅黑" pitchFamily="34" charset="-122"/>
                <a:ea typeface="微软雅黑" pitchFamily="34" charset="-122"/>
              </a:rPr>
              <a:t> </a:t>
            </a:r>
            <a:r>
              <a:rPr lang="en-US" altLang="zh-CN" sz="2400" dirty="0"/>
              <a:t>   </a:t>
            </a:r>
          </a:p>
        </p:txBody>
      </p:sp>
      <p:sp>
        <p:nvSpPr>
          <p:cNvPr id="34" name="Line 6">
            <a:extLst>
              <a:ext uri="{FF2B5EF4-FFF2-40B4-BE49-F238E27FC236}">
                <a16:creationId xmlns:a16="http://schemas.microsoft.com/office/drawing/2014/main" id="{97A952B4-F55D-08EA-A26F-DE495456502A}"/>
              </a:ext>
            </a:extLst>
          </p:cNvPr>
          <p:cNvSpPr>
            <a:spLocks noChangeShapeType="1"/>
          </p:cNvSpPr>
          <p:nvPr/>
        </p:nvSpPr>
        <p:spPr bwMode="auto">
          <a:xfrm>
            <a:off x="6811973" y="233346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9">
            <a:extLst>
              <a:ext uri="{FF2B5EF4-FFF2-40B4-BE49-F238E27FC236}">
                <a16:creationId xmlns:a16="http://schemas.microsoft.com/office/drawing/2014/main" id="{ED594C5F-B7F4-E154-FC01-5BF75B803BE4}"/>
              </a:ext>
            </a:extLst>
          </p:cNvPr>
          <p:cNvSpPr>
            <a:spLocks noChangeShapeType="1"/>
          </p:cNvSpPr>
          <p:nvPr/>
        </p:nvSpPr>
        <p:spPr bwMode="auto">
          <a:xfrm>
            <a:off x="5897573" y="258763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 name="Line 29">
            <a:extLst>
              <a:ext uri="{FF2B5EF4-FFF2-40B4-BE49-F238E27FC236}">
                <a16:creationId xmlns:a16="http://schemas.microsoft.com/office/drawing/2014/main" id="{D3297782-81E3-068B-DCCF-9ECB732B9EBB}"/>
              </a:ext>
            </a:extLst>
          </p:cNvPr>
          <p:cNvSpPr>
            <a:spLocks noChangeShapeType="1"/>
          </p:cNvSpPr>
          <p:nvPr/>
        </p:nvSpPr>
        <p:spPr bwMode="auto">
          <a:xfrm>
            <a:off x="7043281" y="258853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Rectangle 5">
            <a:extLst>
              <a:ext uri="{FF2B5EF4-FFF2-40B4-BE49-F238E27FC236}">
                <a16:creationId xmlns:a16="http://schemas.microsoft.com/office/drawing/2014/main" id="{B01D73BD-FC16-2691-1F09-29256E2AD4BB}"/>
              </a:ext>
            </a:extLst>
          </p:cNvPr>
          <p:cNvSpPr>
            <a:spLocks noChangeArrowheads="1"/>
          </p:cNvSpPr>
          <p:nvPr/>
        </p:nvSpPr>
        <p:spPr bwMode="auto">
          <a:xfrm>
            <a:off x="8157234" y="2348597"/>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600" baseline="-25000" dirty="0"/>
              <a:t> </a:t>
            </a:r>
            <a:r>
              <a:rPr lang="zh-CN" altLang="en-US" sz="2400" dirty="0"/>
              <a:t>^</a:t>
            </a:r>
            <a:r>
              <a:rPr lang="en-US" altLang="zh-CN" sz="2400" dirty="0"/>
              <a:t>  </a:t>
            </a:r>
          </a:p>
        </p:txBody>
      </p:sp>
      <p:sp>
        <p:nvSpPr>
          <p:cNvPr id="41" name="Line 6">
            <a:extLst>
              <a:ext uri="{FF2B5EF4-FFF2-40B4-BE49-F238E27FC236}">
                <a16:creationId xmlns:a16="http://schemas.microsoft.com/office/drawing/2014/main" id="{81D56BE1-6F7B-E9B9-D451-BDB0AA35D038}"/>
              </a:ext>
            </a:extLst>
          </p:cNvPr>
          <p:cNvSpPr>
            <a:spLocks noChangeShapeType="1"/>
          </p:cNvSpPr>
          <p:nvPr/>
        </p:nvSpPr>
        <p:spPr bwMode="auto">
          <a:xfrm>
            <a:off x="8690634" y="2348597"/>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9">
            <a:extLst>
              <a:ext uri="{FF2B5EF4-FFF2-40B4-BE49-F238E27FC236}">
                <a16:creationId xmlns:a16="http://schemas.microsoft.com/office/drawing/2014/main" id="{CF171D1D-413A-2B8D-611A-2D263D28AA39}"/>
              </a:ext>
            </a:extLst>
          </p:cNvPr>
          <p:cNvSpPr>
            <a:spLocks noChangeShapeType="1"/>
          </p:cNvSpPr>
          <p:nvPr/>
        </p:nvSpPr>
        <p:spPr bwMode="auto">
          <a:xfrm>
            <a:off x="7776234" y="260277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5">
            <a:extLst>
              <a:ext uri="{FF2B5EF4-FFF2-40B4-BE49-F238E27FC236}">
                <a16:creationId xmlns:a16="http://schemas.microsoft.com/office/drawing/2014/main" id="{F5D16250-CF4C-C18D-4078-5F8234122004}"/>
              </a:ext>
            </a:extLst>
          </p:cNvPr>
          <p:cNvSpPr>
            <a:spLocks noChangeArrowheads="1"/>
          </p:cNvSpPr>
          <p:nvPr/>
        </p:nvSpPr>
        <p:spPr bwMode="auto">
          <a:xfrm>
            <a:off x="953038" y="2299630"/>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44" name="Line 6">
            <a:extLst>
              <a:ext uri="{FF2B5EF4-FFF2-40B4-BE49-F238E27FC236}">
                <a16:creationId xmlns:a16="http://schemas.microsoft.com/office/drawing/2014/main" id="{DA07725D-0611-06E8-3924-26658546592D}"/>
              </a:ext>
            </a:extLst>
          </p:cNvPr>
          <p:cNvSpPr>
            <a:spLocks noChangeShapeType="1"/>
          </p:cNvSpPr>
          <p:nvPr/>
        </p:nvSpPr>
        <p:spPr bwMode="auto">
          <a:xfrm>
            <a:off x="1486438"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9">
            <a:extLst>
              <a:ext uri="{FF2B5EF4-FFF2-40B4-BE49-F238E27FC236}">
                <a16:creationId xmlns:a16="http://schemas.microsoft.com/office/drawing/2014/main" id="{C31A3F93-F092-BF66-76BE-4C7DE0565D43}"/>
              </a:ext>
            </a:extLst>
          </p:cNvPr>
          <p:cNvSpPr>
            <a:spLocks noChangeShapeType="1"/>
          </p:cNvSpPr>
          <p:nvPr/>
        </p:nvSpPr>
        <p:spPr bwMode="auto">
          <a:xfrm>
            <a:off x="1747695"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Rectangle 57">
            <a:extLst>
              <a:ext uri="{FF2B5EF4-FFF2-40B4-BE49-F238E27FC236}">
                <a16:creationId xmlns:a16="http://schemas.microsoft.com/office/drawing/2014/main" id="{FB51C2D3-94F5-9FD6-F2EB-409A78DD384F}"/>
              </a:ext>
            </a:extLst>
          </p:cNvPr>
          <p:cNvSpPr>
            <a:spLocks noChangeArrowheads="1"/>
          </p:cNvSpPr>
          <p:nvPr/>
        </p:nvSpPr>
        <p:spPr bwMode="auto">
          <a:xfrm>
            <a:off x="4768021" y="2753388"/>
            <a:ext cx="1013740"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j=i-1</a:t>
            </a:r>
            <a:endParaRPr kumimoji="0" lang="zh-CN" altLang="en-US" sz="2400" dirty="0">
              <a:ea typeface="Li Super" charset="-122"/>
            </a:endParaRPr>
          </a:p>
        </p:txBody>
      </p:sp>
      <p:sp>
        <p:nvSpPr>
          <p:cNvPr id="47" name="Rectangle 55">
            <a:extLst>
              <a:ext uri="{FF2B5EF4-FFF2-40B4-BE49-F238E27FC236}">
                <a16:creationId xmlns:a16="http://schemas.microsoft.com/office/drawing/2014/main" id="{7CE36561-CB00-DFE4-414B-0D4EBF0C6324}"/>
              </a:ext>
            </a:extLst>
          </p:cNvPr>
          <p:cNvSpPr>
            <a:spLocks noChangeArrowheads="1"/>
          </p:cNvSpPr>
          <p:nvPr/>
        </p:nvSpPr>
        <p:spPr bwMode="auto">
          <a:xfrm>
            <a:off x="4391445" y="165364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48" name="Line 29">
            <a:extLst>
              <a:ext uri="{FF2B5EF4-FFF2-40B4-BE49-F238E27FC236}">
                <a16:creationId xmlns:a16="http://schemas.microsoft.com/office/drawing/2014/main" id="{749EAE02-B258-D8FE-84D4-64BAD0138835}"/>
              </a:ext>
            </a:extLst>
          </p:cNvPr>
          <p:cNvSpPr>
            <a:spLocks noChangeShapeType="1"/>
          </p:cNvSpPr>
          <p:nvPr/>
        </p:nvSpPr>
        <p:spPr bwMode="auto">
          <a:xfrm>
            <a:off x="4587464" y="1959322"/>
            <a:ext cx="298351" cy="38513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Rectangle 55">
            <a:extLst>
              <a:ext uri="{FF2B5EF4-FFF2-40B4-BE49-F238E27FC236}">
                <a16:creationId xmlns:a16="http://schemas.microsoft.com/office/drawing/2014/main" id="{E03E9847-1D91-DAF1-2D32-CF2CA1962294}"/>
              </a:ext>
            </a:extLst>
          </p:cNvPr>
          <p:cNvSpPr>
            <a:spLocks noChangeArrowheads="1"/>
          </p:cNvSpPr>
          <p:nvPr/>
        </p:nvSpPr>
        <p:spPr bwMode="auto">
          <a:xfrm>
            <a:off x="4754444" y="19340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50" name="矩形 49">
            <a:extLst>
              <a:ext uri="{FF2B5EF4-FFF2-40B4-BE49-F238E27FC236}">
                <a16:creationId xmlns:a16="http://schemas.microsoft.com/office/drawing/2014/main" id="{0BDF75B7-5173-57D3-4477-83C58CDE9AA3}"/>
              </a:ext>
            </a:extLst>
          </p:cNvPr>
          <p:cNvSpPr/>
          <p:nvPr/>
        </p:nvSpPr>
        <p:spPr>
          <a:xfrm>
            <a:off x="323528" y="3057804"/>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51" name="矩形 50">
            <a:extLst>
              <a:ext uri="{FF2B5EF4-FFF2-40B4-BE49-F238E27FC236}">
                <a16:creationId xmlns:a16="http://schemas.microsoft.com/office/drawing/2014/main" id="{05C57611-5F3C-B73B-9BCA-568A14F29CFE}"/>
              </a:ext>
            </a:extLst>
          </p:cNvPr>
          <p:cNvSpPr/>
          <p:nvPr/>
        </p:nvSpPr>
        <p:spPr>
          <a:xfrm>
            <a:off x="761593" y="3381840"/>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55" name="Rectangle 57">
            <a:extLst>
              <a:ext uri="{FF2B5EF4-FFF2-40B4-BE49-F238E27FC236}">
                <a16:creationId xmlns:a16="http://schemas.microsoft.com/office/drawing/2014/main" id="{5E67393A-4DF7-4C4C-62CC-9691F91F698F}"/>
              </a:ext>
            </a:extLst>
          </p:cNvPr>
          <p:cNvSpPr>
            <a:spLocks noChangeArrowheads="1"/>
          </p:cNvSpPr>
          <p:nvPr/>
        </p:nvSpPr>
        <p:spPr bwMode="auto">
          <a:xfrm>
            <a:off x="885588" y="2731386"/>
            <a:ext cx="794434"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j=0</a:t>
            </a:r>
            <a:endParaRPr kumimoji="0" lang="zh-CN" altLang="en-US" sz="2400" dirty="0">
              <a:ea typeface="Li Super" charset="-122"/>
            </a:endParaRPr>
          </a:p>
        </p:txBody>
      </p:sp>
      <p:sp>
        <p:nvSpPr>
          <p:cNvPr id="56" name="Rectangle 55">
            <a:extLst>
              <a:ext uri="{FF2B5EF4-FFF2-40B4-BE49-F238E27FC236}">
                <a16:creationId xmlns:a16="http://schemas.microsoft.com/office/drawing/2014/main" id="{E8CF69AC-D2CA-AF75-2808-27222877D4AE}"/>
              </a:ext>
            </a:extLst>
          </p:cNvPr>
          <p:cNvSpPr>
            <a:spLocks noChangeArrowheads="1"/>
          </p:cNvSpPr>
          <p:nvPr/>
        </p:nvSpPr>
        <p:spPr bwMode="auto">
          <a:xfrm>
            <a:off x="306393" y="179400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57" name="Line 29">
            <a:extLst>
              <a:ext uri="{FF2B5EF4-FFF2-40B4-BE49-F238E27FC236}">
                <a16:creationId xmlns:a16="http://schemas.microsoft.com/office/drawing/2014/main" id="{9C48456E-1E9A-71EA-33BA-4A13D381C4AA}"/>
              </a:ext>
            </a:extLst>
          </p:cNvPr>
          <p:cNvSpPr>
            <a:spLocks noChangeShapeType="1"/>
          </p:cNvSpPr>
          <p:nvPr/>
        </p:nvSpPr>
        <p:spPr bwMode="auto">
          <a:xfrm>
            <a:off x="722811" y="2107271"/>
            <a:ext cx="252617" cy="19236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虚尾箭头 57">
            <a:extLst>
              <a:ext uri="{FF2B5EF4-FFF2-40B4-BE49-F238E27FC236}">
                <a16:creationId xmlns:a16="http://schemas.microsoft.com/office/drawing/2014/main" id="{8E65CAEC-C934-D19B-7739-5D6DEC5B2A28}"/>
              </a:ext>
            </a:extLst>
          </p:cNvPr>
          <p:cNvSpPr/>
          <p:nvPr/>
        </p:nvSpPr>
        <p:spPr>
          <a:xfrm>
            <a:off x="1410238" y="2051151"/>
            <a:ext cx="3177226" cy="229357"/>
          </a:xfrm>
          <a:prstGeom prst="striped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3B93BA29-7F45-98C0-B38B-CA5FFBE83ACF}"/>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FE1D2D63-1622-F14F-63B3-994EFBEB37E6}"/>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4" name="矩形 3">
            <a:extLst>
              <a:ext uri="{FF2B5EF4-FFF2-40B4-BE49-F238E27FC236}">
                <a16:creationId xmlns:a16="http://schemas.microsoft.com/office/drawing/2014/main" id="{D91631A6-0554-9FCF-4A32-49261A338FAA}"/>
              </a:ext>
            </a:extLst>
          </p:cNvPr>
          <p:cNvSpPr/>
          <p:nvPr/>
        </p:nvSpPr>
        <p:spPr>
          <a:xfrm>
            <a:off x="1090565" y="1514431"/>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⑧</a:t>
            </a:r>
            <a:r>
              <a:rPr lang="zh-CN" altLang="en-US" sz="2000" dirty="0">
                <a:latin typeface="微软雅黑" pitchFamily="34" charset="-122"/>
                <a:ea typeface="微软雅黑" pitchFamily="34" charset="-122"/>
                <a:cs typeface="经典粗黑简" pitchFamily="49" charset="-122"/>
              </a:rPr>
              <a:t>插入操作</a:t>
            </a:r>
          </a:p>
        </p:txBody>
      </p:sp>
      <p:sp>
        <p:nvSpPr>
          <p:cNvPr id="5" name="矩形 4">
            <a:extLst>
              <a:ext uri="{FF2B5EF4-FFF2-40B4-BE49-F238E27FC236}">
                <a16:creationId xmlns:a16="http://schemas.microsoft.com/office/drawing/2014/main" id="{8F9EE9B5-E713-86E5-9D2C-AEC61E066FC0}"/>
              </a:ext>
            </a:extLst>
          </p:cNvPr>
          <p:cNvSpPr/>
          <p:nvPr/>
        </p:nvSpPr>
        <p:spPr>
          <a:xfrm>
            <a:off x="755576" y="3651870"/>
            <a:ext cx="3602268" cy="400110"/>
          </a:xfrm>
          <a:prstGeom prst="rect">
            <a:avLst/>
          </a:prstGeom>
        </p:spPr>
        <p:txBody>
          <a:bodyPr wrap="none">
            <a:spAutoFit/>
          </a:bodyPr>
          <a:lstStyle/>
          <a:p>
            <a:pPr marL="342900"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申请一个结点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并填入</a:t>
            </a:r>
            <a:r>
              <a:rPr lang="en-US" altLang="zh-CN" sz="2000" dirty="0">
                <a:latin typeface="微软雅黑" pitchFamily="34" charset="-122"/>
                <a:ea typeface="微软雅黑" pitchFamily="34" charset="-122"/>
                <a:cs typeface="经典粗黑简" pitchFamily="49" charset="-122"/>
              </a:rPr>
              <a:t>e</a:t>
            </a:r>
            <a:r>
              <a:rPr lang="zh-CN" altLang="en-US" sz="2000" dirty="0">
                <a:latin typeface="微软雅黑" pitchFamily="34" charset="-122"/>
                <a:ea typeface="微软雅黑" pitchFamily="34" charset="-122"/>
                <a:cs typeface="经典粗黑简" pitchFamily="49" charset="-122"/>
              </a:rPr>
              <a:t>值；</a:t>
            </a:r>
          </a:p>
        </p:txBody>
      </p:sp>
      <p:sp>
        <p:nvSpPr>
          <p:cNvPr id="6" name="Rectangle 5">
            <a:extLst>
              <a:ext uri="{FF2B5EF4-FFF2-40B4-BE49-F238E27FC236}">
                <a16:creationId xmlns:a16="http://schemas.microsoft.com/office/drawing/2014/main" id="{7E6C77A4-CC75-245F-CC7F-E8C7EA98A93D}"/>
              </a:ext>
            </a:extLst>
          </p:cNvPr>
          <p:cNvSpPr>
            <a:spLocks noChangeArrowheads="1"/>
          </p:cNvSpPr>
          <p:nvPr/>
        </p:nvSpPr>
        <p:spPr bwMode="auto">
          <a:xfrm>
            <a:off x="5465216" y="309841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2400" dirty="0"/>
              <a:t>  e </a:t>
            </a:r>
          </a:p>
        </p:txBody>
      </p:sp>
      <p:sp>
        <p:nvSpPr>
          <p:cNvPr id="7" name="Line 6">
            <a:extLst>
              <a:ext uri="{FF2B5EF4-FFF2-40B4-BE49-F238E27FC236}">
                <a16:creationId xmlns:a16="http://schemas.microsoft.com/office/drawing/2014/main" id="{D5850766-61AE-A459-0267-50D73AC8C619}"/>
              </a:ext>
            </a:extLst>
          </p:cNvPr>
          <p:cNvSpPr>
            <a:spLocks noChangeShapeType="1"/>
          </p:cNvSpPr>
          <p:nvPr/>
        </p:nvSpPr>
        <p:spPr bwMode="auto">
          <a:xfrm>
            <a:off x="6077418" y="3112102"/>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Rectangle 55">
            <a:extLst>
              <a:ext uri="{FF2B5EF4-FFF2-40B4-BE49-F238E27FC236}">
                <a16:creationId xmlns:a16="http://schemas.microsoft.com/office/drawing/2014/main" id="{6A620E07-6B62-64AC-7825-E24D7527598A}"/>
              </a:ext>
            </a:extLst>
          </p:cNvPr>
          <p:cNvSpPr>
            <a:spLocks noChangeArrowheads="1"/>
          </p:cNvSpPr>
          <p:nvPr/>
        </p:nvSpPr>
        <p:spPr bwMode="auto">
          <a:xfrm>
            <a:off x="4595074" y="314105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s</a:t>
            </a:r>
            <a:endParaRPr kumimoji="0" lang="zh-CN" altLang="en-US" sz="2400" dirty="0">
              <a:ea typeface="CFNEOP+TimesNewRoman" charset="-122"/>
            </a:endParaRPr>
          </a:p>
        </p:txBody>
      </p:sp>
      <p:sp>
        <p:nvSpPr>
          <p:cNvPr id="9" name="Line 29">
            <a:extLst>
              <a:ext uri="{FF2B5EF4-FFF2-40B4-BE49-F238E27FC236}">
                <a16:creationId xmlns:a16="http://schemas.microsoft.com/office/drawing/2014/main" id="{9DBAC9C8-6691-053D-55B4-29C9164676C6}"/>
              </a:ext>
            </a:extLst>
          </p:cNvPr>
          <p:cNvSpPr>
            <a:spLocks noChangeShapeType="1"/>
          </p:cNvSpPr>
          <p:nvPr/>
        </p:nvSpPr>
        <p:spPr bwMode="auto">
          <a:xfrm>
            <a:off x="4949508" y="3327981"/>
            <a:ext cx="515709" cy="510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55">
            <a:extLst>
              <a:ext uri="{FF2B5EF4-FFF2-40B4-BE49-F238E27FC236}">
                <a16:creationId xmlns:a16="http://schemas.microsoft.com/office/drawing/2014/main" id="{115EDB0F-06B0-36F9-0E71-41A5C276BA2D}"/>
              </a:ext>
            </a:extLst>
          </p:cNvPr>
          <p:cNvSpPr>
            <a:spLocks noChangeArrowheads="1"/>
          </p:cNvSpPr>
          <p:nvPr/>
        </p:nvSpPr>
        <p:spPr bwMode="auto">
          <a:xfrm>
            <a:off x="5094336" y="345544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11" name="Rectangle 40">
            <a:extLst>
              <a:ext uri="{FF2B5EF4-FFF2-40B4-BE49-F238E27FC236}">
                <a16:creationId xmlns:a16="http://schemas.microsoft.com/office/drawing/2014/main" id="{3409F2AC-9ED5-8239-E2DF-C1258A56B03D}"/>
              </a:ext>
            </a:extLst>
          </p:cNvPr>
          <p:cNvSpPr>
            <a:spLocks noChangeArrowheads="1"/>
          </p:cNvSpPr>
          <p:nvPr/>
        </p:nvSpPr>
        <p:spPr bwMode="auto">
          <a:xfrm>
            <a:off x="755577" y="3956271"/>
            <a:ext cx="442846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15000"/>
              </a:spcBef>
              <a:buClr>
                <a:schemeClr val="bg1"/>
              </a:buClr>
              <a:buSzPct val="95000"/>
              <a:buFont typeface="Wingdings" pitchFamily="2" charset="2"/>
              <a:buNone/>
            </a:pPr>
            <a:r>
              <a:rPr lang="en-US" altLang="zh-CN" sz="2000" dirty="0">
                <a:latin typeface="微软雅黑" pitchFamily="34" charset="-122"/>
                <a:ea typeface="微软雅黑" pitchFamily="34" charset="-122"/>
                <a:cs typeface="经典粗黑简" pitchFamily="49" charset="-122"/>
              </a:rPr>
              <a:t>③</a:t>
            </a:r>
            <a:r>
              <a:rPr lang="zh-CN" altLang="en-US" sz="2000" dirty="0">
                <a:latin typeface="微软雅黑" pitchFamily="34" charset="-122"/>
                <a:ea typeface="微软雅黑" pitchFamily="34" charset="-122"/>
                <a:cs typeface="经典粗黑简" pitchFamily="49" charset="-122"/>
              </a:rPr>
              <a:t> 修改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的指针域指向</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的下一结点；</a:t>
            </a:r>
          </a:p>
        </p:txBody>
      </p:sp>
      <p:cxnSp>
        <p:nvCxnSpPr>
          <p:cNvPr id="14" name="曲线连接符 56">
            <a:extLst>
              <a:ext uri="{FF2B5EF4-FFF2-40B4-BE49-F238E27FC236}">
                <a16:creationId xmlns:a16="http://schemas.microsoft.com/office/drawing/2014/main" id="{D480063F-ACDC-0606-D923-3C8763942193}"/>
              </a:ext>
            </a:extLst>
          </p:cNvPr>
          <p:cNvCxnSpPr/>
          <p:nvPr/>
        </p:nvCxnSpPr>
        <p:spPr>
          <a:xfrm rot="5400000" flipH="1" flipV="1">
            <a:off x="5918900" y="3011612"/>
            <a:ext cx="639901" cy="79448"/>
          </a:xfrm>
          <a:prstGeom prst="curvedConnector3">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55">
            <a:extLst>
              <a:ext uri="{FF2B5EF4-FFF2-40B4-BE49-F238E27FC236}">
                <a16:creationId xmlns:a16="http://schemas.microsoft.com/office/drawing/2014/main" id="{8380C85C-3BCD-F02E-EC1F-D109B0DE9266}"/>
              </a:ext>
            </a:extLst>
          </p:cNvPr>
          <p:cNvSpPr>
            <a:spLocks noChangeArrowheads="1"/>
          </p:cNvSpPr>
          <p:nvPr/>
        </p:nvSpPr>
        <p:spPr bwMode="auto">
          <a:xfrm>
            <a:off x="6170381" y="277384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3" name="Rectangle 45">
            <a:extLst>
              <a:ext uri="{FF2B5EF4-FFF2-40B4-BE49-F238E27FC236}">
                <a16:creationId xmlns:a16="http://schemas.microsoft.com/office/drawing/2014/main" id="{B5FA4D1C-D943-6864-16D0-D8007F3F1614}"/>
              </a:ext>
            </a:extLst>
          </p:cNvPr>
          <p:cNvSpPr>
            <a:spLocks noChangeArrowheads="1"/>
          </p:cNvSpPr>
          <p:nvPr/>
        </p:nvSpPr>
        <p:spPr bwMode="auto">
          <a:xfrm>
            <a:off x="755576" y="4245936"/>
            <a:ext cx="4170606"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15000"/>
              </a:spcBef>
              <a:buClr>
                <a:schemeClr val="bg1"/>
              </a:buClr>
              <a:buSzPct val="95000"/>
              <a:buFont typeface="Wingdings" pitchFamily="2" charset="2"/>
              <a:buNone/>
            </a:pPr>
            <a:r>
              <a:rPr lang="en-US" altLang="zh-CN" sz="2000" dirty="0">
                <a:latin typeface="微软雅黑" pitchFamily="34" charset="-122"/>
                <a:ea typeface="微软雅黑" pitchFamily="34" charset="-122"/>
                <a:cs typeface="经典粗黑简" pitchFamily="49" charset="-122"/>
              </a:rPr>
              <a:t>④ </a:t>
            </a:r>
            <a:r>
              <a:rPr lang="zh-CN" altLang="en-US" sz="2000" dirty="0">
                <a:latin typeface="微软雅黑" pitchFamily="34" charset="-122"/>
                <a:ea typeface="微软雅黑" pitchFamily="34" charset="-122"/>
                <a:cs typeface="经典粗黑简" pitchFamily="49" charset="-122"/>
              </a:rPr>
              <a:t>修改</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的指针域指向</a:t>
            </a:r>
            <a:r>
              <a:rPr lang="en-US" altLang="zh-CN" sz="2000" dirty="0">
                <a:latin typeface="微软雅黑" pitchFamily="34" charset="-122"/>
                <a:ea typeface="微软雅黑" pitchFamily="34" charset="-122"/>
                <a:cs typeface="经典粗黑简" pitchFamily="49" charset="-122"/>
              </a:rPr>
              <a:t>s。</a:t>
            </a:r>
            <a:endParaRPr lang="zh-CN" altLang="en-US" sz="2000" dirty="0">
              <a:latin typeface="微软雅黑" pitchFamily="34" charset="-122"/>
              <a:ea typeface="微软雅黑" pitchFamily="34" charset="-122"/>
              <a:cs typeface="经典粗黑简" pitchFamily="49" charset="-122"/>
            </a:endParaRPr>
          </a:p>
        </p:txBody>
      </p:sp>
      <p:sp>
        <p:nvSpPr>
          <p:cNvPr id="16" name="矩形 15">
            <a:extLst>
              <a:ext uri="{FF2B5EF4-FFF2-40B4-BE49-F238E27FC236}">
                <a16:creationId xmlns:a16="http://schemas.microsoft.com/office/drawing/2014/main" id="{30FA8171-5ACB-2C5E-8F30-1E6B9B72A512}"/>
              </a:ext>
            </a:extLst>
          </p:cNvPr>
          <p:cNvSpPr/>
          <p:nvPr/>
        </p:nvSpPr>
        <p:spPr>
          <a:xfrm>
            <a:off x="3980836" y="4245936"/>
            <a:ext cx="2031325" cy="461665"/>
          </a:xfrm>
          <a:prstGeom prst="rect">
            <a:avLst/>
          </a:prstGeom>
        </p:spPr>
        <p:txBody>
          <a:bodyPr wrap="none">
            <a:spAutoFit/>
          </a:bodyPr>
          <a:lstStyle/>
          <a:p>
            <a:r>
              <a:rPr lang="zh-CN" altLang="en-US" b="1" dirty="0"/>
              <a:t> </a:t>
            </a:r>
            <a:r>
              <a:rPr kumimoji="1" lang="en-US" altLang="zh-CN" dirty="0">
                <a:solidFill>
                  <a:srgbClr val="0000FF"/>
                </a:solidFill>
                <a:latin typeface="Consolas" pitchFamily="49" charset="0"/>
                <a:ea typeface="仿宋" pitchFamily="49" charset="-122"/>
                <a:cs typeface="Consolas" pitchFamily="49" charset="0"/>
              </a:rPr>
              <a:t>p-&gt;next = s; </a:t>
            </a:r>
            <a:r>
              <a:rPr lang="en-US" altLang="zh-CN" sz="2400" dirty="0">
                <a:latin typeface="Times New Roman" pitchFamily="18" charset="0"/>
                <a:ea typeface="宋体" pitchFamily="2" charset="-122"/>
              </a:rPr>
              <a:t>	</a:t>
            </a:r>
            <a:endParaRPr lang="zh-CN" altLang="en-US" sz="2400" dirty="0">
              <a:latin typeface="Times New Roman" pitchFamily="18" charset="0"/>
              <a:ea typeface="宋体" pitchFamily="2" charset="-122"/>
            </a:endParaRPr>
          </a:p>
        </p:txBody>
      </p:sp>
      <p:sp>
        <p:nvSpPr>
          <p:cNvPr id="17" name="Line 29">
            <a:extLst>
              <a:ext uri="{FF2B5EF4-FFF2-40B4-BE49-F238E27FC236}">
                <a16:creationId xmlns:a16="http://schemas.microsoft.com/office/drawing/2014/main" id="{5AFEEBA1-8664-0F02-D766-13F8B730A4D8}"/>
              </a:ext>
            </a:extLst>
          </p:cNvPr>
          <p:cNvSpPr>
            <a:spLocks noChangeShapeType="1"/>
          </p:cNvSpPr>
          <p:nvPr/>
        </p:nvSpPr>
        <p:spPr bwMode="auto">
          <a:xfrm>
            <a:off x="5781762" y="2588535"/>
            <a:ext cx="1" cy="64046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Rectangle 55">
            <a:extLst>
              <a:ext uri="{FF2B5EF4-FFF2-40B4-BE49-F238E27FC236}">
                <a16:creationId xmlns:a16="http://schemas.microsoft.com/office/drawing/2014/main" id="{0797A45B-AEE3-510B-F5A7-FA5A3F9A852E}"/>
              </a:ext>
            </a:extLst>
          </p:cNvPr>
          <p:cNvSpPr>
            <a:spLocks noChangeArrowheads="1"/>
          </p:cNvSpPr>
          <p:nvPr/>
        </p:nvSpPr>
        <p:spPr bwMode="auto">
          <a:xfrm>
            <a:off x="5536464" y="230172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④</a:t>
            </a:r>
            <a:endParaRPr kumimoji="0" lang="zh-CN" altLang="en-US" sz="2400" dirty="0">
              <a:solidFill>
                <a:srgbClr val="FF0000"/>
              </a:solidFill>
              <a:ea typeface="CFNEOP+TimesNewRoman" charset="-122"/>
            </a:endParaRPr>
          </a:p>
        </p:txBody>
      </p:sp>
      <p:sp>
        <p:nvSpPr>
          <p:cNvPr id="22" name="Rectangle 55">
            <a:extLst>
              <a:ext uri="{FF2B5EF4-FFF2-40B4-BE49-F238E27FC236}">
                <a16:creationId xmlns:a16="http://schemas.microsoft.com/office/drawing/2014/main" id="{6609318B-2D21-C767-B691-1629CEBA3857}"/>
              </a:ext>
            </a:extLst>
          </p:cNvPr>
          <p:cNvSpPr>
            <a:spLocks noChangeArrowheads="1"/>
          </p:cNvSpPr>
          <p:nvPr/>
        </p:nvSpPr>
        <p:spPr bwMode="auto">
          <a:xfrm>
            <a:off x="5868145" y="2387021"/>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Ⅹ</a:t>
            </a:r>
            <a:endParaRPr kumimoji="0" lang="zh-CN" altLang="en-US" sz="2400" dirty="0">
              <a:solidFill>
                <a:srgbClr val="FF0000"/>
              </a:solidFill>
              <a:ea typeface="CFNEOP+TimesNewRoman" charset="-122"/>
            </a:endParaRPr>
          </a:p>
        </p:txBody>
      </p:sp>
      <p:sp>
        <p:nvSpPr>
          <p:cNvPr id="53" name="矩形 52">
            <a:extLst>
              <a:ext uri="{FF2B5EF4-FFF2-40B4-BE49-F238E27FC236}">
                <a16:creationId xmlns:a16="http://schemas.microsoft.com/office/drawing/2014/main" id="{F52F6DE7-3006-4AA2-BA95-6583D74A7836}"/>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2738674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705F9-FC16-52F6-BFC2-6C6ECFEA2777}"/>
            </a:ext>
          </a:extLst>
        </p:cNvPr>
        <p:cNvGrpSpPr/>
        <p:nvPr/>
      </p:nvGrpSpPr>
      <p:grpSpPr>
        <a:xfrm>
          <a:off x="0" y="0"/>
          <a:ext cx="0" cy="0"/>
          <a:chOff x="0" y="0"/>
          <a:chExt cx="0" cy="0"/>
        </a:xfrm>
      </p:grpSpPr>
      <p:sp>
        <p:nvSpPr>
          <p:cNvPr id="19" name="Rectangle 5">
            <a:extLst>
              <a:ext uri="{FF2B5EF4-FFF2-40B4-BE49-F238E27FC236}">
                <a16:creationId xmlns:a16="http://schemas.microsoft.com/office/drawing/2014/main" id="{17056AF8-8122-983B-7515-301F8CA1BD45}"/>
              </a:ext>
            </a:extLst>
          </p:cNvPr>
          <p:cNvSpPr>
            <a:spLocks noChangeArrowheads="1"/>
          </p:cNvSpPr>
          <p:nvPr/>
        </p:nvSpPr>
        <p:spPr bwMode="auto">
          <a:xfrm>
            <a:off x="2108646" y="229963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20" name="Line 6">
            <a:extLst>
              <a:ext uri="{FF2B5EF4-FFF2-40B4-BE49-F238E27FC236}">
                <a16:creationId xmlns:a16="http://schemas.microsoft.com/office/drawing/2014/main" id="{510E3BDD-F93F-2538-5722-C9CE4E3B7705}"/>
              </a:ext>
            </a:extLst>
          </p:cNvPr>
          <p:cNvSpPr>
            <a:spLocks noChangeShapeType="1"/>
          </p:cNvSpPr>
          <p:nvPr/>
        </p:nvSpPr>
        <p:spPr bwMode="auto">
          <a:xfrm>
            <a:off x="2642046"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Rectangle 25">
            <a:extLst>
              <a:ext uri="{FF2B5EF4-FFF2-40B4-BE49-F238E27FC236}">
                <a16:creationId xmlns:a16="http://schemas.microsoft.com/office/drawing/2014/main" id="{E8F9CAD4-1AE6-3F63-F315-64DE53EB008F}"/>
              </a:ext>
            </a:extLst>
          </p:cNvPr>
          <p:cNvSpPr>
            <a:spLocks noChangeArrowheads="1"/>
          </p:cNvSpPr>
          <p:nvPr/>
        </p:nvSpPr>
        <p:spPr bwMode="auto">
          <a:xfrm>
            <a:off x="4272531" y="237359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3" name="Rectangle 36">
            <a:extLst>
              <a:ext uri="{FF2B5EF4-FFF2-40B4-BE49-F238E27FC236}">
                <a16:creationId xmlns:a16="http://schemas.microsoft.com/office/drawing/2014/main" id="{3D3A2D77-4776-4CFD-8606-CE44857FA8A5}"/>
              </a:ext>
            </a:extLst>
          </p:cNvPr>
          <p:cNvSpPr>
            <a:spLocks noChangeArrowheads="1"/>
          </p:cNvSpPr>
          <p:nvPr/>
        </p:nvSpPr>
        <p:spPr bwMode="auto">
          <a:xfrm>
            <a:off x="7441525" y="2395597"/>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4" name="Rectangle 228">
            <a:extLst>
              <a:ext uri="{FF2B5EF4-FFF2-40B4-BE49-F238E27FC236}">
                <a16:creationId xmlns:a16="http://schemas.microsoft.com/office/drawing/2014/main" id="{47FB42C0-1703-C81A-D732-3D75C6EF78D1}"/>
              </a:ext>
            </a:extLst>
          </p:cNvPr>
          <p:cNvSpPr>
            <a:spLocks noChangeArrowheads="1"/>
          </p:cNvSpPr>
          <p:nvPr/>
        </p:nvSpPr>
        <p:spPr bwMode="auto">
          <a:xfrm>
            <a:off x="306393" y="233585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25" name="Line 29">
            <a:extLst>
              <a:ext uri="{FF2B5EF4-FFF2-40B4-BE49-F238E27FC236}">
                <a16:creationId xmlns:a16="http://schemas.microsoft.com/office/drawing/2014/main" id="{02B61553-0E71-B30E-0168-DE86AF0F8ED8}"/>
              </a:ext>
            </a:extLst>
          </p:cNvPr>
          <p:cNvSpPr>
            <a:spLocks noChangeShapeType="1"/>
          </p:cNvSpPr>
          <p:nvPr/>
        </p:nvSpPr>
        <p:spPr bwMode="auto">
          <a:xfrm>
            <a:off x="572038" y="252613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5">
            <a:extLst>
              <a:ext uri="{FF2B5EF4-FFF2-40B4-BE49-F238E27FC236}">
                <a16:creationId xmlns:a16="http://schemas.microsoft.com/office/drawing/2014/main" id="{61C87B30-D7C6-D20D-A1F4-BA4E7941B28A}"/>
              </a:ext>
            </a:extLst>
          </p:cNvPr>
          <p:cNvSpPr>
            <a:spLocks noChangeArrowheads="1"/>
          </p:cNvSpPr>
          <p:nvPr/>
        </p:nvSpPr>
        <p:spPr bwMode="auto">
          <a:xfrm>
            <a:off x="3284303" y="230500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27" name="Line 6">
            <a:extLst>
              <a:ext uri="{FF2B5EF4-FFF2-40B4-BE49-F238E27FC236}">
                <a16:creationId xmlns:a16="http://schemas.microsoft.com/office/drawing/2014/main" id="{FCDED90D-0342-155A-1264-4FECF483255D}"/>
              </a:ext>
            </a:extLst>
          </p:cNvPr>
          <p:cNvSpPr>
            <a:spLocks noChangeShapeType="1"/>
          </p:cNvSpPr>
          <p:nvPr/>
        </p:nvSpPr>
        <p:spPr bwMode="auto">
          <a:xfrm>
            <a:off x="3817703" y="230500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9">
            <a:extLst>
              <a:ext uri="{FF2B5EF4-FFF2-40B4-BE49-F238E27FC236}">
                <a16:creationId xmlns:a16="http://schemas.microsoft.com/office/drawing/2014/main" id="{499366F1-6F06-BE05-31A0-64AE303569CA}"/>
              </a:ext>
            </a:extLst>
          </p:cNvPr>
          <p:cNvSpPr>
            <a:spLocks noChangeShapeType="1"/>
          </p:cNvSpPr>
          <p:nvPr/>
        </p:nvSpPr>
        <p:spPr bwMode="auto">
          <a:xfrm>
            <a:off x="2903303"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Rectangle 5">
            <a:extLst>
              <a:ext uri="{FF2B5EF4-FFF2-40B4-BE49-F238E27FC236}">
                <a16:creationId xmlns:a16="http://schemas.microsoft.com/office/drawing/2014/main" id="{893E46CC-F607-D181-C9BC-0DC5E9A26CEA}"/>
              </a:ext>
            </a:extLst>
          </p:cNvPr>
          <p:cNvSpPr>
            <a:spLocks noChangeArrowheads="1"/>
          </p:cNvSpPr>
          <p:nvPr/>
        </p:nvSpPr>
        <p:spPr bwMode="auto">
          <a:xfrm>
            <a:off x="4885814" y="2321632"/>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30" name="Line 6">
            <a:extLst>
              <a:ext uri="{FF2B5EF4-FFF2-40B4-BE49-F238E27FC236}">
                <a16:creationId xmlns:a16="http://schemas.microsoft.com/office/drawing/2014/main" id="{E4B6FE4F-ED06-F065-9DFC-65ACBCAB99F8}"/>
              </a:ext>
            </a:extLst>
          </p:cNvPr>
          <p:cNvSpPr>
            <a:spLocks noChangeShapeType="1"/>
          </p:cNvSpPr>
          <p:nvPr/>
        </p:nvSpPr>
        <p:spPr bwMode="auto">
          <a:xfrm>
            <a:off x="5622387" y="2316257"/>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9">
            <a:extLst>
              <a:ext uri="{FF2B5EF4-FFF2-40B4-BE49-F238E27FC236}">
                <a16:creationId xmlns:a16="http://schemas.microsoft.com/office/drawing/2014/main" id="{407992EE-745E-F0C9-9378-F439009EBF29}"/>
              </a:ext>
            </a:extLst>
          </p:cNvPr>
          <p:cNvSpPr>
            <a:spLocks noChangeShapeType="1"/>
          </p:cNvSpPr>
          <p:nvPr/>
        </p:nvSpPr>
        <p:spPr bwMode="auto">
          <a:xfrm>
            <a:off x="4587464" y="2560335"/>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29">
            <a:extLst>
              <a:ext uri="{FF2B5EF4-FFF2-40B4-BE49-F238E27FC236}">
                <a16:creationId xmlns:a16="http://schemas.microsoft.com/office/drawing/2014/main" id="{38A1BB10-7E35-5049-9F1B-3F3489E2788C}"/>
              </a:ext>
            </a:extLst>
          </p:cNvPr>
          <p:cNvSpPr>
            <a:spLocks noChangeShapeType="1"/>
          </p:cNvSpPr>
          <p:nvPr/>
        </p:nvSpPr>
        <p:spPr bwMode="auto">
          <a:xfrm>
            <a:off x="4008203" y="2556491"/>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Rectangle 5">
            <a:extLst>
              <a:ext uri="{FF2B5EF4-FFF2-40B4-BE49-F238E27FC236}">
                <a16:creationId xmlns:a16="http://schemas.microsoft.com/office/drawing/2014/main" id="{52C19052-3A76-58B8-CD20-DC377AF229A6}"/>
              </a:ext>
            </a:extLst>
          </p:cNvPr>
          <p:cNvSpPr>
            <a:spLocks noChangeArrowheads="1"/>
          </p:cNvSpPr>
          <p:nvPr/>
        </p:nvSpPr>
        <p:spPr bwMode="auto">
          <a:xfrm>
            <a:off x="6278573" y="233346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200" dirty="0">
                <a:latin typeface="微软雅黑" pitchFamily="34" charset="-122"/>
                <a:ea typeface="微软雅黑" pitchFamily="34" charset="-122"/>
              </a:rPr>
              <a:t> </a:t>
            </a:r>
            <a:r>
              <a:rPr lang="en-US" altLang="zh-CN" sz="2400" dirty="0"/>
              <a:t>   </a:t>
            </a:r>
          </a:p>
        </p:txBody>
      </p:sp>
      <p:sp>
        <p:nvSpPr>
          <p:cNvPr id="34" name="Line 6">
            <a:extLst>
              <a:ext uri="{FF2B5EF4-FFF2-40B4-BE49-F238E27FC236}">
                <a16:creationId xmlns:a16="http://schemas.microsoft.com/office/drawing/2014/main" id="{CEE53820-0DD0-04F6-07B1-C73D6490BABA}"/>
              </a:ext>
            </a:extLst>
          </p:cNvPr>
          <p:cNvSpPr>
            <a:spLocks noChangeShapeType="1"/>
          </p:cNvSpPr>
          <p:nvPr/>
        </p:nvSpPr>
        <p:spPr bwMode="auto">
          <a:xfrm>
            <a:off x="6811973" y="233346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29">
            <a:extLst>
              <a:ext uri="{FF2B5EF4-FFF2-40B4-BE49-F238E27FC236}">
                <a16:creationId xmlns:a16="http://schemas.microsoft.com/office/drawing/2014/main" id="{E15866E2-1223-1369-085A-995E3A9FEF30}"/>
              </a:ext>
            </a:extLst>
          </p:cNvPr>
          <p:cNvSpPr>
            <a:spLocks noChangeShapeType="1"/>
          </p:cNvSpPr>
          <p:nvPr/>
        </p:nvSpPr>
        <p:spPr bwMode="auto">
          <a:xfrm>
            <a:off x="7043281" y="258853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Rectangle 5">
            <a:extLst>
              <a:ext uri="{FF2B5EF4-FFF2-40B4-BE49-F238E27FC236}">
                <a16:creationId xmlns:a16="http://schemas.microsoft.com/office/drawing/2014/main" id="{B73A63E9-CB70-2ACB-DC50-A13079CE5842}"/>
              </a:ext>
            </a:extLst>
          </p:cNvPr>
          <p:cNvSpPr>
            <a:spLocks noChangeArrowheads="1"/>
          </p:cNvSpPr>
          <p:nvPr/>
        </p:nvSpPr>
        <p:spPr bwMode="auto">
          <a:xfrm>
            <a:off x="8157234" y="2348597"/>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600" baseline="-25000" dirty="0"/>
              <a:t> </a:t>
            </a:r>
            <a:r>
              <a:rPr lang="zh-CN" altLang="en-US" sz="2400" dirty="0"/>
              <a:t>^</a:t>
            </a:r>
            <a:r>
              <a:rPr lang="en-US" altLang="zh-CN" sz="2400" dirty="0"/>
              <a:t>  </a:t>
            </a:r>
          </a:p>
        </p:txBody>
      </p:sp>
      <p:sp>
        <p:nvSpPr>
          <p:cNvPr id="41" name="Line 6">
            <a:extLst>
              <a:ext uri="{FF2B5EF4-FFF2-40B4-BE49-F238E27FC236}">
                <a16:creationId xmlns:a16="http://schemas.microsoft.com/office/drawing/2014/main" id="{65FA7F0F-A868-3BFA-90F9-C7FDEBE06AFC}"/>
              </a:ext>
            </a:extLst>
          </p:cNvPr>
          <p:cNvSpPr>
            <a:spLocks noChangeShapeType="1"/>
          </p:cNvSpPr>
          <p:nvPr/>
        </p:nvSpPr>
        <p:spPr bwMode="auto">
          <a:xfrm>
            <a:off x="8690634" y="2348597"/>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9">
            <a:extLst>
              <a:ext uri="{FF2B5EF4-FFF2-40B4-BE49-F238E27FC236}">
                <a16:creationId xmlns:a16="http://schemas.microsoft.com/office/drawing/2014/main" id="{BFCE2CD3-B945-9DD3-C9D7-8E096D050E9B}"/>
              </a:ext>
            </a:extLst>
          </p:cNvPr>
          <p:cNvSpPr>
            <a:spLocks noChangeShapeType="1"/>
          </p:cNvSpPr>
          <p:nvPr/>
        </p:nvSpPr>
        <p:spPr bwMode="auto">
          <a:xfrm>
            <a:off x="7776234" y="260277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5">
            <a:extLst>
              <a:ext uri="{FF2B5EF4-FFF2-40B4-BE49-F238E27FC236}">
                <a16:creationId xmlns:a16="http://schemas.microsoft.com/office/drawing/2014/main" id="{EFE59F1F-7B2E-D7B8-3E38-8F73CA58274B}"/>
              </a:ext>
            </a:extLst>
          </p:cNvPr>
          <p:cNvSpPr>
            <a:spLocks noChangeArrowheads="1"/>
          </p:cNvSpPr>
          <p:nvPr/>
        </p:nvSpPr>
        <p:spPr bwMode="auto">
          <a:xfrm>
            <a:off x="953038" y="2299630"/>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44" name="Line 6">
            <a:extLst>
              <a:ext uri="{FF2B5EF4-FFF2-40B4-BE49-F238E27FC236}">
                <a16:creationId xmlns:a16="http://schemas.microsoft.com/office/drawing/2014/main" id="{64D513BB-F565-3B86-B0BB-71A6543D44DF}"/>
              </a:ext>
            </a:extLst>
          </p:cNvPr>
          <p:cNvSpPr>
            <a:spLocks noChangeShapeType="1"/>
          </p:cNvSpPr>
          <p:nvPr/>
        </p:nvSpPr>
        <p:spPr bwMode="auto">
          <a:xfrm>
            <a:off x="1486438"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9">
            <a:extLst>
              <a:ext uri="{FF2B5EF4-FFF2-40B4-BE49-F238E27FC236}">
                <a16:creationId xmlns:a16="http://schemas.microsoft.com/office/drawing/2014/main" id="{F082E0A7-C0BC-53C3-74CC-51B74F22A8CB}"/>
              </a:ext>
            </a:extLst>
          </p:cNvPr>
          <p:cNvSpPr>
            <a:spLocks noChangeShapeType="1"/>
          </p:cNvSpPr>
          <p:nvPr/>
        </p:nvSpPr>
        <p:spPr bwMode="auto">
          <a:xfrm>
            <a:off x="1747695"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Rectangle 57">
            <a:extLst>
              <a:ext uri="{FF2B5EF4-FFF2-40B4-BE49-F238E27FC236}">
                <a16:creationId xmlns:a16="http://schemas.microsoft.com/office/drawing/2014/main" id="{341D2EEF-8539-A59F-AAAF-101D4451965D}"/>
              </a:ext>
            </a:extLst>
          </p:cNvPr>
          <p:cNvSpPr>
            <a:spLocks noChangeArrowheads="1"/>
          </p:cNvSpPr>
          <p:nvPr/>
        </p:nvSpPr>
        <p:spPr bwMode="auto">
          <a:xfrm>
            <a:off x="4768021" y="2753388"/>
            <a:ext cx="1013740"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j=i-1</a:t>
            </a:r>
            <a:endParaRPr kumimoji="0" lang="zh-CN" altLang="en-US" sz="2400" dirty="0">
              <a:ea typeface="Li Super" charset="-122"/>
            </a:endParaRPr>
          </a:p>
        </p:txBody>
      </p:sp>
      <p:sp>
        <p:nvSpPr>
          <p:cNvPr id="47" name="Rectangle 55">
            <a:extLst>
              <a:ext uri="{FF2B5EF4-FFF2-40B4-BE49-F238E27FC236}">
                <a16:creationId xmlns:a16="http://schemas.microsoft.com/office/drawing/2014/main" id="{9059328D-CB9E-2130-2739-F601C067AF3E}"/>
              </a:ext>
            </a:extLst>
          </p:cNvPr>
          <p:cNvSpPr>
            <a:spLocks noChangeArrowheads="1"/>
          </p:cNvSpPr>
          <p:nvPr/>
        </p:nvSpPr>
        <p:spPr bwMode="auto">
          <a:xfrm>
            <a:off x="4391445" y="165364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48" name="Line 29">
            <a:extLst>
              <a:ext uri="{FF2B5EF4-FFF2-40B4-BE49-F238E27FC236}">
                <a16:creationId xmlns:a16="http://schemas.microsoft.com/office/drawing/2014/main" id="{3AE38D66-9E51-863C-2A49-91FE61B7CC97}"/>
              </a:ext>
            </a:extLst>
          </p:cNvPr>
          <p:cNvSpPr>
            <a:spLocks noChangeShapeType="1"/>
          </p:cNvSpPr>
          <p:nvPr/>
        </p:nvSpPr>
        <p:spPr bwMode="auto">
          <a:xfrm>
            <a:off x="4587464" y="1959322"/>
            <a:ext cx="298351" cy="38513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Rectangle 55">
            <a:extLst>
              <a:ext uri="{FF2B5EF4-FFF2-40B4-BE49-F238E27FC236}">
                <a16:creationId xmlns:a16="http://schemas.microsoft.com/office/drawing/2014/main" id="{72664270-6877-9F69-CAF4-2A733F8CC278}"/>
              </a:ext>
            </a:extLst>
          </p:cNvPr>
          <p:cNvSpPr>
            <a:spLocks noChangeArrowheads="1"/>
          </p:cNvSpPr>
          <p:nvPr/>
        </p:nvSpPr>
        <p:spPr bwMode="auto">
          <a:xfrm>
            <a:off x="4754444" y="19340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50" name="矩形 49">
            <a:extLst>
              <a:ext uri="{FF2B5EF4-FFF2-40B4-BE49-F238E27FC236}">
                <a16:creationId xmlns:a16="http://schemas.microsoft.com/office/drawing/2014/main" id="{E502622C-1C0A-6C40-7B77-F13C198731C6}"/>
              </a:ext>
            </a:extLst>
          </p:cNvPr>
          <p:cNvSpPr/>
          <p:nvPr/>
        </p:nvSpPr>
        <p:spPr>
          <a:xfrm>
            <a:off x="323528" y="3057804"/>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51" name="矩形 50">
            <a:extLst>
              <a:ext uri="{FF2B5EF4-FFF2-40B4-BE49-F238E27FC236}">
                <a16:creationId xmlns:a16="http://schemas.microsoft.com/office/drawing/2014/main" id="{4887D682-C9EB-FF35-BDED-E9794E5AB6ED}"/>
              </a:ext>
            </a:extLst>
          </p:cNvPr>
          <p:cNvSpPr/>
          <p:nvPr/>
        </p:nvSpPr>
        <p:spPr>
          <a:xfrm>
            <a:off x="761593" y="3381840"/>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55" name="Rectangle 57">
            <a:extLst>
              <a:ext uri="{FF2B5EF4-FFF2-40B4-BE49-F238E27FC236}">
                <a16:creationId xmlns:a16="http://schemas.microsoft.com/office/drawing/2014/main" id="{1DA76F8A-13C2-87AA-A780-D60435CE102F}"/>
              </a:ext>
            </a:extLst>
          </p:cNvPr>
          <p:cNvSpPr>
            <a:spLocks noChangeArrowheads="1"/>
          </p:cNvSpPr>
          <p:nvPr/>
        </p:nvSpPr>
        <p:spPr bwMode="auto">
          <a:xfrm>
            <a:off x="885588" y="2731386"/>
            <a:ext cx="794434"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j=0</a:t>
            </a:r>
            <a:endParaRPr kumimoji="0" lang="zh-CN" altLang="en-US" sz="2400" dirty="0">
              <a:ea typeface="Li Super" charset="-122"/>
            </a:endParaRPr>
          </a:p>
        </p:txBody>
      </p:sp>
      <p:sp>
        <p:nvSpPr>
          <p:cNvPr id="56" name="Rectangle 55">
            <a:extLst>
              <a:ext uri="{FF2B5EF4-FFF2-40B4-BE49-F238E27FC236}">
                <a16:creationId xmlns:a16="http://schemas.microsoft.com/office/drawing/2014/main" id="{D2EDBDAC-6724-0536-CB34-59BB7504A8F1}"/>
              </a:ext>
            </a:extLst>
          </p:cNvPr>
          <p:cNvSpPr>
            <a:spLocks noChangeArrowheads="1"/>
          </p:cNvSpPr>
          <p:nvPr/>
        </p:nvSpPr>
        <p:spPr bwMode="auto">
          <a:xfrm>
            <a:off x="306393" y="179400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57" name="Line 29">
            <a:extLst>
              <a:ext uri="{FF2B5EF4-FFF2-40B4-BE49-F238E27FC236}">
                <a16:creationId xmlns:a16="http://schemas.microsoft.com/office/drawing/2014/main" id="{C6B160BF-CE35-5E20-4EDB-D798CDE85CAA}"/>
              </a:ext>
            </a:extLst>
          </p:cNvPr>
          <p:cNvSpPr>
            <a:spLocks noChangeShapeType="1"/>
          </p:cNvSpPr>
          <p:nvPr/>
        </p:nvSpPr>
        <p:spPr bwMode="auto">
          <a:xfrm>
            <a:off x="722811" y="2107271"/>
            <a:ext cx="252617" cy="19236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虚尾箭头 57">
            <a:extLst>
              <a:ext uri="{FF2B5EF4-FFF2-40B4-BE49-F238E27FC236}">
                <a16:creationId xmlns:a16="http://schemas.microsoft.com/office/drawing/2014/main" id="{F2A3DC7B-3878-2CE6-7A2C-033F5B3491DF}"/>
              </a:ext>
            </a:extLst>
          </p:cNvPr>
          <p:cNvSpPr/>
          <p:nvPr/>
        </p:nvSpPr>
        <p:spPr>
          <a:xfrm>
            <a:off x="1410238" y="2051151"/>
            <a:ext cx="3177226" cy="229357"/>
          </a:xfrm>
          <a:prstGeom prst="striped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359A82C4-8EC6-7953-B713-C3CD6AA10828}"/>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48EDA4C8-C7D8-4A5C-2471-AE6D3EE98A5D}"/>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4" name="矩形 3">
            <a:extLst>
              <a:ext uri="{FF2B5EF4-FFF2-40B4-BE49-F238E27FC236}">
                <a16:creationId xmlns:a16="http://schemas.microsoft.com/office/drawing/2014/main" id="{382F2058-320C-F228-2204-505D06B81D2D}"/>
              </a:ext>
            </a:extLst>
          </p:cNvPr>
          <p:cNvSpPr/>
          <p:nvPr/>
        </p:nvSpPr>
        <p:spPr>
          <a:xfrm>
            <a:off x="1090565" y="1514431"/>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⑧</a:t>
            </a:r>
            <a:r>
              <a:rPr lang="zh-CN" altLang="en-US" sz="2000" dirty="0">
                <a:latin typeface="微软雅黑" pitchFamily="34" charset="-122"/>
                <a:ea typeface="微软雅黑" pitchFamily="34" charset="-122"/>
                <a:cs typeface="经典粗黑简" pitchFamily="49" charset="-122"/>
              </a:rPr>
              <a:t>插入操作</a:t>
            </a:r>
          </a:p>
        </p:txBody>
      </p:sp>
      <p:sp>
        <p:nvSpPr>
          <p:cNvPr id="5" name="矩形 4">
            <a:extLst>
              <a:ext uri="{FF2B5EF4-FFF2-40B4-BE49-F238E27FC236}">
                <a16:creationId xmlns:a16="http://schemas.microsoft.com/office/drawing/2014/main" id="{75A73F46-B66E-F62F-313B-F61AB74F0591}"/>
              </a:ext>
            </a:extLst>
          </p:cNvPr>
          <p:cNvSpPr/>
          <p:nvPr/>
        </p:nvSpPr>
        <p:spPr>
          <a:xfrm>
            <a:off x="755576" y="3651870"/>
            <a:ext cx="3602268" cy="400110"/>
          </a:xfrm>
          <a:prstGeom prst="rect">
            <a:avLst/>
          </a:prstGeom>
        </p:spPr>
        <p:txBody>
          <a:bodyPr wrap="none">
            <a:spAutoFit/>
          </a:bodyPr>
          <a:lstStyle/>
          <a:p>
            <a:pPr marL="342900"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申请一个结点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并填入</a:t>
            </a:r>
            <a:r>
              <a:rPr lang="en-US" altLang="zh-CN" sz="2000" dirty="0">
                <a:latin typeface="微软雅黑" pitchFamily="34" charset="-122"/>
                <a:ea typeface="微软雅黑" pitchFamily="34" charset="-122"/>
                <a:cs typeface="经典粗黑简" pitchFamily="49" charset="-122"/>
              </a:rPr>
              <a:t>e</a:t>
            </a:r>
            <a:r>
              <a:rPr lang="zh-CN" altLang="en-US" sz="2000" dirty="0">
                <a:latin typeface="微软雅黑" pitchFamily="34" charset="-122"/>
                <a:ea typeface="微软雅黑" pitchFamily="34" charset="-122"/>
                <a:cs typeface="经典粗黑简" pitchFamily="49" charset="-122"/>
              </a:rPr>
              <a:t>值；</a:t>
            </a:r>
          </a:p>
        </p:txBody>
      </p:sp>
      <p:sp>
        <p:nvSpPr>
          <p:cNvPr id="6" name="Rectangle 5">
            <a:extLst>
              <a:ext uri="{FF2B5EF4-FFF2-40B4-BE49-F238E27FC236}">
                <a16:creationId xmlns:a16="http://schemas.microsoft.com/office/drawing/2014/main" id="{ED58F7E9-49B1-9EC6-61DB-392DCF6DBE6D}"/>
              </a:ext>
            </a:extLst>
          </p:cNvPr>
          <p:cNvSpPr>
            <a:spLocks noChangeArrowheads="1"/>
          </p:cNvSpPr>
          <p:nvPr/>
        </p:nvSpPr>
        <p:spPr bwMode="auto">
          <a:xfrm>
            <a:off x="5465216" y="309841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2400" dirty="0"/>
              <a:t>  e </a:t>
            </a:r>
          </a:p>
        </p:txBody>
      </p:sp>
      <p:sp>
        <p:nvSpPr>
          <p:cNvPr id="7" name="Line 6">
            <a:extLst>
              <a:ext uri="{FF2B5EF4-FFF2-40B4-BE49-F238E27FC236}">
                <a16:creationId xmlns:a16="http://schemas.microsoft.com/office/drawing/2014/main" id="{440F3EFE-E66C-BE88-667E-91D732F7E249}"/>
              </a:ext>
            </a:extLst>
          </p:cNvPr>
          <p:cNvSpPr>
            <a:spLocks noChangeShapeType="1"/>
          </p:cNvSpPr>
          <p:nvPr/>
        </p:nvSpPr>
        <p:spPr bwMode="auto">
          <a:xfrm>
            <a:off x="6077418" y="3112102"/>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Rectangle 55">
            <a:extLst>
              <a:ext uri="{FF2B5EF4-FFF2-40B4-BE49-F238E27FC236}">
                <a16:creationId xmlns:a16="http://schemas.microsoft.com/office/drawing/2014/main" id="{25F39EF9-4950-DD11-ECFD-CEADE20D8DF6}"/>
              </a:ext>
            </a:extLst>
          </p:cNvPr>
          <p:cNvSpPr>
            <a:spLocks noChangeArrowheads="1"/>
          </p:cNvSpPr>
          <p:nvPr/>
        </p:nvSpPr>
        <p:spPr bwMode="auto">
          <a:xfrm>
            <a:off x="4595074" y="314105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s</a:t>
            </a:r>
            <a:endParaRPr kumimoji="0" lang="zh-CN" altLang="en-US" sz="2400" dirty="0">
              <a:ea typeface="CFNEOP+TimesNewRoman" charset="-122"/>
            </a:endParaRPr>
          </a:p>
        </p:txBody>
      </p:sp>
      <p:sp>
        <p:nvSpPr>
          <p:cNvPr id="9" name="Line 29">
            <a:extLst>
              <a:ext uri="{FF2B5EF4-FFF2-40B4-BE49-F238E27FC236}">
                <a16:creationId xmlns:a16="http://schemas.microsoft.com/office/drawing/2014/main" id="{78D328DF-86DD-973D-C48A-F589E02D56F7}"/>
              </a:ext>
            </a:extLst>
          </p:cNvPr>
          <p:cNvSpPr>
            <a:spLocks noChangeShapeType="1"/>
          </p:cNvSpPr>
          <p:nvPr/>
        </p:nvSpPr>
        <p:spPr bwMode="auto">
          <a:xfrm>
            <a:off x="4949508" y="3327981"/>
            <a:ext cx="515709" cy="510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55">
            <a:extLst>
              <a:ext uri="{FF2B5EF4-FFF2-40B4-BE49-F238E27FC236}">
                <a16:creationId xmlns:a16="http://schemas.microsoft.com/office/drawing/2014/main" id="{43CF1346-A0A1-61B6-6165-D4B4971599C4}"/>
              </a:ext>
            </a:extLst>
          </p:cNvPr>
          <p:cNvSpPr>
            <a:spLocks noChangeArrowheads="1"/>
          </p:cNvSpPr>
          <p:nvPr/>
        </p:nvSpPr>
        <p:spPr bwMode="auto">
          <a:xfrm>
            <a:off x="5094336" y="345544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11" name="Rectangle 40">
            <a:extLst>
              <a:ext uri="{FF2B5EF4-FFF2-40B4-BE49-F238E27FC236}">
                <a16:creationId xmlns:a16="http://schemas.microsoft.com/office/drawing/2014/main" id="{81E24CD2-390C-7CD0-D3D4-42DB2C972A69}"/>
              </a:ext>
            </a:extLst>
          </p:cNvPr>
          <p:cNvSpPr>
            <a:spLocks noChangeArrowheads="1"/>
          </p:cNvSpPr>
          <p:nvPr/>
        </p:nvSpPr>
        <p:spPr bwMode="auto">
          <a:xfrm>
            <a:off x="755577" y="3956271"/>
            <a:ext cx="442846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15000"/>
              </a:spcBef>
              <a:buClr>
                <a:schemeClr val="bg1"/>
              </a:buClr>
              <a:buSzPct val="95000"/>
              <a:buFont typeface="Wingdings" pitchFamily="2" charset="2"/>
              <a:buNone/>
            </a:pPr>
            <a:r>
              <a:rPr lang="en-US" altLang="zh-CN" sz="2000" dirty="0">
                <a:latin typeface="微软雅黑" pitchFamily="34" charset="-122"/>
                <a:ea typeface="微软雅黑" pitchFamily="34" charset="-122"/>
                <a:cs typeface="经典粗黑简" pitchFamily="49" charset="-122"/>
              </a:rPr>
              <a:t>③</a:t>
            </a:r>
            <a:r>
              <a:rPr lang="zh-CN" altLang="en-US" sz="2000" dirty="0">
                <a:latin typeface="微软雅黑" pitchFamily="34" charset="-122"/>
                <a:ea typeface="微软雅黑" pitchFamily="34" charset="-122"/>
                <a:cs typeface="经典粗黑简" pitchFamily="49" charset="-122"/>
              </a:rPr>
              <a:t> 修改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的指针域指向</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的下一结点；</a:t>
            </a:r>
          </a:p>
        </p:txBody>
      </p:sp>
      <p:cxnSp>
        <p:nvCxnSpPr>
          <p:cNvPr id="14" name="曲线连接符 56">
            <a:extLst>
              <a:ext uri="{FF2B5EF4-FFF2-40B4-BE49-F238E27FC236}">
                <a16:creationId xmlns:a16="http://schemas.microsoft.com/office/drawing/2014/main" id="{6FA8438B-8455-81B2-47F5-3679555CDEDB}"/>
              </a:ext>
            </a:extLst>
          </p:cNvPr>
          <p:cNvCxnSpPr/>
          <p:nvPr/>
        </p:nvCxnSpPr>
        <p:spPr>
          <a:xfrm rot="5400000" flipH="1" flipV="1">
            <a:off x="5918900" y="3011612"/>
            <a:ext cx="639901" cy="79448"/>
          </a:xfrm>
          <a:prstGeom prst="curvedConnector3">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55">
            <a:extLst>
              <a:ext uri="{FF2B5EF4-FFF2-40B4-BE49-F238E27FC236}">
                <a16:creationId xmlns:a16="http://schemas.microsoft.com/office/drawing/2014/main" id="{58545A82-366E-A8C6-A238-B7ABCF220D17}"/>
              </a:ext>
            </a:extLst>
          </p:cNvPr>
          <p:cNvSpPr>
            <a:spLocks noChangeArrowheads="1"/>
          </p:cNvSpPr>
          <p:nvPr/>
        </p:nvSpPr>
        <p:spPr bwMode="auto">
          <a:xfrm>
            <a:off x="6170381" y="277384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3" name="Rectangle 45">
            <a:extLst>
              <a:ext uri="{FF2B5EF4-FFF2-40B4-BE49-F238E27FC236}">
                <a16:creationId xmlns:a16="http://schemas.microsoft.com/office/drawing/2014/main" id="{8C16C442-19E1-A7BF-61A3-9355E7E93A30}"/>
              </a:ext>
            </a:extLst>
          </p:cNvPr>
          <p:cNvSpPr>
            <a:spLocks noChangeArrowheads="1"/>
          </p:cNvSpPr>
          <p:nvPr/>
        </p:nvSpPr>
        <p:spPr bwMode="auto">
          <a:xfrm>
            <a:off x="755576" y="4245936"/>
            <a:ext cx="4170606"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15000"/>
              </a:spcBef>
              <a:buClr>
                <a:schemeClr val="bg1"/>
              </a:buClr>
              <a:buSzPct val="95000"/>
              <a:buFont typeface="Wingdings" pitchFamily="2" charset="2"/>
              <a:buNone/>
            </a:pPr>
            <a:r>
              <a:rPr lang="en-US" altLang="zh-CN" sz="2000" dirty="0">
                <a:latin typeface="微软雅黑" pitchFamily="34" charset="-122"/>
                <a:ea typeface="微软雅黑" pitchFamily="34" charset="-122"/>
                <a:cs typeface="经典粗黑简" pitchFamily="49" charset="-122"/>
              </a:rPr>
              <a:t>④ </a:t>
            </a:r>
            <a:r>
              <a:rPr lang="zh-CN" altLang="en-US" sz="2000" dirty="0">
                <a:latin typeface="微软雅黑" pitchFamily="34" charset="-122"/>
                <a:ea typeface="微软雅黑" pitchFamily="34" charset="-122"/>
                <a:cs typeface="经典粗黑简" pitchFamily="49" charset="-122"/>
              </a:rPr>
              <a:t>修改</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的指针域指向</a:t>
            </a:r>
            <a:r>
              <a:rPr lang="en-US" altLang="zh-CN" sz="2000" dirty="0">
                <a:latin typeface="微软雅黑" pitchFamily="34" charset="-122"/>
                <a:ea typeface="微软雅黑" pitchFamily="34" charset="-122"/>
                <a:cs typeface="经典粗黑简" pitchFamily="49" charset="-122"/>
              </a:rPr>
              <a:t>s。</a:t>
            </a:r>
            <a:endParaRPr lang="zh-CN" altLang="en-US" sz="2000" dirty="0">
              <a:latin typeface="微软雅黑" pitchFamily="34" charset="-122"/>
              <a:ea typeface="微软雅黑" pitchFamily="34" charset="-122"/>
              <a:cs typeface="经典粗黑简" pitchFamily="49" charset="-122"/>
            </a:endParaRPr>
          </a:p>
        </p:txBody>
      </p:sp>
      <p:sp>
        <p:nvSpPr>
          <p:cNvPr id="17" name="Line 29">
            <a:extLst>
              <a:ext uri="{FF2B5EF4-FFF2-40B4-BE49-F238E27FC236}">
                <a16:creationId xmlns:a16="http://schemas.microsoft.com/office/drawing/2014/main" id="{EBB870B6-D613-F87C-378F-16B854F082E0}"/>
              </a:ext>
            </a:extLst>
          </p:cNvPr>
          <p:cNvSpPr>
            <a:spLocks noChangeShapeType="1"/>
          </p:cNvSpPr>
          <p:nvPr/>
        </p:nvSpPr>
        <p:spPr bwMode="auto">
          <a:xfrm>
            <a:off x="5781762" y="2588535"/>
            <a:ext cx="1" cy="64046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Rectangle 55">
            <a:extLst>
              <a:ext uri="{FF2B5EF4-FFF2-40B4-BE49-F238E27FC236}">
                <a16:creationId xmlns:a16="http://schemas.microsoft.com/office/drawing/2014/main" id="{3EEFEE46-CC37-210B-4B77-8435220556D7}"/>
              </a:ext>
            </a:extLst>
          </p:cNvPr>
          <p:cNvSpPr>
            <a:spLocks noChangeArrowheads="1"/>
          </p:cNvSpPr>
          <p:nvPr/>
        </p:nvSpPr>
        <p:spPr bwMode="auto">
          <a:xfrm>
            <a:off x="5536464" y="230172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④</a:t>
            </a:r>
            <a:endParaRPr kumimoji="0" lang="zh-CN" altLang="en-US" sz="2400" dirty="0">
              <a:solidFill>
                <a:srgbClr val="FF0000"/>
              </a:solidFill>
              <a:ea typeface="CFNEOP+TimesNewRoman" charset="-122"/>
            </a:endParaRPr>
          </a:p>
        </p:txBody>
      </p:sp>
      <p:sp>
        <p:nvSpPr>
          <p:cNvPr id="52" name="矩形 51">
            <a:extLst>
              <a:ext uri="{FF2B5EF4-FFF2-40B4-BE49-F238E27FC236}">
                <a16:creationId xmlns:a16="http://schemas.microsoft.com/office/drawing/2014/main" id="{38C64774-8670-4F5C-B694-53699B96B24F}"/>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33372899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B737E-F671-6D0F-4B95-152BDC8B1C51}"/>
            </a:ext>
          </a:extLst>
        </p:cNvPr>
        <p:cNvGrpSpPr/>
        <p:nvPr/>
      </p:nvGrpSpPr>
      <p:grpSpPr>
        <a:xfrm>
          <a:off x="0" y="0"/>
          <a:ext cx="0" cy="0"/>
          <a:chOff x="0" y="0"/>
          <a:chExt cx="0" cy="0"/>
        </a:xfrm>
      </p:grpSpPr>
      <p:sp>
        <p:nvSpPr>
          <p:cNvPr id="19" name="Rectangle 5">
            <a:extLst>
              <a:ext uri="{FF2B5EF4-FFF2-40B4-BE49-F238E27FC236}">
                <a16:creationId xmlns:a16="http://schemas.microsoft.com/office/drawing/2014/main" id="{A5EFA308-3DA6-118F-0A59-386C309E6CF9}"/>
              </a:ext>
            </a:extLst>
          </p:cNvPr>
          <p:cNvSpPr>
            <a:spLocks noChangeArrowheads="1"/>
          </p:cNvSpPr>
          <p:nvPr/>
        </p:nvSpPr>
        <p:spPr bwMode="auto">
          <a:xfrm>
            <a:off x="2108646" y="229963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20" name="Line 6">
            <a:extLst>
              <a:ext uri="{FF2B5EF4-FFF2-40B4-BE49-F238E27FC236}">
                <a16:creationId xmlns:a16="http://schemas.microsoft.com/office/drawing/2014/main" id="{DD3A99B2-24EB-9102-70AA-573F1BF5D5F0}"/>
              </a:ext>
            </a:extLst>
          </p:cNvPr>
          <p:cNvSpPr>
            <a:spLocks noChangeShapeType="1"/>
          </p:cNvSpPr>
          <p:nvPr/>
        </p:nvSpPr>
        <p:spPr bwMode="auto">
          <a:xfrm>
            <a:off x="2642046"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Rectangle 25">
            <a:extLst>
              <a:ext uri="{FF2B5EF4-FFF2-40B4-BE49-F238E27FC236}">
                <a16:creationId xmlns:a16="http://schemas.microsoft.com/office/drawing/2014/main" id="{3B3A62D5-B450-7D89-2B7D-9E5CC9F3BC5F}"/>
              </a:ext>
            </a:extLst>
          </p:cNvPr>
          <p:cNvSpPr>
            <a:spLocks noChangeArrowheads="1"/>
          </p:cNvSpPr>
          <p:nvPr/>
        </p:nvSpPr>
        <p:spPr bwMode="auto">
          <a:xfrm>
            <a:off x="4272531" y="237359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3" name="Rectangle 36">
            <a:extLst>
              <a:ext uri="{FF2B5EF4-FFF2-40B4-BE49-F238E27FC236}">
                <a16:creationId xmlns:a16="http://schemas.microsoft.com/office/drawing/2014/main" id="{C6F759BB-89C3-66FF-07D0-E74A9490B9D5}"/>
              </a:ext>
            </a:extLst>
          </p:cNvPr>
          <p:cNvSpPr>
            <a:spLocks noChangeArrowheads="1"/>
          </p:cNvSpPr>
          <p:nvPr/>
        </p:nvSpPr>
        <p:spPr bwMode="auto">
          <a:xfrm>
            <a:off x="7441525" y="2395597"/>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4" name="Rectangle 228">
            <a:extLst>
              <a:ext uri="{FF2B5EF4-FFF2-40B4-BE49-F238E27FC236}">
                <a16:creationId xmlns:a16="http://schemas.microsoft.com/office/drawing/2014/main" id="{3647D38C-93D5-D487-FBEF-3654F2EB01A2}"/>
              </a:ext>
            </a:extLst>
          </p:cNvPr>
          <p:cNvSpPr>
            <a:spLocks noChangeArrowheads="1"/>
          </p:cNvSpPr>
          <p:nvPr/>
        </p:nvSpPr>
        <p:spPr bwMode="auto">
          <a:xfrm>
            <a:off x="306393" y="233585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25" name="Line 29">
            <a:extLst>
              <a:ext uri="{FF2B5EF4-FFF2-40B4-BE49-F238E27FC236}">
                <a16:creationId xmlns:a16="http://schemas.microsoft.com/office/drawing/2014/main" id="{5BFB2CE3-7FB1-E879-1546-DBC9F085DF70}"/>
              </a:ext>
            </a:extLst>
          </p:cNvPr>
          <p:cNvSpPr>
            <a:spLocks noChangeShapeType="1"/>
          </p:cNvSpPr>
          <p:nvPr/>
        </p:nvSpPr>
        <p:spPr bwMode="auto">
          <a:xfrm>
            <a:off x="572038" y="252613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5">
            <a:extLst>
              <a:ext uri="{FF2B5EF4-FFF2-40B4-BE49-F238E27FC236}">
                <a16:creationId xmlns:a16="http://schemas.microsoft.com/office/drawing/2014/main" id="{7B8018CE-FF69-2CE0-6CB4-5B37EF2F6FB4}"/>
              </a:ext>
            </a:extLst>
          </p:cNvPr>
          <p:cNvSpPr>
            <a:spLocks noChangeArrowheads="1"/>
          </p:cNvSpPr>
          <p:nvPr/>
        </p:nvSpPr>
        <p:spPr bwMode="auto">
          <a:xfrm>
            <a:off x="3284303" y="230500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27" name="Line 6">
            <a:extLst>
              <a:ext uri="{FF2B5EF4-FFF2-40B4-BE49-F238E27FC236}">
                <a16:creationId xmlns:a16="http://schemas.microsoft.com/office/drawing/2014/main" id="{5410B7EE-F8F3-B980-38C7-B7EB05698843}"/>
              </a:ext>
            </a:extLst>
          </p:cNvPr>
          <p:cNvSpPr>
            <a:spLocks noChangeShapeType="1"/>
          </p:cNvSpPr>
          <p:nvPr/>
        </p:nvSpPr>
        <p:spPr bwMode="auto">
          <a:xfrm>
            <a:off x="3817703" y="230500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9">
            <a:extLst>
              <a:ext uri="{FF2B5EF4-FFF2-40B4-BE49-F238E27FC236}">
                <a16:creationId xmlns:a16="http://schemas.microsoft.com/office/drawing/2014/main" id="{8FD134E7-5172-5206-32A8-BC4C901C84F8}"/>
              </a:ext>
            </a:extLst>
          </p:cNvPr>
          <p:cNvSpPr>
            <a:spLocks noChangeShapeType="1"/>
          </p:cNvSpPr>
          <p:nvPr/>
        </p:nvSpPr>
        <p:spPr bwMode="auto">
          <a:xfrm>
            <a:off x="2903303"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Rectangle 5">
            <a:extLst>
              <a:ext uri="{FF2B5EF4-FFF2-40B4-BE49-F238E27FC236}">
                <a16:creationId xmlns:a16="http://schemas.microsoft.com/office/drawing/2014/main" id="{6BA7D92D-4EAC-9DAE-2995-599EC64C7CE3}"/>
              </a:ext>
            </a:extLst>
          </p:cNvPr>
          <p:cNvSpPr>
            <a:spLocks noChangeArrowheads="1"/>
          </p:cNvSpPr>
          <p:nvPr/>
        </p:nvSpPr>
        <p:spPr bwMode="auto">
          <a:xfrm>
            <a:off x="4885814" y="2321632"/>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30" name="Line 6">
            <a:extLst>
              <a:ext uri="{FF2B5EF4-FFF2-40B4-BE49-F238E27FC236}">
                <a16:creationId xmlns:a16="http://schemas.microsoft.com/office/drawing/2014/main" id="{03263E75-E5DA-CF37-B276-C952F431394B}"/>
              </a:ext>
            </a:extLst>
          </p:cNvPr>
          <p:cNvSpPr>
            <a:spLocks noChangeShapeType="1"/>
          </p:cNvSpPr>
          <p:nvPr/>
        </p:nvSpPr>
        <p:spPr bwMode="auto">
          <a:xfrm>
            <a:off x="5622387" y="2316257"/>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9">
            <a:extLst>
              <a:ext uri="{FF2B5EF4-FFF2-40B4-BE49-F238E27FC236}">
                <a16:creationId xmlns:a16="http://schemas.microsoft.com/office/drawing/2014/main" id="{BC0363A4-F8B9-0CA4-9AC3-0381DCDC9443}"/>
              </a:ext>
            </a:extLst>
          </p:cNvPr>
          <p:cNvSpPr>
            <a:spLocks noChangeShapeType="1"/>
          </p:cNvSpPr>
          <p:nvPr/>
        </p:nvSpPr>
        <p:spPr bwMode="auto">
          <a:xfrm>
            <a:off x="4587464" y="2560335"/>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29">
            <a:extLst>
              <a:ext uri="{FF2B5EF4-FFF2-40B4-BE49-F238E27FC236}">
                <a16:creationId xmlns:a16="http://schemas.microsoft.com/office/drawing/2014/main" id="{419E30E5-7685-494C-7BB2-5702C41DD285}"/>
              </a:ext>
            </a:extLst>
          </p:cNvPr>
          <p:cNvSpPr>
            <a:spLocks noChangeShapeType="1"/>
          </p:cNvSpPr>
          <p:nvPr/>
        </p:nvSpPr>
        <p:spPr bwMode="auto">
          <a:xfrm>
            <a:off x="4008203" y="2556491"/>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Rectangle 5">
            <a:extLst>
              <a:ext uri="{FF2B5EF4-FFF2-40B4-BE49-F238E27FC236}">
                <a16:creationId xmlns:a16="http://schemas.microsoft.com/office/drawing/2014/main" id="{0ED718EB-29DC-8E8B-4CD3-5463B55CE190}"/>
              </a:ext>
            </a:extLst>
          </p:cNvPr>
          <p:cNvSpPr>
            <a:spLocks noChangeArrowheads="1"/>
          </p:cNvSpPr>
          <p:nvPr/>
        </p:nvSpPr>
        <p:spPr bwMode="auto">
          <a:xfrm>
            <a:off x="6278573" y="233346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200" dirty="0">
                <a:latin typeface="微软雅黑" pitchFamily="34" charset="-122"/>
                <a:ea typeface="微软雅黑" pitchFamily="34" charset="-122"/>
              </a:rPr>
              <a:t> </a:t>
            </a:r>
            <a:r>
              <a:rPr lang="en-US" altLang="zh-CN" sz="2400" dirty="0"/>
              <a:t>   </a:t>
            </a:r>
          </a:p>
        </p:txBody>
      </p:sp>
      <p:sp>
        <p:nvSpPr>
          <p:cNvPr id="34" name="Line 6">
            <a:extLst>
              <a:ext uri="{FF2B5EF4-FFF2-40B4-BE49-F238E27FC236}">
                <a16:creationId xmlns:a16="http://schemas.microsoft.com/office/drawing/2014/main" id="{CDD12523-F315-0009-9C32-2EF1A554D1A7}"/>
              </a:ext>
            </a:extLst>
          </p:cNvPr>
          <p:cNvSpPr>
            <a:spLocks noChangeShapeType="1"/>
          </p:cNvSpPr>
          <p:nvPr/>
        </p:nvSpPr>
        <p:spPr bwMode="auto">
          <a:xfrm>
            <a:off x="6811973" y="233346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9">
            <a:extLst>
              <a:ext uri="{FF2B5EF4-FFF2-40B4-BE49-F238E27FC236}">
                <a16:creationId xmlns:a16="http://schemas.microsoft.com/office/drawing/2014/main" id="{56ED9B26-0C91-0C5C-3CF5-B47A0145DB74}"/>
              </a:ext>
            </a:extLst>
          </p:cNvPr>
          <p:cNvSpPr>
            <a:spLocks noChangeShapeType="1"/>
          </p:cNvSpPr>
          <p:nvPr/>
        </p:nvSpPr>
        <p:spPr bwMode="auto">
          <a:xfrm>
            <a:off x="5897573" y="258763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 name="Line 29">
            <a:extLst>
              <a:ext uri="{FF2B5EF4-FFF2-40B4-BE49-F238E27FC236}">
                <a16:creationId xmlns:a16="http://schemas.microsoft.com/office/drawing/2014/main" id="{4E2FA47C-3C3F-AC4C-4E99-27C6278D51D6}"/>
              </a:ext>
            </a:extLst>
          </p:cNvPr>
          <p:cNvSpPr>
            <a:spLocks noChangeShapeType="1"/>
          </p:cNvSpPr>
          <p:nvPr/>
        </p:nvSpPr>
        <p:spPr bwMode="auto">
          <a:xfrm>
            <a:off x="7043281" y="258853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Rectangle 5">
            <a:extLst>
              <a:ext uri="{FF2B5EF4-FFF2-40B4-BE49-F238E27FC236}">
                <a16:creationId xmlns:a16="http://schemas.microsoft.com/office/drawing/2014/main" id="{086B7452-E2C6-B0FA-0716-4A267BC1984C}"/>
              </a:ext>
            </a:extLst>
          </p:cNvPr>
          <p:cNvSpPr>
            <a:spLocks noChangeArrowheads="1"/>
          </p:cNvSpPr>
          <p:nvPr/>
        </p:nvSpPr>
        <p:spPr bwMode="auto">
          <a:xfrm>
            <a:off x="8157234" y="2348597"/>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600" baseline="-25000" dirty="0"/>
              <a:t> </a:t>
            </a:r>
            <a:r>
              <a:rPr lang="zh-CN" altLang="en-US" sz="2400" dirty="0"/>
              <a:t>^</a:t>
            </a:r>
            <a:r>
              <a:rPr lang="en-US" altLang="zh-CN" sz="2400" dirty="0"/>
              <a:t>  </a:t>
            </a:r>
          </a:p>
        </p:txBody>
      </p:sp>
      <p:sp>
        <p:nvSpPr>
          <p:cNvPr id="41" name="Line 6">
            <a:extLst>
              <a:ext uri="{FF2B5EF4-FFF2-40B4-BE49-F238E27FC236}">
                <a16:creationId xmlns:a16="http://schemas.microsoft.com/office/drawing/2014/main" id="{440AEC6B-0066-E8B2-ADA3-08CD14BE86D1}"/>
              </a:ext>
            </a:extLst>
          </p:cNvPr>
          <p:cNvSpPr>
            <a:spLocks noChangeShapeType="1"/>
          </p:cNvSpPr>
          <p:nvPr/>
        </p:nvSpPr>
        <p:spPr bwMode="auto">
          <a:xfrm>
            <a:off x="8690634" y="2348597"/>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9">
            <a:extLst>
              <a:ext uri="{FF2B5EF4-FFF2-40B4-BE49-F238E27FC236}">
                <a16:creationId xmlns:a16="http://schemas.microsoft.com/office/drawing/2014/main" id="{0E75B4DC-091E-134C-0D67-78D078D6C1BC}"/>
              </a:ext>
            </a:extLst>
          </p:cNvPr>
          <p:cNvSpPr>
            <a:spLocks noChangeShapeType="1"/>
          </p:cNvSpPr>
          <p:nvPr/>
        </p:nvSpPr>
        <p:spPr bwMode="auto">
          <a:xfrm>
            <a:off x="7776234" y="260277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5">
            <a:extLst>
              <a:ext uri="{FF2B5EF4-FFF2-40B4-BE49-F238E27FC236}">
                <a16:creationId xmlns:a16="http://schemas.microsoft.com/office/drawing/2014/main" id="{6A40B4D3-F63C-D3BF-7C3D-7A5938C4811F}"/>
              </a:ext>
            </a:extLst>
          </p:cNvPr>
          <p:cNvSpPr>
            <a:spLocks noChangeArrowheads="1"/>
          </p:cNvSpPr>
          <p:nvPr/>
        </p:nvSpPr>
        <p:spPr bwMode="auto">
          <a:xfrm>
            <a:off x="953038" y="2299630"/>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44" name="Line 6">
            <a:extLst>
              <a:ext uri="{FF2B5EF4-FFF2-40B4-BE49-F238E27FC236}">
                <a16:creationId xmlns:a16="http://schemas.microsoft.com/office/drawing/2014/main" id="{FEADC491-F72F-4C5A-0E0F-88E8E2FD5B1B}"/>
              </a:ext>
            </a:extLst>
          </p:cNvPr>
          <p:cNvSpPr>
            <a:spLocks noChangeShapeType="1"/>
          </p:cNvSpPr>
          <p:nvPr/>
        </p:nvSpPr>
        <p:spPr bwMode="auto">
          <a:xfrm>
            <a:off x="1486438"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9">
            <a:extLst>
              <a:ext uri="{FF2B5EF4-FFF2-40B4-BE49-F238E27FC236}">
                <a16:creationId xmlns:a16="http://schemas.microsoft.com/office/drawing/2014/main" id="{3F704DF1-07AE-D38E-6F25-F02B5B44319F}"/>
              </a:ext>
            </a:extLst>
          </p:cNvPr>
          <p:cNvSpPr>
            <a:spLocks noChangeShapeType="1"/>
          </p:cNvSpPr>
          <p:nvPr/>
        </p:nvSpPr>
        <p:spPr bwMode="auto">
          <a:xfrm>
            <a:off x="1747695"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Rectangle 57">
            <a:extLst>
              <a:ext uri="{FF2B5EF4-FFF2-40B4-BE49-F238E27FC236}">
                <a16:creationId xmlns:a16="http://schemas.microsoft.com/office/drawing/2014/main" id="{75CC9BB3-23F7-C36E-5C4F-35FD13A4133E}"/>
              </a:ext>
            </a:extLst>
          </p:cNvPr>
          <p:cNvSpPr>
            <a:spLocks noChangeArrowheads="1"/>
          </p:cNvSpPr>
          <p:nvPr/>
        </p:nvSpPr>
        <p:spPr bwMode="auto">
          <a:xfrm>
            <a:off x="4768021" y="2753388"/>
            <a:ext cx="1013740"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j=i-1</a:t>
            </a:r>
            <a:endParaRPr kumimoji="0" lang="zh-CN" altLang="en-US" sz="2400" dirty="0">
              <a:ea typeface="Li Super" charset="-122"/>
            </a:endParaRPr>
          </a:p>
        </p:txBody>
      </p:sp>
      <p:sp>
        <p:nvSpPr>
          <p:cNvPr id="47" name="Rectangle 55">
            <a:extLst>
              <a:ext uri="{FF2B5EF4-FFF2-40B4-BE49-F238E27FC236}">
                <a16:creationId xmlns:a16="http://schemas.microsoft.com/office/drawing/2014/main" id="{B1E48BCC-5324-A654-9EF6-895BF787FB58}"/>
              </a:ext>
            </a:extLst>
          </p:cNvPr>
          <p:cNvSpPr>
            <a:spLocks noChangeArrowheads="1"/>
          </p:cNvSpPr>
          <p:nvPr/>
        </p:nvSpPr>
        <p:spPr bwMode="auto">
          <a:xfrm>
            <a:off x="4391445" y="165364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48" name="Line 29">
            <a:extLst>
              <a:ext uri="{FF2B5EF4-FFF2-40B4-BE49-F238E27FC236}">
                <a16:creationId xmlns:a16="http://schemas.microsoft.com/office/drawing/2014/main" id="{258CB4DA-2D36-BBCE-FD8C-21C8503C2D45}"/>
              </a:ext>
            </a:extLst>
          </p:cNvPr>
          <p:cNvSpPr>
            <a:spLocks noChangeShapeType="1"/>
          </p:cNvSpPr>
          <p:nvPr/>
        </p:nvSpPr>
        <p:spPr bwMode="auto">
          <a:xfrm>
            <a:off x="4587464" y="1959322"/>
            <a:ext cx="298351" cy="38513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Rectangle 55">
            <a:extLst>
              <a:ext uri="{FF2B5EF4-FFF2-40B4-BE49-F238E27FC236}">
                <a16:creationId xmlns:a16="http://schemas.microsoft.com/office/drawing/2014/main" id="{42BC1189-6938-A230-0B56-FA31D6EDB462}"/>
              </a:ext>
            </a:extLst>
          </p:cNvPr>
          <p:cNvSpPr>
            <a:spLocks noChangeArrowheads="1"/>
          </p:cNvSpPr>
          <p:nvPr/>
        </p:nvSpPr>
        <p:spPr bwMode="auto">
          <a:xfrm>
            <a:off x="4754444" y="19340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50" name="矩形 49">
            <a:extLst>
              <a:ext uri="{FF2B5EF4-FFF2-40B4-BE49-F238E27FC236}">
                <a16:creationId xmlns:a16="http://schemas.microsoft.com/office/drawing/2014/main" id="{D992FD46-FC5A-9A36-8A0E-0112111F7231}"/>
              </a:ext>
            </a:extLst>
          </p:cNvPr>
          <p:cNvSpPr/>
          <p:nvPr/>
        </p:nvSpPr>
        <p:spPr>
          <a:xfrm>
            <a:off x="323528" y="3057804"/>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51" name="矩形 50">
            <a:extLst>
              <a:ext uri="{FF2B5EF4-FFF2-40B4-BE49-F238E27FC236}">
                <a16:creationId xmlns:a16="http://schemas.microsoft.com/office/drawing/2014/main" id="{57DF73AC-887D-4EAE-5FF0-7BA67A5047C6}"/>
              </a:ext>
            </a:extLst>
          </p:cNvPr>
          <p:cNvSpPr/>
          <p:nvPr/>
        </p:nvSpPr>
        <p:spPr>
          <a:xfrm>
            <a:off x="761593" y="3381840"/>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55" name="Rectangle 57">
            <a:extLst>
              <a:ext uri="{FF2B5EF4-FFF2-40B4-BE49-F238E27FC236}">
                <a16:creationId xmlns:a16="http://schemas.microsoft.com/office/drawing/2014/main" id="{AB55DD87-3F59-DEB5-3AD8-9E8A95EDE0D7}"/>
              </a:ext>
            </a:extLst>
          </p:cNvPr>
          <p:cNvSpPr>
            <a:spLocks noChangeArrowheads="1"/>
          </p:cNvSpPr>
          <p:nvPr/>
        </p:nvSpPr>
        <p:spPr bwMode="auto">
          <a:xfrm>
            <a:off x="885588" y="2731386"/>
            <a:ext cx="794434"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j=0</a:t>
            </a:r>
            <a:endParaRPr kumimoji="0" lang="zh-CN" altLang="en-US" sz="2400" dirty="0">
              <a:ea typeface="Li Super" charset="-122"/>
            </a:endParaRPr>
          </a:p>
        </p:txBody>
      </p:sp>
      <p:sp>
        <p:nvSpPr>
          <p:cNvPr id="56" name="Rectangle 55">
            <a:extLst>
              <a:ext uri="{FF2B5EF4-FFF2-40B4-BE49-F238E27FC236}">
                <a16:creationId xmlns:a16="http://schemas.microsoft.com/office/drawing/2014/main" id="{834E8012-30A7-A26E-ABDE-01C96C5CDDF4}"/>
              </a:ext>
            </a:extLst>
          </p:cNvPr>
          <p:cNvSpPr>
            <a:spLocks noChangeArrowheads="1"/>
          </p:cNvSpPr>
          <p:nvPr/>
        </p:nvSpPr>
        <p:spPr bwMode="auto">
          <a:xfrm>
            <a:off x="306393" y="179400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57" name="Line 29">
            <a:extLst>
              <a:ext uri="{FF2B5EF4-FFF2-40B4-BE49-F238E27FC236}">
                <a16:creationId xmlns:a16="http://schemas.microsoft.com/office/drawing/2014/main" id="{1C04E10B-0D97-9679-FC47-40BBD8807FB7}"/>
              </a:ext>
            </a:extLst>
          </p:cNvPr>
          <p:cNvSpPr>
            <a:spLocks noChangeShapeType="1"/>
          </p:cNvSpPr>
          <p:nvPr/>
        </p:nvSpPr>
        <p:spPr bwMode="auto">
          <a:xfrm>
            <a:off x="722811" y="2107271"/>
            <a:ext cx="252617" cy="19236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虚尾箭头 57">
            <a:extLst>
              <a:ext uri="{FF2B5EF4-FFF2-40B4-BE49-F238E27FC236}">
                <a16:creationId xmlns:a16="http://schemas.microsoft.com/office/drawing/2014/main" id="{0D974E55-EC20-9F74-9861-C37B7383846E}"/>
              </a:ext>
            </a:extLst>
          </p:cNvPr>
          <p:cNvSpPr/>
          <p:nvPr/>
        </p:nvSpPr>
        <p:spPr>
          <a:xfrm>
            <a:off x="1410238" y="2051151"/>
            <a:ext cx="3177226" cy="229357"/>
          </a:xfrm>
          <a:prstGeom prst="striped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E0E05740-FB67-ED28-787E-C886D4BBBB63}"/>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E3DC9D4C-721A-5A70-776B-15A7CA137559}"/>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4" name="矩形 3">
            <a:extLst>
              <a:ext uri="{FF2B5EF4-FFF2-40B4-BE49-F238E27FC236}">
                <a16:creationId xmlns:a16="http://schemas.microsoft.com/office/drawing/2014/main" id="{E196ECCA-3EFF-4DCB-089F-1E2A16B431D3}"/>
              </a:ext>
            </a:extLst>
          </p:cNvPr>
          <p:cNvSpPr/>
          <p:nvPr/>
        </p:nvSpPr>
        <p:spPr>
          <a:xfrm>
            <a:off x="1090565" y="1514431"/>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⑧</a:t>
            </a:r>
            <a:r>
              <a:rPr lang="zh-CN" altLang="en-US" sz="2000" dirty="0">
                <a:latin typeface="微软雅黑" pitchFamily="34" charset="-122"/>
                <a:ea typeface="微软雅黑" pitchFamily="34" charset="-122"/>
                <a:cs typeface="经典粗黑简" pitchFamily="49" charset="-122"/>
              </a:rPr>
              <a:t>插入操作</a:t>
            </a:r>
          </a:p>
        </p:txBody>
      </p:sp>
      <p:sp>
        <p:nvSpPr>
          <p:cNvPr id="5" name="矩形 4">
            <a:extLst>
              <a:ext uri="{FF2B5EF4-FFF2-40B4-BE49-F238E27FC236}">
                <a16:creationId xmlns:a16="http://schemas.microsoft.com/office/drawing/2014/main" id="{753AC4A3-2A73-CF17-5795-95643759E0A6}"/>
              </a:ext>
            </a:extLst>
          </p:cNvPr>
          <p:cNvSpPr/>
          <p:nvPr/>
        </p:nvSpPr>
        <p:spPr>
          <a:xfrm>
            <a:off x="755576" y="3651870"/>
            <a:ext cx="3602268" cy="400110"/>
          </a:xfrm>
          <a:prstGeom prst="rect">
            <a:avLst/>
          </a:prstGeom>
        </p:spPr>
        <p:txBody>
          <a:bodyPr wrap="none">
            <a:spAutoFit/>
          </a:bodyPr>
          <a:lstStyle/>
          <a:p>
            <a:pPr marL="342900"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申请一个结点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并填入</a:t>
            </a:r>
            <a:r>
              <a:rPr lang="en-US" altLang="zh-CN" sz="2000" dirty="0">
                <a:latin typeface="微软雅黑" pitchFamily="34" charset="-122"/>
                <a:ea typeface="微软雅黑" pitchFamily="34" charset="-122"/>
                <a:cs typeface="经典粗黑简" pitchFamily="49" charset="-122"/>
              </a:rPr>
              <a:t>e</a:t>
            </a:r>
            <a:r>
              <a:rPr lang="zh-CN" altLang="en-US" sz="2000" dirty="0">
                <a:latin typeface="微软雅黑" pitchFamily="34" charset="-122"/>
                <a:ea typeface="微软雅黑" pitchFamily="34" charset="-122"/>
                <a:cs typeface="经典粗黑简" pitchFamily="49" charset="-122"/>
              </a:rPr>
              <a:t>值；</a:t>
            </a:r>
          </a:p>
        </p:txBody>
      </p:sp>
      <p:sp>
        <p:nvSpPr>
          <p:cNvPr id="6" name="Rectangle 5">
            <a:extLst>
              <a:ext uri="{FF2B5EF4-FFF2-40B4-BE49-F238E27FC236}">
                <a16:creationId xmlns:a16="http://schemas.microsoft.com/office/drawing/2014/main" id="{A5883ACA-F7B1-98D3-97EE-3CDFDA9144E3}"/>
              </a:ext>
            </a:extLst>
          </p:cNvPr>
          <p:cNvSpPr>
            <a:spLocks noChangeArrowheads="1"/>
          </p:cNvSpPr>
          <p:nvPr/>
        </p:nvSpPr>
        <p:spPr bwMode="auto">
          <a:xfrm>
            <a:off x="5465216" y="309841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2400" dirty="0"/>
              <a:t>  e </a:t>
            </a:r>
          </a:p>
        </p:txBody>
      </p:sp>
      <p:sp>
        <p:nvSpPr>
          <p:cNvPr id="7" name="Line 6">
            <a:extLst>
              <a:ext uri="{FF2B5EF4-FFF2-40B4-BE49-F238E27FC236}">
                <a16:creationId xmlns:a16="http://schemas.microsoft.com/office/drawing/2014/main" id="{0284CC07-8751-61DF-7CED-15532C54B42B}"/>
              </a:ext>
            </a:extLst>
          </p:cNvPr>
          <p:cNvSpPr>
            <a:spLocks noChangeShapeType="1"/>
          </p:cNvSpPr>
          <p:nvPr/>
        </p:nvSpPr>
        <p:spPr bwMode="auto">
          <a:xfrm>
            <a:off x="6077418" y="3112102"/>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Rectangle 55">
            <a:extLst>
              <a:ext uri="{FF2B5EF4-FFF2-40B4-BE49-F238E27FC236}">
                <a16:creationId xmlns:a16="http://schemas.microsoft.com/office/drawing/2014/main" id="{F0D062E2-885A-5AE9-CBC8-A2AB74F79E0E}"/>
              </a:ext>
            </a:extLst>
          </p:cNvPr>
          <p:cNvSpPr>
            <a:spLocks noChangeArrowheads="1"/>
          </p:cNvSpPr>
          <p:nvPr/>
        </p:nvSpPr>
        <p:spPr bwMode="auto">
          <a:xfrm>
            <a:off x="4595074" y="314105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s</a:t>
            </a:r>
            <a:endParaRPr kumimoji="0" lang="zh-CN" altLang="en-US" sz="2400" dirty="0">
              <a:ea typeface="CFNEOP+TimesNewRoman" charset="-122"/>
            </a:endParaRPr>
          </a:p>
        </p:txBody>
      </p:sp>
      <p:sp>
        <p:nvSpPr>
          <p:cNvPr id="9" name="Line 29">
            <a:extLst>
              <a:ext uri="{FF2B5EF4-FFF2-40B4-BE49-F238E27FC236}">
                <a16:creationId xmlns:a16="http://schemas.microsoft.com/office/drawing/2014/main" id="{F4EFEA1A-6D12-9FD8-6570-353C923CA213}"/>
              </a:ext>
            </a:extLst>
          </p:cNvPr>
          <p:cNvSpPr>
            <a:spLocks noChangeShapeType="1"/>
          </p:cNvSpPr>
          <p:nvPr/>
        </p:nvSpPr>
        <p:spPr bwMode="auto">
          <a:xfrm>
            <a:off x="4949508" y="3327981"/>
            <a:ext cx="515709" cy="510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55">
            <a:extLst>
              <a:ext uri="{FF2B5EF4-FFF2-40B4-BE49-F238E27FC236}">
                <a16:creationId xmlns:a16="http://schemas.microsoft.com/office/drawing/2014/main" id="{65CB9557-3339-A9E2-8F06-889F978944F2}"/>
              </a:ext>
            </a:extLst>
          </p:cNvPr>
          <p:cNvSpPr>
            <a:spLocks noChangeArrowheads="1"/>
          </p:cNvSpPr>
          <p:nvPr/>
        </p:nvSpPr>
        <p:spPr bwMode="auto">
          <a:xfrm>
            <a:off x="5094336" y="345544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11" name="Rectangle 40">
            <a:extLst>
              <a:ext uri="{FF2B5EF4-FFF2-40B4-BE49-F238E27FC236}">
                <a16:creationId xmlns:a16="http://schemas.microsoft.com/office/drawing/2014/main" id="{E2944BC4-8925-BD29-F515-094D3E0369A6}"/>
              </a:ext>
            </a:extLst>
          </p:cNvPr>
          <p:cNvSpPr>
            <a:spLocks noChangeArrowheads="1"/>
          </p:cNvSpPr>
          <p:nvPr/>
        </p:nvSpPr>
        <p:spPr bwMode="auto">
          <a:xfrm>
            <a:off x="755577" y="3956271"/>
            <a:ext cx="442846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15000"/>
              </a:spcBef>
              <a:buClr>
                <a:schemeClr val="bg1"/>
              </a:buClr>
              <a:buSzPct val="95000"/>
              <a:buFont typeface="Wingdings" pitchFamily="2" charset="2"/>
              <a:buNone/>
            </a:pPr>
            <a:r>
              <a:rPr lang="en-US" altLang="zh-CN" sz="2000" dirty="0">
                <a:latin typeface="微软雅黑" pitchFamily="34" charset="-122"/>
                <a:ea typeface="微软雅黑" pitchFamily="34" charset="-122"/>
                <a:cs typeface="经典粗黑简" pitchFamily="49" charset="-122"/>
              </a:rPr>
              <a:t>③</a:t>
            </a:r>
            <a:r>
              <a:rPr lang="zh-CN" altLang="en-US" sz="2000" dirty="0">
                <a:latin typeface="微软雅黑" pitchFamily="34" charset="-122"/>
                <a:ea typeface="微软雅黑" pitchFamily="34" charset="-122"/>
                <a:cs typeface="经典粗黑简" pitchFamily="49" charset="-122"/>
              </a:rPr>
              <a:t> 修改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的指针域指向</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的下一结点；</a:t>
            </a:r>
          </a:p>
        </p:txBody>
      </p:sp>
      <p:cxnSp>
        <p:nvCxnSpPr>
          <p:cNvPr id="14" name="曲线连接符 56">
            <a:extLst>
              <a:ext uri="{FF2B5EF4-FFF2-40B4-BE49-F238E27FC236}">
                <a16:creationId xmlns:a16="http://schemas.microsoft.com/office/drawing/2014/main" id="{E68127DC-4D54-D069-77C7-627FC2A3E008}"/>
              </a:ext>
            </a:extLst>
          </p:cNvPr>
          <p:cNvCxnSpPr/>
          <p:nvPr/>
        </p:nvCxnSpPr>
        <p:spPr>
          <a:xfrm rot="5400000" flipH="1" flipV="1">
            <a:off x="5918900" y="3011612"/>
            <a:ext cx="639901" cy="79448"/>
          </a:xfrm>
          <a:prstGeom prst="curvedConnector3">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55">
            <a:extLst>
              <a:ext uri="{FF2B5EF4-FFF2-40B4-BE49-F238E27FC236}">
                <a16:creationId xmlns:a16="http://schemas.microsoft.com/office/drawing/2014/main" id="{DA4CAC2E-0F59-8E1D-7307-BC88B9E1FD9F}"/>
              </a:ext>
            </a:extLst>
          </p:cNvPr>
          <p:cNvSpPr>
            <a:spLocks noChangeArrowheads="1"/>
          </p:cNvSpPr>
          <p:nvPr/>
        </p:nvSpPr>
        <p:spPr bwMode="auto">
          <a:xfrm>
            <a:off x="6170381" y="277384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3" name="Rectangle 45">
            <a:extLst>
              <a:ext uri="{FF2B5EF4-FFF2-40B4-BE49-F238E27FC236}">
                <a16:creationId xmlns:a16="http://schemas.microsoft.com/office/drawing/2014/main" id="{3B80650B-A8FB-112D-BD43-B1D099BD6D9C}"/>
              </a:ext>
            </a:extLst>
          </p:cNvPr>
          <p:cNvSpPr>
            <a:spLocks noChangeArrowheads="1"/>
          </p:cNvSpPr>
          <p:nvPr/>
        </p:nvSpPr>
        <p:spPr bwMode="auto">
          <a:xfrm>
            <a:off x="755576" y="4245936"/>
            <a:ext cx="4170606"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15000"/>
              </a:spcBef>
              <a:buClr>
                <a:schemeClr val="bg1"/>
              </a:buClr>
              <a:buSzPct val="95000"/>
              <a:buFont typeface="Wingdings" pitchFamily="2" charset="2"/>
              <a:buNone/>
            </a:pPr>
            <a:r>
              <a:rPr lang="en-US" altLang="zh-CN" sz="2000" dirty="0">
                <a:latin typeface="微软雅黑" pitchFamily="34" charset="-122"/>
                <a:ea typeface="微软雅黑" pitchFamily="34" charset="-122"/>
                <a:cs typeface="经典粗黑简" pitchFamily="49" charset="-122"/>
              </a:rPr>
              <a:t>④ </a:t>
            </a:r>
            <a:r>
              <a:rPr lang="zh-CN" altLang="en-US" sz="2000" dirty="0">
                <a:latin typeface="微软雅黑" pitchFamily="34" charset="-122"/>
                <a:ea typeface="微软雅黑" pitchFamily="34" charset="-122"/>
                <a:cs typeface="经典粗黑简" pitchFamily="49" charset="-122"/>
              </a:rPr>
              <a:t>修改</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的指针域指向</a:t>
            </a:r>
            <a:r>
              <a:rPr lang="en-US" altLang="zh-CN" sz="2000" dirty="0">
                <a:latin typeface="微软雅黑" pitchFamily="34" charset="-122"/>
                <a:ea typeface="微软雅黑" pitchFamily="34" charset="-122"/>
                <a:cs typeface="经典粗黑简" pitchFamily="49" charset="-122"/>
              </a:rPr>
              <a:t>s。</a:t>
            </a:r>
            <a:endParaRPr lang="zh-CN" altLang="en-US" sz="2000" dirty="0">
              <a:latin typeface="微软雅黑" pitchFamily="34" charset="-122"/>
              <a:ea typeface="微软雅黑" pitchFamily="34" charset="-122"/>
              <a:cs typeface="经典粗黑简" pitchFamily="49" charset="-122"/>
            </a:endParaRPr>
          </a:p>
        </p:txBody>
      </p:sp>
      <p:sp>
        <p:nvSpPr>
          <p:cNvPr id="17" name="Line 29">
            <a:extLst>
              <a:ext uri="{FF2B5EF4-FFF2-40B4-BE49-F238E27FC236}">
                <a16:creationId xmlns:a16="http://schemas.microsoft.com/office/drawing/2014/main" id="{F6B56F01-053E-8DE9-6C59-2D674AD87158}"/>
              </a:ext>
            </a:extLst>
          </p:cNvPr>
          <p:cNvSpPr>
            <a:spLocks noChangeShapeType="1"/>
          </p:cNvSpPr>
          <p:nvPr/>
        </p:nvSpPr>
        <p:spPr bwMode="auto">
          <a:xfrm>
            <a:off x="5781762" y="2588535"/>
            <a:ext cx="1" cy="64046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Rectangle 55">
            <a:extLst>
              <a:ext uri="{FF2B5EF4-FFF2-40B4-BE49-F238E27FC236}">
                <a16:creationId xmlns:a16="http://schemas.microsoft.com/office/drawing/2014/main" id="{3C677166-FB14-916C-4A47-1D0D50A060DC}"/>
              </a:ext>
            </a:extLst>
          </p:cNvPr>
          <p:cNvSpPr>
            <a:spLocks noChangeArrowheads="1"/>
          </p:cNvSpPr>
          <p:nvPr/>
        </p:nvSpPr>
        <p:spPr bwMode="auto">
          <a:xfrm>
            <a:off x="5536464" y="230172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④</a:t>
            </a:r>
            <a:endParaRPr kumimoji="0" lang="zh-CN" altLang="en-US" sz="2400" dirty="0">
              <a:solidFill>
                <a:srgbClr val="FF0000"/>
              </a:solidFill>
              <a:ea typeface="CFNEOP+TimesNewRoman" charset="-122"/>
            </a:endParaRPr>
          </a:p>
        </p:txBody>
      </p:sp>
      <p:sp>
        <p:nvSpPr>
          <p:cNvPr id="22" name="Rectangle 55">
            <a:extLst>
              <a:ext uri="{FF2B5EF4-FFF2-40B4-BE49-F238E27FC236}">
                <a16:creationId xmlns:a16="http://schemas.microsoft.com/office/drawing/2014/main" id="{A977D040-5F7E-7F2E-BBCF-C7729FF23899}"/>
              </a:ext>
            </a:extLst>
          </p:cNvPr>
          <p:cNvSpPr>
            <a:spLocks noChangeArrowheads="1"/>
          </p:cNvSpPr>
          <p:nvPr/>
        </p:nvSpPr>
        <p:spPr bwMode="auto">
          <a:xfrm>
            <a:off x="5868145" y="2387021"/>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Ⅹ</a:t>
            </a:r>
            <a:endParaRPr kumimoji="0" lang="zh-CN" altLang="en-US" sz="2400" dirty="0">
              <a:solidFill>
                <a:srgbClr val="FF0000"/>
              </a:solidFill>
              <a:ea typeface="CFNEOP+TimesNewRoman" charset="-122"/>
            </a:endParaRPr>
          </a:p>
        </p:txBody>
      </p:sp>
      <p:sp>
        <p:nvSpPr>
          <p:cNvPr id="12" name="Rectangle 54">
            <a:extLst>
              <a:ext uri="{FF2B5EF4-FFF2-40B4-BE49-F238E27FC236}">
                <a16:creationId xmlns:a16="http://schemas.microsoft.com/office/drawing/2014/main" id="{DC42F47B-7712-0753-4D22-E8CBDF4DAFB7}"/>
              </a:ext>
            </a:extLst>
          </p:cNvPr>
          <p:cNvSpPr>
            <a:spLocks noChangeArrowheads="1"/>
          </p:cNvSpPr>
          <p:nvPr/>
        </p:nvSpPr>
        <p:spPr bwMode="auto">
          <a:xfrm>
            <a:off x="4956185" y="3964173"/>
            <a:ext cx="4193684" cy="3429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15000"/>
              </a:spcBef>
              <a:buClr>
                <a:schemeClr val="bg1"/>
              </a:buClr>
              <a:buSzPct val="95000"/>
              <a:buFont typeface="Wingdings" pitchFamily="2" charset="2"/>
              <a:buNone/>
            </a:pPr>
            <a:r>
              <a:rPr lang="zh-CN" altLang="en-US" sz="2400" dirty="0">
                <a:latin typeface="微软雅黑" pitchFamily="34" charset="-122"/>
                <a:ea typeface="微软雅黑" pitchFamily="34" charset="-122"/>
                <a:cs typeface="经典粗黑简" pitchFamily="49" charset="-122"/>
              </a:rPr>
              <a:t>思考：第</a:t>
            </a:r>
            <a:r>
              <a:rPr lang="en-US" altLang="zh-CN" sz="2400" dirty="0">
                <a:latin typeface="微软雅黑" pitchFamily="34" charset="-122"/>
                <a:ea typeface="微软雅黑" pitchFamily="34" charset="-122"/>
                <a:cs typeface="经典粗黑简" pitchFamily="49" charset="-122"/>
              </a:rPr>
              <a:t>③④</a:t>
            </a:r>
            <a:r>
              <a:rPr lang="zh-CN" altLang="en-US" sz="2400" dirty="0">
                <a:latin typeface="微软雅黑" pitchFamily="34" charset="-122"/>
                <a:ea typeface="微软雅黑" pitchFamily="34" charset="-122"/>
                <a:cs typeface="经典粗黑简" pitchFamily="49" charset="-122"/>
              </a:rPr>
              <a:t>步是否可交换？</a:t>
            </a:r>
          </a:p>
        </p:txBody>
      </p:sp>
      <p:sp>
        <p:nvSpPr>
          <p:cNvPr id="53" name="矩形 52">
            <a:extLst>
              <a:ext uri="{FF2B5EF4-FFF2-40B4-BE49-F238E27FC236}">
                <a16:creationId xmlns:a16="http://schemas.microsoft.com/office/drawing/2014/main" id="{4CE7AD4B-2CD9-42E6-9D13-53F26B4039DA}"/>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3967644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5"/>
          <p:cNvSpPr>
            <a:spLocks noChangeArrowheads="1"/>
          </p:cNvSpPr>
          <p:nvPr/>
        </p:nvSpPr>
        <p:spPr bwMode="auto">
          <a:xfrm>
            <a:off x="2108646" y="229963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20" name="Line 6"/>
          <p:cNvSpPr>
            <a:spLocks noChangeShapeType="1"/>
          </p:cNvSpPr>
          <p:nvPr/>
        </p:nvSpPr>
        <p:spPr bwMode="auto">
          <a:xfrm>
            <a:off x="2642046"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Rectangle 25"/>
          <p:cNvSpPr>
            <a:spLocks noChangeArrowheads="1"/>
          </p:cNvSpPr>
          <p:nvPr/>
        </p:nvSpPr>
        <p:spPr bwMode="auto">
          <a:xfrm>
            <a:off x="4272531" y="237359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3" name="Rectangle 36"/>
          <p:cNvSpPr>
            <a:spLocks noChangeArrowheads="1"/>
          </p:cNvSpPr>
          <p:nvPr/>
        </p:nvSpPr>
        <p:spPr bwMode="auto">
          <a:xfrm>
            <a:off x="7441525" y="2395597"/>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4" name="Rectangle 228"/>
          <p:cNvSpPr>
            <a:spLocks noChangeArrowheads="1"/>
          </p:cNvSpPr>
          <p:nvPr/>
        </p:nvSpPr>
        <p:spPr bwMode="auto">
          <a:xfrm>
            <a:off x="306393" y="233585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25" name="Line 29"/>
          <p:cNvSpPr>
            <a:spLocks noChangeShapeType="1"/>
          </p:cNvSpPr>
          <p:nvPr/>
        </p:nvSpPr>
        <p:spPr bwMode="auto">
          <a:xfrm>
            <a:off x="572038" y="252613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5"/>
          <p:cNvSpPr>
            <a:spLocks noChangeArrowheads="1"/>
          </p:cNvSpPr>
          <p:nvPr/>
        </p:nvSpPr>
        <p:spPr bwMode="auto">
          <a:xfrm>
            <a:off x="3284303" y="230500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27" name="Line 6"/>
          <p:cNvSpPr>
            <a:spLocks noChangeShapeType="1"/>
          </p:cNvSpPr>
          <p:nvPr/>
        </p:nvSpPr>
        <p:spPr bwMode="auto">
          <a:xfrm>
            <a:off x="3817703" y="230500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9"/>
          <p:cNvSpPr>
            <a:spLocks noChangeShapeType="1"/>
          </p:cNvSpPr>
          <p:nvPr/>
        </p:nvSpPr>
        <p:spPr bwMode="auto">
          <a:xfrm>
            <a:off x="2903303"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Rectangle 5"/>
          <p:cNvSpPr>
            <a:spLocks noChangeArrowheads="1"/>
          </p:cNvSpPr>
          <p:nvPr/>
        </p:nvSpPr>
        <p:spPr bwMode="auto">
          <a:xfrm>
            <a:off x="4885814" y="2321632"/>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30" name="Line 6"/>
          <p:cNvSpPr>
            <a:spLocks noChangeShapeType="1"/>
          </p:cNvSpPr>
          <p:nvPr/>
        </p:nvSpPr>
        <p:spPr bwMode="auto">
          <a:xfrm>
            <a:off x="5622387" y="2316257"/>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9"/>
          <p:cNvSpPr>
            <a:spLocks noChangeShapeType="1"/>
          </p:cNvSpPr>
          <p:nvPr/>
        </p:nvSpPr>
        <p:spPr bwMode="auto">
          <a:xfrm>
            <a:off x="4587464" y="2560335"/>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29"/>
          <p:cNvSpPr>
            <a:spLocks noChangeShapeType="1"/>
          </p:cNvSpPr>
          <p:nvPr/>
        </p:nvSpPr>
        <p:spPr bwMode="auto">
          <a:xfrm>
            <a:off x="4008203" y="2556491"/>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Rectangle 5"/>
          <p:cNvSpPr>
            <a:spLocks noChangeArrowheads="1"/>
          </p:cNvSpPr>
          <p:nvPr/>
        </p:nvSpPr>
        <p:spPr bwMode="auto">
          <a:xfrm>
            <a:off x="6278573" y="233346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200" dirty="0">
                <a:latin typeface="微软雅黑" pitchFamily="34" charset="-122"/>
                <a:ea typeface="微软雅黑" pitchFamily="34" charset="-122"/>
              </a:rPr>
              <a:t> </a:t>
            </a:r>
            <a:r>
              <a:rPr lang="en-US" altLang="zh-CN" sz="2400" dirty="0"/>
              <a:t>   </a:t>
            </a:r>
          </a:p>
        </p:txBody>
      </p:sp>
      <p:sp>
        <p:nvSpPr>
          <p:cNvPr id="34" name="Line 6"/>
          <p:cNvSpPr>
            <a:spLocks noChangeShapeType="1"/>
          </p:cNvSpPr>
          <p:nvPr/>
        </p:nvSpPr>
        <p:spPr bwMode="auto">
          <a:xfrm>
            <a:off x="6811973" y="233346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29"/>
          <p:cNvSpPr>
            <a:spLocks noChangeShapeType="1"/>
          </p:cNvSpPr>
          <p:nvPr/>
        </p:nvSpPr>
        <p:spPr bwMode="auto">
          <a:xfrm>
            <a:off x="7043281" y="258853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Rectangle 5"/>
          <p:cNvSpPr>
            <a:spLocks noChangeArrowheads="1"/>
          </p:cNvSpPr>
          <p:nvPr/>
        </p:nvSpPr>
        <p:spPr bwMode="auto">
          <a:xfrm>
            <a:off x="8157234" y="2348597"/>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600" baseline="-25000" dirty="0"/>
              <a:t> </a:t>
            </a:r>
            <a:r>
              <a:rPr lang="zh-CN" altLang="en-US" sz="2400" dirty="0"/>
              <a:t>^</a:t>
            </a:r>
            <a:r>
              <a:rPr lang="en-US" altLang="zh-CN" sz="2400" dirty="0"/>
              <a:t>  </a:t>
            </a:r>
          </a:p>
        </p:txBody>
      </p:sp>
      <p:sp>
        <p:nvSpPr>
          <p:cNvPr id="41" name="Line 6"/>
          <p:cNvSpPr>
            <a:spLocks noChangeShapeType="1"/>
          </p:cNvSpPr>
          <p:nvPr/>
        </p:nvSpPr>
        <p:spPr bwMode="auto">
          <a:xfrm>
            <a:off x="8690634" y="2348597"/>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9"/>
          <p:cNvSpPr>
            <a:spLocks noChangeShapeType="1"/>
          </p:cNvSpPr>
          <p:nvPr/>
        </p:nvSpPr>
        <p:spPr bwMode="auto">
          <a:xfrm>
            <a:off x="7776234" y="260277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5"/>
          <p:cNvSpPr>
            <a:spLocks noChangeArrowheads="1"/>
          </p:cNvSpPr>
          <p:nvPr/>
        </p:nvSpPr>
        <p:spPr bwMode="auto">
          <a:xfrm>
            <a:off x="953038" y="2299630"/>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44" name="Line 6"/>
          <p:cNvSpPr>
            <a:spLocks noChangeShapeType="1"/>
          </p:cNvSpPr>
          <p:nvPr/>
        </p:nvSpPr>
        <p:spPr bwMode="auto">
          <a:xfrm>
            <a:off x="1486438"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9"/>
          <p:cNvSpPr>
            <a:spLocks noChangeShapeType="1"/>
          </p:cNvSpPr>
          <p:nvPr/>
        </p:nvSpPr>
        <p:spPr bwMode="auto">
          <a:xfrm>
            <a:off x="1747695"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Rectangle 57"/>
          <p:cNvSpPr>
            <a:spLocks noChangeArrowheads="1"/>
          </p:cNvSpPr>
          <p:nvPr/>
        </p:nvSpPr>
        <p:spPr bwMode="auto">
          <a:xfrm>
            <a:off x="4768021" y="2753388"/>
            <a:ext cx="1013740"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j=i-1</a:t>
            </a:r>
            <a:endParaRPr kumimoji="0" lang="zh-CN" altLang="en-US" sz="2400" dirty="0">
              <a:ea typeface="Li Super" charset="-122"/>
            </a:endParaRPr>
          </a:p>
        </p:txBody>
      </p:sp>
      <p:sp>
        <p:nvSpPr>
          <p:cNvPr id="47" name="Rectangle 55"/>
          <p:cNvSpPr>
            <a:spLocks noChangeArrowheads="1"/>
          </p:cNvSpPr>
          <p:nvPr/>
        </p:nvSpPr>
        <p:spPr bwMode="auto">
          <a:xfrm>
            <a:off x="4391445" y="165364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48" name="Line 29"/>
          <p:cNvSpPr>
            <a:spLocks noChangeShapeType="1"/>
          </p:cNvSpPr>
          <p:nvPr/>
        </p:nvSpPr>
        <p:spPr bwMode="auto">
          <a:xfrm>
            <a:off x="4587464" y="1959322"/>
            <a:ext cx="298351" cy="38513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Rectangle 55"/>
          <p:cNvSpPr>
            <a:spLocks noChangeArrowheads="1"/>
          </p:cNvSpPr>
          <p:nvPr/>
        </p:nvSpPr>
        <p:spPr bwMode="auto">
          <a:xfrm>
            <a:off x="4754444" y="19340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50" name="矩形 49"/>
          <p:cNvSpPr/>
          <p:nvPr/>
        </p:nvSpPr>
        <p:spPr>
          <a:xfrm>
            <a:off x="323528" y="3057804"/>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51" name="矩形 50"/>
          <p:cNvSpPr/>
          <p:nvPr/>
        </p:nvSpPr>
        <p:spPr>
          <a:xfrm>
            <a:off x="761593" y="3381840"/>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cxnSp>
        <p:nvCxnSpPr>
          <p:cNvPr id="63" name="直接连接符 6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755576" y="3651870"/>
            <a:ext cx="3602268" cy="400110"/>
          </a:xfrm>
          <a:prstGeom prst="rect">
            <a:avLst/>
          </a:prstGeom>
        </p:spPr>
        <p:txBody>
          <a:bodyPr wrap="none">
            <a:spAutoFit/>
          </a:bodyPr>
          <a:lstStyle/>
          <a:p>
            <a:pPr marL="342900"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申请一个结点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并填入</a:t>
            </a:r>
            <a:r>
              <a:rPr lang="en-US" altLang="zh-CN" sz="2000" dirty="0">
                <a:latin typeface="微软雅黑" pitchFamily="34" charset="-122"/>
                <a:ea typeface="微软雅黑" pitchFamily="34" charset="-122"/>
                <a:cs typeface="经典粗黑简" pitchFamily="49" charset="-122"/>
              </a:rPr>
              <a:t>e</a:t>
            </a:r>
            <a:r>
              <a:rPr lang="zh-CN" altLang="en-US" sz="2000" dirty="0">
                <a:latin typeface="微软雅黑" pitchFamily="34" charset="-122"/>
                <a:ea typeface="微软雅黑" pitchFamily="34" charset="-122"/>
                <a:cs typeface="经典粗黑简" pitchFamily="49" charset="-122"/>
              </a:rPr>
              <a:t>值；</a:t>
            </a:r>
          </a:p>
        </p:txBody>
      </p:sp>
      <p:sp>
        <p:nvSpPr>
          <p:cNvPr id="66" name="Rectangle 5"/>
          <p:cNvSpPr>
            <a:spLocks noChangeArrowheads="1"/>
          </p:cNvSpPr>
          <p:nvPr/>
        </p:nvSpPr>
        <p:spPr bwMode="auto">
          <a:xfrm>
            <a:off x="5465216" y="309841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2400" dirty="0"/>
              <a:t>  e </a:t>
            </a:r>
          </a:p>
        </p:txBody>
      </p:sp>
      <p:sp>
        <p:nvSpPr>
          <p:cNvPr id="67" name="Line 6"/>
          <p:cNvSpPr>
            <a:spLocks noChangeShapeType="1"/>
          </p:cNvSpPr>
          <p:nvPr/>
        </p:nvSpPr>
        <p:spPr bwMode="auto">
          <a:xfrm>
            <a:off x="6077418" y="3112102"/>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Rectangle 55"/>
          <p:cNvSpPr>
            <a:spLocks noChangeArrowheads="1"/>
          </p:cNvSpPr>
          <p:nvPr/>
        </p:nvSpPr>
        <p:spPr bwMode="auto">
          <a:xfrm>
            <a:off x="4595074" y="314105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s</a:t>
            </a:r>
            <a:endParaRPr kumimoji="0" lang="zh-CN" altLang="en-US" sz="2400" dirty="0">
              <a:ea typeface="CFNEOP+TimesNewRoman" charset="-122"/>
            </a:endParaRPr>
          </a:p>
        </p:txBody>
      </p:sp>
      <p:sp>
        <p:nvSpPr>
          <p:cNvPr id="69" name="Line 29"/>
          <p:cNvSpPr>
            <a:spLocks noChangeShapeType="1"/>
          </p:cNvSpPr>
          <p:nvPr/>
        </p:nvSpPr>
        <p:spPr bwMode="auto">
          <a:xfrm>
            <a:off x="4949508" y="3327981"/>
            <a:ext cx="515709" cy="510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Rectangle 55"/>
          <p:cNvSpPr>
            <a:spLocks noChangeArrowheads="1"/>
          </p:cNvSpPr>
          <p:nvPr/>
        </p:nvSpPr>
        <p:spPr bwMode="auto">
          <a:xfrm>
            <a:off x="5094336" y="345544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54" name="Rectangle 40"/>
          <p:cNvSpPr>
            <a:spLocks noChangeArrowheads="1"/>
          </p:cNvSpPr>
          <p:nvPr/>
        </p:nvSpPr>
        <p:spPr bwMode="auto">
          <a:xfrm>
            <a:off x="755577" y="3956271"/>
            <a:ext cx="442846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15000"/>
              </a:spcBef>
              <a:buClr>
                <a:schemeClr val="bg1"/>
              </a:buClr>
              <a:buSzPct val="95000"/>
              <a:buFont typeface="Wingdings" pitchFamily="2" charset="2"/>
              <a:buNone/>
            </a:pPr>
            <a:r>
              <a:rPr lang="en-US" altLang="zh-CN" sz="2000" dirty="0">
                <a:latin typeface="微软雅黑" pitchFamily="34" charset="-122"/>
                <a:ea typeface="微软雅黑" pitchFamily="34" charset="-122"/>
                <a:cs typeface="经典粗黑简" pitchFamily="49" charset="-122"/>
              </a:rPr>
              <a:t>③</a:t>
            </a:r>
            <a:r>
              <a:rPr lang="zh-CN" altLang="en-US" sz="2000" dirty="0">
                <a:latin typeface="微软雅黑" pitchFamily="34" charset="-122"/>
                <a:ea typeface="微软雅黑" pitchFamily="34" charset="-122"/>
                <a:cs typeface="经典粗黑简" pitchFamily="49" charset="-122"/>
              </a:rPr>
              <a:t> 修改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的指针域指向</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的下一结点；</a:t>
            </a:r>
          </a:p>
        </p:txBody>
      </p:sp>
      <p:sp>
        <p:nvSpPr>
          <p:cNvPr id="59" name="Rectangle 45"/>
          <p:cNvSpPr>
            <a:spLocks noChangeArrowheads="1"/>
          </p:cNvSpPr>
          <p:nvPr/>
        </p:nvSpPr>
        <p:spPr bwMode="auto">
          <a:xfrm>
            <a:off x="755576" y="4245936"/>
            <a:ext cx="4170606"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15000"/>
              </a:spcBef>
              <a:buClr>
                <a:schemeClr val="bg1"/>
              </a:buClr>
              <a:buSzPct val="95000"/>
              <a:buFont typeface="Wingdings" pitchFamily="2" charset="2"/>
              <a:buNone/>
            </a:pPr>
            <a:r>
              <a:rPr lang="en-US" altLang="zh-CN" sz="2000" dirty="0">
                <a:latin typeface="微软雅黑" pitchFamily="34" charset="-122"/>
                <a:ea typeface="微软雅黑" pitchFamily="34" charset="-122"/>
                <a:cs typeface="经典粗黑简" pitchFamily="49" charset="-122"/>
              </a:rPr>
              <a:t>④ </a:t>
            </a:r>
            <a:r>
              <a:rPr lang="zh-CN" altLang="en-US" sz="2000" dirty="0">
                <a:latin typeface="微软雅黑" pitchFamily="34" charset="-122"/>
                <a:ea typeface="微软雅黑" pitchFamily="34" charset="-122"/>
                <a:cs typeface="经典粗黑简" pitchFamily="49" charset="-122"/>
              </a:rPr>
              <a:t>修改</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的指针域指向</a:t>
            </a:r>
            <a:r>
              <a:rPr lang="en-US" altLang="zh-CN" sz="2000" dirty="0">
                <a:latin typeface="微软雅黑" pitchFamily="34" charset="-122"/>
                <a:ea typeface="微软雅黑" pitchFamily="34" charset="-122"/>
                <a:cs typeface="经典粗黑简" pitchFamily="49" charset="-122"/>
              </a:rPr>
              <a:t>s。</a:t>
            </a:r>
            <a:endParaRPr lang="zh-CN" altLang="en-US" sz="2000" dirty="0">
              <a:latin typeface="微软雅黑" pitchFamily="34" charset="-122"/>
              <a:ea typeface="微软雅黑" pitchFamily="34" charset="-122"/>
              <a:cs typeface="经典粗黑简" pitchFamily="49" charset="-122"/>
            </a:endParaRPr>
          </a:p>
        </p:txBody>
      </p:sp>
      <p:sp>
        <p:nvSpPr>
          <p:cNvPr id="70" name="Line 29"/>
          <p:cNvSpPr>
            <a:spLocks noChangeShapeType="1"/>
          </p:cNvSpPr>
          <p:nvPr/>
        </p:nvSpPr>
        <p:spPr bwMode="auto">
          <a:xfrm>
            <a:off x="5781762" y="2588535"/>
            <a:ext cx="1" cy="64046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 name="Rectangle 55"/>
          <p:cNvSpPr>
            <a:spLocks noChangeArrowheads="1"/>
          </p:cNvSpPr>
          <p:nvPr/>
        </p:nvSpPr>
        <p:spPr bwMode="auto">
          <a:xfrm>
            <a:off x="5536464" y="230172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④</a:t>
            </a:r>
            <a:endParaRPr kumimoji="0" lang="zh-CN" altLang="en-US" sz="2400" dirty="0">
              <a:solidFill>
                <a:srgbClr val="FF0000"/>
              </a:solidFill>
              <a:ea typeface="CFNEOP+TimesNewRoman" charset="-122"/>
            </a:endParaRPr>
          </a:p>
        </p:txBody>
      </p:sp>
      <p:sp>
        <p:nvSpPr>
          <p:cNvPr id="57" name="Rectangle 55"/>
          <p:cNvSpPr>
            <a:spLocks noChangeArrowheads="1"/>
          </p:cNvSpPr>
          <p:nvPr/>
        </p:nvSpPr>
        <p:spPr bwMode="auto">
          <a:xfrm>
            <a:off x="5508105" y="2027347"/>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00B050"/>
                </a:solidFill>
                <a:ea typeface="CFNEOP+TimesNewRoman" charset="-122"/>
              </a:rPr>
              <a:t>③</a:t>
            </a:r>
            <a:endParaRPr kumimoji="0" lang="zh-CN" altLang="en-US" sz="2400" dirty="0">
              <a:solidFill>
                <a:srgbClr val="00B050"/>
              </a:solidFill>
              <a:ea typeface="CFNEOP+TimesNewRoman" charset="-122"/>
            </a:endParaRPr>
          </a:p>
        </p:txBody>
      </p:sp>
      <p:sp>
        <p:nvSpPr>
          <p:cNvPr id="60" name="Rectangle 55"/>
          <p:cNvSpPr>
            <a:spLocks noChangeArrowheads="1"/>
          </p:cNvSpPr>
          <p:nvPr/>
        </p:nvSpPr>
        <p:spPr bwMode="auto">
          <a:xfrm>
            <a:off x="6278575" y="3630954"/>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00B050"/>
                </a:solidFill>
                <a:ea typeface="CFNEOP+TimesNewRoman" charset="-122"/>
              </a:rPr>
              <a:t>④</a:t>
            </a:r>
            <a:endParaRPr kumimoji="0" lang="zh-CN" altLang="en-US" sz="2400" dirty="0">
              <a:solidFill>
                <a:srgbClr val="00B050"/>
              </a:solidFill>
              <a:ea typeface="CFNEOP+TimesNewRoman" charset="-122"/>
            </a:endParaRPr>
          </a:p>
        </p:txBody>
      </p:sp>
      <p:sp>
        <p:nvSpPr>
          <p:cNvPr id="72" name="任意多边形 71"/>
          <p:cNvSpPr/>
          <p:nvPr/>
        </p:nvSpPr>
        <p:spPr>
          <a:xfrm>
            <a:off x="4993313" y="3371287"/>
            <a:ext cx="1576899" cy="510583"/>
          </a:xfrm>
          <a:custGeom>
            <a:avLst/>
            <a:gdLst>
              <a:gd name="connsiteX0" fmla="*/ 1227909 w 1576899"/>
              <a:gd name="connsiteY0" fmla="*/ 42230 h 680777"/>
              <a:gd name="connsiteX1" fmla="*/ 1558835 w 1576899"/>
              <a:gd name="connsiteY1" fmla="*/ 59647 h 680777"/>
              <a:gd name="connsiteX2" fmla="*/ 1393372 w 1576899"/>
              <a:gd name="connsiteY2" fmla="*/ 616995 h 680777"/>
              <a:gd name="connsiteX3" fmla="*/ 243840 w 1576899"/>
              <a:gd name="connsiteY3" fmla="*/ 625704 h 680777"/>
              <a:gd name="connsiteX4" fmla="*/ 0 w 1576899"/>
              <a:gd name="connsiteY4" fmla="*/ 233818 h 680777"/>
              <a:gd name="connsiteX5" fmla="*/ 243840 w 1576899"/>
              <a:gd name="connsiteY5" fmla="*/ 120607 h 680777"/>
              <a:gd name="connsiteX6" fmla="*/ 435429 w 1576899"/>
              <a:gd name="connsiteY6" fmla="*/ 120607 h 680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6899" h="680777">
                <a:moveTo>
                  <a:pt x="1227909" y="42230"/>
                </a:moveTo>
                <a:cubicBezTo>
                  <a:pt x="1379583" y="3041"/>
                  <a:pt x="1531258" y="-36147"/>
                  <a:pt x="1558835" y="59647"/>
                </a:cubicBezTo>
                <a:cubicBezTo>
                  <a:pt x="1586412" y="155441"/>
                  <a:pt x="1612538" y="522652"/>
                  <a:pt x="1393372" y="616995"/>
                </a:cubicBezTo>
                <a:cubicBezTo>
                  <a:pt x="1174206" y="711338"/>
                  <a:pt x="476069" y="689567"/>
                  <a:pt x="243840" y="625704"/>
                </a:cubicBezTo>
                <a:cubicBezTo>
                  <a:pt x="11611" y="561841"/>
                  <a:pt x="0" y="318001"/>
                  <a:pt x="0" y="233818"/>
                </a:cubicBezTo>
                <a:cubicBezTo>
                  <a:pt x="0" y="149635"/>
                  <a:pt x="171269" y="139475"/>
                  <a:pt x="243840" y="120607"/>
                </a:cubicBezTo>
                <a:cubicBezTo>
                  <a:pt x="316411" y="101739"/>
                  <a:pt x="375920" y="111173"/>
                  <a:pt x="435429" y="120607"/>
                </a:cubicBezTo>
              </a:path>
            </a:pathLst>
          </a:cu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Line 29"/>
          <p:cNvSpPr>
            <a:spLocks noChangeShapeType="1"/>
          </p:cNvSpPr>
          <p:nvPr/>
        </p:nvSpPr>
        <p:spPr bwMode="auto">
          <a:xfrm>
            <a:off x="5897573" y="258763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 name="Rectangle 55"/>
          <p:cNvSpPr>
            <a:spLocks noChangeArrowheads="1"/>
          </p:cNvSpPr>
          <p:nvPr/>
        </p:nvSpPr>
        <p:spPr bwMode="auto">
          <a:xfrm>
            <a:off x="5868145" y="2387021"/>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Ⅹ</a:t>
            </a:r>
            <a:endParaRPr kumimoji="0" lang="zh-CN" altLang="en-US" sz="2400" dirty="0">
              <a:solidFill>
                <a:srgbClr val="FF0000"/>
              </a:solidFill>
              <a:ea typeface="CFNEOP+TimesNewRoman" charset="-122"/>
            </a:endParaRPr>
          </a:p>
        </p:txBody>
      </p:sp>
      <p:sp>
        <p:nvSpPr>
          <p:cNvPr id="2" name="Rectangle 2">
            <a:extLst>
              <a:ext uri="{FF2B5EF4-FFF2-40B4-BE49-F238E27FC236}">
                <a16:creationId xmlns:a16="http://schemas.microsoft.com/office/drawing/2014/main" id="{1612DF69-1E9A-BA35-C0BC-F61108A7F70C}"/>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4" name="矩形 3">
            <a:extLst>
              <a:ext uri="{FF2B5EF4-FFF2-40B4-BE49-F238E27FC236}">
                <a16:creationId xmlns:a16="http://schemas.microsoft.com/office/drawing/2014/main" id="{BAB1F7B7-DBAC-843D-8CD9-A595AB4F7A1C}"/>
              </a:ext>
            </a:extLst>
          </p:cNvPr>
          <p:cNvSpPr/>
          <p:nvPr/>
        </p:nvSpPr>
        <p:spPr>
          <a:xfrm>
            <a:off x="1090565" y="1514431"/>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⑧</a:t>
            </a:r>
            <a:r>
              <a:rPr lang="zh-CN" altLang="en-US" sz="2000" dirty="0">
                <a:latin typeface="微软雅黑" pitchFamily="34" charset="-122"/>
                <a:ea typeface="微软雅黑" pitchFamily="34" charset="-122"/>
                <a:cs typeface="经典粗黑简" pitchFamily="49" charset="-122"/>
              </a:rPr>
              <a:t>插入操作</a:t>
            </a:r>
          </a:p>
        </p:txBody>
      </p:sp>
      <p:sp>
        <p:nvSpPr>
          <p:cNvPr id="55" name="矩形 54">
            <a:extLst>
              <a:ext uri="{FF2B5EF4-FFF2-40B4-BE49-F238E27FC236}">
                <a16:creationId xmlns:a16="http://schemas.microsoft.com/office/drawing/2014/main" id="{9D3D8610-D9D7-46E9-A771-1430D46EAD96}"/>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27647877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5"/>
          <p:cNvSpPr>
            <a:spLocks noChangeArrowheads="1"/>
          </p:cNvSpPr>
          <p:nvPr/>
        </p:nvSpPr>
        <p:spPr bwMode="auto">
          <a:xfrm>
            <a:off x="2108646" y="229963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20" name="Line 6"/>
          <p:cNvSpPr>
            <a:spLocks noChangeShapeType="1"/>
          </p:cNvSpPr>
          <p:nvPr/>
        </p:nvSpPr>
        <p:spPr bwMode="auto">
          <a:xfrm>
            <a:off x="2642046"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Rectangle 25"/>
          <p:cNvSpPr>
            <a:spLocks noChangeArrowheads="1"/>
          </p:cNvSpPr>
          <p:nvPr/>
        </p:nvSpPr>
        <p:spPr bwMode="auto">
          <a:xfrm>
            <a:off x="4272531" y="237359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3" name="Rectangle 36"/>
          <p:cNvSpPr>
            <a:spLocks noChangeArrowheads="1"/>
          </p:cNvSpPr>
          <p:nvPr/>
        </p:nvSpPr>
        <p:spPr bwMode="auto">
          <a:xfrm>
            <a:off x="7441525" y="2395597"/>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4" name="Rectangle 228"/>
          <p:cNvSpPr>
            <a:spLocks noChangeArrowheads="1"/>
          </p:cNvSpPr>
          <p:nvPr/>
        </p:nvSpPr>
        <p:spPr bwMode="auto">
          <a:xfrm>
            <a:off x="306393" y="233585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25" name="Line 29"/>
          <p:cNvSpPr>
            <a:spLocks noChangeShapeType="1"/>
          </p:cNvSpPr>
          <p:nvPr/>
        </p:nvSpPr>
        <p:spPr bwMode="auto">
          <a:xfrm>
            <a:off x="572038" y="252613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5"/>
          <p:cNvSpPr>
            <a:spLocks noChangeArrowheads="1"/>
          </p:cNvSpPr>
          <p:nvPr/>
        </p:nvSpPr>
        <p:spPr bwMode="auto">
          <a:xfrm>
            <a:off x="3284303" y="230500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27" name="Line 6"/>
          <p:cNvSpPr>
            <a:spLocks noChangeShapeType="1"/>
          </p:cNvSpPr>
          <p:nvPr/>
        </p:nvSpPr>
        <p:spPr bwMode="auto">
          <a:xfrm>
            <a:off x="3817703" y="230500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9"/>
          <p:cNvSpPr>
            <a:spLocks noChangeShapeType="1"/>
          </p:cNvSpPr>
          <p:nvPr/>
        </p:nvSpPr>
        <p:spPr bwMode="auto">
          <a:xfrm>
            <a:off x="2903303"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Rectangle 5"/>
          <p:cNvSpPr>
            <a:spLocks noChangeArrowheads="1"/>
          </p:cNvSpPr>
          <p:nvPr/>
        </p:nvSpPr>
        <p:spPr bwMode="auto">
          <a:xfrm>
            <a:off x="4885814" y="2321632"/>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30" name="Line 6"/>
          <p:cNvSpPr>
            <a:spLocks noChangeShapeType="1"/>
          </p:cNvSpPr>
          <p:nvPr/>
        </p:nvSpPr>
        <p:spPr bwMode="auto">
          <a:xfrm>
            <a:off x="5622387" y="2316257"/>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9"/>
          <p:cNvSpPr>
            <a:spLocks noChangeShapeType="1"/>
          </p:cNvSpPr>
          <p:nvPr/>
        </p:nvSpPr>
        <p:spPr bwMode="auto">
          <a:xfrm>
            <a:off x="4587464" y="2560335"/>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29"/>
          <p:cNvSpPr>
            <a:spLocks noChangeShapeType="1"/>
          </p:cNvSpPr>
          <p:nvPr/>
        </p:nvSpPr>
        <p:spPr bwMode="auto">
          <a:xfrm>
            <a:off x="4008203" y="2556491"/>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Rectangle 5"/>
          <p:cNvSpPr>
            <a:spLocks noChangeArrowheads="1"/>
          </p:cNvSpPr>
          <p:nvPr/>
        </p:nvSpPr>
        <p:spPr bwMode="auto">
          <a:xfrm>
            <a:off x="6278573" y="2333461"/>
            <a:ext cx="914400" cy="431756"/>
          </a:xfrm>
          <a:prstGeom prst="rect">
            <a:avLst/>
          </a:prstGeom>
          <a:solidFill>
            <a:srgbClr val="FF0000"/>
          </a:solid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200" dirty="0">
                <a:latin typeface="微软雅黑" pitchFamily="34" charset="-122"/>
                <a:ea typeface="微软雅黑" pitchFamily="34" charset="-122"/>
              </a:rPr>
              <a:t> </a:t>
            </a:r>
            <a:r>
              <a:rPr lang="en-US" altLang="zh-CN" sz="2400" dirty="0"/>
              <a:t>   </a:t>
            </a:r>
          </a:p>
        </p:txBody>
      </p:sp>
      <p:sp>
        <p:nvSpPr>
          <p:cNvPr id="34" name="Line 6"/>
          <p:cNvSpPr>
            <a:spLocks noChangeShapeType="1"/>
          </p:cNvSpPr>
          <p:nvPr/>
        </p:nvSpPr>
        <p:spPr bwMode="auto">
          <a:xfrm>
            <a:off x="6811973" y="233346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29"/>
          <p:cNvSpPr>
            <a:spLocks noChangeShapeType="1"/>
          </p:cNvSpPr>
          <p:nvPr/>
        </p:nvSpPr>
        <p:spPr bwMode="auto">
          <a:xfrm>
            <a:off x="7043281" y="258853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Rectangle 5"/>
          <p:cNvSpPr>
            <a:spLocks noChangeArrowheads="1"/>
          </p:cNvSpPr>
          <p:nvPr/>
        </p:nvSpPr>
        <p:spPr bwMode="auto">
          <a:xfrm>
            <a:off x="8157234" y="2348597"/>
            <a:ext cx="914400" cy="431756"/>
          </a:xfrm>
          <a:prstGeom prst="rect">
            <a:avLst/>
          </a:prstGeom>
          <a:solidFill>
            <a:srgbClr val="FF0000"/>
          </a:solid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600" baseline="-25000" dirty="0"/>
              <a:t> </a:t>
            </a:r>
            <a:r>
              <a:rPr lang="zh-CN" altLang="en-US" sz="2400" dirty="0"/>
              <a:t>^</a:t>
            </a:r>
            <a:r>
              <a:rPr lang="en-US" altLang="zh-CN" sz="2400" dirty="0"/>
              <a:t>  </a:t>
            </a:r>
          </a:p>
        </p:txBody>
      </p:sp>
      <p:sp>
        <p:nvSpPr>
          <p:cNvPr id="41" name="Line 6"/>
          <p:cNvSpPr>
            <a:spLocks noChangeShapeType="1"/>
          </p:cNvSpPr>
          <p:nvPr/>
        </p:nvSpPr>
        <p:spPr bwMode="auto">
          <a:xfrm>
            <a:off x="8690634" y="2348597"/>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9"/>
          <p:cNvSpPr>
            <a:spLocks noChangeShapeType="1"/>
          </p:cNvSpPr>
          <p:nvPr/>
        </p:nvSpPr>
        <p:spPr bwMode="auto">
          <a:xfrm>
            <a:off x="7776234" y="260277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5"/>
          <p:cNvSpPr>
            <a:spLocks noChangeArrowheads="1"/>
          </p:cNvSpPr>
          <p:nvPr/>
        </p:nvSpPr>
        <p:spPr bwMode="auto">
          <a:xfrm>
            <a:off x="953038" y="2299630"/>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44" name="Line 6"/>
          <p:cNvSpPr>
            <a:spLocks noChangeShapeType="1"/>
          </p:cNvSpPr>
          <p:nvPr/>
        </p:nvSpPr>
        <p:spPr bwMode="auto">
          <a:xfrm>
            <a:off x="1486438"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9"/>
          <p:cNvSpPr>
            <a:spLocks noChangeShapeType="1"/>
          </p:cNvSpPr>
          <p:nvPr/>
        </p:nvSpPr>
        <p:spPr bwMode="auto">
          <a:xfrm>
            <a:off x="1747695"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Rectangle 57"/>
          <p:cNvSpPr>
            <a:spLocks noChangeArrowheads="1"/>
          </p:cNvSpPr>
          <p:nvPr/>
        </p:nvSpPr>
        <p:spPr bwMode="auto">
          <a:xfrm>
            <a:off x="4768021" y="2753388"/>
            <a:ext cx="1013740"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k=i-1</a:t>
            </a:r>
            <a:endParaRPr kumimoji="0" lang="zh-CN" altLang="en-US" sz="2400" dirty="0">
              <a:ea typeface="Li Super" charset="-122"/>
            </a:endParaRPr>
          </a:p>
        </p:txBody>
      </p:sp>
      <p:sp>
        <p:nvSpPr>
          <p:cNvPr id="47" name="Rectangle 55"/>
          <p:cNvSpPr>
            <a:spLocks noChangeArrowheads="1"/>
          </p:cNvSpPr>
          <p:nvPr/>
        </p:nvSpPr>
        <p:spPr bwMode="auto">
          <a:xfrm>
            <a:off x="4391445" y="165364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48" name="Line 29"/>
          <p:cNvSpPr>
            <a:spLocks noChangeShapeType="1"/>
          </p:cNvSpPr>
          <p:nvPr/>
        </p:nvSpPr>
        <p:spPr bwMode="auto">
          <a:xfrm>
            <a:off x="4587464" y="1959322"/>
            <a:ext cx="298351" cy="38513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Rectangle 55"/>
          <p:cNvSpPr>
            <a:spLocks noChangeArrowheads="1"/>
          </p:cNvSpPr>
          <p:nvPr/>
        </p:nvSpPr>
        <p:spPr bwMode="auto">
          <a:xfrm>
            <a:off x="4754444" y="19340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50" name="矩形 49"/>
          <p:cNvSpPr/>
          <p:nvPr/>
        </p:nvSpPr>
        <p:spPr>
          <a:xfrm>
            <a:off x="323528" y="3057804"/>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51" name="矩形 50"/>
          <p:cNvSpPr/>
          <p:nvPr/>
        </p:nvSpPr>
        <p:spPr>
          <a:xfrm>
            <a:off x="761593" y="3381840"/>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cxnSp>
        <p:nvCxnSpPr>
          <p:cNvPr id="63" name="直接连接符 6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755576" y="3651870"/>
            <a:ext cx="3602268" cy="400110"/>
          </a:xfrm>
          <a:prstGeom prst="rect">
            <a:avLst/>
          </a:prstGeom>
        </p:spPr>
        <p:txBody>
          <a:bodyPr wrap="none">
            <a:spAutoFit/>
          </a:bodyPr>
          <a:lstStyle/>
          <a:p>
            <a:pPr marL="342900"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申请一个结点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并填入</a:t>
            </a:r>
            <a:r>
              <a:rPr lang="en-US" altLang="zh-CN" sz="2000" dirty="0">
                <a:latin typeface="微软雅黑" pitchFamily="34" charset="-122"/>
                <a:ea typeface="微软雅黑" pitchFamily="34" charset="-122"/>
                <a:cs typeface="经典粗黑简" pitchFamily="49" charset="-122"/>
              </a:rPr>
              <a:t>e</a:t>
            </a:r>
            <a:r>
              <a:rPr lang="zh-CN" altLang="en-US" sz="2000" dirty="0">
                <a:latin typeface="微软雅黑" pitchFamily="34" charset="-122"/>
                <a:ea typeface="微软雅黑" pitchFamily="34" charset="-122"/>
                <a:cs typeface="经典粗黑简" pitchFamily="49" charset="-122"/>
              </a:rPr>
              <a:t>值；</a:t>
            </a:r>
          </a:p>
        </p:txBody>
      </p:sp>
      <p:sp>
        <p:nvSpPr>
          <p:cNvPr id="66" name="Rectangle 5"/>
          <p:cNvSpPr>
            <a:spLocks noChangeArrowheads="1"/>
          </p:cNvSpPr>
          <p:nvPr/>
        </p:nvSpPr>
        <p:spPr bwMode="auto">
          <a:xfrm>
            <a:off x="5465216" y="309841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2400" dirty="0"/>
              <a:t>  e </a:t>
            </a:r>
          </a:p>
        </p:txBody>
      </p:sp>
      <p:sp>
        <p:nvSpPr>
          <p:cNvPr id="67" name="Line 6"/>
          <p:cNvSpPr>
            <a:spLocks noChangeShapeType="1"/>
          </p:cNvSpPr>
          <p:nvPr/>
        </p:nvSpPr>
        <p:spPr bwMode="auto">
          <a:xfrm>
            <a:off x="6077418" y="3112102"/>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Rectangle 55"/>
          <p:cNvSpPr>
            <a:spLocks noChangeArrowheads="1"/>
          </p:cNvSpPr>
          <p:nvPr/>
        </p:nvSpPr>
        <p:spPr bwMode="auto">
          <a:xfrm>
            <a:off x="4595074" y="314105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s</a:t>
            </a:r>
            <a:endParaRPr kumimoji="0" lang="zh-CN" altLang="en-US" sz="2400" dirty="0">
              <a:ea typeface="CFNEOP+TimesNewRoman" charset="-122"/>
            </a:endParaRPr>
          </a:p>
        </p:txBody>
      </p:sp>
      <p:sp>
        <p:nvSpPr>
          <p:cNvPr id="69" name="Line 29"/>
          <p:cNvSpPr>
            <a:spLocks noChangeShapeType="1"/>
          </p:cNvSpPr>
          <p:nvPr/>
        </p:nvSpPr>
        <p:spPr bwMode="auto">
          <a:xfrm>
            <a:off x="4949508" y="3327981"/>
            <a:ext cx="515709" cy="510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Rectangle 55"/>
          <p:cNvSpPr>
            <a:spLocks noChangeArrowheads="1"/>
          </p:cNvSpPr>
          <p:nvPr/>
        </p:nvSpPr>
        <p:spPr bwMode="auto">
          <a:xfrm>
            <a:off x="5094336" y="345544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54" name="Rectangle 40"/>
          <p:cNvSpPr>
            <a:spLocks noChangeArrowheads="1"/>
          </p:cNvSpPr>
          <p:nvPr/>
        </p:nvSpPr>
        <p:spPr bwMode="auto">
          <a:xfrm>
            <a:off x="755577" y="3956271"/>
            <a:ext cx="442846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15000"/>
              </a:spcBef>
              <a:buClr>
                <a:schemeClr val="bg1"/>
              </a:buClr>
              <a:buSzPct val="95000"/>
              <a:buFont typeface="Wingdings" pitchFamily="2" charset="2"/>
              <a:buNone/>
            </a:pPr>
            <a:r>
              <a:rPr lang="en-US" altLang="zh-CN" sz="2000" dirty="0">
                <a:latin typeface="微软雅黑" pitchFamily="34" charset="-122"/>
                <a:ea typeface="微软雅黑" pitchFamily="34" charset="-122"/>
                <a:cs typeface="经典粗黑简" pitchFamily="49" charset="-122"/>
              </a:rPr>
              <a:t>③</a:t>
            </a:r>
            <a:r>
              <a:rPr lang="zh-CN" altLang="en-US" sz="2000" dirty="0">
                <a:latin typeface="微软雅黑" pitchFamily="34" charset="-122"/>
                <a:ea typeface="微软雅黑" pitchFamily="34" charset="-122"/>
                <a:cs typeface="经典粗黑简" pitchFamily="49" charset="-122"/>
              </a:rPr>
              <a:t> 修改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的指针域指向</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的下一结点；</a:t>
            </a:r>
          </a:p>
        </p:txBody>
      </p:sp>
      <p:sp>
        <p:nvSpPr>
          <p:cNvPr id="59" name="Rectangle 45"/>
          <p:cNvSpPr>
            <a:spLocks noChangeArrowheads="1"/>
          </p:cNvSpPr>
          <p:nvPr/>
        </p:nvSpPr>
        <p:spPr bwMode="auto">
          <a:xfrm>
            <a:off x="755576" y="4245936"/>
            <a:ext cx="4170606"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15000"/>
              </a:spcBef>
              <a:buClr>
                <a:schemeClr val="bg1"/>
              </a:buClr>
              <a:buSzPct val="95000"/>
              <a:buFont typeface="Wingdings" pitchFamily="2" charset="2"/>
              <a:buNone/>
            </a:pPr>
            <a:r>
              <a:rPr lang="en-US" altLang="zh-CN" sz="2000" dirty="0">
                <a:latin typeface="微软雅黑" pitchFamily="34" charset="-122"/>
                <a:ea typeface="微软雅黑" pitchFamily="34" charset="-122"/>
                <a:cs typeface="经典粗黑简" pitchFamily="49" charset="-122"/>
              </a:rPr>
              <a:t>④ </a:t>
            </a:r>
            <a:r>
              <a:rPr lang="zh-CN" altLang="en-US" sz="2000" dirty="0">
                <a:latin typeface="微软雅黑" pitchFamily="34" charset="-122"/>
                <a:ea typeface="微软雅黑" pitchFamily="34" charset="-122"/>
                <a:cs typeface="经典粗黑简" pitchFamily="49" charset="-122"/>
              </a:rPr>
              <a:t>修改</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的指针域指向</a:t>
            </a:r>
            <a:r>
              <a:rPr lang="en-US" altLang="zh-CN" sz="2000" dirty="0">
                <a:latin typeface="微软雅黑" pitchFamily="34" charset="-122"/>
                <a:ea typeface="微软雅黑" pitchFamily="34" charset="-122"/>
                <a:cs typeface="经典粗黑简" pitchFamily="49" charset="-122"/>
              </a:rPr>
              <a:t>s。</a:t>
            </a:r>
            <a:endParaRPr lang="zh-CN" altLang="en-US" sz="2000" dirty="0">
              <a:latin typeface="微软雅黑" pitchFamily="34" charset="-122"/>
              <a:ea typeface="微软雅黑" pitchFamily="34" charset="-122"/>
              <a:cs typeface="经典粗黑简" pitchFamily="49" charset="-122"/>
            </a:endParaRPr>
          </a:p>
        </p:txBody>
      </p:sp>
      <p:sp>
        <p:nvSpPr>
          <p:cNvPr id="70" name="Line 29"/>
          <p:cNvSpPr>
            <a:spLocks noChangeShapeType="1"/>
          </p:cNvSpPr>
          <p:nvPr/>
        </p:nvSpPr>
        <p:spPr bwMode="auto">
          <a:xfrm>
            <a:off x="5781762" y="2588535"/>
            <a:ext cx="1" cy="64046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Rectangle 55"/>
          <p:cNvSpPr>
            <a:spLocks noChangeArrowheads="1"/>
          </p:cNvSpPr>
          <p:nvPr/>
        </p:nvSpPr>
        <p:spPr bwMode="auto">
          <a:xfrm>
            <a:off x="5508105" y="2027347"/>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00B050"/>
                </a:solidFill>
                <a:ea typeface="CFNEOP+TimesNewRoman" charset="-122"/>
              </a:rPr>
              <a:t>③</a:t>
            </a:r>
            <a:endParaRPr kumimoji="0" lang="zh-CN" altLang="en-US" sz="2400" dirty="0">
              <a:solidFill>
                <a:srgbClr val="00B050"/>
              </a:solidFill>
              <a:ea typeface="CFNEOP+TimesNewRoman" charset="-122"/>
            </a:endParaRPr>
          </a:p>
        </p:txBody>
      </p:sp>
      <p:sp>
        <p:nvSpPr>
          <p:cNvPr id="60" name="Rectangle 55"/>
          <p:cNvSpPr>
            <a:spLocks noChangeArrowheads="1"/>
          </p:cNvSpPr>
          <p:nvPr/>
        </p:nvSpPr>
        <p:spPr bwMode="auto">
          <a:xfrm>
            <a:off x="6278575" y="3630954"/>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00B050"/>
                </a:solidFill>
                <a:ea typeface="CFNEOP+TimesNewRoman" charset="-122"/>
              </a:rPr>
              <a:t>④</a:t>
            </a:r>
            <a:endParaRPr kumimoji="0" lang="zh-CN" altLang="en-US" sz="2400" dirty="0">
              <a:solidFill>
                <a:srgbClr val="00B050"/>
              </a:solidFill>
              <a:ea typeface="CFNEOP+TimesNewRoman" charset="-122"/>
            </a:endParaRPr>
          </a:p>
        </p:txBody>
      </p:sp>
      <p:sp>
        <p:nvSpPr>
          <p:cNvPr id="72" name="任意多边形 71"/>
          <p:cNvSpPr/>
          <p:nvPr/>
        </p:nvSpPr>
        <p:spPr>
          <a:xfrm>
            <a:off x="4993313" y="3371287"/>
            <a:ext cx="1576899" cy="510583"/>
          </a:xfrm>
          <a:custGeom>
            <a:avLst/>
            <a:gdLst>
              <a:gd name="connsiteX0" fmla="*/ 1227909 w 1576899"/>
              <a:gd name="connsiteY0" fmla="*/ 42230 h 680777"/>
              <a:gd name="connsiteX1" fmla="*/ 1558835 w 1576899"/>
              <a:gd name="connsiteY1" fmla="*/ 59647 h 680777"/>
              <a:gd name="connsiteX2" fmla="*/ 1393372 w 1576899"/>
              <a:gd name="connsiteY2" fmla="*/ 616995 h 680777"/>
              <a:gd name="connsiteX3" fmla="*/ 243840 w 1576899"/>
              <a:gd name="connsiteY3" fmla="*/ 625704 h 680777"/>
              <a:gd name="connsiteX4" fmla="*/ 0 w 1576899"/>
              <a:gd name="connsiteY4" fmla="*/ 233818 h 680777"/>
              <a:gd name="connsiteX5" fmla="*/ 243840 w 1576899"/>
              <a:gd name="connsiteY5" fmla="*/ 120607 h 680777"/>
              <a:gd name="connsiteX6" fmla="*/ 435429 w 1576899"/>
              <a:gd name="connsiteY6" fmla="*/ 120607 h 680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6899" h="680777">
                <a:moveTo>
                  <a:pt x="1227909" y="42230"/>
                </a:moveTo>
                <a:cubicBezTo>
                  <a:pt x="1379583" y="3041"/>
                  <a:pt x="1531258" y="-36147"/>
                  <a:pt x="1558835" y="59647"/>
                </a:cubicBezTo>
                <a:cubicBezTo>
                  <a:pt x="1586412" y="155441"/>
                  <a:pt x="1612538" y="522652"/>
                  <a:pt x="1393372" y="616995"/>
                </a:cubicBezTo>
                <a:cubicBezTo>
                  <a:pt x="1174206" y="711338"/>
                  <a:pt x="476069" y="689567"/>
                  <a:pt x="243840" y="625704"/>
                </a:cubicBezTo>
                <a:cubicBezTo>
                  <a:pt x="11611" y="561841"/>
                  <a:pt x="0" y="318001"/>
                  <a:pt x="0" y="233818"/>
                </a:cubicBezTo>
                <a:cubicBezTo>
                  <a:pt x="0" y="149635"/>
                  <a:pt x="171269" y="139475"/>
                  <a:pt x="243840" y="120607"/>
                </a:cubicBezTo>
                <a:cubicBezTo>
                  <a:pt x="316411" y="101739"/>
                  <a:pt x="375920" y="111173"/>
                  <a:pt x="435429" y="120607"/>
                </a:cubicBezTo>
              </a:path>
            </a:pathLst>
          </a:cu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 name="Rectangle 54"/>
          <p:cNvSpPr>
            <a:spLocks noChangeArrowheads="1"/>
          </p:cNvSpPr>
          <p:nvPr/>
        </p:nvSpPr>
        <p:spPr bwMode="auto">
          <a:xfrm>
            <a:off x="4993660" y="4242021"/>
            <a:ext cx="3838805" cy="3429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15000"/>
              </a:spcBef>
              <a:buClr>
                <a:schemeClr val="bg1"/>
              </a:buClr>
              <a:buSzPct val="95000"/>
              <a:buFont typeface="Wingdings" pitchFamily="2" charset="2"/>
              <a:buNone/>
            </a:pPr>
            <a:r>
              <a:rPr lang="zh-CN" altLang="en-US" sz="2400" dirty="0">
                <a:solidFill>
                  <a:srgbClr val="C00000"/>
                </a:solidFill>
                <a:latin typeface="微软雅黑" pitchFamily="34" charset="-122"/>
                <a:ea typeface="微软雅黑" pitchFamily="34" charset="-122"/>
                <a:cs typeface="经典粗黑简" pitchFamily="49" charset="-122"/>
              </a:rPr>
              <a:t>结论：第</a:t>
            </a:r>
            <a:r>
              <a:rPr lang="en-US" altLang="zh-CN" sz="2400" dirty="0">
                <a:solidFill>
                  <a:srgbClr val="C00000"/>
                </a:solidFill>
                <a:latin typeface="微软雅黑" pitchFamily="34" charset="-122"/>
                <a:ea typeface="微软雅黑" pitchFamily="34" charset="-122"/>
                <a:cs typeface="经典粗黑简" pitchFamily="49" charset="-122"/>
              </a:rPr>
              <a:t>③④</a:t>
            </a:r>
            <a:r>
              <a:rPr lang="zh-CN" altLang="en-US" sz="2400" dirty="0">
                <a:solidFill>
                  <a:srgbClr val="C00000"/>
                </a:solidFill>
                <a:latin typeface="微软雅黑" pitchFamily="34" charset="-122"/>
                <a:ea typeface="微软雅黑" pitchFamily="34" charset="-122"/>
                <a:cs typeface="经典粗黑简" pitchFamily="49" charset="-122"/>
              </a:rPr>
              <a:t>步不可交换？</a:t>
            </a:r>
          </a:p>
        </p:txBody>
      </p:sp>
      <p:sp>
        <p:nvSpPr>
          <p:cNvPr id="2" name="Rectangle 2">
            <a:extLst>
              <a:ext uri="{FF2B5EF4-FFF2-40B4-BE49-F238E27FC236}">
                <a16:creationId xmlns:a16="http://schemas.microsoft.com/office/drawing/2014/main" id="{98F6C5F1-0C7E-177A-0276-E2C6E0B9FB37}"/>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9" name="矩形 8">
            <a:extLst>
              <a:ext uri="{FF2B5EF4-FFF2-40B4-BE49-F238E27FC236}">
                <a16:creationId xmlns:a16="http://schemas.microsoft.com/office/drawing/2014/main" id="{92221D43-A4C5-84A4-E151-1B0EC714B16E}"/>
              </a:ext>
            </a:extLst>
          </p:cNvPr>
          <p:cNvSpPr/>
          <p:nvPr/>
        </p:nvSpPr>
        <p:spPr>
          <a:xfrm>
            <a:off x="1090565" y="1514431"/>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⑧</a:t>
            </a:r>
            <a:r>
              <a:rPr lang="zh-CN" altLang="en-US" sz="2000" dirty="0">
                <a:latin typeface="微软雅黑" pitchFamily="34" charset="-122"/>
                <a:ea typeface="微软雅黑" pitchFamily="34" charset="-122"/>
                <a:cs typeface="经典粗黑简" pitchFamily="49" charset="-122"/>
              </a:rPr>
              <a:t>插入操作</a:t>
            </a:r>
          </a:p>
        </p:txBody>
      </p:sp>
      <p:sp>
        <p:nvSpPr>
          <p:cNvPr id="55" name="矩形 54">
            <a:extLst>
              <a:ext uri="{FF2B5EF4-FFF2-40B4-BE49-F238E27FC236}">
                <a16:creationId xmlns:a16="http://schemas.microsoft.com/office/drawing/2014/main" id="{8624EFEF-7194-4793-9895-38DB22E89DA7}"/>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8048575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14FE2-1230-24C3-F9DC-4D320D44736D}"/>
            </a:ext>
          </a:extLst>
        </p:cNvPr>
        <p:cNvGrpSpPr/>
        <p:nvPr/>
      </p:nvGrpSpPr>
      <p:grpSpPr>
        <a:xfrm>
          <a:off x="0" y="0"/>
          <a:ext cx="0" cy="0"/>
          <a:chOff x="0" y="0"/>
          <a:chExt cx="0" cy="0"/>
        </a:xfrm>
      </p:grpSpPr>
      <p:sp>
        <p:nvSpPr>
          <p:cNvPr id="19" name="Rectangle 5">
            <a:extLst>
              <a:ext uri="{FF2B5EF4-FFF2-40B4-BE49-F238E27FC236}">
                <a16:creationId xmlns:a16="http://schemas.microsoft.com/office/drawing/2014/main" id="{DDFF8DEE-F136-9267-EA61-BA87456B447E}"/>
              </a:ext>
            </a:extLst>
          </p:cNvPr>
          <p:cNvSpPr>
            <a:spLocks noChangeArrowheads="1"/>
          </p:cNvSpPr>
          <p:nvPr/>
        </p:nvSpPr>
        <p:spPr bwMode="auto">
          <a:xfrm>
            <a:off x="2108646" y="229963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20" name="Line 6">
            <a:extLst>
              <a:ext uri="{FF2B5EF4-FFF2-40B4-BE49-F238E27FC236}">
                <a16:creationId xmlns:a16="http://schemas.microsoft.com/office/drawing/2014/main" id="{0B3C1F21-45A9-1E62-EC06-09861EBAA141}"/>
              </a:ext>
            </a:extLst>
          </p:cNvPr>
          <p:cNvSpPr>
            <a:spLocks noChangeShapeType="1"/>
          </p:cNvSpPr>
          <p:nvPr/>
        </p:nvSpPr>
        <p:spPr bwMode="auto">
          <a:xfrm>
            <a:off x="2642046"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Rectangle 25">
            <a:extLst>
              <a:ext uri="{FF2B5EF4-FFF2-40B4-BE49-F238E27FC236}">
                <a16:creationId xmlns:a16="http://schemas.microsoft.com/office/drawing/2014/main" id="{04F4A490-EEE1-D921-3356-830BE7277D23}"/>
              </a:ext>
            </a:extLst>
          </p:cNvPr>
          <p:cNvSpPr>
            <a:spLocks noChangeArrowheads="1"/>
          </p:cNvSpPr>
          <p:nvPr/>
        </p:nvSpPr>
        <p:spPr bwMode="auto">
          <a:xfrm>
            <a:off x="4272531" y="237359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3" name="Rectangle 36">
            <a:extLst>
              <a:ext uri="{FF2B5EF4-FFF2-40B4-BE49-F238E27FC236}">
                <a16:creationId xmlns:a16="http://schemas.microsoft.com/office/drawing/2014/main" id="{B412D2DB-428D-362B-3167-A059AD69166C}"/>
              </a:ext>
            </a:extLst>
          </p:cNvPr>
          <p:cNvSpPr>
            <a:spLocks noChangeArrowheads="1"/>
          </p:cNvSpPr>
          <p:nvPr/>
        </p:nvSpPr>
        <p:spPr bwMode="auto">
          <a:xfrm>
            <a:off x="7441525" y="2395597"/>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4" name="Rectangle 228">
            <a:extLst>
              <a:ext uri="{FF2B5EF4-FFF2-40B4-BE49-F238E27FC236}">
                <a16:creationId xmlns:a16="http://schemas.microsoft.com/office/drawing/2014/main" id="{EEAEA93F-8A1D-77B7-9940-58A0374C9ADF}"/>
              </a:ext>
            </a:extLst>
          </p:cNvPr>
          <p:cNvSpPr>
            <a:spLocks noChangeArrowheads="1"/>
          </p:cNvSpPr>
          <p:nvPr/>
        </p:nvSpPr>
        <p:spPr bwMode="auto">
          <a:xfrm>
            <a:off x="306393" y="233585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25" name="Line 29">
            <a:extLst>
              <a:ext uri="{FF2B5EF4-FFF2-40B4-BE49-F238E27FC236}">
                <a16:creationId xmlns:a16="http://schemas.microsoft.com/office/drawing/2014/main" id="{E14DB24C-EE0A-66EA-EE3A-2F43F0BE80B5}"/>
              </a:ext>
            </a:extLst>
          </p:cNvPr>
          <p:cNvSpPr>
            <a:spLocks noChangeShapeType="1"/>
          </p:cNvSpPr>
          <p:nvPr/>
        </p:nvSpPr>
        <p:spPr bwMode="auto">
          <a:xfrm>
            <a:off x="572038" y="252613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5">
            <a:extLst>
              <a:ext uri="{FF2B5EF4-FFF2-40B4-BE49-F238E27FC236}">
                <a16:creationId xmlns:a16="http://schemas.microsoft.com/office/drawing/2014/main" id="{03EED6CE-8B2E-F16D-49DF-B710C8FB976C}"/>
              </a:ext>
            </a:extLst>
          </p:cNvPr>
          <p:cNvSpPr>
            <a:spLocks noChangeArrowheads="1"/>
          </p:cNvSpPr>
          <p:nvPr/>
        </p:nvSpPr>
        <p:spPr bwMode="auto">
          <a:xfrm>
            <a:off x="3284303" y="230500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27" name="Line 6">
            <a:extLst>
              <a:ext uri="{FF2B5EF4-FFF2-40B4-BE49-F238E27FC236}">
                <a16:creationId xmlns:a16="http://schemas.microsoft.com/office/drawing/2014/main" id="{1DFDBC5D-6B63-6C65-0226-AF32ED667BFF}"/>
              </a:ext>
            </a:extLst>
          </p:cNvPr>
          <p:cNvSpPr>
            <a:spLocks noChangeShapeType="1"/>
          </p:cNvSpPr>
          <p:nvPr/>
        </p:nvSpPr>
        <p:spPr bwMode="auto">
          <a:xfrm>
            <a:off x="3817703" y="230500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9">
            <a:extLst>
              <a:ext uri="{FF2B5EF4-FFF2-40B4-BE49-F238E27FC236}">
                <a16:creationId xmlns:a16="http://schemas.microsoft.com/office/drawing/2014/main" id="{9C909A5B-96EA-D054-9DD9-4E662DA76B07}"/>
              </a:ext>
            </a:extLst>
          </p:cNvPr>
          <p:cNvSpPr>
            <a:spLocks noChangeShapeType="1"/>
          </p:cNvSpPr>
          <p:nvPr/>
        </p:nvSpPr>
        <p:spPr bwMode="auto">
          <a:xfrm>
            <a:off x="2903303"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Rectangle 5">
            <a:extLst>
              <a:ext uri="{FF2B5EF4-FFF2-40B4-BE49-F238E27FC236}">
                <a16:creationId xmlns:a16="http://schemas.microsoft.com/office/drawing/2014/main" id="{4853E86E-DE54-045E-2C87-E38A150F773C}"/>
              </a:ext>
            </a:extLst>
          </p:cNvPr>
          <p:cNvSpPr>
            <a:spLocks noChangeArrowheads="1"/>
          </p:cNvSpPr>
          <p:nvPr/>
        </p:nvSpPr>
        <p:spPr bwMode="auto">
          <a:xfrm>
            <a:off x="4885814" y="2321632"/>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30" name="Line 6">
            <a:extLst>
              <a:ext uri="{FF2B5EF4-FFF2-40B4-BE49-F238E27FC236}">
                <a16:creationId xmlns:a16="http://schemas.microsoft.com/office/drawing/2014/main" id="{9CD26DB9-93FE-9B97-6088-575C69F7EA66}"/>
              </a:ext>
            </a:extLst>
          </p:cNvPr>
          <p:cNvSpPr>
            <a:spLocks noChangeShapeType="1"/>
          </p:cNvSpPr>
          <p:nvPr/>
        </p:nvSpPr>
        <p:spPr bwMode="auto">
          <a:xfrm>
            <a:off x="5622387" y="2316257"/>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9">
            <a:extLst>
              <a:ext uri="{FF2B5EF4-FFF2-40B4-BE49-F238E27FC236}">
                <a16:creationId xmlns:a16="http://schemas.microsoft.com/office/drawing/2014/main" id="{89C41B65-3FE6-875A-C3A5-836F746347FC}"/>
              </a:ext>
            </a:extLst>
          </p:cNvPr>
          <p:cNvSpPr>
            <a:spLocks noChangeShapeType="1"/>
          </p:cNvSpPr>
          <p:nvPr/>
        </p:nvSpPr>
        <p:spPr bwMode="auto">
          <a:xfrm>
            <a:off x="4587464" y="2560335"/>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29">
            <a:extLst>
              <a:ext uri="{FF2B5EF4-FFF2-40B4-BE49-F238E27FC236}">
                <a16:creationId xmlns:a16="http://schemas.microsoft.com/office/drawing/2014/main" id="{1866E188-6573-47C5-8E80-BC46C831CD15}"/>
              </a:ext>
            </a:extLst>
          </p:cNvPr>
          <p:cNvSpPr>
            <a:spLocks noChangeShapeType="1"/>
          </p:cNvSpPr>
          <p:nvPr/>
        </p:nvSpPr>
        <p:spPr bwMode="auto">
          <a:xfrm>
            <a:off x="4008203" y="2556491"/>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Rectangle 5">
            <a:extLst>
              <a:ext uri="{FF2B5EF4-FFF2-40B4-BE49-F238E27FC236}">
                <a16:creationId xmlns:a16="http://schemas.microsoft.com/office/drawing/2014/main" id="{59CFDCCA-F6B5-A920-C883-33F61E127BD4}"/>
              </a:ext>
            </a:extLst>
          </p:cNvPr>
          <p:cNvSpPr>
            <a:spLocks noChangeArrowheads="1"/>
          </p:cNvSpPr>
          <p:nvPr/>
        </p:nvSpPr>
        <p:spPr bwMode="auto">
          <a:xfrm>
            <a:off x="6278573" y="233346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200" dirty="0">
                <a:latin typeface="微软雅黑" pitchFamily="34" charset="-122"/>
                <a:ea typeface="微软雅黑" pitchFamily="34" charset="-122"/>
              </a:rPr>
              <a:t> </a:t>
            </a:r>
            <a:r>
              <a:rPr lang="en-US" altLang="zh-CN" sz="2400" dirty="0"/>
              <a:t>   </a:t>
            </a:r>
          </a:p>
        </p:txBody>
      </p:sp>
      <p:sp>
        <p:nvSpPr>
          <p:cNvPr id="34" name="Line 6">
            <a:extLst>
              <a:ext uri="{FF2B5EF4-FFF2-40B4-BE49-F238E27FC236}">
                <a16:creationId xmlns:a16="http://schemas.microsoft.com/office/drawing/2014/main" id="{66B37795-F567-C8DF-DF10-71850221214F}"/>
              </a:ext>
            </a:extLst>
          </p:cNvPr>
          <p:cNvSpPr>
            <a:spLocks noChangeShapeType="1"/>
          </p:cNvSpPr>
          <p:nvPr/>
        </p:nvSpPr>
        <p:spPr bwMode="auto">
          <a:xfrm>
            <a:off x="6811973" y="233346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29">
            <a:extLst>
              <a:ext uri="{FF2B5EF4-FFF2-40B4-BE49-F238E27FC236}">
                <a16:creationId xmlns:a16="http://schemas.microsoft.com/office/drawing/2014/main" id="{62E122DF-90E9-A2BB-5525-27116CAF1EC0}"/>
              </a:ext>
            </a:extLst>
          </p:cNvPr>
          <p:cNvSpPr>
            <a:spLocks noChangeShapeType="1"/>
          </p:cNvSpPr>
          <p:nvPr/>
        </p:nvSpPr>
        <p:spPr bwMode="auto">
          <a:xfrm>
            <a:off x="7043281" y="258853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Rectangle 5">
            <a:extLst>
              <a:ext uri="{FF2B5EF4-FFF2-40B4-BE49-F238E27FC236}">
                <a16:creationId xmlns:a16="http://schemas.microsoft.com/office/drawing/2014/main" id="{DF064F10-4162-884D-71E4-2D73C6979709}"/>
              </a:ext>
            </a:extLst>
          </p:cNvPr>
          <p:cNvSpPr>
            <a:spLocks noChangeArrowheads="1"/>
          </p:cNvSpPr>
          <p:nvPr/>
        </p:nvSpPr>
        <p:spPr bwMode="auto">
          <a:xfrm>
            <a:off x="8157234" y="2348597"/>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600" baseline="-25000" dirty="0"/>
              <a:t> </a:t>
            </a:r>
            <a:r>
              <a:rPr lang="zh-CN" altLang="en-US" sz="2400" dirty="0"/>
              <a:t>^</a:t>
            </a:r>
            <a:r>
              <a:rPr lang="en-US" altLang="zh-CN" sz="2400" dirty="0"/>
              <a:t>  </a:t>
            </a:r>
          </a:p>
        </p:txBody>
      </p:sp>
      <p:sp>
        <p:nvSpPr>
          <p:cNvPr id="41" name="Line 6">
            <a:extLst>
              <a:ext uri="{FF2B5EF4-FFF2-40B4-BE49-F238E27FC236}">
                <a16:creationId xmlns:a16="http://schemas.microsoft.com/office/drawing/2014/main" id="{2228C345-D41B-42A8-255D-8EAA4EDEC208}"/>
              </a:ext>
            </a:extLst>
          </p:cNvPr>
          <p:cNvSpPr>
            <a:spLocks noChangeShapeType="1"/>
          </p:cNvSpPr>
          <p:nvPr/>
        </p:nvSpPr>
        <p:spPr bwMode="auto">
          <a:xfrm>
            <a:off x="8690634" y="2348597"/>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9">
            <a:extLst>
              <a:ext uri="{FF2B5EF4-FFF2-40B4-BE49-F238E27FC236}">
                <a16:creationId xmlns:a16="http://schemas.microsoft.com/office/drawing/2014/main" id="{25751927-A161-51E5-EBE5-486F7FBB799B}"/>
              </a:ext>
            </a:extLst>
          </p:cNvPr>
          <p:cNvSpPr>
            <a:spLocks noChangeShapeType="1"/>
          </p:cNvSpPr>
          <p:nvPr/>
        </p:nvSpPr>
        <p:spPr bwMode="auto">
          <a:xfrm>
            <a:off x="7776234" y="260277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5">
            <a:extLst>
              <a:ext uri="{FF2B5EF4-FFF2-40B4-BE49-F238E27FC236}">
                <a16:creationId xmlns:a16="http://schemas.microsoft.com/office/drawing/2014/main" id="{FF25B230-F344-B7F3-D888-402C42CE747E}"/>
              </a:ext>
            </a:extLst>
          </p:cNvPr>
          <p:cNvSpPr>
            <a:spLocks noChangeArrowheads="1"/>
          </p:cNvSpPr>
          <p:nvPr/>
        </p:nvSpPr>
        <p:spPr bwMode="auto">
          <a:xfrm>
            <a:off x="953038" y="2299630"/>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44" name="Line 6">
            <a:extLst>
              <a:ext uri="{FF2B5EF4-FFF2-40B4-BE49-F238E27FC236}">
                <a16:creationId xmlns:a16="http://schemas.microsoft.com/office/drawing/2014/main" id="{ECCDFC42-0627-D2D5-92E1-C4E6356BEECD}"/>
              </a:ext>
            </a:extLst>
          </p:cNvPr>
          <p:cNvSpPr>
            <a:spLocks noChangeShapeType="1"/>
          </p:cNvSpPr>
          <p:nvPr/>
        </p:nvSpPr>
        <p:spPr bwMode="auto">
          <a:xfrm>
            <a:off x="1486438"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9">
            <a:extLst>
              <a:ext uri="{FF2B5EF4-FFF2-40B4-BE49-F238E27FC236}">
                <a16:creationId xmlns:a16="http://schemas.microsoft.com/office/drawing/2014/main" id="{8D62CC34-A1FF-43D2-72B2-BA662C1C4B9F}"/>
              </a:ext>
            </a:extLst>
          </p:cNvPr>
          <p:cNvSpPr>
            <a:spLocks noChangeShapeType="1"/>
          </p:cNvSpPr>
          <p:nvPr/>
        </p:nvSpPr>
        <p:spPr bwMode="auto">
          <a:xfrm>
            <a:off x="1747695"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Rectangle 57">
            <a:extLst>
              <a:ext uri="{FF2B5EF4-FFF2-40B4-BE49-F238E27FC236}">
                <a16:creationId xmlns:a16="http://schemas.microsoft.com/office/drawing/2014/main" id="{FC05BF5D-4126-8328-6AAB-B47F357E04E4}"/>
              </a:ext>
            </a:extLst>
          </p:cNvPr>
          <p:cNvSpPr>
            <a:spLocks noChangeArrowheads="1"/>
          </p:cNvSpPr>
          <p:nvPr/>
        </p:nvSpPr>
        <p:spPr bwMode="auto">
          <a:xfrm>
            <a:off x="4768021" y="2753388"/>
            <a:ext cx="1013740"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j=i-1</a:t>
            </a:r>
            <a:endParaRPr kumimoji="0" lang="zh-CN" altLang="en-US" sz="2400" dirty="0">
              <a:ea typeface="Li Super" charset="-122"/>
            </a:endParaRPr>
          </a:p>
        </p:txBody>
      </p:sp>
      <p:sp>
        <p:nvSpPr>
          <p:cNvPr id="47" name="Rectangle 55">
            <a:extLst>
              <a:ext uri="{FF2B5EF4-FFF2-40B4-BE49-F238E27FC236}">
                <a16:creationId xmlns:a16="http://schemas.microsoft.com/office/drawing/2014/main" id="{68A70470-5BF4-0141-515D-7C6BFC26B083}"/>
              </a:ext>
            </a:extLst>
          </p:cNvPr>
          <p:cNvSpPr>
            <a:spLocks noChangeArrowheads="1"/>
          </p:cNvSpPr>
          <p:nvPr/>
        </p:nvSpPr>
        <p:spPr bwMode="auto">
          <a:xfrm>
            <a:off x="4391445" y="165364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48" name="Line 29">
            <a:extLst>
              <a:ext uri="{FF2B5EF4-FFF2-40B4-BE49-F238E27FC236}">
                <a16:creationId xmlns:a16="http://schemas.microsoft.com/office/drawing/2014/main" id="{9D884E60-6494-031A-A69F-F6BE19D8336F}"/>
              </a:ext>
            </a:extLst>
          </p:cNvPr>
          <p:cNvSpPr>
            <a:spLocks noChangeShapeType="1"/>
          </p:cNvSpPr>
          <p:nvPr/>
        </p:nvSpPr>
        <p:spPr bwMode="auto">
          <a:xfrm>
            <a:off x="4587464" y="1959322"/>
            <a:ext cx="298351" cy="38513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Rectangle 55">
            <a:extLst>
              <a:ext uri="{FF2B5EF4-FFF2-40B4-BE49-F238E27FC236}">
                <a16:creationId xmlns:a16="http://schemas.microsoft.com/office/drawing/2014/main" id="{F7C26F5A-F4B2-A2F9-9B67-55E7DA61814C}"/>
              </a:ext>
            </a:extLst>
          </p:cNvPr>
          <p:cNvSpPr>
            <a:spLocks noChangeArrowheads="1"/>
          </p:cNvSpPr>
          <p:nvPr/>
        </p:nvSpPr>
        <p:spPr bwMode="auto">
          <a:xfrm>
            <a:off x="4754444" y="19340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50" name="矩形 49">
            <a:extLst>
              <a:ext uri="{FF2B5EF4-FFF2-40B4-BE49-F238E27FC236}">
                <a16:creationId xmlns:a16="http://schemas.microsoft.com/office/drawing/2014/main" id="{D59193ED-06E6-00C0-4F21-2755448DD5CA}"/>
              </a:ext>
            </a:extLst>
          </p:cNvPr>
          <p:cNvSpPr/>
          <p:nvPr/>
        </p:nvSpPr>
        <p:spPr>
          <a:xfrm>
            <a:off x="323528" y="3057804"/>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51" name="矩形 50">
            <a:extLst>
              <a:ext uri="{FF2B5EF4-FFF2-40B4-BE49-F238E27FC236}">
                <a16:creationId xmlns:a16="http://schemas.microsoft.com/office/drawing/2014/main" id="{99819B07-CB8F-4BFE-D9B0-69FB6257975C}"/>
              </a:ext>
            </a:extLst>
          </p:cNvPr>
          <p:cNvSpPr/>
          <p:nvPr/>
        </p:nvSpPr>
        <p:spPr>
          <a:xfrm>
            <a:off x="761593" y="3381840"/>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55" name="Rectangle 57">
            <a:extLst>
              <a:ext uri="{FF2B5EF4-FFF2-40B4-BE49-F238E27FC236}">
                <a16:creationId xmlns:a16="http://schemas.microsoft.com/office/drawing/2014/main" id="{94C9A4E6-6187-F564-67AE-9CBD622CB0BE}"/>
              </a:ext>
            </a:extLst>
          </p:cNvPr>
          <p:cNvSpPr>
            <a:spLocks noChangeArrowheads="1"/>
          </p:cNvSpPr>
          <p:nvPr/>
        </p:nvSpPr>
        <p:spPr bwMode="auto">
          <a:xfrm>
            <a:off x="885588" y="2731386"/>
            <a:ext cx="794434"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j=0</a:t>
            </a:r>
            <a:endParaRPr kumimoji="0" lang="zh-CN" altLang="en-US" sz="2400" dirty="0">
              <a:ea typeface="Li Super" charset="-122"/>
            </a:endParaRPr>
          </a:p>
        </p:txBody>
      </p:sp>
      <p:sp>
        <p:nvSpPr>
          <p:cNvPr id="56" name="Rectangle 55">
            <a:extLst>
              <a:ext uri="{FF2B5EF4-FFF2-40B4-BE49-F238E27FC236}">
                <a16:creationId xmlns:a16="http://schemas.microsoft.com/office/drawing/2014/main" id="{824BFF41-3327-9C2B-4BDA-72946CA98923}"/>
              </a:ext>
            </a:extLst>
          </p:cNvPr>
          <p:cNvSpPr>
            <a:spLocks noChangeArrowheads="1"/>
          </p:cNvSpPr>
          <p:nvPr/>
        </p:nvSpPr>
        <p:spPr bwMode="auto">
          <a:xfrm>
            <a:off x="306393" y="179400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57" name="Line 29">
            <a:extLst>
              <a:ext uri="{FF2B5EF4-FFF2-40B4-BE49-F238E27FC236}">
                <a16:creationId xmlns:a16="http://schemas.microsoft.com/office/drawing/2014/main" id="{319335D7-F3B9-3E7A-4020-D656D267A3CC}"/>
              </a:ext>
            </a:extLst>
          </p:cNvPr>
          <p:cNvSpPr>
            <a:spLocks noChangeShapeType="1"/>
          </p:cNvSpPr>
          <p:nvPr/>
        </p:nvSpPr>
        <p:spPr bwMode="auto">
          <a:xfrm>
            <a:off x="722811" y="2107271"/>
            <a:ext cx="252617" cy="19236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虚尾箭头 57">
            <a:extLst>
              <a:ext uri="{FF2B5EF4-FFF2-40B4-BE49-F238E27FC236}">
                <a16:creationId xmlns:a16="http://schemas.microsoft.com/office/drawing/2014/main" id="{9D52D5CF-8362-1311-DC10-7C2C2D5DE908}"/>
              </a:ext>
            </a:extLst>
          </p:cNvPr>
          <p:cNvSpPr/>
          <p:nvPr/>
        </p:nvSpPr>
        <p:spPr>
          <a:xfrm>
            <a:off x="1410238" y="2051151"/>
            <a:ext cx="3177226" cy="229357"/>
          </a:xfrm>
          <a:prstGeom prst="striped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7510296C-BB4D-35B1-35AF-066375F7BF23}"/>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D9722F32-3BE4-ECBE-249A-958866B6B05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4" name="矩形 3">
            <a:extLst>
              <a:ext uri="{FF2B5EF4-FFF2-40B4-BE49-F238E27FC236}">
                <a16:creationId xmlns:a16="http://schemas.microsoft.com/office/drawing/2014/main" id="{A8831341-9BE1-6A31-5E15-03B492001D59}"/>
              </a:ext>
            </a:extLst>
          </p:cNvPr>
          <p:cNvSpPr/>
          <p:nvPr/>
        </p:nvSpPr>
        <p:spPr>
          <a:xfrm>
            <a:off x="1090565" y="1514431"/>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⑧</a:t>
            </a:r>
            <a:r>
              <a:rPr lang="zh-CN" altLang="en-US" sz="2000" dirty="0">
                <a:latin typeface="微软雅黑" pitchFamily="34" charset="-122"/>
                <a:ea typeface="微软雅黑" pitchFamily="34" charset="-122"/>
                <a:cs typeface="经典粗黑简" pitchFamily="49" charset="-122"/>
              </a:rPr>
              <a:t>插入操作</a:t>
            </a:r>
          </a:p>
        </p:txBody>
      </p:sp>
      <p:sp>
        <p:nvSpPr>
          <p:cNvPr id="5" name="矩形 4">
            <a:extLst>
              <a:ext uri="{FF2B5EF4-FFF2-40B4-BE49-F238E27FC236}">
                <a16:creationId xmlns:a16="http://schemas.microsoft.com/office/drawing/2014/main" id="{243D546D-22A2-0294-5E7D-0BB50A676EFF}"/>
              </a:ext>
            </a:extLst>
          </p:cNvPr>
          <p:cNvSpPr/>
          <p:nvPr/>
        </p:nvSpPr>
        <p:spPr>
          <a:xfrm>
            <a:off x="755576" y="3651870"/>
            <a:ext cx="3602268" cy="400110"/>
          </a:xfrm>
          <a:prstGeom prst="rect">
            <a:avLst/>
          </a:prstGeom>
        </p:spPr>
        <p:txBody>
          <a:bodyPr wrap="none">
            <a:spAutoFit/>
          </a:bodyPr>
          <a:lstStyle/>
          <a:p>
            <a:pPr marL="342900"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申请一个结点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并填入</a:t>
            </a:r>
            <a:r>
              <a:rPr lang="en-US" altLang="zh-CN" sz="2000" dirty="0">
                <a:latin typeface="微软雅黑" pitchFamily="34" charset="-122"/>
                <a:ea typeface="微软雅黑" pitchFamily="34" charset="-122"/>
                <a:cs typeface="经典粗黑简" pitchFamily="49" charset="-122"/>
              </a:rPr>
              <a:t>e</a:t>
            </a:r>
            <a:r>
              <a:rPr lang="zh-CN" altLang="en-US" sz="2000" dirty="0">
                <a:latin typeface="微软雅黑" pitchFamily="34" charset="-122"/>
                <a:ea typeface="微软雅黑" pitchFamily="34" charset="-122"/>
                <a:cs typeface="经典粗黑简" pitchFamily="49" charset="-122"/>
              </a:rPr>
              <a:t>值；</a:t>
            </a:r>
          </a:p>
        </p:txBody>
      </p:sp>
      <p:sp>
        <p:nvSpPr>
          <p:cNvPr id="6" name="Rectangle 5">
            <a:extLst>
              <a:ext uri="{FF2B5EF4-FFF2-40B4-BE49-F238E27FC236}">
                <a16:creationId xmlns:a16="http://schemas.microsoft.com/office/drawing/2014/main" id="{D205DCCD-8D3E-B008-BCDB-39791055487C}"/>
              </a:ext>
            </a:extLst>
          </p:cNvPr>
          <p:cNvSpPr>
            <a:spLocks noChangeArrowheads="1"/>
          </p:cNvSpPr>
          <p:nvPr/>
        </p:nvSpPr>
        <p:spPr bwMode="auto">
          <a:xfrm>
            <a:off x="5465216" y="309841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2400" dirty="0"/>
              <a:t>  e </a:t>
            </a:r>
          </a:p>
        </p:txBody>
      </p:sp>
      <p:sp>
        <p:nvSpPr>
          <p:cNvPr id="7" name="Line 6">
            <a:extLst>
              <a:ext uri="{FF2B5EF4-FFF2-40B4-BE49-F238E27FC236}">
                <a16:creationId xmlns:a16="http://schemas.microsoft.com/office/drawing/2014/main" id="{CC41759A-9316-1094-6B5A-3A348F4A7249}"/>
              </a:ext>
            </a:extLst>
          </p:cNvPr>
          <p:cNvSpPr>
            <a:spLocks noChangeShapeType="1"/>
          </p:cNvSpPr>
          <p:nvPr/>
        </p:nvSpPr>
        <p:spPr bwMode="auto">
          <a:xfrm>
            <a:off x="6077418" y="3112102"/>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Rectangle 55">
            <a:extLst>
              <a:ext uri="{FF2B5EF4-FFF2-40B4-BE49-F238E27FC236}">
                <a16:creationId xmlns:a16="http://schemas.microsoft.com/office/drawing/2014/main" id="{296DFDC9-47F0-F332-741A-D96C7F13C02B}"/>
              </a:ext>
            </a:extLst>
          </p:cNvPr>
          <p:cNvSpPr>
            <a:spLocks noChangeArrowheads="1"/>
          </p:cNvSpPr>
          <p:nvPr/>
        </p:nvSpPr>
        <p:spPr bwMode="auto">
          <a:xfrm>
            <a:off x="4595074" y="314105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s</a:t>
            </a:r>
            <a:endParaRPr kumimoji="0" lang="zh-CN" altLang="en-US" sz="2400" dirty="0">
              <a:ea typeface="CFNEOP+TimesNewRoman" charset="-122"/>
            </a:endParaRPr>
          </a:p>
        </p:txBody>
      </p:sp>
      <p:sp>
        <p:nvSpPr>
          <p:cNvPr id="9" name="Line 29">
            <a:extLst>
              <a:ext uri="{FF2B5EF4-FFF2-40B4-BE49-F238E27FC236}">
                <a16:creationId xmlns:a16="http://schemas.microsoft.com/office/drawing/2014/main" id="{98AD3403-B7E6-2C1F-CD92-C64EE4BE1F75}"/>
              </a:ext>
            </a:extLst>
          </p:cNvPr>
          <p:cNvSpPr>
            <a:spLocks noChangeShapeType="1"/>
          </p:cNvSpPr>
          <p:nvPr/>
        </p:nvSpPr>
        <p:spPr bwMode="auto">
          <a:xfrm>
            <a:off x="4949508" y="3327981"/>
            <a:ext cx="515709" cy="510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55">
            <a:extLst>
              <a:ext uri="{FF2B5EF4-FFF2-40B4-BE49-F238E27FC236}">
                <a16:creationId xmlns:a16="http://schemas.microsoft.com/office/drawing/2014/main" id="{EEA8C918-5900-5DD8-FBDA-EC73C552CF5D}"/>
              </a:ext>
            </a:extLst>
          </p:cNvPr>
          <p:cNvSpPr>
            <a:spLocks noChangeArrowheads="1"/>
          </p:cNvSpPr>
          <p:nvPr/>
        </p:nvSpPr>
        <p:spPr bwMode="auto">
          <a:xfrm>
            <a:off x="5094336" y="345544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11" name="Rectangle 40">
            <a:extLst>
              <a:ext uri="{FF2B5EF4-FFF2-40B4-BE49-F238E27FC236}">
                <a16:creationId xmlns:a16="http://schemas.microsoft.com/office/drawing/2014/main" id="{D66850DC-3C8C-1CE6-C340-D656070450F8}"/>
              </a:ext>
            </a:extLst>
          </p:cNvPr>
          <p:cNvSpPr>
            <a:spLocks noChangeArrowheads="1"/>
          </p:cNvSpPr>
          <p:nvPr/>
        </p:nvSpPr>
        <p:spPr bwMode="auto">
          <a:xfrm>
            <a:off x="755577" y="3956271"/>
            <a:ext cx="442846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15000"/>
              </a:spcBef>
              <a:buClr>
                <a:schemeClr val="bg1"/>
              </a:buClr>
              <a:buSzPct val="95000"/>
              <a:buFont typeface="Wingdings" pitchFamily="2" charset="2"/>
              <a:buNone/>
            </a:pPr>
            <a:r>
              <a:rPr lang="en-US" altLang="zh-CN" sz="2000" dirty="0">
                <a:latin typeface="微软雅黑" pitchFamily="34" charset="-122"/>
                <a:ea typeface="微软雅黑" pitchFamily="34" charset="-122"/>
                <a:cs typeface="经典粗黑简" pitchFamily="49" charset="-122"/>
              </a:rPr>
              <a:t>③</a:t>
            </a:r>
            <a:r>
              <a:rPr lang="zh-CN" altLang="en-US" sz="2000" dirty="0">
                <a:latin typeface="微软雅黑" pitchFamily="34" charset="-122"/>
                <a:ea typeface="微软雅黑" pitchFamily="34" charset="-122"/>
                <a:cs typeface="经典粗黑简" pitchFamily="49" charset="-122"/>
              </a:rPr>
              <a:t> 修改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的指针域指向</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的下一结点；</a:t>
            </a:r>
          </a:p>
        </p:txBody>
      </p:sp>
      <p:cxnSp>
        <p:nvCxnSpPr>
          <p:cNvPr id="14" name="曲线连接符 56">
            <a:extLst>
              <a:ext uri="{FF2B5EF4-FFF2-40B4-BE49-F238E27FC236}">
                <a16:creationId xmlns:a16="http://schemas.microsoft.com/office/drawing/2014/main" id="{9E3979EE-BD4D-776F-A62E-E25474808072}"/>
              </a:ext>
            </a:extLst>
          </p:cNvPr>
          <p:cNvCxnSpPr/>
          <p:nvPr/>
        </p:nvCxnSpPr>
        <p:spPr>
          <a:xfrm rot="5400000" flipH="1" flipV="1">
            <a:off x="5918900" y="3011612"/>
            <a:ext cx="639901" cy="79448"/>
          </a:xfrm>
          <a:prstGeom prst="curvedConnector3">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55">
            <a:extLst>
              <a:ext uri="{FF2B5EF4-FFF2-40B4-BE49-F238E27FC236}">
                <a16:creationId xmlns:a16="http://schemas.microsoft.com/office/drawing/2014/main" id="{A3E51FA4-92C2-6FA1-3310-5ED1C8EBDD20}"/>
              </a:ext>
            </a:extLst>
          </p:cNvPr>
          <p:cNvSpPr>
            <a:spLocks noChangeArrowheads="1"/>
          </p:cNvSpPr>
          <p:nvPr/>
        </p:nvSpPr>
        <p:spPr bwMode="auto">
          <a:xfrm>
            <a:off x="6170381" y="277384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3" name="Rectangle 45">
            <a:extLst>
              <a:ext uri="{FF2B5EF4-FFF2-40B4-BE49-F238E27FC236}">
                <a16:creationId xmlns:a16="http://schemas.microsoft.com/office/drawing/2014/main" id="{BB4F6B89-7E60-2780-882F-2921494477E6}"/>
              </a:ext>
            </a:extLst>
          </p:cNvPr>
          <p:cNvSpPr>
            <a:spLocks noChangeArrowheads="1"/>
          </p:cNvSpPr>
          <p:nvPr/>
        </p:nvSpPr>
        <p:spPr bwMode="auto">
          <a:xfrm>
            <a:off x="755576" y="4245936"/>
            <a:ext cx="4170606"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15000"/>
              </a:spcBef>
              <a:buClr>
                <a:schemeClr val="bg1"/>
              </a:buClr>
              <a:buSzPct val="95000"/>
              <a:buFont typeface="Wingdings" pitchFamily="2" charset="2"/>
              <a:buNone/>
            </a:pPr>
            <a:r>
              <a:rPr lang="en-US" altLang="zh-CN" sz="2000" dirty="0">
                <a:latin typeface="微软雅黑" pitchFamily="34" charset="-122"/>
                <a:ea typeface="微软雅黑" pitchFamily="34" charset="-122"/>
                <a:cs typeface="经典粗黑简" pitchFamily="49" charset="-122"/>
              </a:rPr>
              <a:t>④ </a:t>
            </a:r>
            <a:r>
              <a:rPr lang="zh-CN" altLang="en-US" sz="2000" dirty="0">
                <a:latin typeface="微软雅黑" pitchFamily="34" charset="-122"/>
                <a:ea typeface="微软雅黑" pitchFamily="34" charset="-122"/>
                <a:cs typeface="经典粗黑简" pitchFamily="49" charset="-122"/>
              </a:rPr>
              <a:t>修改</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的指针域指向</a:t>
            </a:r>
            <a:r>
              <a:rPr lang="en-US" altLang="zh-CN" sz="2000" dirty="0">
                <a:latin typeface="微软雅黑" pitchFamily="34" charset="-122"/>
                <a:ea typeface="微软雅黑" pitchFamily="34" charset="-122"/>
                <a:cs typeface="经典粗黑简" pitchFamily="49" charset="-122"/>
              </a:rPr>
              <a:t>s。</a:t>
            </a:r>
            <a:endParaRPr lang="zh-CN" altLang="en-US" sz="2000" dirty="0">
              <a:latin typeface="微软雅黑" pitchFamily="34" charset="-122"/>
              <a:ea typeface="微软雅黑" pitchFamily="34" charset="-122"/>
              <a:cs typeface="经典粗黑简" pitchFamily="49" charset="-122"/>
            </a:endParaRPr>
          </a:p>
        </p:txBody>
      </p:sp>
      <p:sp>
        <p:nvSpPr>
          <p:cNvPr id="17" name="Line 29">
            <a:extLst>
              <a:ext uri="{FF2B5EF4-FFF2-40B4-BE49-F238E27FC236}">
                <a16:creationId xmlns:a16="http://schemas.microsoft.com/office/drawing/2014/main" id="{E41F2FCE-5496-BC9F-159B-0BAAB2804770}"/>
              </a:ext>
            </a:extLst>
          </p:cNvPr>
          <p:cNvSpPr>
            <a:spLocks noChangeShapeType="1"/>
          </p:cNvSpPr>
          <p:nvPr/>
        </p:nvSpPr>
        <p:spPr bwMode="auto">
          <a:xfrm>
            <a:off x="5781762" y="2588535"/>
            <a:ext cx="1" cy="64046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Rectangle 55">
            <a:extLst>
              <a:ext uri="{FF2B5EF4-FFF2-40B4-BE49-F238E27FC236}">
                <a16:creationId xmlns:a16="http://schemas.microsoft.com/office/drawing/2014/main" id="{2DE9D04A-ED36-ADFE-6F83-371A88FD67A5}"/>
              </a:ext>
            </a:extLst>
          </p:cNvPr>
          <p:cNvSpPr>
            <a:spLocks noChangeArrowheads="1"/>
          </p:cNvSpPr>
          <p:nvPr/>
        </p:nvSpPr>
        <p:spPr bwMode="auto">
          <a:xfrm>
            <a:off x="5536464" y="230172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④</a:t>
            </a:r>
            <a:endParaRPr kumimoji="0" lang="zh-CN" altLang="en-US" sz="2400" dirty="0">
              <a:solidFill>
                <a:srgbClr val="FF0000"/>
              </a:solidFill>
              <a:ea typeface="CFNEOP+TimesNewRoman" charset="-122"/>
            </a:endParaRPr>
          </a:p>
        </p:txBody>
      </p:sp>
      <p:sp>
        <p:nvSpPr>
          <p:cNvPr id="60" name="Rectangle 26"/>
          <p:cNvSpPr>
            <a:spLocks noChangeArrowheads="1"/>
          </p:cNvSpPr>
          <p:nvPr/>
        </p:nvSpPr>
        <p:spPr bwMode="auto">
          <a:xfrm>
            <a:off x="5241622" y="3932700"/>
            <a:ext cx="3658815" cy="1027585"/>
          </a:xfrm>
          <a:prstGeom prst="rect">
            <a:avLst/>
          </a:prstGeom>
          <a:noFill/>
          <a:ln>
            <a:noFill/>
          </a:ln>
        </p:spPr>
        <p:txBody>
          <a:bodyPr/>
          <a:lstStyle/>
          <a:p>
            <a:pPr algn="l"/>
            <a:r>
              <a:rPr kumimoji="0" lang="zh-CN" altLang="en-US" sz="2000" b="1" dirty="0"/>
              <a:t>复杂度</a:t>
            </a:r>
            <a:r>
              <a:rPr lang="zh-CN" altLang="en-US" sz="2000" dirty="0"/>
              <a:t>： ①查找：</a:t>
            </a:r>
            <a:r>
              <a:rPr lang="en-US" altLang="zh-CN" sz="2000" dirty="0"/>
              <a:t>T1(n)=O(n)</a:t>
            </a:r>
          </a:p>
          <a:p>
            <a:pPr algn="l"/>
            <a:r>
              <a:rPr lang="en-US" altLang="zh-CN" sz="2000" dirty="0"/>
              <a:t>	   </a:t>
            </a:r>
            <a:r>
              <a:rPr lang="zh-CN" altLang="en-US" sz="2000" dirty="0"/>
              <a:t>②插入：</a:t>
            </a:r>
            <a:r>
              <a:rPr lang="en-US" altLang="zh-CN" sz="2000" dirty="0"/>
              <a:t>T2(n)=O(1)</a:t>
            </a:r>
          </a:p>
          <a:p>
            <a:pPr algn="l"/>
            <a:r>
              <a:rPr kumimoji="0" lang="en-US" altLang="zh-CN" sz="2000" dirty="0">
                <a:cs typeface="Times New Roman" pitchFamily="18" charset="0"/>
              </a:rPr>
              <a:t>	</a:t>
            </a:r>
            <a:r>
              <a:rPr kumimoji="0" lang="en-US" altLang="zh-CN" sz="2000" b="1" dirty="0">
                <a:cs typeface="Times New Roman" pitchFamily="18" charset="0"/>
                <a:sym typeface="Symbol" pitchFamily="18" charset="2"/>
              </a:rPr>
              <a:t> T(n)=O(n)</a:t>
            </a:r>
            <a:endParaRPr kumimoji="0" lang="en-US" altLang="zh-CN" sz="2000" b="1" dirty="0">
              <a:cs typeface="Times New Roman" pitchFamily="18" charset="0"/>
            </a:endParaRPr>
          </a:p>
        </p:txBody>
      </p:sp>
      <p:sp>
        <p:nvSpPr>
          <p:cNvPr id="52" name="矩形 51">
            <a:extLst>
              <a:ext uri="{FF2B5EF4-FFF2-40B4-BE49-F238E27FC236}">
                <a16:creationId xmlns:a16="http://schemas.microsoft.com/office/drawing/2014/main" id="{08640FEB-D46C-4D2F-97D5-461911B41EEE}"/>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41332339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542430" y="1923678"/>
            <a:ext cx="4829771" cy="523220"/>
          </a:xfrm>
          <a:prstGeom prst="rect">
            <a:avLst/>
          </a:prstGeom>
        </p:spPr>
        <p:txBody>
          <a:bodyPr wrap="square">
            <a:spAutoFit/>
          </a:bodyPr>
          <a:lstStyle/>
          <a:p>
            <a:pPr lvl="1">
              <a:buFont typeface="Wingdings" pitchFamily="2" charset="2"/>
              <a:buNone/>
            </a:pPr>
            <a:r>
              <a:rPr lang="zh-CN" altLang="en-US" sz="2800" dirty="0"/>
              <a:t>(</a:t>
            </a:r>
            <a:r>
              <a:rPr lang="en-US" altLang="zh-CN" sz="2800" dirty="0"/>
              <a:t>a</a:t>
            </a:r>
            <a:r>
              <a:rPr lang="en-US" altLang="zh-CN" sz="2800" baseline="-25000" dirty="0"/>
              <a:t>1</a:t>
            </a:r>
            <a:r>
              <a:rPr lang="en-US" altLang="zh-CN" sz="2800" dirty="0"/>
              <a:t>, a</a:t>
            </a:r>
            <a:r>
              <a:rPr lang="en-US" altLang="zh-CN" sz="2800" baseline="-25000" dirty="0"/>
              <a:t>2</a:t>
            </a:r>
            <a:r>
              <a:rPr lang="en-US" altLang="zh-CN" sz="2800" dirty="0"/>
              <a:t>, …, </a:t>
            </a:r>
            <a:r>
              <a:rPr lang="en-US" altLang="zh-CN" sz="2800" dirty="0">
                <a:solidFill>
                  <a:srgbClr val="00B050"/>
                </a:solidFill>
              </a:rPr>
              <a:t>a</a:t>
            </a:r>
            <a:r>
              <a:rPr lang="en-US" altLang="zh-CN" sz="2800" baseline="-25000" dirty="0">
                <a:solidFill>
                  <a:srgbClr val="00B050"/>
                </a:solidFill>
              </a:rPr>
              <a:t>i-1</a:t>
            </a:r>
            <a:r>
              <a:rPr lang="en-US" altLang="zh-CN" sz="2800" dirty="0">
                <a:solidFill>
                  <a:srgbClr val="00B050"/>
                </a:solidFill>
              </a:rPr>
              <a:t>, </a:t>
            </a:r>
            <a:r>
              <a:rPr lang="en-US" altLang="zh-CN" sz="2800" dirty="0" err="1">
                <a:solidFill>
                  <a:srgbClr val="FF0000"/>
                </a:solidFill>
              </a:rPr>
              <a:t>a</a:t>
            </a:r>
            <a:r>
              <a:rPr lang="en-US" altLang="zh-CN" sz="2800" baseline="-25000" dirty="0" err="1">
                <a:solidFill>
                  <a:srgbClr val="FF0000"/>
                </a:solidFill>
              </a:rPr>
              <a:t>i</a:t>
            </a:r>
            <a:r>
              <a:rPr lang="en-US" altLang="zh-CN" sz="2800" dirty="0">
                <a:solidFill>
                  <a:srgbClr val="00B050"/>
                </a:solidFill>
              </a:rPr>
              <a:t>, a</a:t>
            </a:r>
            <a:r>
              <a:rPr lang="en-US" altLang="zh-CN" sz="2800" baseline="-25000" dirty="0">
                <a:solidFill>
                  <a:srgbClr val="00B050"/>
                </a:solidFill>
              </a:rPr>
              <a:t>i+1</a:t>
            </a:r>
            <a:r>
              <a:rPr lang="en-US" altLang="zh-CN" sz="2800" dirty="0">
                <a:solidFill>
                  <a:srgbClr val="00B050"/>
                </a:solidFill>
              </a:rPr>
              <a:t>, </a:t>
            </a:r>
            <a:r>
              <a:rPr lang="en-US" altLang="zh-CN" sz="2800" dirty="0"/>
              <a:t>…, a</a:t>
            </a:r>
            <a:r>
              <a:rPr lang="en-US" altLang="zh-CN" sz="2800" baseline="-25000" dirty="0"/>
              <a:t>n</a:t>
            </a:r>
            <a:r>
              <a:rPr lang="en-US" altLang="zh-CN" sz="2800" dirty="0"/>
              <a:t>)</a:t>
            </a:r>
            <a:endParaRPr lang="zh-CN" altLang="en-US" sz="2800" dirty="0">
              <a:latin typeface="微软雅黑" pitchFamily="34" charset="-122"/>
              <a:ea typeface="微软雅黑" pitchFamily="34" charset="-122"/>
              <a:cs typeface="经典粗黑简" pitchFamily="49" charset="-122"/>
            </a:endParaRPr>
          </a:p>
        </p:txBody>
      </p:sp>
      <p:sp>
        <p:nvSpPr>
          <p:cNvPr id="11" name="矩形 10"/>
          <p:cNvSpPr/>
          <p:nvPr/>
        </p:nvSpPr>
        <p:spPr>
          <a:xfrm>
            <a:off x="1542431" y="2649194"/>
            <a:ext cx="4522373" cy="523220"/>
          </a:xfrm>
          <a:prstGeom prst="rect">
            <a:avLst/>
          </a:prstGeom>
        </p:spPr>
        <p:txBody>
          <a:bodyPr wrap="square">
            <a:spAutoFit/>
          </a:bodyPr>
          <a:lstStyle/>
          <a:p>
            <a:pPr lvl="1">
              <a:buFont typeface="Wingdings" pitchFamily="2" charset="2"/>
              <a:buNone/>
            </a:pPr>
            <a:r>
              <a:rPr kumimoji="1" lang="zh-CN" altLang="en-US" sz="2800" dirty="0"/>
              <a:t>(</a:t>
            </a:r>
            <a:r>
              <a:rPr kumimoji="1" lang="en-US" altLang="zh-CN" sz="2800" dirty="0"/>
              <a:t>a</a:t>
            </a:r>
            <a:r>
              <a:rPr kumimoji="1" lang="en-US" altLang="zh-CN" sz="2800" baseline="-25000" dirty="0"/>
              <a:t>1</a:t>
            </a:r>
            <a:r>
              <a:rPr kumimoji="1" lang="en-US" altLang="zh-CN" sz="2800" dirty="0"/>
              <a:t>, a</a:t>
            </a:r>
            <a:r>
              <a:rPr kumimoji="1" lang="en-US" altLang="zh-CN" sz="2800" baseline="-25000" dirty="0"/>
              <a:t>2</a:t>
            </a:r>
            <a:r>
              <a:rPr kumimoji="1" lang="en-US" altLang="zh-CN" sz="2800" dirty="0"/>
              <a:t>, …, </a:t>
            </a:r>
            <a:r>
              <a:rPr kumimoji="1" lang="en-US" altLang="zh-CN" sz="2800" dirty="0">
                <a:solidFill>
                  <a:srgbClr val="00B050"/>
                </a:solidFill>
              </a:rPr>
              <a:t>a</a:t>
            </a:r>
            <a:r>
              <a:rPr kumimoji="1" lang="en-US" altLang="zh-CN" sz="2800" baseline="-25000" dirty="0">
                <a:solidFill>
                  <a:srgbClr val="00B050"/>
                </a:solidFill>
              </a:rPr>
              <a:t>i-1</a:t>
            </a:r>
            <a:r>
              <a:rPr kumimoji="1" lang="en-US" altLang="zh-CN" sz="2800" dirty="0">
                <a:solidFill>
                  <a:srgbClr val="00B050"/>
                </a:solidFill>
              </a:rPr>
              <a:t>,</a:t>
            </a:r>
            <a:r>
              <a:rPr kumimoji="1" lang="en-US" altLang="zh-CN" sz="2800" dirty="0"/>
              <a:t> </a:t>
            </a:r>
            <a:r>
              <a:rPr kumimoji="1" lang="en-US" altLang="zh-CN" sz="2800" dirty="0">
                <a:solidFill>
                  <a:srgbClr val="00B050"/>
                </a:solidFill>
              </a:rPr>
              <a:t>a</a:t>
            </a:r>
            <a:r>
              <a:rPr kumimoji="1" lang="en-US" altLang="zh-CN" sz="2800" baseline="-25000" dirty="0">
                <a:solidFill>
                  <a:srgbClr val="00B050"/>
                </a:solidFill>
              </a:rPr>
              <a:t>i+1</a:t>
            </a:r>
            <a:r>
              <a:rPr kumimoji="1" lang="en-US" altLang="zh-CN" sz="2800" dirty="0"/>
              <a:t>, …, a</a:t>
            </a:r>
            <a:r>
              <a:rPr kumimoji="1" lang="en-US" altLang="zh-CN" sz="2800" baseline="-25000" dirty="0"/>
              <a:t>n</a:t>
            </a:r>
            <a:r>
              <a:rPr kumimoji="1" lang="en-US" altLang="zh-CN" sz="2800" dirty="0"/>
              <a:t>)</a:t>
            </a:r>
            <a:endParaRPr lang="zh-CN" altLang="en-US" sz="2800" dirty="0">
              <a:latin typeface="微软雅黑" pitchFamily="34" charset="-122"/>
              <a:ea typeface="微软雅黑" pitchFamily="34" charset="-122"/>
              <a:cs typeface="经典粗黑简" pitchFamily="49" charset="-122"/>
            </a:endParaRPr>
          </a:p>
        </p:txBody>
      </p:sp>
      <p:sp>
        <p:nvSpPr>
          <p:cNvPr id="13" name="下箭头 12"/>
          <p:cNvSpPr/>
          <p:nvPr/>
        </p:nvSpPr>
        <p:spPr>
          <a:xfrm>
            <a:off x="3149165" y="2398690"/>
            <a:ext cx="1741713" cy="389084"/>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13384" y="3099610"/>
            <a:ext cx="8257459"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将元素</a:t>
            </a:r>
            <a:r>
              <a:rPr lang="en-US" altLang="zh-CN" sz="2000" dirty="0" err="1">
                <a:latin typeface="微软雅黑" pitchFamily="34" charset="-122"/>
                <a:ea typeface="微软雅黑" pitchFamily="34" charset="-122"/>
                <a:cs typeface="经典粗黑简" pitchFamily="49" charset="-122"/>
              </a:rPr>
              <a:t>a</a:t>
            </a:r>
            <a:r>
              <a:rPr lang="en-US" altLang="zh-CN" sz="2000" baseline="-25000" dirty="0" err="1">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从线性表中删除，构成新的线性表</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删除后不破坏原线性关系；</a:t>
            </a:r>
          </a:p>
        </p:txBody>
      </p:sp>
      <p:sp>
        <p:nvSpPr>
          <p:cNvPr id="15" name="矩形 14"/>
          <p:cNvSpPr/>
          <p:nvPr/>
        </p:nvSpPr>
        <p:spPr>
          <a:xfrm>
            <a:off x="713384" y="3435846"/>
            <a:ext cx="2143536" cy="400110"/>
          </a:xfrm>
          <a:prstGeom prst="rect">
            <a:avLst/>
          </a:prstGeom>
        </p:spPr>
        <p:txBody>
          <a:bodyPr wrap="none">
            <a:spAutoFit/>
          </a:bodyPr>
          <a:lstStyle/>
          <a:p>
            <a:r>
              <a:rPr lang="zh-CN" altLang="en-US" sz="2000" dirty="0">
                <a:latin typeface="微软雅黑" pitchFamily="34" charset="-122"/>
                <a:ea typeface="微软雅黑" pitchFamily="34" charset="-122"/>
                <a:cs typeface="经典粗黑简" pitchFamily="49" charset="-122"/>
              </a:rPr>
              <a:t>表的长度为</a:t>
            </a:r>
            <a:r>
              <a:rPr lang="en-US" altLang="zh-CN" sz="2000" dirty="0">
                <a:latin typeface="微软雅黑" pitchFamily="34" charset="-122"/>
                <a:ea typeface="微软雅黑" pitchFamily="34" charset="-122"/>
                <a:cs typeface="经典粗黑简" pitchFamily="49" charset="-122"/>
              </a:rPr>
              <a:t>n-1</a:t>
            </a:r>
            <a:r>
              <a:rPr lang="zh-CN" altLang="en-US" sz="2000" dirty="0">
                <a:latin typeface="微软雅黑" pitchFamily="34" charset="-122"/>
                <a:ea typeface="微软雅黑" pitchFamily="34" charset="-122"/>
                <a:cs typeface="经典粗黑简" pitchFamily="49" charset="-122"/>
              </a:rPr>
              <a:t>；</a:t>
            </a:r>
          </a:p>
        </p:txBody>
      </p:sp>
      <p:sp>
        <p:nvSpPr>
          <p:cNvPr id="16" name="矩形 15"/>
          <p:cNvSpPr/>
          <p:nvPr/>
        </p:nvSpPr>
        <p:spPr>
          <a:xfrm>
            <a:off x="713384" y="3759882"/>
            <a:ext cx="8257459" cy="707886"/>
          </a:xfrm>
          <a:prstGeom prst="rect">
            <a:avLst/>
          </a:prstGeom>
        </p:spPr>
        <p:txBody>
          <a:bodyPr wrap="square">
            <a:spAutoFit/>
          </a:bodyPr>
          <a:lstStyle/>
          <a:p>
            <a:pPr marL="0" lvl="1"/>
            <a:r>
              <a:rPr lang="zh-CN" altLang="en-US" sz="2000" dirty="0">
                <a:latin typeface="微软雅黑" pitchFamily="34" charset="-122"/>
                <a:ea typeface="微软雅黑" pitchFamily="34" charset="-122"/>
                <a:cs typeface="经典粗黑简" pitchFamily="49" charset="-122"/>
              </a:rPr>
              <a:t>将元素</a:t>
            </a:r>
            <a:r>
              <a:rPr lang="en-US" altLang="zh-CN" sz="2000" dirty="0" err="1">
                <a:latin typeface="微软雅黑" pitchFamily="34" charset="-122"/>
                <a:ea typeface="微软雅黑" pitchFamily="34" charset="-122"/>
                <a:cs typeface="经典粗黑简" pitchFamily="49" charset="-122"/>
              </a:rPr>
              <a:t>a</a:t>
            </a:r>
            <a:r>
              <a:rPr lang="en-US" altLang="zh-CN" sz="2000" baseline="-25000" dirty="0" err="1">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删除之后，</a:t>
            </a:r>
            <a:r>
              <a:rPr lang="en-US" altLang="zh-CN" sz="2000" dirty="0">
                <a:latin typeface="微软雅黑" pitchFamily="34" charset="-122"/>
                <a:ea typeface="微软雅黑" pitchFamily="34" charset="-122"/>
                <a:cs typeface="经典粗黑简" pitchFamily="49" charset="-122"/>
              </a:rPr>
              <a:t>a</a:t>
            </a:r>
            <a:r>
              <a:rPr lang="en-US" altLang="zh-CN" sz="2000" baseline="-25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的直接后继和</a:t>
            </a:r>
            <a:r>
              <a:rPr lang="en-US" altLang="zh-CN" sz="2000" dirty="0">
                <a:latin typeface="微软雅黑" pitchFamily="34" charset="-122"/>
                <a:ea typeface="微软雅黑" pitchFamily="34" charset="-122"/>
                <a:cs typeface="经典粗黑简" pitchFamily="49" charset="-122"/>
              </a:rPr>
              <a:t>a</a:t>
            </a:r>
            <a:r>
              <a:rPr lang="en-US" altLang="zh-CN" sz="2000" baseline="-25000" dirty="0">
                <a:latin typeface="微软雅黑" pitchFamily="34" charset="-122"/>
                <a:ea typeface="微软雅黑" pitchFamily="34" charset="-122"/>
                <a:cs typeface="经典粗黑简" pitchFamily="49" charset="-122"/>
              </a:rPr>
              <a:t>i＋1</a:t>
            </a:r>
            <a:r>
              <a:rPr lang="en-US" altLang="zh-CN" sz="2000" dirty="0">
                <a:latin typeface="微软雅黑" pitchFamily="34" charset="-122"/>
                <a:ea typeface="微软雅黑" pitchFamily="34" charset="-122"/>
                <a:cs typeface="经典粗黑简" pitchFamily="49" charset="-122"/>
              </a:rPr>
              <a:t> </a:t>
            </a:r>
            <a:r>
              <a:rPr lang="zh-CN" altLang="en-US" sz="2000" dirty="0">
                <a:latin typeface="微软雅黑" pitchFamily="34" charset="-122"/>
                <a:ea typeface="微软雅黑" pitchFamily="34" charset="-122"/>
                <a:cs typeface="经典粗黑简" pitchFamily="49" charset="-122"/>
              </a:rPr>
              <a:t>的直接前驱就改变了，需要在链表的存储结构上反映出来 ；</a:t>
            </a:r>
          </a:p>
        </p:txBody>
      </p:sp>
      <p:cxnSp>
        <p:nvCxnSpPr>
          <p:cNvPr id="19" name="直接连接符 18"/>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1090565" y="1523568"/>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⑨</a:t>
            </a:r>
            <a:r>
              <a:rPr lang="zh-CN" altLang="en-US" sz="2000" dirty="0">
                <a:latin typeface="微软雅黑" pitchFamily="34" charset="-122"/>
                <a:ea typeface="微软雅黑" pitchFamily="34" charset="-122"/>
                <a:cs typeface="经典粗黑简" pitchFamily="49" charset="-122"/>
              </a:rPr>
              <a:t>删除操作</a:t>
            </a:r>
          </a:p>
        </p:txBody>
      </p:sp>
      <p:sp>
        <p:nvSpPr>
          <p:cNvPr id="2" name="Rectangle 2">
            <a:extLst>
              <a:ext uri="{FF2B5EF4-FFF2-40B4-BE49-F238E27FC236}">
                <a16:creationId xmlns:a16="http://schemas.microsoft.com/office/drawing/2014/main" id="{D7E25EC7-05F9-6015-6BA2-BC76AD03A240}"/>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12" name="矩形 11">
            <a:extLst>
              <a:ext uri="{FF2B5EF4-FFF2-40B4-BE49-F238E27FC236}">
                <a16:creationId xmlns:a16="http://schemas.microsoft.com/office/drawing/2014/main" id="{55A4298D-6A10-415C-9300-5B6CB52688FD}"/>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1566573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animBg="1"/>
      <p:bldP spid="14" grpId="0"/>
      <p:bldP spid="15" grpId="0"/>
      <p:bldP spid="1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5"/>
          <p:cNvSpPr>
            <a:spLocks noChangeArrowheads="1"/>
          </p:cNvSpPr>
          <p:nvPr/>
        </p:nvSpPr>
        <p:spPr bwMode="auto">
          <a:xfrm>
            <a:off x="2108646" y="229963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20" name="Line 6"/>
          <p:cNvSpPr>
            <a:spLocks noChangeShapeType="1"/>
          </p:cNvSpPr>
          <p:nvPr/>
        </p:nvSpPr>
        <p:spPr bwMode="auto">
          <a:xfrm>
            <a:off x="2642046"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Rectangle 25"/>
          <p:cNvSpPr>
            <a:spLocks noChangeArrowheads="1"/>
          </p:cNvSpPr>
          <p:nvPr/>
        </p:nvSpPr>
        <p:spPr bwMode="auto">
          <a:xfrm>
            <a:off x="3237512" y="2370444"/>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3" name="Rectangle 36"/>
          <p:cNvSpPr>
            <a:spLocks noChangeArrowheads="1"/>
          </p:cNvSpPr>
          <p:nvPr/>
        </p:nvSpPr>
        <p:spPr bwMode="auto">
          <a:xfrm>
            <a:off x="7472077" y="238144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24" name="Rectangle 228"/>
          <p:cNvSpPr>
            <a:spLocks noChangeArrowheads="1"/>
          </p:cNvSpPr>
          <p:nvPr/>
        </p:nvSpPr>
        <p:spPr bwMode="auto">
          <a:xfrm>
            <a:off x="306393" y="233585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25" name="Line 29"/>
          <p:cNvSpPr>
            <a:spLocks noChangeShapeType="1"/>
          </p:cNvSpPr>
          <p:nvPr/>
        </p:nvSpPr>
        <p:spPr bwMode="auto">
          <a:xfrm>
            <a:off x="572038" y="252613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5"/>
          <p:cNvSpPr>
            <a:spLocks noChangeArrowheads="1"/>
          </p:cNvSpPr>
          <p:nvPr/>
        </p:nvSpPr>
        <p:spPr bwMode="auto">
          <a:xfrm>
            <a:off x="6318056" y="2354791"/>
            <a:ext cx="1048349"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27" name="Line 6"/>
          <p:cNvSpPr>
            <a:spLocks noChangeShapeType="1"/>
          </p:cNvSpPr>
          <p:nvPr/>
        </p:nvSpPr>
        <p:spPr bwMode="auto">
          <a:xfrm>
            <a:off x="7100571" y="237534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9"/>
          <p:cNvSpPr>
            <a:spLocks noChangeShapeType="1"/>
          </p:cNvSpPr>
          <p:nvPr/>
        </p:nvSpPr>
        <p:spPr bwMode="auto">
          <a:xfrm>
            <a:off x="2903303"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Rectangle 5"/>
          <p:cNvSpPr>
            <a:spLocks noChangeArrowheads="1"/>
          </p:cNvSpPr>
          <p:nvPr/>
        </p:nvSpPr>
        <p:spPr bwMode="auto">
          <a:xfrm>
            <a:off x="3862239" y="2321632"/>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30" name="Line 6"/>
          <p:cNvSpPr>
            <a:spLocks noChangeShapeType="1"/>
          </p:cNvSpPr>
          <p:nvPr/>
        </p:nvSpPr>
        <p:spPr bwMode="auto">
          <a:xfrm>
            <a:off x="4598812" y="2316257"/>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9"/>
          <p:cNvSpPr>
            <a:spLocks noChangeShapeType="1"/>
          </p:cNvSpPr>
          <p:nvPr/>
        </p:nvSpPr>
        <p:spPr bwMode="auto">
          <a:xfrm>
            <a:off x="3563889" y="2560335"/>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29"/>
          <p:cNvSpPr>
            <a:spLocks noChangeShapeType="1"/>
          </p:cNvSpPr>
          <p:nvPr/>
        </p:nvSpPr>
        <p:spPr bwMode="auto">
          <a:xfrm>
            <a:off x="7204529" y="2606074"/>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Rectangle 5"/>
          <p:cNvSpPr>
            <a:spLocks noChangeArrowheads="1"/>
          </p:cNvSpPr>
          <p:nvPr/>
        </p:nvSpPr>
        <p:spPr bwMode="auto">
          <a:xfrm>
            <a:off x="5254998" y="233346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200" dirty="0">
                <a:latin typeface="微软雅黑" pitchFamily="34" charset="-122"/>
                <a:ea typeface="微软雅黑" pitchFamily="34" charset="-122"/>
              </a:rPr>
              <a:t> </a:t>
            </a:r>
            <a:r>
              <a:rPr lang="en-US" altLang="zh-CN" sz="2400" dirty="0"/>
              <a:t>   </a:t>
            </a:r>
          </a:p>
        </p:txBody>
      </p:sp>
      <p:sp>
        <p:nvSpPr>
          <p:cNvPr id="34" name="Line 6"/>
          <p:cNvSpPr>
            <a:spLocks noChangeShapeType="1"/>
          </p:cNvSpPr>
          <p:nvPr/>
        </p:nvSpPr>
        <p:spPr bwMode="auto">
          <a:xfrm>
            <a:off x="5788398" y="233346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a:off x="4873998" y="258763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 name="Line 29"/>
          <p:cNvSpPr>
            <a:spLocks noChangeShapeType="1"/>
          </p:cNvSpPr>
          <p:nvPr/>
        </p:nvSpPr>
        <p:spPr bwMode="auto">
          <a:xfrm>
            <a:off x="6019706" y="258853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Rectangle 5"/>
          <p:cNvSpPr>
            <a:spLocks noChangeArrowheads="1"/>
          </p:cNvSpPr>
          <p:nvPr/>
        </p:nvSpPr>
        <p:spPr bwMode="auto">
          <a:xfrm>
            <a:off x="8048059" y="234330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600" baseline="-25000" dirty="0"/>
              <a:t> </a:t>
            </a:r>
            <a:r>
              <a:rPr lang="zh-CN" altLang="en-US" sz="2400" dirty="0"/>
              <a:t>^</a:t>
            </a:r>
            <a:r>
              <a:rPr lang="en-US" altLang="zh-CN" sz="2400" dirty="0"/>
              <a:t>  </a:t>
            </a:r>
          </a:p>
        </p:txBody>
      </p:sp>
      <p:sp>
        <p:nvSpPr>
          <p:cNvPr id="41" name="Line 6"/>
          <p:cNvSpPr>
            <a:spLocks noChangeShapeType="1"/>
          </p:cNvSpPr>
          <p:nvPr/>
        </p:nvSpPr>
        <p:spPr bwMode="auto">
          <a:xfrm>
            <a:off x="8581459" y="234330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9"/>
          <p:cNvSpPr>
            <a:spLocks noChangeShapeType="1"/>
          </p:cNvSpPr>
          <p:nvPr/>
        </p:nvSpPr>
        <p:spPr bwMode="auto">
          <a:xfrm>
            <a:off x="7812360" y="2593909"/>
            <a:ext cx="235699" cy="356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5"/>
          <p:cNvSpPr>
            <a:spLocks noChangeArrowheads="1"/>
          </p:cNvSpPr>
          <p:nvPr/>
        </p:nvSpPr>
        <p:spPr bwMode="auto">
          <a:xfrm>
            <a:off x="953038" y="2299630"/>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44" name="Line 6"/>
          <p:cNvSpPr>
            <a:spLocks noChangeShapeType="1"/>
          </p:cNvSpPr>
          <p:nvPr/>
        </p:nvSpPr>
        <p:spPr bwMode="auto">
          <a:xfrm>
            <a:off x="1486438"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9"/>
          <p:cNvSpPr>
            <a:spLocks noChangeShapeType="1"/>
          </p:cNvSpPr>
          <p:nvPr/>
        </p:nvSpPr>
        <p:spPr bwMode="auto">
          <a:xfrm>
            <a:off x="1747695"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Rectangle 57"/>
          <p:cNvSpPr>
            <a:spLocks noChangeArrowheads="1"/>
          </p:cNvSpPr>
          <p:nvPr/>
        </p:nvSpPr>
        <p:spPr bwMode="auto">
          <a:xfrm>
            <a:off x="3744446" y="2753388"/>
            <a:ext cx="1013740"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j=i-1</a:t>
            </a:r>
            <a:endParaRPr kumimoji="0" lang="zh-CN" altLang="en-US" sz="2400" dirty="0">
              <a:ea typeface="Li Super" charset="-122"/>
            </a:endParaRPr>
          </a:p>
        </p:txBody>
      </p:sp>
      <p:sp>
        <p:nvSpPr>
          <p:cNvPr id="47" name="Rectangle 55"/>
          <p:cNvSpPr>
            <a:spLocks noChangeArrowheads="1"/>
          </p:cNvSpPr>
          <p:nvPr/>
        </p:nvSpPr>
        <p:spPr bwMode="auto">
          <a:xfrm>
            <a:off x="3383333" y="170467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48" name="Line 29"/>
          <p:cNvSpPr>
            <a:spLocks noChangeShapeType="1"/>
          </p:cNvSpPr>
          <p:nvPr/>
        </p:nvSpPr>
        <p:spPr bwMode="auto">
          <a:xfrm>
            <a:off x="3630932" y="2035240"/>
            <a:ext cx="231308" cy="30921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Rectangle 55"/>
          <p:cNvSpPr>
            <a:spLocks noChangeArrowheads="1"/>
          </p:cNvSpPr>
          <p:nvPr/>
        </p:nvSpPr>
        <p:spPr bwMode="auto">
          <a:xfrm>
            <a:off x="3730869" y="19340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50" name="矩形 49"/>
          <p:cNvSpPr/>
          <p:nvPr/>
        </p:nvSpPr>
        <p:spPr>
          <a:xfrm>
            <a:off x="323528" y="3057804"/>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51" name="矩形 50"/>
          <p:cNvSpPr/>
          <p:nvPr/>
        </p:nvSpPr>
        <p:spPr>
          <a:xfrm>
            <a:off x="761593" y="3381840"/>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53" name="矩形 52"/>
          <p:cNvSpPr/>
          <p:nvPr/>
        </p:nvSpPr>
        <p:spPr>
          <a:xfrm>
            <a:off x="4931652" y="2894516"/>
            <a:ext cx="4061664" cy="2169825"/>
          </a:xfrm>
          <a:prstGeom prst="rect">
            <a:avLst/>
          </a:prstGeom>
        </p:spPr>
        <p:txBody>
          <a:bodyPr wrap="square">
            <a:spAutoFit/>
          </a:bodyPr>
          <a:lstStyle/>
          <a:p>
            <a:pPr marL="1143000" lvl="2" indent="-228600">
              <a:spcBef>
                <a:spcPct val="15000"/>
              </a:spcBef>
              <a:buClr>
                <a:schemeClr val="tx1"/>
              </a:buClr>
              <a:buSzPct val="65000"/>
            </a:pPr>
            <a:r>
              <a:rPr lang="en-US" altLang="zh-CN" sz="2000" dirty="0">
                <a:latin typeface="Times New Roman" pitchFamily="18" charset="0"/>
                <a:ea typeface="宋体" pitchFamily="2" charset="-122"/>
              </a:rPr>
              <a:t>p =L;   j = 0;    </a:t>
            </a:r>
          </a:p>
          <a:p>
            <a:pPr marL="1143000" lvl="2" indent="-228600">
              <a:spcBef>
                <a:spcPct val="15000"/>
              </a:spcBef>
              <a:buClr>
                <a:schemeClr val="tx1"/>
              </a:buClr>
              <a:buSzPct val="65000"/>
            </a:pPr>
            <a:r>
              <a:rPr lang="en-US" altLang="zh-CN" sz="2000" dirty="0">
                <a:latin typeface="Times New Roman" pitchFamily="18" charset="0"/>
                <a:ea typeface="宋体" pitchFamily="2" charset="-122"/>
              </a:rPr>
              <a:t>while (p &amp;&amp; j &lt; </a:t>
            </a:r>
            <a:r>
              <a:rPr lang="en-US" altLang="zh-CN" sz="2000" dirty="0">
                <a:solidFill>
                  <a:srgbClr val="FF0000"/>
                </a:solidFill>
                <a:latin typeface="Times New Roman" pitchFamily="18" charset="0"/>
                <a:ea typeface="宋体" pitchFamily="2" charset="-122"/>
              </a:rPr>
              <a:t>i-1</a:t>
            </a:r>
            <a:r>
              <a:rPr lang="en-US" altLang="zh-CN" sz="2000" dirty="0">
                <a:latin typeface="Times New Roman" pitchFamily="18" charset="0"/>
                <a:ea typeface="宋体" pitchFamily="2" charset="-122"/>
              </a:rPr>
              <a:t>) </a:t>
            </a:r>
          </a:p>
          <a:p>
            <a:pPr marL="1143000" lvl="2" indent="-228600">
              <a:spcBef>
                <a:spcPct val="15000"/>
              </a:spcBef>
              <a:buClr>
                <a:schemeClr val="tx1"/>
              </a:buClr>
              <a:buSzPct val="65000"/>
            </a:pPr>
            <a:r>
              <a:rPr lang="en-US" altLang="zh-CN" sz="2000" dirty="0">
                <a:latin typeface="Times New Roman" pitchFamily="18" charset="0"/>
                <a:ea typeface="宋体" pitchFamily="2" charset="-122"/>
              </a:rPr>
              <a:t>{      </a:t>
            </a:r>
          </a:p>
          <a:p>
            <a:pPr marL="1143000" lvl="2" indent="-228600">
              <a:spcBef>
                <a:spcPct val="15000"/>
              </a:spcBef>
              <a:buClr>
                <a:schemeClr val="tx1"/>
              </a:buClr>
              <a:buSzPct val="65000"/>
            </a:pPr>
            <a:r>
              <a:rPr lang="zh-CN" altLang="en-US" sz="2000" dirty="0">
                <a:latin typeface="Times New Roman" pitchFamily="18" charset="0"/>
                <a:ea typeface="宋体" pitchFamily="2" charset="-122"/>
              </a:rPr>
              <a:t>             </a:t>
            </a:r>
            <a:r>
              <a:rPr lang="en-US" altLang="zh-CN" sz="2000" dirty="0">
                <a:latin typeface="Times New Roman" pitchFamily="18" charset="0"/>
                <a:ea typeface="宋体" pitchFamily="2" charset="-122"/>
              </a:rPr>
              <a:t>p = p-&gt;next;</a:t>
            </a:r>
          </a:p>
          <a:p>
            <a:pPr marL="1143000" lvl="2" indent="-228600">
              <a:spcBef>
                <a:spcPct val="15000"/>
              </a:spcBef>
              <a:buClr>
                <a:schemeClr val="tx1"/>
              </a:buClr>
              <a:buSzPct val="65000"/>
            </a:pPr>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j++</a:t>
            </a:r>
            <a:r>
              <a:rPr lang="en-US" altLang="zh-CN" sz="2000" dirty="0">
                <a:latin typeface="Times New Roman" pitchFamily="18" charset="0"/>
                <a:ea typeface="宋体" pitchFamily="2" charset="-122"/>
              </a:rPr>
              <a:t>;</a:t>
            </a:r>
          </a:p>
          <a:p>
            <a:pPr marL="1143000" lvl="2" indent="-228600">
              <a:spcBef>
                <a:spcPct val="15000"/>
              </a:spcBef>
              <a:buClr>
                <a:schemeClr val="tx1"/>
              </a:buClr>
              <a:buSzPct val="65000"/>
            </a:pPr>
            <a:r>
              <a:rPr lang="en-US" altLang="zh-CN" sz="2000" dirty="0">
                <a:latin typeface="Times New Roman" pitchFamily="18" charset="0"/>
                <a:ea typeface="宋体" pitchFamily="2" charset="-122"/>
              </a:rPr>
              <a:t>}	</a:t>
            </a:r>
            <a:endParaRPr lang="zh-CN" altLang="en-US" sz="2000" dirty="0">
              <a:latin typeface="Times New Roman" pitchFamily="18" charset="0"/>
              <a:ea typeface="宋体" pitchFamily="2" charset="-122"/>
            </a:endParaRPr>
          </a:p>
        </p:txBody>
      </p:sp>
      <p:sp>
        <p:nvSpPr>
          <p:cNvPr id="54" name="左大括号 53"/>
          <p:cNvSpPr/>
          <p:nvPr/>
        </p:nvSpPr>
        <p:spPr>
          <a:xfrm>
            <a:off x="5534370" y="3072711"/>
            <a:ext cx="202473" cy="171703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 name="Rectangle 57"/>
          <p:cNvSpPr>
            <a:spLocks noChangeArrowheads="1"/>
          </p:cNvSpPr>
          <p:nvPr/>
        </p:nvSpPr>
        <p:spPr bwMode="auto">
          <a:xfrm>
            <a:off x="885588" y="2731386"/>
            <a:ext cx="794434"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j=0</a:t>
            </a:r>
            <a:endParaRPr kumimoji="0" lang="zh-CN" altLang="en-US" sz="2400" dirty="0">
              <a:ea typeface="Li Super" charset="-122"/>
            </a:endParaRPr>
          </a:p>
        </p:txBody>
      </p:sp>
      <p:sp>
        <p:nvSpPr>
          <p:cNvPr id="56" name="Rectangle 55"/>
          <p:cNvSpPr>
            <a:spLocks noChangeArrowheads="1"/>
          </p:cNvSpPr>
          <p:nvPr/>
        </p:nvSpPr>
        <p:spPr bwMode="auto">
          <a:xfrm>
            <a:off x="306393" y="179400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57" name="Line 29"/>
          <p:cNvSpPr>
            <a:spLocks noChangeShapeType="1"/>
          </p:cNvSpPr>
          <p:nvPr/>
        </p:nvSpPr>
        <p:spPr bwMode="auto">
          <a:xfrm>
            <a:off x="722811" y="2107271"/>
            <a:ext cx="252617" cy="19236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虚尾箭头 57"/>
          <p:cNvSpPr/>
          <p:nvPr/>
        </p:nvSpPr>
        <p:spPr>
          <a:xfrm>
            <a:off x="1410238" y="2051151"/>
            <a:ext cx="2153650" cy="229357"/>
          </a:xfrm>
          <a:prstGeom prst="striped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4256911" y="3732346"/>
            <a:ext cx="1210588" cy="400110"/>
          </a:xfrm>
          <a:prstGeom prst="rect">
            <a:avLst/>
          </a:prstGeom>
        </p:spPr>
        <p:txBody>
          <a:bodyPr wrap="none">
            <a:spAutoFit/>
          </a:bodyPr>
          <a:lstStyle/>
          <a:p>
            <a:pPr marL="0" lvl="1"/>
            <a:r>
              <a:rPr lang="zh-CN" altLang="en-US" sz="2000" dirty="0">
                <a:latin typeface="微软雅黑" pitchFamily="34" charset="-122"/>
                <a:ea typeface="微软雅黑" pitchFamily="34" charset="-122"/>
                <a:cs typeface="经典粗黑简" pitchFamily="49" charset="-122"/>
              </a:rPr>
              <a:t>顺</a:t>
            </a:r>
            <a:r>
              <a:rPr lang="zh-CN" altLang="en-US" sz="2000" dirty="0">
                <a:solidFill>
                  <a:srgbClr val="FF0000"/>
                </a:solidFill>
                <a:latin typeface="微软雅黑" pitchFamily="34" charset="-122"/>
                <a:ea typeface="微软雅黑" pitchFamily="34" charset="-122"/>
                <a:cs typeface="经典粗黑简" pitchFamily="49" charset="-122"/>
              </a:rPr>
              <a:t>藤</a:t>
            </a:r>
            <a:r>
              <a:rPr lang="zh-CN" altLang="en-US" sz="2000" dirty="0">
                <a:latin typeface="微软雅黑" pitchFamily="34" charset="-122"/>
                <a:ea typeface="微软雅黑" pitchFamily="34" charset="-122"/>
                <a:cs typeface="经典粗黑简" pitchFamily="49" charset="-122"/>
              </a:rPr>
              <a:t>摸</a:t>
            </a:r>
            <a:r>
              <a:rPr lang="zh-CN" altLang="en-US" sz="2000" dirty="0">
                <a:solidFill>
                  <a:srgbClr val="FF0000"/>
                </a:solidFill>
                <a:latin typeface="微软雅黑" pitchFamily="34" charset="-122"/>
                <a:ea typeface="微软雅黑" pitchFamily="34" charset="-122"/>
                <a:cs typeface="经典粗黑简" pitchFamily="49" charset="-122"/>
              </a:rPr>
              <a:t>瓜</a:t>
            </a:r>
          </a:p>
        </p:txBody>
      </p:sp>
      <p:cxnSp>
        <p:nvCxnSpPr>
          <p:cNvPr id="63" name="直接连接符 6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A1EFCE59-FF74-D828-DD8E-5D307659785C}"/>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4" name="矩形 3">
            <a:extLst>
              <a:ext uri="{FF2B5EF4-FFF2-40B4-BE49-F238E27FC236}">
                <a16:creationId xmlns:a16="http://schemas.microsoft.com/office/drawing/2014/main" id="{6377B642-4DD5-22CF-4D19-F4C24D02D94D}"/>
              </a:ext>
            </a:extLst>
          </p:cNvPr>
          <p:cNvSpPr/>
          <p:nvPr/>
        </p:nvSpPr>
        <p:spPr>
          <a:xfrm>
            <a:off x="1090565" y="1523568"/>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⑨</a:t>
            </a:r>
            <a:r>
              <a:rPr lang="zh-CN" altLang="en-US" sz="2000" dirty="0">
                <a:latin typeface="微软雅黑" pitchFamily="34" charset="-122"/>
                <a:ea typeface="微软雅黑" pitchFamily="34" charset="-122"/>
                <a:cs typeface="经典粗黑简" pitchFamily="49" charset="-122"/>
              </a:rPr>
              <a:t>删除操作</a:t>
            </a:r>
          </a:p>
        </p:txBody>
      </p:sp>
      <p:sp>
        <p:nvSpPr>
          <p:cNvPr id="52" name="矩形 51">
            <a:extLst>
              <a:ext uri="{FF2B5EF4-FFF2-40B4-BE49-F238E27FC236}">
                <a16:creationId xmlns:a16="http://schemas.microsoft.com/office/drawing/2014/main" id="{340AF603-CC38-4B7C-A78D-85E5AA091278}"/>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3779212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P spid="48" grpId="0" animBg="1"/>
      <p:bldP spid="49" grpId="0"/>
      <p:bldP spid="50" grpId="0"/>
      <p:bldP spid="51" grpId="0"/>
      <p:bldP spid="53" grpId="0"/>
      <p:bldP spid="54" grpId="0" animBg="1"/>
      <p:bldP spid="55" grpId="0"/>
      <p:bldP spid="56" grpId="0"/>
      <p:bldP spid="57" grpId="0" animBg="1"/>
      <p:bldP spid="58" grpId="0" animBg="1"/>
      <p:bldP spid="59"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323528" y="3057804"/>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51" name="矩形 50"/>
          <p:cNvSpPr/>
          <p:nvPr/>
        </p:nvSpPr>
        <p:spPr>
          <a:xfrm>
            <a:off x="761593" y="3381840"/>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cxnSp>
        <p:nvCxnSpPr>
          <p:cNvPr id="63" name="直接连接符 6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5" name="Rectangle 55"/>
          <p:cNvSpPr>
            <a:spLocks noChangeArrowheads="1"/>
          </p:cNvSpPr>
          <p:nvPr/>
        </p:nvSpPr>
        <p:spPr bwMode="auto">
          <a:xfrm>
            <a:off x="4667379" y="173298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q</a:t>
            </a:r>
            <a:endParaRPr kumimoji="0" lang="zh-CN" altLang="en-US" sz="2400" dirty="0">
              <a:ea typeface="CFNEOP+TimesNewRoman" charset="-122"/>
            </a:endParaRPr>
          </a:p>
        </p:txBody>
      </p:sp>
      <p:sp>
        <p:nvSpPr>
          <p:cNvPr id="67" name="矩形 66"/>
          <p:cNvSpPr/>
          <p:nvPr/>
        </p:nvSpPr>
        <p:spPr>
          <a:xfrm>
            <a:off x="772886" y="3705876"/>
            <a:ext cx="6143028" cy="400110"/>
          </a:xfrm>
          <a:prstGeom prst="rect">
            <a:avLst/>
          </a:prstGeom>
        </p:spPr>
        <p:txBody>
          <a:bodyPr wrap="none">
            <a:spAutoFit/>
          </a:bodyPr>
          <a:lstStyle/>
          <a:p>
            <a:pPr marL="342900"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增设临时指针</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指向</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的下一结点(待删除的结点)；</a:t>
            </a:r>
          </a:p>
        </p:txBody>
      </p:sp>
      <p:sp>
        <p:nvSpPr>
          <p:cNvPr id="68" name="矩形 67"/>
          <p:cNvSpPr/>
          <p:nvPr/>
        </p:nvSpPr>
        <p:spPr>
          <a:xfrm>
            <a:off x="1342665" y="4029912"/>
            <a:ext cx="1786066" cy="461665"/>
          </a:xfrm>
          <a:prstGeom prst="rect">
            <a:avLst/>
          </a:prstGeom>
        </p:spPr>
        <p:txBody>
          <a:bodyPr wrap="none">
            <a:spAutoFit/>
          </a:bodyPr>
          <a:lstStyle/>
          <a:p>
            <a:r>
              <a:rPr lang="en-US" altLang="zh-CN" sz="2400" dirty="0">
                <a:latin typeface="Times New Roman" pitchFamily="18" charset="0"/>
                <a:ea typeface="宋体" pitchFamily="2" charset="-122"/>
              </a:rPr>
              <a:t>q = p-&gt;next; </a:t>
            </a:r>
            <a:endParaRPr lang="zh-CN" altLang="en-US" sz="2400" dirty="0">
              <a:latin typeface="Times New Roman" pitchFamily="18" charset="0"/>
              <a:ea typeface="宋体" pitchFamily="2" charset="-122"/>
            </a:endParaRPr>
          </a:p>
        </p:txBody>
      </p:sp>
      <p:sp>
        <p:nvSpPr>
          <p:cNvPr id="69" name="Rectangle 5"/>
          <p:cNvSpPr>
            <a:spLocks noChangeArrowheads="1"/>
          </p:cNvSpPr>
          <p:nvPr/>
        </p:nvSpPr>
        <p:spPr bwMode="auto">
          <a:xfrm>
            <a:off x="2108646" y="229963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70" name="Line 6"/>
          <p:cNvSpPr>
            <a:spLocks noChangeShapeType="1"/>
          </p:cNvSpPr>
          <p:nvPr/>
        </p:nvSpPr>
        <p:spPr bwMode="auto">
          <a:xfrm>
            <a:off x="2642046"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Rectangle 25"/>
          <p:cNvSpPr>
            <a:spLocks noChangeArrowheads="1"/>
          </p:cNvSpPr>
          <p:nvPr/>
        </p:nvSpPr>
        <p:spPr bwMode="auto">
          <a:xfrm>
            <a:off x="3237512" y="2370444"/>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72" name="Rectangle 36"/>
          <p:cNvSpPr>
            <a:spLocks noChangeArrowheads="1"/>
          </p:cNvSpPr>
          <p:nvPr/>
        </p:nvSpPr>
        <p:spPr bwMode="auto">
          <a:xfrm>
            <a:off x="7472077" y="238144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73" name="Rectangle 228"/>
          <p:cNvSpPr>
            <a:spLocks noChangeArrowheads="1"/>
          </p:cNvSpPr>
          <p:nvPr/>
        </p:nvSpPr>
        <p:spPr bwMode="auto">
          <a:xfrm>
            <a:off x="306393" y="233585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74" name="Line 29"/>
          <p:cNvSpPr>
            <a:spLocks noChangeShapeType="1"/>
          </p:cNvSpPr>
          <p:nvPr/>
        </p:nvSpPr>
        <p:spPr bwMode="auto">
          <a:xfrm>
            <a:off x="572038" y="252613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 name="Rectangle 5"/>
          <p:cNvSpPr>
            <a:spLocks noChangeArrowheads="1"/>
          </p:cNvSpPr>
          <p:nvPr/>
        </p:nvSpPr>
        <p:spPr bwMode="auto">
          <a:xfrm>
            <a:off x="6318056" y="2354791"/>
            <a:ext cx="1048349"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76" name="Line 6"/>
          <p:cNvSpPr>
            <a:spLocks noChangeShapeType="1"/>
          </p:cNvSpPr>
          <p:nvPr/>
        </p:nvSpPr>
        <p:spPr bwMode="auto">
          <a:xfrm>
            <a:off x="7100571" y="237534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29"/>
          <p:cNvSpPr>
            <a:spLocks noChangeShapeType="1"/>
          </p:cNvSpPr>
          <p:nvPr/>
        </p:nvSpPr>
        <p:spPr bwMode="auto">
          <a:xfrm>
            <a:off x="2903303"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 name="Rectangle 5"/>
          <p:cNvSpPr>
            <a:spLocks noChangeArrowheads="1"/>
          </p:cNvSpPr>
          <p:nvPr/>
        </p:nvSpPr>
        <p:spPr bwMode="auto">
          <a:xfrm>
            <a:off x="3862239" y="2321632"/>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79" name="Line 6"/>
          <p:cNvSpPr>
            <a:spLocks noChangeShapeType="1"/>
          </p:cNvSpPr>
          <p:nvPr/>
        </p:nvSpPr>
        <p:spPr bwMode="auto">
          <a:xfrm>
            <a:off x="4598812" y="2316257"/>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29"/>
          <p:cNvSpPr>
            <a:spLocks noChangeShapeType="1"/>
          </p:cNvSpPr>
          <p:nvPr/>
        </p:nvSpPr>
        <p:spPr bwMode="auto">
          <a:xfrm>
            <a:off x="3563889" y="2560335"/>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 name="Line 29"/>
          <p:cNvSpPr>
            <a:spLocks noChangeShapeType="1"/>
          </p:cNvSpPr>
          <p:nvPr/>
        </p:nvSpPr>
        <p:spPr bwMode="auto">
          <a:xfrm>
            <a:off x="7204529" y="2606074"/>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 name="Rectangle 5"/>
          <p:cNvSpPr>
            <a:spLocks noChangeArrowheads="1"/>
          </p:cNvSpPr>
          <p:nvPr/>
        </p:nvSpPr>
        <p:spPr bwMode="auto">
          <a:xfrm>
            <a:off x="5254998" y="233346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200" dirty="0">
                <a:latin typeface="微软雅黑" pitchFamily="34" charset="-122"/>
                <a:ea typeface="微软雅黑" pitchFamily="34" charset="-122"/>
              </a:rPr>
              <a:t> </a:t>
            </a:r>
            <a:r>
              <a:rPr lang="en-US" altLang="zh-CN" sz="2400" dirty="0"/>
              <a:t>   </a:t>
            </a:r>
          </a:p>
        </p:txBody>
      </p:sp>
      <p:sp>
        <p:nvSpPr>
          <p:cNvPr id="83" name="Line 6"/>
          <p:cNvSpPr>
            <a:spLocks noChangeShapeType="1"/>
          </p:cNvSpPr>
          <p:nvPr/>
        </p:nvSpPr>
        <p:spPr bwMode="auto">
          <a:xfrm>
            <a:off x="5788398" y="233346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Line 29"/>
          <p:cNvSpPr>
            <a:spLocks noChangeShapeType="1"/>
          </p:cNvSpPr>
          <p:nvPr/>
        </p:nvSpPr>
        <p:spPr bwMode="auto">
          <a:xfrm>
            <a:off x="4873998" y="258763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 name="Line 29"/>
          <p:cNvSpPr>
            <a:spLocks noChangeShapeType="1"/>
          </p:cNvSpPr>
          <p:nvPr/>
        </p:nvSpPr>
        <p:spPr bwMode="auto">
          <a:xfrm>
            <a:off x="6019706" y="258853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 name="Rectangle 5"/>
          <p:cNvSpPr>
            <a:spLocks noChangeArrowheads="1"/>
          </p:cNvSpPr>
          <p:nvPr/>
        </p:nvSpPr>
        <p:spPr bwMode="auto">
          <a:xfrm>
            <a:off x="8048059" y="234330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600" baseline="-25000" dirty="0"/>
              <a:t> </a:t>
            </a:r>
            <a:r>
              <a:rPr lang="zh-CN" altLang="en-US" sz="2400" dirty="0"/>
              <a:t>^</a:t>
            </a:r>
            <a:r>
              <a:rPr lang="en-US" altLang="zh-CN" sz="2400" dirty="0"/>
              <a:t>  </a:t>
            </a:r>
          </a:p>
        </p:txBody>
      </p:sp>
      <p:sp>
        <p:nvSpPr>
          <p:cNvPr id="87" name="Line 6"/>
          <p:cNvSpPr>
            <a:spLocks noChangeShapeType="1"/>
          </p:cNvSpPr>
          <p:nvPr/>
        </p:nvSpPr>
        <p:spPr bwMode="auto">
          <a:xfrm>
            <a:off x="8581459" y="234330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Line 29"/>
          <p:cNvSpPr>
            <a:spLocks noChangeShapeType="1"/>
          </p:cNvSpPr>
          <p:nvPr/>
        </p:nvSpPr>
        <p:spPr bwMode="auto">
          <a:xfrm>
            <a:off x="7812360" y="2593909"/>
            <a:ext cx="235699" cy="356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 name="Rectangle 5"/>
          <p:cNvSpPr>
            <a:spLocks noChangeArrowheads="1"/>
          </p:cNvSpPr>
          <p:nvPr/>
        </p:nvSpPr>
        <p:spPr bwMode="auto">
          <a:xfrm>
            <a:off x="953038" y="2299630"/>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90" name="Line 6"/>
          <p:cNvSpPr>
            <a:spLocks noChangeShapeType="1"/>
          </p:cNvSpPr>
          <p:nvPr/>
        </p:nvSpPr>
        <p:spPr bwMode="auto">
          <a:xfrm>
            <a:off x="1486438"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29"/>
          <p:cNvSpPr>
            <a:spLocks noChangeShapeType="1"/>
          </p:cNvSpPr>
          <p:nvPr/>
        </p:nvSpPr>
        <p:spPr bwMode="auto">
          <a:xfrm>
            <a:off x="1747695"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 name="Rectangle 57"/>
          <p:cNvSpPr>
            <a:spLocks noChangeArrowheads="1"/>
          </p:cNvSpPr>
          <p:nvPr/>
        </p:nvSpPr>
        <p:spPr bwMode="auto">
          <a:xfrm>
            <a:off x="3744446" y="2753388"/>
            <a:ext cx="1013740"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j=i-1</a:t>
            </a:r>
            <a:endParaRPr kumimoji="0" lang="zh-CN" altLang="en-US" sz="2400" dirty="0">
              <a:ea typeface="Li Super" charset="-122"/>
            </a:endParaRPr>
          </a:p>
        </p:txBody>
      </p:sp>
      <p:sp>
        <p:nvSpPr>
          <p:cNvPr id="93" name="Line 29"/>
          <p:cNvSpPr>
            <a:spLocks noChangeShapeType="1"/>
          </p:cNvSpPr>
          <p:nvPr/>
        </p:nvSpPr>
        <p:spPr bwMode="auto">
          <a:xfrm>
            <a:off x="3563889" y="1959322"/>
            <a:ext cx="298351" cy="38513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 name="Rectangle 55"/>
          <p:cNvSpPr>
            <a:spLocks noChangeArrowheads="1"/>
          </p:cNvSpPr>
          <p:nvPr/>
        </p:nvSpPr>
        <p:spPr bwMode="auto">
          <a:xfrm>
            <a:off x="3730869" y="19340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96" name="Rectangle 55"/>
          <p:cNvSpPr>
            <a:spLocks noChangeArrowheads="1"/>
          </p:cNvSpPr>
          <p:nvPr/>
        </p:nvSpPr>
        <p:spPr bwMode="auto">
          <a:xfrm>
            <a:off x="3288693" y="170467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99" name="Line 29"/>
          <p:cNvSpPr>
            <a:spLocks noChangeShapeType="1"/>
          </p:cNvSpPr>
          <p:nvPr/>
        </p:nvSpPr>
        <p:spPr bwMode="auto">
          <a:xfrm>
            <a:off x="4959357" y="1975105"/>
            <a:ext cx="298351" cy="38513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 name="Rectangle 55"/>
          <p:cNvSpPr>
            <a:spLocks noChangeArrowheads="1"/>
          </p:cNvSpPr>
          <p:nvPr/>
        </p:nvSpPr>
        <p:spPr bwMode="auto">
          <a:xfrm>
            <a:off x="5146066" y="189862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2" name="Rectangle 2">
            <a:extLst>
              <a:ext uri="{FF2B5EF4-FFF2-40B4-BE49-F238E27FC236}">
                <a16:creationId xmlns:a16="http://schemas.microsoft.com/office/drawing/2014/main" id="{E3C21197-8B7C-E5C1-B5B1-E8E25827753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5" name="矩形 4">
            <a:extLst>
              <a:ext uri="{FF2B5EF4-FFF2-40B4-BE49-F238E27FC236}">
                <a16:creationId xmlns:a16="http://schemas.microsoft.com/office/drawing/2014/main" id="{7BCDA3E3-A2E2-39FD-0F68-714AA85E7905}"/>
              </a:ext>
            </a:extLst>
          </p:cNvPr>
          <p:cNvSpPr/>
          <p:nvPr/>
        </p:nvSpPr>
        <p:spPr>
          <a:xfrm>
            <a:off x="1090565" y="1523568"/>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⑨</a:t>
            </a:r>
            <a:r>
              <a:rPr lang="zh-CN" altLang="en-US" sz="2000" dirty="0">
                <a:latin typeface="微软雅黑" pitchFamily="34" charset="-122"/>
                <a:ea typeface="微软雅黑" pitchFamily="34" charset="-122"/>
                <a:cs typeface="经典粗黑简" pitchFamily="49" charset="-122"/>
              </a:rPr>
              <a:t>删除操作</a:t>
            </a:r>
          </a:p>
        </p:txBody>
      </p:sp>
      <p:sp>
        <p:nvSpPr>
          <p:cNvPr id="40" name="矩形 39">
            <a:extLst>
              <a:ext uri="{FF2B5EF4-FFF2-40B4-BE49-F238E27FC236}">
                <a16:creationId xmlns:a16="http://schemas.microsoft.com/office/drawing/2014/main" id="{4AA0DC01-ADEC-4849-ADCA-05F6C544E0F0}"/>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3629569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8" grpId="0"/>
      <p:bldP spid="99" grpId="0" animBg="1"/>
      <p:bldP spid="10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323528" y="3076979"/>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51" name="矩形 50"/>
          <p:cNvSpPr/>
          <p:nvPr/>
        </p:nvSpPr>
        <p:spPr>
          <a:xfrm>
            <a:off x="761593" y="3401015"/>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cxnSp>
        <p:nvCxnSpPr>
          <p:cNvPr id="63" name="直接连接符 6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5" name="Rectangle 55"/>
          <p:cNvSpPr>
            <a:spLocks noChangeArrowheads="1"/>
          </p:cNvSpPr>
          <p:nvPr/>
        </p:nvSpPr>
        <p:spPr bwMode="auto">
          <a:xfrm>
            <a:off x="4667379" y="175215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q</a:t>
            </a:r>
            <a:endParaRPr kumimoji="0" lang="zh-CN" altLang="en-US" sz="2400" dirty="0">
              <a:ea typeface="CFNEOP+TimesNewRoman" charset="-122"/>
            </a:endParaRPr>
          </a:p>
        </p:txBody>
      </p:sp>
      <p:sp>
        <p:nvSpPr>
          <p:cNvPr id="67" name="矩形 66"/>
          <p:cNvSpPr/>
          <p:nvPr/>
        </p:nvSpPr>
        <p:spPr>
          <a:xfrm>
            <a:off x="772886" y="3725051"/>
            <a:ext cx="6143028" cy="400110"/>
          </a:xfrm>
          <a:prstGeom prst="rect">
            <a:avLst/>
          </a:prstGeom>
        </p:spPr>
        <p:txBody>
          <a:bodyPr wrap="none">
            <a:spAutoFit/>
          </a:bodyPr>
          <a:lstStyle/>
          <a:p>
            <a:pPr marL="342900"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增设临时指针</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指向</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的下一结点(待删除的结点)；</a:t>
            </a:r>
          </a:p>
        </p:txBody>
      </p:sp>
      <p:sp>
        <p:nvSpPr>
          <p:cNvPr id="69" name="Rectangle 5"/>
          <p:cNvSpPr>
            <a:spLocks noChangeArrowheads="1"/>
          </p:cNvSpPr>
          <p:nvPr/>
        </p:nvSpPr>
        <p:spPr bwMode="auto">
          <a:xfrm>
            <a:off x="2108646" y="2318806"/>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70" name="Line 6"/>
          <p:cNvSpPr>
            <a:spLocks noChangeShapeType="1"/>
          </p:cNvSpPr>
          <p:nvPr/>
        </p:nvSpPr>
        <p:spPr bwMode="auto">
          <a:xfrm>
            <a:off x="2642046" y="2318806"/>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Rectangle 25"/>
          <p:cNvSpPr>
            <a:spLocks noChangeArrowheads="1"/>
          </p:cNvSpPr>
          <p:nvPr/>
        </p:nvSpPr>
        <p:spPr bwMode="auto">
          <a:xfrm>
            <a:off x="3237512" y="23896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72" name="Rectangle 36"/>
          <p:cNvSpPr>
            <a:spLocks noChangeArrowheads="1"/>
          </p:cNvSpPr>
          <p:nvPr/>
        </p:nvSpPr>
        <p:spPr bwMode="auto">
          <a:xfrm>
            <a:off x="7472077" y="240061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73" name="Rectangle 228"/>
          <p:cNvSpPr>
            <a:spLocks noChangeArrowheads="1"/>
          </p:cNvSpPr>
          <p:nvPr/>
        </p:nvSpPr>
        <p:spPr bwMode="auto">
          <a:xfrm>
            <a:off x="306393" y="2355027"/>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74" name="Line 29"/>
          <p:cNvSpPr>
            <a:spLocks noChangeShapeType="1"/>
          </p:cNvSpPr>
          <p:nvPr/>
        </p:nvSpPr>
        <p:spPr bwMode="auto">
          <a:xfrm>
            <a:off x="572038" y="254530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 name="Rectangle 5"/>
          <p:cNvSpPr>
            <a:spLocks noChangeArrowheads="1"/>
          </p:cNvSpPr>
          <p:nvPr/>
        </p:nvSpPr>
        <p:spPr bwMode="auto">
          <a:xfrm>
            <a:off x="6318056" y="2373967"/>
            <a:ext cx="1048349"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76" name="Line 6"/>
          <p:cNvSpPr>
            <a:spLocks noChangeShapeType="1"/>
          </p:cNvSpPr>
          <p:nvPr/>
        </p:nvSpPr>
        <p:spPr bwMode="auto">
          <a:xfrm>
            <a:off x="7100571" y="239451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29"/>
          <p:cNvSpPr>
            <a:spLocks noChangeShapeType="1"/>
          </p:cNvSpPr>
          <p:nvPr/>
        </p:nvSpPr>
        <p:spPr bwMode="auto">
          <a:xfrm>
            <a:off x="2903303" y="2578353"/>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 name="Rectangle 5"/>
          <p:cNvSpPr>
            <a:spLocks noChangeArrowheads="1"/>
          </p:cNvSpPr>
          <p:nvPr/>
        </p:nvSpPr>
        <p:spPr bwMode="auto">
          <a:xfrm>
            <a:off x="3862239" y="2340808"/>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79" name="Line 6"/>
          <p:cNvSpPr>
            <a:spLocks noChangeShapeType="1"/>
          </p:cNvSpPr>
          <p:nvPr/>
        </p:nvSpPr>
        <p:spPr bwMode="auto">
          <a:xfrm>
            <a:off x="4598812" y="2335432"/>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29"/>
          <p:cNvSpPr>
            <a:spLocks noChangeShapeType="1"/>
          </p:cNvSpPr>
          <p:nvPr/>
        </p:nvSpPr>
        <p:spPr bwMode="auto">
          <a:xfrm>
            <a:off x="3563889" y="2579510"/>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 name="Line 29"/>
          <p:cNvSpPr>
            <a:spLocks noChangeShapeType="1"/>
          </p:cNvSpPr>
          <p:nvPr/>
        </p:nvSpPr>
        <p:spPr bwMode="auto">
          <a:xfrm>
            <a:off x="7204529" y="2625249"/>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 name="Rectangle 5"/>
          <p:cNvSpPr>
            <a:spLocks noChangeArrowheads="1"/>
          </p:cNvSpPr>
          <p:nvPr/>
        </p:nvSpPr>
        <p:spPr bwMode="auto">
          <a:xfrm>
            <a:off x="5254998" y="2352637"/>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200" dirty="0">
                <a:latin typeface="微软雅黑" pitchFamily="34" charset="-122"/>
                <a:ea typeface="微软雅黑" pitchFamily="34" charset="-122"/>
              </a:rPr>
              <a:t> </a:t>
            </a:r>
            <a:r>
              <a:rPr lang="en-US" altLang="zh-CN" sz="2400" dirty="0"/>
              <a:t>   </a:t>
            </a:r>
          </a:p>
        </p:txBody>
      </p:sp>
      <p:sp>
        <p:nvSpPr>
          <p:cNvPr id="83" name="Line 6"/>
          <p:cNvSpPr>
            <a:spLocks noChangeShapeType="1"/>
          </p:cNvSpPr>
          <p:nvPr/>
        </p:nvSpPr>
        <p:spPr bwMode="auto">
          <a:xfrm>
            <a:off x="5788398" y="2352637"/>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Line 29"/>
          <p:cNvSpPr>
            <a:spLocks noChangeShapeType="1"/>
          </p:cNvSpPr>
          <p:nvPr/>
        </p:nvSpPr>
        <p:spPr bwMode="auto">
          <a:xfrm>
            <a:off x="4873998" y="260681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 name="Line 29"/>
          <p:cNvSpPr>
            <a:spLocks noChangeShapeType="1"/>
          </p:cNvSpPr>
          <p:nvPr/>
        </p:nvSpPr>
        <p:spPr bwMode="auto">
          <a:xfrm>
            <a:off x="6019706" y="2607709"/>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 name="Rectangle 5"/>
          <p:cNvSpPr>
            <a:spLocks noChangeArrowheads="1"/>
          </p:cNvSpPr>
          <p:nvPr/>
        </p:nvSpPr>
        <p:spPr bwMode="auto">
          <a:xfrm>
            <a:off x="8048059" y="236247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600" baseline="-25000" dirty="0"/>
              <a:t> </a:t>
            </a:r>
            <a:r>
              <a:rPr lang="zh-CN" altLang="en-US" sz="2400" dirty="0"/>
              <a:t>^</a:t>
            </a:r>
            <a:r>
              <a:rPr lang="en-US" altLang="zh-CN" sz="2400" dirty="0"/>
              <a:t>  </a:t>
            </a:r>
          </a:p>
        </p:txBody>
      </p:sp>
      <p:sp>
        <p:nvSpPr>
          <p:cNvPr id="87" name="Line 6"/>
          <p:cNvSpPr>
            <a:spLocks noChangeShapeType="1"/>
          </p:cNvSpPr>
          <p:nvPr/>
        </p:nvSpPr>
        <p:spPr bwMode="auto">
          <a:xfrm>
            <a:off x="8581459" y="236247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Line 29"/>
          <p:cNvSpPr>
            <a:spLocks noChangeShapeType="1"/>
          </p:cNvSpPr>
          <p:nvPr/>
        </p:nvSpPr>
        <p:spPr bwMode="auto">
          <a:xfrm>
            <a:off x="7812360" y="2613084"/>
            <a:ext cx="235699" cy="356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 name="Rectangle 5"/>
          <p:cNvSpPr>
            <a:spLocks noChangeArrowheads="1"/>
          </p:cNvSpPr>
          <p:nvPr/>
        </p:nvSpPr>
        <p:spPr bwMode="auto">
          <a:xfrm>
            <a:off x="953038" y="2318806"/>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90" name="Line 6"/>
          <p:cNvSpPr>
            <a:spLocks noChangeShapeType="1"/>
          </p:cNvSpPr>
          <p:nvPr/>
        </p:nvSpPr>
        <p:spPr bwMode="auto">
          <a:xfrm>
            <a:off x="1486438" y="2318806"/>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29"/>
          <p:cNvSpPr>
            <a:spLocks noChangeShapeType="1"/>
          </p:cNvSpPr>
          <p:nvPr/>
        </p:nvSpPr>
        <p:spPr bwMode="auto">
          <a:xfrm>
            <a:off x="1747695" y="2578353"/>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 name="Rectangle 57"/>
          <p:cNvSpPr>
            <a:spLocks noChangeArrowheads="1"/>
          </p:cNvSpPr>
          <p:nvPr/>
        </p:nvSpPr>
        <p:spPr bwMode="auto">
          <a:xfrm>
            <a:off x="3744446" y="2772563"/>
            <a:ext cx="1013740"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j=i-1</a:t>
            </a:r>
            <a:endParaRPr kumimoji="0" lang="zh-CN" altLang="en-US" sz="2400" dirty="0">
              <a:ea typeface="Li Super" charset="-122"/>
            </a:endParaRPr>
          </a:p>
        </p:txBody>
      </p:sp>
      <p:sp>
        <p:nvSpPr>
          <p:cNvPr id="93" name="Line 29"/>
          <p:cNvSpPr>
            <a:spLocks noChangeShapeType="1"/>
          </p:cNvSpPr>
          <p:nvPr/>
        </p:nvSpPr>
        <p:spPr bwMode="auto">
          <a:xfrm>
            <a:off x="3563889" y="1978497"/>
            <a:ext cx="298351" cy="38513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 name="Rectangle 55"/>
          <p:cNvSpPr>
            <a:spLocks noChangeArrowheads="1"/>
          </p:cNvSpPr>
          <p:nvPr/>
        </p:nvSpPr>
        <p:spPr bwMode="auto">
          <a:xfrm>
            <a:off x="3730869" y="1953211"/>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96" name="Rectangle 55"/>
          <p:cNvSpPr>
            <a:spLocks noChangeArrowheads="1"/>
          </p:cNvSpPr>
          <p:nvPr/>
        </p:nvSpPr>
        <p:spPr bwMode="auto">
          <a:xfrm>
            <a:off x="3288693" y="172385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99" name="Line 29"/>
          <p:cNvSpPr>
            <a:spLocks noChangeShapeType="1"/>
          </p:cNvSpPr>
          <p:nvPr/>
        </p:nvSpPr>
        <p:spPr bwMode="auto">
          <a:xfrm>
            <a:off x="4959357" y="1994281"/>
            <a:ext cx="298351" cy="38513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 name="Rectangle 55"/>
          <p:cNvSpPr>
            <a:spLocks noChangeArrowheads="1"/>
          </p:cNvSpPr>
          <p:nvPr/>
        </p:nvSpPr>
        <p:spPr bwMode="auto">
          <a:xfrm>
            <a:off x="5146066" y="1917804"/>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42" name="Rectangle 40"/>
          <p:cNvSpPr>
            <a:spLocks noChangeArrowheads="1"/>
          </p:cNvSpPr>
          <p:nvPr/>
        </p:nvSpPr>
        <p:spPr bwMode="auto">
          <a:xfrm>
            <a:off x="755576" y="4049087"/>
            <a:ext cx="637066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15000"/>
              </a:spcBef>
              <a:buClr>
                <a:schemeClr val="bg1"/>
              </a:buClr>
              <a:buSzPct val="95000"/>
            </a:pPr>
            <a:r>
              <a:rPr lang="en-US" altLang="zh-CN" sz="2000" dirty="0">
                <a:latin typeface="微软雅黑" pitchFamily="34" charset="-122"/>
                <a:ea typeface="微软雅黑" pitchFamily="34" charset="-122"/>
                <a:cs typeface="经典粗黑简" pitchFamily="49" charset="-122"/>
              </a:rPr>
              <a:t>③ </a:t>
            </a:r>
            <a:r>
              <a:rPr lang="zh-CN" altLang="en-US" sz="2000" dirty="0">
                <a:latin typeface="微软雅黑" pitchFamily="34" charset="-122"/>
                <a:ea typeface="微软雅黑" pitchFamily="34" charset="-122"/>
                <a:cs typeface="经典粗黑简" pitchFamily="49" charset="-122"/>
              </a:rPr>
              <a:t>修改结点</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的指针域，指向第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个结点</a:t>
            </a:r>
            <a:r>
              <a:rPr lang="en-US" altLang="zh-CN" sz="2000" dirty="0">
                <a:latin typeface="微软雅黑" pitchFamily="34" charset="-122"/>
                <a:ea typeface="微软雅黑" pitchFamily="34" charset="-122"/>
                <a:cs typeface="经典粗黑简" pitchFamily="49" charset="-122"/>
              </a:rPr>
              <a:t>;</a:t>
            </a:r>
            <a:r>
              <a:rPr lang="zh-CN" altLang="en-US" sz="2000" dirty="0">
                <a:solidFill>
                  <a:srgbClr val="FFFFFF"/>
                </a:solidFill>
              </a:rPr>
              <a:t>(</a:t>
            </a:r>
            <a:r>
              <a:rPr lang="en-US" altLang="zh-CN" sz="2000" dirty="0">
                <a:solidFill>
                  <a:srgbClr val="FFFFFF"/>
                </a:solidFill>
              </a:rPr>
              <a:t>p-&gt;next=p-&gt;next -&gt;next)；</a:t>
            </a:r>
            <a:endParaRPr lang="zh-CN" altLang="en-US" sz="2000" dirty="0">
              <a:latin typeface="微软雅黑" pitchFamily="34" charset="-122"/>
              <a:ea typeface="微软雅黑" pitchFamily="34" charset="-122"/>
              <a:cs typeface="经典粗黑简" pitchFamily="49" charset="-122"/>
            </a:endParaRPr>
          </a:p>
        </p:txBody>
      </p:sp>
      <p:sp>
        <p:nvSpPr>
          <p:cNvPr id="44" name="Rectangle 55"/>
          <p:cNvSpPr>
            <a:spLocks noChangeArrowheads="1"/>
          </p:cNvSpPr>
          <p:nvPr/>
        </p:nvSpPr>
        <p:spPr bwMode="auto">
          <a:xfrm>
            <a:off x="5268967" y="3022974"/>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45" name="Rectangle 55"/>
          <p:cNvSpPr>
            <a:spLocks noChangeArrowheads="1"/>
          </p:cNvSpPr>
          <p:nvPr/>
        </p:nvSpPr>
        <p:spPr bwMode="auto">
          <a:xfrm>
            <a:off x="4883333" y="245419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Ⅹ</a:t>
            </a:r>
            <a:endParaRPr kumimoji="0" lang="zh-CN" altLang="en-US" sz="2400" dirty="0">
              <a:solidFill>
                <a:srgbClr val="FF0000"/>
              </a:solidFill>
              <a:ea typeface="CFNEOP+TimesNewRoman" charset="-122"/>
            </a:endParaRPr>
          </a:p>
        </p:txBody>
      </p:sp>
      <p:grpSp>
        <p:nvGrpSpPr>
          <p:cNvPr id="46" name="组合 45"/>
          <p:cNvGrpSpPr/>
          <p:nvPr/>
        </p:nvGrpSpPr>
        <p:grpSpPr>
          <a:xfrm>
            <a:off x="4716016" y="2698938"/>
            <a:ext cx="1594248" cy="316334"/>
            <a:chOff x="6832638" y="3444583"/>
            <a:chExt cx="1594248" cy="421779"/>
          </a:xfrm>
        </p:grpSpPr>
        <p:sp>
          <p:nvSpPr>
            <p:cNvPr id="47" name="Line 29"/>
            <p:cNvSpPr>
              <a:spLocks noChangeShapeType="1"/>
            </p:cNvSpPr>
            <p:nvPr/>
          </p:nvSpPr>
          <p:spPr bwMode="auto">
            <a:xfrm>
              <a:off x="8278228" y="3459507"/>
              <a:ext cx="148658" cy="358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Line 29"/>
            <p:cNvSpPr>
              <a:spLocks noChangeShapeType="1"/>
            </p:cNvSpPr>
            <p:nvPr/>
          </p:nvSpPr>
          <p:spPr bwMode="auto">
            <a:xfrm flipH="1">
              <a:off x="8278228" y="3444583"/>
              <a:ext cx="7357" cy="41648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29"/>
            <p:cNvSpPr>
              <a:spLocks noChangeShapeType="1"/>
            </p:cNvSpPr>
            <p:nvPr/>
          </p:nvSpPr>
          <p:spPr bwMode="auto">
            <a:xfrm flipH="1">
              <a:off x="6832638" y="3449882"/>
              <a:ext cx="7357" cy="41648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Line 29"/>
            <p:cNvSpPr>
              <a:spLocks noChangeShapeType="1"/>
            </p:cNvSpPr>
            <p:nvPr/>
          </p:nvSpPr>
          <p:spPr bwMode="auto">
            <a:xfrm>
              <a:off x="6839995" y="3861063"/>
              <a:ext cx="1438232" cy="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4" name="Rectangle 45"/>
          <p:cNvSpPr>
            <a:spLocks noChangeArrowheads="1"/>
          </p:cNvSpPr>
          <p:nvPr/>
        </p:nvSpPr>
        <p:spPr bwMode="auto">
          <a:xfrm>
            <a:off x="778516" y="4354259"/>
            <a:ext cx="545742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15000"/>
              </a:spcBef>
              <a:buClr>
                <a:schemeClr val="bg1"/>
              </a:buClr>
              <a:buSzPct val="95000"/>
            </a:pPr>
            <a:r>
              <a:rPr lang="en-US" altLang="zh-CN" sz="2000" dirty="0">
                <a:latin typeface="微软雅黑" pitchFamily="34" charset="-122"/>
                <a:ea typeface="微软雅黑" pitchFamily="34" charset="-122"/>
                <a:cs typeface="经典粗黑简" pitchFamily="49" charset="-122"/>
              </a:rPr>
              <a:t>④ </a:t>
            </a:r>
            <a:r>
              <a:rPr lang="zh-CN" altLang="en-US" sz="2000" dirty="0">
                <a:latin typeface="微软雅黑" pitchFamily="34" charset="-122"/>
                <a:ea typeface="微软雅黑" pitchFamily="34" charset="-122"/>
                <a:cs typeface="经典粗黑简" pitchFamily="49" charset="-122"/>
              </a:rPr>
              <a:t>读取数据元素，删除结点</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释放内存空间。</a:t>
            </a:r>
          </a:p>
        </p:txBody>
      </p:sp>
      <p:sp>
        <p:nvSpPr>
          <p:cNvPr id="55" name="矩形 54"/>
          <p:cNvSpPr/>
          <p:nvPr/>
        </p:nvSpPr>
        <p:spPr>
          <a:xfrm>
            <a:off x="6563013" y="4138706"/>
            <a:ext cx="1750800" cy="830997"/>
          </a:xfrm>
          <a:prstGeom prst="rect">
            <a:avLst/>
          </a:prstGeom>
        </p:spPr>
        <p:txBody>
          <a:bodyPr wrap="none">
            <a:spAutoFit/>
          </a:bodyPr>
          <a:lstStyle/>
          <a:p>
            <a:r>
              <a:rPr lang="en-US" altLang="zh-CN" sz="2400" dirty="0">
                <a:latin typeface="Times New Roman" pitchFamily="18" charset="0"/>
                <a:ea typeface="宋体" pitchFamily="2" charset="-122"/>
              </a:rPr>
              <a:t>e = q-&gt;data; </a:t>
            </a:r>
          </a:p>
          <a:p>
            <a:r>
              <a:rPr lang="en-US" altLang="zh-CN" sz="2400" dirty="0">
                <a:latin typeface="Times New Roman" pitchFamily="18" charset="0"/>
                <a:ea typeface="宋体" pitchFamily="2" charset="-122"/>
              </a:rPr>
              <a:t>free(q); </a:t>
            </a:r>
            <a:endParaRPr lang="zh-CN" altLang="en-US" sz="2400" dirty="0">
              <a:latin typeface="Times New Roman" pitchFamily="18" charset="0"/>
              <a:ea typeface="宋体" pitchFamily="2" charset="-122"/>
            </a:endParaRPr>
          </a:p>
        </p:txBody>
      </p:sp>
      <p:sp>
        <p:nvSpPr>
          <p:cNvPr id="2" name="Rectangle 2">
            <a:extLst>
              <a:ext uri="{FF2B5EF4-FFF2-40B4-BE49-F238E27FC236}">
                <a16:creationId xmlns:a16="http://schemas.microsoft.com/office/drawing/2014/main" id="{1300789D-E944-4568-96FD-775510C3BD9E}"/>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4" name="矩形 3">
            <a:extLst>
              <a:ext uri="{FF2B5EF4-FFF2-40B4-BE49-F238E27FC236}">
                <a16:creationId xmlns:a16="http://schemas.microsoft.com/office/drawing/2014/main" id="{C8FE9AF3-4D67-8F00-8AC7-79607D90A729}"/>
              </a:ext>
            </a:extLst>
          </p:cNvPr>
          <p:cNvSpPr/>
          <p:nvPr/>
        </p:nvSpPr>
        <p:spPr>
          <a:xfrm>
            <a:off x="1090565" y="1523568"/>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⑨</a:t>
            </a:r>
            <a:r>
              <a:rPr lang="zh-CN" altLang="en-US" sz="2000" dirty="0">
                <a:latin typeface="微软雅黑" pitchFamily="34" charset="-122"/>
                <a:ea typeface="微软雅黑" pitchFamily="34" charset="-122"/>
                <a:cs typeface="经典粗黑简" pitchFamily="49" charset="-122"/>
              </a:rPr>
              <a:t>删除操作</a:t>
            </a:r>
          </a:p>
        </p:txBody>
      </p:sp>
      <p:sp>
        <p:nvSpPr>
          <p:cNvPr id="52" name="矩形 51">
            <a:extLst>
              <a:ext uri="{FF2B5EF4-FFF2-40B4-BE49-F238E27FC236}">
                <a16:creationId xmlns:a16="http://schemas.microsoft.com/office/drawing/2014/main" id="{DFE8662D-8A76-4F2A-9E08-ABB5A0CE5FDB}"/>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249212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4" grpId="0"/>
      <p:bldP spid="45" grpId="0"/>
      <p:bldP spid="54" grpId="0"/>
      <p:bldP spid="5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323528" y="3057804"/>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51" name="矩形 50"/>
          <p:cNvSpPr/>
          <p:nvPr/>
        </p:nvSpPr>
        <p:spPr>
          <a:xfrm>
            <a:off x="761593" y="3381840"/>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cxnSp>
        <p:nvCxnSpPr>
          <p:cNvPr id="63" name="直接连接符 6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5" name="Rectangle 55"/>
          <p:cNvSpPr>
            <a:spLocks noChangeArrowheads="1"/>
          </p:cNvSpPr>
          <p:nvPr/>
        </p:nvSpPr>
        <p:spPr bwMode="auto">
          <a:xfrm>
            <a:off x="4667379" y="173298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q</a:t>
            </a:r>
            <a:endParaRPr kumimoji="0" lang="zh-CN" altLang="en-US" sz="2400" dirty="0">
              <a:ea typeface="CFNEOP+TimesNewRoman" charset="-122"/>
            </a:endParaRPr>
          </a:p>
        </p:txBody>
      </p:sp>
      <p:sp>
        <p:nvSpPr>
          <p:cNvPr id="67" name="矩形 66"/>
          <p:cNvSpPr/>
          <p:nvPr/>
        </p:nvSpPr>
        <p:spPr>
          <a:xfrm>
            <a:off x="772886" y="3705876"/>
            <a:ext cx="6143028" cy="400110"/>
          </a:xfrm>
          <a:prstGeom prst="rect">
            <a:avLst/>
          </a:prstGeom>
        </p:spPr>
        <p:txBody>
          <a:bodyPr wrap="none">
            <a:spAutoFit/>
          </a:bodyPr>
          <a:lstStyle/>
          <a:p>
            <a:pPr marL="342900"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增设临时指针</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指向</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的下一结点(待删除的结点)；</a:t>
            </a:r>
          </a:p>
        </p:txBody>
      </p:sp>
      <p:sp>
        <p:nvSpPr>
          <p:cNvPr id="69" name="Rectangle 5"/>
          <p:cNvSpPr>
            <a:spLocks noChangeArrowheads="1"/>
          </p:cNvSpPr>
          <p:nvPr/>
        </p:nvSpPr>
        <p:spPr bwMode="auto">
          <a:xfrm>
            <a:off x="2108646" y="229963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70" name="Line 6"/>
          <p:cNvSpPr>
            <a:spLocks noChangeShapeType="1"/>
          </p:cNvSpPr>
          <p:nvPr/>
        </p:nvSpPr>
        <p:spPr bwMode="auto">
          <a:xfrm>
            <a:off x="2642046"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Rectangle 25"/>
          <p:cNvSpPr>
            <a:spLocks noChangeArrowheads="1"/>
          </p:cNvSpPr>
          <p:nvPr/>
        </p:nvSpPr>
        <p:spPr bwMode="auto">
          <a:xfrm>
            <a:off x="3237512" y="2370444"/>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72" name="Rectangle 36"/>
          <p:cNvSpPr>
            <a:spLocks noChangeArrowheads="1"/>
          </p:cNvSpPr>
          <p:nvPr/>
        </p:nvSpPr>
        <p:spPr bwMode="auto">
          <a:xfrm>
            <a:off x="7472077" y="238144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73" name="Rectangle 228"/>
          <p:cNvSpPr>
            <a:spLocks noChangeArrowheads="1"/>
          </p:cNvSpPr>
          <p:nvPr/>
        </p:nvSpPr>
        <p:spPr bwMode="auto">
          <a:xfrm>
            <a:off x="306393" y="233585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74" name="Line 29"/>
          <p:cNvSpPr>
            <a:spLocks noChangeShapeType="1"/>
          </p:cNvSpPr>
          <p:nvPr/>
        </p:nvSpPr>
        <p:spPr bwMode="auto">
          <a:xfrm>
            <a:off x="572038" y="252613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 name="Rectangle 5"/>
          <p:cNvSpPr>
            <a:spLocks noChangeArrowheads="1"/>
          </p:cNvSpPr>
          <p:nvPr/>
        </p:nvSpPr>
        <p:spPr bwMode="auto">
          <a:xfrm>
            <a:off x="6318056" y="2354791"/>
            <a:ext cx="1048349"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76" name="Line 6"/>
          <p:cNvSpPr>
            <a:spLocks noChangeShapeType="1"/>
          </p:cNvSpPr>
          <p:nvPr/>
        </p:nvSpPr>
        <p:spPr bwMode="auto">
          <a:xfrm>
            <a:off x="7100571" y="237534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29"/>
          <p:cNvSpPr>
            <a:spLocks noChangeShapeType="1"/>
          </p:cNvSpPr>
          <p:nvPr/>
        </p:nvSpPr>
        <p:spPr bwMode="auto">
          <a:xfrm>
            <a:off x="2903303"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 name="Rectangle 5"/>
          <p:cNvSpPr>
            <a:spLocks noChangeArrowheads="1"/>
          </p:cNvSpPr>
          <p:nvPr/>
        </p:nvSpPr>
        <p:spPr bwMode="auto">
          <a:xfrm>
            <a:off x="3862239" y="2321632"/>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79" name="Line 6"/>
          <p:cNvSpPr>
            <a:spLocks noChangeShapeType="1"/>
          </p:cNvSpPr>
          <p:nvPr/>
        </p:nvSpPr>
        <p:spPr bwMode="auto">
          <a:xfrm>
            <a:off x="4598812" y="2316257"/>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29"/>
          <p:cNvSpPr>
            <a:spLocks noChangeShapeType="1"/>
          </p:cNvSpPr>
          <p:nvPr/>
        </p:nvSpPr>
        <p:spPr bwMode="auto">
          <a:xfrm>
            <a:off x="3563889" y="2560335"/>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 name="Line 29"/>
          <p:cNvSpPr>
            <a:spLocks noChangeShapeType="1"/>
          </p:cNvSpPr>
          <p:nvPr/>
        </p:nvSpPr>
        <p:spPr bwMode="auto">
          <a:xfrm>
            <a:off x="7204529" y="2606074"/>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 name="Rectangle 5"/>
          <p:cNvSpPr>
            <a:spLocks noChangeArrowheads="1"/>
          </p:cNvSpPr>
          <p:nvPr/>
        </p:nvSpPr>
        <p:spPr bwMode="auto">
          <a:xfrm>
            <a:off x="5254998" y="2333461"/>
            <a:ext cx="914400" cy="431756"/>
          </a:xfrm>
          <a:prstGeom prst="rect">
            <a:avLst/>
          </a:prstGeom>
          <a:pattFill prst="wdUpDiag">
            <a:fgClr>
              <a:schemeClr val="tx1"/>
            </a:fgClr>
            <a:bgClr>
              <a:schemeClr val="bg1"/>
            </a:bgClr>
          </a:patt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200" dirty="0">
                <a:latin typeface="微软雅黑" pitchFamily="34" charset="-122"/>
                <a:ea typeface="微软雅黑" pitchFamily="34" charset="-122"/>
              </a:rPr>
              <a:t> </a:t>
            </a:r>
            <a:r>
              <a:rPr lang="en-US" altLang="zh-CN" sz="2400" dirty="0"/>
              <a:t>   </a:t>
            </a:r>
          </a:p>
        </p:txBody>
      </p:sp>
      <p:sp>
        <p:nvSpPr>
          <p:cNvPr id="83" name="Line 6"/>
          <p:cNvSpPr>
            <a:spLocks noChangeShapeType="1"/>
          </p:cNvSpPr>
          <p:nvPr/>
        </p:nvSpPr>
        <p:spPr bwMode="auto">
          <a:xfrm>
            <a:off x="5788398" y="233346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 name="Line 29"/>
          <p:cNvSpPr>
            <a:spLocks noChangeShapeType="1"/>
          </p:cNvSpPr>
          <p:nvPr/>
        </p:nvSpPr>
        <p:spPr bwMode="auto">
          <a:xfrm>
            <a:off x="6019706" y="258853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 name="Rectangle 5"/>
          <p:cNvSpPr>
            <a:spLocks noChangeArrowheads="1"/>
          </p:cNvSpPr>
          <p:nvPr/>
        </p:nvSpPr>
        <p:spPr bwMode="auto">
          <a:xfrm>
            <a:off x="8048059" y="234330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600" baseline="-25000" dirty="0"/>
              <a:t> </a:t>
            </a:r>
            <a:r>
              <a:rPr lang="zh-CN" altLang="en-US" sz="2400" dirty="0"/>
              <a:t>^</a:t>
            </a:r>
            <a:r>
              <a:rPr lang="en-US" altLang="zh-CN" sz="2400" dirty="0"/>
              <a:t>  </a:t>
            </a:r>
          </a:p>
        </p:txBody>
      </p:sp>
      <p:sp>
        <p:nvSpPr>
          <p:cNvPr id="87" name="Line 6"/>
          <p:cNvSpPr>
            <a:spLocks noChangeShapeType="1"/>
          </p:cNvSpPr>
          <p:nvPr/>
        </p:nvSpPr>
        <p:spPr bwMode="auto">
          <a:xfrm>
            <a:off x="8581459" y="234330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Line 29"/>
          <p:cNvSpPr>
            <a:spLocks noChangeShapeType="1"/>
          </p:cNvSpPr>
          <p:nvPr/>
        </p:nvSpPr>
        <p:spPr bwMode="auto">
          <a:xfrm>
            <a:off x="7812360" y="2593909"/>
            <a:ext cx="235699" cy="356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 name="Rectangle 5"/>
          <p:cNvSpPr>
            <a:spLocks noChangeArrowheads="1"/>
          </p:cNvSpPr>
          <p:nvPr/>
        </p:nvSpPr>
        <p:spPr bwMode="auto">
          <a:xfrm>
            <a:off x="953038" y="2299630"/>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90" name="Line 6"/>
          <p:cNvSpPr>
            <a:spLocks noChangeShapeType="1"/>
          </p:cNvSpPr>
          <p:nvPr/>
        </p:nvSpPr>
        <p:spPr bwMode="auto">
          <a:xfrm>
            <a:off x="1486438" y="229963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29"/>
          <p:cNvSpPr>
            <a:spLocks noChangeShapeType="1"/>
          </p:cNvSpPr>
          <p:nvPr/>
        </p:nvSpPr>
        <p:spPr bwMode="auto">
          <a:xfrm>
            <a:off x="1747695" y="255917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 name="Rectangle 57"/>
          <p:cNvSpPr>
            <a:spLocks noChangeArrowheads="1"/>
          </p:cNvSpPr>
          <p:nvPr/>
        </p:nvSpPr>
        <p:spPr bwMode="auto">
          <a:xfrm>
            <a:off x="3744446" y="2753388"/>
            <a:ext cx="1013740"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j=i-1</a:t>
            </a:r>
            <a:endParaRPr kumimoji="0" lang="zh-CN" altLang="en-US" sz="2400" dirty="0">
              <a:ea typeface="Li Super" charset="-122"/>
            </a:endParaRPr>
          </a:p>
        </p:txBody>
      </p:sp>
      <p:sp>
        <p:nvSpPr>
          <p:cNvPr id="93" name="Line 29"/>
          <p:cNvSpPr>
            <a:spLocks noChangeShapeType="1"/>
          </p:cNvSpPr>
          <p:nvPr/>
        </p:nvSpPr>
        <p:spPr bwMode="auto">
          <a:xfrm>
            <a:off x="3563889" y="1959322"/>
            <a:ext cx="298351" cy="38513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 name="Rectangle 55"/>
          <p:cNvSpPr>
            <a:spLocks noChangeArrowheads="1"/>
          </p:cNvSpPr>
          <p:nvPr/>
        </p:nvSpPr>
        <p:spPr bwMode="auto">
          <a:xfrm>
            <a:off x="3730869" y="19340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96" name="Rectangle 55"/>
          <p:cNvSpPr>
            <a:spLocks noChangeArrowheads="1"/>
          </p:cNvSpPr>
          <p:nvPr/>
        </p:nvSpPr>
        <p:spPr bwMode="auto">
          <a:xfrm>
            <a:off x="3288693" y="170467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ea typeface="CFNEOP+TimesNewRoman" charset="-122"/>
              </a:rPr>
              <a:t>p</a:t>
            </a:r>
            <a:endParaRPr kumimoji="0" lang="zh-CN" altLang="en-US" sz="2400" dirty="0">
              <a:ea typeface="CFNEOP+TimesNewRoman" charset="-122"/>
            </a:endParaRPr>
          </a:p>
        </p:txBody>
      </p:sp>
      <p:sp>
        <p:nvSpPr>
          <p:cNvPr id="99" name="Line 29"/>
          <p:cNvSpPr>
            <a:spLocks noChangeShapeType="1"/>
          </p:cNvSpPr>
          <p:nvPr/>
        </p:nvSpPr>
        <p:spPr bwMode="auto">
          <a:xfrm>
            <a:off x="4959357" y="1975105"/>
            <a:ext cx="298351" cy="38513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 name="Rectangle 55"/>
          <p:cNvSpPr>
            <a:spLocks noChangeArrowheads="1"/>
          </p:cNvSpPr>
          <p:nvPr/>
        </p:nvSpPr>
        <p:spPr bwMode="auto">
          <a:xfrm>
            <a:off x="5146066" y="189862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42" name="Rectangle 40"/>
          <p:cNvSpPr>
            <a:spLocks noChangeArrowheads="1"/>
          </p:cNvSpPr>
          <p:nvPr/>
        </p:nvSpPr>
        <p:spPr bwMode="auto">
          <a:xfrm>
            <a:off x="755576" y="4029912"/>
            <a:ext cx="637066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15000"/>
              </a:spcBef>
              <a:buClr>
                <a:schemeClr val="bg1"/>
              </a:buClr>
              <a:buSzPct val="95000"/>
            </a:pPr>
            <a:r>
              <a:rPr lang="en-US" altLang="zh-CN" sz="2000" dirty="0">
                <a:latin typeface="微软雅黑" pitchFamily="34" charset="-122"/>
                <a:ea typeface="微软雅黑" pitchFamily="34" charset="-122"/>
                <a:cs typeface="经典粗黑简" pitchFamily="49" charset="-122"/>
              </a:rPr>
              <a:t>③ </a:t>
            </a:r>
            <a:r>
              <a:rPr lang="zh-CN" altLang="en-US" sz="2000" dirty="0">
                <a:latin typeface="微软雅黑" pitchFamily="34" charset="-122"/>
                <a:ea typeface="微软雅黑" pitchFamily="34" charset="-122"/>
                <a:cs typeface="经典粗黑简" pitchFamily="49" charset="-122"/>
              </a:rPr>
              <a:t>修改结点</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的指针域，指向第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个结点</a:t>
            </a:r>
            <a:r>
              <a:rPr lang="en-US" altLang="zh-CN" sz="2000" dirty="0">
                <a:latin typeface="微软雅黑" pitchFamily="34" charset="-122"/>
                <a:ea typeface="微软雅黑" pitchFamily="34" charset="-122"/>
                <a:cs typeface="经典粗黑简" pitchFamily="49" charset="-122"/>
              </a:rPr>
              <a:t>;</a:t>
            </a:r>
            <a:r>
              <a:rPr lang="zh-CN" altLang="en-US" sz="2000" dirty="0">
                <a:solidFill>
                  <a:srgbClr val="FFFFFF"/>
                </a:solidFill>
              </a:rPr>
              <a:t>(</a:t>
            </a:r>
            <a:r>
              <a:rPr lang="en-US" altLang="zh-CN" sz="2000" dirty="0">
                <a:solidFill>
                  <a:srgbClr val="FFFFFF"/>
                </a:solidFill>
              </a:rPr>
              <a:t>p-&gt;next=p-&gt;next -&gt;next)；</a:t>
            </a:r>
            <a:endParaRPr lang="zh-CN" altLang="en-US" sz="2000" dirty="0">
              <a:latin typeface="微软雅黑" pitchFamily="34" charset="-122"/>
              <a:ea typeface="微软雅黑" pitchFamily="34" charset="-122"/>
              <a:cs typeface="经典粗黑简" pitchFamily="49" charset="-122"/>
            </a:endParaRPr>
          </a:p>
        </p:txBody>
      </p:sp>
      <p:sp>
        <p:nvSpPr>
          <p:cNvPr id="44" name="Rectangle 55"/>
          <p:cNvSpPr>
            <a:spLocks noChangeArrowheads="1"/>
          </p:cNvSpPr>
          <p:nvPr/>
        </p:nvSpPr>
        <p:spPr bwMode="auto">
          <a:xfrm>
            <a:off x="5268967" y="3003798"/>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grpSp>
        <p:nvGrpSpPr>
          <p:cNvPr id="46" name="组合 45"/>
          <p:cNvGrpSpPr/>
          <p:nvPr/>
        </p:nvGrpSpPr>
        <p:grpSpPr>
          <a:xfrm>
            <a:off x="4716016" y="2679763"/>
            <a:ext cx="1594248" cy="316334"/>
            <a:chOff x="6832638" y="3444583"/>
            <a:chExt cx="1594248" cy="421779"/>
          </a:xfrm>
        </p:grpSpPr>
        <p:sp>
          <p:nvSpPr>
            <p:cNvPr id="47" name="Line 29"/>
            <p:cNvSpPr>
              <a:spLocks noChangeShapeType="1"/>
            </p:cNvSpPr>
            <p:nvPr/>
          </p:nvSpPr>
          <p:spPr bwMode="auto">
            <a:xfrm>
              <a:off x="8278228" y="3459507"/>
              <a:ext cx="148658" cy="358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Line 29"/>
            <p:cNvSpPr>
              <a:spLocks noChangeShapeType="1"/>
            </p:cNvSpPr>
            <p:nvPr/>
          </p:nvSpPr>
          <p:spPr bwMode="auto">
            <a:xfrm flipH="1">
              <a:off x="8278228" y="3444583"/>
              <a:ext cx="7357" cy="41648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29"/>
            <p:cNvSpPr>
              <a:spLocks noChangeShapeType="1"/>
            </p:cNvSpPr>
            <p:nvPr/>
          </p:nvSpPr>
          <p:spPr bwMode="auto">
            <a:xfrm flipH="1">
              <a:off x="6832638" y="3449882"/>
              <a:ext cx="7357" cy="41648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Line 29"/>
            <p:cNvSpPr>
              <a:spLocks noChangeShapeType="1"/>
            </p:cNvSpPr>
            <p:nvPr/>
          </p:nvSpPr>
          <p:spPr bwMode="auto">
            <a:xfrm>
              <a:off x="6839995" y="3861063"/>
              <a:ext cx="1438232" cy="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4" name="Rectangle 45"/>
          <p:cNvSpPr>
            <a:spLocks noChangeArrowheads="1"/>
          </p:cNvSpPr>
          <p:nvPr/>
        </p:nvSpPr>
        <p:spPr bwMode="auto">
          <a:xfrm>
            <a:off x="778516" y="4335084"/>
            <a:ext cx="545742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15000"/>
              </a:spcBef>
              <a:buClr>
                <a:schemeClr val="bg1"/>
              </a:buClr>
              <a:buSzPct val="95000"/>
            </a:pPr>
            <a:r>
              <a:rPr lang="en-US" altLang="zh-CN" sz="2000" dirty="0">
                <a:latin typeface="微软雅黑" pitchFamily="34" charset="-122"/>
                <a:ea typeface="微软雅黑" pitchFamily="34" charset="-122"/>
                <a:cs typeface="经典粗黑简" pitchFamily="49" charset="-122"/>
              </a:rPr>
              <a:t>④ </a:t>
            </a:r>
            <a:r>
              <a:rPr lang="zh-CN" altLang="en-US" sz="2000" dirty="0">
                <a:latin typeface="微软雅黑" pitchFamily="34" charset="-122"/>
                <a:ea typeface="微软雅黑" pitchFamily="34" charset="-122"/>
                <a:cs typeface="经典粗黑简" pitchFamily="49" charset="-122"/>
              </a:rPr>
              <a:t>读取数据元素，删除结点</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释放内存空间。</a:t>
            </a:r>
          </a:p>
        </p:txBody>
      </p:sp>
      <p:sp>
        <p:nvSpPr>
          <p:cNvPr id="56" name="Rectangle 55"/>
          <p:cNvSpPr>
            <a:spLocks noChangeArrowheads="1"/>
          </p:cNvSpPr>
          <p:nvPr/>
        </p:nvSpPr>
        <p:spPr bwMode="auto">
          <a:xfrm>
            <a:off x="5787935" y="168847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④</a:t>
            </a:r>
            <a:endParaRPr kumimoji="0" lang="zh-CN" altLang="en-US" sz="2400" dirty="0">
              <a:solidFill>
                <a:srgbClr val="FF0000"/>
              </a:solidFill>
              <a:ea typeface="CFNEOP+TimesNewRoman" charset="-122"/>
            </a:endParaRPr>
          </a:p>
        </p:txBody>
      </p:sp>
      <p:sp>
        <p:nvSpPr>
          <p:cNvPr id="2" name="Rectangle 2">
            <a:extLst>
              <a:ext uri="{FF2B5EF4-FFF2-40B4-BE49-F238E27FC236}">
                <a16:creationId xmlns:a16="http://schemas.microsoft.com/office/drawing/2014/main" id="{22C19E26-C3ED-796A-F3F8-8321839D3CA4}"/>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4" name="矩形 3">
            <a:extLst>
              <a:ext uri="{FF2B5EF4-FFF2-40B4-BE49-F238E27FC236}">
                <a16:creationId xmlns:a16="http://schemas.microsoft.com/office/drawing/2014/main" id="{539C2C26-B64B-7C04-D849-7D60EABB0550}"/>
              </a:ext>
            </a:extLst>
          </p:cNvPr>
          <p:cNvSpPr/>
          <p:nvPr/>
        </p:nvSpPr>
        <p:spPr>
          <a:xfrm>
            <a:off x="1090565" y="1523568"/>
            <a:ext cx="1872208"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⑨</a:t>
            </a:r>
            <a:r>
              <a:rPr lang="zh-CN" altLang="en-US" sz="2000" dirty="0">
                <a:latin typeface="微软雅黑" pitchFamily="34" charset="-122"/>
                <a:ea typeface="微软雅黑" pitchFamily="34" charset="-122"/>
                <a:cs typeface="经典粗黑简" pitchFamily="49" charset="-122"/>
              </a:rPr>
              <a:t>删除操作</a:t>
            </a:r>
          </a:p>
        </p:txBody>
      </p:sp>
      <p:sp>
        <p:nvSpPr>
          <p:cNvPr id="5" name="矩形 4">
            <a:extLst>
              <a:ext uri="{FF2B5EF4-FFF2-40B4-BE49-F238E27FC236}">
                <a16:creationId xmlns:a16="http://schemas.microsoft.com/office/drawing/2014/main" id="{BBC4D981-5D23-8C8A-622E-BE99D311EBC1}"/>
              </a:ext>
            </a:extLst>
          </p:cNvPr>
          <p:cNvSpPr/>
          <p:nvPr/>
        </p:nvSpPr>
        <p:spPr>
          <a:xfrm>
            <a:off x="6842230" y="3694385"/>
            <a:ext cx="1750800" cy="830997"/>
          </a:xfrm>
          <a:prstGeom prst="rect">
            <a:avLst/>
          </a:prstGeom>
        </p:spPr>
        <p:txBody>
          <a:bodyPr wrap="none">
            <a:spAutoFit/>
          </a:bodyPr>
          <a:lstStyle/>
          <a:p>
            <a:r>
              <a:rPr lang="en-US" altLang="zh-CN" sz="2400" dirty="0">
                <a:latin typeface="Times New Roman" pitchFamily="18" charset="0"/>
                <a:ea typeface="宋体" pitchFamily="2" charset="-122"/>
              </a:rPr>
              <a:t>e = q-&gt;data; </a:t>
            </a:r>
          </a:p>
          <a:p>
            <a:r>
              <a:rPr lang="en-US" altLang="zh-CN" sz="2400" dirty="0">
                <a:latin typeface="Times New Roman" pitchFamily="18" charset="0"/>
                <a:ea typeface="宋体" pitchFamily="2" charset="-122"/>
              </a:rPr>
              <a:t>free(q); </a:t>
            </a:r>
            <a:endParaRPr lang="zh-CN" altLang="en-US" sz="2400" dirty="0">
              <a:latin typeface="Times New Roman" pitchFamily="18" charset="0"/>
              <a:ea typeface="宋体" pitchFamily="2" charset="-122"/>
            </a:endParaRPr>
          </a:p>
        </p:txBody>
      </p:sp>
      <p:sp>
        <p:nvSpPr>
          <p:cNvPr id="52" name="矩形 51">
            <a:extLst>
              <a:ext uri="{FF2B5EF4-FFF2-40B4-BE49-F238E27FC236}">
                <a16:creationId xmlns:a16="http://schemas.microsoft.com/office/drawing/2014/main" id="{D5AE8A5A-72C7-4A4F-A371-95E6723F21DC}"/>
              </a:ext>
            </a:extLst>
          </p:cNvPr>
          <p:cNvSpPr/>
          <p:nvPr/>
        </p:nvSpPr>
        <p:spPr>
          <a:xfrm>
            <a:off x="195716" y="892085"/>
            <a:ext cx="60324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单链表（单链表的基本运算）</a:t>
            </a:r>
          </a:p>
        </p:txBody>
      </p:sp>
    </p:spTree>
    <p:extLst>
      <p:ext uri="{BB962C8B-B14F-4D97-AF65-F5344CB8AC3E}">
        <p14:creationId xmlns:p14="http://schemas.microsoft.com/office/powerpoint/2010/main" val="3583022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3" name="直接连接符 6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539553" y="1449132"/>
            <a:ext cx="2516777" cy="461665"/>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链表的分析</a:t>
            </a:r>
          </a:p>
        </p:txBody>
      </p:sp>
      <p:sp>
        <p:nvSpPr>
          <p:cNvPr id="10" name="矩形 9"/>
          <p:cNvSpPr/>
          <p:nvPr/>
        </p:nvSpPr>
        <p:spPr>
          <a:xfrm>
            <a:off x="1797940" y="2139702"/>
            <a:ext cx="5330541"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插入、删除时无须移动元素，只需修改指针；</a:t>
            </a:r>
          </a:p>
        </p:txBody>
      </p:sp>
      <p:sp>
        <p:nvSpPr>
          <p:cNvPr id="11" name="矩形 10"/>
          <p:cNvSpPr/>
          <p:nvPr/>
        </p:nvSpPr>
        <p:spPr>
          <a:xfrm>
            <a:off x="1797940" y="2554149"/>
            <a:ext cx="6083717" cy="400110"/>
          </a:xfrm>
          <a:prstGeom prst="rect">
            <a:avLst/>
          </a:prstGeom>
        </p:spPr>
        <p:txBody>
          <a:bodyPr wrap="none">
            <a:spAutoFit/>
          </a:bodyPr>
          <a:lstStyle/>
          <a:p>
            <a:r>
              <a:rPr lang="zh-CN" altLang="en-US" sz="2000" dirty="0">
                <a:latin typeface="微软雅黑" pitchFamily="34" charset="-122"/>
                <a:ea typeface="微软雅黑" pitchFamily="34" charset="-122"/>
                <a:cs typeface="经典粗黑简" pitchFamily="49" charset="-122"/>
              </a:rPr>
              <a:t>根据需要申请存储空间，且不要求连续的存储空间；</a:t>
            </a:r>
          </a:p>
        </p:txBody>
      </p:sp>
      <p:sp>
        <p:nvSpPr>
          <p:cNvPr id="12" name="矩形 11"/>
          <p:cNvSpPr/>
          <p:nvPr/>
        </p:nvSpPr>
        <p:spPr>
          <a:xfrm>
            <a:off x="1086296" y="1815666"/>
            <a:ext cx="1107996"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优点：</a:t>
            </a:r>
          </a:p>
        </p:txBody>
      </p:sp>
      <p:sp>
        <p:nvSpPr>
          <p:cNvPr id="13" name="矩形 12"/>
          <p:cNvSpPr/>
          <p:nvPr/>
        </p:nvSpPr>
        <p:spPr>
          <a:xfrm>
            <a:off x="1086296" y="2857791"/>
            <a:ext cx="1107996"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缺点：</a:t>
            </a:r>
          </a:p>
        </p:txBody>
      </p:sp>
      <p:sp>
        <p:nvSpPr>
          <p:cNvPr id="14" name="矩形 13"/>
          <p:cNvSpPr/>
          <p:nvPr/>
        </p:nvSpPr>
        <p:spPr>
          <a:xfrm>
            <a:off x="1797941" y="3219822"/>
            <a:ext cx="4031873" cy="400110"/>
          </a:xfrm>
          <a:prstGeom prst="rect">
            <a:avLst/>
          </a:prstGeom>
        </p:spPr>
        <p:txBody>
          <a:bodyPr wrap="none">
            <a:spAutoFit/>
          </a:bodyPr>
          <a:lstStyle/>
          <a:p>
            <a:r>
              <a:rPr lang="zh-CN" altLang="en-US" sz="2000" dirty="0">
                <a:latin typeface="微软雅黑" pitchFamily="34" charset="-122"/>
                <a:ea typeface="微软雅黑" pitchFamily="34" charset="-122"/>
                <a:cs typeface="经典粗黑简" pitchFamily="49" charset="-122"/>
              </a:rPr>
              <a:t>对表中的元素只能进行顺序访问；</a:t>
            </a:r>
          </a:p>
        </p:txBody>
      </p:sp>
      <p:sp>
        <p:nvSpPr>
          <p:cNvPr id="15" name="矩形 14"/>
          <p:cNvSpPr/>
          <p:nvPr/>
        </p:nvSpPr>
        <p:spPr>
          <a:xfrm>
            <a:off x="1797940" y="3602858"/>
            <a:ext cx="6083717" cy="707886"/>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用指针表达元素之间的逻辑关系（直接前驱、后继），存储空间利用率低。</a:t>
            </a:r>
          </a:p>
        </p:txBody>
      </p:sp>
      <p:sp>
        <p:nvSpPr>
          <p:cNvPr id="2" name="Rectangle 2">
            <a:extLst>
              <a:ext uri="{FF2B5EF4-FFF2-40B4-BE49-F238E27FC236}">
                <a16:creationId xmlns:a16="http://schemas.microsoft.com/office/drawing/2014/main" id="{9BE041D1-7AF3-F97B-3499-AC77135A208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3" name="矩形 2">
            <a:extLst>
              <a:ext uri="{FF2B5EF4-FFF2-40B4-BE49-F238E27FC236}">
                <a16:creationId xmlns:a16="http://schemas.microsoft.com/office/drawing/2014/main" id="{5DA30D18-986A-9922-D638-D97FEAE14A9B}"/>
              </a:ext>
            </a:extLst>
          </p:cNvPr>
          <p:cNvSpPr/>
          <p:nvPr/>
        </p:nvSpPr>
        <p:spPr>
          <a:xfrm>
            <a:off x="195717" y="892085"/>
            <a:ext cx="25167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2.3.2 </a:t>
            </a:r>
            <a:r>
              <a:rPr lang="zh-CN" altLang="en-US" sz="2800" b="1" dirty="0">
                <a:solidFill>
                  <a:schemeClr val="bg1"/>
                </a:solidFill>
                <a:latin typeface="经典粗黑简" pitchFamily="49" charset="-122"/>
                <a:ea typeface="经典粗黑简" pitchFamily="49" charset="-122"/>
                <a:cs typeface="经典粗黑简" pitchFamily="49" charset="-122"/>
              </a:rPr>
              <a:t>单链表</a:t>
            </a:r>
          </a:p>
        </p:txBody>
      </p:sp>
    </p:spTree>
    <p:extLst>
      <p:ext uri="{BB962C8B-B14F-4D97-AF65-F5344CB8AC3E}">
        <p14:creationId xmlns:p14="http://schemas.microsoft.com/office/powerpoint/2010/main" val="1162362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25"/>
          <p:cNvSpPr>
            <a:spLocks noChangeArrowheads="1"/>
          </p:cNvSpPr>
          <p:nvPr/>
        </p:nvSpPr>
        <p:spPr bwMode="auto">
          <a:xfrm>
            <a:off x="7715864" y="2921617"/>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p:cNvSpPr>
            <a:spLocks noChangeArrowheads="1"/>
          </p:cNvSpPr>
          <p:nvPr/>
        </p:nvSpPr>
        <p:spPr bwMode="auto">
          <a:xfrm>
            <a:off x="4109958" y="291073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p:cNvSpPr>
            <a:spLocks noChangeShapeType="1"/>
          </p:cNvSpPr>
          <p:nvPr/>
        </p:nvSpPr>
        <p:spPr bwMode="auto">
          <a:xfrm>
            <a:off x="727341" y="2754711"/>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p:cNvSpPr>
            <a:spLocks noChangeArrowheads="1"/>
          </p:cNvSpPr>
          <p:nvPr/>
        </p:nvSpPr>
        <p:spPr bwMode="auto">
          <a:xfrm>
            <a:off x="461696" y="2556804"/>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78" name="矩形 77"/>
          <p:cNvSpPr/>
          <p:nvPr/>
        </p:nvSpPr>
        <p:spPr>
          <a:xfrm>
            <a:off x="1108341" y="2031691"/>
            <a:ext cx="6154420" cy="590931"/>
          </a:xfrm>
          <a:prstGeom prst="rect">
            <a:avLst/>
          </a:prstGeom>
        </p:spPr>
        <p:txBody>
          <a:bodyPr wrap="square">
            <a:spAutoFit/>
          </a:bodyPr>
          <a:lstStyle/>
          <a:p>
            <a:pPr lvl="1">
              <a:lnSpc>
                <a:spcPct val="90000"/>
              </a:lnSpc>
            </a:pPr>
            <a:r>
              <a:rPr lang="zh-CN" altLang="en-US" sz="3600" dirty="0">
                <a:latin typeface="微软雅黑" pitchFamily="34" charset="-122"/>
                <a:ea typeface="微软雅黑" pitchFamily="34" charset="-122"/>
                <a:cs typeface="经典粗黑简" pitchFamily="49" charset="-122"/>
              </a:rPr>
              <a:t>(</a:t>
            </a:r>
            <a:r>
              <a:rPr lang="en-US" altLang="zh-CN" sz="3200" dirty="0">
                <a:latin typeface="微软雅黑" pitchFamily="34" charset="-122"/>
                <a:ea typeface="微软雅黑" pitchFamily="34" charset="-122"/>
                <a:cs typeface="经典粗黑简" pitchFamily="49" charset="-122"/>
              </a:rPr>
              <a:t>a</a:t>
            </a:r>
            <a:r>
              <a:rPr lang="en-US" altLang="zh-CN" sz="3200" baseline="-25000" dirty="0">
                <a:latin typeface="微软雅黑" pitchFamily="34" charset="-122"/>
                <a:ea typeface="微软雅黑" pitchFamily="34" charset="-122"/>
                <a:cs typeface="经典粗黑简" pitchFamily="49" charset="-122"/>
              </a:rPr>
              <a:t>1</a:t>
            </a:r>
            <a:r>
              <a:rPr lang="en-US" altLang="zh-CN" sz="3200" dirty="0">
                <a:latin typeface="微软雅黑" pitchFamily="34" charset="-122"/>
                <a:ea typeface="微软雅黑" pitchFamily="34" charset="-122"/>
                <a:cs typeface="经典粗黑简" pitchFamily="49" charset="-122"/>
              </a:rPr>
              <a:t>, a</a:t>
            </a:r>
            <a:r>
              <a:rPr lang="en-US" altLang="zh-CN" sz="3200" baseline="-25000" dirty="0">
                <a:latin typeface="微软雅黑" pitchFamily="34" charset="-122"/>
                <a:ea typeface="微软雅黑" pitchFamily="34" charset="-122"/>
                <a:cs typeface="经典粗黑简" pitchFamily="49" charset="-122"/>
              </a:rPr>
              <a:t>2</a:t>
            </a:r>
            <a:r>
              <a:rPr lang="en-US" altLang="zh-CN" sz="3200" dirty="0">
                <a:latin typeface="微软雅黑" pitchFamily="34" charset="-122"/>
                <a:ea typeface="微软雅黑" pitchFamily="34" charset="-122"/>
                <a:cs typeface="经典粗黑简" pitchFamily="49" charset="-122"/>
              </a:rPr>
              <a:t>, …, a</a:t>
            </a:r>
            <a:r>
              <a:rPr lang="en-US" altLang="zh-CN" sz="3200" baseline="-25000" dirty="0">
                <a:latin typeface="微软雅黑" pitchFamily="34" charset="-122"/>
                <a:ea typeface="微软雅黑" pitchFamily="34" charset="-122"/>
                <a:cs typeface="经典粗黑简" pitchFamily="49" charset="-122"/>
              </a:rPr>
              <a:t>i-1</a:t>
            </a:r>
            <a:r>
              <a:rPr lang="en-US" altLang="zh-CN" sz="3200" dirty="0">
                <a:latin typeface="微软雅黑" pitchFamily="34" charset="-122"/>
                <a:ea typeface="微软雅黑" pitchFamily="34" charset="-122"/>
                <a:cs typeface="经典粗黑简" pitchFamily="49" charset="-122"/>
              </a:rPr>
              <a:t>, </a:t>
            </a:r>
            <a:r>
              <a:rPr lang="en-US" altLang="zh-CN" sz="3200" dirty="0" err="1">
                <a:latin typeface="微软雅黑" pitchFamily="34" charset="-122"/>
                <a:ea typeface="微软雅黑" pitchFamily="34" charset="-122"/>
                <a:cs typeface="经典粗黑简" pitchFamily="49" charset="-122"/>
              </a:rPr>
              <a:t>a</a:t>
            </a:r>
            <a:r>
              <a:rPr lang="en-US" altLang="zh-CN" sz="3200" baseline="-25000" dirty="0" err="1">
                <a:latin typeface="微软雅黑" pitchFamily="34" charset="-122"/>
                <a:ea typeface="微软雅黑" pitchFamily="34" charset="-122"/>
                <a:cs typeface="经典粗黑简" pitchFamily="49" charset="-122"/>
              </a:rPr>
              <a:t>i</a:t>
            </a:r>
            <a:r>
              <a:rPr lang="en-US" altLang="zh-CN" sz="3200" dirty="0">
                <a:latin typeface="微软雅黑" pitchFamily="34" charset="-122"/>
                <a:ea typeface="微软雅黑" pitchFamily="34" charset="-122"/>
                <a:cs typeface="经典粗黑简" pitchFamily="49" charset="-122"/>
              </a:rPr>
              <a:t>, a</a:t>
            </a:r>
            <a:r>
              <a:rPr lang="en-US" altLang="zh-CN" sz="3200" baseline="-25000" dirty="0">
                <a:latin typeface="微软雅黑" pitchFamily="34" charset="-122"/>
                <a:ea typeface="微软雅黑" pitchFamily="34" charset="-122"/>
                <a:cs typeface="经典粗黑简" pitchFamily="49" charset="-122"/>
              </a:rPr>
              <a:t>i＋1</a:t>
            </a:r>
            <a:r>
              <a:rPr lang="en-US" altLang="zh-CN" sz="3200" dirty="0">
                <a:latin typeface="微软雅黑" pitchFamily="34" charset="-122"/>
                <a:ea typeface="微软雅黑" pitchFamily="34" charset="-122"/>
                <a:cs typeface="经典粗黑简" pitchFamily="49" charset="-122"/>
              </a:rPr>
              <a:t>, …, a</a:t>
            </a:r>
            <a:r>
              <a:rPr lang="en-US" altLang="zh-CN" sz="3200" baseline="-25000" dirty="0">
                <a:latin typeface="微软雅黑" pitchFamily="34" charset="-122"/>
                <a:ea typeface="微软雅黑" pitchFamily="34" charset="-122"/>
                <a:cs typeface="经典粗黑简" pitchFamily="49" charset="-122"/>
              </a:rPr>
              <a:t>n</a:t>
            </a:r>
            <a:r>
              <a:rPr lang="en-US" altLang="zh-CN" sz="3600" dirty="0">
                <a:latin typeface="微软雅黑" pitchFamily="34" charset="-122"/>
                <a:ea typeface="微软雅黑" pitchFamily="34" charset="-122"/>
                <a:cs typeface="经典粗黑简" pitchFamily="49" charset="-122"/>
              </a:rPr>
              <a:t>)</a:t>
            </a:r>
          </a:p>
        </p:txBody>
      </p:sp>
      <p:sp>
        <p:nvSpPr>
          <p:cNvPr id="93" name="矩形 92"/>
          <p:cNvSpPr/>
          <p:nvPr/>
        </p:nvSpPr>
        <p:spPr>
          <a:xfrm>
            <a:off x="496954" y="2080166"/>
            <a:ext cx="1415772"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线性表：</a:t>
            </a:r>
          </a:p>
        </p:txBody>
      </p:sp>
      <p:grpSp>
        <p:nvGrpSpPr>
          <p:cNvPr id="95" name="组合 94"/>
          <p:cNvGrpSpPr/>
          <p:nvPr/>
        </p:nvGrpSpPr>
        <p:grpSpPr>
          <a:xfrm>
            <a:off x="2438174" y="2577902"/>
            <a:ext cx="533400" cy="984427"/>
            <a:chOff x="3344047" y="4287041"/>
            <a:chExt cx="533400" cy="1312569"/>
          </a:xfrm>
        </p:grpSpPr>
        <p:sp>
          <p:nvSpPr>
            <p:cNvPr id="97"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p:cNvGrpSpPr/>
          <p:nvPr/>
        </p:nvGrpSpPr>
        <p:grpSpPr>
          <a:xfrm>
            <a:off x="3497022" y="2577902"/>
            <a:ext cx="533400" cy="984427"/>
            <a:chOff x="3344047" y="4287041"/>
            <a:chExt cx="533400" cy="1312569"/>
          </a:xfrm>
        </p:grpSpPr>
        <p:sp>
          <p:nvSpPr>
            <p:cNvPr id="101"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p:cNvGrpSpPr/>
          <p:nvPr/>
        </p:nvGrpSpPr>
        <p:grpSpPr>
          <a:xfrm>
            <a:off x="4642960" y="2577902"/>
            <a:ext cx="675622" cy="984427"/>
            <a:chOff x="3344047" y="4287041"/>
            <a:chExt cx="533400" cy="1312569"/>
          </a:xfrm>
        </p:grpSpPr>
        <p:sp>
          <p:nvSpPr>
            <p:cNvPr id="105"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p:cNvGrpSpPr/>
          <p:nvPr/>
        </p:nvGrpSpPr>
        <p:grpSpPr>
          <a:xfrm>
            <a:off x="8191039" y="2577901"/>
            <a:ext cx="533400" cy="1076760"/>
            <a:chOff x="9096957" y="4287040"/>
            <a:chExt cx="533400" cy="1435680"/>
          </a:xfrm>
        </p:grpSpPr>
        <p:grpSp>
          <p:nvGrpSpPr>
            <p:cNvPr id="109" name="组合 108"/>
            <p:cNvGrpSpPr/>
            <p:nvPr/>
          </p:nvGrpSpPr>
          <p:grpSpPr>
            <a:xfrm>
              <a:off x="9096957" y="4287040"/>
              <a:ext cx="533400" cy="1312569"/>
              <a:chOff x="3344047" y="4287041"/>
              <a:chExt cx="533400" cy="1312569"/>
            </a:xfrm>
          </p:grpSpPr>
          <p:sp>
            <p:nvSpPr>
              <p:cNvPr id="111"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p:cNvGrpSpPr/>
          <p:nvPr/>
        </p:nvGrpSpPr>
        <p:grpSpPr>
          <a:xfrm>
            <a:off x="5844030" y="2577902"/>
            <a:ext cx="533400" cy="984427"/>
            <a:chOff x="3344047" y="4287041"/>
            <a:chExt cx="533400" cy="1312569"/>
          </a:xfrm>
        </p:grpSpPr>
        <p:sp>
          <p:nvSpPr>
            <p:cNvPr id="115"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组合 117"/>
          <p:cNvGrpSpPr/>
          <p:nvPr/>
        </p:nvGrpSpPr>
        <p:grpSpPr>
          <a:xfrm>
            <a:off x="6902878" y="2577902"/>
            <a:ext cx="675622" cy="984427"/>
            <a:chOff x="3344047" y="4287041"/>
            <a:chExt cx="533400" cy="1312569"/>
          </a:xfrm>
        </p:grpSpPr>
        <p:sp>
          <p:nvSpPr>
            <p:cNvPr id="119"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p:cNvGrpSpPr/>
          <p:nvPr/>
        </p:nvGrpSpPr>
        <p:grpSpPr>
          <a:xfrm>
            <a:off x="1379326" y="2577902"/>
            <a:ext cx="533400" cy="984427"/>
            <a:chOff x="2459424" y="4263014"/>
            <a:chExt cx="533400" cy="1312569"/>
          </a:xfrm>
        </p:grpSpPr>
        <p:grpSp>
          <p:nvGrpSpPr>
            <p:cNvPr id="123" name="组合 122"/>
            <p:cNvGrpSpPr/>
            <p:nvPr/>
          </p:nvGrpSpPr>
          <p:grpSpPr>
            <a:xfrm>
              <a:off x="2459424" y="4263014"/>
              <a:ext cx="533400" cy="1312569"/>
              <a:chOff x="3344047" y="4287041"/>
              <a:chExt cx="533400" cy="1312569"/>
            </a:xfrm>
          </p:grpSpPr>
          <p:sp>
            <p:nvSpPr>
              <p:cNvPr id="125" name="Rectangle 5"/>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p:cNvSpPr>
            <a:spLocks noChangeShapeType="1"/>
          </p:cNvSpPr>
          <p:nvPr/>
        </p:nvSpPr>
        <p:spPr bwMode="auto">
          <a:xfrm flipH="1">
            <a:off x="1923271" y="274846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p:cNvSpPr>
            <a:spLocks noChangeShapeType="1"/>
          </p:cNvSpPr>
          <p:nvPr/>
        </p:nvSpPr>
        <p:spPr bwMode="auto">
          <a:xfrm>
            <a:off x="1798603" y="3423829"/>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p:cNvSpPr>
            <a:spLocks noChangeShapeType="1"/>
          </p:cNvSpPr>
          <p:nvPr/>
        </p:nvSpPr>
        <p:spPr bwMode="auto">
          <a:xfrm>
            <a:off x="2857452" y="3423829"/>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p:cNvSpPr>
            <a:spLocks noChangeShapeType="1"/>
          </p:cNvSpPr>
          <p:nvPr/>
        </p:nvSpPr>
        <p:spPr bwMode="auto">
          <a:xfrm>
            <a:off x="3979486" y="3423829"/>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 name="Line 29"/>
          <p:cNvSpPr>
            <a:spLocks noChangeShapeType="1"/>
          </p:cNvSpPr>
          <p:nvPr/>
        </p:nvSpPr>
        <p:spPr bwMode="auto">
          <a:xfrm>
            <a:off x="5204460" y="3423829"/>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p:cNvSpPr>
            <a:spLocks noChangeShapeType="1"/>
          </p:cNvSpPr>
          <p:nvPr/>
        </p:nvSpPr>
        <p:spPr bwMode="auto">
          <a:xfrm>
            <a:off x="6263308" y="3423829"/>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p:cNvSpPr>
            <a:spLocks noChangeShapeType="1"/>
          </p:cNvSpPr>
          <p:nvPr/>
        </p:nvSpPr>
        <p:spPr bwMode="auto">
          <a:xfrm>
            <a:off x="7432087" y="3423829"/>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p:cNvSpPr>
            <a:spLocks noChangeShapeType="1"/>
          </p:cNvSpPr>
          <p:nvPr/>
        </p:nvSpPr>
        <p:spPr bwMode="auto">
          <a:xfrm flipH="1">
            <a:off x="7987908" y="2748461"/>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29"/>
          <p:cNvSpPr>
            <a:spLocks noChangeShapeType="1"/>
          </p:cNvSpPr>
          <p:nvPr/>
        </p:nvSpPr>
        <p:spPr bwMode="auto">
          <a:xfrm flipH="1">
            <a:off x="6377431" y="274846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7" name="Line 29"/>
          <p:cNvSpPr>
            <a:spLocks noChangeShapeType="1"/>
          </p:cNvSpPr>
          <p:nvPr/>
        </p:nvSpPr>
        <p:spPr bwMode="auto">
          <a:xfrm flipH="1">
            <a:off x="5318583" y="274846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p:cNvSpPr>
            <a:spLocks noChangeShapeType="1"/>
          </p:cNvSpPr>
          <p:nvPr/>
        </p:nvSpPr>
        <p:spPr bwMode="auto">
          <a:xfrm flipH="1">
            <a:off x="4440227" y="2748461"/>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p:cNvSpPr>
            <a:spLocks noChangeShapeType="1"/>
          </p:cNvSpPr>
          <p:nvPr/>
        </p:nvSpPr>
        <p:spPr bwMode="auto">
          <a:xfrm flipH="1">
            <a:off x="2971575" y="274846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p:cNvSpPr>
            <a:spLocks noChangeShapeType="1"/>
          </p:cNvSpPr>
          <p:nvPr/>
        </p:nvSpPr>
        <p:spPr bwMode="auto">
          <a:xfrm>
            <a:off x="4440227" y="3423829"/>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p:cNvSpPr>
            <a:spLocks noChangeShapeType="1"/>
          </p:cNvSpPr>
          <p:nvPr/>
        </p:nvSpPr>
        <p:spPr bwMode="auto">
          <a:xfrm>
            <a:off x="7987909" y="3423829"/>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p:cNvSpPr>
            <a:spLocks noChangeShapeType="1"/>
          </p:cNvSpPr>
          <p:nvPr/>
        </p:nvSpPr>
        <p:spPr bwMode="auto">
          <a:xfrm flipH="1">
            <a:off x="7578500" y="2748461"/>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p:cNvSpPr>
            <a:spLocks noChangeShapeType="1"/>
          </p:cNvSpPr>
          <p:nvPr/>
        </p:nvSpPr>
        <p:spPr bwMode="auto">
          <a:xfrm flipH="1">
            <a:off x="4043808" y="2748461"/>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4" name="矩形 143"/>
          <p:cNvSpPr/>
          <p:nvPr/>
        </p:nvSpPr>
        <p:spPr>
          <a:xfrm>
            <a:off x="421330" y="3681896"/>
            <a:ext cx="1811714" cy="369332"/>
          </a:xfrm>
          <a:prstGeom prst="rect">
            <a:avLst/>
          </a:prstGeom>
        </p:spPr>
        <p:txBody>
          <a:bodyPr wrap="none">
            <a:spAutoFit/>
          </a:bodyPr>
          <a:lstStyle/>
          <a:p>
            <a:r>
              <a:rPr lang="zh-CN" altLang="en-US" b="1" dirty="0"/>
              <a:t>空的双向链表：</a:t>
            </a:r>
            <a:endParaRPr lang="zh-CN" altLang="en-US" dirty="0"/>
          </a:p>
        </p:txBody>
      </p:sp>
      <p:sp>
        <p:nvSpPr>
          <p:cNvPr id="145" name="Line 29"/>
          <p:cNvSpPr>
            <a:spLocks noChangeShapeType="1"/>
          </p:cNvSpPr>
          <p:nvPr/>
        </p:nvSpPr>
        <p:spPr bwMode="auto">
          <a:xfrm>
            <a:off x="2911618" y="3877389"/>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 name="Rectangle 228"/>
          <p:cNvSpPr>
            <a:spLocks noChangeArrowheads="1"/>
          </p:cNvSpPr>
          <p:nvPr/>
        </p:nvSpPr>
        <p:spPr bwMode="auto">
          <a:xfrm>
            <a:off x="2645973" y="367948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147" name="组合 146"/>
          <p:cNvGrpSpPr/>
          <p:nvPr/>
        </p:nvGrpSpPr>
        <p:grpSpPr>
          <a:xfrm>
            <a:off x="3563603" y="3700580"/>
            <a:ext cx="533400" cy="984427"/>
            <a:chOff x="2459424" y="4263014"/>
            <a:chExt cx="533400" cy="1312569"/>
          </a:xfrm>
        </p:grpSpPr>
        <p:grpSp>
          <p:nvGrpSpPr>
            <p:cNvPr id="148" name="组合 147"/>
            <p:cNvGrpSpPr/>
            <p:nvPr/>
          </p:nvGrpSpPr>
          <p:grpSpPr>
            <a:xfrm>
              <a:off x="2459424" y="4263014"/>
              <a:ext cx="533400" cy="1312569"/>
              <a:chOff x="3344047" y="4287041"/>
              <a:chExt cx="533400" cy="1312569"/>
            </a:xfrm>
          </p:grpSpPr>
          <p:sp>
            <p:nvSpPr>
              <p:cNvPr id="150" name="Rectangle 5"/>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51"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49" name="矩形 148"/>
            <p:cNvSpPr/>
            <p:nvPr/>
          </p:nvSpPr>
          <p:spPr>
            <a:xfrm>
              <a:off x="2518375" y="4294295"/>
              <a:ext cx="415498" cy="492443"/>
            </a:xfrm>
            <a:prstGeom prst="rect">
              <a:avLst/>
            </a:prstGeom>
          </p:spPr>
          <p:txBody>
            <a:bodyPr wrap="none">
              <a:spAutoFit/>
            </a:bodyPr>
            <a:lstStyle/>
            <a:p>
              <a:r>
                <a:rPr lang="zh-CN" altLang="en-US" dirty="0"/>
                <a:t>∧</a:t>
              </a:r>
            </a:p>
          </p:txBody>
        </p:sp>
      </p:grpSp>
      <p:sp>
        <p:nvSpPr>
          <p:cNvPr id="153" name="矩形 152"/>
          <p:cNvSpPr/>
          <p:nvPr/>
        </p:nvSpPr>
        <p:spPr>
          <a:xfrm>
            <a:off x="3660796" y="4396101"/>
            <a:ext cx="415498" cy="369332"/>
          </a:xfrm>
          <a:prstGeom prst="rect">
            <a:avLst/>
          </a:prstGeom>
        </p:spPr>
        <p:txBody>
          <a:bodyPr wrap="none">
            <a:spAutoFit/>
          </a:bodyPr>
          <a:lstStyle/>
          <a:p>
            <a:r>
              <a:rPr lang="zh-CN" altLang="en-US" dirty="0"/>
              <a:t>∧</a:t>
            </a:r>
          </a:p>
        </p:txBody>
      </p:sp>
      <p:sp>
        <p:nvSpPr>
          <p:cNvPr id="155" name="矩形 154"/>
          <p:cNvSpPr/>
          <p:nvPr/>
        </p:nvSpPr>
        <p:spPr>
          <a:xfrm>
            <a:off x="493821" y="1446757"/>
            <a:ext cx="8470667" cy="707886"/>
          </a:xfrm>
          <a:prstGeom prst="rect">
            <a:avLst/>
          </a:prstGeom>
        </p:spPr>
        <p:txBody>
          <a:bodyPr wrap="square">
            <a:spAutoFit/>
          </a:bodyPr>
          <a:lstStyle/>
          <a:p>
            <a:r>
              <a:rPr lang="zh-CN" altLang="en-US" sz="2000" dirty="0">
                <a:solidFill>
                  <a:srgbClr val="FF0000"/>
                </a:solidFill>
                <a:latin typeface="微软雅黑" pitchFamily="34" charset="-122"/>
                <a:ea typeface="微软雅黑" pitchFamily="34" charset="-122"/>
                <a:cs typeface="经典粗黑简" pitchFamily="49" charset="-122"/>
              </a:rPr>
              <a:t>双向链表</a:t>
            </a:r>
            <a:r>
              <a:rPr lang="en-US" altLang="zh-CN" sz="2000" dirty="0">
                <a:solidFill>
                  <a:srgbClr val="FF0000"/>
                </a:solidFill>
                <a:latin typeface="微软雅黑" pitchFamily="34" charset="-122"/>
                <a:ea typeface="微软雅黑" pitchFamily="34" charset="-122"/>
                <a:cs typeface="经典粗黑简" pitchFamily="49" charset="-122"/>
              </a:rPr>
              <a:t>(Double Linked List)</a:t>
            </a:r>
            <a:r>
              <a:rPr lang="zh-CN" altLang="en-US" sz="2000" dirty="0">
                <a:latin typeface="微软雅黑" pitchFamily="34" charset="-122"/>
                <a:ea typeface="微软雅黑" pitchFamily="34" charset="-122"/>
                <a:cs typeface="经典粗黑简" pitchFamily="49" charset="-122"/>
              </a:rPr>
              <a:t>是线性链表结点中有两个指针域的链式存储结构，其中一个指针指向结点的直接后继，另一个指针指结点的直接前驱。</a:t>
            </a:r>
          </a:p>
        </p:txBody>
      </p:sp>
      <p:cxnSp>
        <p:nvCxnSpPr>
          <p:cNvPr id="71" name="直接连接符 70"/>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2" name="矩形 71"/>
          <p:cNvSpPr/>
          <p:nvPr/>
        </p:nvSpPr>
        <p:spPr>
          <a:xfrm>
            <a:off x="395536" y="843558"/>
            <a:ext cx="302433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5AAE10AD-B796-19C3-46F0-B94868C82CF8}"/>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Tree>
    <p:extLst>
      <p:ext uri="{BB962C8B-B14F-4D97-AF65-F5344CB8AC3E}">
        <p14:creationId xmlns:p14="http://schemas.microsoft.com/office/powerpoint/2010/main" val="3752382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3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4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4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4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4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4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4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9" grpId="0"/>
      <p:bldP spid="50" grpId="0" animBg="1"/>
      <p:bldP spid="59" grpId="0"/>
      <p:bldP spid="78" grpId="0"/>
      <p:bldP spid="93" grpId="0"/>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p:bldP spid="145" grpId="0" animBg="1"/>
      <p:bldP spid="146" grpId="0"/>
      <p:bldP spid="15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25"/>
          <p:cNvSpPr>
            <a:spLocks noChangeArrowheads="1"/>
          </p:cNvSpPr>
          <p:nvPr/>
        </p:nvSpPr>
        <p:spPr bwMode="auto">
          <a:xfrm>
            <a:off x="7715864" y="2921617"/>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p:cNvSpPr>
            <a:spLocks noChangeArrowheads="1"/>
          </p:cNvSpPr>
          <p:nvPr/>
        </p:nvSpPr>
        <p:spPr bwMode="auto">
          <a:xfrm>
            <a:off x="4109958" y="291073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p:cNvSpPr>
            <a:spLocks noChangeShapeType="1"/>
          </p:cNvSpPr>
          <p:nvPr/>
        </p:nvSpPr>
        <p:spPr bwMode="auto">
          <a:xfrm>
            <a:off x="727341" y="2754711"/>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p:cNvSpPr>
            <a:spLocks noChangeArrowheads="1"/>
          </p:cNvSpPr>
          <p:nvPr/>
        </p:nvSpPr>
        <p:spPr bwMode="auto">
          <a:xfrm>
            <a:off x="461696" y="2556804"/>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78" name="矩形 77"/>
          <p:cNvSpPr/>
          <p:nvPr/>
        </p:nvSpPr>
        <p:spPr>
          <a:xfrm>
            <a:off x="1379326" y="2047863"/>
            <a:ext cx="6154420" cy="480131"/>
          </a:xfrm>
          <a:prstGeom prst="rect">
            <a:avLst/>
          </a:prstGeom>
        </p:spPr>
        <p:txBody>
          <a:bodyPr wrap="square">
            <a:spAutoFit/>
          </a:bodyPr>
          <a:lstStyle/>
          <a:p>
            <a:pPr lvl="1">
              <a:lnSpc>
                <a:spcPct val="90000"/>
              </a:lnSpc>
            </a:pPr>
            <a:r>
              <a:rPr lang="zh-CN" altLang="en-US" sz="2800" dirty="0">
                <a:latin typeface="微软雅黑" pitchFamily="34" charset="-122"/>
                <a:ea typeface="微软雅黑" pitchFamily="34" charset="-122"/>
                <a:cs typeface="经典粗黑简" pitchFamily="49" charset="-122"/>
              </a:rPr>
              <a:t>(</a:t>
            </a:r>
            <a:r>
              <a:rPr lang="en-US" altLang="zh-CN" sz="2800" dirty="0">
                <a:latin typeface="微软雅黑" pitchFamily="34" charset="-122"/>
                <a:ea typeface="微软雅黑" pitchFamily="34" charset="-122"/>
                <a:cs typeface="经典粗黑简" pitchFamily="49" charset="-122"/>
              </a:rPr>
              <a:t>a</a:t>
            </a:r>
            <a:r>
              <a:rPr lang="en-US" altLang="zh-CN" sz="2800" baseline="-25000" dirty="0">
                <a:latin typeface="微软雅黑" pitchFamily="34" charset="-122"/>
                <a:ea typeface="微软雅黑" pitchFamily="34" charset="-122"/>
                <a:cs typeface="经典粗黑简" pitchFamily="49" charset="-122"/>
              </a:rPr>
              <a:t>1</a:t>
            </a:r>
            <a:r>
              <a:rPr lang="en-US" altLang="zh-CN" sz="2800" dirty="0">
                <a:latin typeface="微软雅黑" pitchFamily="34" charset="-122"/>
                <a:ea typeface="微软雅黑" pitchFamily="34" charset="-122"/>
                <a:cs typeface="经典粗黑简" pitchFamily="49" charset="-122"/>
              </a:rPr>
              <a:t>, a</a:t>
            </a:r>
            <a:r>
              <a:rPr lang="en-US" altLang="zh-CN" sz="2800" baseline="-25000" dirty="0">
                <a:latin typeface="微软雅黑" pitchFamily="34" charset="-122"/>
                <a:ea typeface="微软雅黑" pitchFamily="34" charset="-122"/>
                <a:cs typeface="经典粗黑简" pitchFamily="49" charset="-122"/>
              </a:rPr>
              <a:t>2</a:t>
            </a:r>
            <a:r>
              <a:rPr lang="en-US" altLang="zh-CN" sz="2800" dirty="0">
                <a:latin typeface="微软雅黑" pitchFamily="34" charset="-122"/>
                <a:ea typeface="微软雅黑" pitchFamily="34" charset="-122"/>
                <a:cs typeface="经典粗黑简" pitchFamily="49" charset="-122"/>
              </a:rPr>
              <a:t>, …, a</a:t>
            </a:r>
            <a:r>
              <a:rPr lang="en-US" altLang="zh-CN" sz="2800" baseline="-25000" dirty="0">
                <a:latin typeface="微软雅黑" pitchFamily="34" charset="-122"/>
                <a:ea typeface="微软雅黑" pitchFamily="34" charset="-122"/>
                <a:cs typeface="经典粗黑简" pitchFamily="49" charset="-122"/>
              </a:rPr>
              <a:t>i-1</a:t>
            </a:r>
            <a:r>
              <a:rPr lang="en-US" altLang="zh-CN" sz="2800" dirty="0">
                <a:latin typeface="微软雅黑" pitchFamily="34" charset="-122"/>
                <a:ea typeface="微软雅黑" pitchFamily="34" charset="-122"/>
                <a:cs typeface="经典粗黑简" pitchFamily="49" charset="-122"/>
              </a:rPr>
              <a:t>, </a:t>
            </a:r>
            <a:r>
              <a:rPr lang="en-US" altLang="zh-CN" sz="2800" dirty="0" err="1">
                <a:latin typeface="微软雅黑" pitchFamily="34" charset="-122"/>
                <a:ea typeface="微软雅黑" pitchFamily="34" charset="-122"/>
                <a:cs typeface="经典粗黑简" pitchFamily="49" charset="-122"/>
              </a:rPr>
              <a:t>a</a:t>
            </a:r>
            <a:r>
              <a:rPr lang="en-US" altLang="zh-CN" sz="2800" baseline="-25000" dirty="0" err="1">
                <a:latin typeface="微软雅黑" pitchFamily="34" charset="-122"/>
                <a:ea typeface="微软雅黑" pitchFamily="34" charset="-122"/>
                <a:cs typeface="经典粗黑简" pitchFamily="49" charset="-122"/>
              </a:rPr>
              <a:t>i</a:t>
            </a:r>
            <a:r>
              <a:rPr lang="en-US" altLang="zh-CN" sz="2800" dirty="0">
                <a:latin typeface="微软雅黑" pitchFamily="34" charset="-122"/>
                <a:ea typeface="微软雅黑" pitchFamily="34" charset="-122"/>
                <a:cs typeface="经典粗黑简" pitchFamily="49" charset="-122"/>
              </a:rPr>
              <a:t>, a</a:t>
            </a:r>
            <a:r>
              <a:rPr lang="en-US" altLang="zh-CN" sz="2800" baseline="-25000" dirty="0">
                <a:latin typeface="微软雅黑" pitchFamily="34" charset="-122"/>
                <a:ea typeface="微软雅黑" pitchFamily="34" charset="-122"/>
                <a:cs typeface="经典粗黑简" pitchFamily="49" charset="-122"/>
              </a:rPr>
              <a:t>i＋1</a:t>
            </a:r>
            <a:r>
              <a:rPr lang="en-US" altLang="zh-CN" sz="2800" dirty="0">
                <a:latin typeface="微软雅黑" pitchFamily="34" charset="-122"/>
                <a:ea typeface="微软雅黑" pitchFamily="34" charset="-122"/>
                <a:cs typeface="经典粗黑简" pitchFamily="49" charset="-122"/>
              </a:rPr>
              <a:t>, …, a</a:t>
            </a:r>
            <a:r>
              <a:rPr lang="en-US" altLang="zh-CN" sz="2800" baseline="-25000" dirty="0">
                <a:latin typeface="微软雅黑" pitchFamily="34" charset="-122"/>
                <a:ea typeface="微软雅黑" pitchFamily="34" charset="-122"/>
                <a:cs typeface="经典粗黑简" pitchFamily="49" charset="-122"/>
              </a:rPr>
              <a:t>n</a:t>
            </a:r>
            <a:r>
              <a:rPr lang="en-US" altLang="zh-CN" sz="2800" dirty="0">
                <a:latin typeface="微软雅黑" pitchFamily="34" charset="-122"/>
                <a:ea typeface="微软雅黑" pitchFamily="34" charset="-122"/>
                <a:cs typeface="经典粗黑简" pitchFamily="49" charset="-122"/>
              </a:rPr>
              <a:t>)</a:t>
            </a:r>
          </a:p>
        </p:txBody>
      </p:sp>
      <p:sp>
        <p:nvSpPr>
          <p:cNvPr id="93" name="矩形 92"/>
          <p:cNvSpPr/>
          <p:nvPr/>
        </p:nvSpPr>
        <p:spPr>
          <a:xfrm>
            <a:off x="496954" y="2080166"/>
            <a:ext cx="1415772"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线性表：</a:t>
            </a:r>
          </a:p>
        </p:txBody>
      </p:sp>
      <p:grpSp>
        <p:nvGrpSpPr>
          <p:cNvPr id="95" name="组合 94"/>
          <p:cNvGrpSpPr/>
          <p:nvPr/>
        </p:nvGrpSpPr>
        <p:grpSpPr>
          <a:xfrm>
            <a:off x="2438174" y="2577902"/>
            <a:ext cx="533400" cy="984427"/>
            <a:chOff x="3344047" y="4287041"/>
            <a:chExt cx="533400" cy="1312569"/>
          </a:xfrm>
        </p:grpSpPr>
        <p:sp>
          <p:nvSpPr>
            <p:cNvPr id="97"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p:cNvGrpSpPr/>
          <p:nvPr/>
        </p:nvGrpSpPr>
        <p:grpSpPr>
          <a:xfrm>
            <a:off x="3497022" y="2577902"/>
            <a:ext cx="533400" cy="984427"/>
            <a:chOff x="3344047" y="4287041"/>
            <a:chExt cx="533400" cy="1312569"/>
          </a:xfrm>
        </p:grpSpPr>
        <p:sp>
          <p:nvSpPr>
            <p:cNvPr id="101"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p:cNvGrpSpPr/>
          <p:nvPr/>
        </p:nvGrpSpPr>
        <p:grpSpPr>
          <a:xfrm>
            <a:off x="4642960" y="2577902"/>
            <a:ext cx="675622" cy="984427"/>
            <a:chOff x="3344047" y="4287041"/>
            <a:chExt cx="533400" cy="1312569"/>
          </a:xfrm>
        </p:grpSpPr>
        <p:sp>
          <p:nvSpPr>
            <p:cNvPr id="105"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p:cNvGrpSpPr/>
          <p:nvPr/>
        </p:nvGrpSpPr>
        <p:grpSpPr>
          <a:xfrm>
            <a:off x="8191039" y="2577901"/>
            <a:ext cx="533400" cy="1076760"/>
            <a:chOff x="9096957" y="4287040"/>
            <a:chExt cx="533400" cy="1435680"/>
          </a:xfrm>
        </p:grpSpPr>
        <p:grpSp>
          <p:nvGrpSpPr>
            <p:cNvPr id="109" name="组合 108"/>
            <p:cNvGrpSpPr/>
            <p:nvPr/>
          </p:nvGrpSpPr>
          <p:grpSpPr>
            <a:xfrm>
              <a:off x="9096957" y="4287040"/>
              <a:ext cx="533400" cy="1312569"/>
              <a:chOff x="3344047" y="4287041"/>
              <a:chExt cx="533400" cy="1312569"/>
            </a:xfrm>
          </p:grpSpPr>
          <p:sp>
            <p:nvSpPr>
              <p:cNvPr id="111"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p:cNvGrpSpPr/>
          <p:nvPr/>
        </p:nvGrpSpPr>
        <p:grpSpPr>
          <a:xfrm>
            <a:off x="5844030" y="2577902"/>
            <a:ext cx="533400" cy="984427"/>
            <a:chOff x="3344047" y="4287041"/>
            <a:chExt cx="533400" cy="1312569"/>
          </a:xfrm>
        </p:grpSpPr>
        <p:sp>
          <p:nvSpPr>
            <p:cNvPr id="115"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组合 117"/>
          <p:cNvGrpSpPr/>
          <p:nvPr/>
        </p:nvGrpSpPr>
        <p:grpSpPr>
          <a:xfrm>
            <a:off x="6902878" y="2577902"/>
            <a:ext cx="675622" cy="984427"/>
            <a:chOff x="3344047" y="4287041"/>
            <a:chExt cx="533400" cy="1312569"/>
          </a:xfrm>
        </p:grpSpPr>
        <p:sp>
          <p:nvSpPr>
            <p:cNvPr id="119"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p:cNvGrpSpPr/>
          <p:nvPr/>
        </p:nvGrpSpPr>
        <p:grpSpPr>
          <a:xfrm>
            <a:off x="1379326" y="2577902"/>
            <a:ext cx="533400" cy="984427"/>
            <a:chOff x="2459424" y="4263014"/>
            <a:chExt cx="533400" cy="1312569"/>
          </a:xfrm>
        </p:grpSpPr>
        <p:grpSp>
          <p:nvGrpSpPr>
            <p:cNvPr id="123" name="组合 122"/>
            <p:cNvGrpSpPr/>
            <p:nvPr/>
          </p:nvGrpSpPr>
          <p:grpSpPr>
            <a:xfrm>
              <a:off x="2459424" y="4263014"/>
              <a:ext cx="533400" cy="1312569"/>
              <a:chOff x="3344047" y="4287041"/>
              <a:chExt cx="533400" cy="1312569"/>
            </a:xfrm>
          </p:grpSpPr>
          <p:sp>
            <p:nvSpPr>
              <p:cNvPr id="125" name="Rectangle 5"/>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p:cNvSpPr>
            <a:spLocks noChangeShapeType="1"/>
          </p:cNvSpPr>
          <p:nvPr/>
        </p:nvSpPr>
        <p:spPr bwMode="auto">
          <a:xfrm flipH="1">
            <a:off x="1923271" y="274846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p:cNvSpPr>
            <a:spLocks noChangeShapeType="1"/>
          </p:cNvSpPr>
          <p:nvPr/>
        </p:nvSpPr>
        <p:spPr bwMode="auto">
          <a:xfrm>
            <a:off x="1798603" y="3423829"/>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p:cNvSpPr>
            <a:spLocks noChangeShapeType="1"/>
          </p:cNvSpPr>
          <p:nvPr/>
        </p:nvSpPr>
        <p:spPr bwMode="auto">
          <a:xfrm>
            <a:off x="2857452" y="3423829"/>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p:cNvSpPr>
            <a:spLocks noChangeShapeType="1"/>
          </p:cNvSpPr>
          <p:nvPr/>
        </p:nvSpPr>
        <p:spPr bwMode="auto">
          <a:xfrm>
            <a:off x="3979486" y="3423829"/>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 name="Line 29"/>
          <p:cNvSpPr>
            <a:spLocks noChangeShapeType="1"/>
          </p:cNvSpPr>
          <p:nvPr/>
        </p:nvSpPr>
        <p:spPr bwMode="auto">
          <a:xfrm>
            <a:off x="5204460" y="3423829"/>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p:cNvSpPr>
            <a:spLocks noChangeShapeType="1"/>
          </p:cNvSpPr>
          <p:nvPr/>
        </p:nvSpPr>
        <p:spPr bwMode="auto">
          <a:xfrm>
            <a:off x="6263308" y="3423829"/>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p:cNvSpPr>
            <a:spLocks noChangeShapeType="1"/>
          </p:cNvSpPr>
          <p:nvPr/>
        </p:nvSpPr>
        <p:spPr bwMode="auto">
          <a:xfrm>
            <a:off x="7432087" y="3423829"/>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p:cNvSpPr>
            <a:spLocks noChangeShapeType="1"/>
          </p:cNvSpPr>
          <p:nvPr/>
        </p:nvSpPr>
        <p:spPr bwMode="auto">
          <a:xfrm flipH="1">
            <a:off x="7987908" y="2748461"/>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29"/>
          <p:cNvSpPr>
            <a:spLocks noChangeShapeType="1"/>
          </p:cNvSpPr>
          <p:nvPr/>
        </p:nvSpPr>
        <p:spPr bwMode="auto">
          <a:xfrm flipH="1">
            <a:off x="6377431" y="274846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7" name="Line 29"/>
          <p:cNvSpPr>
            <a:spLocks noChangeShapeType="1"/>
          </p:cNvSpPr>
          <p:nvPr/>
        </p:nvSpPr>
        <p:spPr bwMode="auto">
          <a:xfrm flipH="1">
            <a:off x="5318583" y="274846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p:cNvSpPr>
            <a:spLocks noChangeShapeType="1"/>
          </p:cNvSpPr>
          <p:nvPr/>
        </p:nvSpPr>
        <p:spPr bwMode="auto">
          <a:xfrm flipH="1">
            <a:off x="4440227" y="2748461"/>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p:cNvSpPr>
            <a:spLocks noChangeShapeType="1"/>
          </p:cNvSpPr>
          <p:nvPr/>
        </p:nvSpPr>
        <p:spPr bwMode="auto">
          <a:xfrm flipH="1">
            <a:off x="2971575" y="274846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p:cNvSpPr>
            <a:spLocks noChangeShapeType="1"/>
          </p:cNvSpPr>
          <p:nvPr/>
        </p:nvSpPr>
        <p:spPr bwMode="auto">
          <a:xfrm>
            <a:off x="4440227" y="3423829"/>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p:cNvSpPr>
            <a:spLocks noChangeShapeType="1"/>
          </p:cNvSpPr>
          <p:nvPr/>
        </p:nvSpPr>
        <p:spPr bwMode="auto">
          <a:xfrm>
            <a:off x="7987909" y="3423829"/>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p:cNvSpPr>
            <a:spLocks noChangeShapeType="1"/>
          </p:cNvSpPr>
          <p:nvPr/>
        </p:nvSpPr>
        <p:spPr bwMode="auto">
          <a:xfrm flipH="1">
            <a:off x="7578500" y="2748461"/>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p:cNvSpPr>
            <a:spLocks noChangeShapeType="1"/>
          </p:cNvSpPr>
          <p:nvPr/>
        </p:nvSpPr>
        <p:spPr bwMode="auto">
          <a:xfrm flipH="1">
            <a:off x="4043808" y="2748461"/>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 name="矩形 69"/>
          <p:cNvSpPr/>
          <p:nvPr/>
        </p:nvSpPr>
        <p:spPr>
          <a:xfrm>
            <a:off x="1501428" y="3681897"/>
            <a:ext cx="2509020" cy="369332"/>
          </a:xfrm>
          <a:prstGeom prst="rect">
            <a:avLst/>
          </a:prstGeom>
        </p:spPr>
        <p:txBody>
          <a:bodyPr wrap="none">
            <a:spAutoFit/>
          </a:bodyPr>
          <a:lstStyle/>
          <a:p>
            <a:r>
              <a:rPr lang="zh-CN" altLang="en-US" b="1" dirty="0"/>
              <a:t>双向链表的结点结构：</a:t>
            </a:r>
            <a:endParaRPr lang="zh-CN" altLang="en-US" dirty="0"/>
          </a:p>
        </p:txBody>
      </p:sp>
      <p:grpSp>
        <p:nvGrpSpPr>
          <p:cNvPr id="71" name="Group 47"/>
          <p:cNvGrpSpPr>
            <a:grpSpLocks/>
          </p:cNvGrpSpPr>
          <p:nvPr/>
        </p:nvGrpSpPr>
        <p:grpSpPr bwMode="auto">
          <a:xfrm>
            <a:off x="2248162" y="4087643"/>
            <a:ext cx="2372888" cy="342900"/>
            <a:chOff x="1008" y="3120"/>
            <a:chExt cx="1344" cy="288"/>
          </a:xfrm>
        </p:grpSpPr>
        <p:sp>
          <p:nvSpPr>
            <p:cNvPr id="72" name="Rectangle 39"/>
            <p:cNvSpPr>
              <a:spLocks noChangeArrowheads="1"/>
            </p:cNvSpPr>
            <p:nvPr/>
          </p:nvSpPr>
          <p:spPr bwMode="auto">
            <a:xfrm>
              <a:off x="1440" y="3120"/>
              <a:ext cx="480" cy="288"/>
            </a:xfrm>
            <a:prstGeom prst="rect">
              <a:avLst/>
            </a:prstGeom>
            <a:noFill/>
            <a:ln w="9525">
              <a:solidFill>
                <a:schemeClr val="tx1"/>
              </a:solidFill>
              <a:miter lim="800000"/>
              <a:headEnd/>
              <a:tailEnd/>
            </a:ln>
          </p:spPr>
          <p:txBody>
            <a:bodyPr wrap="none" anchor="ctr"/>
            <a:lstStyle/>
            <a:p>
              <a:pPr>
                <a:spcBef>
                  <a:spcPct val="20000"/>
                </a:spcBef>
              </a:pPr>
              <a:r>
                <a:rPr lang="en-US" altLang="zh-CN" sz="2400" dirty="0">
                  <a:latin typeface="Times New Roman" pitchFamily="18" charset="0"/>
                  <a:ea typeface="宋体" pitchFamily="2" charset="-122"/>
                </a:rPr>
                <a:t>data</a:t>
              </a:r>
            </a:p>
          </p:txBody>
        </p:sp>
        <p:sp>
          <p:nvSpPr>
            <p:cNvPr id="73" name="Rectangle 42"/>
            <p:cNvSpPr>
              <a:spLocks noChangeArrowheads="1"/>
            </p:cNvSpPr>
            <p:nvPr/>
          </p:nvSpPr>
          <p:spPr bwMode="auto">
            <a:xfrm>
              <a:off x="1920" y="3120"/>
              <a:ext cx="432" cy="288"/>
            </a:xfrm>
            <a:prstGeom prst="rect">
              <a:avLst/>
            </a:prstGeom>
            <a:noFill/>
            <a:ln w="9525">
              <a:solidFill>
                <a:schemeClr val="tx1"/>
              </a:solidFill>
              <a:miter lim="800000"/>
              <a:headEnd/>
              <a:tailEnd/>
            </a:ln>
          </p:spPr>
          <p:txBody>
            <a:bodyPr wrap="none" anchor="ctr"/>
            <a:lstStyle/>
            <a:p>
              <a:pPr>
                <a:spcBef>
                  <a:spcPct val="20000"/>
                </a:spcBef>
              </a:pPr>
              <a:r>
                <a:rPr lang="en-US" altLang="zh-CN" sz="2400" dirty="0">
                  <a:latin typeface="Times New Roman" pitchFamily="18" charset="0"/>
                  <a:ea typeface="宋体" pitchFamily="2" charset="-122"/>
                </a:rPr>
                <a:t>next</a:t>
              </a:r>
            </a:p>
          </p:txBody>
        </p:sp>
        <p:sp>
          <p:nvSpPr>
            <p:cNvPr id="74" name="Rectangle 43"/>
            <p:cNvSpPr>
              <a:spLocks noChangeArrowheads="1"/>
            </p:cNvSpPr>
            <p:nvPr/>
          </p:nvSpPr>
          <p:spPr bwMode="auto">
            <a:xfrm>
              <a:off x="1008" y="3120"/>
              <a:ext cx="432" cy="288"/>
            </a:xfrm>
            <a:prstGeom prst="rect">
              <a:avLst/>
            </a:prstGeom>
            <a:noFill/>
            <a:ln w="9525">
              <a:solidFill>
                <a:schemeClr val="tx1"/>
              </a:solidFill>
              <a:miter lim="800000"/>
              <a:headEnd/>
              <a:tailEnd/>
            </a:ln>
          </p:spPr>
          <p:txBody>
            <a:bodyPr wrap="none" anchor="ctr"/>
            <a:lstStyle/>
            <a:p>
              <a:pPr>
                <a:spcBef>
                  <a:spcPct val="20000"/>
                </a:spcBef>
              </a:pPr>
              <a:r>
                <a:rPr lang="en-US" altLang="zh-CN" sz="2400" dirty="0">
                  <a:latin typeface="Times New Roman" pitchFamily="18" charset="0"/>
                  <a:ea typeface="宋体" pitchFamily="2" charset="-122"/>
                </a:rPr>
                <a:t>prior</a:t>
              </a:r>
            </a:p>
          </p:txBody>
        </p:sp>
      </p:grpSp>
      <p:sp>
        <p:nvSpPr>
          <p:cNvPr id="75" name="矩形 74"/>
          <p:cNvSpPr/>
          <p:nvPr/>
        </p:nvSpPr>
        <p:spPr>
          <a:xfrm>
            <a:off x="493821" y="1446757"/>
            <a:ext cx="8470667" cy="707886"/>
          </a:xfrm>
          <a:prstGeom prst="rect">
            <a:avLst/>
          </a:prstGeom>
        </p:spPr>
        <p:txBody>
          <a:bodyPr wrap="square">
            <a:spAutoFit/>
          </a:bodyPr>
          <a:lstStyle/>
          <a:p>
            <a:r>
              <a:rPr lang="zh-CN" altLang="en-US" sz="2000" dirty="0">
                <a:solidFill>
                  <a:srgbClr val="FF0000"/>
                </a:solidFill>
                <a:latin typeface="微软雅黑" pitchFamily="34" charset="-122"/>
                <a:ea typeface="微软雅黑" pitchFamily="34" charset="-122"/>
                <a:cs typeface="经典粗黑简" pitchFamily="49" charset="-122"/>
              </a:rPr>
              <a:t>双向链表</a:t>
            </a:r>
            <a:r>
              <a:rPr lang="en-US" altLang="zh-CN" sz="2000" dirty="0">
                <a:solidFill>
                  <a:srgbClr val="FF0000"/>
                </a:solidFill>
                <a:latin typeface="微软雅黑" pitchFamily="34" charset="-122"/>
                <a:ea typeface="微软雅黑" pitchFamily="34" charset="-122"/>
                <a:cs typeface="经典粗黑简" pitchFamily="49" charset="-122"/>
              </a:rPr>
              <a:t>(Double Linked List)</a:t>
            </a:r>
            <a:r>
              <a:rPr lang="zh-CN" altLang="en-US" sz="2000" dirty="0">
                <a:latin typeface="微软雅黑" pitchFamily="34" charset="-122"/>
                <a:ea typeface="微软雅黑" pitchFamily="34" charset="-122"/>
                <a:cs typeface="经典粗黑简" pitchFamily="49" charset="-122"/>
              </a:rPr>
              <a:t>是线性链表结点中有两个指针域的链式存储结构，其中一个指针指向结点的直接后继，另一个指针指结点的直接前驱。</a:t>
            </a:r>
          </a:p>
        </p:txBody>
      </p:sp>
      <p:cxnSp>
        <p:nvCxnSpPr>
          <p:cNvPr id="66" name="直接连接符 65"/>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7" name="矩形 66"/>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F7317FC4-CE5D-AA02-7B42-B41AB49A4614}"/>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Tree>
    <p:extLst>
      <p:ext uri="{BB962C8B-B14F-4D97-AF65-F5344CB8AC3E}">
        <p14:creationId xmlns:p14="http://schemas.microsoft.com/office/powerpoint/2010/main" val="26655266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25"/>
          <p:cNvSpPr>
            <a:spLocks noChangeArrowheads="1"/>
          </p:cNvSpPr>
          <p:nvPr/>
        </p:nvSpPr>
        <p:spPr bwMode="auto">
          <a:xfrm>
            <a:off x="7715864" y="281360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p:cNvSpPr>
            <a:spLocks noChangeArrowheads="1"/>
          </p:cNvSpPr>
          <p:nvPr/>
        </p:nvSpPr>
        <p:spPr bwMode="auto">
          <a:xfrm>
            <a:off x="4109958" y="2802721"/>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p:cNvSpPr>
            <a:spLocks noChangeShapeType="1"/>
          </p:cNvSpPr>
          <p:nvPr/>
        </p:nvSpPr>
        <p:spPr bwMode="auto">
          <a:xfrm>
            <a:off x="727341" y="2646699"/>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p:cNvSpPr>
            <a:spLocks noChangeArrowheads="1"/>
          </p:cNvSpPr>
          <p:nvPr/>
        </p:nvSpPr>
        <p:spPr bwMode="auto">
          <a:xfrm>
            <a:off x="461696" y="244879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60" name="矩形 59"/>
          <p:cNvSpPr/>
          <p:nvPr/>
        </p:nvSpPr>
        <p:spPr>
          <a:xfrm>
            <a:off x="493821" y="1446757"/>
            <a:ext cx="8470667" cy="646331"/>
          </a:xfrm>
          <a:prstGeom prst="rect">
            <a:avLst/>
          </a:prstGeom>
        </p:spPr>
        <p:txBody>
          <a:bodyPr wrap="square">
            <a:spAutoFit/>
          </a:bodyPr>
          <a:lstStyle/>
          <a:p>
            <a:r>
              <a:rPr lang="zh-CN" altLang="en-US" dirty="0">
                <a:solidFill>
                  <a:srgbClr val="FF0000"/>
                </a:solidFill>
                <a:latin typeface="微软雅黑" pitchFamily="34" charset="-122"/>
                <a:ea typeface="微软雅黑" pitchFamily="34" charset="-122"/>
                <a:cs typeface="经典粗黑简" pitchFamily="49" charset="-122"/>
              </a:rPr>
              <a:t>双向链表</a:t>
            </a:r>
            <a:r>
              <a:rPr lang="en-US" altLang="zh-CN" dirty="0">
                <a:solidFill>
                  <a:srgbClr val="FF0000"/>
                </a:solidFill>
                <a:latin typeface="微软雅黑" pitchFamily="34" charset="-122"/>
                <a:ea typeface="微软雅黑" pitchFamily="34" charset="-122"/>
                <a:cs typeface="经典粗黑简" pitchFamily="49" charset="-122"/>
              </a:rPr>
              <a:t>(Double Linked List)</a:t>
            </a:r>
            <a:r>
              <a:rPr lang="zh-CN" altLang="en-US" dirty="0">
                <a:latin typeface="微软雅黑" pitchFamily="34" charset="-122"/>
                <a:ea typeface="微软雅黑" pitchFamily="34" charset="-122"/>
                <a:cs typeface="经典粗黑简" pitchFamily="49" charset="-122"/>
              </a:rPr>
              <a:t>是线性链表结点中有两个指针域的链式存储结构，其中一个指针指向结点的直接后继，另一个指针指结点的直接前驱。</a:t>
            </a:r>
          </a:p>
        </p:txBody>
      </p:sp>
      <p:sp>
        <p:nvSpPr>
          <p:cNvPr id="78" name="矩形 77"/>
          <p:cNvSpPr/>
          <p:nvPr/>
        </p:nvSpPr>
        <p:spPr>
          <a:xfrm>
            <a:off x="1158454" y="1991257"/>
            <a:ext cx="6154420" cy="480131"/>
          </a:xfrm>
          <a:prstGeom prst="rect">
            <a:avLst/>
          </a:prstGeom>
        </p:spPr>
        <p:txBody>
          <a:bodyPr wrap="square">
            <a:spAutoFit/>
          </a:bodyPr>
          <a:lstStyle/>
          <a:p>
            <a:pPr lvl="1">
              <a:lnSpc>
                <a:spcPct val="90000"/>
              </a:lnSpc>
            </a:pPr>
            <a:r>
              <a:rPr lang="zh-CN" altLang="en-US" sz="2800" dirty="0">
                <a:latin typeface="微软雅黑" pitchFamily="34" charset="-122"/>
                <a:ea typeface="微软雅黑" pitchFamily="34" charset="-122"/>
                <a:cs typeface="经典粗黑简" pitchFamily="49" charset="-122"/>
              </a:rPr>
              <a:t>(</a:t>
            </a:r>
            <a:r>
              <a:rPr lang="en-US" altLang="zh-CN" sz="2800" dirty="0">
                <a:latin typeface="微软雅黑" pitchFamily="34" charset="-122"/>
                <a:ea typeface="微软雅黑" pitchFamily="34" charset="-122"/>
                <a:cs typeface="经典粗黑简" pitchFamily="49" charset="-122"/>
              </a:rPr>
              <a:t>a</a:t>
            </a:r>
            <a:r>
              <a:rPr lang="en-US" altLang="zh-CN" sz="2800" baseline="-25000" dirty="0">
                <a:latin typeface="微软雅黑" pitchFamily="34" charset="-122"/>
                <a:ea typeface="微软雅黑" pitchFamily="34" charset="-122"/>
                <a:cs typeface="经典粗黑简" pitchFamily="49" charset="-122"/>
              </a:rPr>
              <a:t>1</a:t>
            </a:r>
            <a:r>
              <a:rPr lang="en-US" altLang="zh-CN" sz="2800" dirty="0">
                <a:latin typeface="微软雅黑" pitchFamily="34" charset="-122"/>
                <a:ea typeface="微软雅黑" pitchFamily="34" charset="-122"/>
                <a:cs typeface="经典粗黑简" pitchFamily="49" charset="-122"/>
              </a:rPr>
              <a:t>, a</a:t>
            </a:r>
            <a:r>
              <a:rPr lang="en-US" altLang="zh-CN" sz="2800" baseline="-25000" dirty="0">
                <a:latin typeface="微软雅黑" pitchFamily="34" charset="-122"/>
                <a:ea typeface="微软雅黑" pitchFamily="34" charset="-122"/>
                <a:cs typeface="经典粗黑简" pitchFamily="49" charset="-122"/>
              </a:rPr>
              <a:t>2</a:t>
            </a:r>
            <a:r>
              <a:rPr lang="en-US" altLang="zh-CN" sz="2800" dirty="0">
                <a:latin typeface="微软雅黑" pitchFamily="34" charset="-122"/>
                <a:ea typeface="微软雅黑" pitchFamily="34" charset="-122"/>
                <a:cs typeface="经典粗黑简" pitchFamily="49" charset="-122"/>
              </a:rPr>
              <a:t>, …, a</a:t>
            </a:r>
            <a:r>
              <a:rPr lang="en-US" altLang="zh-CN" sz="2800" baseline="-25000" dirty="0">
                <a:latin typeface="微软雅黑" pitchFamily="34" charset="-122"/>
                <a:ea typeface="微软雅黑" pitchFamily="34" charset="-122"/>
                <a:cs typeface="经典粗黑简" pitchFamily="49" charset="-122"/>
              </a:rPr>
              <a:t>i-1</a:t>
            </a:r>
            <a:r>
              <a:rPr lang="en-US" altLang="zh-CN" sz="2800" dirty="0">
                <a:latin typeface="微软雅黑" pitchFamily="34" charset="-122"/>
                <a:ea typeface="微软雅黑" pitchFamily="34" charset="-122"/>
                <a:cs typeface="经典粗黑简" pitchFamily="49" charset="-122"/>
              </a:rPr>
              <a:t>, </a:t>
            </a:r>
            <a:r>
              <a:rPr lang="en-US" altLang="zh-CN" sz="2800" dirty="0" err="1">
                <a:latin typeface="微软雅黑" pitchFamily="34" charset="-122"/>
                <a:ea typeface="微软雅黑" pitchFamily="34" charset="-122"/>
                <a:cs typeface="经典粗黑简" pitchFamily="49" charset="-122"/>
              </a:rPr>
              <a:t>a</a:t>
            </a:r>
            <a:r>
              <a:rPr lang="en-US" altLang="zh-CN" sz="2800" baseline="-25000" dirty="0" err="1">
                <a:latin typeface="微软雅黑" pitchFamily="34" charset="-122"/>
                <a:ea typeface="微软雅黑" pitchFamily="34" charset="-122"/>
                <a:cs typeface="经典粗黑简" pitchFamily="49" charset="-122"/>
              </a:rPr>
              <a:t>i</a:t>
            </a:r>
            <a:r>
              <a:rPr lang="en-US" altLang="zh-CN" sz="2800" dirty="0">
                <a:latin typeface="微软雅黑" pitchFamily="34" charset="-122"/>
                <a:ea typeface="微软雅黑" pitchFamily="34" charset="-122"/>
                <a:cs typeface="经典粗黑简" pitchFamily="49" charset="-122"/>
              </a:rPr>
              <a:t>, a</a:t>
            </a:r>
            <a:r>
              <a:rPr lang="en-US" altLang="zh-CN" sz="2800" baseline="-25000" dirty="0">
                <a:latin typeface="微软雅黑" pitchFamily="34" charset="-122"/>
                <a:ea typeface="微软雅黑" pitchFamily="34" charset="-122"/>
                <a:cs typeface="经典粗黑简" pitchFamily="49" charset="-122"/>
              </a:rPr>
              <a:t>i＋1</a:t>
            </a:r>
            <a:r>
              <a:rPr lang="en-US" altLang="zh-CN" sz="2800" dirty="0">
                <a:latin typeface="微软雅黑" pitchFamily="34" charset="-122"/>
                <a:ea typeface="微软雅黑" pitchFamily="34" charset="-122"/>
                <a:cs typeface="经典粗黑简" pitchFamily="49" charset="-122"/>
              </a:rPr>
              <a:t>, …, a</a:t>
            </a:r>
            <a:r>
              <a:rPr lang="en-US" altLang="zh-CN" sz="2800" baseline="-25000" dirty="0">
                <a:latin typeface="微软雅黑" pitchFamily="34" charset="-122"/>
                <a:ea typeface="微软雅黑" pitchFamily="34" charset="-122"/>
                <a:cs typeface="经典粗黑简" pitchFamily="49" charset="-122"/>
              </a:rPr>
              <a:t>n</a:t>
            </a:r>
            <a:r>
              <a:rPr lang="en-US" altLang="zh-CN" sz="2800" dirty="0">
                <a:latin typeface="微软雅黑" pitchFamily="34" charset="-122"/>
                <a:ea typeface="微软雅黑" pitchFamily="34" charset="-122"/>
                <a:cs typeface="经典粗黑简" pitchFamily="49" charset="-122"/>
              </a:rPr>
              <a:t>)</a:t>
            </a:r>
          </a:p>
        </p:txBody>
      </p:sp>
      <p:sp>
        <p:nvSpPr>
          <p:cNvPr id="93" name="矩形 92"/>
          <p:cNvSpPr/>
          <p:nvPr/>
        </p:nvSpPr>
        <p:spPr>
          <a:xfrm>
            <a:off x="496954" y="1972154"/>
            <a:ext cx="1415772"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线性表：</a:t>
            </a:r>
          </a:p>
        </p:txBody>
      </p:sp>
      <p:grpSp>
        <p:nvGrpSpPr>
          <p:cNvPr id="95" name="组合 94"/>
          <p:cNvGrpSpPr/>
          <p:nvPr/>
        </p:nvGrpSpPr>
        <p:grpSpPr>
          <a:xfrm>
            <a:off x="2438174" y="2469890"/>
            <a:ext cx="533400" cy="984427"/>
            <a:chOff x="3344047" y="4287041"/>
            <a:chExt cx="533400" cy="1312569"/>
          </a:xfrm>
        </p:grpSpPr>
        <p:sp>
          <p:nvSpPr>
            <p:cNvPr id="97"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p:cNvGrpSpPr/>
          <p:nvPr/>
        </p:nvGrpSpPr>
        <p:grpSpPr>
          <a:xfrm>
            <a:off x="3497022" y="2469890"/>
            <a:ext cx="533400" cy="984427"/>
            <a:chOff x="3344047" y="4287041"/>
            <a:chExt cx="533400" cy="1312569"/>
          </a:xfrm>
        </p:grpSpPr>
        <p:sp>
          <p:nvSpPr>
            <p:cNvPr id="101"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p:cNvGrpSpPr/>
          <p:nvPr/>
        </p:nvGrpSpPr>
        <p:grpSpPr>
          <a:xfrm>
            <a:off x="4642960" y="2469890"/>
            <a:ext cx="675622" cy="984427"/>
            <a:chOff x="3344047" y="4287041"/>
            <a:chExt cx="533400" cy="1312569"/>
          </a:xfrm>
        </p:grpSpPr>
        <p:sp>
          <p:nvSpPr>
            <p:cNvPr id="105"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p:cNvGrpSpPr/>
          <p:nvPr/>
        </p:nvGrpSpPr>
        <p:grpSpPr>
          <a:xfrm>
            <a:off x="8191039" y="2469889"/>
            <a:ext cx="533400" cy="1076760"/>
            <a:chOff x="9096957" y="4287040"/>
            <a:chExt cx="533400" cy="1435680"/>
          </a:xfrm>
        </p:grpSpPr>
        <p:grpSp>
          <p:nvGrpSpPr>
            <p:cNvPr id="109" name="组合 108"/>
            <p:cNvGrpSpPr/>
            <p:nvPr/>
          </p:nvGrpSpPr>
          <p:grpSpPr>
            <a:xfrm>
              <a:off x="9096957" y="4287040"/>
              <a:ext cx="533400" cy="1312569"/>
              <a:chOff x="3344047" y="4287041"/>
              <a:chExt cx="533400" cy="1312569"/>
            </a:xfrm>
          </p:grpSpPr>
          <p:sp>
            <p:nvSpPr>
              <p:cNvPr id="111"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p:cNvGrpSpPr/>
          <p:nvPr/>
        </p:nvGrpSpPr>
        <p:grpSpPr>
          <a:xfrm>
            <a:off x="5844030" y="2469890"/>
            <a:ext cx="533400" cy="984427"/>
            <a:chOff x="3344047" y="4287041"/>
            <a:chExt cx="533400" cy="1312569"/>
          </a:xfrm>
        </p:grpSpPr>
        <p:sp>
          <p:nvSpPr>
            <p:cNvPr id="115"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组合 117"/>
          <p:cNvGrpSpPr/>
          <p:nvPr/>
        </p:nvGrpSpPr>
        <p:grpSpPr>
          <a:xfrm>
            <a:off x="6902878" y="2469890"/>
            <a:ext cx="675622" cy="984427"/>
            <a:chOff x="3344047" y="4287041"/>
            <a:chExt cx="533400" cy="1312569"/>
          </a:xfrm>
        </p:grpSpPr>
        <p:sp>
          <p:nvSpPr>
            <p:cNvPr id="119"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p:cNvGrpSpPr/>
          <p:nvPr/>
        </p:nvGrpSpPr>
        <p:grpSpPr>
          <a:xfrm>
            <a:off x="1379326" y="2469890"/>
            <a:ext cx="533400" cy="984427"/>
            <a:chOff x="2459424" y="4263014"/>
            <a:chExt cx="533400" cy="1312569"/>
          </a:xfrm>
        </p:grpSpPr>
        <p:grpSp>
          <p:nvGrpSpPr>
            <p:cNvPr id="123" name="组合 122"/>
            <p:cNvGrpSpPr/>
            <p:nvPr/>
          </p:nvGrpSpPr>
          <p:grpSpPr>
            <a:xfrm>
              <a:off x="2459424" y="4263014"/>
              <a:ext cx="533400" cy="1312569"/>
              <a:chOff x="3344047" y="4287041"/>
              <a:chExt cx="533400" cy="1312569"/>
            </a:xfrm>
          </p:grpSpPr>
          <p:sp>
            <p:nvSpPr>
              <p:cNvPr id="125" name="Rectangle 5"/>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p:cNvSpPr>
            <a:spLocks noChangeShapeType="1"/>
          </p:cNvSpPr>
          <p:nvPr/>
        </p:nvSpPr>
        <p:spPr bwMode="auto">
          <a:xfrm flipH="1">
            <a:off x="1923271" y="2640449"/>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p:cNvSpPr>
            <a:spLocks noChangeShapeType="1"/>
          </p:cNvSpPr>
          <p:nvPr/>
        </p:nvSpPr>
        <p:spPr bwMode="auto">
          <a:xfrm>
            <a:off x="1798603" y="3315817"/>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p:cNvSpPr>
            <a:spLocks noChangeShapeType="1"/>
          </p:cNvSpPr>
          <p:nvPr/>
        </p:nvSpPr>
        <p:spPr bwMode="auto">
          <a:xfrm>
            <a:off x="2857452" y="3315817"/>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p:cNvSpPr>
            <a:spLocks noChangeShapeType="1"/>
          </p:cNvSpPr>
          <p:nvPr/>
        </p:nvSpPr>
        <p:spPr bwMode="auto">
          <a:xfrm>
            <a:off x="3979486" y="3315817"/>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 name="Line 29"/>
          <p:cNvSpPr>
            <a:spLocks noChangeShapeType="1"/>
          </p:cNvSpPr>
          <p:nvPr/>
        </p:nvSpPr>
        <p:spPr bwMode="auto">
          <a:xfrm>
            <a:off x="5204460" y="3315817"/>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p:cNvSpPr>
            <a:spLocks noChangeShapeType="1"/>
          </p:cNvSpPr>
          <p:nvPr/>
        </p:nvSpPr>
        <p:spPr bwMode="auto">
          <a:xfrm>
            <a:off x="6263308" y="3315817"/>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p:cNvSpPr>
            <a:spLocks noChangeShapeType="1"/>
          </p:cNvSpPr>
          <p:nvPr/>
        </p:nvSpPr>
        <p:spPr bwMode="auto">
          <a:xfrm>
            <a:off x="7432087" y="3315817"/>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p:cNvSpPr>
            <a:spLocks noChangeShapeType="1"/>
          </p:cNvSpPr>
          <p:nvPr/>
        </p:nvSpPr>
        <p:spPr bwMode="auto">
          <a:xfrm flipH="1">
            <a:off x="7987908" y="2640449"/>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29"/>
          <p:cNvSpPr>
            <a:spLocks noChangeShapeType="1"/>
          </p:cNvSpPr>
          <p:nvPr/>
        </p:nvSpPr>
        <p:spPr bwMode="auto">
          <a:xfrm flipH="1">
            <a:off x="6377431" y="2640449"/>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7" name="Line 29"/>
          <p:cNvSpPr>
            <a:spLocks noChangeShapeType="1"/>
          </p:cNvSpPr>
          <p:nvPr/>
        </p:nvSpPr>
        <p:spPr bwMode="auto">
          <a:xfrm flipH="1">
            <a:off x="5318583" y="2640449"/>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p:cNvSpPr>
            <a:spLocks noChangeShapeType="1"/>
          </p:cNvSpPr>
          <p:nvPr/>
        </p:nvSpPr>
        <p:spPr bwMode="auto">
          <a:xfrm flipH="1">
            <a:off x="4440227" y="2640449"/>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p:cNvSpPr>
            <a:spLocks noChangeShapeType="1"/>
          </p:cNvSpPr>
          <p:nvPr/>
        </p:nvSpPr>
        <p:spPr bwMode="auto">
          <a:xfrm flipH="1">
            <a:off x="2971575" y="2640449"/>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p:cNvSpPr>
            <a:spLocks noChangeShapeType="1"/>
          </p:cNvSpPr>
          <p:nvPr/>
        </p:nvSpPr>
        <p:spPr bwMode="auto">
          <a:xfrm>
            <a:off x="4440227" y="3315817"/>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p:cNvSpPr>
            <a:spLocks noChangeShapeType="1"/>
          </p:cNvSpPr>
          <p:nvPr/>
        </p:nvSpPr>
        <p:spPr bwMode="auto">
          <a:xfrm>
            <a:off x="7987909" y="3315817"/>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p:cNvSpPr>
            <a:spLocks noChangeShapeType="1"/>
          </p:cNvSpPr>
          <p:nvPr/>
        </p:nvSpPr>
        <p:spPr bwMode="auto">
          <a:xfrm flipH="1">
            <a:off x="7578500" y="2640449"/>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p:cNvSpPr>
            <a:spLocks noChangeShapeType="1"/>
          </p:cNvSpPr>
          <p:nvPr/>
        </p:nvSpPr>
        <p:spPr bwMode="auto">
          <a:xfrm flipH="1">
            <a:off x="4043808" y="2640449"/>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 name="矩形 69"/>
          <p:cNvSpPr/>
          <p:nvPr/>
        </p:nvSpPr>
        <p:spPr>
          <a:xfrm>
            <a:off x="539552" y="3573885"/>
            <a:ext cx="2509020" cy="369332"/>
          </a:xfrm>
          <a:prstGeom prst="rect">
            <a:avLst/>
          </a:prstGeom>
        </p:spPr>
        <p:txBody>
          <a:bodyPr wrap="none">
            <a:spAutoFit/>
          </a:bodyPr>
          <a:lstStyle/>
          <a:p>
            <a:r>
              <a:rPr lang="zh-CN" altLang="en-US" b="1" dirty="0"/>
              <a:t>双向链表的结点结构：</a:t>
            </a:r>
            <a:endParaRPr lang="zh-CN" altLang="en-US" dirty="0"/>
          </a:p>
        </p:txBody>
      </p:sp>
      <p:grpSp>
        <p:nvGrpSpPr>
          <p:cNvPr id="71" name="Group 47"/>
          <p:cNvGrpSpPr>
            <a:grpSpLocks/>
          </p:cNvGrpSpPr>
          <p:nvPr/>
        </p:nvGrpSpPr>
        <p:grpSpPr bwMode="auto">
          <a:xfrm>
            <a:off x="1286286" y="3979631"/>
            <a:ext cx="2372888" cy="342900"/>
            <a:chOff x="1008" y="3120"/>
            <a:chExt cx="1344" cy="288"/>
          </a:xfrm>
        </p:grpSpPr>
        <p:sp>
          <p:nvSpPr>
            <p:cNvPr id="72" name="Rectangle 39"/>
            <p:cNvSpPr>
              <a:spLocks noChangeArrowheads="1"/>
            </p:cNvSpPr>
            <p:nvPr/>
          </p:nvSpPr>
          <p:spPr bwMode="auto">
            <a:xfrm>
              <a:off x="1440" y="3120"/>
              <a:ext cx="480" cy="288"/>
            </a:xfrm>
            <a:prstGeom prst="rect">
              <a:avLst/>
            </a:prstGeom>
            <a:noFill/>
            <a:ln w="9525">
              <a:solidFill>
                <a:schemeClr val="tx1"/>
              </a:solidFill>
              <a:miter lim="800000"/>
              <a:headEnd/>
              <a:tailEnd/>
            </a:ln>
          </p:spPr>
          <p:txBody>
            <a:bodyPr wrap="none" anchor="ctr"/>
            <a:lstStyle/>
            <a:p>
              <a:pPr>
                <a:spcBef>
                  <a:spcPct val="20000"/>
                </a:spcBef>
              </a:pPr>
              <a:r>
                <a:rPr lang="en-US" altLang="zh-CN" sz="2400" dirty="0">
                  <a:latin typeface="Times New Roman" pitchFamily="18" charset="0"/>
                  <a:ea typeface="宋体" pitchFamily="2" charset="-122"/>
                </a:rPr>
                <a:t>data</a:t>
              </a:r>
            </a:p>
          </p:txBody>
        </p:sp>
        <p:sp>
          <p:nvSpPr>
            <p:cNvPr id="73" name="Rectangle 42"/>
            <p:cNvSpPr>
              <a:spLocks noChangeArrowheads="1"/>
            </p:cNvSpPr>
            <p:nvPr/>
          </p:nvSpPr>
          <p:spPr bwMode="auto">
            <a:xfrm>
              <a:off x="1920" y="3120"/>
              <a:ext cx="432" cy="288"/>
            </a:xfrm>
            <a:prstGeom prst="rect">
              <a:avLst/>
            </a:prstGeom>
            <a:noFill/>
            <a:ln w="9525">
              <a:solidFill>
                <a:schemeClr val="tx1"/>
              </a:solidFill>
              <a:miter lim="800000"/>
              <a:headEnd/>
              <a:tailEnd/>
            </a:ln>
          </p:spPr>
          <p:txBody>
            <a:bodyPr wrap="none" anchor="ctr"/>
            <a:lstStyle/>
            <a:p>
              <a:pPr>
                <a:spcBef>
                  <a:spcPct val="20000"/>
                </a:spcBef>
              </a:pPr>
              <a:r>
                <a:rPr lang="en-US" altLang="zh-CN" sz="2400" dirty="0">
                  <a:latin typeface="Times New Roman" pitchFamily="18" charset="0"/>
                  <a:ea typeface="宋体" pitchFamily="2" charset="-122"/>
                </a:rPr>
                <a:t>next</a:t>
              </a:r>
            </a:p>
          </p:txBody>
        </p:sp>
        <p:sp>
          <p:nvSpPr>
            <p:cNvPr id="74" name="Rectangle 43"/>
            <p:cNvSpPr>
              <a:spLocks noChangeArrowheads="1"/>
            </p:cNvSpPr>
            <p:nvPr/>
          </p:nvSpPr>
          <p:spPr bwMode="auto">
            <a:xfrm>
              <a:off x="1008" y="3120"/>
              <a:ext cx="432" cy="288"/>
            </a:xfrm>
            <a:prstGeom prst="rect">
              <a:avLst/>
            </a:prstGeom>
            <a:noFill/>
            <a:ln w="9525">
              <a:solidFill>
                <a:schemeClr val="tx1"/>
              </a:solidFill>
              <a:miter lim="800000"/>
              <a:headEnd/>
              <a:tailEnd/>
            </a:ln>
          </p:spPr>
          <p:txBody>
            <a:bodyPr wrap="none" anchor="ctr"/>
            <a:lstStyle/>
            <a:p>
              <a:pPr>
                <a:spcBef>
                  <a:spcPct val="20000"/>
                </a:spcBef>
              </a:pPr>
              <a:r>
                <a:rPr lang="en-US" altLang="zh-CN" sz="2400" dirty="0">
                  <a:latin typeface="Times New Roman" pitchFamily="18" charset="0"/>
                </a:rPr>
                <a:t>prior</a:t>
              </a:r>
            </a:p>
          </p:txBody>
        </p:sp>
      </p:grpSp>
      <p:sp>
        <p:nvSpPr>
          <p:cNvPr id="65" name="矩形 64"/>
          <p:cNvSpPr/>
          <p:nvPr/>
        </p:nvSpPr>
        <p:spPr>
          <a:xfrm>
            <a:off x="4790928" y="3584791"/>
            <a:ext cx="3328155" cy="369332"/>
          </a:xfrm>
          <a:prstGeom prst="rect">
            <a:avLst/>
          </a:prstGeom>
        </p:spPr>
        <p:txBody>
          <a:bodyPr wrap="none">
            <a:spAutoFit/>
          </a:bodyPr>
          <a:lstStyle/>
          <a:p>
            <a:r>
              <a:rPr lang="zh-CN" altLang="en-US" b="1" dirty="0"/>
              <a:t>双向链表结点的类</a:t>
            </a:r>
            <a:r>
              <a:rPr lang="en-US" altLang="zh-CN" b="1" dirty="0"/>
              <a:t>C</a:t>
            </a:r>
            <a:r>
              <a:rPr lang="zh-CN" altLang="en-US" b="1" dirty="0"/>
              <a:t>语言描述：</a:t>
            </a:r>
            <a:endParaRPr lang="zh-CN" altLang="en-US" dirty="0"/>
          </a:p>
        </p:txBody>
      </p:sp>
      <p:sp>
        <p:nvSpPr>
          <p:cNvPr id="66" name="矩形 65"/>
          <p:cNvSpPr/>
          <p:nvPr/>
        </p:nvSpPr>
        <p:spPr>
          <a:xfrm>
            <a:off x="5065588" y="3850717"/>
            <a:ext cx="2526654" cy="1169551"/>
          </a:xfrm>
          <a:prstGeom prst="rect">
            <a:avLst/>
          </a:prstGeom>
        </p:spPr>
        <p:txBody>
          <a:bodyPr wrap="none">
            <a:spAutoFit/>
          </a:bodyPr>
          <a:lstStyle/>
          <a:p>
            <a:r>
              <a:rPr lang="en-US" altLang="zh-CN" sz="1400" dirty="0">
                <a:latin typeface="Times New Roman" pitchFamily="18" charset="0"/>
                <a:ea typeface="宋体" pitchFamily="2" charset="-122"/>
              </a:rPr>
              <a:t>typedef struct </a:t>
            </a:r>
            <a:r>
              <a:rPr lang="en-US" altLang="zh-CN" sz="1400" dirty="0" err="1">
                <a:latin typeface="Times New Roman" pitchFamily="18" charset="0"/>
                <a:ea typeface="宋体" pitchFamily="2" charset="-122"/>
              </a:rPr>
              <a:t>DNode</a:t>
            </a:r>
            <a:r>
              <a:rPr lang="en-US" altLang="zh-CN" sz="1400" dirty="0">
                <a:latin typeface="Times New Roman" pitchFamily="18" charset="0"/>
                <a:ea typeface="宋体" pitchFamily="2" charset="-122"/>
              </a:rPr>
              <a:t>{</a:t>
            </a:r>
          </a:p>
          <a:p>
            <a:pPr marL="742950" lvl="1" indent="-285750">
              <a:buClr>
                <a:schemeClr val="tx1"/>
              </a:buClr>
              <a:buSzPct val="90000"/>
            </a:pPr>
            <a:r>
              <a:rPr lang="en-US" altLang="zh-CN" sz="1400" dirty="0">
                <a:latin typeface="Times New Roman" pitchFamily="18" charset="0"/>
                <a:ea typeface="宋体" pitchFamily="2" charset="-122"/>
              </a:rPr>
              <a:t>       </a:t>
            </a:r>
            <a:r>
              <a:rPr lang="en-US" altLang="zh-CN" sz="1400" dirty="0" err="1">
                <a:latin typeface="Times New Roman" pitchFamily="18" charset="0"/>
                <a:ea typeface="宋体" pitchFamily="2" charset="-122"/>
              </a:rPr>
              <a:t>ElemType</a:t>
            </a:r>
            <a:r>
              <a:rPr lang="en-US" altLang="zh-CN" sz="1400" dirty="0">
                <a:latin typeface="Times New Roman" pitchFamily="18" charset="0"/>
                <a:ea typeface="宋体" pitchFamily="2" charset="-122"/>
              </a:rPr>
              <a:t>  data;</a:t>
            </a:r>
          </a:p>
          <a:p>
            <a:pPr marL="742950" lvl="1" indent="-285750">
              <a:buClr>
                <a:schemeClr val="tx1"/>
              </a:buClr>
              <a:buSzPct val="90000"/>
            </a:pPr>
            <a:r>
              <a:rPr lang="en-US" altLang="zh-CN" sz="1400" dirty="0">
                <a:latin typeface="Times New Roman" pitchFamily="18" charset="0"/>
                <a:ea typeface="宋体" pitchFamily="2" charset="-122"/>
              </a:rPr>
              <a:t>       struct </a:t>
            </a:r>
            <a:r>
              <a:rPr lang="en-US" altLang="zh-CN" sz="1400" dirty="0" err="1">
                <a:latin typeface="Times New Roman" pitchFamily="18" charset="0"/>
                <a:ea typeface="宋体" pitchFamily="2" charset="-122"/>
              </a:rPr>
              <a:t>DNode</a:t>
            </a:r>
            <a:r>
              <a:rPr lang="en-US" altLang="zh-CN" sz="1400" dirty="0">
                <a:latin typeface="Times New Roman" pitchFamily="18" charset="0"/>
                <a:ea typeface="宋体" pitchFamily="2" charset="-122"/>
              </a:rPr>
              <a:t> *prior;</a:t>
            </a:r>
          </a:p>
          <a:p>
            <a:pPr marL="742950" lvl="1" indent="-285750">
              <a:buClr>
                <a:schemeClr val="tx1"/>
              </a:buClr>
              <a:buSzPct val="90000"/>
            </a:pPr>
            <a:r>
              <a:rPr lang="en-US" altLang="zh-CN" sz="1400" dirty="0">
                <a:latin typeface="Times New Roman" pitchFamily="18" charset="0"/>
                <a:ea typeface="宋体" pitchFamily="2" charset="-122"/>
              </a:rPr>
              <a:t>       struct </a:t>
            </a:r>
            <a:r>
              <a:rPr lang="en-US" altLang="zh-CN" sz="1400" dirty="0" err="1">
                <a:latin typeface="Times New Roman" pitchFamily="18" charset="0"/>
                <a:ea typeface="宋体" pitchFamily="2" charset="-122"/>
              </a:rPr>
              <a:t>DNode</a:t>
            </a:r>
            <a:r>
              <a:rPr lang="en-US" altLang="zh-CN" sz="1400" dirty="0">
                <a:latin typeface="Times New Roman" pitchFamily="18" charset="0"/>
                <a:ea typeface="宋体" pitchFamily="2" charset="-122"/>
              </a:rPr>
              <a:t> *next;</a:t>
            </a:r>
          </a:p>
          <a:p>
            <a:r>
              <a:rPr lang="en-US" altLang="zh-CN" sz="1400" dirty="0">
                <a:latin typeface="Times New Roman" pitchFamily="18" charset="0"/>
                <a:ea typeface="宋体" pitchFamily="2" charset="-122"/>
              </a:rPr>
              <a:t>} </a:t>
            </a:r>
            <a:r>
              <a:rPr lang="en-US" altLang="zh-CN" sz="1400" dirty="0" err="1">
                <a:latin typeface="Times New Roman" pitchFamily="18" charset="0"/>
                <a:ea typeface="宋体" pitchFamily="2" charset="-122"/>
              </a:rPr>
              <a:t>DLinkNode</a:t>
            </a:r>
            <a:r>
              <a:rPr lang="zh-CN" altLang="en-US" sz="1400" dirty="0">
                <a:latin typeface="Times New Roman" pitchFamily="18" charset="0"/>
                <a:ea typeface="宋体" pitchFamily="2" charset="-122"/>
              </a:rPr>
              <a:t>；</a:t>
            </a:r>
          </a:p>
        </p:txBody>
      </p:sp>
      <p:cxnSp>
        <p:nvCxnSpPr>
          <p:cNvPr id="68" name="直接连接符 67"/>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矩形 68"/>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DAD136D0-3072-5337-29AC-2E00AFD69F49}"/>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Tree>
    <p:extLst>
      <p:ext uri="{BB962C8B-B14F-4D97-AF65-F5344CB8AC3E}">
        <p14:creationId xmlns:p14="http://schemas.microsoft.com/office/powerpoint/2010/main" val="8466280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12A55-CAF9-656B-3142-BF3AC038F000}"/>
            </a:ext>
          </a:extLst>
        </p:cNvPr>
        <p:cNvGrpSpPr/>
        <p:nvPr/>
      </p:nvGrpSpPr>
      <p:grpSpPr>
        <a:xfrm>
          <a:off x="0" y="0"/>
          <a:ext cx="0" cy="0"/>
          <a:chOff x="0" y="0"/>
          <a:chExt cx="0" cy="0"/>
        </a:xfrm>
      </p:grpSpPr>
      <p:sp>
        <p:nvSpPr>
          <p:cNvPr id="47" name="Rectangle 25">
            <a:extLst>
              <a:ext uri="{FF2B5EF4-FFF2-40B4-BE49-F238E27FC236}">
                <a16:creationId xmlns:a16="http://schemas.microsoft.com/office/drawing/2014/main" id="{86C20F03-6F0A-3BE0-F6A2-7E77EF0FDA26}"/>
              </a:ext>
            </a:extLst>
          </p:cNvPr>
          <p:cNvSpPr>
            <a:spLocks noChangeArrowheads="1"/>
          </p:cNvSpPr>
          <p:nvPr/>
        </p:nvSpPr>
        <p:spPr bwMode="auto">
          <a:xfrm>
            <a:off x="7620379" y="239960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a:extLst>
              <a:ext uri="{FF2B5EF4-FFF2-40B4-BE49-F238E27FC236}">
                <a16:creationId xmlns:a16="http://schemas.microsoft.com/office/drawing/2014/main" id="{1330D852-4B2E-F2F0-14C9-8A1A9E9A576A}"/>
              </a:ext>
            </a:extLst>
          </p:cNvPr>
          <p:cNvSpPr>
            <a:spLocks noChangeArrowheads="1"/>
          </p:cNvSpPr>
          <p:nvPr/>
        </p:nvSpPr>
        <p:spPr bwMode="auto">
          <a:xfrm>
            <a:off x="4014473" y="23887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a:extLst>
              <a:ext uri="{FF2B5EF4-FFF2-40B4-BE49-F238E27FC236}">
                <a16:creationId xmlns:a16="http://schemas.microsoft.com/office/drawing/2014/main" id="{802CBFEE-1235-513A-07C5-8D8402E76D83}"/>
              </a:ext>
            </a:extLst>
          </p:cNvPr>
          <p:cNvSpPr>
            <a:spLocks noChangeShapeType="1"/>
          </p:cNvSpPr>
          <p:nvPr/>
        </p:nvSpPr>
        <p:spPr bwMode="auto">
          <a:xfrm>
            <a:off x="631856" y="2232697"/>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a:extLst>
              <a:ext uri="{FF2B5EF4-FFF2-40B4-BE49-F238E27FC236}">
                <a16:creationId xmlns:a16="http://schemas.microsoft.com/office/drawing/2014/main" id="{D4344904-F520-9784-895C-20D8A61EB7D7}"/>
              </a:ext>
            </a:extLst>
          </p:cNvPr>
          <p:cNvSpPr>
            <a:spLocks noChangeArrowheads="1"/>
          </p:cNvSpPr>
          <p:nvPr/>
        </p:nvSpPr>
        <p:spPr bwMode="auto">
          <a:xfrm>
            <a:off x="366211" y="203479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95" name="组合 94">
            <a:extLst>
              <a:ext uri="{FF2B5EF4-FFF2-40B4-BE49-F238E27FC236}">
                <a16:creationId xmlns:a16="http://schemas.microsoft.com/office/drawing/2014/main" id="{0690B8F0-A291-337F-6566-8AC118F7CBCC}"/>
              </a:ext>
            </a:extLst>
          </p:cNvPr>
          <p:cNvGrpSpPr/>
          <p:nvPr/>
        </p:nvGrpSpPr>
        <p:grpSpPr>
          <a:xfrm>
            <a:off x="2342689" y="2055888"/>
            <a:ext cx="533400" cy="984427"/>
            <a:chOff x="3344047" y="4287041"/>
            <a:chExt cx="533400" cy="1312569"/>
          </a:xfrm>
        </p:grpSpPr>
        <p:sp>
          <p:nvSpPr>
            <p:cNvPr id="97" name="Rectangle 5">
              <a:extLst>
                <a:ext uri="{FF2B5EF4-FFF2-40B4-BE49-F238E27FC236}">
                  <a16:creationId xmlns:a16="http://schemas.microsoft.com/office/drawing/2014/main" id="{82E2CED8-ACA3-2559-9DDB-078647D0A837}"/>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a:extLst>
                <a:ext uri="{FF2B5EF4-FFF2-40B4-BE49-F238E27FC236}">
                  <a16:creationId xmlns:a16="http://schemas.microsoft.com/office/drawing/2014/main" id="{C380E838-E896-9EA9-19AD-71A00157F11D}"/>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a:extLst>
                <a:ext uri="{FF2B5EF4-FFF2-40B4-BE49-F238E27FC236}">
                  <a16:creationId xmlns:a16="http://schemas.microsoft.com/office/drawing/2014/main" id="{521D723A-2DD8-E23A-D8BC-B28DC34123F1}"/>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a:extLst>
              <a:ext uri="{FF2B5EF4-FFF2-40B4-BE49-F238E27FC236}">
                <a16:creationId xmlns:a16="http://schemas.microsoft.com/office/drawing/2014/main" id="{FDB182D0-4A76-F83C-FC14-04C7304AE7E7}"/>
              </a:ext>
            </a:extLst>
          </p:cNvPr>
          <p:cNvGrpSpPr/>
          <p:nvPr/>
        </p:nvGrpSpPr>
        <p:grpSpPr>
          <a:xfrm>
            <a:off x="3401537" y="2055888"/>
            <a:ext cx="533400" cy="984427"/>
            <a:chOff x="3344047" y="4287041"/>
            <a:chExt cx="533400" cy="1312569"/>
          </a:xfrm>
        </p:grpSpPr>
        <p:sp>
          <p:nvSpPr>
            <p:cNvPr id="101" name="Rectangle 5">
              <a:extLst>
                <a:ext uri="{FF2B5EF4-FFF2-40B4-BE49-F238E27FC236}">
                  <a16:creationId xmlns:a16="http://schemas.microsoft.com/office/drawing/2014/main" id="{77062F5A-2EFD-09F0-FDC6-6AF9E7955907}"/>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550B9F86-E6F1-1E51-B9D2-11C085E9ECC7}"/>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a:extLst>
                <a:ext uri="{FF2B5EF4-FFF2-40B4-BE49-F238E27FC236}">
                  <a16:creationId xmlns:a16="http://schemas.microsoft.com/office/drawing/2014/main" id="{63F7D4A6-608B-0968-9EE0-17FEC5A4CB6E}"/>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a:extLst>
              <a:ext uri="{FF2B5EF4-FFF2-40B4-BE49-F238E27FC236}">
                <a16:creationId xmlns:a16="http://schemas.microsoft.com/office/drawing/2014/main" id="{520100DF-4622-0976-4D71-B9168B4C71AB}"/>
              </a:ext>
            </a:extLst>
          </p:cNvPr>
          <p:cNvGrpSpPr/>
          <p:nvPr/>
        </p:nvGrpSpPr>
        <p:grpSpPr>
          <a:xfrm>
            <a:off x="4547475" y="2055888"/>
            <a:ext cx="675622" cy="984427"/>
            <a:chOff x="3344047" y="4287041"/>
            <a:chExt cx="533400" cy="1312569"/>
          </a:xfrm>
        </p:grpSpPr>
        <p:sp>
          <p:nvSpPr>
            <p:cNvPr id="105" name="Rectangle 5">
              <a:extLst>
                <a:ext uri="{FF2B5EF4-FFF2-40B4-BE49-F238E27FC236}">
                  <a16:creationId xmlns:a16="http://schemas.microsoft.com/office/drawing/2014/main" id="{8D9D753D-0065-84B9-BAFE-E76484465B45}"/>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a:extLst>
                <a:ext uri="{FF2B5EF4-FFF2-40B4-BE49-F238E27FC236}">
                  <a16:creationId xmlns:a16="http://schemas.microsoft.com/office/drawing/2014/main" id="{E8C4E82F-036C-8247-DB05-7FC09823A125}"/>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a:extLst>
                <a:ext uri="{FF2B5EF4-FFF2-40B4-BE49-F238E27FC236}">
                  <a16:creationId xmlns:a16="http://schemas.microsoft.com/office/drawing/2014/main" id="{C3331F1F-554D-8E82-3F96-CB1ED801FF52}"/>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a:extLst>
              <a:ext uri="{FF2B5EF4-FFF2-40B4-BE49-F238E27FC236}">
                <a16:creationId xmlns:a16="http://schemas.microsoft.com/office/drawing/2014/main" id="{C048CD6B-C8C1-7B14-7A46-AC4176E37841}"/>
              </a:ext>
            </a:extLst>
          </p:cNvPr>
          <p:cNvGrpSpPr/>
          <p:nvPr/>
        </p:nvGrpSpPr>
        <p:grpSpPr>
          <a:xfrm>
            <a:off x="8095554" y="2055887"/>
            <a:ext cx="533400" cy="1076760"/>
            <a:chOff x="9096957" y="4287040"/>
            <a:chExt cx="533400" cy="1435680"/>
          </a:xfrm>
        </p:grpSpPr>
        <p:grpSp>
          <p:nvGrpSpPr>
            <p:cNvPr id="109" name="组合 108">
              <a:extLst>
                <a:ext uri="{FF2B5EF4-FFF2-40B4-BE49-F238E27FC236}">
                  <a16:creationId xmlns:a16="http://schemas.microsoft.com/office/drawing/2014/main" id="{BE9BC3F1-5C5B-1368-EBC5-B862DE140187}"/>
                </a:ext>
              </a:extLst>
            </p:cNvPr>
            <p:cNvGrpSpPr/>
            <p:nvPr/>
          </p:nvGrpSpPr>
          <p:grpSpPr>
            <a:xfrm>
              <a:off x="9096957" y="4287040"/>
              <a:ext cx="533400" cy="1312569"/>
              <a:chOff x="3344047" y="4287041"/>
              <a:chExt cx="533400" cy="1312569"/>
            </a:xfrm>
          </p:grpSpPr>
          <p:sp>
            <p:nvSpPr>
              <p:cNvPr id="111" name="Rectangle 5">
                <a:extLst>
                  <a:ext uri="{FF2B5EF4-FFF2-40B4-BE49-F238E27FC236}">
                    <a16:creationId xmlns:a16="http://schemas.microsoft.com/office/drawing/2014/main" id="{23629949-949D-12E3-7256-EABDC9E060EF}"/>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a:extLst>
                  <a:ext uri="{FF2B5EF4-FFF2-40B4-BE49-F238E27FC236}">
                    <a16:creationId xmlns:a16="http://schemas.microsoft.com/office/drawing/2014/main" id="{256487F3-34B4-CD38-D082-C2C1BE8693AC}"/>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a:extLst>
                  <a:ext uri="{FF2B5EF4-FFF2-40B4-BE49-F238E27FC236}">
                    <a16:creationId xmlns:a16="http://schemas.microsoft.com/office/drawing/2014/main" id="{C6FA59B0-60B4-BF13-9F48-814E2F571868}"/>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a:extLst>
                <a:ext uri="{FF2B5EF4-FFF2-40B4-BE49-F238E27FC236}">
                  <a16:creationId xmlns:a16="http://schemas.microsoft.com/office/drawing/2014/main" id="{B15B01DB-DBF5-8ADB-8776-1447EDD8F081}"/>
                </a:ext>
              </a:extLst>
            </p:cNvPr>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a:extLst>
              <a:ext uri="{FF2B5EF4-FFF2-40B4-BE49-F238E27FC236}">
                <a16:creationId xmlns:a16="http://schemas.microsoft.com/office/drawing/2014/main" id="{C274E202-18A0-0E90-BD76-8069DF4C8511}"/>
              </a:ext>
            </a:extLst>
          </p:cNvPr>
          <p:cNvGrpSpPr/>
          <p:nvPr/>
        </p:nvGrpSpPr>
        <p:grpSpPr>
          <a:xfrm>
            <a:off x="5748545" y="2055888"/>
            <a:ext cx="533400" cy="984427"/>
            <a:chOff x="3344047" y="4287041"/>
            <a:chExt cx="533400" cy="1312569"/>
          </a:xfrm>
        </p:grpSpPr>
        <p:sp>
          <p:nvSpPr>
            <p:cNvPr id="115" name="Rectangle 5">
              <a:extLst>
                <a:ext uri="{FF2B5EF4-FFF2-40B4-BE49-F238E27FC236}">
                  <a16:creationId xmlns:a16="http://schemas.microsoft.com/office/drawing/2014/main" id="{0DB9ACB5-3072-1D5D-B701-D670EBF172F7}"/>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a:extLst>
                <a:ext uri="{FF2B5EF4-FFF2-40B4-BE49-F238E27FC236}">
                  <a16:creationId xmlns:a16="http://schemas.microsoft.com/office/drawing/2014/main" id="{C8FDE7D4-CEB7-DD40-1FDC-58B57FF05692}"/>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
              <a:extLst>
                <a:ext uri="{FF2B5EF4-FFF2-40B4-BE49-F238E27FC236}">
                  <a16:creationId xmlns:a16="http://schemas.microsoft.com/office/drawing/2014/main" id="{AB2BBBB0-84A7-014A-5E2A-6C8BCE57ACF5}"/>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组合 117">
            <a:extLst>
              <a:ext uri="{FF2B5EF4-FFF2-40B4-BE49-F238E27FC236}">
                <a16:creationId xmlns:a16="http://schemas.microsoft.com/office/drawing/2014/main" id="{93D261D7-51BA-B7A2-A92C-3ED057E2917B}"/>
              </a:ext>
            </a:extLst>
          </p:cNvPr>
          <p:cNvGrpSpPr/>
          <p:nvPr/>
        </p:nvGrpSpPr>
        <p:grpSpPr>
          <a:xfrm>
            <a:off x="6807393" y="2055888"/>
            <a:ext cx="675622" cy="984427"/>
            <a:chOff x="3344047" y="4287041"/>
            <a:chExt cx="533400" cy="1312569"/>
          </a:xfrm>
        </p:grpSpPr>
        <p:sp>
          <p:nvSpPr>
            <p:cNvPr id="119" name="Rectangle 5">
              <a:extLst>
                <a:ext uri="{FF2B5EF4-FFF2-40B4-BE49-F238E27FC236}">
                  <a16:creationId xmlns:a16="http://schemas.microsoft.com/office/drawing/2014/main" id="{CDC3CA01-11B8-0C78-785B-6BD37D5C7A84}"/>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a:extLst>
                <a:ext uri="{FF2B5EF4-FFF2-40B4-BE49-F238E27FC236}">
                  <a16:creationId xmlns:a16="http://schemas.microsoft.com/office/drawing/2014/main" id="{96704EB1-2709-7158-3DF7-E58A7FC3A2CE}"/>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a:extLst>
                <a:ext uri="{FF2B5EF4-FFF2-40B4-BE49-F238E27FC236}">
                  <a16:creationId xmlns:a16="http://schemas.microsoft.com/office/drawing/2014/main" id="{47A93CC4-A95C-8862-567F-169F19FEDD56}"/>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a:extLst>
              <a:ext uri="{FF2B5EF4-FFF2-40B4-BE49-F238E27FC236}">
                <a16:creationId xmlns:a16="http://schemas.microsoft.com/office/drawing/2014/main" id="{B5029AB5-08AA-66D4-2D33-47F230E83375}"/>
              </a:ext>
            </a:extLst>
          </p:cNvPr>
          <p:cNvGrpSpPr/>
          <p:nvPr/>
        </p:nvGrpSpPr>
        <p:grpSpPr>
          <a:xfrm>
            <a:off x="1283841" y="2055888"/>
            <a:ext cx="533400" cy="984427"/>
            <a:chOff x="2459424" y="4263014"/>
            <a:chExt cx="533400" cy="1312569"/>
          </a:xfrm>
        </p:grpSpPr>
        <p:grpSp>
          <p:nvGrpSpPr>
            <p:cNvPr id="123" name="组合 122">
              <a:extLst>
                <a:ext uri="{FF2B5EF4-FFF2-40B4-BE49-F238E27FC236}">
                  <a16:creationId xmlns:a16="http://schemas.microsoft.com/office/drawing/2014/main" id="{ED6AEF68-A570-9FBD-523F-F95DEB736527}"/>
                </a:ext>
              </a:extLst>
            </p:cNvPr>
            <p:cNvGrpSpPr/>
            <p:nvPr/>
          </p:nvGrpSpPr>
          <p:grpSpPr>
            <a:xfrm>
              <a:off x="2459424" y="4263014"/>
              <a:ext cx="533400" cy="1312569"/>
              <a:chOff x="3344047" y="4287041"/>
              <a:chExt cx="533400" cy="1312569"/>
            </a:xfrm>
          </p:grpSpPr>
          <p:sp>
            <p:nvSpPr>
              <p:cNvPr id="125" name="Rectangle 5">
                <a:extLst>
                  <a:ext uri="{FF2B5EF4-FFF2-40B4-BE49-F238E27FC236}">
                    <a16:creationId xmlns:a16="http://schemas.microsoft.com/office/drawing/2014/main" id="{D02B05BA-96D1-FF2B-96E3-7756FBE93FA8}"/>
                  </a:ext>
                </a:extLst>
              </p:cNvPr>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a:extLst>
                  <a:ext uri="{FF2B5EF4-FFF2-40B4-BE49-F238E27FC236}">
                    <a16:creationId xmlns:a16="http://schemas.microsoft.com/office/drawing/2014/main" id="{1E76D037-6C42-3DB9-490F-1769994ABA69}"/>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a:extLst>
                  <a:ext uri="{FF2B5EF4-FFF2-40B4-BE49-F238E27FC236}">
                    <a16:creationId xmlns:a16="http://schemas.microsoft.com/office/drawing/2014/main" id="{A20C240C-DEDD-B882-011B-673A9C2210D8}"/>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a:extLst>
                <a:ext uri="{FF2B5EF4-FFF2-40B4-BE49-F238E27FC236}">
                  <a16:creationId xmlns:a16="http://schemas.microsoft.com/office/drawing/2014/main" id="{1929AC14-C1E0-6F50-DD65-00202E1D5F5E}"/>
                </a:ext>
              </a:extLst>
            </p:cNvPr>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a:extLst>
              <a:ext uri="{FF2B5EF4-FFF2-40B4-BE49-F238E27FC236}">
                <a16:creationId xmlns:a16="http://schemas.microsoft.com/office/drawing/2014/main" id="{FC4CC549-FA36-CE83-F5AA-5F8C74F1C220}"/>
              </a:ext>
            </a:extLst>
          </p:cNvPr>
          <p:cNvSpPr>
            <a:spLocks noChangeShapeType="1"/>
          </p:cNvSpPr>
          <p:nvPr/>
        </p:nvSpPr>
        <p:spPr bwMode="auto">
          <a:xfrm flipH="1">
            <a:off x="182778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a:extLst>
              <a:ext uri="{FF2B5EF4-FFF2-40B4-BE49-F238E27FC236}">
                <a16:creationId xmlns:a16="http://schemas.microsoft.com/office/drawing/2014/main" id="{30E95B80-617C-DF49-AE11-AC009041A80A}"/>
              </a:ext>
            </a:extLst>
          </p:cNvPr>
          <p:cNvSpPr>
            <a:spLocks noChangeShapeType="1"/>
          </p:cNvSpPr>
          <p:nvPr/>
        </p:nvSpPr>
        <p:spPr bwMode="auto">
          <a:xfrm>
            <a:off x="1703118"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a:extLst>
              <a:ext uri="{FF2B5EF4-FFF2-40B4-BE49-F238E27FC236}">
                <a16:creationId xmlns:a16="http://schemas.microsoft.com/office/drawing/2014/main" id="{BEBB9F94-F9E2-F501-2034-E9ECFBD12498}"/>
              </a:ext>
            </a:extLst>
          </p:cNvPr>
          <p:cNvSpPr>
            <a:spLocks noChangeShapeType="1"/>
          </p:cNvSpPr>
          <p:nvPr/>
        </p:nvSpPr>
        <p:spPr bwMode="auto">
          <a:xfrm>
            <a:off x="2761967"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a:extLst>
              <a:ext uri="{FF2B5EF4-FFF2-40B4-BE49-F238E27FC236}">
                <a16:creationId xmlns:a16="http://schemas.microsoft.com/office/drawing/2014/main" id="{8B28BEB7-82FB-0DAC-FC95-11E5167FF697}"/>
              </a:ext>
            </a:extLst>
          </p:cNvPr>
          <p:cNvSpPr>
            <a:spLocks noChangeShapeType="1"/>
          </p:cNvSpPr>
          <p:nvPr/>
        </p:nvSpPr>
        <p:spPr bwMode="auto">
          <a:xfrm>
            <a:off x="3884001"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 name="Line 29">
            <a:extLst>
              <a:ext uri="{FF2B5EF4-FFF2-40B4-BE49-F238E27FC236}">
                <a16:creationId xmlns:a16="http://schemas.microsoft.com/office/drawing/2014/main" id="{AE1DD5A7-7DBA-AEB8-5ABE-531D66F84C6F}"/>
              </a:ext>
            </a:extLst>
          </p:cNvPr>
          <p:cNvSpPr>
            <a:spLocks noChangeShapeType="1"/>
          </p:cNvSpPr>
          <p:nvPr/>
        </p:nvSpPr>
        <p:spPr bwMode="auto">
          <a:xfrm>
            <a:off x="5108975"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a:extLst>
              <a:ext uri="{FF2B5EF4-FFF2-40B4-BE49-F238E27FC236}">
                <a16:creationId xmlns:a16="http://schemas.microsoft.com/office/drawing/2014/main" id="{C9916F9F-31E7-56BC-CF79-19CB18D9F69E}"/>
              </a:ext>
            </a:extLst>
          </p:cNvPr>
          <p:cNvSpPr>
            <a:spLocks noChangeShapeType="1"/>
          </p:cNvSpPr>
          <p:nvPr/>
        </p:nvSpPr>
        <p:spPr bwMode="auto">
          <a:xfrm>
            <a:off x="6167823"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a:extLst>
              <a:ext uri="{FF2B5EF4-FFF2-40B4-BE49-F238E27FC236}">
                <a16:creationId xmlns:a16="http://schemas.microsoft.com/office/drawing/2014/main" id="{78873DD3-EE1D-F2AA-5D3D-525D0BC9A67C}"/>
              </a:ext>
            </a:extLst>
          </p:cNvPr>
          <p:cNvSpPr>
            <a:spLocks noChangeShapeType="1"/>
          </p:cNvSpPr>
          <p:nvPr/>
        </p:nvSpPr>
        <p:spPr bwMode="auto">
          <a:xfrm>
            <a:off x="7336602" y="2901815"/>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a:extLst>
              <a:ext uri="{FF2B5EF4-FFF2-40B4-BE49-F238E27FC236}">
                <a16:creationId xmlns:a16="http://schemas.microsoft.com/office/drawing/2014/main" id="{C1310007-1D5D-B59D-14EA-0032814B2B39}"/>
              </a:ext>
            </a:extLst>
          </p:cNvPr>
          <p:cNvSpPr>
            <a:spLocks noChangeShapeType="1"/>
          </p:cNvSpPr>
          <p:nvPr/>
        </p:nvSpPr>
        <p:spPr bwMode="auto">
          <a:xfrm flipH="1">
            <a:off x="7892423" y="2226447"/>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29">
            <a:extLst>
              <a:ext uri="{FF2B5EF4-FFF2-40B4-BE49-F238E27FC236}">
                <a16:creationId xmlns:a16="http://schemas.microsoft.com/office/drawing/2014/main" id="{D83DFE3E-FD82-8557-1084-4F557EFDCB6B}"/>
              </a:ext>
            </a:extLst>
          </p:cNvPr>
          <p:cNvSpPr>
            <a:spLocks noChangeShapeType="1"/>
          </p:cNvSpPr>
          <p:nvPr/>
        </p:nvSpPr>
        <p:spPr bwMode="auto">
          <a:xfrm flipH="1">
            <a:off x="628194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7" name="Line 29">
            <a:extLst>
              <a:ext uri="{FF2B5EF4-FFF2-40B4-BE49-F238E27FC236}">
                <a16:creationId xmlns:a16="http://schemas.microsoft.com/office/drawing/2014/main" id="{734D36DC-544E-26C5-A00E-A40C2F3F57BF}"/>
              </a:ext>
            </a:extLst>
          </p:cNvPr>
          <p:cNvSpPr>
            <a:spLocks noChangeShapeType="1"/>
          </p:cNvSpPr>
          <p:nvPr/>
        </p:nvSpPr>
        <p:spPr bwMode="auto">
          <a:xfrm flipH="1">
            <a:off x="5223098"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a:extLst>
              <a:ext uri="{FF2B5EF4-FFF2-40B4-BE49-F238E27FC236}">
                <a16:creationId xmlns:a16="http://schemas.microsoft.com/office/drawing/2014/main" id="{3ED4EAEE-AC4E-1832-982B-290F12026D89}"/>
              </a:ext>
            </a:extLst>
          </p:cNvPr>
          <p:cNvSpPr>
            <a:spLocks noChangeShapeType="1"/>
          </p:cNvSpPr>
          <p:nvPr/>
        </p:nvSpPr>
        <p:spPr bwMode="auto">
          <a:xfrm flipH="1">
            <a:off x="4344742" y="2226447"/>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a:extLst>
              <a:ext uri="{FF2B5EF4-FFF2-40B4-BE49-F238E27FC236}">
                <a16:creationId xmlns:a16="http://schemas.microsoft.com/office/drawing/2014/main" id="{7BD2C602-4433-07F1-7C0F-C43992CF274A}"/>
              </a:ext>
            </a:extLst>
          </p:cNvPr>
          <p:cNvSpPr>
            <a:spLocks noChangeShapeType="1"/>
          </p:cNvSpPr>
          <p:nvPr/>
        </p:nvSpPr>
        <p:spPr bwMode="auto">
          <a:xfrm flipH="1">
            <a:off x="2876090"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a:extLst>
              <a:ext uri="{FF2B5EF4-FFF2-40B4-BE49-F238E27FC236}">
                <a16:creationId xmlns:a16="http://schemas.microsoft.com/office/drawing/2014/main" id="{6FED552C-013E-B7C0-7545-59EF0B747351}"/>
              </a:ext>
            </a:extLst>
          </p:cNvPr>
          <p:cNvSpPr>
            <a:spLocks noChangeShapeType="1"/>
          </p:cNvSpPr>
          <p:nvPr/>
        </p:nvSpPr>
        <p:spPr bwMode="auto">
          <a:xfrm>
            <a:off x="4344742"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a:extLst>
              <a:ext uri="{FF2B5EF4-FFF2-40B4-BE49-F238E27FC236}">
                <a16:creationId xmlns:a16="http://schemas.microsoft.com/office/drawing/2014/main" id="{79C0D356-3091-B891-A998-4A09E83BAEA5}"/>
              </a:ext>
            </a:extLst>
          </p:cNvPr>
          <p:cNvSpPr>
            <a:spLocks noChangeShapeType="1"/>
          </p:cNvSpPr>
          <p:nvPr/>
        </p:nvSpPr>
        <p:spPr bwMode="auto">
          <a:xfrm>
            <a:off x="7892424"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a:extLst>
              <a:ext uri="{FF2B5EF4-FFF2-40B4-BE49-F238E27FC236}">
                <a16:creationId xmlns:a16="http://schemas.microsoft.com/office/drawing/2014/main" id="{1E335CEF-B5BF-5712-6FEA-48467BB6F9AC}"/>
              </a:ext>
            </a:extLst>
          </p:cNvPr>
          <p:cNvSpPr>
            <a:spLocks noChangeShapeType="1"/>
          </p:cNvSpPr>
          <p:nvPr/>
        </p:nvSpPr>
        <p:spPr bwMode="auto">
          <a:xfrm flipH="1">
            <a:off x="7483015" y="2226447"/>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a:extLst>
              <a:ext uri="{FF2B5EF4-FFF2-40B4-BE49-F238E27FC236}">
                <a16:creationId xmlns:a16="http://schemas.microsoft.com/office/drawing/2014/main" id="{F8A808CF-52E8-3F48-221A-2F698D2C40D7}"/>
              </a:ext>
            </a:extLst>
          </p:cNvPr>
          <p:cNvSpPr>
            <a:spLocks noChangeShapeType="1"/>
          </p:cNvSpPr>
          <p:nvPr/>
        </p:nvSpPr>
        <p:spPr bwMode="auto">
          <a:xfrm flipH="1">
            <a:off x="3948323" y="2226447"/>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8" name="直接连接符 67">
            <a:extLst>
              <a:ext uri="{FF2B5EF4-FFF2-40B4-BE49-F238E27FC236}">
                <a16:creationId xmlns:a16="http://schemas.microsoft.com/office/drawing/2014/main" id="{6705C82E-D465-C3AD-D805-DC214ED22117}"/>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28DB6A02-9B87-12F6-5CEB-757D90DA6348}"/>
              </a:ext>
            </a:extLst>
          </p:cNvPr>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1B442E87-DB39-A346-C45D-C0D76825C87D}"/>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2" name="矩形 1">
            <a:extLst>
              <a:ext uri="{FF2B5EF4-FFF2-40B4-BE49-F238E27FC236}">
                <a16:creationId xmlns:a16="http://schemas.microsoft.com/office/drawing/2014/main" id="{FE136742-FF75-85C8-60B0-2990853BBE58}"/>
              </a:ext>
            </a:extLst>
          </p:cNvPr>
          <p:cNvSpPr/>
          <p:nvPr/>
        </p:nvSpPr>
        <p:spPr>
          <a:xfrm>
            <a:off x="493821" y="1446757"/>
            <a:ext cx="3142075" cy="369332"/>
          </a:xfrm>
          <a:prstGeom prst="rect">
            <a:avLst/>
          </a:prstGeom>
        </p:spPr>
        <p:txBody>
          <a:bodyPr wrap="square">
            <a:spAutoFit/>
          </a:bodyPr>
          <a:lstStyle/>
          <a:p>
            <a:r>
              <a:rPr lang="en-US" altLang="zh-CN" dirty="0">
                <a:latin typeface="微软雅黑" pitchFamily="34" charset="-122"/>
                <a:ea typeface="微软雅黑" pitchFamily="34" charset="-122"/>
                <a:cs typeface="经典粗黑简" pitchFamily="49" charset="-122"/>
              </a:rPr>
              <a:t>2.3.3.1 </a:t>
            </a:r>
            <a:r>
              <a:rPr lang="zh-CN" altLang="en-US" dirty="0">
                <a:latin typeface="微软雅黑" pitchFamily="34" charset="-122"/>
                <a:ea typeface="微软雅黑" pitchFamily="34" charset="-122"/>
                <a:cs typeface="经典粗黑简" pitchFamily="49" charset="-122"/>
              </a:rPr>
              <a:t>插入结点操作</a:t>
            </a:r>
          </a:p>
        </p:txBody>
      </p:sp>
      <p:sp>
        <p:nvSpPr>
          <p:cNvPr id="11" name="Rectangle 228">
            <a:extLst>
              <a:ext uri="{FF2B5EF4-FFF2-40B4-BE49-F238E27FC236}">
                <a16:creationId xmlns:a16="http://schemas.microsoft.com/office/drawing/2014/main" id="{7BC5C357-A486-14E2-E34D-7CF6D362D473}"/>
              </a:ext>
            </a:extLst>
          </p:cNvPr>
          <p:cNvSpPr>
            <a:spLocks noChangeArrowheads="1"/>
          </p:cNvSpPr>
          <p:nvPr/>
        </p:nvSpPr>
        <p:spPr bwMode="auto">
          <a:xfrm>
            <a:off x="4117574" y="139180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p</a:t>
            </a:r>
          </a:p>
        </p:txBody>
      </p:sp>
      <p:sp>
        <p:nvSpPr>
          <p:cNvPr id="12" name="Line 29">
            <a:extLst>
              <a:ext uri="{FF2B5EF4-FFF2-40B4-BE49-F238E27FC236}">
                <a16:creationId xmlns:a16="http://schemas.microsoft.com/office/drawing/2014/main" id="{85E6C269-31F2-B412-0B9E-9CE4A0F3D839}"/>
              </a:ext>
            </a:extLst>
          </p:cNvPr>
          <p:cNvSpPr>
            <a:spLocks noChangeShapeType="1"/>
          </p:cNvSpPr>
          <p:nvPr/>
        </p:nvSpPr>
        <p:spPr bwMode="auto">
          <a:xfrm>
            <a:off x="4400917" y="1776450"/>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矩形 8">
            <a:extLst>
              <a:ext uri="{FF2B5EF4-FFF2-40B4-BE49-F238E27FC236}">
                <a16:creationId xmlns:a16="http://schemas.microsoft.com/office/drawing/2014/main" id="{96A78C73-DE27-994C-91CB-3BA1A2304DE5}"/>
              </a:ext>
            </a:extLst>
          </p:cNvPr>
          <p:cNvSpPr/>
          <p:nvPr/>
        </p:nvSpPr>
        <p:spPr>
          <a:xfrm>
            <a:off x="-17178" y="3027210"/>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13" name="矩形 12">
            <a:extLst>
              <a:ext uri="{FF2B5EF4-FFF2-40B4-BE49-F238E27FC236}">
                <a16:creationId xmlns:a16="http://schemas.microsoft.com/office/drawing/2014/main" id="{917F366E-377F-F01A-2D99-A8E9AEAFF588}"/>
              </a:ext>
            </a:extLst>
          </p:cNvPr>
          <p:cNvSpPr/>
          <p:nvPr/>
        </p:nvSpPr>
        <p:spPr>
          <a:xfrm>
            <a:off x="412635" y="3312174"/>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14" name="矩形 13">
            <a:extLst>
              <a:ext uri="{FF2B5EF4-FFF2-40B4-BE49-F238E27FC236}">
                <a16:creationId xmlns:a16="http://schemas.microsoft.com/office/drawing/2014/main" id="{32626D73-2873-8738-58EB-972B891C1F78}"/>
              </a:ext>
            </a:extLst>
          </p:cNvPr>
          <p:cNvSpPr/>
          <p:nvPr/>
        </p:nvSpPr>
        <p:spPr>
          <a:xfrm>
            <a:off x="5802407" y="3346350"/>
            <a:ext cx="2924029" cy="1338828"/>
          </a:xfrm>
          <a:prstGeom prst="rect">
            <a:avLst/>
          </a:prstGeom>
        </p:spPr>
        <p:txBody>
          <a:bodyPr wrap="square">
            <a:spAutoFit/>
          </a:bodyPr>
          <a:lstStyle/>
          <a:p>
            <a:pPr marL="1143000" lvl="2" indent="-228600">
              <a:spcBef>
                <a:spcPct val="15000"/>
              </a:spcBef>
              <a:buClr>
                <a:schemeClr val="tx1"/>
              </a:buClr>
              <a:buSzPct val="65000"/>
            </a:pPr>
            <a:r>
              <a:rPr lang="en-US" altLang="zh-CN" sz="1200" dirty="0">
                <a:latin typeface="Times New Roman" pitchFamily="18" charset="0"/>
                <a:ea typeface="宋体" pitchFamily="2" charset="-122"/>
              </a:rPr>
              <a:t>p =L;   j = 0;    </a:t>
            </a:r>
          </a:p>
          <a:p>
            <a:pPr marL="1143000" lvl="2" indent="-228600">
              <a:spcBef>
                <a:spcPct val="15000"/>
              </a:spcBef>
              <a:buClr>
                <a:schemeClr val="tx1"/>
              </a:buClr>
              <a:buSzPct val="65000"/>
            </a:pPr>
            <a:r>
              <a:rPr lang="en-US" altLang="zh-CN" sz="1200" dirty="0">
                <a:latin typeface="Times New Roman" pitchFamily="18" charset="0"/>
                <a:ea typeface="宋体" pitchFamily="2" charset="-122"/>
              </a:rPr>
              <a:t>while (p!=NULL &amp;&amp; j &lt; </a:t>
            </a:r>
            <a:r>
              <a:rPr lang="en-US" altLang="zh-CN" sz="1200" dirty="0">
                <a:solidFill>
                  <a:srgbClr val="FF0000"/>
                </a:solidFill>
                <a:latin typeface="Times New Roman" pitchFamily="18" charset="0"/>
                <a:ea typeface="宋体" pitchFamily="2" charset="-122"/>
              </a:rPr>
              <a:t>i-1</a:t>
            </a:r>
            <a:r>
              <a:rPr lang="en-US" altLang="zh-CN" sz="1200" dirty="0">
                <a:latin typeface="Times New Roman" pitchFamily="18" charset="0"/>
                <a:ea typeface="宋体" pitchFamily="2" charset="-122"/>
              </a:rPr>
              <a:t>) </a:t>
            </a:r>
          </a:p>
          <a:p>
            <a:pPr marL="1143000" lvl="2" indent="-228600">
              <a:spcBef>
                <a:spcPct val="15000"/>
              </a:spcBef>
              <a:buClr>
                <a:schemeClr val="tx1"/>
              </a:buClr>
              <a:buSzPct val="65000"/>
            </a:pPr>
            <a:r>
              <a:rPr lang="en-US" altLang="zh-CN" sz="1200" dirty="0">
                <a:latin typeface="Times New Roman" pitchFamily="18" charset="0"/>
                <a:ea typeface="宋体" pitchFamily="2" charset="-122"/>
              </a:rPr>
              <a:t>{      </a:t>
            </a:r>
          </a:p>
          <a:p>
            <a:pPr marL="1143000" lvl="2" indent="-228600">
              <a:spcBef>
                <a:spcPct val="15000"/>
              </a:spcBef>
              <a:buClr>
                <a:schemeClr val="tx1"/>
              </a:buClr>
              <a:buSzPct val="65000"/>
            </a:pPr>
            <a:r>
              <a:rPr lang="zh-CN" altLang="en-US" sz="1200" dirty="0">
                <a:latin typeface="Times New Roman" pitchFamily="18" charset="0"/>
                <a:ea typeface="宋体" pitchFamily="2" charset="-122"/>
              </a:rPr>
              <a:t>             </a:t>
            </a:r>
            <a:r>
              <a:rPr lang="en-US" altLang="zh-CN" sz="1200" dirty="0">
                <a:latin typeface="Times New Roman" pitchFamily="18" charset="0"/>
                <a:ea typeface="宋体" pitchFamily="2" charset="-122"/>
              </a:rPr>
              <a:t>p = p-&gt;next;</a:t>
            </a:r>
          </a:p>
          <a:p>
            <a:pPr marL="1143000" lvl="2" indent="-228600">
              <a:spcBef>
                <a:spcPct val="15000"/>
              </a:spcBef>
              <a:buClr>
                <a:schemeClr val="tx1"/>
              </a:buClr>
              <a:buSzPct val="65000"/>
            </a:pPr>
            <a:r>
              <a:rPr lang="en-US" altLang="zh-CN" sz="1200" dirty="0">
                <a:latin typeface="Times New Roman" pitchFamily="18" charset="0"/>
                <a:ea typeface="宋体" pitchFamily="2" charset="-122"/>
              </a:rPr>
              <a:t>             k++;</a:t>
            </a:r>
          </a:p>
          <a:p>
            <a:pPr marL="1143000" lvl="2" indent="-228600">
              <a:spcBef>
                <a:spcPct val="15000"/>
              </a:spcBef>
              <a:buClr>
                <a:schemeClr val="tx1"/>
              </a:buClr>
              <a:buSzPct val="65000"/>
            </a:pPr>
            <a:r>
              <a:rPr lang="en-US" altLang="zh-CN" sz="1200" dirty="0">
                <a:latin typeface="Times New Roman" pitchFamily="18" charset="0"/>
                <a:ea typeface="宋体" pitchFamily="2" charset="-122"/>
              </a:rPr>
              <a:t>}	</a:t>
            </a:r>
            <a:endParaRPr lang="zh-CN" altLang="en-US" sz="1200" dirty="0">
              <a:latin typeface="Times New Roman" pitchFamily="18" charset="0"/>
              <a:ea typeface="宋体" pitchFamily="2" charset="-122"/>
            </a:endParaRPr>
          </a:p>
        </p:txBody>
      </p:sp>
      <p:sp>
        <p:nvSpPr>
          <p:cNvPr id="16" name="矩形 15">
            <a:extLst>
              <a:ext uri="{FF2B5EF4-FFF2-40B4-BE49-F238E27FC236}">
                <a16:creationId xmlns:a16="http://schemas.microsoft.com/office/drawing/2014/main" id="{CAE01605-3F3A-93B6-9707-01B2785DEC14}"/>
              </a:ext>
            </a:extLst>
          </p:cNvPr>
          <p:cNvSpPr/>
          <p:nvPr/>
        </p:nvSpPr>
        <p:spPr>
          <a:xfrm>
            <a:off x="6872500" y="4615096"/>
            <a:ext cx="1210588" cy="400110"/>
          </a:xfrm>
          <a:prstGeom prst="rect">
            <a:avLst/>
          </a:prstGeom>
        </p:spPr>
        <p:txBody>
          <a:bodyPr wrap="none">
            <a:spAutoFit/>
          </a:bodyPr>
          <a:lstStyle/>
          <a:p>
            <a:pPr marL="0" lvl="1"/>
            <a:r>
              <a:rPr lang="zh-CN" altLang="en-US" sz="2000" dirty="0">
                <a:latin typeface="微软雅黑" pitchFamily="34" charset="-122"/>
                <a:ea typeface="微软雅黑" pitchFamily="34" charset="-122"/>
                <a:cs typeface="经典粗黑简" pitchFamily="49" charset="-122"/>
              </a:rPr>
              <a:t>顺</a:t>
            </a:r>
            <a:r>
              <a:rPr lang="zh-CN" altLang="en-US" sz="2000" dirty="0">
                <a:solidFill>
                  <a:srgbClr val="FF0000"/>
                </a:solidFill>
                <a:latin typeface="微软雅黑" pitchFamily="34" charset="-122"/>
                <a:ea typeface="微软雅黑" pitchFamily="34" charset="-122"/>
                <a:cs typeface="经典粗黑简" pitchFamily="49" charset="-122"/>
              </a:rPr>
              <a:t>藤</a:t>
            </a:r>
            <a:r>
              <a:rPr lang="zh-CN" altLang="en-US" sz="2000" dirty="0">
                <a:latin typeface="微软雅黑" pitchFamily="34" charset="-122"/>
                <a:ea typeface="微软雅黑" pitchFamily="34" charset="-122"/>
                <a:cs typeface="经典粗黑简" pitchFamily="49" charset="-122"/>
              </a:rPr>
              <a:t>摸</a:t>
            </a:r>
            <a:r>
              <a:rPr lang="zh-CN" altLang="en-US" sz="2000" dirty="0">
                <a:solidFill>
                  <a:srgbClr val="FF0000"/>
                </a:solidFill>
                <a:latin typeface="微软雅黑" pitchFamily="34" charset="-122"/>
                <a:ea typeface="微软雅黑" pitchFamily="34" charset="-122"/>
                <a:cs typeface="经典粗黑简" pitchFamily="49" charset="-122"/>
              </a:rPr>
              <a:t>瓜</a:t>
            </a:r>
          </a:p>
        </p:txBody>
      </p:sp>
      <p:sp>
        <p:nvSpPr>
          <p:cNvPr id="17" name="Rectangle 57">
            <a:extLst>
              <a:ext uri="{FF2B5EF4-FFF2-40B4-BE49-F238E27FC236}">
                <a16:creationId xmlns:a16="http://schemas.microsoft.com/office/drawing/2014/main" id="{52B98EAD-E3A8-D81F-9EDD-FCF4BB5B0836}"/>
              </a:ext>
            </a:extLst>
          </p:cNvPr>
          <p:cNvSpPr>
            <a:spLocks noChangeArrowheads="1"/>
          </p:cNvSpPr>
          <p:nvPr/>
        </p:nvSpPr>
        <p:spPr bwMode="auto">
          <a:xfrm>
            <a:off x="4229218" y="3018838"/>
            <a:ext cx="1013740"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j=i-1</a:t>
            </a:r>
            <a:endParaRPr kumimoji="0" lang="zh-CN" altLang="en-US" sz="2400" dirty="0">
              <a:ea typeface="Li Super" charset="-122"/>
            </a:endParaRPr>
          </a:p>
        </p:txBody>
      </p:sp>
      <p:sp>
        <p:nvSpPr>
          <p:cNvPr id="18" name="Rectangle 55">
            <a:extLst>
              <a:ext uri="{FF2B5EF4-FFF2-40B4-BE49-F238E27FC236}">
                <a16:creationId xmlns:a16="http://schemas.microsoft.com/office/drawing/2014/main" id="{5490D522-6206-95FF-2081-CB57549BBF8D}"/>
              </a:ext>
            </a:extLst>
          </p:cNvPr>
          <p:cNvSpPr>
            <a:spLocks noChangeArrowheads="1"/>
          </p:cNvSpPr>
          <p:nvPr/>
        </p:nvSpPr>
        <p:spPr bwMode="auto">
          <a:xfrm>
            <a:off x="4379042" y="155302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Tree>
    <p:extLst>
      <p:ext uri="{BB962C8B-B14F-4D97-AF65-F5344CB8AC3E}">
        <p14:creationId xmlns:p14="http://schemas.microsoft.com/office/powerpoint/2010/main" val="4160652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4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4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9" grpId="0"/>
      <p:bldP spid="50" grpId="0" animBg="1"/>
      <p:bldP spid="59" grpId="0"/>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2" grpId="0"/>
      <p:bldP spid="11" grpId="0"/>
      <p:bldP spid="12" grpId="0" animBg="1"/>
      <p:bldP spid="9" grpId="0"/>
      <p:bldP spid="13" grpId="0"/>
      <p:bldP spid="14" grpId="0"/>
      <p:bldP spid="16" grpId="0"/>
      <p:bldP spid="1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3C0F4-DE5A-07F7-159A-B7C70E348A09}"/>
            </a:ext>
          </a:extLst>
        </p:cNvPr>
        <p:cNvGrpSpPr/>
        <p:nvPr/>
      </p:nvGrpSpPr>
      <p:grpSpPr>
        <a:xfrm>
          <a:off x="0" y="0"/>
          <a:ext cx="0" cy="0"/>
          <a:chOff x="0" y="0"/>
          <a:chExt cx="0" cy="0"/>
        </a:xfrm>
      </p:grpSpPr>
      <p:sp>
        <p:nvSpPr>
          <p:cNvPr id="47" name="Rectangle 25">
            <a:extLst>
              <a:ext uri="{FF2B5EF4-FFF2-40B4-BE49-F238E27FC236}">
                <a16:creationId xmlns:a16="http://schemas.microsoft.com/office/drawing/2014/main" id="{1D242F7B-AADC-9932-A9AA-641A2B1CAACB}"/>
              </a:ext>
            </a:extLst>
          </p:cNvPr>
          <p:cNvSpPr>
            <a:spLocks noChangeArrowheads="1"/>
          </p:cNvSpPr>
          <p:nvPr/>
        </p:nvSpPr>
        <p:spPr bwMode="auto">
          <a:xfrm>
            <a:off x="7620379" y="239960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a:extLst>
              <a:ext uri="{FF2B5EF4-FFF2-40B4-BE49-F238E27FC236}">
                <a16:creationId xmlns:a16="http://schemas.microsoft.com/office/drawing/2014/main" id="{8B3C9FB4-5F08-0961-1A75-64084D1C0DCE}"/>
              </a:ext>
            </a:extLst>
          </p:cNvPr>
          <p:cNvSpPr>
            <a:spLocks noChangeArrowheads="1"/>
          </p:cNvSpPr>
          <p:nvPr/>
        </p:nvSpPr>
        <p:spPr bwMode="auto">
          <a:xfrm>
            <a:off x="4014473" y="23887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a:extLst>
              <a:ext uri="{FF2B5EF4-FFF2-40B4-BE49-F238E27FC236}">
                <a16:creationId xmlns:a16="http://schemas.microsoft.com/office/drawing/2014/main" id="{25EE1FD2-28B7-F147-CDEB-86518B498C1C}"/>
              </a:ext>
            </a:extLst>
          </p:cNvPr>
          <p:cNvSpPr>
            <a:spLocks noChangeShapeType="1"/>
          </p:cNvSpPr>
          <p:nvPr/>
        </p:nvSpPr>
        <p:spPr bwMode="auto">
          <a:xfrm>
            <a:off x="631856" y="2232697"/>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a:extLst>
              <a:ext uri="{FF2B5EF4-FFF2-40B4-BE49-F238E27FC236}">
                <a16:creationId xmlns:a16="http://schemas.microsoft.com/office/drawing/2014/main" id="{9D6F1A07-3EBE-A7A3-02B2-BE7349E1DBCB}"/>
              </a:ext>
            </a:extLst>
          </p:cNvPr>
          <p:cNvSpPr>
            <a:spLocks noChangeArrowheads="1"/>
          </p:cNvSpPr>
          <p:nvPr/>
        </p:nvSpPr>
        <p:spPr bwMode="auto">
          <a:xfrm>
            <a:off x="366211" y="203479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95" name="组合 94">
            <a:extLst>
              <a:ext uri="{FF2B5EF4-FFF2-40B4-BE49-F238E27FC236}">
                <a16:creationId xmlns:a16="http://schemas.microsoft.com/office/drawing/2014/main" id="{EB1E7A94-B9C3-2BA9-E35C-617B68DF84E4}"/>
              </a:ext>
            </a:extLst>
          </p:cNvPr>
          <p:cNvGrpSpPr/>
          <p:nvPr/>
        </p:nvGrpSpPr>
        <p:grpSpPr>
          <a:xfrm>
            <a:off x="2342689" y="2055888"/>
            <a:ext cx="533400" cy="984427"/>
            <a:chOff x="3344047" y="4287041"/>
            <a:chExt cx="533400" cy="1312569"/>
          </a:xfrm>
        </p:grpSpPr>
        <p:sp>
          <p:nvSpPr>
            <p:cNvPr id="97" name="Rectangle 5">
              <a:extLst>
                <a:ext uri="{FF2B5EF4-FFF2-40B4-BE49-F238E27FC236}">
                  <a16:creationId xmlns:a16="http://schemas.microsoft.com/office/drawing/2014/main" id="{6BF3F492-910A-772A-A995-7A39DFB5E966}"/>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a:extLst>
                <a:ext uri="{FF2B5EF4-FFF2-40B4-BE49-F238E27FC236}">
                  <a16:creationId xmlns:a16="http://schemas.microsoft.com/office/drawing/2014/main" id="{908B6F10-3907-A22E-3D8F-23B696055FA0}"/>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a:extLst>
                <a:ext uri="{FF2B5EF4-FFF2-40B4-BE49-F238E27FC236}">
                  <a16:creationId xmlns:a16="http://schemas.microsoft.com/office/drawing/2014/main" id="{3FB17C4A-54D6-1BDE-8966-E5DCB33E5C55}"/>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a:extLst>
              <a:ext uri="{FF2B5EF4-FFF2-40B4-BE49-F238E27FC236}">
                <a16:creationId xmlns:a16="http://schemas.microsoft.com/office/drawing/2014/main" id="{06B7AED0-FC31-DC5D-8F3D-811FD7D6E2E8}"/>
              </a:ext>
            </a:extLst>
          </p:cNvPr>
          <p:cNvGrpSpPr/>
          <p:nvPr/>
        </p:nvGrpSpPr>
        <p:grpSpPr>
          <a:xfrm>
            <a:off x="3401537" y="2055888"/>
            <a:ext cx="533400" cy="984427"/>
            <a:chOff x="3344047" y="4287041"/>
            <a:chExt cx="533400" cy="1312569"/>
          </a:xfrm>
        </p:grpSpPr>
        <p:sp>
          <p:nvSpPr>
            <p:cNvPr id="101" name="Rectangle 5">
              <a:extLst>
                <a:ext uri="{FF2B5EF4-FFF2-40B4-BE49-F238E27FC236}">
                  <a16:creationId xmlns:a16="http://schemas.microsoft.com/office/drawing/2014/main" id="{AA34FB81-B634-8E30-4095-5CD0DF143816}"/>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ED2A7839-E026-8D87-7CE9-620CA5FD78B9}"/>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a:extLst>
                <a:ext uri="{FF2B5EF4-FFF2-40B4-BE49-F238E27FC236}">
                  <a16:creationId xmlns:a16="http://schemas.microsoft.com/office/drawing/2014/main" id="{52397C4C-40A5-3964-DBFC-402A972F9B5C}"/>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a:extLst>
              <a:ext uri="{FF2B5EF4-FFF2-40B4-BE49-F238E27FC236}">
                <a16:creationId xmlns:a16="http://schemas.microsoft.com/office/drawing/2014/main" id="{8063CB27-1C9F-3878-0DDD-035F5473A0BB}"/>
              </a:ext>
            </a:extLst>
          </p:cNvPr>
          <p:cNvGrpSpPr/>
          <p:nvPr/>
        </p:nvGrpSpPr>
        <p:grpSpPr>
          <a:xfrm>
            <a:off x="4547475" y="2055888"/>
            <a:ext cx="675622" cy="984427"/>
            <a:chOff x="3344047" y="4287041"/>
            <a:chExt cx="533400" cy="1312569"/>
          </a:xfrm>
        </p:grpSpPr>
        <p:sp>
          <p:nvSpPr>
            <p:cNvPr id="105" name="Rectangle 5">
              <a:extLst>
                <a:ext uri="{FF2B5EF4-FFF2-40B4-BE49-F238E27FC236}">
                  <a16:creationId xmlns:a16="http://schemas.microsoft.com/office/drawing/2014/main" id="{482A7B33-D7EF-02E5-D358-A6FFF9661F20}"/>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a:extLst>
                <a:ext uri="{FF2B5EF4-FFF2-40B4-BE49-F238E27FC236}">
                  <a16:creationId xmlns:a16="http://schemas.microsoft.com/office/drawing/2014/main" id="{0A09016A-8218-A84A-AFAF-74AF983F6C2F}"/>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a:extLst>
                <a:ext uri="{FF2B5EF4-FFF2-40B4-BE49-F238E27FC236}">
                  <a16:creationId xmlns:a16="http://schemas.microsoft.com/office/drawing/2014/main" id="{DC49E6B0-FF45-7442-55C4-92D79DBEAF96}"/>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a:extLst>
              <a:ext uri="{FF2B5EF4-FFF2-40B4-BE49-F238E27FC236}">
                <a16:creationId xmlns:a16="http://schemas.microsoft.com/office/drawing/2014/main" id="{9DE54558-45C3-77AC-4825-4BE74E27D077}"/>
              </a:ext>
            </a:extLst>
          </p:cNvPr>
          <p:cNvGrpSpPr/>
          <p:nvPr/>
        </p:nvGrpSpPr>
        <p:grpSpPr>
          <a:xfrm>
            <a:off x="8095554" y="2055887"/>
            <a:ext cx="533400" cy="1076760"/>
            <a:chOff x="9096957" y="4287040"/>
            <a:chExt cx="533400" cy="1435680"/>
          </a:xfrm>
        </p:grpSpPr>
        <p:grpSp>
          <p:nvGrpSpPr>
            <p:cNvPr id="109" name="组合 108">
              <a:extLst>
                <a:ext uri="{FF2B5EF4-FFF2-40B4-BE49-F238E27FC236}">
                  <a16:creationId xmlns:a16="http://schemas.microsoft.com/office/drawing/2014/main" id="{67966980-6719-EA24-C467-ACEE6A5355BF}"/>
                </a:ext>
              </a:extLst>
            </p:cNvPr>
            <p:cNvGrpSpPr/>
            <p:nvPr/>
          </p:nvGrpSpPr>
          <p:grpSpPr>
            <a:xfrm>
              <a:off x="9096957" y="4287040"/>
              <a:ext cx="533400" cy="1312569"/>
              <a:chOff x="3344047" y="4287041"/>
              <a:chExt cx="533400" cy="1312569"/>
            </a:xfrm>
          </p:grpSpPr>
          <p:sp>
            <p:nvSpPr>
              <p:cNvPr id="111" name="Rectangle 5">
                <a:extLst>
                  <a:ext uri="{FF2B5EF4-FFF2-40B4-BE49-F238E27FC236}">
                    <a16:creationId xmlns:a16="http://schemas.microsoft.com/office/drawing/2014/main" id="{13A246CD-BF45-D738-9C88-1DD98B6E5A28}"/>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a:extLst>
                  <a:ext uri="{FF2B5EF4-FFF2-40B4-BE49-F238E27FC236}">
                    <a16:creationId xmlns:a16="http://schemas.microsoft.com/office/drawing/2014/main" id="{F50F319E-827C-8148-0983-E67CC25E1DED}"/>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a:extLst>
                  <a:ext uri="{FF2B5EF4-FFF2-40B4-BE49-F238E27FC236}">
                    <a16:creationId xmlns:a16="http://schemas.microsoft.com/office/drawing/2014/main" id="{69CE08CF-6217-1F80-6304-2B7C05917A8E}"/>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a:extLst>
                <a:ext uri="{FF2B5EF4-FFF2-40B4-BE49-F238E27FC236}">
                  <a16:creationId xmlns:a16="http://schemas.microsoft.com/office/drawing/2014/main" id="{997F14E3-4DC1-E49B-73DE-7C19AAD98702}"/>
                </a:ext>
              </a:extLst>
            </p:cNvPr>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a:extLst>
              <a:ext uri="{FF2B5EF4-FFF2-40B4-BE49-F238E27FC236}">
                <a16:creationId xmlns:a16="http://schemas.microsoft.com/office/drawing/2014/main" id="{069032B2-261E-9E81-BFA6-EE7F4D443C44}"/>
              </a:ext>
            </a:extLst>
          </p:cNvPr>
          <p:cNvGrpSpPr/>
          <p:nvPr/>
        </p:nvGrpSpPr>
        <p:grpSpPr>
          <a:xfrm>
            <a:off x="5748545" y="2055888"/>
            <a:ext cx="533400" cy="984427"/>
            <a:chOff x="3344047" y="4287041"/>
            <a:chExt cx="533400" cy="1312569"/>
          </a:xfrm>
        </p:grpSpPr>
        <p:sp>
          <p:nvSpPr>
            <p:cNvPr id="115" name="Rectangle 5">
              <a:extLst>
                <a:ext uri="{FF2B5EF4-FFF2-40B4-BE49-F238E27FC236}">
                  <a16:creationId xmlns:a16="http://schemas.microsoft.com/office/drawing/2014/main" id="{F60918F5-EF72-637D-B97D-01E1561C4567}"/>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a:extLst>
                <a:ext uri="{FF2B5EF4-FFF2-40B4-BE49-F238E27FC236}">
                  <a16:creationId xmlns:a16="http://schemas.microsoft.com/office/drawing/2014/main" id="{DC53745D-0752-FD10-A11F-AF85FA54D563}"/>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
              <a:extLst>
                <a:ext uri="{FF2B5EF4-FFF2-40B4-BE49-F238E27FC236}">
                  <a16:creationId xmlns:a16="http://schemas.microsoft.com/office/drawing/2014/main" id="{5DD6E6C0-64F5-0FE2-5DDA-5DD6682EE4CF}"/>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组合 117">
            <a:extLst>
              <a:ext uri="{FF2B5EF4-FFF2-40B4-BE49-F238E27FC236}">
                <a16:creationId xmlns:a16="http://schemas.microsoft.com/office/drawing/2014/main" id="{D653E2AA-7E98-9430-35C9-992DBA25F56A}"/>
              </a:ext>
            </a:extLst>
          </p:cNvPr>
          <p:cNvGrpSpPr/>
          <p:nvPr/>
        </p:nvGrpSpPr>
        <p:grpSpPr>
          <a:xfrm>
            <a:off x="6807393" y="2055888"/>
            <a:ext cx="675622" cy="984427"/>
            <a:chOff x="3344047" y="4287041"/>
            <a:chExt cx="533400" cy="1312569"/>
          </a:xfrm>
        </p:grpSpPr>
        <p:sp>
          <p:nvSpPr>
            <p:cNvPr id="119" name="Rectangle 5">
              <a:extLst>
                <a:ext uri="{FF2B5EF4-FFF2-40B4-BE49-F238E27FC236}">
                  <a16:creationId xmlns:a16="http://schemas.microsoft.com/office/drawing/2014/main" id="{33342495-7807-07B4-7079-169284B05AA1}"/>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a:extLst>
                <a:ext uri="{FF2B5EF4-FFF2-40B4-BE49-F238E27FC236}">
                  <a16:creationId xmlns:a16="http://schemas.microsoft.com/office/drawing/2014/main" id="{D1368E9E-17FE-185D-DCDF-0ABD579B51CB}"/>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a:extLst>
                <a:ext uri="{FF2B5EF4-FFF2-40B4-BE49-F238E27FC236}">
                  <a16:creationId xmlns:a16="http://schemas.microsoft.com/office/drawing/2014/main" id="{E123BE1F-E981-18EB-07F0-8F32565D0CB1}"/>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a:extLst>
              <a:ext uri="{FF2B5EF4-FFF2-40B4-BE49-F238E27FC236}">
                <a16:creationId xmlns:a16="http://schemas.microsoft.com/office/drawing/2014/main" id="{05AE4F58-CA7A-3480-47E8-AEB80B3DA8D5}"/>
              </a:ext>
            </a:extLst>
          </p:cNvPr>
          <p:cNvGrpSpPr/>
          <p:nvPr/>
        </p:nvGrpSpPr>
        <p:grpSpPr>
          <a:xfrm>
            <a:off x="1283841" y="2055888"/>
            <a:ext cx="533400" cy="984427"/>
            <a:chOff x="2459424" y="4263014"/>
            <a:chExt cx="533400" cy="1312569"/>
          </a:xfrm>
        </p:grpSpPr>
        <p:grpSp>
          <p:nvGrpSpPr>
            <p:cNvPr id="123" name="组合 122">
              <a:extLst>
                <a:ext uri="{FF2B5EF4-FFF2-40B4-BE49-F238E27FC236}">
                  <a16:creationId xmlns:a16="http://schemas.microsoft.com/office/drawing/2014/main" id="{4B0D256A-33A0-CDB4-F894-1DAFA139678A}"/>
                </a:ext>
              </a:extLst>
            </p:cNvPr>
            <p:cNvGrpSpPr/>
            <p:nvPr/>
          </p:nvGrpSpPr>
          <p:grpSpPr>
            <a:xfrm>
              <a:off x="2459424" y="4263014"/>
              <a:ext cx="533400" cy="1312569"/>
              <a:chOff x="3344047" y="4287041"/>
              <a:chExt cx="533400" cy="1312569"/>
            </a:xfrm>
          </p:grpSpPr>
          <p:sp>
            <p:nvSpPr>
              <p:cNvPr id="125" name="Rectangle 5">
                <a:extLst>
                  <a:ext uri="{FF2B5EF4-FFF2-40B4-BE49-F238E27FC236}">
                    <a16:creationId xmlns:a16="http://schemas.microsoft.com/office/drawing/2014/main" id="{2EE86311-09A8-D49B-5B48-3C077AFE864D}"/>
                  </a:ext>
                </a:extLst>
              </p:cNvPr>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a:extLst>
                  <a:ext uri="{FF2B5EF4-FFF2-40B4-BE49-F238E27FC236}">
                    <a16:creationId xmlns:a16="http://schemas.microsoft.com/office/drawing/2014/main" id="{39CDC1BD-AFF5-2656-69DD-B2CE35D88234}"/>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a:extLst>
                  <a:ext uri="{FF2B5EF4-FFF2-40B4-BE49-F238E27FC236}">
                    <a16:creationId xmlns:a16="http://schemas.microsoft.com/office/drawing/2014/main" id="{C9D18D80-6632-540C-3D0A-9197CFED3785}"/>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a:extLst>
                <a:ext uri="{FF2B5EF4-FFF2-40B4-BE49-F238E27FC236}">
                  <a16:creationId xmlns:a16="http://schemas.microsoft.com/office/drawing/2014/main" id="{C201A56D-FA98-0059-6D70-9BAAC8BA97FC}"/>
                </a:ext>
              </a:extLst>
            </p:cNvPr>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a:extLst>
              <a:ext uri="{FF2B5EF4-FFF2-40B4-BE49-F238E27FC236}">
                <a16:creationId xmlns:a16="http://schemas.microsoft.com/office/drawing/2014/main" id="{6B717A4E-9689-DBBD-314C-3E7D344F5D0A}"/>
              </a:ext>
            </a:extLst>
          </p:cNvPr>
          <p:cNvSpPr>
            <a:spLocks noChangeShapeType="1"/>
          </p:cNvSpPr>
          <p:nvPr/>
        </p:nvSpPr>
        <p:spPr bwMode="auto">
          <a:xfrm flipH="1">
            <a:off x="182778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a:extLst>
              <a:ext uri="{FF2B5EF4-FFF2-40B4-BE49-F238E27FC236}">
                <a16:creationId xmlns:a16="http://schemas.microsoft.com/office/drawing/2014/main" id="{EEB4F602-6FE0-B2FC-1C01-5C89D08D7DF6}"/>
              </a:ext>
            </a:extLst>
          </p:cNvPr>
          <p:cNvSpPr>
            <a:spLocks noChangeShapeType="1"/>
          </p:cNvSpPr>
          <p:nvPr/>
        </p:nvSpPr>
        <p:spPr bwMode="auto">
          <a:xfrm>
            <a:off x="1703118"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a:extLst>
              <a:ext uri="{FF2B5EF4-FFF2-40B4-BE49-F238E27FC236}">
                <a16:creationId xmlns:a16="http://schemas.microsoft.com/office/drawing/2014/main" id="{F0592565-E004-9746-D577-BB9DEE15B25F}"/>
              </a:ext>
            </a:extLst>
          </p:cNvPr>
          <p:cNvSpPr>
            <a:spLocks noChangeShapeType="1"/>
          </p:cNvSpPr>
          <p:nvPr/>
        </p:nvSpPr>
        <p:spPr bwMode="auto">
          <a:xfrm>
            <a:off x="2761967"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a:extLst>
              <a:ext uri="{FF2B5EF4-FFF2-40B4-BE49-F238E27FC236}">
                <a16:creationId xmlns:a16="http://schemas.microsoft.com/office/drawing/2014/main" id="{978DE97B-D871-C7F6-8520-D0BC62958E3F}"/>
              </a:ext>
            </a:extLst>
          </p:cNvPr>
          <p:cNvSpPr>
            <a:spLocks noChangeShapeType="1"/>
          </p:cNvSpPr>
          <p:nvPr/>
        </p:nvSpPr>
        <p:spPr bwMode="auto">
          <a:xfrm>
            <a:off x="3884001"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 name="Line 29">
            <a:extLst>
              <a:ext uri="{FF2B5EF4-FFF2-40B4-BE49-F238E27FC236}">
                <a16:creationId xmlns:a16="http://schemas.microsoft.com/office/drawing/2014/main" id="{94BFA3E2-458D-75C3-5084-E4F7633AF297}"/>
              </a:ext>
            </a:extLst>
          </p:cNvPr>
          <p:cNvSpPr>
            <a:spLocks noChangeShapeType="1"/>
          </p:cNvSpPr>
          <p:nvPr/>
        </p:nvSpPr>
        <p:spPr bwMode="auto">
          <a:xfrm>
            <a:off x="5108975"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a:extLst>
              <a:ext uri="{FF2B5EF4-FFF2-40B4-BE49-F238E27FC236}">
                <a16:creationId xmlns:a16="http://schemas.microsoft.com/office/drawing/2014/main" id="{75734EE9-7EE7-728F-5B17-76DF8EDCC587}"/>
              </a:ext>
            </a:extLst>
          </p:cNvPr>
          <p:cNvSpPr>
            <a:spLocks noChangeShapeType="1"/>
          </p:cNvSpPr>
          <p:nvPr/>
        </p:nvSpPr>
        <p:spPr bwMode="auto">
          <a:xfrm>
            <a:off x="6167823"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a:extLst>
              <a:ext uri="{FF2B5EF4-FFF2-40B4-BE49-F238E27FC236}">
                <a16:creationId xmlns:a16="http://schemas.microsoft.com/office/drawing/2014/main" id="{10EF5B50-0A32-A5B0-9BEE-B08700F67C98}"/>
              </a:ext>
            </a:extLst>
          </p:cNvPr>
          <p:cNvSpPr>
            <a:spLocks noChangeShapeType="1"/>
          </p:cNvSpPr>
          <p:nvPr/>
        </p:nvSpPr>
        <p:spPr bwMode="auto">
          <a:xfrm>
            <a:off x="7336602" y="2901815"/>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a:extLst>
              <a:ext uri="{FF2B5EF4-FFF2-40B4-BE49-F238E27FC236}">
                <a16:creationId xmlns:a16="http://schemas.microsoft.com/office/drawing/2014/main" id="{D226975D-E26B-1000-5D6F-F36DCF252B4A}"/>
              </a:ext>
            </a:extLst>
          </p:cNvPr>
          <p:cNvSpPr>
            <a:spLocks noChangeShapeType="1"/>
          </p:cNvSpPr>
          <p:nvPr/>
        </p:nvSpPr>
        <p:spPr bwMode="auto">
          <a:xfrm flipH="1">
            <a:off x="7892423" y="2226447"/>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29">
            <a:extLst>
              <a:ext uri="{FF2B5EF4-FFF2-40B4-BE49-F238E27FC236}">
                <a16:creationId xmlns:a16="http://schemas.microsoft.com/office/drawing/2014/main" id="{E50D64ED-C0DF-F0A3-0401-B1F31141AFAE}"/>
              </a:ext>
            </a:extLst>
          </p:cNvPr>
          <p:cNvSpPr>
            <a:spLocks noChangeShapeType="1"/>
          </p:cNvSpPr>
          <p:nvPr/>
        </p:nvSpPr>
        <p:spPr bwMode="auto">
          <a:xfrm flipH="1">
            <a:off x="628194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7" name="Line 29">
            <a:extLst>
              <a:ext uri="{FF2B5EF4-FFF2-40B4-BE49-F238E27FC236}">
                <a16:creationId xmlns:a16="http://schemas.microsoft.com/office/drawing/2014/main" id="{C17BBE5D-658E-4763-87B8-8A3D00B4BF9C}"/>
              </a:ext>
            </a:extLst>
          </p:cNvPr>
          <p:cNvSpPr>
            <a:spLocks noChangeShapeType="1"/>
          </p:cNvSpPr>
          <p:nvPr/>
        </p:nvSpPr>
        <p:spPr bwMode="auto">
          <a:xfrm flipH="1">
            <a:off x="5223098"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a:extLst>
              <a:ext uri="{FF2B5EF4-FFF2-40B4-BE49-F238E27FC236}">
                <a16:creationId xmlns:a16="http://schemas.microsoft.com/office/drawing/2014/main" id="{0658DC8D-7EA7-6CBE-32C4-6B62D8B7202F}"/>
              </a:ext>
            </a:extLst>
          </p:cNvPr>
          <p:cNvSpPr>
            <a:spLocks noChangeShapeType="1"/>
          </p:cNvSpPr>
          <p:nvPr/>
        </p:nvSpPr>
        <p:spPr bwMode="auto">
          <a:xfrm flipH="1">
            <a:off x="4344742" y="2226447"/>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a:extLst>
              <a:ext uri="{FF2B5EF4-FFF2-40B4-BE49-F238E27FC236}">
                <a16:creationId xmlns:a16="http://schemas.microsoft.com/office/drawing/2014/main" id="{ED98241E-E9D3-CEEC-7FBF-A4ED1018F1F0}"/>
              </a:ext>
            </a:extLst>
          </p:cNvPr>
          <p:cNvSpPr>
            <a:spLocks noChangeShapeType="1"/>
          </p:cNvSpPr>
          <p:nvPr/>
        </p:nvSpPr>
        <p:spPr bwMode="auto">
          <a:xfrm flipH="1">
            <a:off x="2876090"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a:extLst>
              <a:ext uri="{FF2B5EF4-FFF2-40B4-BE49-F238E27FC236}">
                <a16:creationId xmlns:a16="http://schemas.microsoft.com/office/drawing/2014/main" id="{4D22DBE3-5AD1-8FEA-56A5-4D15D54C79F8}"/>
              </a:ext>
            </a:extLst>
          </p:cNvPr>
          <p:cNvSpPr>
            <a:spLocks noChangeShapeType="1"/>
          </p:cNvSpPr>
          <p:nvPr/>
        </p:nvSpPr>
        <p:spPr bwMode="auto">
          <a:xfrm>
            <a:off x="4344742"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a:extLst>
              <a:ext uri="{FF2B5EF4-FFF2-40B4-BE49-F238E27FC236}">
                <a16:creationId xmlns:a16="http://schemas.microsoft.com/office/drawing/2014/main" id="{185BEDE0-4EEC-71EF-F727-83E494D3DB21}"/>
              </a:ext>
            </a:extLst>
          </p:cNvPr>
          <p:cNvSpPr>
            <a:spLocks noChangeShapeType="1"/>
          </p:cNvSpPr>
          <p:nvPr/>
        </p:nvSpPr>
        <p:spPr bwMode="auto">
          <a:xfrm>
            <a:off x="7892424"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a:extLst>
              <a:ext uri="{FF2B5EF4-FFF2-40B4-BE49-F238E27FC236}">
                <a16:creationId xmlns:a16="http://schemas.microsoft.com/office/drawing/2014/main" id="{7C86C761-B4FB-06FA-BC97-EBFB17CF2257}"/>
              </a:ext>
            </a:extLst>
          </p:cNvPr>
          <p:cNvSpPr>
            <a:spLocks noChangeShapeType="1"/>
          </p:cNvSpPr>
          <p:nvPr/>
        </p:nvSpPr>
        <p:spPr bwMode="auto">
          <a:xfrm flipH="1">
            <a:off x="7483015" y="2226447"/>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a:extLst>
              <a:ext uri="{FF2B5EF4-FFF2-40B4-BE49-F238E27FC236}">
                <a16:creationId xmlns:a16="http://schemas.microsoft.com/office/drawing/2014/main" id="{8BC6E84C-A7A3-30FC-5524-B986BE02C4A9}"/>
              </a:ext>
            </a:extLst>
          </p:cNvPr>
          <p:cNvSpPr>
            <a:spLocks noChangeShapeType="1"/>
          </p:cNvSpPr>
          <p:nvPr/>
        </p:nvSpPr>
        <p:spPr bwMode="auto">
          <a:xfrm flipH="1">
            <a:off x="3948323" y="2226447"/>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8" name="直接连接符 67">
            <a:extLst>
              <a:ext uri="{FF2B5EF4-FFF2-40B4-BE49-F238E27FC236}">
                <a16:creationId xmlns:a16="http://schemas.microsoft.com/office/drawing/2014/main" id="{2ECCC52F-7E66-7FFE-9CE8-35A221182164}"/>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F2DE5468-5EDC-42DB-441C-6499436F0B9E}"/>
              </a:ext>
            </a:extLst>
          </p:cNvPr>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7B022B90-F0F7-CB18-F4CD-B2D91691749B}"/>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2" name="矩形 1">
            <a:extLst>
              <a:ext uri="{FF2B5EF4-FFF2-40B4-BE49-F238E27FC236}">
                <a16:creationId xmlns:a16="http://schemas.microsoft.com/office/drawing/2014/main" id="{235D061C-E125-5D83-FFFF-E44E3BD39120}"/>
              </a:ext>
            </a:extLst>
          </p:cNvPr>
          <p:cNvSpPr/>
          <p:nvPr/>
        </p:nvSpPr>
        <p:spPr>
          <a:xfrm>
            <a:off x="493821" y="1446757"/>
            <a:ext cx="3142075" cy="369332"/>
          </a:xfrm>
          <a:prstGeom prst="rect">
            <a:avLst/>
          </a:prstGeom>
        </p:spPr>
        <p:txBody>
          <a:bodyPr wrap="square">
            <a:spAutoFit/>
          </a:bodyPr>
          <a:lstStyle/>
          <a:p>
            <a:r>
              <a:rPr lang="en-US" altLang="zh-CN" dirty="0">
                <a:latin typeface="微软雅黑" pitchFamily="34" charset="-122"/>
                <a:ea typeface="微软雅黑" pitchFamily="34" charset="-122"/>
                <a:cs typeface="经典粗黑简" pitchFamily="49" charset="-122"/>
              </a:rPr>
              <a:t>2.3.3.1 </a:t>
            </a:r>
            <a:r>
              <a:rPr lang="zh-CN" altLang="en-US" dirty="0">
                <a:latin typeface="微软雅黑" pitchFamily="34" charset="-122"/>
                <a:ea typeface="微软雅黑" pitchFamily="34" charset="-122"/>
                <a:cs typeface="经典粗黑简" pitchFamily="49" charset="-122"/>
              </a:rPr>
              <a:t>插入结点操作</a:t>
            </a:r>
          </a:p>
        </p:txBody>
      </p:sp>
      <p:sp>
        <p:nvSpPr>
          <p:cNvPr id="11" name="Rectangle 228">
            <a:extLst>
              <a:ext uri="{FF2B5EF4-FFF2-40B4-BE49-F238E27FC236}">
                <a16:creationId xmlns:a16="http://schemas.microsoft.com/office/drawing/2014/main" id="{C8FE9579-5BEC-667F-1A62-7232495B3EA9}"/>
              </a:ext>
            </a:extLst>
          </p:cNvPr>
          <p:cNvSpPr>
            <a:spLocks noChangeArrowheads="1"/>
          </p:cNvSpPr>
          <p:nvPr/>
        </p:nvSpPr>
        <p:spPr bwMode="auto">
          <a:xfrm>
            <a:off x="4117574" y="139180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p</a:t>
            </a:r>
          </a:p>
        </p:txBody>
      </p:sp>
      <p:sp>
        <p:nvSpPr>
          <p:cNvPr id="12" name="Line 29">
            <a:extLst>
              <a:ext uri="{FF2B5EF4-FFF2-40B4-BE49-F238E27FC236}">
                <a16:creationId xmlns:a16="http://schemas.microsoft.com/office/drawing/2014/main" id="{31FE96E8-0FF0-6395-3999-2E7B37E3E47D}"/>
              </a:ext>
            </a:extLst>
          </p:cNvPr>
          <p:cNvSpPr>
            <a:spLocks noChangeShapeType="1"/>
          </p:cNvSpPr>
          <p:nvPr/>
        </p:nvSpPr>
        <p:spPr bwMode="auto">
          <a:xfrm>
            <a:off x="4400917" y="1776450"/>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矩形 8">
            <a:extLst>
              <a:ext uri="{FF2B5EF4-FFF2-40B4-BE49-F238E27FC236}">
                <a16:creationId xmlns:a16="http://schemas.microsoft.com/office/drawing/2014/main" id="{4A95BB0E-73E0-C2AF-85D7-641C144AD8BE}"/>
              </a:ext>
            </a:extLst>
          </p:cNvPr>
          <p:cNvSpPr/>
          <p:nvPr/>
        </p:nvSpPr>
        <p:spPr>
          <a:xfrm>
            <a:off x="-17178" y="3027210"/>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13" name="矩形 12">
            <a:extLst>
              <a:ext uri="{FF2B5EF4-FFF2-40B4-BE49-F238E27FC236}">
                <a16:creationId xmlns:a16="http://schemas.microsoft.com/office/drawing/2014/main" id="{05B0B0C7-4DEF-B140-ABD2-F1A03B4C2007}"/>
              </a:ext>
            </a:extLst>
          </p:cNvPr>
          <p:cNvSpPr/>
          <p:nvPr/>
        </p:nvSpPr>
        <p:spPr>
          <a:xfrm>
            <a:off x="412635" y="3312174"/>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18" name="Rectangle 55">
            <a:extLst>
              <a:ext uri="{FF2B5EF4-FFF2-40B4-BE49-F238E27FC236}">
                <a16:creationId xmlns:a16="http://schemas.microsoft.com/office/drawing/2014/main" id="{C0EF1AE6-D869-FED0-C1FC-7C62BEC114F7}"/>
              </a:ext>
            </a:extLst>
          </p:cNvPr>
          <p:cNvSpPr>
            <a:spLocks noChangeArrowheads="1"/>
          </p:cNvSpPr>
          <p:nvPr/>
        </p:nvSpPr>
        <p:spPr bwMode="auto">
          <a:xfrm>
            <a:off x="4379042" y="155302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grpSp>
        <p:nvGrpSpPr>
          <p:cNvPr id="4" name="组合 3">
            <a:extLst>
              <a:ext uri="{FF2B5EF4-FFF2-40B4-BE49-F238E27FC236}">
                <a16:creationId xmlns:a16="http://schemas.microsoft.com/office/drawing/2014/main" id="{9D7B8A47-7D34-350F-55AB-9884C0299AA1}"/>
              </a:ext>
            </a:extLst>
          </p:cNvPr>
          <p:cNvGrpSpPr/>
          <p:nvPr/>
        </p:nvGrpSpPr>
        <p:grpSpPr>
          <a:xfrm>
            <a:off x="5541656" y="3663215"/>
            <a:ext cx="533400" cy="984427"/>
            <a:chOff x="3344047" y="4287041"/>
            <a:chExt cx="533400" cy="1312569"/>
          </a:xfrm>
        </p:grpSpPr>
        <p:sp>
          <p:nvSpPr>
            <p:cNvPr id="5" name="Rectangle 5">
              <a:extLst>
                <a:ext uri="{FF2B5EF4-FFF2-40B4-BE49-F238E27FC236}">
                  <a16:creationId xmlns:a16="http://schemas.microsoft.com/office/drawing/2014/main" id="{CA8A254C-F272-53BA-3D47-BDB1BCF07240}"/>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600" baseline="-25000" dirty="0"/>
                <a:t>e </a:t>
              </a:r>
              <a:r>
                <a:rPr lang="en-US" altLang="zh-CN" sz="2400" dirty="0"/>
                <a:t>   </a:t>
              </a:r>
            </a:p>
          </p:txBody>
        </p:sp>
        <p:sp>
          <p:nvSpPr>
            <p:cNvPr id="6" name="Line 6">
              <a:extLst>
                <a:ext uri="{FF2B5EF4-FFF2-40B4-BE49-F238E27FC236}">
                  <a16:creationId xmlns:a16="http://schemas.microsoft.com/office/drawing/2014/main" id="{798B7B27-D904-A1E1-B244-343CE14C85AF}"/>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Line 6">
              <a:extLst>
                <a:ext uri="{FF2B5EF4-FFF2-40B4-BE49-F238E27FC236}">
                  <a16:creationId xmlns:a16="http://schemas.microsoft.com/office/drawing/2014/main" id="{3CBB6C61-EC97-53C9-D0E5-CEEADF2881FB}"/>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 name="Line 29">
            <a:extLst>
              <a:ext uri="{FF2B5EF4-FFF2-40B4-BE49-F238E27FC236}">
                <a16:creationId xmlns:a16="http://schemas.microsoft.com/office/drawing/2014/main" id="{5E2A5A14-79CC-8111-5DB4-377166E06D2E}"/>
              </a:ext>
            </a:extLst>
          </p:cNvPr>
          <p:cNvSpPr>
            <a:spLocks noChangeShapeType="1"/>
          </p:cNvSpPr>
          <p:nvPr/>
        </p:nvSpPr>
        <p:spPr bwMode="auto">
          <a:xfrm>
            <a:off x="4902085" y="3821199"/>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228">
            <a:extLst>
              <a:ext uri="{FF2B5EF4-FFF2-40B4-BE49-F238E27FC236}">
                <a16:creationId xmlns:a16="http://schemas.microsoft.com/office/drawing/2014/main" id="{61747F68-0B17-48E7-B8B4-21C2897F4B2B}"/>
              </a:ext>
            </a:extLst>
          </p:cNvPr>
          <p:cNvSpPr>
            <a:spLocks noChangeArrowheads="1"/>
          </p:cNvSpPr>
          <p:nvPr/>
        </p:nvSpPr>
        <p:spPr bwMode="auto">
          <a:xfrm>
            <a:off x="4554463" y="3587687"/>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s</a:t>
            </a:r>
          </a:p>
        </p:txBody>
      </p:sp>
      <p:sp>
        <p:nvSpPr>
          <p:cNvPr id="15" name="Rectangle 55">
            <a:extLst>
              <a:ext uri="{FF2B5EF4-FFF2-40B4-BE49-F238E27FC236}">
                <a16:creationId xmlns:a16="http://schemas.microsoft.com/office/drawing/2014/main" id="{B9489095-B209-2BD4-46D8-81F82769F117}"/>
              </a:ext>
            </a:extLst>
          </p:cNvPr>
          <p:cNvSpPr>
            <a:spLocks noChangeArrowheads="1"/>
          </p:cNvSpPr>
          <p:nvPr/>
        </p:nvSpPr>
        <p:spPr bwMode="auto">
          <a:xfrm>
            <a:off x="4731794" y="330114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19" name="矩形 18">
            <a:extLst>
              <a:ext uri="{FF2B5EF4-FFF2-40B4-BE49-F238E27FC236}">
                <a16:creationId xmlns:a16="http://schemas.microsoft.com/office/drawing/2014/main" id="{D6B003A7-D38C-D0BA-5A55-1CEF0C3D5CC6}"/>
              </a:ext>
            </a:extLst>
          </p:cNvPr>
          <p:cNvSpPr/>
          <p:nvPr/>
        </p:nvSpPr>
        <p:spPr>
          <a:xfrm>
            <a:off x="420097" y="3685542"/>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生成一个新的结点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a:t>
            </a:r>
          </a:p>
        </p:txBody>
      </p:sp>
      <p:sp>
        <p:nvSpPr>
          <p:cNvPr id="20" name="文本框 19">
            <a:extLst>
              <a:ext uri="{FF2B5EF4-FFF2-40B4-BE49-F238E27FC236}">
                <a16:creationId xmlns:a16="http://schemas.microsoft.com/office/drawing/2014/main" id="{2C50581F-FFE1-7413-C4FA-F8796948C1DE}"/>
              </a:ext>
            </a:extLst>
          </p:cNvPr>
          <p:cNvSpPr txBox="1"/>
          <p:nvPr/>
        </p:nvSpPr>
        <p:spPr>
          <a:xfrm>
            <a:off x="356499" y="4173172"/>
            <a:ext cx="5151606" cy="736420"/>
          </a:xfrm>
          <a:prstGeom prst="rect">
            <a:avLst/>
          </a:prstGeom>
          <a:noFill/>
        </p:spPr>
        <p:txBody>
          <a:bodyPr wrap="square">
            <a:spAutoFit/>
          </a:bodyPr>
          <a:lstStyle/>
          <a:p>
            <a:pPr>
              <a:lnSpc>
                <a:spcPts val="2600"/>
              </a:lnSpc>
            </a:pPr>
            <a:r>
              <a:rPr kumimoji="1" lang="en-US" altLang="zh-CN" sz="1800" dirty="0">
                <a:solidFill>
                  <a:srgbClr val="0000FF"/>
                </a:solidFill>
                <a:latin typeface="Consolas" pitchFamily="49" charset="0"/>
                <a:ea typeface="仿宋" pitchFamily="49" charset="-122"/>
                <a:cs typeface="Consolas" pitchFamily="49" charset="0"/>
              </a:rPr>
              <a:t>s=(</a:t>
            </a:r>
            <a:r>
              <a:rPr lang="en-US" altLang="zh-CN" dirty="0" err="1">
                <a:latin typeface="Times New Roman" pitchFamily="18" charset="0"/>
              </a:rPr>
              <a:t>DLinkNode</a:t>
            </a:r>
            <a:r>
              <a:rPr kumimoji="1" lang="en-US" altLang="zh-CN" sz="1800" dirty="0">
                <a:solidFill>
                  <a:srgbClr val="0000FF"/>
                </a:solidFill>
                <a:latin typeface="Consolas" pitchFamily="49" charset="0"/>
                <a:ea typeface="仿宋" pitchFamily="49" charset="-122"/>
                <a:cs typeface="Consolas" pitchFamily="49" charset="0"/>
              </a:rPr>
              <a:t> *)malloc(</a:t>
            </a:r>
            <a:r>
              <a:rPr kumimoji="1" lang="en-US" altLang="zh-CN" sz="1800" dirty="0" err="1">
                <a:solidFill>
                  <a:srgbClr val="0000FF"/>
                </a:solidFill>
                <a:latin typeface="Consolas" pitchFamily="49" charset="0"/>
                <a:ea typeface="仿宋" pitchFamily="49" charset="-122"/>
                <a:cs typeface="Consolas" pitchFamily="49" charset="0"/>
              </a:rPr>
              <a:t>sizeof</a:t>
            </a:r>
            <a:r>
              <a:rPr kumimoji="1" lang="en-US" altLang="zh-CN" sz="1800" dirty="0">
                <a:solidFill>
                  <a:srgbClr val="0000FF"/>
                </a:solidFill>
                <a:latin typeface="Consolas" pitchFamily="49" charset="0"/>
                <a:ea typeface="仿宋" pitchFamily="49" charset="-122"/>
                <a:cs typeface="Consolas" pitchFamily="49" charset="0"/>
              </a:rPr>
              <a:t>(</a:t>
            </a:r>
            <a:r>
              <a:rPr lang="en-US" altLang="zh-CN" dirty="0" err="1">
                <a:latin typeface="Times New Roman" pitchFamily="18" charset="0"/>
              </a:rPr>
              <a:t>DLinkNode</a:t>
            </a:r>
            <a:r>
              <a:rPr kumimoji="1" lang="en-US" altLang="zh-CN" sz="1800" dirty="0">
                <a:solidFill>
                  <a:srgbClr val="0000FF"/>
                </a:solidFill>
                <a:latin typeface="Consolas" pitchFamily="49" charset="0"/>
                <a:ea typeface="仿宋" pitchFamily="49" charset="-122"/>
                <a:cs typeface="Consolas" pitchFamily="49" charset="0"/>
              </a:rPr>
              <a:t>));</a:t>
            </a:r>
          </a:p>
          <a:p>
            <a:pPr algn="l">
              <a:lnSpc>
                <a:spcPts val="2600"/>
              </a:lnSpc>
            </a:pPr>
            <a:r>
              <a:rPr kumimoji="1" lang="en-US" altLang="zh-CN" sz="1800" dirty="0">
                <a:solidFill>
                  <a:srgbClr val="0000FF"/>
                </a:solidFill>
                <a:latin typeface="Consolas" pitchFamily="49" charset="0"/>
                <a:ea typeface="仿宋" pitchFamily="49" charset="-122"/>
                <a:cs typeface="Consolas" pitchFamily="49" charset="0"/>
              </a:rPr>
              <a:t>s-&gt;data=e;	</a:t>
            </a:r>
            <a:endParaRPr lang="zh-CN" altLang="en-US" dirty="0"/>
          </a:p>
        </p:txBody>
      </p:sp>
    </p:spTree>
    <p:extLst>
      <p:ext uri="{BB962C8B-B14F-4D97-AF65-F5344CB8AC3E}">
        <p14:creationId xmlns:p14="http://schemas.microsoft.com/office/powerpoint/2010/main" val="5990825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AEDC6-AC00-60DC-4A19-07A82222FA2F}"/>
            </a:ext>
          </a:extLst>
        </p:cNvPr>
        <p:cNvGrpSpPr/>
        <p:nvPr/>
      </p:nvGrpSpPr>
      <p:grpSpPr>
        <a:xfrm>
          <a:off x="0" y="0"/>
          <a:ext cx="0" cy="0"/>
          <a:chOff x="0" y="0"/>
          <a:chExt cx="0" cy="0"/>
        </a:xfrm>
      </p:grpSpPr>
      <p:sp>
        <p:nvSpPr>
          <p:cNvPr id="47" name="Rectangle 25">
            <a:extLst>
              <a:ext uri="{FF2B5EF4-FFF2-40B4-BE49-F238E27FC236}">
                <a16:creationId xmlns:a16="http://schemas.microsoft.com/office/drawing/2014/main" id="{66BF6047-5C84-545D-9C09-F219743748E1}"/>
              </a:ext>
            </a:extLst>
          </p:cNvPr>
          <p:cNvSpPr>
            <a:spLocks noChangeArrowheads="1"/>
          </p:cNvSpPr>
          <p:nvPr/>
        </p:nvSpPr>
        <p:spPr bwMode="auto">
          <a:xfrm>
            <a:off x="7620379" y="239960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a:extLst>
              <a:ext uri="{FF2B5EF4-FFF2-40B4-BE49-F238E27FC236}">
                <a16:creationId xmlns:a16="http://schemas.microsoft.com/office/drawing/2014/main" id="{B120C5A7-205E-BB6C-BED5-C4EB058ED924}"/>
              </a:ext>
            </a:extLst>
          </p:cNvPr>
          <p:cNvSpPr>
            <a:spLocks noChangeArrowheads="1"/>
          </p:cNvSpPr>
          <p:nvPr/>
        </p:nvSpPr>
        <p:spPr bwMode="auto">
          <a:xfrm>
            <a:off x="4014473" y="23887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a:extLst>
              <a:ext uri="{FF2B5EF4-FFF2-40B4-BE49-F238E27FC236}">
                <a16:creationId xmlns:a16="http://schemas.microsoft.com/office/drawing/2014/main" id="{B2ECAC40-5B20-4CD8-0433-868FF5E19F83}"/>
              </a:ext>
            </a:extLst>
          </p:cNvPr>
          <p:cNvSpPr>
            <a:spLocks noChangeShapeType="1"/>
          </p:cNvSpPr>
          <p:nvPr/>
        </p:nvSpPr>
        <p:spPr bwMode="auto">
          <a:xfrm>
            <a:off x="631856" y="2232697"/>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a:extLst>
              <a:ext uri="{FF2B5EF4-FFF2-40B4-BE49-F238E27FC236}">
                <a16:creationId xmlns:a16="http://schemas.microsoft.com/office/drawing/2014/main" id="{A89AC4D8-773F-5136-2389-F643B0E5D243}"/>
              </a:ext>
            </a:extLst>
          </p:cNvPr>
          <p:cNvSpPr>
            <a:spLocks noChangeArrowheads="1"/>
          </p:cNvSpPr>
          <p:nvPr/>
        </p:nvSpPr>
        <p:spPr bwMode="auto">
          <a:xfrm>
            <a:off x="366211" y="203479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95" name="组合 94">
            <a:extLst>
              <a:ext uri="{FF2B5EF4-FFF2-40B4-BE49-F238E27FC236}">
                <a16:creationId xmlns:a16="http://schemas.microsoft.com/office/drawing/2014/main" id="{0D6EE645-F4FB-7244-B10F-53D3E52D3FDC}"/>
              </a:ext>
            </a:extLst>
          </p:cNvPr>
          <p:cNvGrpSpPr/>
          <p:nvPr/>
        </p:nvGrpSpPr>
        <p:grpSpPr>
          <a:xfrm>
            <a:off x="2342689" y="2055888"/>
            <a:ext cx="533400" cy="984427"/>
            <a:chOff x="3344047" y="4287041"/>
            <a:chExt cx="533400" cy="1312569"/>
          </a:xfrm>
        </p:grpSpPr>
        <p:sp>
          <p:nvSpPr>
            <p:cNvPr id="97" name="Rectangle 5">
              <a:extLst>
                <a:ext uri="{FF2B5EF4-FFF2-40B4-BE49-F238E27FC236}">
                  <a16:creationId xmlns:a16="http://schemas.microsoft.com/office/drawing/2014/main" id="{5C97524A-0CEF-618C-1AF8-8480B5E89281}"/>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a:extLst>
                <a:ext uri="{FF2B5EF4-FFF2-40B4-BE49-F238E27FC236}">
                  <a16:creationId xmlns:a16="http://schemas.microsoft.com/office/drawing/2014/main" id="{BF87576F-3E15-77B0-F987-DDFF87492C7A}"/>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a:extLst>
                <a:ext uri="{FF2B5EF4-FFF2-40B4-BE49-F238E27FC236}">
                  <a16:creationId xmlns:a16="http://schemas.microsoft.com/office/drawing/2014/main" id="{F226CD25-E043-707E-1B37-C111C75F0443}"/>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a:extLst>
              <a:ext uri="{FF2B5EF4-FFF2-40B4-BE49-F238E27FC236}">
                <a16:creationId xmlns:a16="http://schemas.microsoft.com/office/drawing/2014/main" id="{7D84667C-E61B-CFF8-8EF3-5E3757123639}"/>
              </a:ext>
            </a:extLst>
          </p:cNvPr>
          <p:cNvGrpSpPr/>
          <p:nvPr/>
        </p:nvGrpSpPr>
        <p:grpSpPr>
          <a:xfrm>
            <a:off x="3401537" y="2055888"/>
            <a:ext cx="533400" cy="984427"/>
            <a:chOff x="3344047" y="4287041"/>
            <a:chExt cx="533400" cy="1312569"/>
          </a:xfrm>
        </p:grpSpPr>
        <p:sp>
          <p:nvSpPr>
            <p:cNvPr id="101" name="Rectangle 5">
              <a:extLst>
                <a:ext uri="{FF2B5EF4-FFF2-40B4-BE49-F238E27FC236}">
                  <a16:creationId xmlns:a16="http://schemas.microsoft.com/office/drawing/2014/main" id="{4BDF3CB2-D19B-90C5-6E0E-CBB7C0AC7A4E}"/>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E15CD2EB-BE0B-DF72-E73D-02554D947271}"/>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a:extLst>
                <a:ext uri="{FF2B5EF4-FFF2-40B4-BE49-F238E27FC236}">
                  <a16:creationId xmlns:a16="http://schemas.microsoft.com/office/drawing/2014/main" id="{CD2621D1-CCC7-F115-0A85-E3041B364100}"/>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a:extLst>
              <a:ext uri="{FF2B5EF4-FFF2-40B4-BE49-F238E27FC236}">
                <a16:creationId xmlns:a16="http://schemas.microsoft.com/office/drawing/2014/main" id="{A4C58FDA-2B37-311C-49A5-09F70AD8FAB2}"/>
              </a:ext>
            </a:extLst>
          </p:cNvPr>
          <p:cNvGrpSpPr/>
          <p:nvPr/>
        </p:nvGrpSpPr>
        <p:grpSpPr>
          <a:xfrm>
            <a:off x="4547475" y="2055888"/>
            <a:ext cx="675622" cy="984427"/>
            <a:chOff x="3344047" y="4287041"/>
            <a:chExt cx="533400" cy="1312569"/>
          </a:xfrm>
        </p:grpSpPr>
        <p:sp>
          <p:nvSpPr>
            <p:cNvPr id="105" name="Rectangle 5">
              <a:extLst>
                <a:ext uri="{FF2B5EF4-FFF2-40B4-BE49-F238E27FC236}">
                  <a16:creationId xmlns:a16="http://schemas.microsoft.com/office/drawing/2014/main" id="{3AFF5C97-8A40-7667-EA8C-ECA186512E95}"/>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a:extLst>
                <a:ext uri="{FF2B5EF4-FFF2-40B4-BE49-F238E27FC236}">
                  <a16:creationId xmlns:a16="http://schemas.microsoft.com/office/drawing/2014/main" id="{8E5E5E9D-D261-F2A9-2990-AEB56309B0FF}"/>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a:extLst>
                <a:ext uri="{FF2B5EF4-FFF2-40B4-BE49-F238E27FC236}">
                  <a16:creationId xmlns:a16="http://schemas.microsoft.com/office/drawing/2014/main" id="{132B2E6F-C351-6690-5974-D6068E1557E1}"/>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a:extLst>
              <a:ext uri="{FF2B5EF4-FFF2-40B4-BE49-F238E27FC236}">
                <a16:creationId xmlns:a16="http://schemas.microsoft.com/office/drawing/2014/main" id="{AD85A215-47BE-F52F-2C02-48338527D774}"/>
              </a:ext>
            </a:extLst>
          </p:cNvPr>
          <p:cNvGrpSpPr/>
          <p:nvPr/>
        </p:nvGrpSpPr>
        <p:grpSpPr>
          <a:xfrm>
            <a:off x="8095554" y="2055887"/>
            <a:ext cx="533400" cy="1076760"/>
            <a:chOff x="9096957" y="4287040"/>
            <a:chExt cx="533400" cy="1435680"/>
          </a:xfrm>
        </p:grpSpPr>
        <p:grpSp>
          <p:nvGrpSpPr>
            <p:cNvPr id="109" name="组合 108">
              <a:extLst>
                <a:ext uri="{FF2B5EF4-FFF2-40B4-BE49-F238E27FC236}">
                  <a16:creationId xmlns:a16="http://schemas.microsoft.com/office/drawing/2014/main" id="{BD0F1FA9-E7FB-47DE-A8E7-C0B74B70003B}"/>
                </a:ext>
              </a:extLst>
            </p:cNvPr>
            <p:cNvGrpSpPr/>
            <p:nvPr/>
          </p:nvGrpSpPr>
          <p:grpSpPr>
            <a:xfrm>
              <a:off x="9096957" y="4287040"/>
              <a:ext cx="533400" cy="1312569"/>
              <a:chOff x="3344047" y="4287041"/>
              <a:chExt cx="533400" cy="1312569"/>
            </a:xfrm>
          </p:grpSpPr>
          <p:sp>
            <p:nvSpPr>
              <p:cNvPr id="111" name="Rectangle 5">
                <a:extLst>
                  <a:ext uri="{FF2B5EF4-FFF2-40B4-BE49-F238E27FC236}">
                    <a16:creationId xmlns:a16="http://schemas.microsoft.com/office/drawing/2014/main" id="{978CFB86-E6E8-ED39-17D7-EBE93E85340D}"/>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a:extLst>
                  <a:ext uri="{FF2B5EF4-FFF2-40B4-BE49-F238E27FC236}">
                    <a16:creationId xmlns:a16="http://schemas.microsoft.com/office/drawing/2014/main" id="{83C3B80A-595E-B0D0-9446-2EAC99CEDBE9}"/>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a:extLst>
                  <a:ext uri="{FF2B5EF4-FFF2-40B4-BE49-F238E27FC236}">
                    <a16:creationId xmlns:a16="http://schemas.microsoft.com/office/drawing/2014/main" id="{BFE19A55-FBC0-A288-69D4-49FDF48A4F12}"/>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a:extLst>
                <a:ext uri="{FF2B5EF4-FFF2-40B4-BE49-F238E27FC236}">
                  <a16:creationId xmlns:a16="http://schemas.microsoft.com/office/drawing/2014/main" id="{515BAE4F-2FAF-0BD2-1DBF-ADF0702FC733}"/>
                </a:ext>
              </a:extLst>
            </p:cNvPr>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a:extLst>
              <a:ext uri="{FF2B5EF4-FFF2-40B4-BE49-F238E27FC236}">
                <a16:creationId xmlns:a16="http://schemas.microsoft.com/office/drawing/2014/main" id="{96BB6444-7141-5BBF-7F3A-68949AD037DE}"/>
              </a:ext>
            </a:extLst>
          </p:cNvPr>
          <p:cNvGrpSpPr/>
          <p:nvPr/>
        </p:nvGrpSpPr>
        <p:grpSpPr>
          <a:xfrm>
            <a:off x="5748545" y="2055888"/>
            <a:ext cx="533400" cy="984427"/>
            <a:chOff x="3344047" y="4287041"/>
            <a:chExt cx="533400" cy="1312569"/>
          </a:xfrm>
        </p:grpSpPr>
        <p:sp>
          <p:nvSpPr>
            <p:cNvPr id="115" name="Rectangle 5">
              <a:extLst>
                <a:ext uri="{FF2B5EF4-FFF2-40B4-BE49-F238E27FC236}">
                  <a16:creationId xmlns:a16="http://schemas.microsoft.com/office/drawing/2014/main" id="{1DDE69E7-70C8-147A-1260-B434E38AC123}"/>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a:extLst>
                <a:ext uri="{FF2B5EF4-FFF2-40B4-BE49-F238E27FC236}">
                  <a16:creationId xmlns:a16="http://schemas.microsoft.com/office/drawing/2014/main" id="{6B79DD1F-C7AC-B135-69DB-962520FE008F}"/>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
              <a:extLst>
                <a:ext uri="{FF2B5EF4-FFF2-40B4-BE49-F238E27FC236}">
                  <a16:creationId xmlns:a16="http://schemas.microsoft.com/office/drawing/2014/main" id="{CC7BF6BE-7A8A-501C-F993-23967090D406}"/>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组合 117">
            <a:extLst>
              <a:ext uri="{FF2B5EF4-FFF2-40B4-BE49-F238E27FC236}">
                <a16:creationId xmlns:a16="http://schemas.microsoft.com/office/drawing/2014/main" id="{0E95463F-660B-09B2-D0DA-E39DD6AD556A}"/>
              </a:ext>
            </a:extLst>
          </p:cNvPr>
          <p:cNvGrpSpPr/>
          <p:nvPr/>
        </p:nvGrpSpPr>
        <p:grpSpPr>
          <a:xfrm>
            <a:off x="6807393" y="2055888"/>
            <a:ext cx="675622" cy="984427"/>
            <a:chOff x="3344047" y="4287041"/>
            <a:chExt cx="533400" cy="1312569"/>
          </a:xfrm>
        </p:grpSpPr>
        <p:sp>
          <p:nvSpPr>
            <p:cNvPr id="119" name="Rectangle 5">
              <a:extLst>
                <a:ext uri="{FF2B5EF4-FFF2-40B4-BE49-F238E27FC236}">
                  <a16:creationId xmlns:a16="http://schemas.microsoft.com/office/drawing/2014/main" id="{07A9C6D1-0149-A8EB-825E-38F1C8DFB877}"/>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a:extLst>
                <a:ext uri="{FF2B5EF4-FFF2-40B4-BE49-F238E27FC236}">
                  <a16:creationId xmlns:a16="http://schemas.microsoft.com/office/drawing/2014/main" id="{984B6BB7-8748-46FC-A901-07EA9DFEFB05}"/>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a:extLst>
                <a:ext uri="{FF2B5EF4-FFF2-40B4-BE49-F238E27FC236}">
                  <a16:creationId xmlns:a16="http://schemas.microsoft.com/office/drawing/2014/main" id="{0AF46C60-5360-6DC6-B3D3-C14DD2AA9286}"/>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a:extLst>
              <a:ext uri="{FF2B5EF4-FFF2-40B4-BE49-F238E27FC236}">
                <a16:creationId xmlns:a16="http://schemas.microsoft.com/office/drawing/2014/main" id="{C56FA8B0-BC8A-48B8-E4C5-FF0172F65664}"/>
              </a:ext>
            </a:extLst>
          </p:cNvPr>
          <p:cNvGrpSpPr/>
          <p:nvPr/>
        </p:nvGrpSpPr>
        <p:grpSpPr>
          <a:xfrm>
            <a:off x="1283841" y="2055888"/>
            <a:ext cx="533400" cy="984427"/>
            <a:chOff x="2459424" y="4263014"/>
            <a:chExt cx="533400" cy="1312569"/>
          </a:xfrm>
        </p:grpSpPr>
        <p:grpSp>
          <p:nvGrpSpPr>
            <p:cNvPr id="123" name="组合 122">
              <a:extLst>
                <a:ext uri="{FF2B5EF4-FFF2-40B4-BE49-F238E27FC236}">
                  <a16:creationId xmlns:a16="http://schemas.microsoft.com/office/drawing/2014/main" id="{F19DE27F-F1A3-91E1-37F0-3F02CD40E830}"/>
                </a:ext>
              </a:extLst>
            </p:cNvPr>
            <p:cNvGrpSpPr/>
            <p:nvPr/>
          </p:nvGrpSpPr>
          <p:grpSpPr>
            <a:xfrm>
              <a:off x="2459424" y="4263014"/>
              <a:ext cx="533400" cy="1312569"/>
              <a:chOff x="3344047" y="4287041"/>
              <a:chExt cx="533400" cy="1312569"/>
            </a:xfrm>
          </p:grpSpPr>
          <p:sp>
            <p:nvSpPr>
              <p:cNvPr id="125" name="Rectangle 5">
                <a:extLst>
                  <a:ext uri="{FF2B5EF4-FFF2-40B4-BE49-F238E27FC236}">
                    <a16:creationId xmlns:a16="http://schemas.microsoft.com/office/drawing/2014/main" id="{54574CDF-E224-38AC-420A-412138C6DF57}"/>
                  </a:ext>
                </a:extLst>
              </p:cNvPr>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a:extLst>
                  <a:ext uri="{FF2B5EF4-FFF2-40B4-BE49-F238E27FC236}">
                    <a16:creationId xmlns:a16="http://schemas.microsoft.com/office/drawing/2014/main" id="{0B39E996-C216-B9BE-D721-A0F4484B5047}"/>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a:extLst>
                  <a:ext uri="{FF2B5EF4-FFF2-40B4-BE49-F238E27FC236}">
                    <a16:creationId xmlns:a16="http://schemas.microsoft.com/office/drawing/2014/main" id="{4896884A-EAE0-8463-26B6-9CECC0C9485C}"/>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a:extLst>
                <a:ext uri="{FF2B5EF4-FFF2-40B4-BE49-F238E27FC236}">
                  <a16:creationId xmlns:a16="http://schemas.microsoft.com/office/drawing/2014/main" id="{DA7AAC50-2F3E-BCD7-698D-9234A0090C31}"/>
                </a:ext>
              </a:extLst>
            </p:cNvPr>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a:extLst>
              <a:ext uri="{FF2B5EF4-FFF2-40B4-BE49-F238E27FC236}">
                <a16:creationId xmlns:a16="http://schemas.microsoft.com/office/drawing/2014/main" id="{52C2F8DA-9F51-8DFF-113C-75EBCE8AC083}"/>
              </a:ext>
            </a:extLst>
          </p:cNvPr>
          <p:cNvSpPr>
            <a:spLocks noChangeShapeType="1"/>
          </p:cNvSpPr>
          <p:nvPr/>
        </p:nvSpPr>
        <p:spPr bwMode="auto">
          <a:xfrm flipH="1">
            <a:off x="182778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a:extLst>
              <a:ext uri="{FF2B5EF4-FFF2-40B4-BE49-F238E27FC236}">
                <a16:creationId xmlns:a16="http://schemas.microsoft.com/office/drawing/2014/main" id="{D9760B2F-9EDF-5299-C2C1-5EF6247B5E5C}"/>
              </a:ext>
            </a:extLst>
          </p:cNvPr>
          <p:cNvSpPr>
            <a:spLocks noChangeShapeType="1"/>
          </p:cNvSpPr>
          <p:nvPr/>
        </p:nvSpPr>
        <p:spPr bwMode="auto">
          <a:xfrm>
            <a:off x="1703118"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a:extLst>
              <a:ext uri="{FF2B5EF4-FFF2-40B4-BE49-F238E27FC236}">
                <a16:creationId xmlns:a16="http://schemas.microsoft.com/office/drawing/2014/main" id="{D987B710-566F-7FFA-FA70-551EC24DE94A}"/>
              </a:ext>
            </a:extLst>
          </p:cNvPr>
          <p:cNvSpPr>
            <a:spLocks noChangeShapeType="1"/>
          </p:cNvSpPr>
          <p:nvPr/>
        </p:nvSpPr>
        <p:spPr bwMode="auto">
          <a:xfrm>
            <a:off x="2761967"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a:extLst>
              <a:ext uri="{FF2B5EF4-FFF2-40B4-BE49-F238E27FC236}">
                <a16:creationId xmlns:a16="http://schemas.microsoft.com/office/drawing/2014/main" id="{9BB0BE90-C36F-DA59-7D9F-44CDADB44BDF}"/>
              </a:ext>
            </a:extLst>
          </p:cNvPr>
          <p:cNvSpPr>
            <a:spLocks noChangeShapeType="1"/>
          </p:cNvSpPr>
          <p:nvPr/>
        </p:nvSpPr>
        <p:spPr bwMode="auto">
          <a:xfrm>
            <a:off x="3884001"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 name="Line 29">
            <a:extLst>
              <a:ext uri="{FF2B5EF4-FFF2-40B4-BE49-F238E27FC236}">
                <a16:creationId xmlns:a16="http://schemas.microsoft.com/office/drawing/2014/main" id="{CE18652D-BA22-585B-DE54-2AF5C9E68BE3}"/>
              </a:ext>
            </a:extLst>
          </p:cNvPr>
          <p:cNvSpPr>
            <a:spLocks noChangeShapeType="1"/>
          </p:cNvSpPr>
          <p:nvPr/>
        </p:nvSpPr>
        <p:spPr bwMode="auto">
          <a:xfrm>
            <a:off x="5108975"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a:extLst>
              <a:ext uri="{FF2B5EF4-FFF2-40B4-BE49-F238E27FC236}">
                <a16:creationId xmlns:a16="http://schemas.microsoft.com/office/drawing/2014/main" id="{C33FE54F-2031-099A-7BF9-7C9B5EFDF098}"/>
              </a:ext>
            </a:extLst>
          </p:cNvPr>
          <p:cNvSpPr>
            <a:spLocks noChangeShapeType="1"/>
          </p:cNvSpPr>
          <p:nvPr/>
        </p:nvSpPr>
        <p:spPr bwMode="auto">
          <a:xfrm>
            <a:off x="6167823"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a:extLst>
              <a:ext uri="{FF2B5EF4-FFF2-40B4-BE49-F238E27FC236}">
                <a16:creationId xmlns:a16="http://schemas.microsoft.com/office/drawing/2014/main" id="{BF1D7B07-2FC5-4A8C-9CE1-48BBD7B32383}"/>
              </a:ext>
            </a:extLst>
          </p:cNvPr>
          <p:cNvSpPr>
            <a:spLocks noChangeShapeType="1"/>
          </p:cNvSpPr>
          <p:nvPr/>
        </p:nvSpPr>
        <p:spPr bwMode="auto">
          <a:xfrm>
            <a:off x="7336602" y="2901815"/>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a:extLst>
              <a:ext uri="{FF2B5EF4-FFF2-40B4-BE49-F238E27FC236}">
                <a16:creationId xmlns:a16="http://schemas.microsoft.com/office/drawing/2014/main" id="{4D28B859-691A-6380-2BF8-E661B0F98DA9}"/>
              </a:ext>
            </a:extLst>
          </p:cNvPr>
          <p:cNvSpPr>
            <a:spLocks noChangeShapeType="1"/>
          </p:cNvSpPr>
          <p:nvPr/>
        </p:nvSpPr>
        <p:spPr bwMode="auto">
          <a:xfrm flipH="1">
            <a:off x="7892423" y="2226447"/>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29">
            <a:extLst>
              <a:ext uri="{FF2B5EF4-FFF2-40B4-BE49-F238E27FC236}">
                <a16:creationId xmlns:a16="http://schemas.microsoft.com/office/drawing/2014/main" id="{2C798787-9800-6F5A-D570-281E279E18EF}"/>
              </a:ext>
            </a:extLst>
          </p:cNvPr>
          <p:cNvSpPr>
            <a:spLocks noChangeShapeType="1"/>
          </p:cNvSpPr>
          <p:nvPr/>
        </p:nvSpPr>
        <p:spPr bwMode="auto">
          <a:xfrm flipH="1">
            <a:off x="628194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7" name="Line 29">
            <a:extLst>
              <a:ext uri="{FF2B5EF4-FFF2-40B4-BE49-F238E27FC236}">
                <a16:creationId xmlns:a16="http://schemas.microsoft.com/office/drawing/2014/main" id="{4BB9AA6F-F876-F1B2-024B-6CF60E228355}"/>
              </a:ext>
            </a:extLst>
          </p:cNvPr>
          <p:cNvSpPr>
            <a:spLocks noChangeShapeType="1"/>
          </p:cNvSpPr>
          <p:nvPr/>
        </p:nvSpPr>
        <p:spPr bwMode="auto">
          <a:xfrm flipH="1">
            <a:off x="5223098"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a:extLst>
              <a:ext uri="{FF2B5EF4-FFF2-40B4-BE49-F238E27FC236}">
                <a16:creationId xmlns:a16="http://schemas.microsoft.com/office/drawing/2014/main" id="{36B1C3ED-62FF-C01A-52CA-24F559678717}"/>
              </a:ext>
            </a:extLst>
          </p:cNvPr>
          <p:cNvSpPr>
            <a:spLocks noChangeShapeType="1"/>
          </p:cNvSpPr>
          <p:nvPr/>
        </p:nvSpPr>
        <p:spPr bwMode="auto">
          <a:xfrm flipH="1">
            <a:off x="4344742" y="2226447"/>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a:extLst>
              <a:ext uri="{FF2B5EF4-FFF2-40B4-BE49-F238E27FC236}">
                <a16:creationId xmlns:a16="http://schemas.microsoft.com/office/drawing/2014/main" id="{B2DDCA82-4C3C-DAEF-A292-D8A262FC0D3E}"/>
              </a:ext>
            </a:extLst>
          </p:cNvPr>
          <p:cNvSpPr>
            <a:spLocks noChangeShapeType="1"/>
          </p:cNvSpPr>
          <p:nvPr/>
        </p:nvSpPr>
        <p:spPr bwMode="auto">
          <a:xfrm flipH="1">
            <a:off x="2876090"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a:extLst>
              <a:ext uri="{FF2B5EF4-FFF2-40B4-BE49-F238E27FC236}">
                <a16:creationId xmlns:a16="http://schemas.microsoft.com/office/drawing/2014/main" id="{63C476A5-82D4-9EA6-DE4A-F593A8FDF438}"/>
              </a:ext>
            </a:extLst>
          </p:cNvPr>
          <p:cNvSpPr>
            <a:spLocks noChangeShapeType="1"/>
          </p:cNvSpPr>
          <p:nvPr/>
        </p:nvSpPr>
        <p:spPr bwMode="auto">
          <a:xfrm>
            <a:off x="4344742"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a:extLst>
              <a:ext uri="{FF2B5EF4-FFF2-40B4-BE49-F238E27FC236}">
                <a16:creationId xmlns:a16="http://schemas.microsoft.com/office/drawing/2014/main" id="{E9C205AF-709D-F982-1A73-BE65EC624F22}"/>
              </a:ext>
            </a:extLst>
          </p:cNvPr>
          <p:cNvSpPr>
            <a:spLocks noChangeShapeType="1"/>
          </p:cNvSpPr>
          <p:nvPr/>
        </p:nvSpPr>
        <p:spPr bwMode="auto">
          <a:xfrm>
            <a:off x="7892424"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a:extLst>
              <a:ext uri="{FF2B5EF4-FFF2-40B4-BE49-F238E27FC236}">
                <a16:creationId xmlns:a16="http://schemas.microsoft.com/office/drawing/2014/main" id="{8D11FF04-7BCD-70B5-5B55-C8BC42AE0BDE}"/>
              </a:ext>
            </a:extLst>
          </p:cNvPr>
          <p:cNvSpPr>
            <a:spLocks noChangeShapeType="1"/>
          </p:cNvSpPr>
          <p:nvPr/>
        </p:nvSpPr>
        <p:spPr bwMode="auto">
          <a:xfrm flipH="1">
            <a:off x="7483015" y="2226447"/>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a:extLst>
              <a:ext uri="{FF2B5EF4-FFF2-40B4-BE49-F238E27FC236}">
                <a16:creationId xmlns:a16="http://schemas.microsoft.com/office/drawing/2014/main" id="{60D030E7-6820-0ECE-3211-AFDF818727C8}"/>
              </a:ext>
            </a:extLst>
          </p:cNvPr>
          <p:cNvSpPr>
            <a:spLocks noChangeShapeType="1"/>
          </p:cNvSpPr>
          <p:nvPr/>
        </p:nvSpPr>
        <p:spPr bwMode="auto">
          <a:xfrm flipH="1">
            <a:off x="3948323" y="2226447"/>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8" name="直接连接符 67">
            <a:extLst>
              <a:ext uri="{FF2B5EF4-FFF2-40B4-BE49-F238E27FC236}">
                <a16:creationId xmlns:a16="http://schemas.microsoft.com/office/drawing/2014/main" id="{D4DB1B04-87D4-13C6-8406-0430AE63D6BE}"/>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3523F718-DD31-D217-7281-1172A1E12728}"/>
              </a:ext>
            </a:extLst>
          </p:cNvPr>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8D0F93D3-7003-8B45-BC13-D1EAF604B8AE}"/>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2" name="矩形 1">
            <a:extLst>
              <a:ext uri="{FF2B5EF4-FFF2-40B4-BE49-F238E27FC236}">
                <a16:creationId xmlns:a16="http://schemas.microsoft.com/office/drawing/2014/main" id="{54B94E71-07DB-E9D2-FF69-857CB83F17CF}"/>
              </a:ext>
            </a:extLst>
          </p:cNvPr>
          <p:cNvSpPr/>
          <p:nvPr/>
        </p:nvSpPr>
        <p:spPr>
          <a:xfrm>
            <a:off x="493821" y="1446757"/>
            <a:ext cx="3142075" cy="369332"/>
          </a:xfrm>
          <a:prstGeom prst="rect">
            <a:avLst/>
          </a:prstGeom>
        </p:spPr>
        <p:txBody>
          <a:bodyPr wrap="square">
            <a:spAutoFit/>
          </a:bodyPr>
          <a:lstStyle/>
          <a:p>
            <a:r>
              <a:rPr lang="en-US" altLang="zh-CN" dirty="0">
                <a:latin typeface="微软雅黑" pitchFamily="34" charset="-122"/>
                <a:ea typeface="微软雅黑" pitchFamily="34" charset="-122"/>
                <a:cs typeface="经典粗黑简" pitchFamily="49" charset="-122"/>
              </a:rPr>
              <a:t>2.3.3.1 </a:t>
            </a:r>
            <a:r>
              <a:rPr lang="zh-CN" altLang="en-US" dirty="0">
                <a:latin typeface="微软雅黑" pitchFamily="34" charset="-122"/>
                <a:ea typeface="微软雅黑" pitchFamily="34" charset="-122"/>
                <a:cs typeface="经典粗黑简" pitchFamily="49" charset="-122"/>
              </a:rPr>
              <a:t>插入结点操作</a:t>
            </a:r>
          </a:p>
        </p:txBody>
      </p:sp>
      <p:sp>
        <p:nvSpPr>
          <p:cNvPr id="11" name="Rectangle 228">
            <a:extLst>
              <a:ext uri="{FF2B5EF4-FFF2-40B4-BE49-F238E27FC236}">
                <a16:creationId xmlns:a16="http://schemas.microsoft.com/office/drawing/2014/main" id="{23F2FA85-F5F7-945F-4933-02721F277863}"/>
              </a:ext>
            </a:extLst>
          </p:cNvPr>
          <p:cNvSpPr>
            <a:spLocks noChangeArrowheads="1"/>
          </p:cNvSpPr>
          <p:nvPr/>
        </p:nvSpPr>
        <p:spPr bwMode="auto">
          <a:xfrm>
            <a:off x="4117574" y="139180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p</a:t>
            </a:r>
          </a:p>
        </p:txBody>
      </p:sp>
      <p:sp>
        <p:nvSpPr>
          <p:cNvPr id="12" name="Line 29">
            <a:extLst>
              <a:ext uri="{FF2B5EF4-FFF2-40B4-BE49-F238E27FC236}">
                <a16:creationId xmlns:a16="http://schemas.microsoft.com/office/drawing/2014/main" id="{76076AB0-CF0E-71E2-131C-3B952C36E330}"/>
              </a:ext>
            </a:extLst>
          </p:cNvPr>
          <p:cNvSpPr>
            <a:spLocks noChangeShapeType="1"/>
          </p:cNvSpPr>
          <p:nvPr/>
        </p:nvSpPr>
        <p:spPr bwMode="auto">
          <a:xfrm>
            <a:off x="4400917" y="1776450"/>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矩形 8">
            <a:extLst>
              <a:ext uri="{FF2B5EF4-FFF2-40B4-BE49-F238E27FC236}">
                <a16:creationId xmlns:a16="http://schemas.microsoft.com/office/drawing/2014/main" id="{86372A34-AF18-8AF9-ADBC-D079676B2979}"/>
              </a:ext>
            </a:extLst>
          </p:cNvPr>
          <p:cNvSpPr/>
          <p:nvPr/>
        </p:nvSpPr>
        <p:spPr>
          <a:xfrm>
            <a:off x="-17178" y="3027210"/>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13" name="矩形 12">
            <a:extLst>
              <a:ext uri="{FF2B5EF4-FFF2-40B4-BE49-F238E27FC236}">
                <a16:creationId xmlns:a16="http://schemas.microsoft.com/office/drawing/2014/main" id="{510A8F90-3F90-4BAF-5350-3FC1282DFBDE}"/>
              </a:ext>
            </a:extLst>
          </p:cNvPr>
          <p:cNvSpPr/>
          <p:nvPr/>
        </p:nvSpPr>
        <p:spPr>
          <a:xfrm>
            <a:off x="412635" y="3312174"/>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18" name="Rectangle 55">
            <a:extLst>
              <a:ext uri="{FF2B5EF4-FFF2-40B4-BE49-F238E27FC236}">
                <a16:creationId xmlns:a16="http://schemas.microsoft.com/office/drawing/2014/main" id="{73A03D6B-ACC0-7954-5773-F2544AA56923}"/>
              </a:ext>
            </a:extLst>
          </p:cNvPr>
          <p:cNvSpPr>
            <a:spLocks noChangeArrowheads="1"/>
          </p:cNvSpPr>
          <p:nvPr/>
        </p:nvSpPr>
        <p:spPr bwMode="auto">
          <a:xfrm>
            <a:off x="4379042" y="155302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grpSp>
        <p:nvGrpSpPr>
          <p:cNvPr id="4" name="组合 3">
            <a:extLst>
              <a:ext uri="{FF2B5EF4-FFF2-40B4-BE49-F238E27FC236}">
                <a16:creationId xmlns:a16="http://schemas.microsoft.com/office/drawing/2014/main" id="{9F043332-75EB-B940-444C-A4CB1184B6A2}"/>
              </a:ext>
            </a:extLst>
          </p:cNvPr>
          <p:cNvGrpSpPr/>
          <p:nvPr/>
        </p:nvGrpSpPr>
        <p:grpSpPr>
          <a:xfrm>
            <a:off x="5375026" y="3640925"/>
            <a:ext cx="533400" cy="984427"/>
            <a:chOff x="3344047" y="4287041"/>
            <a:chExt cx="533400" cy="1312569"/>
          </a:xfrm>
        </p:grpSpPr>
        <p:sp>
          <p:nvSpPr>
            <p:cNvPr id="5" name="Rectangle 5">
              <a:extLst>
                <a:ext uri="{FF2B5EF4-FFF2-40B4-BE49-F238E27FC236}">
                  <a16:creationId xmlns:a16="http://schemas.microsoft.com/office/drawing/2014/main" id="{C625EB76-140A-1DBC-5832-0E588835BD0D}"/>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600" baseline="-25000" dirty="0"/>
                <a:t>e </a:t>
              </a:r>
              <a:r>
                <a:rPr lang="en-US" altLang="zh-CN" sz="2400" dirty="0"/>
                <a:t>   </a:t>
              </a:r>
            </a:p>
          </p:txBody>
        </p:sp>
        <p:sp>
          <p:nvSpPr>
            <p:cNvPr id="6" name="Line 6">
              <a:extLst>
                <a:ext uri="{FF2B5EF4-FFF2-40B4-BE49-F238E27FC236}">
                  <a16:creationId xmlns:a16="http://schemas.microsoft.com/office/drawing/2014/main" id="{685BF8A2-247E-E6D7-7813-826FA59469BD}"/>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Line 6">
              <a:extLst>
                <a:ext uri="{FF2B5EF4-FFF2-40B4-BE49-F238E27FC236}">
                  <a16:creationId xmlns:a16="http://schemas.microsoft.com/office/drawing/2014/main" id="{B1BB36D2-B9EC-DF64-C3FA-4944CEAE67C1}"/>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 name="Line 29">
            <a:extLst>
              <a:ext uri="{FF2B5EF4-FFF2-40B4-BE49-F238E27FC236}">
                <a16:creationId xmlns:a16="http://schemas.microsoft.com/office/drawing/2014/main" id="{5C9D407B-59B0-6F3B-D85A-FEDE51E9B65E}"/>
              </a:ext>
            </a:extLst>
          </p:cNvPr>
          <p:cNvSpPr>
            <a:spLocks noChangeShapeType="1"/>
          </p:cNvSpPr>
          <p:nvPr/>
        </p:nvSpPr>
        <p:spPr bwMode="auto">
          <a:xfrm>
            <a:off x="4735455" y="3798909"/>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228">
            <a:extLst>
              <a:ext uri="{FF2B5EF4-FFF2-40B4-BE49-F238E27FC236}">
                <a16:creationId xmlns:a16="http://schemas.microsoft.com/office/drawing/2014/main" id="{2FF596F9-3DF4-5370-54D2-4B2695491893}"/>
              </a:ext>
            </a:extLst>
          </p:cNvPr>
          <p:cNvSpPr>
            <a:spLocks noChangeArrowheads="1"/>
          </p:cNvSpPr>
          <p:nvPr/>
        </p:nvSpPr>
        <p:spPr bwMode="auto">
          <a:xfrm>
            <a:off x="4387833" y="3565397"/>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s</a:t>
            </a:r>
          </a:p>
        </p:txBody>
      </p:sp>
      <p:sp>
        <p:nvSpPr>
          <p:cNvPr id="15" name="Rectangle 55">
            <a:extLst>
              <a:ext uri="{FF2B5EF4-FFF2-40B4-BE49-F238E27FC236}">
                <a16:creationId xmlns:a16="http://schemas.microsoft.com/office/drawing/2014/main" id="{1EB1B3FD-A228-A838-35C6-88A3572C3A0D}"/>
              </a:ext>
            </a:extLst>
          </p:cNvPr>
          <p:cNvSpPr>
            <a:spLocks noChangeArrowheads="1"/>
          </p:cNvSpPr>
          <p:nvPr/>
        </p:nvSpPr>
        <p:spPr bwMode="auto">
          <a:xfrm>
            <a:off x="4731794" y="330114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19" name="矩形 18">
            <a:extLst>
              <a:ext uri="{FF2B5EF4-FFF2-40B4-BE49-F238E27FC236}">
                <a16:creationId xmlns:a16="http://schemas.microsoft.com/office/drawing/2014/main" id="{6773EEA6-6374-434F-E2FC-EF1E5440FDB1}"/>
              </a:ext>
            </a:extLst>
          </p:cNvPr>
          <p:cNvSpPr/>
          <p:nvPr/>
        </p:nvSpPr>
        <p:spPr>
          <a:xfrm>
            <a:off x="420097" y="3685542"/>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生成一个新的结点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a:t>
            </a:r>
          </a:p>
        </p:txBody>
      </p:sp>
      <p:sp>
        <p:nvSpPr>
          <p:cNvPr id="14" name="Rectangle 55">
            <a:extLst>
              <a:ext uri="{FF2B5EF4-FFF2-40B4-BE49-F238E27FC236}">
                <a16:creationId xmlns:a16="http://schemas.microsoft.com/office/drawing/2014/main" id="{002F69C5-CC69-D229-E09E-1F14536660D4}"/>
              </a:ext>
            </a:extLst>
          </p:cNvPr>
          <p:cNvSpPr>
            <a:spLocks noChangeArrowheads="1"/>
          </p:cNvSpPr>
          <p:nvPr/>
        </p:nvSpPr>
        <p:spPr bwMode="auto">
          <a:xfrm>
            <a:off x="6057889" y="333590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6" name="Line 29">
            <a:extLst>
              <a:ext uri="{FF2B5EF4-FFF2-40B4-BE49-F238E27FC236}">
                <a16:creationId xmlns:a16="http://schemas.microsoft.com/office/drawing/2014/main" id="{1F74F4A5-C033-5FA6-FE9E-26464C32780B}"/>
              </a:ext>
            </a:extLst>
          </p:cNvPr>
          <p:cNvSpPr>
            <a:spLocks noChangeShapeType="1"/>
          </p:cNvSpPr>
          <p:nvPr/>
        </p:nvSpPr>
        <p:spPr bwMode="auto">
          <a:xfrm flipH="1" flipV="1">
            <a:off x="6007658" y="3052284"/>
            <a:ext cx="0" cy="146368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9">
            <a:extLst>
              <a:ext uri="{FF2B5EF4-FFF2-40B4-BE49-F238E27FC236}">
                <a16:creationId xmlns:a16="http://schemas.microsoft.com/office/drawing/2014/main" id="{B3AE5BF7-756A-48B8-2041-EBE17B988133}"/>
              </a:ext>
            </a:extLst>
          </p:cNvPr>
          <p:cNvSpPr>
            <a:spLocks noChangeShapeType="1"/>
          </p:cNvSpPr>
          <p:nvPr/>
        </p:nvSpPr>
        <p:spPr bwMode="auto">
          <a:xfrm>
            <a:off x="5622613" y="4515965"/>
            <a:ext cx="385045"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文本框 21">
            <a:extLst>
              <a:ext uri="{FF2B5EF4-FFF2-40B4-BE49-F238E27FC236}">
                <a16:creationId xmlns:a16="http://schemas.microsoft.com/office/drawing/2014/main" id="{1FDE62AB-E4DE-D327-2B4B-9EE155A644A2}"/>
              </a:ext>
            </a:extLst>
          </p:cNvPr>
          <p:cNvSpPr txBox="1"/>
          <p:nvPr/>
        </p:nvSpPr>
        <p:spPr>
          <a:xfrm>
            <a:off x="631856" y="4314229"/>
            <a:ext cx="3119269" cy="736420"/>
          </a:xfrm>
          <a:prstGeom prst="rect">
            <a:avLst/>
          </a:prstGeom>
          <a:noFill/>
        </p:spPr>
        <p:txBody>
          <a:bodyPr wrap="square">
            <a:spAutoFit/>
          </a:bodyPr>
          <a:lstStyle/>
          <a:p>
            <a:pPr algn="l">
              <a:lnSpc>
                <a:spcPts val="2600"/>
              </a:lnSpc>
            </a:pPr>
            <a:r>
              <a:rPr kumimoji="1" lang="en-US" altLang="zh-CN" sz="1800" dirty="0">
                <a:solidFill>
                  <a:srgbClr val="0000FF"/>
                </a:solidFill>
                <a:latin typeface="Consolas" pitchFamily="49" charset="0"/>
                <a:ea typeface="仿宋" pitchFamily="49" charset="-122"/>
                <a:cs typeface="Consolas" pitchFamily="49" charset="0"/>
              </a:rPr>
              <a:t>s-&gt;next=p-&gt;next</a:t>
            </a:r>
            <a:r>
              <a:rPr kumimoji="1" lang="en-US" altLang="zh-CN" dirty="0">
                <a:solidFill>
                  <a:srgbClr val="0000FF"/>
                </a:solidFill>
                <a:latin typeface="Consolas" pitchFamily="49" charset="0"/>
                <a:ea typeface="仿宋" pitchFamily="49" charset="-122"/>
                <a:cs typeface="Consolas" pitchFamily="49" charset="0"/>
              </a:rPr>
              <a:t>;</a:t>
            </a:r>
          </a:p>
          <a:p>
            <a:pPr>
              <a:lnSpc>
                <a:spcPts val="2600"/>
              </a:lnSpc>
            </a:pPr>
            <a:r>
              <a:rPr kumimoji="1" lang="en-US" altLang="zh-CN" dirty="0">
                <a:solidFill>
                  <a:srgbClr val="0000FF"/>
                </a:solidFill>
                <a:latin typeface="Consolas" pitchFamily="49" charset="0"/>
                <a:ea typeface="仿宋" pitchFamily="49" charset="-122"/>
                <a:cs typeface="Consolas" pitchFamily="49" charset="0"/>
              </a:rPr>
              <a:t>s-&gt;prior=p;</a:t>
            </a:r>
            <a:r>
              <a:rPr kumimoji="1" lang="en-US" altLang="zh-CN" sz="1800" dirty="0">
                <a:solidFill>
                  <a:srgbClr val="0000FF"/>
                </a:solidFill>
                <a:latin typeface="Consolas" pitchFamily="49" charset="0"/>
                <a:ea typeface="仿宋" pitchFamily="49" charset="-122"/>
                <a:cs typeface="Consolas" pitchFamily="49" charset="0"/>
              </a:rPr>
              <a:t>	</a:t>
            </a:r>
            <a:endParaRPr lang="zh-CN" altLang="en-US" dirty="0"/>
          </a:p>
        </p:txBody>
      </p:sp>
      <p:sp>
        <p:nvSpPr>
          <p:cNvPr id="23" name="矩形 22">
            <a:extLst>
              <a:ext uri="{FF2B5EF4-FFF2-40B4-BE49-F238E27FC236}">
                <a16:creationId xmlns:a16="http://schemas.microsoft.com/office/drawing/2014/main" id="{CE3DAF12-9BF2-E6B6-48A9-1DBDF4CABCE3}"/>
              </a:ext>
            </a:extLst>
          </p:cNvPr>
          <p:cNvSpPr/>
          <p:nvPr/>
        </p:nvSpPr>
        <p:spPr>
          <a:xfrm>
            <a:off x="412634" y="4076573"/>
            <a:ext cx="4159365"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③ 确定新结点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前驱、后继指针；</a:t>
            </a:r>
          </a:p>
        </p:txBody>
      </p:sp>
      <p:sp>
        <p:nvSpPr>
          <p:cNvPr id="25" name="Line 29">
            <a:extLst>
              <a:ext uri="{FF2B5EF4-FFF2-40B4-BE49-F238E27FC236}">
                <a16:creationId xmlns:a16="http://schemas.microsoft.com/office/drawing/2014/main" id="{F0D223B6-516D-5059-919B-CE244DBB295C}"/>
              </a:ext>
            </a:extLst>
          </p:cNvPr>
          <p:cNvSpPr>
            <a:spLocks noChangeShapeType="1"/>
          </p:cNvSpPr>
          <p:nvPr/>
        </p:nvSpPr>
        <p:spPr bwMode="auto">
          <a:xfrm flipH="1" flipV="1">
            <a:off x="5508104" y="3292765"/>
            <a:ext cx="0" cy="496421"/>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9">
            <a:extLst>
              <a:ext uri="{FF2B5EF4-FFF2-40B4-BE49-F238E27FC236}">
                <a16:creationId xmlns:a16="http://schemas.microsoft.com/office/drawing/2014/main" id="{9C3FE627-73FB-66B6-A724-6749DC0D695A}"/>
              </a:ext>
            </a:extLst>
          </p:cNvPr>
          <p:cNvSpPr>
            <a:spLocks noChangeShapeType="1"/>
          </p:cNvSpPr>
          <p:nvPr/>
        </p:nvSpPr>
        <p:spPr bwMode="auto">
          <a:xfrm>
            <a:off x="4341681" y="3301148"/>
            <a:ext cx="1166424"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29">
            <a:extLst>
              <a:ext uri="{FF2B5EF4-FFF2-40B4-BE49-F238E27FC236}">
                <a16:creationId xmlns:a16="http://schemas.microsoft.com/office/drawing/2014/main" id="{3B51D82A-926D-B5D3-9E13-8F4A86B44F2B}"/>
              </a:ext>
            </a:extLst>
          </p:cNvPr>
          <p:cNvSpPr>
            <a:spLocks noChangeShapeType="1"/>
          </p:cNvSpPr>
          <p:nvPr/>
        </p:nvSpPr>
        <p:spPr bwMode="auto">
          <a:xfrm>
            <a:off x="4341680" y="2987152"/>
            <a:ext cx="206066"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29">
            <a:extLst>
              <a:ext uri="{FF2B5EF4-FFF2-40B4-BE49-F238E27FC236}">
                <a16:creationId xmlns:a16="http://schemas.microsoft.com/office/drawing/2014/main" id="{F003FA9A-20A9-8708-625C-02189DF288DF}"/>
              </a:ext>
            </a:extLst>
          </p:cNvPr>
          <p:cNvSpPr>
            <a:spLocks noChangeShapeType="1"/>
          </p:cNvSpPr>
          <p:nvPr/>
        </p:nvSpPr>
        <p:spPr bwMode="auto">
          <a:xfrm flipH="1" flipV="1">
            <a:off x="4341680" y="2987152"/>
            <a:ext cx="0" cy="325022"/>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Rectangle 55">
            <a:extLst>
              <a:ext uri="{FF2B5EF4-FFF2-40B4-BE49-F238E27FC236}">
                <a16:creationId xmlns:a16="http://schemas.microsoft.com/office/drawing/2014/main" id="{BECC3532-9147-3082-FB66-BBA692E70FF9}"/>
              </a:ext>
            </a:extLst>
          </p:cNvPr>
          <p:cNvSpPr>
            <a:spLocks noChangeArrowheads="1"/>
          </p:cNvSpPr>
          <p:nvPr/>
        </p:nvSpPr>
        <p:spPr bwMode="auto">
          <a:xfrm>
            <a:off x="3954649" y="288582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Tree>
    <p:extLst>
      <p:ext uri="{BB962C8B-B14F-4D97-AF65-F5344CB8AC3E}">
        <p14:creationId xmlns:p14="http://schemas.microsoft.com/office/powerpoint/2010/main" val="11087261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896ED-A06F-7458-B36E-25D5C6921DE5}"/>
            </a:ext>
          </a:extLst>
        </p:cNvPr>
        <p:cNvGrpSpPr/>
        <p:nvPr/>
      </p:nvGrpSpPr>
      <p:grpSpPr>
        <a:xfrm>
          <a:off x="0" y="0"/>
          <a:ext cx="0" cy="0"/>
          <a:chOff x="0" y="0"/>
          <a:chExt cx="0" cy="0"/>
        </a:xfrm>
      </p:grpSpPr>
      <p:sp>
        <p:nvSpPr>
          <p:cNvPr id="47" name="Rectangle 25">
            <a:extLst>
              <a:ext uri="{FF2B5EF4-FFF2-40B4-BE49-F238E27FC236}">
                <a16:creationId xmlns:a16="http://schemas.microsoft.com/office/drawing/2014/main" id="{3E9C4CD5-02FA-B7B6-CBE6-CCD874445936}"/>
              </a:ext>
            </a:extLst>
          </p:cNvPr>
          <p:cNvSpPr>
            <a:spLocks noChangeArrowheads="1"/>
          </p:cNvSpPr>
          <p:nvPr/>
        </p:nvSpPr>
        <p:spPr bwMode="auto">
          <a:xfrm>
            <a:off x="7620379" y="239960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a:extLst>
              <a:ext uri="{FF2B5EF4-FFF2-40B4-BE49-F238E27FC236}">
                <a16:creationId xmlns:a16="http://schemas.microsoft.com/office/drawing/2014/main" id="{5EBB92BB-97CA-86C7-E607-386FC7DD7C36}"/>
              </a:ext>
            </a:extLst>
          </p:cNvPr>
          <p:cNvSpPr>
            <a:spLocks noChangeArrowheads="1"/>
          </p:cNvSpPr>
          <p:nvPr/>
        </p:nvSpPr>
        <p:spPr bwMode="auto">
          <a:xfrm>
            <a:off x="4014473" y="23887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a:extLst>
              <a:ext uri="{FF2B5EF4-FFF2-40B4-BE49-F238E27FC236}">
                <a16:creationId xmlns:a16="http://schemas.microsoft.com/office/drawing/2014/main" id="{65827770-4FEE-6A40-FB14-754960A3956E}"/>
              </a:ext>
            </a:extLst>
          </p:cNvPr>
          <p:cNvSpPr>
            <a:spLocks noChangeShapeType="1"/>
          </p:cNvSpPr>
          <p:nvPr/>
        </p:nvSpPr>
        <p:spPr bwMode="auto">
          <a:xfrm>
            <a:off x="631856" y="2232697"/>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a:extLst>
              <a:ext uri="{FF2B5EF4-FFF2-40B4-BE49-F238E27FC236}">
                <a16:creationId xmlns:a16="http://schemas.microsoft.com/office/drawing/2014/main" id="{E631CCD3-CCCC-9FB6-AAC5-5279FF9F8967}"/>
              </a:ext>
            </a:extLst>
          </p:cNvPr>
          <p:cNvSpPr>
            <a:spLocks noChangeArrowheads="1"/>
          </p:cNvSpPr>
          <p:nvPr/>
        </p:nvSpPr>
        <p:spPr bwMode="auto">
          <a:xfrm>
            <a:off x="366211" y="203479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95" name="组合 94">
            <a:extLst>
              <a:ext uri="{FF2B5EF4-FFF2-40B4-BE49-F238E27FC236}">
                <a16:creationId xmlns:a16="http://schemas.microsoft.com/office/drawing/2014/main" id="{B5DB472E-D62B-D45B-AD9B-AA422EF4FE6A}"/>
              </a:ext>
            </a:extLst>
          </p:cNvPr>
          <p:cNvGrpSpPr/>
          <p:nvPr/>
        </p:nvGrpSpPr>
        <p:grpSpPr>
          <a:xfrm>
            <a:off x="2342689" y="2055888"/>
            <a:ext cx="533400" cy="984427"/>
            <a:chOff x="3344047" y="4287041"/>
            <a:chExt cx="533400" cy="1312569"/>
          </a:xfrm>
        </p:grpSpPr>
        <p:sp>
          <p:nvSpPr>
            <p:cNvPr id="97" name="Rectangle 5">
              <a:extLst>
                <a:ext uri="{FF2B5EF4-FFF2-40B4-BE49-F238E27FC236}">
                  <a16:creationId xmlns:a16="http://schemas.microsoft.com/office/drawing/2014/main" id="{62F9DA05-22B2-DA90-0BAF-2B5FE7963228}"/>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a:extLst>
                <a:ext uri="{FF2B5EF4-FFF2-40B4-BE49-F238E27FC236}">
                  <a16:creationId xmlns:a16="http://schemas.microsoft.com/office/drawing/2014/main" id="{AE6001BB-C5EB-BDC9-C3CB-65EC3F95B5CE}"/>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a:extLst>
                <a:ext uri="{FF2B5EF4-FFF2-40B4-BE49-F238E27FC236}">
                  <a16:creationId xmlns:a16="http://schemas.microsoft.com/office/drawing/2014/main" id="{04437B1B-EA62-5F26-91A5-F65A79E4B1B1}"/>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a:extLst>
              <a:ext uri="{FF2B5EF4-FFF2-40B4-BE49-F238E27FC236}">
                <a16:creationId xmlns:a16="http://schemas.microsoft.com/office/drawing/2014/main" id="{2D259BF9-866B-127C-18F0-FBA9256EFC38}"/>
              </a:ext>
            </a:extLst>
          </p:cNvPr>
          <p:cNvGrpSpPr/>
          <p:nvPr/>
        </p:nvGrpSpPr>
        <p:grpSpPr>
          <a:xfrm>
            <a:off x="3401537" y="2055888"/>
            <a:ext cx="533400" cy="984427"/>
            <a:chOff x="3344047" y="4287041"/>
            <a:chExt cx="533400" cy="1312569"/>
          </a:xfrm>
        </p:grpSpPr>
        <p:sp>
          <p:nvSpPr>
            <p:cNvPr id="101" name="Rectangle 5">
              <a:extLst>
                <a:ext uri="{FF2B5EF4-FFF2-40B4-BE49-F238E27FC236}">
                  <a16:creationId xmlns:a16="http://schemas.microsoft.com/office/drawing/2014/main" id="{BC7EBF67-E5B3-277F-0896-DA772AA8BE33}"/>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3328BB17-E105-ED9C-105E-E466B54178B3}"/>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a:extLst>
                <a:ext uri="{FF2B5EF4-FFF2-40B4-BE49-F238E27FC236}">
                  <a16:creationId xmlns:a16="http://schemas.microsoft.com/office/drawing/2014/main" id="{7EFDC96C-4161-C1FB-E208-AD09510F0A38}"/>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a:extLst>
              <a:ext uri="{FF2B5EF4-FFF2-40B4-BE49-F238E27FC236}">
                <a16:creationId xmlns:a16="http://schemas.microsoft.com/office/drawing/2014/main" id="{52B550CB-1A5D-A767-64EB-4027F8D249AF}"/>
              </a:ext>
            </a:extLst>
          </p:cNvPr>
          <p:cNvGrpSpPr/>
          <p:nvPr/>
        </p:nvGrpSpPr>
        <p:grpSpPr>
          <a:xfrm>
            <a:off x="4547475" y="2055888"/>
            <a:ext cx="675622" cy="984427"/>
            <a:chOff x="3344047" y="4287041"/>
            <a:chExt cx="533400" cy="1312569"/>
          </a:xfrm>
        </p:grpSpPr>
        <p:sp>
          <p:nvSpPr>
            <p:cNvPr id="105" name="Rectangle 5">
              <a:extLst>
                <a:ext uri="{FF2B5EF4-FFF2-40B4-BE49-F238E27FC236}">
                  <a16:creationId xmlns:a16="http://schemas.microsoft.com/office/drawing/2014/main" id="{CC5E1065-86BC-21D3-C7F8-C48F7CA26B42}"/>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a:extLst>
                <a:ext uri="{FF2B5EF4-FFF2-40B4-BE49-F238E27FC236}">
                  <a16:creationId xmlns:a16="http://schemas.microsoft.com/office/drawing/2014/main" id="{A9938E2B-4D46-2548-8611-54B74EF742D7}"/>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a:extLst>
                <a:ext uri="{FF2B5EF4-FFF2-40B4-BE49-F238E27FC236}">
                  <a16:creationId xmlns:a16="http://schemas.microsoft.com/office/drawing/2014/main" id="{58F16A36-9490-F9F7-5A08-7D5FD24B9015}"/>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a:extLst>
              <a:ext uri="{FF2B5EF4-FFF2-40B4-BE49-F238E27FC236}">
                <a16:creationId xmlns:a16="http://schemas.microsoft.com/office/drawing/2014/main" id="{B829D927-AE49-2102-66CB-E288C6610396}"/>
              </a:ext>
            </a:extLst>
          </p:cNvPr>
          <p:cNvGrpSpPr/>
          <p:nvPr/>
        </p:nvGrpSpPr>
        <p:grpSpPr>
          <a:xfrm>
            <a:off x="8095554" y="2055887"/>
            <a:ext cx="533400" cy="1076760"/>
            <a:chOff x="9096957" y="4287040"/>
            <a:chExt cx="533400" cy="1435680"/>
          </a:xfrm>
        </p:grpSpPr>
        <p:grpSp>
          <p:nvGrpSpPr>
            <p:cNvPr id="109" name="组合 108">
              <a:extLst>
                <a:ext uri="{FF2B5EF4-FFF2-40B4-BE49-F238E27FC236}">
                  <a16:creationId xmlns:a16="http://schemas.microsoft.com/office/drawing/2014/main" id="{BC02456A-F0BF-84FA-62B1-AEE5782BAE1F}"/>
                </a:ext>
              </a:extLst>
            </p:cNvPr>
            <p:cNvGrpSpPr/>
            <p:nvPr/>
          </p:nvGrpSpPr>
          <p:grpSpPr>
            <a:xfrm>
              <a:off x="9096957" y="4287040"/>
              <a:ext cx="533400" cy="1312569"/>
              <a:chOff x="3344047" y="4287041"/>
              <a:chExt cx="533400" cy="1312569"/>
            </a:xfrm>
          </p:grpSpPr>
          <p:sp>
            <p:nvSpPr>
              <p:cNvPr id="111" name="Rectangle 5">
                <a:extLst>
                  <a:ext uri="{FF2B5EF4-FFF2-40B4-BE49-F238E27FC236}">
                    <a16:creationId xmlns:a16="http://schemas.microsoft.com/office/drawing/2014/main" id="{AC0BB943-37DB-B84F-10D9-00E7E93B7647}"/>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a:extLst>
                  <a:ext uri="{FF2B5EF4-FFF2-40B4-BE49-F238E27FC236}">
                    <a16:creationId xmlns:a16="http://schemas.microsoft.com/office/drawing/2014/main" id="{33BB48B6-C8F5-8C90-334B-0D786D9E53B0}"/>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a:extLst>
                  <a:ext uri="{FF2B5EF4-FFF2-40B4-BE49-F238E27FC236}">
                    <a16:creationId xmlns:a16="http://schemas.microsoft.com/office/drawing/2014/main" id="{5A59F98B-5B66-7205-39CF-EDF38B5535A1}"/>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a:extLst>
                <a:ext uri="{FF2B5EF4-FFF2-40B4-BE49-F238E27FC236}">
                  <a16:creationId xmlns:a16="http://schemas.microsoft.com/office/drawing/2014/main" id="{13AEC633-508A-1737-AA60-FF0F5AA53A1A}"/>
                </a:ext>
              </a:extLst>
            </p:cNvPr>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a:extLst>
              <a:ext uri="{FF2B5EF4-FFF2-40B4-BE49-F238E27FC236}">
                <a16:creationId xmlns:a16="http://schemas.microsoft.com/office/drawing/2014/main" id="{29ABB80B-D278-9BD0-17EC-E3D78E1E7D36}"/>
              </a:ext>
            </a:extLst>
          </p:cNvPr>
          <p:cNvGrpSpPr/>
          <p:nvPr/>
        </p:nvGrpSpPr>
        <p:grpSpPr>
          <a:xfrm>
            <a:off x="5748545" y="2055888"/>
            <a:ext cx="533400" cy="984427"/>
            <a:chOff x="3344047" y="4287041"/>
            <a:chExt cx="533400" cy="1312569"/>
          </a:xfrm>
        </p:grpSpPr>
        <p:sp>
          <p:nvSpPr>
            <p:cNvPr id="115" name="Rectangle 5">
              <a:extLst>
                <a:ext uri="{FF2B5EF4-FFF2-40B4-BE49-F238E27FC236}">
                  <a16:creationId xmlns:a16="http://schemas.microsoft.com/office/drawing/2014/main" id="{1CB50FB1-EFDB-C7A0-73B6-C8EF604808DF}"/>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a:extLst>
                <a:ext uri="{FF2B5EF4-FFF2-40B4-BE49-F238E27FC236}">
                  <a16:creationId xmlns:a16="http://schemas.microsoft.com/office/drawing/2014/main" id="{8318026D-F942-796C-31B9-5A9D42F7F122}"/>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
              <a:extLst>
                <a:ext uri="{FF2B5EF4-FFF2-40B4-BE49-F238E27FC236}">
                  <a16:creationId xmlns:a16="http://schemas.microsoft.com/office/drawing/2014/main" id="{26A586EB-E254-717E-1EE5-F8192818172C}"/>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组合 117">
            <a:extLst>
              <a:ext uri="{FF2B5EF4-FFF2-40B4-BE49-F238E27FC236}">
                <a16:creationId xmlns:a16="http://schemas.microsoft.com/office/drawing/2014/main" id="{9D62FFF0-52E1-A771-1739-743A9339B6C7}"/>
              </a:ext>
            </a:extLst>
          </p:cNvPr>
          <p:cNvGrpSpPr/>
          <p:nvPr/>
        </p:nvGrpSpPr>
        <p:grpSpPr>
          <a:xfrm>
            <a:off x="6807393" y="2055888"/>
            <a:ext cx="675622" cy="984427"/>
            <a:chOff x="3344047" y="4287041"/>
            <a:chExt cx="533400" cy="1312569"/>
          </a:xfrm>
        </p:grpSpPr>
        <p:sp>
          <p:nvSpPr>
            <p:cNvPr id="119" name="Rectangle 5">
              <a:extLst>
                <a:ext uri="{FF2B5EF4-FFF2-40B4-BE49-F238E27FC236}">
                  <a16:creationId xmlns:a16="http://schemas.microsoft.com/office/drawing/2014/main" id="{EB1CEDC7-EFF6-82B4-69EC-B0563CA9C2F8}"/>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a:extLst>
                <a:ext uri="{FF2B5EF4-FFF2-40B4-BE49-F238E27FC236}">
                  <a16:creationId xmlns:a16="http://schemas.microsoft.com/office/drawing/2014/main" id="{5C433251-E88C-E1B5-45D2-CCC424CFE168}"/>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a:extLst>
                <a:ext uri="{FF2B5EF4-FFF2-40B4-BE49-F238E27FC236}">
                  <a16:creationId xmlns:a16="http://schemas.microsoft.com/office/drawing/2014/main" id="{D486EC9B-0E2C-B38F-CF38-BFBAF9F86AD1}"/>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a:extLst>
              <a:ext uri="{FF2B5EF4-FFF2-40B4-BE49-F238E27FC236}">
                <a16:creationId xmlns:a16="http://schemas.microsoft.com/office/drawing/2014/main" id="{EF5FA220-CFC2-8D8F-E032-FEF0A4C9FA62}"/>
              </a:ext>
            </a:extLst>
          </p:cNvPr>
          <p:cNvGrpSpPr/>
          <p:nvPr/>
        </p:nvGrpSpPr>
        <p:grpSpPr>
          <a:xfrm>
            <a:off x="1283841" y="2055888"/>
            <a:ext cx="533400" cy="984427"/>
            <a:chOff x="2459424" y="4263014"/>
            <a:chExt cx="533400" cy="1312569"/>
          </a:xfrm>
        </p:grpSpPr>
        <p:grpSp>
          <p:nvGrpSpPr>
            <p:cNvPr id="123" name="组合 122">
              <a:extLst>
                <a:ext uri="{FF2B5EF4-FFF2-40B4-BE49-F238E27FC236}">
                  <a16:creationId xmlns:a16="http://schemas.microsoft.com/office/drawing/2014/main" id="{2978DC65-CC4C-0E7D-60EE-A0C98E8EB93E}"/>
                </a:ext>
              </a:extLst>
            </p:cNvPr>
            <p:cNvGrpSpPr/>
            <p:nvPr/>
          </p:nvGrpSpPr>
          <p:grpSpPr>
            <a:xfrm>
              <a:off x="2459424" y="4263014"/>
              <a:ext cx="533400" cy="1312569"/>
              <a:chOff x="3344047" y="4287041"/>
              <a:chExt cx="533400" cy="1312569"/>
            </a:xfrm>
          </p:grpSpPr>
          <p:sp>
            <p:nvSpPr>
              <p:cNvPr id="125" name="Rectangle 5">
                <a:extLst>
                  <a:ext uri="{FF2B5EF4-FFF2-40B4-BE49-F238E27FC236}">
                    <a16:creationId xmlns:a16="http://schemas.microsoft.com/office/drawing/2014/main" id="{A48F7536-9469-8496-34E7-DB96712313AC}"/>
                  </a:ext>
                </a:extLst>
              </p:cNvPr>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a:extLst>
                  <a:ext uri="{FF2B5EF4-FFF2-40B4-BE49-F238E27FC236}">
                    <a16:creationId xmlns:a16="http://schemas.microsoft.com/office/drawing/2014/main" id="{B1A94BB9-3911-43AF-B91E-60449B61C66F}"/>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a:extLst>
                  <a:ext uri="{FF2B5EF4-FFF2-40B4-BE49-F238E27FC236}">
                    <a16:creationId xmlns:a16="http://schemas.microsoft.com/office/drawing/2014/main" id="{F9675BD9-9E80-248E-988A-65B62E1AA0FC}"/>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a:extLst>
                <a:ext uri="{FF2B5EF4-FFF2-40B4-BE49-F238E27FC236}">
                  <a16:creationId xmlns:a16="http://schemas.microsoft.com/office/drawing/2014/main" id="{8014E6FE-0933-80E7-372F-D2B5F8E24C36}"/>
                </a:ext>
              </a:extLst>
            </p:cNvPr>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a:extLst>
              <a:ext uri="{FF2B5EF4-FFF2-40B4-BE49-F238E27FC236}">
                <a16:creationId xmlns:a16="http://schemas.microsoft.com/office/drawing/2014/main" id="{6B6F0BF7-2D01-076A-6023-7DF7CDFF52A2}"/>
              </a:ext>
            </a:extLst>
          </p:cNvPr>
          <p:cNvSpPr>
            <a:spLocks noChangeShapeType="1"/>
          </p:cNvSpPr>
          <p:nvPr/>
        </p:nvSpPr>
        <p:spPr bwMode="auto">
          <a:xfrm flipH="1">
            <a:off x="182778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a:extLst>
              <a:ext uri="{FF2B5EF4-FFF2-40B4-BE49-F238E27FC236}">
                <a16:creationId xmlns:a16="http://schemas.microsoft.com/office/drawing/2014/main" id="{0D438598-BB91-5209-CBED-EB290FCFD2F2}"/>
              </a:ext>
            </a:extLst>
          </p:cNvPr>
          <p:cNvSpPr>
            <a:spLocks noChangeShapeType="1"/>
          </p:cNvSpPr>
          <p:nvPr/>
        </p:nvSpPr>
        <p:spPr bwMode="auto">
          <a:xfrm>
            <a:off x="1703118"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a:extLst>
              <a:ext uri="{FF2B5EF4-FFF2-40B4-BE49-F238E27FC236}">
                <a16:creationId xmlns:a16="http://schemas.microsoft.com/office/drawing/2014/main" id="{D14C4A34-C8AB-431B-8E0E-F9DE3EC5AC54}"/>
              </a:ext>
            </a:extLst>
          </p:cNvPr>
          <p:cNvSpPr>
            <a:spLocks noChangeShapeType="1"/>
          </p:cNvSpPr>
          <p:nvPr/>
        </p:nvSpPr>
        <p:spPr bwMode="auto">
          <a:xfrm>
            <a:off x="2761967"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a:extLst>
              <a:ext uri="{FF2B5EF4-FFF2-40B4-BE49-F238E27FC236}">
                <a16:creationId xmlns:a16="http://schemas.microsoft.com/office/drawing/2014/main" id="{1005FE75-D101-99A4-201C-96E1DB5EAAD4}"/>
              </a:ext>
            </a:extLst>
          </p:cNvPr>
          <p:cNvSpPr>
            <a:spLocks noChangeShapeType="1"/>
          </p:cNvSpPr>
          <p:nvPr/>
        </p:nvSpPr>
        <p:spPr bwMode="auto">
          <a:xfrm>
            <a:off x="3884001"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 name="Line 29">
            <a:extLst>
              <a:ext uri="{FF2B5EF4-FFF2-40B4-BE49-F238E27FC236}">
                <a16:creationId xmlns:a16="http://schemas.microsoft.com/office/drawing/2014/main" id="{4F318BE6-3CDD-DC38-A9B4-3E34B6A7FDF8}"/>
              </a:ext>
            </a:extLst>
          </p:cNvPr>
          <p:cNvSpPr>
            <a:spLocks noChangeShapeType="1"/>
          </p:cNvSpPr>
          <p:nvPr/>
        </p:nvSpPr>
        <p:spPr bwMode="auto">
          <a:xfrm>
            <a:off x="5108975"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a:extLst>
              <a:ext uri="{FF2B5EF4-FFF2-40B4-BE49-F238E27FC236}">
                <a16:creationId xmlns:a16="http://schemas.microsoft.com/office/drawing/2014/main" id="{285F2734-6386-F726-2600-046E3782B3F3}"/>
              </a:ext>
            </a:extLst>
          </p:cNvPr>
          <p:cNvSpPr>
            <a:spLocks noChangeShapeType="1"/>
          </p:cNvSpPr>
          <p:nvPr/>
        </p:nvSpPr>
        <p:spPr bwMode="auto">
          <a:xfrm>
            <a:off x="6167823"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a:extLst>
              <a:ext uri="{FF2B5EF4-FFF2-40B4-BE49-F238E27FC236}">
                <a16:creationId xmlns:a16="http://schemas.microsoft.com/office/drawing/2014/main" id="{FBA3EB65-81C9-072D-4E45-2A25889B97C4}"/>
              </a:ext>
            </a:extLst>
          </p:cNvPr>
          <p:cNvSpPr>
            <a:spLocks noChangeShapeType="1"/>
          </p:cNvSpPr>
          <p:nvPr/>
        </p:nvSpPr>
        <p:spPr bwMode="auto">
          <a:xfrm>
            <a:off x="7336602" y="2901815"/>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a:extLst>
              <a:ext uri="{FF2B5EF4-FFF2-40B4-BE49-F238E27FC236}">
                <a16:creationId xmlns:a16="http://schemas.microsoft.com/office/drawing/2014/main" id="{2902959C-73F0-EF41-E2EF-CC491900DB9C}"/>
              </a:ext>
            </a:extLst>
          </p:cNvPr>
          <p:cNvSpPr>
            <a:spLocks noChangeShapeType="1"/>
          </p:cNvSpPr>
          <p:nvPr/>
        </p:nvSpPr>
        <p:spPr bwMode="auto">
          <a:xfrm flipH="1">
            <a:off x="7892423" y="2226447"/>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29">
            <a:extLst>
              <a:ext uri="{FF2B5EF4-FFF2-40B4-BE49-F238E27FC236}">
                <a16:creationId xmlns:a16="http://schemas.microsoft.com/office/drawing/2014/main" id="{CCFD9AC2-9A3A-8EC6-D0D8-59808C62516D}"/>
              </a:ext>
            </a:extLst>
          </p:cNvPr>
          <p:cNvSpPr>
            <a:spLocks noChangeShapeType="1"/>
          </p:cNvSpPr>
          <p:nvPr/>
        </p:nvSpPr>
        <p:spPr bwMode="auto">
          <a:xfrm flipH="1">
            <a:off x="628194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7" name="Line 29">
            <a:extLst>
              <a:ext uri="{FF2B5EF4-FFF2-40B4-BE49-F238E27FC236}">
                <a16:creationId xmlns:a16="http://schemas.microsoft.com/office/drawing/2014/main" id="{FA9C11D3-CBD7-C22E-E613-FF7FBF619853}"/>
              </a:ext>
            </a:extLst>
          </p:cNvPr>
          <p:cNvSpPr>
            <a:spLocks noChangeShapeType="1"/>
          </p:cNvSpPr>
          <p:nvPr/>
        </p:nvSpPr>
        <p:spPr bwMode="auto">
          <a:xfrm flipH="1">
            <a:off x="5223098"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a:extLst>
              <a:ext uri="{FF2B5EF4-FFF2-40B4-BE49-F238E27FC236}">
                <a16:creationId xmlns:a16="http://schemas.microsoft.com/office/drawing/2014/main" id="{F0B72B87-336D-0555-A37B-5391E1030A23}"/>
              </a:ext>
            </a:extLst>
          </p:cNvPr>
          <p:cNvSpPr>
            <a:spLocks noChangeShapeType="1"/>
          </p:cNvSpPr>
          <p:nvPr/>
        </p:nvSpPr>
        <p:spPr bwMode="auto">
          <a:xfrm flipH="1">
            <a:off x="4344742" y="2226447"/>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a:extLst>
              <a:ext uri="{FF2B5EF4-FFF2-40B4-BE49-F238E27FC236}">
                <a16:creationId xmlns:a16="http://schemas.microsoft.com/office/drawing/2014/main" id="{E4DCDA39-F5ED-CA68-5D57-AB28CCC53842}"/>
              </a:ext>
            </a:extLst>
          </p:cNvPr>
          <p:cNvSpPr>
            <a:spLocks noChangeShapeType="1"/>
          </p:cNvSpPr>
          <p:nvPr/>
        </p:nvSpPr>
        <p:spPr bwMode="auto">
          <a:xfrm flipH="1">
            <a:off x="2876090"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a:extLst>
              <a:ext uri="{FF2B5EF4-FFF2-40B4-BE49-F238E27FC236}">
                <a16:creationId xmlns:a16="http://schemas.microsoft.com/office/drawing/2014/main" id="{F1DFF3BF-F364-F910-A186-329AE4924998}"/>
              </a:ext>
            </a:extLst>
          </p:cNvPr>
          <p:cNvSpPr>
            <a:spLocks noChangeShapeType="1"/>
          </p:cNvSpPr>
          <p:nvPr/>
        </p:nvSpPr>
        <p:spPr bwMode="auto">
          <a:xfrm>
            <a:off x="4344742"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a:extLst>
              <a:ext uri="{FF2B5EF4-FFF2-40B4-BE49-F238E27FC236}">
                <a16:creationId xmlns:a16="http://schemas.microsoft.com/office/drawing/2014/main" id="{ED4A743E-4629-9122-39C0-2CB1F6F22D74}"/>
              </a:ext>
            </a:extLst>
          </p:cNvPr>
          <p:cNvSpPr>
            <a:spLocks noChangeShapeType="1"/>
          </p:cNvSpPr>
          <p:nvPr/>
        </p:nvSpPr>
        <p:spPr bwMode="auto">
          <a:xfrm>
            <a:off x="7892424"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a:extLst>
              <a:ext uri="{FF2B5EF4-FFF2-40B4-BE49-F238E27FC236}">
                <a16:creationId xmlns:a16="http://schemas.microsoft.com/office/drawing/2014/main" id="{4D7B2B7B-17A0-9FF8-5E1D-0209CCD71E69}"/>
              </a:ext>
            </a:extLst>
          </p:cNvPr>
          <p:cNvSpPr>
            <a:spLocks noChangeShapeType="1"/>
          </p:cNvSpPr>
          <p:nvPr/>
        </p:nvSpPr>
        <p:spPr bwMode="auto">
          <a:xfrm flipH="1">
            <a:off x="7483015" y="2226447"/>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a:extLst>
              <a:ext uri="{FF2B5EF4-FFF2-40B4-BE49-F238E27FC236}">
                <a16:creationId xmlns:a16="http://schemas.microsoft.com/office/drawing/2014/main" id="{1607D31D-217B-BD8A-8977-B5C2574195CF}"/>
              </a:ext>
            </a:extLst>
          </p:cNvPr>
          <p:cNvSpPr>
            <a:spLocks noChangeShapeType="1"/>
          </p:cNvSpPr>
          <p:nvPr/>
        </p:nvSpPr>
        <p:spPr bwMode="auto">
          <a:xfrm flipH="1">
            <a:off x="3948323" y="2226447"/>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8" name="直接连接符 67">
            <a:extLst>
              <a:ext uri="{FF2B5EF4-FFF2-40B4-BE49-F238E27FC236}">
                <a16:creationId xmlns:a16="http://schemas.microsoft.com/office/drawing/2014/main" id="{372F339C-05BE-934C-8ECD-1C5507FAEF4C}"/>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9573D036-B860-372E-4AA4-7660F330E773}"/>
              </a:ext>
            </a:extLst>
          </p:cNvPr>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31E944EA-3811-0F7B-298E-8D41EA1AD47F}"/>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2" name="矩形 1">
            <a:extLst>
              <a:ext uri="{FF2B5EF4-FFF2-40B4-BE49-F238E27FC236}">
                <a16:creationId xmlns:a16="http://schemas.microsoft.com/office/drawing/2014/main" id="{F6987D23-BC93-24F5-D020-DCE5A43A50AF}"/>
              </a:ext>
            </a:extLst>
          </p:cNvPr>
          <p:cNvSpPr/>
          <p:nvPr/>
        </p:nvSpPr>
        <p:spPr>
          <a:xfrm>
            <a:off x="493821" y="1446757"/>
            <a:ext cx="3142075" cy="369332"/>
          </a:xfrm>
          <a:prstGeom prst="rect">
            <a:avLst/>
          </a:prstGeom>
        </p:spPr>
        <p:txBody>
          <a:bodyPr wrap="square">
            <a:spAutoFit/>
          </a:bodyPr>
          <a:lstStyle/>
          <a:p>
            <a:r>
              <a:rPr lang="en-US" altLang="zh-CN" dirty="0">
                <a:latin typeface="微软雅黑" pitchFamily="34" charset="-122"/>
                <a:ea typeface="微软雅黑" pitchFamily="34" charset="-122"/>
                <a:cs typeface="经典粗黑简" pitchFamily="49" charset="-122"/>
              </a:rPr>
              <a:t>2.3.3.1 </a:t>
            </a:r>
            <a:r>
              <a:rPr lang="zh-CN" altLang="en-US" dirty="0">
                <a:latin typeface="微软雅黑" pitchFamily="34" charset="-122"/>
                <a:ea typeface="微软雅黑" pitchFamily="34" charset="-122"/>
                <a:cs typeface="经典粗黑简" pitchFamily="49" charset="-122"/>
              </a:rPr>
              <a:t>插入结点操作</a:t>
            </a:r>
          </a:p>
        </p:txBody>
      </p:sp>
      <p:sp>
        <p:nvSpPr>
          <p:cNvPr id="11" name="Rectangle 228">
            <a:extLst>
              <a:ext uri="{FF2B5EF4-FFF2-40B4-BE49-F238E27FC236}">
                <a16:creationId xmlns:a16="http://schemas.microsoft.com/office/drawing/2014/main" id="{A0AF67D8-581A-CE1E-C8C4-585C9FEAE1A9}"/>
              </a:ext>
            </a:extLst>
          </p:cNvPr>
          <p:cNvSpPr>
            <a:spLocks noChangeArrowheads="1"/>
          </p:cNvSpPr>
          <p:nvPr/>
        </p:nvSpPr>
        <p:spPr bwMode="auto">
          <a:xfrm>
            <a:off x="4117574" y="139180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p</a:t>
            </a:r>
          </a:p>
        </p:txBody>
      </p:sp>
      <p:sp>
        <p:nvSpPr>
          <p:cNvPr id="12" name="Line 29">
            <a:extLst>
              <a:ext uri="{FF2B5EF4-FFF2-40B4-BE49-F238E27FC236}">
                <a16:creationId xmlns:a16="http://schemas.microsoft.com/office/drawing/2014/main" id="{B28CA8CA-21DD-1EB6-236C-B93AAC0216E1}"/>
              </a:ext>
            </a:extLst>
          </p:cNvPr>
          <p:cNvSpPr>
            <a:spLocks noChangeShapeType="1"/>
          </p:cNvSpPr>
          <p:nvPr/>
        </p:nvSpPr>
        <p:spPr bwMode="auto">
          <a:xfrm>
            <a:off x="4400917" y="1776450"/>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矩形 8">
            <a:extLst>
              <a:ext uri="{FF2B5EF4-FFF2-40B4-BE49-F238E27FC236}">
                <a16:creationId xmlns:a16="http://schemas.microsoft.com/office/drawing/2014/main" id="{CB2CA133-3030-7093-183F-1D2D0BD0A096}"/>
              </a:ext>
            </a:extLst>
          </p:cNvPr>
          <p:cNvSpPr/>
          <p:nvPr/>
        </p:nvSpPr>
        <p:spPr>
          <a:xfrm>
            <a:off x="-17178" y="3027210"/>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13" name="矩形 12">
            <a:extLst>
              <a:ext uri="{FF2B5EF4-FFF2-40B4-BE49-F238E27FC236}">
                <a16:creationId xmlns:a16="http://schemas.microsoft.com/office/drawing/2014/main" id="{90D8E769-4263-71BC-9CEF-BF76D708E132}"/>
              </a:ext>
            </a:extLst>
          </p:cNvPr>
          <p:cNvSpPr/>
          <p:nvPr/>
        </p:nvSpPr>
        <p:spPr>
          <a:xfrm>
            <a:off x="412635" y="3312174"/>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18" name="Rectangle 55">
            <a:extLst>
              <a:ext uri="{FF2B5EF4-FFF2-40B4-BE49-F238E27FC236}">
                <a16:creationId xmlns:a16="http://schemas.microsoft.com/office/drawing/2014/main" id="{4BA8D8AB-314C-4C19-B0B6-4C747A596F31}"/>
              </a:ext>
            </a:extLst>
          </p:cNvPr>
          <p:cNvSpPr>
            <a:spLocks noChangeArrowheads="1"/>
          </p:cNvSpPr>
          <p:nvPr/>
        </p:nvSpPr>
        <p:spPr bwMode="auto">
          <a:xfrm>
            <a:off x="4379042" y="155302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grpSp>
        <p:nvGrpSpPr>
          <p:cNvPr id="4" name="组合 3">
            <a:extLst>
              <a:ext uri="{FF2B5EF4-FFF2-40B4-BE49-F238E27FC236}">
                <a16:creationId xmlns:a16="http://schemas.microsoft.com/office/drawing/2014/main" id="{0CB9AEF5-26F6-48E2-A911-AAB3E8AE8935}"/>
              </a:ext>
            </a:extLst>
          </p:cNvPr>
          <p:cNvGrpSpPr/>
          <p:nvPr/>
        </p:nvGrpSpPr>
        <p:grpSpPr>
          <a:xfrm>
            <a:off x="5375026" y="3640925"/>
            <a:ext cx="533400" cy="984427"/>
            <a:chOff x="3344047" y="4287041"/>
            <a:chExt cx="533400" cy="1312569"/>
          </a:xfrm>
        </p:grpSpPr>
        <p:sp>
          <p:nvSpPr>
            <p:cNvPr id="5" name="Rectangle 5">
              <a:extLst>
                <a:ext uri="{FF2B5EF4-FFF2-40B4-BE49-F238E27FC236}">
                  <a16:creationId xmlns:a16="http://schemas.microsoft.com/office/drawing/2014/main" id="{38EDD06D-E102-9012-6D5C-AC223C26A177}"/>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600" baseline="-25000" dirty="0"/>
                <a:t>e </a:t>
              </a:r>
              <a:r>
                <a:rPr lang="en-US" altLang="zh-CN" sz="2400" dirty="0"/>
                <a:t>   </a:t>
              </a:r>
            </a:p>
          </p:txBody>
        </p:sp>
        <p:sp>
          <p:nvSpPr>
            <p:cNvPr id="6" name="Line 6">
              <a:extLst>
                <a:ext uri="{FF2B5EF4-FFF2-40B4-BE49-F238E27FC236}">
                  <a16:creationId xmlns:a16="http://schemas.microsoft.com/office/drawing/2014/main" id="{D3BF5CCC-EB10-8D96-D5A3-6FB992D6BE88}"/>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Line 6">
              <a:extLst>
                <a:ext uri="{FF2B5EF4-FFF2-40B4-BE49-F238E27FC236}">
                  <a16:creationId xmlns:a16="http://schemas.microsoft.com/office/drawing/2014/main" id="{6C8DAE0E-24AE-526C-B265-5B3EF3CB1E40}"/>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 name="Line 29">
            <a:extLst>
              <a:ext uri="{FF2B5EF4-FFF2-40B4-BE49-F238E27FC236}">
                <a16:creationId xmlns:a16="http://schemas.microsoft.com/office/drawing/2014/main" id="{BB2D6C72-A438-C464-C1E5-4C0B833FEF9A}"/>
              </a:ext>
            </a:extLst>
          </p:cNvPr>
          <p:cNvSpPr>
            <a:spLocks noChangeShapeType="1"/>
          </p:cNvSpPr>
          <p:nvPr/>
        </p:nvSpPr>
        <p:spPr bwMode="auto">
          <a:xfrm>
            <a:off x="4735455" y="3798909"/>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228">
            <a:extLst>
              <a:ext uri="{FF2B5EF4-FFF2-40B4-BE49-F238E27FC236}">
                <a16:creationId xmlns:a16="http://schemas.microsoft.com/office/drawing/2014/main" id="{3C59C654-6AD7-0012-BF69-BF1017E4CA52}"/>
              </a:ext>
            </a:extLst>
          </p:cNvPr>
          <p:cNvSpPr>
            <a:spLocks noChangeArrowheads="1"/>
          </p:cNvSpPr>
          <p:nvPr/>
        </p:nvSpPr>
        <p:spPr bwMode="auto">
          <a:xfrm>
            <a:off x="4387833" y="3565397"/>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s</a:t>
            </a:r>
          </a:p>
        </p:txBody>
      </p:sp>
      <p:sp>
        <p:nvSpPr>
          <p:cNvPr id="15" name="Rectangle 55">
            <a:extLst>
              <a:ext uri="{FF2B5EF4-FFF2-40B4-BE49-F238E27FC236}">
                <a16:creationId xmlns:a16="http://schemas.microsoft.com/office/drawing/2014/main" id="{22424B33-CF7C-F8FE-4F3E-32D431A17F0B}"/>
              </a:ext>
            </a:extLst>
          </p:cNvPr>
          <p:cNvSpPr>
            <a:spLocks noChangeArrowheads="1"/>
          </p:cNvSpPr>
          <p:nvPr/>
        </p:nvSpPr>
        <p:spPr bwMode="auto">
          <a:xfrm>
            <a:off x="4731794" y="330114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19" name="矩形 18">
            <a:extLst>
              <a:ext uri="{FF2B5EF4-FFF2-40B4-BE49-F238E27FC236}">
                <a16:creationId xmlns:a16="http://schemas.microsoft.com/office/drawing/2014/main" id="{D00AC2E0-619E-D12A-DCE5-9CDC4A2FC05D}"/>
              </a:ext>
            </a:extLst>
          </p:cNvPr>
          <p:cNvSpPr/>
          <p:nvPr/>
        </p:nvSpPr>
        <p:spPr>
          <a:xfrm>
            <a:off x="420097" y="3685542"/>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生成一个新的结点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a:t>
            </a:r>
          </a:p>
        </p:txBody>
      </p:sp>
      <p:sp>
        <p:nvSpPr>
          <p:cNvPr id="14" name="Rectangle 55">
            <a:extLst>
              <a:ext uri="{FF2B5EF4-FFF2-40B4-BE49-F238E27FC236}">
                <a16:creationId xmlns:a16="http://schemas.microsoft.com/office/drawing/2014/main" id="{F2AB4AC7-E6F4-E995-B575-63064E3C053C}"/>
              </a:ext>
            </a:extLst>
          </p:cNvPr>
          <p:cNvSpPr>
            <a:spLocks noChangeArrowheads="1"/>
          </p:cNvSpPr>
          <p:nvPr/>
        </p:nvSpPr>
        <p:spPr bwMode="auto">
          <a:xfrm>
            <a:off x="6057889" y="333590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6" name="Line 29">
            <a:extLst>
              <a:ext uri="{FF2B5EF4-FFF2-40B4-BE49-F238E27FC236}">
                <a16:creationId xmlns:a16="http://schemas.microsoft.com/office/drawing/2014/main" id="{F489B1A8-0FE1-E846-018A-D38661736187}"/>
              </a:ext>
            </a:extLst>
          </p:cNvPr>
          <p:cNvSpPr>
            <a:spLocks noChangeShapeType="1"/>
          </p:cNvSpPr>
          <p:nvPr/>
        </p:nvSpPr>
        <p:spPr bwMode="auto">
          <a:xfrm flipH="1" flipV="1">
            <a:off x="6007658" y="3052284"/>
            <a:ext cx="0" cy="146368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9">
            <a:extLst>
              <a:ext uri="{FF2B5EF4-FFF2-40B4-BE49-F238E27FC236}">
                <a16:creationId xmlns:a16="http://schemas.microsoft.com/office/drawing/2014/main" id="{DA148F5F-4CE2-A808-0B79-A91E9CA62306}"/>
              </a:ext>
            </a:extLst>
          </p:cNvPr>
          <p:cNvSpPr>
            <a:spLocks noChangeShapeType="1"/>
          </p:cNvSpPr>
          <p:nvPr/>
        </p:nvSpPr>
        <p:spPr bwMode="auto">
          <a:xfrm>
            <a:off x="5622613" y="4515965"/>
            <a:ext cx="385045"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矩形 22">
            <a:extLst>
              <a:ext uri="{FF2B5EF4-FFF2-40B4-BE49-F238E27FC236}">
                <a16:creationId xmlns:a16="http://schemas.microsoft.com/office/drawing/2014/main" id="{91709ED0-09C2-2B2F-6F48-D833E9661079}"/>
              </a:ext>
            </a:extLst>
          </p:cNvPr>
          <p:cNvSpPr/>
          <p:nvPr/>
        </p:nvSpPr>
        <p:spPr>
          <a:xfrm>
            <a:off x="412634" y="4076573"/>
            <a:ext cx="4159365"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③ 确定新结点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前驱、后继指针；</a:t>
            </a:r>
          </a:p>
        </p:txBody>
      </p:sp>
      <p:sp>
        <p:nvSpPr>
          <p:cNvPr id="25" name="Line 29">
            <a:extLst>
              <a:ext uri="{FF2B5EF4-FFF2-40B4-BE49-F238E27FC236}">
                <a16:creationId xmlns:a16="http://schemas.microsoft.com/office/drawing/2014/main" id="{1AF516AF-8113-3F27-5840-43BD92C37BF8}"/>
              </a:ext>
            </a:extLst>
          </p:cNvPr>
          <p:cNvSpPr>
            <a:spLocks noChangeShapeType="1"/>
          </p:cNvSpPr>
          <p:nvPr/>
        </p:nvSpPr>
        <p:spPr bwMode="auto">
          <a:xfrm flipH="1" flipV="1">
            <a:off x="5508104" y="3292765"/>
            <a:ext cx="0" cy="496421"/>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9">
            <a:extLst>
              <a:ext uri="{FF2B5EF4-FFF2-40B4-BE49-F238E27FC236}">
                <a16:creationId xmlns:a16="http://schemas.microsoft.com/office/drawing/2014/main" id="{F714C21A-8691-EC8B-8DB4-C3628D981B4D}"/>
              </a:ext>
            </a:extLst>
          </p:cNvPr>
          <p:cNvSpPr>
            <a:spLocks noChangeShapeType="1"/>
          </p:cNvSpPr>
          <p:nvPr/>
        </p:nvSpPr>
        <p:spPr bwMode="auto">
          <a:xfrm>
            <a:off x="4341681" y="3301148"/>
            <a:ext cx="1166424"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29">
            <a:extLst>
              <a:ext uri="{FF2B5EF4-FFF2-40B4-BE49-F238E27FC236}">
                <a16:creationId xmlns:a16="http://schemas.microsoft.com/office/drawing/2014/main" id="{A1BE9C52-D2C9-D397-5273-B612CCDC2218}"/>
              </a:ext>
            </a:extLst>
          </p:cNvPr>
          <p:cNvSpPr>
            <a:spLocks noChangeShapeType="1"/>
          </p:cNvSpPr>
          <p:nvPr/>
        </p:nvSpPr>
        <p:spPr bwMode="auto">
          <a:xfrm>
            <a:off x="4341680" y="2987152"/>
            <a:ext cx="206066"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29">
            <a:extLst>
              <a:ext uri="{FF2B5EF4-FFF2-40B4-BE49-F238E27FC236}">
                <a16:creationId xmlns:a16="http://schemas.microsoft.com/office/drawing/2014/main" id="{66A05DBA-0B6A-7603-3CB2-036D6E0C8207}"/>
              </a:ext>
            </a:extLst>
          </p:cNvPr>
          <p:cNvSpPr>
            <a:spLocks noChangeShapeType="1"/>
          </p:cNvSpPr>
          <p:nvPr/>
        </p:nvSpPr>
        <p:spPr bwMode="auto">
          <a:xfrm flipH="1" flipV="1">
            <a:off x="4341680" y="2987152"/>
            <a:ext cx="0" cy="325022"/>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Rectangle 55">
            <a:extLst>
              <a:ext uri="{FF2B5EF4-FFF2-40B4-BE49-F238E27FC236}">
                <a16:creationId xmlns:a16="http://schemas.microsoft.com/office/drawing/2014/main" id="{C1524576-5A6D-041E-91A4-98863453A38B}"/>
              </a:ext>
            </a:extLst>
          </p:cNvPr>
          <p:cNvSpPr>
            <a:spLocks noChangeArrowheads="1"/>
          </p:cNvSpPr>
          <p:nvPr/>
        </p:nvSpPr>
        <p:spPr bwMode="auto">
          <a:xfrm>
            <a:off x="3954649" y="288582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7" name="矩形 16">
            <a:extLst>
              <a:ext uri="{FF2B5EF4-FFF2-40B4-BE49-F238E27FC236}">
                <a16:creationId xmlns:a16="http://schemas.microsoft.com/office/drawing/2014/main" id="{B1230A30-D5EF-7C48-645D-469AAAB703ED}"/>
              </a:ext>
            </a:extLst>
          </p:cNvPr>
          <p:cNvSpPr/>
          <p:nvPr/>
        </p:nvSpPr>
        <p:spPr>
          <a:xfrm>
            <a:off x="412634" y="4515965"/>
            <a:ext cx="491216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④ 确定</a:t>
            </a:r>
            <a:r>
              <a:rPr lang="en-US" altLang="zh-CN" sz="2000" dirty="0">
                <a:latin typeface="微软雅黑" pitchFamily="34" charset="-122"/>
                <a:ea typeface="微软雅黑" pitchFamily="34" charset="-122"/>
                <a:cs typeface="经典粗黑简" pitchFamily="49" charset="-122"/>
              </a:rPr>
              <a:t>a</a:t>
            </a:r>
            <a:r>
              <a:rPr lang="en-US" altLang="zh-CN" sz="2000" baseline="-25000" dirty="0">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的前驱指针；</a:t>
            </a:r>
          </a:p>
        </p:txBody>
      </p:sp>
      <p:sp>
        <p:nvSpPr>
          <p:cNvPr id="20" name="文本框 19">
            <a:extLst>
              <a:ext uri="{FF2B5EF4-FFF2-40B4-BE49-F238E27FC236}">
                <a16:creationId xmlns:a16="http://schemas.microsoft.com/office/drawing/2014/main" id="{32F37A7B-C6EB-C147-9C2A-08E9257DCDD9}"/>
              </a:ext>
            </a:extLst>
          </p:cNvPr>
          <p:cNvSpPr txBox="1"/>
          <p:nvPr/>
        </p:nvSpPr>
        <p:spPr>
          <a:xfrm>
            <a:off x="6159253" y="4108472"/>
            <a:ext cx="2509256" cy="736420"/>
          </a:xfrm>
          <a:prstGeom prst="rect">
            <a:avLst/>
          </a:prstGeom>
          <a:noFill/>
        </p:spPr>
        <p:txBody>
          <a:bodyPr wrap="square">
            <a:spAutoFit/>
          </a:bodyPr>
          <a:lstStyle/>
          <a:p>
            <a:pPr algn="l">
              <a:lnSpc>
                <a:spcPts val="2600"/>
              </a:lnSpc>
            </a:pPr>
            <a:r>
              <a:rPr kumimoji="1" lang="en-US" altLang="zh-CN" sz="1800" dirty="0">
                <a:solidFill>
                  <a:srgbClr val="0000FF"/>
                </a:solidFill>
                <a:latin typeface="Consolas" pitchFamily="49" charset="0"/>
                <a:ea typeface="仿宋" pitchFamily="49" charset="-122"/>
                <a:cs typeface="Consolas" pitchFamily="49" charset="0"/>
              </a:rPr>
              <a:t>p-&gt;next-&gt;prior=s</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	</a:t>
            </a:r>
            <a:endParaRPr lang="zh-CN" altLang="en-US" dirty="0"/>
          </a:p>
        </p:txBody>
      </p:sp>
      <p:sp>
        <p:nvSpPr>
          <p:cNvPr id="24" name="Line 29">
            <a:extLst>
              <a:ext uri="{FF2B5EF4-FFF2-40B4-BE49-F238E27FC236}">
                <a16:creationId xmlns:a16="http://schemas.microsoft.com/office/drawing/2014/main" id="{4A7A2FA1-EAD5-0694-F10E-BF0A4FDBBCF5}"/>
              </a:ext>
            </a:extLst>
          </p:cNvPr>
          <p:cNvSpPr>
            <a:spLocks noChangeShapeType="1"/>
          </p:cNvSpPr>
          <p:nvPr/>
        </p:nvSpPr>
        <p:spPr bwMode="auto">
          <a:xfrm>
            <a:off x="5606323" y="2283718"/>
            <a:ext cx="0" cy="1340027"/>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29">
            <a:extLst>
              <a:ext uri="{FF2B5EF4-FFF2-40B4-BE49-F238E27FC236}">
                <a16:creationId xmlns:a16="http://schemas.microsoft.com/office/drawing/2014/main" id="{032A5A7F-6003-F040-03B2-F7441C38E643}"/>
              </a:ext>
            </a:extLst>
          </p:cNvPr>
          <p:cNvSpPr>
            <a:spLocks noChangeShapeType="1"/>
          </p:cNvSpPr>
          <p:nvPr/>
        </p:nvSpPr>
        <p:spPr bwMode="auto">
          <a:xfrm>
            <a:off x="5627115" y="2283718"/>
            <a:ext cx="385045"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Rectangle 55">
            <a:extLst>
              <a:ext uri="{FF2B5EF4-FFF2-40B4-BE49-F238E27FC236}">
                <a16:creationId xmlns:a16="http://schemas.microsoft.com/office/drawing/2014/main" id="{0E71F9A0-97C2-6860-8387-9CCAA4132F18}"/>
              </a:ext>
            </a:extLst>
          </p:cNvPr>
          <p:cNvSpPr>
            <a:spLocks noChangeArrowheads="1"/>
          </p:cNvSpPr>
          <p:nvPr/>
        </p:nvSpPr>
        <p:spPr bwMode="auto">
          <a:xfrm>
            <a:off x="5280615" y="200232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sym typeface="Wingdings 2" panose="05020102010507070707" pitchFamily="18" charset="2"/>
              </a:rPr>
              <a:t></a:t>
            </a:r>
            <a:endParaRPr kumimoji="0" lang="zh-CN" altLang="en-US" sz="2400" dirty="0">
              <a:solidFill>
                <a:srgbClr val="FF0000"/>
              </a:solidFill>
              <a:ea typeface="CFNEOP+TimesNewRoman" charset="-122"/>
            </a:endParaRPr>
          </a:p>
        </p:txBody>
      </p:sp>
      <p:sp>
        <p:nvSpPr>
          <p:cNvPr id="30" name="Rectangle 55">
            <a:extLst>
              <a:ext uri="{FF2B5EF4-FFF2-40B4-BE49-F238E27FC236}">
                <a16:creationId xmlns:a16="http://schemas.microsoft.com/office/drawing/2014/main" id="{CB8D304C-AA5E-D211-8B1A-2952303B057D}"/>
              </a:ext>
            </a:extLst>
          </p:cNvPr>
          <p:cNvSpPr>
            <a:spLocks noChangeArrowheads="1"/>
          </p:cNvSpPr>
          <p:nvPr/>
        </p:nvSpPr>
        <p:spPr bwMode="auto">
          <a:xfrm>
            <a:off x="5203959" y="2338153"/>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④</a:t>
            </a:r>
            <a:endParaRPr kumimoji="0" lang="zh-CN" altLang="en-US" sz="2400" dirty="0">
              <a:solidFill>
                <a:srgbClr val="FF0000"/>
              </a:solidFill>
              <a:ea typeface="CFNEOP+TimesNewRoman" charset="-122"/>
            </a:endParaRPr>
          </a:p>
        </p:txBody>
      </p:sp>
    </p:spTree>
    <p:extLst>
      <p:ext uri="{BB962C8B-B14F-4D97-AF65-F5344CB8AC3E}">
        <p14:creationId xmlns:p14="http://schemas.microsoft.com/office/powerpoint/2010/main" val="27305517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44C24-0ED7-1DBF-D838-26DF89BB4C3A}"/>
            </a:ext>
          </a:extLst>
        </p:cNvPr>
        <p:cNvGrpSpPr/>
        <p:nvPr/>
      </p:nvGrpSpPr>
      <p:grpSpPr>
        <a:xfrm>
          <a:off x="0" y="0"/>
          <a:ext cx="0" cy="0"/>
          <a:chOff x="0" y="0"/>
          <a:chExt cx="0" cy="0"/>
        </a:xfrm>
      </p:grpSpPr>
      <p:sp>
        <p:nvSpPr>
          <p:cNvPr id="47" name="Rectangle 25">
            <a:extLst>
              <a:ext uri="{FF2B5EF4-FFF2-40B4-BE49-F238E27FC236}">
                <a16:creationId xmlns:a16="http://schemas.microsoft.com/office/drawing/2014/main" id="{C42BEA37-C5CF-5398-F047-126D54EF8FCF}"/>
              </a:ext>
            </a:extLst>
          </p:cNvPr>
          <p:cNvSpPr>
            <a:spLocks noChangeArrowheads="1"/>
          </p:cNvSpPr>
          <p:nvPr/>
        </p:nvSpPr>
        <p:spPr bwMode="auto">
          <a:xfrm>
            <a:off x="7620379" y="239960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a:extLst>
              <a:ext uri="{FF2B5EF4-FFF2-40B4-BE49-F238E27FC236}">
                <a16:creationId xmlns:a16="http://schemas.microsoft.com/office/drawing/2014/main" id="{38401869-B7B7-9C7A-2D1B-B24A0F560388}"/>
              </a:ext>
            </a:extLst>
          </p:cNvPr>
          <p:cNvSpPr>
            <a:spLocks noChangeArrowheads="1"/>
          </p:cNvSpPr>
          <p:nvPr/>
        </p:nvSpPr>
        <p:spPr bwMode="auto">
          <a:xfrm>
            <a:off x="4014473" y="23887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a:extLst>
              <a:ext uri="{FF2B5EF4-FFF2-40B4-BE49-F238E27FC236}">
                <a16:creationId xmlns:a16="http://schemas.microsoft.com/office/drawing/2014/main" id="{01137AAD-7DE2-66B1-57CD-8F790F084D2D}"/>
              </a:ext>
            </a:extLst>
          </p:cNvPr>
          <p:cNvSpPr>
            <a:spLocks noChangeShapeType="1"/>
          </p:cNvSpPr>
          <p:nvPr/>
        </p:nvSpPr>
        <p:spPr bwMode="auto">
          <a:xfrm>
            <a:off x="631856" y="2232697"/>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a:extLst>
              <a:ext uri="{FF2B5EF4-FFF2-40B4-BE49-F238E27FC236}">
                <a16:creationId xmlns:a16="http://schemas.microsoft.com/office/drawing/2014/main" id="{0542ACFD-80B2-79CF-9D59-96126A506601}"/>
              </a:ext>
            </a:extLst>
          </p:cNvPr>
          <p:cNvSpPr>
            <a:spLocks noChangeArrowheads="1"/>
          </p:cNvSpPr>
          <p:nvPr/>
        </p:nvSpPr>
        <p:spPr bwMode="auto">
          <a:xfrm>
            <a:off x="366211" y="203479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95" name="组合 94">
            <a:extLst>
              <a:ext uri="{FF2B5EF4-FFF2-40B4-BE49-F238E27FC236}">
                <a16:creationId xmlns:a16="http://schemas.microsoft.com/office/drawing/2014/main" id="{310433A7-3CFA-58C6-2BDC-6C59E61BDF31}"/>
              </a:ext>
            </a:extLst>
          </p:cNvPr>
          <p:cNvGrpSpPr/>
          <p:nvPr/>
        </p:nvGrpSpPr>
        <p:grpSpPr>
          <a:xfrm>
            <a:off x="2342689" y="2055888"/>
            <a:ext cx="533400" cy="984427"/>
            <a:chOff x="3344047" y="4287041"/>
            <a:chExt cx="533400" cy="1312569"/>
          </a:xfrm>
        </p:grpSpPr>
        <p:sp>
          <p:nvSpPr>
            <p:cNvPr id="97" name="Rectangle 5">
              <a:extLst>
                <a:ext uri="{FF2B5EF4-FFF2-40B4-BE49-F238E27FC236}">
                  <a16:creationId xmlns:a16="http://schemas.microsoft.com/office/drawing/2014/main" id="{6FDDD9D1-735F-2944-8276-5459FDD16447}"/>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a:extLst>
                <a:ext uri="{FF2B5EF4-FFF2-40B4-BE49-F238E27FC236}">
                  <a16:creationId xmlns:a16="http://schemas.microsoft.com/office/drawing/2014/main" id="{F2BB8444-8832-8BE1-6C07-DD75F03FA953}"/>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a:extLst>
                <a:ext uri="{FF2B5EF4-FFF2-40B4-BE49-F238E27FC236}">
                  <a16:creationId xmlns:a16="http://schemas.microsoft.com/office/drawing/2014/main" id="{4829FEE6-60A4-5903-876D-CECCE6E99986}"/>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a:extLst>
              <a:ext uri="{FF2B5EF4-FFF2-40B4-BE49-F238E27FC236}">
                <a16:creationId xmlns:a16="http://schemas.microsoft.com/office/drawing/2014/main" id="{6856D9CC-F0A4-E26E-B319-A454EB8B39EA}"/>
              </a:ext>
            </a:extLst>
          </p:cNvPr>
          <p:cNvGrpSpPr/>
          <p:nvPr/>
        </p:nvGrpSpPr>
        <p:grpSpPr>
          <a:xfrm>
            <a:off x="3401537" y="2055888"/>
            <a:ext cx="533400" cy="984427"/>
            <a:chOff x="3344047" y="4287041"/>
            <a:chExt cx="533400" cy="1312569"/>
          </a:xfrm>
        </p:grpSpPr>
        <p:sp>
          <p:nvSpPr>
            <p:cNvPr id="101" name="Rectangle 5">
              <a:extLst>
                <a:ext uri="{FF2B5EF4-FFF2-40B4-BE49-F238E27FC236}">
                  <a16:creationId xmlns:a16="http://schemas.microsoft.com/office/drawing/2014/main" id="{A0FDFF0D-1F29-1195-B60F-02BE38FCDFC5}"/>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2E001C19-6B72-0AB1-FDEE-DE6BD2F78FEF}"/>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a:extLst>
                <a:ext uri="{FF2B5EF4-FFF2-40B4-BE49-F238E27FC236}">
                  <a16:creationId xmlns:a16="http://schemas.microsoft.com/office/drawing/2014/main" id="{A29F3FCE-2C42-E52F-7592-FA1F5238D3CC}"/>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a:extLst>
              <a:ext uri="{FF2B5EF4-FFF2-40B4-BE49-F238E27FC236}">
                <a16:creationId xmlns:a16="http://schemas.microsoft.com/office/drawing/2014/main" id="{C7F68B67-1213-A218-D61C-3CCA57FE27BF}"/>
              </a:ext>
            </a:extLst>
          </p:cNvPr>
          <p:cNvGrpSpPr/>
          <p:nvPr/>
        </p:nvGrpSpPr>
        <p:grpSpPr>
          <a:xfrm>
            <a:off x="4547475" y="2055888"/>
            <a:ext cx="675622" cy="984427"/>
            <a:chOff x="3344047" y="4287041"/>
            <a:chExt cx="533400" cy="1312569"/>
          </a:xfrm>
        </p:grpSpPr>
        <p:sp>
          <p:nvSpPr>
            <p:cNvPr id="105" name="Rectangle 5">
              <a:extLst>
                <a:ext uri="{FF2B5EF4-FFF2-40B4-BE49-F238E27FC236}">
                  <a16:creationId xmlns:a16="http://schemas.microsoft.com/office/drawing/2014/main" id="{AC8DC85A-AA8A-51C4-E82F-821C32A284A7}"/>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a:extLst>
                <a:ext uri="{FF2B5EF4-FFF2-40B4-BE49-F238E27FC236}">
                  <a16:creationId xmlns:a16="http://schemas.microsoft.com/office/drawing/2014/main" id="{8DD1A417-4DA4-BDDA-D7F9-C4C881E11BB9}"/>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a:extLst>
                <a:ext uri="{FF2B5EF4-FFF2-40B4-BE49-F238E27FC236}">
                  <a16:creationId xmlns:a16="http://schemas.microsoft.com/office/drawing/2014/main" id="{EDB0BC01-B4CB-7EA9-EB43-1675087FB795}"/>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a:extLst>
              <a:ext uri="{FF2B5EF4-FFF2-40B4-BE49-F238E27FC236}">
                <a16:creationId xmlns:a16="http://schemas.microsoft.com/office/drawing/2014/main" id="{FA9AFFFD-1551-11E0-F815-55F1E0066E43}"/>
              </a:ext>
            </a:extLst>
          </p:cNvPr>
          <p:cNvGrpSpPr/>
          <p:nvPr/>
        </p:nvGrpSpPr>
        <p:grpSpPr>
          <a:xfrm>
            <a:off x="8095554" y="2055887"/>
            <a:ext cx="533400" cy="1076760"/>
            <a:chOff x="9096957" y="4287040"/>
            <a:chExt cx="533400" cy="1435680"/>
          </a:xfrm>
        </p:grpSpPr>
        <p:grpSp>
          <p:nvGrpSpPr>
            <p:cNvPr id="109" name="组合 108">
              <a:extLst>
                <a:ext uri="{FF2B5EF4-FFF2-40B4-BE49-F238E27FC236}">
                  <a16:creationId xmlns:a16="http://schemas.microsoft.com/office/drawing/2014/main" id="{66AE8222-A271-3650-F58D-F5BB0DC04399}"/>
                </a:ext>
              </a:extLst>
            </p:cNvPr>
            <p:cNvGrpSpPr/>
            <p:nvPr/>
          </p:nvGrpSpPr>
          <p:grpSpPr>
            <a:xfrm>
              <a:off x="9096957" y="4287040"/>
              <a:ext cx="533400" cy="1312569"/>
              <a:chOff x="3344047" y="4287041"/>
              <a:chExt cx="533400" cy="1312569"/>
            </a:xfrm>
          </p:grpSpPr>
          <p:sp>
            <p:nvSpPr>
              <p:cNvPr id="111" name="Rectangle 5">
                <a:extLst>
                  <a:ext uri="{FF2B5EF4-FFF2-40B4-BE49-F238E27FC236}">
                    <a16:creationId xmlns:a16="http://schemas.microsoft.com/office/drawing/2014/main" id="{22E2692C-0828-4851-1A0E-D08AEF3E76D2}"/>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a:extLst>
                  <a:ext uri="{FF2B5EF4-FFF2-40B4-BE49-F238E27FC236}">
                    <a16:creationId xmlns:a16="http://schemas.microsoft.com/office/drawing/2014/main" id="{1F08B290-9264-111D-611C-5FEC41E06EAC}"/>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a:extLst>
                  <a:ext uri="{FF2B5EF4-FFF2-40B4-BE49-F238E27FC236}">
                    <a16:creationId xmlns:a16="http://schemas.microsoft.com/office/drawing/2014/main" id="{99EE3435-C18E-78AD-CA52-C7039BF0DA00}"/>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a:extLst>
                <a:ext uri="{FF2B5EF4-FFF2-40B4-BE49-F238E27FC236}">
                  <a16:creationId xmlns:a16="http://schemas.microsoft.com/office/drawing/2014/main" id="{41468F6F-E1E7-1FF8-9901-6CBD926C6435}"/>
                </a:ext>
              </a:extLst>
            </p:cNvPr>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a:extLst>
              <a:ext uri="{FF2B5EF4-FFF2-40B4-BE49-F238E27FC236}">
                <a16:creationId xmlns:a16="http://schemas.microsoft.com/office/drawing/2014/main" id="{5E22662D-9493-3FBC-0DB7-161036435EF7}"/>
              </a:ext>
            </a:extLst>
          </p:cNvPr>
          <p:cNvGrpSpPr/>
          <p:nvPr/>
        </p:nvGrpSpPr>
        <p:grpSpPr>
          <a:xfrm>
            <a:off x="5748545" y="2055888"/>
            <a:ext cx="533400" cy="984427"/>
            <a:chOff x="3344047" y="4287041"/>
            <a:chExt cx="533400" cy="1312569"/>
          </a:xfrm>
        </p:grpSpPr>
        <p:sp>
          <p:nvSpPr>
            <p:cNvPr id="115" name="Rectangle 5">
              <a:extLst>
                <a:ext uri="{FF2B5EF4-FFF2-40B4-BE49-F238E27FC236}">
                  <a16:creationId xmlns:a16="http://schemas.microsoft.com/office/drawing/2014/main" id="{D8D5A359-F6DD-207D-E793-73C772E574BC}"/>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a:extLst>
                <a:ext uri="{FF2B5EF4-FFF2-40B4-BE49-F238E27FC236}">
                  <a16:creationId xmlns:a16="http://schemas.microsoft.com/office/drawing/2014/main" id="{7922718E-0EAC-9536-DFB7-8CC287A7A492}"/>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
              <a:extLst>
                <a:ext uri="{FF2B5EF4-FFF2-40B4-BE49-F238E27FC236}">
                  <a16:creationId xmlns:a16="http://schemas.microsoft.com/office/drawing/2014/main" id="{C2745984-9EC8-4FCB-8710-D9D4A632C156}"/>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组合 117">
            <a:extLst>
              <a:ext uri="{FF2B5EF4-FFF2-40B4-BE49-F238E27FC236}">
                <a16:creationId xmlns:a16="http://schemas.microsoft.com/office/drawing/2014/main" id="{913FBAD9-3E48-1DF3-D4E1-E7D344627634}"/>
              </a:ext>
            </a:extLst>
          </p:cNvPr>
          <p:cNvGrpSpPr/>
          <p:nvPr/>
        </p:nvGrpSpPr>
        <p:grpSpPr>
          <a:xfrm>
            <a:off x="6807393" y="2055888"/>
            <a:ext cx="675622" cy="984427"/>
            <a:chOff x="3344047" y="4287041"/>
            <a:chExt cx="533400" cy="1312569"/>
          </a:xfrm>
        </p:grpSpPr>
        <p:sp>
          <p:nvSpPr>
            <p:cNvPr id="119" name="Rectangle 5">
              <a:extLst>
                <a:ext uri="{FF2B5EF4-FFF2-40B4-BE49-F238E27FC236}">
                  <a16:creationId xmlns:a16="http://schemas.microsoft.com/office/drawing/2014/main" id="{DE37DFC2-91C4-BFE1-2C2D-44139D0E0E7A}"/>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a:extLst>
                <a:ext uri="{FF2B5EF4-FFF2-40B4-BE49-F238E27FC236}">
                  <a16:creationId xmlns:a16="http://schemas.microsoft.com/office/drawing/2014/main" id="{D9B4266C-4449-27F3-23C3-2D9CF7A383D0}"/>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a:extLst>
                <a:ext uri="{FF2B5EF4-FFF2-40B4-BE49-F238E27FC236}">
                  <a16:creationId xmlns:a16="http://schemas.microsoft.com/office/drawing/2014/main" id="{44C614ED-EF43-5D47-DCD8-C85618397C9A}"/>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a:extLst>
              <a:ext uri="{FF2B5EF4-FFF2-40B4-BE49-F238E27FC236}">
                <a16:creationId xmlns:a16="http://schemas.microsoft.com/office/drawing/2014/main" id="{D61B1D93-A2A2-0865-2B22-1CA0BFFA9EAE}"/>
              </a:ext>
            </a:extLst>
          </p:cNvPr>
          <p:cNvGrpSpPr/>
          <p:nvPr/>
        </p:nvGrpSpPr>
        <p:grpSpPr>
          <a:xfrm>
            <a:off x="1283841" y="2055888"/>
            <a:ext cx="533400" cy="984427"/>
            <a:chOff x="2459424" y="4263014"/>
            <a:chExt cx="533400" cy="1312569"/>
          </a:xfrm>
        </p:grpSpPr>
        <p:grpSp>
          <p:nvGrpSpPr>
            <p:cNvPr id="123" name="组合 122">
              <a:extLst>
                <a:ext uri="{FF2B5EF4-FFF2-40B4-BE49-F238E27FC236}">
                  <a16:creationId xmlns:a16="http://schemas.microsoft.com/office/drawing/2014/main" id="{2B3DEB7E-6D70-C614-087B-59B2CBD743D4}"/>
                </a:ext>
              </a:extLst>
            </p:cNvPr>
            <p:cNvGrpSpPr/>
            <p:nvPr/>
          </p:nvGrpSpPr>
          <p:grpSpPr>
            <a:xfrm>
              <a:off x="2459424" y="4263014"/>
              <a:ext cx="533400" cy="1312569"/>
              <a:chOff x="3344047" y="4287041"/>
              <a:chExt cx="533400" cy="1312569"/>
            </a:xfrm>
          </p:grpSpPr>
          <p:sp>
            <p:nvSpPr>
              <p:cNvPr id="125" name="Rectangle 5">
                <a:extLst>
                  <a:ext uri="{FF2B5EF4-FFF2-40B4-BE49-F238E27FC236}">
                    <a16:creationId xmlns:a16="http://schemas.microsoft.com/office/drawing/2014/main" id="{6DABB96F-B257-7007-2D35-6E4DBF2047D4}"/>
                  </a:ext>
                </a:extLst>
              </p:cNvPr>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a:extLst>
                  <a:ext uri="{FF2B5EF4-FFF2-40B4-BE49-F238E27FC236}">
                    <a16:creationId xmlns:a16="http://schemas.microsoft.com/office/drawing/2014/main" id="{C6DA0FB0-EC43-752B-1281-18B04E5A275F}"/>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a:extLst>
                  <a:ext uri="{FF2B5EF4-FFF2-40B4-BE49-F238E27FC236}">
                    <a16:creationId xmlns:a16="http://schemas.microsoft.com/office/drawing/2014/main" id="{E63A2DAA-8F34-57E7-D74B-D4103471C5F2}"/>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a:extLst>
                <a:ext uri="{FF2B5EF4-FFF2-40B4-BE49-F238E27FC236}">
                  <a16:creationId xmlns:a16="http://schemas.microsoft.com/office/drawing/2014/main" id="{6D6942DA-2DF1-7CB8-7F48-0D771EF1A279}"/>
                </a:ext>
              </a:extLst>
            </p:cNvPr>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a:extLst>
              <a:ext uri="{FF2B5EF4-FFF2-40B4-BE49-F238E27FC236}">
                <a16:creationId xmlns:a16="http://schemas.microsoft.com/office/drawing/2014/main" id="{F96626CB-C4AB-57EC-1333-EC29159D0931}"/>
              </a:ext>
            </a:extLst>
          </p:cNvPr>
          <p:cNvSpPr>
            <a:spLocks noChangeShapeType="1"/>
          </p:cNvSpPr>
          <p:nvPr/>
        </p:nvSpPr>
        <p:spPr bwMode="auto">
          <a:xfrm flipH="1">
            <a:off x="182778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a:extLst>
              <a:ext uri="{FF2B5EF4-FFF2-40B4-BE49-F238E27FC236}">
                <a16:creationId xmlns:a16="http://schemas.microsoft.com/office/drawing/2014/main" id="{DDC27E6B-B8BC-16D2-7194-49E20F5A5AD1}"/>
              </a:ext>
            </a:extLst>
          </p:cNvPr>
          <p:cNvSpPr>
            <a:spLocks noChangeShapeType="1"/>
          </p:cNvSpPr>
          <p:nvPr/>
        </p:nvSpPr>
        <p:spPr bwMode="auto">
          <a:xfrm>
            <a:off x="1703118"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a:extLst>
              <a:ext uri="{FF2B5EF4-FFF2-40B4-BE49-F238E27FC236}">
                <a16:creationId xmlns:a16="http://schemas.microsoft.com/office/drawing/2014/main" id="{8507F9E1-1B91-1064-C925-84402E6870D7}"/>
              </a:ext>
            </a:extLst>
          </p:cNvPr>
          <p:cNvSpPr>
            <a:spLocks noChangeShapeType="1"/>
          </p:cNvSpPr>
          <p:nvPr/>
        </p:nvSpPr>
        <p:spPr bwMode="auto">
          <a:xfrm>
            <a:off x="2761967"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a:extLst>
              <a:ext uri="{FF2B5EF4-FFF2-40B4-BE49-F238E27FC236}">
                <a16:creationId xmlns:a16="http://schemas.microsoft.com/office/drawing/2014/main" id="{6A0CC21C-FC13-0295-E2E9-43A89B03EAC4}"/>
              </a:ext>
            </a:extLst>
          </p:cNvPr>
          <p:cNvSpPr>
            <a:spLocks noChangeShapeType="1"/>
          </p:cNvSpPr>
          <p:nvPr/>
        </p:nvSpPr>
        <p:spPr bwMode="auto">
          <a:xfrm>
            <a:off x="3884001"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 name="Line 29">
            <a:extLst>
              <a:ext uri="{FF2B5EF4-FFF2-40B4-BE49-F238E27FC236}">
                <a16:creationId xmlns:a16="http://schemas.microsoft.com/office/drawing/2014/main" id="{A5A200AB-D43E-154B-5181-217309421B2E}"/>
              </a:ext>
            </a:extLst>
          </p:cNvPr>
          <p:cNvSpPr>
            <a:spLocks noChangeShapeType="1"/>
          </p:cNvSpPr>
          <p:nvPr/>
        </p:nvSpPr>
        <p:spPr bwMode="auto">
          <a:xfrm>
            <a:off x="5108975"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a:extLst>
              <a:ext uri="{FF2B5EF4-FFF2-40B4-BE49-F238E27FC236}">
                <a16:creationId xmlns:a16="http://schemas.microsoft.com/office/drawing/2014/main" id="{10AF86E2-1AD7-D3B6-22E7-B3B2628D09AC}"/>
              </a:ext>
            </a:extLst>
          </p:cNvPr>
          <p:cNvSpPr>
            <a:spLocks noChangeShapeType="1"/>
          </p:cNvSpPr>
          <p:nvPr/>
        </p:nvSpPr>
        <p:spPr bwMode="auto">
          <a:xfrm>
            <a:off x="6167823"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a:extLst>
              <a:ext uri="{FF2B5EF4-FFF2-40B4-BE49-F238E27FC236}">
                <a16:creationId xmlns:a16="http://schemas.microsoft.com/office/drawing/2014/main" id="{D6376E82-3C6D-2143-1804-4132FD04ABBD}"/>
              </a:ext>
            </a:extLst>
          </p:cNvPr>
          <p:cNvSpPr>
            <a:spLocks noChangeShapeType="1"/>
          </p:cNvSpPr>
          <p:nvPr/>
        </p:nvSpPr>
        <p:spPr bwMode="auto">
          <a:xfrm>
            <a:off x="7336602" y="2901815"/>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a:extLst>
              <a:ext uri="{FF2B5EF4-FFF2-40B4-BE49-F238E27FC236}">
                <a16:creationId xmlns:a16="http://schemas.microsoft.com/office/drawing/2014/main" id="{6F00E178-940B-1670-A2F9-C1EA4E3ADAF4}"/>
              </a:ext>
            </a:extLst>
          </p:cNvPr>
          <p:cNvSpPr>
            <a:spLocks noChangeShapeType="1"/>
          </p:cNvSpPr>
          <p:nvPr/>
        </p:nvSpPr>
        <p:spPr bwMode="auto">
          <a:xfrm flipH="1">
            <a:off x="7892423" y="2226447"/>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29">
            <a:extLst>
              <a:ext uri="{FF2B5EF4-FFF2-40B4-BE49-F238E27FC236}">
                <a16:creationId xmlns:a16="http://schemas.microsoft.com/office/drawing/2014/main" id="{6DE83232-C930-3213-A45A-EAEA309B1D99}"/>
              </a:ext>
            </a:extLst>
          </p:cNvPr>
          <p:cNvSpPr>
            <a:spLocks noChangeShapeType="1"/>
          </p:cNvSpPr>
          <p:nvPr/>
        </p:nvSpPr>
        <p:spPr bwMode="auto">
          <a:xfrm flipH="1">
            <a:off x="628194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a:extLst>
              <a:ext uri="{FF2B5EF4-FFF2-40B4-BE49-F238E27FC236}">
                <a16:creationId xmlns:a16="http://schemas.microsoft.com/office/drawing/2014/main" id="{DDB379E0-25C3-5407-DAAA-EFAFC8F26D0F}"/>
              </a:ext>
            </a:extLst>
          </p:cNvPr>
          <p:cNvSpPr>
            <a:spLocks noChangeShapeType="1"/>
          </p:cNvSpPr>
          <p:nvPr/>
        </p:nvSpPr>
        <p:spPr bwMode="auto">
          <a:xfrm flipH="1">
            <a:off x="4344742" y="2226447"/>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a:extLst>
              <a:ext uri="{FF2B5EF4-FFF2-40B4-BE49-F238E27FC236}">
                <a16:creationId xmlns:a16="http://schemas.microsoft.com/office/drawing/2014/main" id="{38972C53-746D-5A6F-FF9C-FAFCD5AAFDFB}"/>
              </a:ext>
            </a:extLst>
          </p:cNvPr>
          <p:cNvSpPr>
            <a:spLocks noChangeShapeType="1"/>
          </p:cNvSpPr>
          <p:nvPr/>
        </p:nvSpPr>
        <p:spPr bwMode="auto">
          <a:xfrm flipH="1">
            <a:off x="2876090"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a:extLst>
              <a:ext uri="{FF2B5EF4-FFF2-40B4-BE49-F238E27FC236}">
                <a16:creationId xmlns:a16="http://schemas.microsoft.com/office/drawing/2014/main" id="{E24A0C88-89F1-AC67-3C2C-BE020119A4E3}"/>
              </a:ext>
            </a:extLst>
          </p:cNvPr>
          <p:cNvSpPr>
            <a:spLocks noChangeShapeType="1"/>
          </p:cNvSpPr>
          <p:nvPr/>
        </p:nvSpPr>
        <p:spPr bwMode="auto">
          <a:xfrm>
            <a:off x="4344742"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a:extLst>
              <a:ext uri="{FF2B5EF4-FFF2-40B4-BE49-F238E27FC236}">
                <a16:creationId xmlns:a16="http://schemas.microsoft.com/office/drawing/2014/main" id="{4FB41EB1-2E49-15C7-06B7-922CE824D95A}"/>
              </a:ext>
            </a:extLst>
          </p:cNvPr>
          <p:cNvSpPr>
            <a:spLocks noChangeShapeType="1"/>
          </p:cNvSpPr>
          <p:nvPr/>
        </p:nvSpPr>
        <p:spPr bwMode="auto">
          <a:xfrm>
            <a:off x="7892424"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a:extLst>
              <a:ext uri="{FF2B5EF4-FFF2-40B4-BE49-F238E27FC236}">
                <a16:creationId xmlns:a16="http://schemas.microsoft.com/office/drawing/2014/main" id="{5ABC8583-BD29-B333-D233-321F206F6203}"/>
              </a:ext>
            </a:extLst>
          </p:cNvPr>
          <p:cNvSpPr>
            <a:spLocks noChangeShapeType="1"/>
          </p:cNvSpPr>
          <p:nvPr/>
        </p:nvSpPr>
        <p:spPr bwMode="auto">
          <a:xfrm flipH="1">
            <a:off x="7483015" y="2226447"/>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a:extLst>
              <a:ext uri="{FF2B5EF4-FFF2-40B4-BE49-F238E27FC236}">
                <a16:creationId xmlns:a16="http://schemas.microsoft.com/office/drawing/2014/main" id="{A721D9A1-41BE-5BF6-015B-B8F1A972BEA5}"/>
              </a:ext>
            </a:extLst>
          </p:cNvPr>
          <p:cNvSpPr>
            <a:spLocks noChangeShapeType="1"/>
          </p:cNvSpPr>
          <p:nvPr/>
        </p:nvSpPr>
        <p:spPr bwMode="auto">
          <a:xfrm flipH="1">
            <a:off x="3948323" y="2226447"/>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8" name="直接连接符 67">
            <a:extLst>
              <a:ext uri="{FF2B5EF4-FFF2-40B4-BE49-F238E27FC236}">
                <a16:creationId xmlns:a16="http://schemas.microsoft.com/office/drawing/2014/main" id="{BF5930B5-9715-3C96-66AA-4B13FB19AED6}"/>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621582A9-EEDC-3B7D-6273-958A8A3BAB45}"/>
              </a:ext>
            </a:extLst>
          </p:cNvPr>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5A29325D-663F-9069-E60F-13643E3F7F0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2" name="矩形 1">
            <a:extLst>
              <a:ext uri="{FF2B5EF4-FFF2-40B4-BE49-F238E27FC236}">
                <a16:creationId xmlns:a16="http://schemas.microsoft.com/office/drawing/2014/main" id="{598737F1-CAB2-7320-B570-2ECF2B992072}"/>
              </a:ext>
            </a:extLst>
          </p:cNvPr>
          <p:cNvSpPr/>
          <p:nvPr/>
        </p:nvSpPr>
        <p:spPr>
          <a:xfrm>
            <a:off x="493821" y="1446757"/>
            <a:ext cx="3142075" cy="369332"/>
          </a:xfrm>
          <a:prstGeom prst="rect">
            <a:avLst/>
          </a:prstGeom>
        </p:spPr>
        <p:txBody>
          <a:bodyPr wrap="square">
            <a:spAutoFit/>
          </a:bodyPr>
          <a:lstStyle/>
          <a:p>
            <a:r>
              <a:rPr lang="en-US" altLang="zh-CN" dirty="0">
                <a:latin typeface="微软雅黑" pitchFamily="34" charset="-122"/>
                <a:ea typeface="微软雅黑" pitchFamily="34" charset="-122"/>
                <a:cs typeface="经典粗黑简" pitchFamily="49" charset="-122"/>
              </a:rPr>
              <a:t>2.3.3.1 </a:t>
            </a:r>
            <a:r>
              <a:rPr lang="zh-CN" altLang="en-US" dirty="0">
                <a:latin typeface="微软雅黑" pitchFamily="34" charset="-122"/>
                <a:ea typeface="微软雅黑" pitchFamily="34" charset="-122"/>
                <a:cs typeface="经典粗黑简" pitchFamily="49" charset="-122"/>
              </a:rPr>
              <a:t>插入结点操作</a:t>
            </a:r>
          </a:p>
        </p:txBody>
      </p:sp>
      <p:sp>
        <p:nvSpPr>
          <p:cNvPr id="11" name="Rectangle 228">
            <a:extLst>
              <a:ext uri="{FF2B5EF4-FFF2-40B4-BE49-F238E27FC236}">
                <a16:creationId xmlns:a16="http://schemas.microsoft.com/office/drawing/2014/main" id="{351E740F-FD26-FEA4-3168-9A7697017668}"/>
              </a:ext>
            </a:extLst>
          </p:cNvPr>
          <p:cNvSpPr>
            <a:spLocks noChangeArrowheads="1"/>
          </p:cNvSpPr>
          <p:nvPr/>
        </p:nvSpPr>
        <p:spPr bwMode="auto">
          <a:xfrm>
            <a:off x="4117574" y="139180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p</a:t>
            </a:r>
          </a:p>
        </p:txBody>
      </p:sp>
      <p:sp>
        <p:nvSpPr>
          <p:cNvPr id="12" name="Line 29">
            <a:extLst>
              <a:ext uri="{FF2B5EF4-FFF2-40B4-BE49-F238E27FC236}">
                <a16:creationId xmlns:a16="http://schemas.microsoft.com/office/drawing/2014/main" id="{74AABE18-F5F5-871A-D516-70290D6BD78D}"/>
              </a:ext>
            </a:extLst>
          </p:cNvPr>
          <p:cNvSpPr>
            <a:spLocks noChangeShapeType="1"/>
          </p:cNvSpPr>
          <p:nvPr/>
        </p:nvSpPr>
        <p:spPr bwMode="auto">
          <a:xfrm>
            <a:off x="4400917" y="1776450"/>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矩形 8">
            <a:extLst>
              <a:ext uri="{FF2B5EF4-FFF2-40B4-BE49-F238E27FC236}">
                <a16:creationId xmlns:a16="http://schemas.microsoft.com/office/drawing/2014/main" id="{539AC836-CB45-BC7A-150B-EB025DCCD733}"/>
              </a:ext>
            </a:extLst>
          </p:cNvPr>
          <p:cNvSpPr/>
          <p:nvPr/>
        </p:nvSpPr>
        <p:spPr>
          <a:xfrm>
            <a:off x="-17178" y="3027210"/>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13" name="矩形 12">
            <a:extLst>
              <a:ext uri="{FF2B5EF4-FFF2-40B4-BE49-F238E27FC236}">
                <a16:creationId xmlns:a16="http://schemas.microsoft.com/office/drawing/2014/main" id="{A3B06527-5A01-7CF4-B95C-0831E396DEEE}"/>
              </a:ext>
            </a:extLst>
          </p:cNvPr>
          <p:cNvSpPr/>
          <p:nvPr/>
        </p:nvSpPr>
        <p:spPr>
          <a:xfrm>
            <a:off x="412635" y="3312174"/>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18" name="Rectangle 55">
            <a:extLst>
              <a:ext uri="{FF2B5EF4-FFF2-40B4-BE49-F238E27FC236}">
                <a16:creationId xmlns:a16="http://schemas.microsoft.com/office/drawing/2014/main" id="{F007BA08-202A-E020-F3BF-9D70DB675A59}"/>
              </a:ext>
            </a:extLst>
          </p:cNvPr>
          <p:cNvSpPr>
            <a:spLocks noChangeArrowheads="1"/>
          </p:cNvSpPr>
          <p:nvPr/>
        </p:nvSpPr>
        <p:spPr bwMode="auto">
          <a:xfrm>
            <a:off x="4379042" y="155302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grpSp>
        <p:nvGrpSpPr>
          <p:cNvPr id="4" name="组合 3">
            <a:extLst>
              <a:ext uri="{FF2B5EF4-FFF2-40B4-BE49-F238E27FC236}">
                <a16:creationId xmlns:a16="http://schemas.microsoft.com/office/drawing/2014/main" id="{B70550BA-1049-1FB0-9CD8-072865DBECCF}"/>
              </a:ext>
            </a:extLst>
          </p:cNvPr>
          <p:cNvGrpSpPr/>
          <p:nvPr/>
        </p:nvGrpSpPr>
        <p:grpSpPr>
          <a:xfrm>
            <a:off x="5375026" y="3640925"/>
            <a:ext cx="533400" cy="984427"/>
            <a:chOff x="3344047" y="4287041"/>
            <a:chExt cx="533400" cy="1312569"/>
          </a:xfrm>
        </p:grpSpPr>
        <p:sp>
          <p:nvSpPr>
            <p:cNvPr id="5" name="Rectangle 5">
              <a:extLst>
                <a:ext uri="{FF2B5EF4-FFF2-40B4-BE49-F238E27FC236}">
                  <a16:creationId xmlns:a16="http://schemas.microsoft.com/office/drawing/2014/main" id="{F7071FF8-33B8-8817-CA1B-FABD3BDBBE06}"/>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600" baseline="-25000" dirty="0"/>
                <a:t>e </a:t>
              </a:r>
              <a:r>
                <a:rPr lang="en-US" altLang="zh-CN" sz="2400" dirty="0"/>
                <a:t>   </a:t>
              </a:r>
            </a:p>
          </p:txBody>
        </p:sp>
        <p:sp>
          <p:nvSpPr>
            <p:cNvPr id="6" name="Line 6">
              <a:extLst>
                <a:ext uri="{FF2B5EF4-FFF2-40B4-BE49-F238E27FC236}">
                  <a16:creationId xmlns:a16="http://schemas.microsoft.com/office/drawing/2014/main" id="{4298C797-96DD-0231-E87D-9DCC48C13C91}"/>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Line 6">
              <a:extLst>
                <a:ext uri="{FF2B5EF4-FFF2-40B4-BE49-F238E27FC236}">
                  <a16:creationId xmlns:a16="http://schemas.microsoft.com/office/drawing/2014/main" id="{62D2886C-A54D-7428-348A-8C8859AE9924}"/>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 name="Line 29">
            <a:extLst>
              <a:ext uri="{FF2B5EF4-FFF2-40B4-BE49-F238E27FC236}">
                <a16:creationId xmlns:a16="http://schemas.microsoft.com/office/drawing/2014/main" id="{9E801B90-D742-D17B-6EF6-8654C88ED825}"/>
              </a:ext>
            </a:extLst>
          </p:cNvPr>
          <p:cNvSpPr>
            <a:spLocks noChangeShapeType="1"/>
          </p:cNvSpPr>
          <p:nvPr/>
        </p:nvSpPr>
        <p:spPr bwMode="auto">
          <a:xfrm>
            <a:off x="4735455" y="3798909"/>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228">
            <a:extLst>
              <a:ext uri="{FF2B5EF4-FFF2-40B4-BE49-F238E27FC236}">
                <a16:creationId xmlns:a16="http://schemas.microsoft.com/office/drawing/2014/main" id="{F7EC3112-6A65-FF53-FFA7-79A046EFEDD0}"/>
              </a:ext>
            </a:extLst>
          </p:cNvPr>
          <p:cNvSpPr>
            <a:spLocks noChangeArrowheads="1"/>
          </p:cNvSpPr>
          <p:nvPr/>
        </p:nvSpPr>
        <p:spPr bwMode="auto">
          <a:xfrm>
            <a:off x="4387833" y="3565397"/>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s</a:t>
            </a:r>
          </a:p>
        </p:txBody>
      </p:sp>
      <p:sp>
        <p:nvSpPr>
          <p:cNvPr id="15" name="Rectangle 55">
            <a:extLst>
              <a:ext uri="{FF2B5EF4-FFF2-40B4-BE49-F238E27FC236}">
                <a16:creationId xmlns:a16="http://schemas.microsoft.com/office/drawing/2014/main" id="{CB539D40-EBB7-4C90-DAA1-E0D4AE5188C9}"/>
              </a:ext>
            </a:extLst>
          </p:cNvPr>
          <p:cNvSpPr>
            <a:spLocks noChangeArrowheads="1"/>
          </p:cNvSpPr>
          <p:nvPr/>
        </p:nvSpPr>
        <p:spPr bwMode="auto">
          <a:xfrm>
            <a:off x="4731794" y="330114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19" name="矩形 18">
            <a:extLst>
              <a:ext uri="{FF2B5EF4-FFF2-40B4-BE49-F238E27FC236}">
                <a16:creationId xmlns:a16="http://schemas.microsoft.com/office/drawing/2014/main" id="{782E247D-F878-5112-E32D-8FAEC25028E0}"/>
              </a:ext>
            </a:extLst>
          </p:cNvPr>
          <p:cNvSpPr/>
          <p:nvPr/>
        </p:nvSpPr>
        <p:spPr>
          <a:xfrm>
            <a:off x="420097" y="3685542"/>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生成一个新的结点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a:t>
            </a:r>
          </a:p>
        </p:txBody>
      </p:sp>
      <p:sp>
        <p:nvSpPr>
          <p:cNvPr id="14" name="Rectangle 55">
            <a:extLst>
              <a:ext uri="{FF2B5EF4-FFF2-40B4-BE49-F238E27FC236}">
                <a16:creationId xmlns:a16="http://schemas.microsoft.com/office/drawing/2014/main" id="{EF79D74F-6516-BE3A-142E-B3194BCB95EA}"/>
              </a:ext>
            </a:extLst>
          </p:cNvPr>
          <p:cNvSpPr>
            <a:spLocks noChangeArrowheads="1"/>
          </p:cNvSpPr>
          <p:nvPr/>
        </p:nvSpPr>
        <p:spPr bwMode="auto">
          <a:xfrm>
            <a:off x="6057889" y="333590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6" name="Line 29">
            <a:extLst>
              <a:ext uri="{FF2B5EF4-FFF2-40B4-BE49-F238E27FC236}">
                <a16:creationId xmlns:a16="http://schemas.microsoft.com/office/drawing/2014/main" id="{9D629C63-6F86-F448-1430-45359CBB459C}"/>
              </a:ext>
            </a:extLst>
          </p:cNvPr>
          <p:cNvSpPr>
            <a:spLocks noChangeShapeType="1"/>
          </p:cNvSpPr>
          <p:nvPr/>
        </p:nvSpPr>
        <p:spPr bwMode="auto">
          <a:xfrm flipH="1" flipV="1">
            <a:off x="6007658" y="3052284"/>
            <a:ext cx="0" cy="146368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9">
            <a:extLst>
              <a:ext uri="{FF2B5EF4-FFF2-40B4-BE49-F238E27FC236}">
                <a16:creationId xmlns:a16="http://schemas.microsoft.com/office/drawing/2014/main" id="{96729130-F189-5DE4-9072-FDDD80C083B2}"/>
              </a:ext>
            </a:extLst>
          </p:cNvPr>
          <p:cNvSpPr>
            <a:spLocks noChangeShapeType="1"/>
          </p:cNvSpPr>
          <p:nvPr/>
        </p:nvSpPr>
        <p:spPr bwMode="auto">
          <a:xfrm>
            <a:off x="5622613" y="4515965"/>
            <a:ext cx="385045"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矩形 22">
            <a:extLst>
              <a:ext uri="{FF2B5EF4-FFF2-40B4-BE49-F238E27FC236}">
                <a16:creationId xmlns:a16="http://schemas.microsoft.com/office/drawing/2014/main" id="{0E5F4EEE-3F74-FF22-A903-A0B1B18F5DC0}"/>
              </a:ext>
            </a:extLst>
          </p:cNvPr>
          <p:cNvSpPr/>
          <p:nvPr/>
        </p:nvSpPr>
        <p:spPr>
          <a:xfrm>
            <a:off x="412634" y="4076573"/>
            <a:ext cx="4159365"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③ 确定新结点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前驱、后继指针；</a:t>
            </a:r>
          </a:p>
        </p:txBody>
      </p:sp>
      <p:sp>
        <p:nvSpPr>
          <p:cNvPr id="25" name="Line 29">
            <a:extLst>
              <a:ext uri="{FF2B5EF4-FFF2-40B4-BE49-F238E27FC236}">
                <a16:creationId xmlns:a16="http://schemas.microsoft.com/office/drawing/2014/main" id="{FAC12C8F-41E6-4B6E-AA94-A1938FADE48A}"/>
              </a:ext>
            </a:extLst>
          </p:cNvPr>
          <p:cNvSpPr>
            <a:spLocks noChangeShapeType="1"/>
          </p:cNvSpPr>
          <p:nvPr/>
        </p:nvSpPr>
        <p:spPr bwMode="auto">
          <a:xfrm flipH="1" flipV="1">
            <a:off x="5508104" y="3292765"/>
            <a:ext cx="0" cy="496421"/>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9">
            <a:extLst>
              <a:ext uri="{FF2B5EF4-FFF2-40B4-BE49-F238E27FC236}">
                <a16:creationId xmlns:a16="http://schemas.microsoft.com/office/drawing/2014/main" id="{82E20842-8155-4A5D-4B04-54208A79B6B6}"/>
              </a:ext>
            </a:extLst>
          </p:cNvPr>
          <p:cNvSpPr>
            <a:spLocks noChangeShapeType="1"/>
          </p:cNvSpPr>
          <p:nvPr/>
        </p:nvSpPr>
        <p:spPr bwMode="auto">
          <a:xfrm>
            <a:off x="4341681" y="3301148"/>
            <a:ext cx="1166424"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29">
            <a:extLst>
              <a:ext uri="{FF2B5EF4-FFF2-40B4-BE49-F238E27FC236}">
                <a16:creationId xmlns:a16="http://schemas.microsoft.com/office/drawing/2014/main" id="{843D98C4-92F8-2C6E-9220-34E833A0A17B}"/>
              </a:ext>
            </a:extLst>
          </p:cNvPr>
          <p:cNvSpPr>
            <a:spLocks noChangeShapeType="1"/>
          </p:cNvSpPr>
          <p:nvPr/>
        </p:nvSpPr>
        <p:spPr bwMode="auto">
          <a:xfrm>
            <a:off x="4341680" y="2987152"/>
            <a:ext cx="206066"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29">
            <a:extLst>
              <a:ext uri="{FF2B5EF4-FFF2-40B4-BE49-F238E27FC236}">
                <a16:creationId xmlns:a16="http://schemas.microsoft.com/office/drawing/2014/main" id="{C5E7A62F-B080-08FC-C3EF-262154E7205F}"/>
              </a:ext>
            </a:extLst>
          </p:cNvPr>
          <p:cNvSpPr>
            <a:spLocks noChangeShapeType="1"/>
          </p:cNvSpPr>
          <p:nvPr/>
        </p:nvSpPr>
        <p:spPr bwMode="auto">
          <a:xfrm flipH="1" flipV="1">
            <a:off x="4341680" y="2987152"/>
            <a:ext cx="0" cy="325022"/>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Rectangle 55">
            <a:extLst>
              <a:ext uri="{FF2B5EF4-FFF2-40B4-BE49-F238E27FC236}">
                <a16:creationId xmlns:a16="http://schemas.microsoft.com/office/drawing/2014/main" id="{236A6496-A166-E430-8348-3C5232B502D4}"/>
              </a:ext>
            </a:extLst>
          </p:cNvPr>
          <p:cNvSpPr>
            <a:spLocks noChangeArrowheads="1"/>
          </p:cNvSpPr>
          <p:nvPr/>
        </p:nvSpPr>
        <p:spPr bwMode="auto">
          <a:xfrm>
            <a:off x="3954649" y="288582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7" name="矩形 16">
            <a:extLst>
              <a:ext uri="{FF2B5EF4-FFF2-40B4-BE49-F238E27FC236}">
                <a16:creationId xmlns:a16="http://schemas.microsoft.com/office/drawing/2014/main" id="{831E755B-3685-AB51-DA04-95A53BC905DD}"/>
              </a:ext>
            </a:extLst>
          </p:cNvPr>
          <p:cNvSpPr/>
          <p:nvPr/>
        </p:nvSpPr>
        <p:spPr>
          <a:xfrm>
            <a:off x="412634" y="4515965"/>
            <a:ext cx="491216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④ 确定</a:t>
            </a:r>
            <a:r>
              <a:rPr lang="en-US" altLang="zh-CN" sz="2000" dirty="0">
                <a:latin typeface="微软雅黑" pitchFamily="34" charset="-122"/>
                <a:ea typeface="微软雅黑" pitchFamily="34" charset="-122"/>
                <a:cs typeface="经典粗黑简" pitchFamily="49" charset="-122"/>
              </a:rPr>
              <a:t>a</a:t>
            </a:r>
            <a:r>
              <a:rPr lang="en-US" altLang="zh-CN" sz="2000" baseline="-25000" dirty="0">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的前驱指针；</a:t>
            </a:r>
          </a:p>
        </p:txBody>
      </p:sp>
      <p:sp>
        <p:nvSpPr>
          <p:cNvPr id="20" name="文本框 19">
            <a:extLst>
              <a:ext uri="{FF2B5EF4-FFF2-40B4-BE49-F238E27FC236}">
                <a16:creationId xmlns:a16="http://schemas.microsoft.com/office/drawing/2014/main" id="{FFC59DE3-096D-9BAE-D521-DCEB33BB3051}"/>
              </a:ext>
            </a:extLst>
          </p:cNvPr>
          <p:cNvSpPr txBox="1"/>
          <p:nvPr/>
        </p:nvSpPr>
        <p:spPr>
          <a:xfrm>
            <a:off x="6159253" y="4108472"/>
            <a:ext cx="2509256" cy="736420"/>
          </a:xfrm>
          <a:prstGeom prst="rect">
            <a:avLst/>
          </a:prstGeom>
          <a:noFill/>
        </p:spPr>
        <p:txBody>
          <a:bodyPr wrap="square">
            <a:spAutoFit/>
          </a:bodyPr>
          <a:lstStyle/>
          <a:p>
            <a:pPr algn="l">
              <a:lnSpc>
                <a:spcPts val="2600"/>
              </a:lnSpc>
            </a:pPr>
            <a:r>
              <a:rPr kumimoji="1" lang="en-US" altLang="zh-CN" sz="1800" dirty="0">
                <a:solidFill>
                  <a:srgbClr val="0000FF"/>
                </a:solidFill>
                <a:latin typeface="Consolas" pitchFamily="49" charset="0"/>
                <a:ea typeface="仿宋" pitchFamily="49" charset="-122"/>
                <a:cs typeface="Consolas" pitchFamily="49" charset="0"/>
              </a:rPr>
              <a:t>p-&gt;next-&gt;prior=s</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	</a:t>
            </a:r>
            <a:endParaRPr lang="zh-CN" altLang="en-US" dirty="0"/>
          </a:p>
        </p:txBody>
      </p:sp>
      <p:sp>
        <p:nvSpPr>
          <p:cNvPr id="24" name="Line 29">
            <a:extLst>
              <a:ext uri="{FF2B5EF4-FFF2-40B4-BE49-F238E27FC236}">
                <a16:creationId xmlns:a16="http://schemas.microsoft.com/office/drawing/2014/main" id="{E7A6C972-E79C-768F-2BF9-1AEA2E8EB069}"/>
              </a:ext>
            </a:extLst>
          </p:cNvPr>
          <p:cNvSpPr>
            <a:spLocks noChangeShapeType="1"/>
          </p:cNvSpPr>
          <p:nvPr/>
        </p:nvSpPr>
        <p:spPr bwMode="auto">
          <a:xfrm>
            <a:off x="5606323" y="2283718"/>
            <a:ext cx="0" cy="1340027"/>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29">
            <a:extLst>
              <a:ext uri="{FF2B5EF4-FFF2-40B4-BE49-F238E27FC236}">
                <a16:creationId xmlns:a16="http://schemas.microsoft.com/office/drawing/2014/main" id="{CEE4239A-8773-0D65-11D4-D739C8CBC93E}"/>
              </a:ext>
            </a:extLst>
          </p:cNvPr>
          <p:cNvSpPr>
            <a:spLocks noChangeShapeType="1"/>
          </p:cNvSpPr>
          <p:nvPr/>
        </p:nvSpPr>
        <p:spPr bwMode="auto">
          <a:xfrm>
            <a:off x="5627115" y="2283718"/>
            <a:ext cx="385045"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Rectangle 55">
            <a:extLst>
              <a:ext uri="{FF2B5EF4-FFF2-40B4-BE49-F238E27FC236}">
                <a16:creationId xmlns:a16="http://schemas.microsoft.com/office/drawing/2014/main" id="{A896F5F8-D049-0284-C89F-BD70536EF9BA}"/>
              </a:ext>
            </a:extLst>
          </p:cNvPr>
          <p:cNvSpPr>
            <a:spLocks noChangeArrowheads="1"/>
          </p:cNvSpPr>
          <p:nvPr/>
        </p:nvSpPr>
        <p:spPr bwMode="auto">
          <a:xfrm>
            <a:off x="5203959" y="2338153"/>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④</a:t>
            </a:r>
            <a:endParaRPr kumimoji="0" lang="zh-CN" altLang="en-US" sz="2400" dirty="0">
              <a:solidFill>
                <a:srgbClr val="FF0000"/>
              </a:solidFill>
              <a:ea typeface="CFNEOP+TimesNewRoman" charset="-122"/>
            </a:endParaRPr>
          </a:p>
        </p:txBody>
      </p:sp>
    </p:spTree>
    <p:extLst>
      <p:ext uri="{BB962C8B-B14F-4D97-AF65-F5344CB8AC3E}">
        <p14:creationId xmlns:p14="http://schemas.microsoft.com/office/powerpoint/2010/main" val="8421753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C3CA9-5DB4-450C-694D-393530120AC5}"/>
            </a:ext>
          </a:extLst>
        </p:cNvPr>
        <p:cNvGrpSpPr/>
        <p:nvPr/>
      </p:nvGrpSpPr>
      <p:grpSpPr>
        <a:xfrm>
          <a:off x="0" y="0"/>
          <a:ext cx="0" cy="0"/>
          <a:chOff x="0" y="0"/>
          <a:chExt cx="0" cy="0"/>
        </a:xfrm>
      </p:grpSpPr>
      <p:sp>
        <p:nvSpPr>
          <p:cNvPr id="47" name="Rectangle 25">
            <a:extLst>
              <a:ext uri="{FF2B5EF4-FFF2-40B4-BE49-F238E27FC236}">
                <a16:creationId xmlns:a16="http://schemas.microsoft.com/office/drawing/2014/main" id="{67738CE7-E5CA-83BC-FAC1-7553782F0BE4}"/>
              </a:ext>
            </a:extLst>
          </p:cNvPr>
          <p:cNvSpPr>
            <a:spLocks noChangeArrowheads="1"/>
          </p:cNvSpPr>
          <p:nvPr/>
        </p:nvSpPr>
        <p:spPr bwMode="auto">
          <a:xfrm>
            <a:off x="7620379" y="239960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a:extLst>
              <a:ext uri="{FF2B5EF4-FFF2-40B4-BE49-F238E27FC236}">
                <a16:creationId xmlns:a16="http://schemas.microsoft.com/office/drawing/2014/main" id="{ABDB0173-FFCD-41C1-16EC-7031A20F5792}"/>
              </a:ext>
            </a:extLst>
          </p:cNvPr>
          <p:cNvSpPr>
            <a:spLocks noChangeArrowheads="1"/>
          </p:cNvSpPr>
          <p:nvPr/>
        </p:nvSpPr>
        <p:spPr bwMode="auto">
          <a:xfrm>
            <a:off x="4014473" y="23887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a:extLst>
              <a:ext uri="{FF2B5EF4-FFF2-40B4-BE49-F238E27FC236}">
                <a16:creationId xmlns:a16="http://schemas.microsoft.com/office/drawing/2014/main" id="{E2BEDA84-92BA-492E-AC32-74E139F9ED89}"/>
              </a:ext>
            </a:extLst>
          </p:cNvPr>
          <p:cNvSpPr>
            <a:spLocks noChangeShapeType="1"/>
          </p:cNvSpPr>
          <p:nvPr/>
        </p:nvSpPr>
        <p:spPr bwMode="auto">
          <a:xfrm>
            <a:off x="631856" y="2232697"/>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a:extLst>
              <a:ext uri="{FF2B5EF4-FFF2-40B4-BE49-F238E27FC236}">
                <a16:creationId xmlns:a16="http://schemas.microsoft.com/office/drawing/2014/main" id="{5A0C747A-76F8-28B3-88BA-711AB2EF25DE}"/>
              </a:ext>
            </a:extLst>
          </p:cNvPr>
          <p:cNvSpPr>
            <a:spLocks noChangeArrowheads="1"/>
          </p:cNvSpPr>
          <p:nvPr/>
        </p:nvSpPr>
        <p:spPr bwMode="auto">
          <a:xfrm>
            <a:off x="366211" y="203479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95" name="组合 94">
            <a:extLst>
              <a:ext uri="{FF2B5EF4-FFF2-40B4-BE49-F238E27FC236}">
                <a16:creationId xmlns:a16="http://schemas.microsoft.com/office/drawing/2014/main" id="{9F2E48DF-1701-CF9C-82C0-7E5D6C7DACFA}"/>
              </a:ext>
            </a:extLst>
          </p:cNvPr>
          <p:cNvGrpSpPr/>
          <p:nvPr/>
        </p:nvGrpSpPr>
        <p:grpSpPr>
          <a:xfrm>
            <a:off x="2342689" y="2055888"/>
            <a:ext cx="533400" cy="984427"/>
            <a:chOff x="3344047" y="4287041"/>
            <a:chExt cx="533400" cy="1312569"/>
          </a:xfrm>
        </p:grpSpPr>
        <p:sp>
          <p:nvSpPr>
            <p:cNvPr id="97" name="Rectangle 5">
              <a:extLst>
                <a:ext uri="{FF2B5EF4-FFF2-40B4-BE49-F238E27FC236}">
                  <a16:creationId xmlns:a16="http://schemas.microsoft.com/office/drawing/2014/main" id="{463A35FB-23C2-41FA-0D17-1E47E7DB3A2A}"/>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a:extLst>
                <a:ext uri="{FF2B5EF4-FFF2-40B4-BE49-F238E27FC236}">
                  <a16:creationId xmlns:a16="http://schemas.microsoft.com/office/drawing/2014/main" id="{828626F5-DF8F-DF84-248F-B2DC74317DFD}"/>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a:extLst>
                <a:ext uri="{FF2B5EF4-FFF2-40B4-BE49-F238E27FC236}">
                  <a16:creationId xmlns:a16="http://schemas.microsoft.com/office/drawing/2014/main" id="{588E052C-0233-540F-1C09-30BCB49561C1}"/>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a:extLst>
              <a:ext uri="{FF2B5EF4-FFF2-40B4-BE49-F238E27FC236}">
                <a16:creationId xmlns:a16="http://schemas.microsoft.com/office/drawing/2014/main" id="{E9F9B5A0-DC63-1E36-22F7-E4849B52972F}"/>
              </a:ext>
            </a:extLst>
          </p:cNvPr>
          <p:cNvGrpSpPr/>
          <p:nvPr/>
        </p:nvGrpSpPr>
        <p:grpSpPr>
          <a:xfrm>
            <a:off x="3401537" y="2055888"/>
            <a:ext cx="533400" cy="984427"/>
            <a:chOff x="3344047" y="4287041"/>
            <a:chExt cx="533400" cy="1312569"/>
          </a:xfrm>
        </p:grpSpPr>
        <p:sp>
          <p:nvSpPr>
            <p:cNvPr id="101" name="Rectangle 5">
              <a:extLst>
                <a:ext uri="{FF2B5EF4-FFF2-40B4-BE49-F238E27FC236}">
                  <a16:creationId xmlns:a16="http://schemas.microsoft.com/office/drawing/2014/main" id="{BEC21B1F-3AC1-079A-E385-4E23A152FA8E}"/>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743C4062-F207-1AF7-AFC5-EB3BA18343BC}"/>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a:extLst>
                <a:ext uri="{FF2B5EF4-FFF2-40B4-BE49-F238E27FC236}">
                  <a16:creationId xmlns:a16="http://schemas.microsoft.com/office/drawing/2014/main" id="{E8FB6CDC-CCFE-1E64-CE5A-252F8685453E}"/>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a:extLst>
              <a:ext uri="{FF2B5EF4-FFF2-40B4-BE49-F238E27FC236}">
                <a16:creationId xmlns:a16="http://schemas.microsoft.com/office/drawing/2014/main" id="{5824BE6C-1AD6-391E-9430-AFE3CD0A3233}"/>
              </a:ext>
            </a:extLst>
          </p:cNvPr>
          <p:cNvGrpSpPr/>
          <p:nvPr/>
        </p:nvGrpSpPr>
        <p:grpSpPr>
          <a:xfrm>
            <a:off x="4547475" y="2055888"/>
            <a:ext cx="675622" cy="984427"/>
            <a:chOff x="3344047" y="4287041"/>
            <a:chExt cx="533400" cy="1312569"/>
          </a:xfrm>
        </p:grpSpPr>
        <p:sp>
          <p:nvSpPr>
            <p:cNvPr id="105" name="Rectangle 5">
              <a:extLst>
                <a:ext uri="{FF2B5EF4-FFF2-40B4-BE49-F238E27FC236}">
                  <a16:creationId xmlns:a16="http://schemas.microsoft.com/office/drawing/2014/main" id="{20DF9492-59C0-9B99-B3A4-229A4500E8E3}"/>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a:extLst>
                <a:ext uri="{FF2B5EF4-FFF2-40B4-BE49-F238E27FC236}">
                  <a16:creationId xmlns:a16="http://schemas.microsoft.com/office/drawing/2014/main" id="{4AB761E6-7A2D-0A14-A5F7-0A68C48EC792}"/>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a:extLst>
                <a:ext uri="{FF2B5EF4-FFF2-40B4-BE49-F238E27FC236}">
                  <a16:creationId xmlns:a16="http://schemas.microsoft.com/office/drawing/2014/main" id="{B414E609-0D98-FDD8-154D-3ABAEF4462C1}"/>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a:extLst>
              <a:ext uri="{FF2B5EF4-FFF2-40B4-BE49-F238E27FC236}">
                <a16:creationId xmlns:a16="http://schemas.microsoft.com/office/drawing/2014/main" id="{16B0F3A6-7F9D-1D57-74EE-19A740EABA3B}"/>
              </a:ext>
            </a:extLst>
          </p:cNvPr>
          <p:cNvGrpSpPr/>
          <p:nvPr/>
        </p:nvGrpSpPr>
        <p:grpSpPr>
          <a:xfrm>
            <a:off x="8095554" y="2055887"/>
            <a:ext cx="533400" cy="1076760"/>
            <a:chOff x="9096957" y="4287040"/>
            <a:chExt cx="533400" cy="1435680"/>
          </a:xfrm>
        </p:grpSpPr>
        <p:grpSp>
          <p:nvGrpSpPr>
            <p:cNvPr id="109" name="组合 108">
              <a:extLst>
                <a:ext uri="{FF2B5EF4-FFF2-40B4-BE49-F238E27FC236}">
                  <a16:creationId xmlns:a16="http://schemas.microsoft.com/office/drawing/2014/main" id="{763D7042-5813-493D-EC67-6D87E5D1A73E}"/>
                </a:ext>
              </a:extLst>
            </p:cNvPr>
            <p:cNvGrpSpPr/>
            <p:nvPr/>
          </p:nvGrpSpPr>
          <p:grpSpPr>
            <a:xfrm>
              <a:off x="9096957" y="4287040"/>
              <a:ext cx="533400" cy="1312569"/>
              <a:chOff x="3344047" y="4287041"/>
              <a:chExt cx="533400" cy="1312569"/>
            </a:xfrm>
          </p:grpSpPr>
          <p:sp>
            <p:nvSpPr>
              <p:cNvPr id="111" name="Rectangle 5">
                <a:extLst>
                  <a:ext uri="{FF2B5EF4-FFF2-40B4-BE49-F238E27FC236}">
                    <a16:creationId xmlns:a16="http://schemas.microsoft.com/office/drawing/2014/main" id="{1AE932A9-FDC8-9460-5400-C03FB7421DFA}"/>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a:extLst>
                  <a:ext uri="{FF2B5EF4-FFF2-40B4-BE49-F238E27FC236}">
                    <a16:creationId xmlns:a16="http://schemas.microsoft.com/office/drawing/2014/main" id="{08008DB2-8EBF-15DC-FA0E-1CD9BB3C5F06}"/>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a:extLst>
                  <a:ext uri="{FF2B5EF4-FFF2-40B4-BE49-F238E27FC236}">
                    <a16:creationId xmlns:a16="http://schemas.microsoft.com/office/drawing/2014/main" id="{6FFE0C08-1BC8-2724-A96D-534B1A618C08}"/>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a:extLst>
                <a:ext uri="{FF2B5EF4-FFF2-40B4-BE49-F238E27FC236}">
                  <a16:creationId xmlns:a16="http://schemas.microsoft.com/office/drawing/2014/main" id="{180FA341-2354-2045-0F25-8DC841CBC240}"/>
                </a:ext>
              </a:extLst>
            </p:cNvPr>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a:extLst>
              <a:ext uri="{FF2B5EF4-FFF2-40B4-BE49-F238E27FC236}">
                <a16:creationId xmlns:a16="http://schemas.microsoft.com/office/drawing/2014/main" id="{34BF6A93-AEA0-DF84-36C0-0C6420018B62}"/>
              </a:ext>
            </a:extLst>
          </p:cNvPr>
          <p:cNvGrpSpPr/>
          <p:nvPr/>
        </p:nvGrpSpPr>
        <p:grpSpPr>
          <a:xfrm>
            <a:off x="5748545" y="2055888"/>
            <a:ext cx="533400" cy="984427"/>
            <a:chOff x="3344047" y="4287041"/>
            <a:chExt cx="533400" cy="1312569"/>
          </a:xfrm>
        </p:grpSpPr>
        <p:sp>
          <p:nvSpPr>
            <p:cNvPr id="115" name="Rectangle 5">
              <a:extLst>
                <a:ext uri="{FF2B5EF4-FFF2-40B4-BE49-F238E27FC236}">
                  <a16:creationId xmlns:a16="http://schemas.microsoft.com/office/drawing/2014/main" id="{7BEFF1B0-F369-8D52-870D-04FB6B4A31FE}"/>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a:extLst>
                <a:ext uri="{FF2B5EF4-FFF2-40B4-BE49-F238E27FC236}">
                  <a16:creationId xmlns:a16="http://schemas.microsoft.com/office/drawing/2014/main" id="{D9AA07C9-8BF8-B9A5-69C6-B85658DA035E}"/>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
              <a:extLst>
                <a:ext uri="{FF2B5EF4-FFF2-40B4-BE49-F238E27FC236}">
                  <a16:creationId xmlns:a16="http://schemas.microsoft.com/office/drawing/2014/main" id="{2FABF8D5-911F-AB10-435C-4222EE757B6E}"/>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组合 117">
            <a:extLst>
              <a:ext uri="{FF2B5EF4-FFF2-40B4-BE49-F238E27FC236}">
                <a16:creationId xmlns:a16="http://schemas.microsoft.com/office/drawing/2014/main" id="{9C825167-3013-960A-DA0E-E454A5DBA8A9}"/>
              </a:ext>
            </a:extLst>
          </p:cNvPr>
          <p:cNvGrpSpPr/>
          <p:nvPr/>
        </p:nvGrpSpPr>
        <p:grpSpPr>
          <a:xfrm>
            <a:off x="6807393" y="2055888"/>
            <a:ext cx="675622" cy="984427"/>
            <a:chOff x="3344047" y="4287041"/>
            <a:chExt cx="533400" cy="1312569"/>
          </a:xfrm>
        </p:grpSpPr>
        <p:sp>
          <p:nvSpPr>
            <p:cNvPr id="119" name="Rectangle 5">
              <a:extLst>
                <a:ext uri="{FF2B5EF4-FFF2-40B4-BE49-F238E27FC236}">
                  <a16:creationId xmlns:a16="http://schemas.microsoft.com/office/drawing/2014/main" id="{A6CCFC9E-FA4B-5265-9786-B1F082D4938E}"/>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a:extLst>
                <a:ext uri="{FF2B5EF4-FFF2-40B4-BE49-F238E27FC236}">
                  <a16:creationId xmlns:a16="http://schemas.microsoft.com/office/drawing/2014/main" id="{7FA78AC6-3273-3A7D-CF50-BFA078320AD1}"/>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a:extLst>
                <a:ext uri="{FF2B5EF4-FFF2-40B4-BE49-F238E27FC236}">
                  <a16:creationId xmlns:a16="http://schemas.microsoft.com/office/drawing/2014/main" id="{A90A4F1A-A6C7-C064-FB49-A268F0CB1AEE}"/>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a:extLst>
              <a:ext uri="{FF2B5EF4-FFF2-40B4-BE49-F238E27FC236}">
                <a16:creationId xmlns:a16="http://schemas.microsoft.com/office/drawing/2014/main" id="{5FD81A6D-1FAA-2781-05B3-231004131B8D}"/>
              </a:ext>
            </a:extLst>
          </p:cNvPr>
          <p:cNvGrpSpPr/>
          <p:nvPr/>
        </p:nvGrpSpPr>
        <p:grpSpPr>
          <a:xfrm>
            <a:off x="1283841" y="2055888"/>
            <a:ext cx="533400" cy="984427"/>
            <a:chOff x="2459424" y="4263014"/>
            <a:chExt cx="533400" cy="1312569"/>
          </a:xfrm>
        </p:grpSpPr>
        <p:grpSp>
          <p:nvGrpSpPr>
            <p:cNvPr id="123" name="组合 122">
              <a:extLst>
                <a:ext uri="{FF2B5EF4-FFF2-40B4-BE49-F238E27FC236}">
                  <a16:creationId xmlns:a16="http://schemas.microsoft.com/office/drawing/2014/main" id="{3441DDA6-FFAB-CBBF-BF04-60753115C15E}"/>
                </a:ext>
              </a:extLst>
            </p:cNvPr>
            <p:cNvGrpSpPr/>
            <p:nvPr/>
          </p:nvGrpSpPr>
          <p:grpSpPr>
            <a:xfrm>
              <a:off x="2459424" y="4263014"/>
              <a:ext cx="533400" cy="1312569"/>
              <a:chOff x="3344047" y="4287041"/>
              <a:chExt cx="533400" cy="1312569"/>
            </a:xfrm>
          </p:grpSpPr>
          <p:sp>
            <p:nvSpPr>
              <p:cNvPr id="125" name="Rectangle 5">
                <a:extLst>
                  <a:ext uri="{FF2B5EF4-FFF2-40B4-BE49-F238E27FC236}">
                    <a16:creationId xmlns:a16="http://schemas.microsoft.com/office/drawing/2014/main" id="{CACDFCB1-9028-EACA-E634-9CE1885640F7}"/>
                  </a:ext>
                </a:extLst>
              </p:cNvPr>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a:extLst>
                  <a:ext uri="{FF2B5EF4-FFF2-40B4-BE49-F238E27FC236}">
                    <a16:creationId xmlns:a16="http://schemas.microsoft.com/office/drawing/2014/main" id="{27CBA9F3-7129-7E0A-6481-A1A97DE67D45}"/>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a:extLst>
                  <a:ext uri="{FF2B5EF4-FFF2-40B4-BE49-F238E27FC236}">
                    <a16:creationId xmlns:a16="http://schemas.microsoft.com/office/drawing/2014/main" id="{56FB1535-ACD0-866F-8869-58DB7C387F66}"/>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a:extLst>
                <a:ext uri="{FF2B5EF4-FFF2-40B4-BE49-F238E27FC236}">
                  <a16:creationId xmlns:a16="http://schemas.microsoft.com/office/drawing/2014/main" id="{93E47BD3-89FE-0B28-D9E5-06AC5510D39A}"/>
                </a:ext>
              </a:extLst>
            </p:cNvPr>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a:extLst>
              <a:ext uri="{FF2B5EF4-FFF2-40B4-BE49-F238E27FC236}">
                <a16:creationId xmlns:a16="http://schemas.microsoft.com/office/drawing/2014/main" id="{FD2C62CB-3F55-CAA7-7B3D-458480C08211}"/>
              </a:ext>
            </a:extLst>
          </p:cNvPr>
          <p:cNvSpPr>
            <a:spLocks noChangeShapeType="1"/>
          </p:cNvSpPr>
          <p:nvPr/>
        </p:nvSpPr>
        <p:spPr bwMode="auto">
          <a:xfrm flipH="1">
            <a:off x="182778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a:extLst>
              <a:ext uri="{FF2B5EF4-FFF2-40B4-BE49-F238E27FC236}">
                <a16:creationId xmlns:a16="http://schemas.microsoft.com/office/drawing/2014/main" id="{F5BF548C-ADEA-131B-659C-9C3323F360D6}"/>
              </a:ext>
            </a:extLst>
          </p:cNvPr>
          <p:cNvSpPr>
            <a:spLocks noChangeShapeType="1"/>
          </p:cNvSpPr>
          <p:nvPr/>
        </p:nvSpPr>
        <p:spPr bwMode="auto">
          <a:xfrm>
            <a:off x="1703118"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a:extLst>
              <a:ext uri="{FF2B5EF4-FFF2-40B4-BE49-F238E27FC236}">
                <a16:creationId xmlns:a16="http://schemas.microsoft.com/office/drawing/2014/main" id="{8E7F3A09-287D-955D-7624-AEE463333722}"/>
              </a:ext>
            </a:extLst>
          </p:cNvPr>
          <p:cNvSpPr>
            <a:spLocks noChangeShapeType="1"/>
          </p:cNvSpPr>
          <p:nvPr/>
        </p:nvSpPr>
        <p:spPr bwMode="auto">
          <a:xfrm>
            <a:off x="2761967"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a:extLst>
              <a:ext uri="{FF2B5EF4-FFF2-40B4-BE49-F238E27FC236}">
                <a16:creationId xmlns:a16="http://schemas.microsoft.com/office/drawing/2014/main" id="{EF0B90A2-BA21-A6D1-70CC-553CC311FA9D}"/>
              </a:ext>
            </a:extLst>
          </p:cNvPr>
          <p:cNvSpPr>
            <a:spLocks noChangeShapeType="1"/>
          </p:cNvSpPr>
          <p:nvPr/>
        </p:nvSpPr>
        <p:spPr bwMode="auto">
          <a:xfrm>
            <a:off x="3884001"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 name="Line 29">
            <a:extLst>
              <a:ext uri="{FF2B5EF4-FFF2-40B4-BE49-F238E27FC236}">
                <a16:creationId xmlns:a16="http://schemas.microsoft.com/office/drawing/2014/main" id="{BC8C0155-DC7D-95D9-6D5D-87C483CE8DAF}"/>
              </a:ext>
            </a:extLst>
          </p:cNvPr>
          <p:cNvSpPr>
            <a:spLocks noChangeShapeType="1"/>
          </p:cNvSpPr>
          <p:nvPr/>
        </p:nvSpPr>
        <p:spPr bwMode="auto">
          <a:xfrm>
            <a:off x="5108975"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a:extLst>
              <a:ext uri="{FF2B5EF4-FFF2-40B4-BE49-F238E27FC236}">
                <a16:creationId xmlns:a16="http://schemas.microsoft.com/office/drawing/2014/main" id="{9DDE2275-D5E5-41A8-4DB6-731153733841}"/>
              </a:ext>
            </a:extLst>
          </p:cNvPr>
          <p:cNvSpPr>
            <a:spLocks noChangeShapeType="1"/>
          </p:cNvSpPr>
          <p:nvPr/>
        </p:nvSpPr>
        <p:spPr bwMode="auto">
          <a:xfrm>
            <a:off x="6167823"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a:extLst>
              <a:ext uri="{FF2B5EF4-FFF2-40B4-BE49-F238E27FC236}">
                <a16:creationId xmlns:a16="http://schemas.microsoft.com/office/drawing/2014/main" id="{3DEF84B0-0FDB-1CB8-A1A5-ECAFD30955D2}"/>
              </a:ext>
            </a:extLst>
          </p:cNvPr>
          <p:cNvSpPr>
            <a:spLocks noChangeShapeType="1"/>
          </p:cNvSpPr>
          <p:nvPr/>
        </p:nvSpPr>
        <p:spPr bwMode="auto">
          <a:xfrm>
            <a:off x="7336602" y="2901815"/>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a:extLst>
              <a:ext uri="{FF2B5EF4-FFF2-40B4-BE49-F238E27FC236}">
                <a16:creationId xmlns:a16="http://schemas.microsoft.com/office/drawing/2014/main" id="{DEE4B288-7A94-B2EC-1AA4-755D2F927766}"/>
              </a:ext>
            </a:extLst>
          </p:cNvPr>
          <p:cNvSpPr>
            <a:spLocks noChangeShapeType="1"/>
          </p:cNvSpPr>
          <p:nvPr/>
        </p:nvSpPr>
        <p:spPr bwMode="auto">
          <a:xfrm flipH="1">
            <a:off x="7892423" y="2226447"/>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29">
            <a:extLst>
              <a:ext uri="{FF2B5EF4-FFF2-40B4-BE49-F238E27FC236}">
                <a16:creationId xmlns:a16="http://schemas.microsoft.com/office/drawing/2014/main" id="{61CACE77-494A-9F54-7D85-C06B29BF5FDC}"/>
              </a:ext>
            </a:extLst>
          </p:cNvPr>
          <p:cNvSpPr>
            <a:spLocks noChangeShapeType="1"/>
          </p:cNvSpPr>
          <p:nvPr/>
        </p:nvSpPr>
        <p:spPr bwMode="auto">
          <a:xfrm flipH="1">
            <a:off x="628194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a:extLst>
              <a:ext uri="{FF2B5EF4-FFF2-40B4-BE49-F238E27FC236}">
                <a16:creationId xmlns:a16="http://schemas.microsoft.com/office/drawing/2014/main" id="{D47C17A0-E06E-3E76-DB82-C562623EF8E2}"/>
              </a:ext>
            </a:extLst>
          </p:cNvPr>
          <p:cNvSpPr>
            <a:spLocks noChangeShapeType="1"/>
          </p:cNvSpPr>
          <p:nvPr/>
        </p:nvSpPr>
        <p:spPr bwMode="auto">
          <a:xfrm flipH="1">
            <a:off x="4344742" y="2226447"/>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a:extLst>
              <a:ext uri="{FF2B5EF4-FFF2-40B4-BE49-F238E27FC236}">
                <a16:creationId xmlns:a16="http://schemas.microsoft.com/office/drawing/2014/main" id="{13916D0C-FF3F-56A7-3A7E-A01479B04516}"/>
              </a:ext>
            </a:extLst>
          </p:cNvPr>
          <p:cNvSpPr>
            <a:spLocks noChangeShapeType="1"/>
          </p:cNvSpPr>
          <p:nvPr/>
        </p:nvSpPr>
        <p:spPr bwMode="auto">
          <a:xfrm flipH="1">
            <a:off x="2876090"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a:extLst>
              <a:ext uri="{FF2B5EF4-FFF2-40B4-BE49-F238E27FC236}">
                <a16:creationId xmlns:a16="http://schemas.microsoft.com/office/drawing/2014/main" id="{2F5474A1-8128-34FF-1C0C-CA85F9AC4223}"/>
              </a:ext>
            </a:extLst>
          </p:cNvPr>
          <p:cNvSpPr>
            <a:spLocks noChangeShapeType="1"/>
          </p:cNvSpPr>
          <p:nvPr/>
        </p:nvSpPr>
        <p:spPr bwMode="auto">
          <a:xfrm>
            <a:off x="4344742"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a:extLst>
              <a:ext uri="{FF2B5EF4-FFF2-40B4-BE49-F238E27FC236}">
                <a16:creationId xmlns:a16="http://schemas.microsoft.com/office/drawing/2014/main" id="{3027CE4B-2E63-93B5-A5FB-B84BE0448B5D}"/>
              </a:ext>
            </a:extLst>
          </p:cNvPr>
          <p:cNvSpPr>
            <a:spLocks noChangeShapeType="1"/>
          </p:cNvSpPr>
          <p:nvPr/>
        </p:nvSpPr>
        <p:spPr bwMode="auto">
          <a:xfrm>
            <a:off x="7892424"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a:extLst>
              <a:ext uri="{FF2B5EF4-FFF2-40B4-BE49-F238E27FC236}">
                <a16:creationId xmlns:a16="http://schemas.microsoft.com/office/drawing/2014/main" id="{FD8909B2-2796-4C02-B1B4-7CC736157029}"/>
              </a:ext>
            </a:extLst>
          </p:cNvPr>
          <p:cNvSpPr>
            <a:spLocks noChangeShapeType="1"/>
          </p:cNvSpPr>
          <p:nvPr/>
        </p:nvSpPr>
        <p:spPr bwMode="auto">
          <a:xfrm flipH="1">
            <a:off x="7483015" y="2226447"/>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a:extLst>
              <a:ext uri="{FF2B5EF4-FFF2-40B4-BE49-F238E27FC236}">
                <a16:creationId xmlns:a16="http://schemas.microsoft.com/office/drawing/2014/main" id="{D14A68A0-1B60-CA08-AED4-12880414D9AB}"/>
              </a:ext>
            </a:extLst>
          </p:cNvPr>
          <p:cNvSpPr>
            <a:spLocks noChangeShapeType="1"/>
          </p:cNvSpPr>
          <p:nvPr/>
        </p:nvSpPr>
        <p:spPr bwMode="auto">
          <a:xfrm flipH="1">
            <a:off x="3948323" y="2226447"/>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8" name="直接连接符 67">
            <a:extLst>
              <a:ext uri="{FF2B5EF4-FFF2-40B4-BE49-F238E27FC236}">
                <a16:creationId xmlns:a16="http://schemas.microsoft.com/office/drawing/2014/main" id="{91EFDC73-C9F0-AD2D-F60E-523C4767540F}"/>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070018B1-A750-0B73-CDEC-BA03B2D59ADF}"/>
              </a:ext>
            </a:extLst>
          </p:cNvPr>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DBF6BC95-E989-DBB1-FCB2-315C9B1A95D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2" name="矩形 1">
            <a:extLst>
              <a:ext uri="{FF2B5EF4-FFF2-40B4-BE49-F238E27FC236}">
                <a16:creationId xmlns:a16="http://schemas.microsoft.com/office/drawing/2014/main" id="{BE1645DE-D3DE-9499-86EC-4D43028A398A}"/>
              </a:ext>
            </a:extLst>
          </p:cNvPr>
          <p:cNvSpPr/>
          <p:nvPr/>
        </p:nvSpPr>
        <p:spPr>
          <a:xfrm>
            <a:off x="493821" y="1446757"/>
            <a:ext cx="3142075" cy="369332"/>
          </a:xfrm>
          <a:prstGeom prst="rect">
            <a:avLst/>
          </a:prstGeom>
        </p:spPr>
        <p:txBody>
          <a:bodyPr wrap="square">
            <a:spAutoFit/>
          </a:bodyPr>
          <a:lstStyle/>
          <a:p>
            <a:r>
              <a:rPr lang="en-US" altLang="zh-CN" dirty="0">
                <a:latin typeface="微软雅黑" pitchFamily="34" charset="-122"/>
                <a:ea typeface="微软雅黑" pitchFamily="34" charset="-122"/>
                <a:cs typeface="经典粗黑简" pitchFamily="49" charset="-122"/>
              </a:rPr>
              <a:t>2.3.3.1 </a:t>
            </a:r>
            <a:r>
              <a:rPr lang="zh-CN" altLang="en-US" dirty="0">
                <a:latin typeface="微软雅黑" pitchFamily="34" charset="-122"/>
                <a:ea typeface="微软雅黑" pitchFamily="34" charset="-122"/>
                <a:cs typeface="经典粗黑简" pitchFamily="49" charset="-122"/>
              </a:rPr>
              <a:t>插入结点操作</a:t>
            </a:r>
          </a:p>
        </p:txBody>
      </p:sp>
      <p:sp>
        <p:nvSpPr>
          <p:cNvPr id="11" name="Rectangle 228">
            <a:extLst>
              <a:ext uri="{FF2B5EF4-FFF2-40B4-BE49-F238E27FC236}">
                <a16:creationId xmlns:a16="http://schemas.microsoft.com/office/drawing/2014/main" id="{E3CEEF9E-3C99-D3E3-AF27-F70C88411B29}"/>
              </a:ext>
            </a:extLst>
          </p:cNvPr>
          <p:cNvSpPr>
            <a:spLocks noChangeArrowheads="1"/>
          </p:cNvSpPr>
          <p:nvPr/>
        </p:nvSpPr>
        <p:spPr bwMode="auto">
          <a:xfrm>
            <a:off x="4117574" y="139180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p</a:t>
            </a:r>
          </a:p>
        </p:txBody>
      </p:sp>
      <p:sp>
        <p:nvSpPr>
          <p:cNvPr id="12" name="Line 29">
            <a:extLst>
              <a:ext uri="{FF2B5EF4-FFF2-40B4-BE49-F238E27FC236}">
                <a16:creationId xmlns:a16="http://schemas.microsoft.com/office/drawing/2014/main" id="{C0F368F6-173C-2AC2-8C95-4B59CEC5FEA7}"/>
              </a:ext>
            </a:extLst>
          </p:cNvPr>
          <p:cNvSpPr>
            <a:spLocks noChangeShapeType="1"/>
          </p:cNvSpPr>
          <p:nvPr/>
        </p:nvSpPr>
        <p:spPr bwMode="auto">
          <a:xfrm>
            <a:off x="4400917" y="1776450"/>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矩形 8">
            <a:extLst>
              <a:ext uri="{FF2B5EF4-FFF2-40B4-BE49-F238E27FC236}">
                <a16:creationId xmlns:a16="http://schemas.microsoft.com/office/drawing/2014/main" id="{C308C584-08CC-0BFB-D732-773581103D2B}"/>
              </a:ext>
            </a:extLst>
          </p:cNvPr>
          <p:cNvSpPr/>
          <p:nvPr/>
        </p:nvSpPr>
        <p:spPr>
          <a:xfrm>
            <a:off x="-17178" y="3027210"/>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13" name="矩形 12">
            <a:extLst>
              <a:ext uri="{FF2B5EF4-FFF2-40B4-BE49-F238E27FC236}">
                <a16:creationId xmlns:a16="http://schemas.microsoft.com/office/drawing/2014/main" id="{48215FB0-88E4-9C0E-97F6-D5EAAAE25AB1}"/>
              </a:ext>
            </a:extLst>
          </p:cNvPr>
          <p:cNvSpPr/>
          <p:nvPr/>
        </p:nvSpPr>
        <p:spPr>
          <a:xfrm>
            <a:off x="412635" y="3312174"/>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18" name="Rectangle 55">
            <a:extLst>
              <a:ext uri="{FF2B5EF4-FFF2-40B4-BE49-F238E27FC236}">
                <a16:creationId xmlns:a16="http://schemas.microsoft.com/office/drawing/2014/main" id="{20C62B67-3739-D855-531F-CF84ACAA03AE}"/>
              </a:ext>
            </a:extLst>
          </p:cNvPr>
          <p:cNvSpPr>
            <a:spLocks noChangeArrowheads="1"/>
          </p:cNvSpPr>
          <p:nvPr/>
        </p:nvSpPr>
        <p:spPr bwMode="auto">
          <a:xfrm>
            <a:off x="4379042" y="155302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grpSp>
        <p:nvGrpSpPr>
          <p:cNvPr id="4" name="组合 3">
            <a:extLst>
              <a:ext uri="{FF2B5EF4-FFF2-40B4-BE49-F238E27FC236}">
                <a16:creationId xmlns:a16="http://schemas.microsoft.com/office/drawing/2014/main" id="{F65E95BA-7172-E275-ADBF-EBDEC40125B7}"/>
              </a:ext>
            </a:extLst>
          </p:cNvPr>
          <p:cNvGrpSpPr/>
          <p:nvPr/>
        </p:nvGrpSpPr>
        <p:grpSpPr>
          <a:xfrm>
            <a:off x="5375026" y="3640925"/>
            <a:ext cx="533400" cy="984427"/>
            <a:chOff x="3344047" y="4287041"/>
            <a:chExt cx="533400" cy="1312569"/>
          </a:xfrm>
        </p:grpSpPr>
        <p:sp>
          <p:nvSpPr>
            <p:cNvPr id="5" name="Rectangle 5">
              <a:extLst>
                <a:ext uri="{FF2B5EF4-FFF2-40B4-BE49-F238E27FC236}">
                  <a16:creationId xmlns:a16="http://schemas.microsoft.com/office/drawing/2014/main" id="{2D8FC1F4-B0B4-AC90-09BD-714793059AA5}"/>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600" baseline="-25000" dirty="0"/>
                <a:t>e </a:t>
              </a:r>
              <a:r>
                <a:rPr lang="en-US" altLang="zh-CN" sz="2400" dirty="0"/>
                <a:t>   </a:t>
              </a:r>
            </a:p>
          </p:txBody>
        </p:sp>
        <p:sp>
          <p:nvSpPr>
            <p:cNvPr id="6" name="Line 6">
              <a:extLst>
                <a:ext uri="{FF2B5EF4-FFF2-40B4-BE49-F238E27FC236}">
                  <a16:creationId xmlns:a16="http://schemas.microsoft.com/office/drawing/2014/main" id="{94AA60FC-0038-8604-3254-B591C3A8C0A5}"/>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Line 6">
              <a:extLst>
                <a:ext uri="{FF2B5EF4-FFF2-40B4-BE49-F238E27FC236}">
                  <a16:creationId xmlns:a16="http://schemas.microsoft.com/office/drawing/2014/main" id="{D632620B-B915-FA73-F094-7992FA7D87BE}"/>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 name="Line 29">
            <a:extLst>
              <a:ext uri="{FF2B5EF4-FFF2-40B4-BE49-F238E27FC236}">
                <a16:creationId xmlns:a16="http://schemas.microsoft.com/office/drawing/2014/main" id="{6075F432-7633-3F49-28B5-D9E0F8212790}"/>
              </a:ext>
            </a:extLst>
          </p:cNvPr>
          <p:cNvSpPr>
            <a:spLocks noChangeShapeType="1"/>
          </p:cNvSpPr>
          <p:nvPr/>
        </p:nvSpPr>
        <p:spPr bwMode="auto">
          <a:xfrm>
            <a:off x="4735455" y="3798909"/>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228">
            <a:extLst>
              <a:ext uri="{FF2B5EF4-FFF2-40B4-BE49-F238E27FC236}">
                <a16:creationId xmlns:a16="http://schemas.microsoft.com/office/drawing/2014/main" id="{6853D4BB-68F3-FDBF-742F-EC32149AC744}"/>
              </a:ext>
            </a:extLst>
          </p:cNvPr>
          <p:cNvSpPr>
            <a:spLocks noChangeArrowheads="1"/>
          </p:cNvSpPr>
          <p:nvPr/>
        </p:nvSpPr>
        <p:spPr bwMode="auto">
          <a:xfrm>
            <a:off x="4387833" y="3565397"/>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s</a:t>
            </a:r>
          </a:p>
        </p:txBody>
      </p:sp>
      <p:sp>
        <p:nvSpPr>
          <p:cNvPr id="15" name="Rectangle 55">
            <a:extLst>
              <a:ext uri="{FF2B5EF4-FFF2-40B4-BE49-F238E27FC236}">
                <a16:creationId xmlns:a16="http://schemas.microsoft.com/office/drawing/2014/main" id="{1EFFBDDF-D4A8-6FE6-AE7A-F2811E554E1C}"/>
              </a:ext>
            </a:extLst>
          </p:cNvPr>
          <p:cNvSpPr>
            <a:spLocks noChangeArrowheads="1"/>
          </p:cNvSpPr>
          <p:nvPr/>
        </p:nvSpPr>
        <p:spPr bwMode="auto">
          <a:xfrm>
            <a:off x="4731794" y="330114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19" name="矩形 18">
            <a:extLst>
              <a:ext uri="{FF2B5EF4-FFF2-40B4-BE49-F238E27FC236}">
                <a16:creationId xmlns:a16="http://schemas.microsoft.com/office/drawing/2014/main" id="{A5ED75AB-7558-F515-BCD5-70B4D0209519}"/>
              </a:ext>
            </a:extLst>
          </p:cNvPr>
          <p:cNvSpPr/>
          <p:nvPr/>
        </p:nvSpPr>
        <p:spPr>
          <a:xfrm>
            <a:off x="420097" y="3685542"/>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生成一个新的结点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a:t>
            </a:r>
          </a:p>
        </p:txBody>
      </p:sp>
      <p:sp>
        <p:nvSpPr>
          <p:cNvPr id="14" name="Rectangle 55">
            <a:extLst>
              <a:ext uri="{FF2B5EF4-FFF2-40B4-BE49-F238E27FC236}">
                <a16:creationId xmlns:a16="http://schemas.microsoft.com/office/drawing/2014/main" id="{1E4F1C70-1F09-202A-A8C5-7194F2F315E5}"/>
              </a:ext>
            </a:extLst>
          </p:cNvPr>
          <p:cNvSpPr>
            <a:spLocks noChangeArrowheads="1"/>
          </p:cNvSpPr>
          <p:nvPr/>
        </p:nvSpPr>
        <p:spPr bwMode="auto">
          <a:xfrm>
            <a:off x="6057889" y="333590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6" name="Line 29">
            <a:extLst>
              <a:ext uri="{FF2B5EF4-FFF2-40B4-BE49-F238E27FC236}">
                <a16:creationId xmlns:a16="http://schemas.microsoft.com/office/drawing/2014/main" id="{D79D8586-FA22-18DF-4E36-9CC6C9429FB8}"/>
              </a:ext>
            </a:extLst>
          </p:cNvPr>
          <p:cNvSpPr>
            <a:spLocks noChangeShapeType="1"/>
          </p:cNvSpPr>
          <p:nvPr/>
        </p:nvSpPr>
        <p:spPr bwMode="auto">
          <a:xfrm flipH="1" flipV="1">
            <a:off x="6007658" y="3052284"/>
            <a:ext cx="0" cy="146368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9">
            <a:extLst>
              <a:ext uri="{FF2B5EF4-FFF2-40B4-BE49-F238E27FC236}">
                <a16:creationId xmlns:a16="http://schemas.microsoft.com/office/drawing/2014/main" id="{3E87A212-EC26-8F20-22E2-A80B7923C999}"/>
              </a:ext>
            </a:extLst>
          </p:cNvPr>
          <p:cNvSpPr>
            <a:spLocks noChangeShapeType="1"/>
          </p:cNvSpPr>
          <p:nvPr/>
        </p:nvSpPr>
        <p:spPr bwMode="auto">
          <a:xfrm>
            <a:off x="5622613" y="4515965"/>
            <a:ext cx="385045"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矩形 22">
            <a:extLst>
              <a:ext uri="{FF2B5EF4-FFF2-40B4-BE49-F238E27FC236}">
                <a16:creationId xmlns:a16="http://schemas.microsoft.com/office/drawing/2014/main" id="{169907AB-02B3-0B27-9C82-7336163A35FE}"/>
              </a:ext>
            </a:extLst>
          </p:cNvPr>
          <p:cNvSpPr/>
          <p:nvPr/>
        </p:nvSpPr>
        <p:spPr>
          <a:xfrm>
            <a:off x="412634" y="4076573"/>
            <a:ext cx="4159365"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③ 确定新结点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前驱、后继指针；</a:t>
            </a:r>
          </a:p>
        </p:txBody>
      </p:sp>
      <p:sp>
        <p:nvSpPr>
          <p:cNvPr id="25" name="Line 29">
            <a:extLst>
              <a:ext uri="{FF2B5EF4-FFF2-40B4-BE49-F238E27FC236}">
                <a16:creationId xmlns:a16="http://schemas.microsoft.com/office/drawing/2014/main" id="{0C1107E5-90EC-C346-A12F-EBF818EB6F9D}"/>
              </a:ext>
            </a:extLst>
          </p:cNvPr>
          <p:cNvSpPr>
            <a:spLocks noChangeShapeType="1"/>
          </p:cNvSpPr>
          <p:nvPr/>
        </p:nvSpPr>
        <p:spPr bwMode="auto">
          <a:xfrm flipH="1" flipV="1">
            <a:off x="5508104" y="3292765"/>
            <a:ext cx="0" cy="496421"/>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9">
            <a:extLst>
              <a:ext uri="{FF2B5EF4-FFF2-40B4-BE49-F238E27FC236}">
                <a16:creationId xmlns:a16="http://schemas.microsoft.com/office/drawing/2014/main" id="{93BCD975-27AA-F0EB-3A39-E7932B7EF2A1}"/>
              </a:ext>
            </a:extLst>
          </p:cNvPr>
          <p:cNvSpPr>
            <a:spLocks noChangeShapeType="1"/>
          </p:cNvSpPr>
          <p:nvPr/>
        </p:nvSpPr>
        <p:spPr bwMode="auto">
          <a:xfrm>
            <a:off x="4341681" y="3301148"/>
            <a:ext cx="1166424"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29">
            <a:extLst>
              <a:ext uri="{FF2B5EF4-FFF2-40B4-BE49-F238E27FC236}">
                <a16:creationId xmlns:a16="http://schemas.microsoft.com/office/drawing/2014/main" id="{771FBD19-CD02-1609-6E99-F85DAB8EEDA7}"/>
              </a:ext>
            </a:extLst>
          </p:cNvPr>
          <p:cNvSpPr>
            <a:spLocks noChangeShapeType="1"/>
          </p:cNvSpPr>
          <p:nvPr/>
        </p:nvSpPr>
        <p:spPr bwMode="auto">
          <a:xfrm>
            <a:off x="4341680" y="2987152"/>
            <a:ext cx="206066"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29">
            <a:extLst>
              <a:ext uri="{FF2B5EF4-FFF2-40B4-BE49-F238E27FC236}">
                <a16:creationId xmlns:a16="http://schemas.microsoft.com/office/drawing/2014/main" id="{7A1ECFCA-25FE-9B11-DF2A-2BBE5716A656}"/>
              </a:ext>
            </a:extLst>
          </p:cNvPr>
          <p:cNvSpPr>
            <a:spLocks noChangeShapeType="1"/>
          </p:cNvSpPr>
          <p:nvPr/>
        </p:nvSpPr>
        <p:spPr bwMode="auto">
          <a:xfrm flipH="1" flipV="1">
            <a:off x="4341680" y="2987152"/>
            <a:ext cx="0" cy="325022"/>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Rectangle 55">
            <a:extLst>
              <a:ext uri="{FF2B5EF4-FFF2-40B4-BE49-F238E27FC236}">
                <a16:creationId xmlns:a16="http://schemas.microsoft.com/office/drawing/2014/main" id="{2AF26350-EF16-66ED-B9C2-1164D12CF018}"/>
              </a:ext>
            </a:extLst>
          </p:cNvPr>
          <p:cNvSpPr>
            <a:spLocks noChangeArrowheads="1"/>
          </p:cNvSpPr>
          <p:nvPr/>
        </p:nvSpPr>
        <p:spPr bwMode="auto">
          <a:xfrm>
            <a:off x="3954649" y="288582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7" name="矩形 16">
            <a:extLst>
              <a:ext uri="{FF2B5EF4-FFF2-40B4-BE49-F238E27FC236}">
                <a16:creationId xmlns:a16="http://schemas.microsoft.com/office/drawing/2014/main" id="{D5250906-958D-C344-C2C2-CB19F6FD49A9}"/>
              </a:ext>
            </a:extLst>
          </p:cNvPr>
          <p:cNvSpPr/>
          <p:nvPr/>
        </p:nvSpPr>
        <p:spPr>
          <a:xfrm>
            <a:off x="412634" y="4515965"/>
            <a:ext cx="491216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④ 确定</a:t>
            </a:r>
            <a:r>
              <a:rPr lang="en-US" altLang="zh-CN" sz="2000" dirty="0">
                <a:latin typeface="微软雅黑" pitchFamily="34" charset="-122"/>
                <a:ea typeface="微软雅黑" pitchFamily="34" charset="-122"/>
                <a:cs typeface="经典粗黑简" pitchFamily="49" charset="-122"/>
              </a:rPr>
              <a:t>a</a:t>
            </a:r>
            <a:r>
              <a:rPr lang="en-US" altLang="zh-CN" sz="2000" baseline="-25000" dirty="0">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的前驱指针、</a:t>
            </a:r>
            <a:r>
              <a:rPr lang="en-US" altLang="zh-CN" sz="2000" dirty="0">
                <a:latin typeface="微软雅黑" pitchFamily="34" charset="-122"/>
                <a:ea typeface="微软雅黑" pitchFamily="34" charset="-122"/>
                <a:cs typeface="经典粗黑简" pitchFamily="49" charset="-122"/>
              </a:rPr>
              <a:t>a</a:t>
            </a:r>
            <a:r>
              <a:rPr lang="en-US" altLang="zh-CN" sz="2000" baseline="-25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的后继指针；</a:t>
            </a:r>
          </a:p>
        </p:txBody>
      </p:sp>
      <p:sp>
        <p:nvSpPr>
          <p:cNvPr id="20" name="文本框 19">
            <a:extLst>
              <a:ext uri="{FF2B5EF4-FFF2-40B4-BE49-F238E27FC236}">
                <a16:creationId xmlns:a16="http://schemas.microsoft.com/office/drawing/2014/main" id="{5A20E539-B495-C604-BCBC-2FD1EB47B6AB}"/>
              </a:ext>
            </a:extLst>
          </p:cNvPr>
          <p:cNvSpPr txBox="1"/>
          <p:nvPr/>
        </p:nvSpPr>
        <p:spPr>
          <a:xfrm>
            <a:off x="6159253" y="4108472"/>
            <a:ext cx="2509256" cy="398827"/>
          </a:xfrm>
          <a:prstGeom prst="rect">
            <a:avLst/>
          </a:prstGeom>
          <a:noFill/>
        </p:spPr>
        <p:txBody>
          <a:bodyPr wrap="square">
            <a:spAutoFit/>
          </a:bodyPr>
          <a:lstStyle/>
          <a:p>
            <a:pPr algn="l">
              <a:lnSpc>
                <a:spcPts val="2600"/>
              </a:lnSpc>
            </a:pPr>
            <a:r>
              <a:rPr kumimoji="1" lang="en-US" altLang="zh-CN" sz="1800" dirty="0">
                <a:solidFill>
                  <a:srgbClr val="0000FF"/>
                </a:solidFill>
                <a:latin typeface="Consolas" pitchFamily="49" charset="0"/>
                <a:ea typeface="仿宋" pitchFamily="49" charset="-122"/>
                <a:cs typeface="Consolas" pitchFamily="49" charset="0"/>
              </a:rPr>
              <a:t>p-&gt;next=s</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	</a:t>
            </a:r>
            <a:endParaRPr lang="zh-CN" altLang="en-US" dirty="0"/>
          </a:p>
        </p:txBody>
      </p:sp>
      <p:sp>
        <p:nvSpPr>
          <p:cNvPr id="24" name="Line 29">
            <a:extLst>
              <a:ext uri="{FF2B5EF4-FFF2-40B4-BE49-F238E27FC236}">
                <a16:creationId xmlns:a16="http://schemas.microsoft.com/office/drawing/2014/main" id="{6801904A-1A75-53D9-2CD6-5C7FC09062A3}"/>
              </a:ext>
            </a:extLst>
          </p:cNvPr>
          <p:cNvSpPr>
            <a:spLocks noChangeShapeType="1"/>
          </p:cNvSpPr>
          <p:nvPr/>
        </p:nvSpPr>
        <p:spPr bwMode="auto">
          <a:xfrm>
            <a:off x="5606323" y="2283718"/>
            <a:ext cx="0" cy="1340027"/>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29">
            <a:extLst>
              <a:ext uri="{FF2B5EF4-FFF2-40B4-BE49-F238E27FC236}">
                <a16:creationId xmlns:a16="http://schemas.microsoft.com/office/drawing/2014/main" id="{29D87F27-B305-4FDC-5BB8-D3EFBFFE6BB8}"/>
              </a:ext>
            </a:extLst>
          </p:cNvPr>
          <p:cNvSpPr>
            <a:spLocks noChangeShapeType="1"/>
          </p:cNvSpPr>
          <p:nvPr/>
        </p:nvSpPr>
        <p:spPr bwMode="auto">
          <a:xfrm>
            <a:off x="5627115" y="2283718"/>
            <a:ext cx="385045"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Rectangle 55">
            <a:extLst>
              <a:ext uri="{FF2B5EF4-FFF2-40B4-BE49-F238E27FC236}">
                <a16:creationId xmlns:a16="http://schemas.microsoft.com/office/drawing/2014/main" id="{1D0FE873-09B6-3BC5-DB66-E6C5F24F3A81}"/>
              </a:ext>
            </a:extLst>
          </p:cNvPr>
          <p:cNvSpPr>
            <a:spLocks noChangeArrowheads="1"/>
          </p:cNvSpPr>
          <p:nvPr/>
        </p:nvSpPr>
        <p:spPr bwMode="auto">
          <a:xfrm>
            <a:off x="5203959" y="2338153"/>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④</a:t>
            </a:r>
            <a:endParaRPr kumimoji="0" lang="zh-CN" altLang="en-US" sz="2400" dirty="0">
              <a:solidFill>
                <a:srgbClr val="FF0000"/>
              </a:solidFill>
              <a:ea typeface="CFNEOP+TimesNewRoman" charset="-122"/>
            </a:endParaRPr>
          </a:p>
        </p:txBody>
      </p:sp>
      <p:sp>
        <p:nvSpPr>
          <p:cNvPr id="22" name="Line 29">
            <a:extLst>
              <a:ext uri="{FF2B5EF4-FFF2-40B4-BE49-F238E27FC236}">
                <a16:creationId xmlns:a16="http://schemas.microsoft.com/office/drawing/2014/main" id="{9788BC40-30BA-5BCA-CB70-959720658672}"/>
              </a:ext>
            </a:extLst>
          </p:cNvPr>
          <p:cNvSpPr>
            <a:spLocks noChangeShapeType="1"/>
          </p:cNvSpPr>
          <p:nvPr/>
        </p:nvSpPr>
        <p:spPr bwMode="auto">
          <a:xfrm>
            <a:off x="5108975" y="3012082"/>
            <a:ext cx="433907"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29">
            <a:extLst>
              <a:ext uri="{FF2B5EF4-FFF2-40B4-BE49-F238E27FC236}">
                <a16:creationId xmlns:a16="http://schemas.microsoft.com/office/drawing/2014/main" id="{AFD46082-C899-814F-7146-092D952D3DAB}"/>
              </a:ext>
            </a:extLst>
          </p:cNvPr>
          <p:cNvSpPr>
            <a:spLocks noChangeShapeType="1"/>
          </p:cNvSpPr>
          <p:nvPr/>
        </p:nvSpPr>
        <p:spPr bwMode="auto">
          <a:xfrm>
            <a:off x="5547833" y="3012082"/>
            <a:ext cx="0" cy="611664"/>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Rectangle 55">
            <a:extLst>
              <a:ext uri="{FF2B5EF4-FFF2-40B4-BE49-F238E27FC236}">
                <a16:creationId xmlns:a16="http://schemas.microsoft.com/office/drawing/2014/main" id="{800FBA8E-1657-978D-905F-174E2A583313}"/>
              </a:ext>
            </a:extLst>
          </p:cNvPr>
          <p:cNvSpPr>
            <a:spLocks noChangeArrowheads="1"/>
          </p:cNvSpPr>
          <p:nvPr/>
        </p:nvSpPr>
        <p:spPr bwMode="auto">
          <a:xfrm>
            <a:off x="5195637" y="268067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sym typeface="Wingdings 2" panose="05020102010507070707" pitchFamily="18" charset="2"/>
              </a:rPr>
              <a:t></a:t>
            </a:r>
            <a:endParaRPr kumimoji="0" lang="zh-CN" altLang="en-US" sz="2400" dirty="0">
              <a:solidFill>
                <a:srgbClr val="FF0000"/>
              </a:solidFill>
              <a:ea typeface="CFNEOP+TimesNewRoman" charset="-122"/>
            </a:endParaRPr>
          </a:p>
        </p:txBody>
      </p:sp>
    </p:spTree>
    <p:extLst>
      <p:ext uri="{BB962C8B-B14F-4D97-AF65-F5344CB8AC3E}">
        <p14:creationId xmlns:p14="http://schemas.microsoft.com/office/powerpoint/2010/main" val="153300595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7BA25-8C47-3724-1E15-F561D506B488}"/>
            </a:ext>
          </a:extLst>
        </p:cNvPr>
        <p:cNvGrpSpPr/>
        <p:nvPr/>
      </p:nvGrpSpPr>
      <p:grpSpPr>
        <a:xfrm>
          <a:off x="0" y="0"/>
          <a:ext cx="0" cy="0"/>
          <a:chOff x="0" y="0"/>
          <a:chExt cx="0" cy="0"/>
        </a:xfrm>
      </p:grpSpPr>
      <p:sp>
        <p:nvSpPr>
          <p:cNvPr id="47" name="Rectangle 25">
            <a:extLst>
              <a:ext uri="{FF2B5EF4-FFF2-40B4-BE49-F238E27FC236}">
                <a16:creationId xmlns:a16="http://schemas.microsoft.com/office/drawing/2014/main" id="{DCA19B7B-D971-892D-12F3-47A837802945}"/>
              </a:ext>
            </a:extLst>
          </p:cNvPr>
          <p:cNvSpPr>
            <a:spLocks noChangeArrowheads="1"/>
          </p:cNvSpPr>
          <p:nvPr/>
        </p:nvSpPr>
        <p:spPr bwMode="auto">
          <a:xfrm>
            <a:off x="7620379" y="239960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a:extLst>
              <a:ext uri="{FF2B5EF4-FFF2-40B4-BE49-F238E27FC236}">
                <a16:creationId xmlns:a16="http://schemas.microsoft.com/office/drawing/2014/main" id="{F18EAFD6-C59C-A7CF-2924-C14BCCCADCC9}"/>
              </a:ext>
            </a:extLst>
          </p:cNvPr>
          <p:cNvSpPr>
            <a:spLocks noChangeArrowheads="1"/>
          </p:cNvSpPr>
          <p:nvPr/>
        </p:nvSpPr>
        <p:spPr bwMode="auto">
          <a:xfrm>
            <a:off x="4014473" y="23887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a:extLst>
              <a:ext uri="{FF2B5EF4-FFF2-40B4-BE49-F238E27FC236}">
                <a16:creationId xmlns:a16="http://schemas.microsoft.com/office/drawing/2014/main" id="{95D1CB5C-585A-7DA1-174A-7660DBDCC123}"/>
              </a:ext>
            </a:extLst>
          </p:cNvPr>
          <p:cNvSpPr>
            <a:spLocks noChangeShapeType="1"/>
          </p:cNvSpPr>
          <p:nvPr/>
        </p:nvSpPr>
        <p:spPr bwMode="auto">
          <a:xfrm>
            <a:off x="631856" y="2232697"/>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a:extLst>
              <a:ext uri="{FF2B5EF4-FFF2-40B4-BE49-F238E27FC236}">
                <a16:creationId xmlns:a16="http://schemas.microsoft.com/office/drawing/2014/main" id="{5C01948A-D15B-85BF-2D20-E82922A00792}"/>
              </a:ext>
            </a:extLst>
          </p:cNvPr>
          <p:cNvSpPr>
            <a:spLocks noChangeArrowheads="1"/>
          </p:cNvSpPr>
          <p:nvPr/>
        </p:nvSpPr>
        <p:spPr bwMode="auto">
          <a:xfrm>
            <a:off x="366211" y="203479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95" name="组合 94">
            <a:extLst>
              <a:ext uri="{FF2B5EF4-FFF2-40B4-BE49-F238E27FC236}">
                <a16:creationId xmlns:a16="http://schemas.microsoft.com/office/drawing/2014/main" id="{CE46EE9D-5D49-C7B5-F056-45F2A0B0DF3D}"/>
              </a:ext>
            </a:extLst>
          </p:cNvPr>
          <p:cNvGrpSpPr/>
          <p:nvPr/>
        </p:nvGrpSpPr>
        <p:grpSpPr>
          <a:xfrm>
            <a:off x="2342689" y="2055888"/>
            <a:ext cx="533400" cy="984427"/>
            <a:chOff x="3344047" y="4287041"/>
            <a:chExt cx="533400" cy="1312569"/>
          </a:xfrm>
        </p:grpSpPr>
        <p:sp>
          <p:nvSpPr>
            <p:cNvPr id="97" name="Rectangle 5">
              <a:extLst>
                <a:ext uri="{FF2B5EF4-FFF2-40B4-BE49-F238E27FC236}">
                  <a16:creationId xmlns:a16="http://schemas.microsoft.com/office/drawing/2014/main" id="{317EC417-93C3-C843-5A2B-788E52B81785}"/>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a:extLst>
                <a:ext uri="{FF2B5EF4-FFF2-40B4-BE49-F238E27FC236}">
                  <a16:creationId xmlns:a16="http://schemas.microsoft.com/office/drawing/2014/main" id="{B0B71AD6-DA35-154E-1ED5-B1240192CDBF}"/>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a:extLst>
                <a:ext uri="{FF2B5EF4-FFF2-40B4-BE49-F238E27FC236}">
                  <a16:creationId xmlns:a16="http://schemas.microsoft.com/office/drawing/2014/main" id="{E8D0D37E-2385-9FF6-E800-24BA5A2DF705}"/>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a:extLst>
              <a:ext uri="{FF2B5EF4-FFF2-40B4-BE49-F238E27FC236}">
                <a16:creationId xmlns:a16="http://schemas.microsoft.com/office/drawing/2014/main" id="{72FB318D-4120-CA25-F932-9701594D2427}"/>
              </a:ext>
            </a:extLst>
          </p:cNvPr>
          <p:cNvGrpSpPr/>
          <p:nvPr/>
        </p:nvGrpSpPr>
        <p:grpSpPr>
          <a:xfrm>
            <a:off x="3401537" y="2055888"/>
            <a:ext cx="533400" cy="984427"/>
            <a:chOff x="3344047" y="4287041"/>
            <a:chExt cx="533400" cy="1312569"/>
          </a:xfrm>
        </p:grpSpPr>
        <p:sp>
          <p:nvSpPr>
            <p:cNvPr id="101" name="Rectangle 5">
              <a:extLst>
                <a:ext uri="{FF2B5EF4-FFF2-40B4-BE49-F238E27FC236}">
                  <a16:creationId xmlns:a16="http://schemas.microsoft.com/office/drawing/2014/main" id="{9BF03844-F7EE-9AF9-10A8-069071447959}"/>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C1C9B2FB-E8BB-EC20-7D8C-452E00B1CC6A}"/>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a:extLst>
                <a:ext uri="{FF2B5EF4-FFF2-40B4-BE49-F238E27FC236}">
                  <a16:creationId xmlns:a16="http://schemas.microsoft.com/office/drawing/2014/main" id="{A68EFCBC-B7EB-3B2E-FB12-8EF4BA2A613E}"/>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a:extLst>
              <a:ext uri="{FF2B5EF4-FFF2-40B4-BE49-F238E27FC236}">
                <a16:creationId xmlns:a16="http://schemas.microsoft.com/office/drawing/2014/main" id="{097EDD9E-2548-EC6E-560F-669682DC78D7}"/>
              </a:ext>
            </a:extLst>
          </p:cNvPr>
          <p:cNvGrpSpPr/>
          <p:nvPr/>
        </p:nvGrpSpPr>
        <p:grpSpPr>
          <a:xfrm>
            <a:off x="4547475" y="2055888"/>
            <a:ext cx="675622" cy="984427"/>
            <a:chOff x="3344047" y="4287041"/>
            <a:chExt cx="533400" cy="1312569"/>
          </a:xfrm>
        </p:grpSpPr>
        <p:sp>
          <p:nvSpPr>
            <p:cNvPr id="105" name="Rectangle 5">
              <a:extLst>
                <a:ext uri="{FF2B5EF4-FFF2-40B4-BE49-F238E27FC236}">
                  <a16:creationId xmlns:a16="http://schemas.microsoft.com/office/drawing/2014/main" id="{0EDF1FD9-803F-04AB-361B-4A393DBC79F6}"/>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a:extLst>
                <a:ext uri="{FF2B5EF4-FFF2-40B4-BE49-F238E27FC236}">
                  <a16:creationId xmlns:a16="http://schemas.microsoft.com/office/drawing/2014/main" id="{FF5B100E-E365-C9E5-CEB2-E57C9D86CF1E}"/>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a:extLst>
                <a:ext uri="{FF2B5EF4-FFF2-40B4-BE49-F238E27FC236}">
                  <a16:creationId xmlns:a16="http://schemas.microsoft.com/office/drawing/2014/main" id="{0DC16D9E-0CED-062E-54FC-E036B7E9C038}"/>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a:extLst>
              <a:ext uri="{FF2B5EF4-FFF2-40B4-BE49-F238E27FC236}">
                <a16:creationId xmlns:a16="http://schemas.microsoft.com/office/drawing/2014/main" id="{6ADFA477-709E-7E04-FE83-BBB6CDBB2E1C}"/>
              </a:ext>
            </a:extLst>
          </p:cNvPr>
          <p:cNvGrpSpPr/>
          <p:nvPr/>
        </p:nvGrpSpPr>
        <p:grpSpPr>
          <a:xfrm>
            <a:off x="8095554" y="2055887"/>
            <a:ext cx="533400" cy="1076760"/>
            <a:chOff x="9096957" y="4287040"/>
            <a:chExt cx="533400" cy="1435680"/>
          </a:xfrm>
        </p:grpSpPr>
        <p:grpSp>
          <p:nvGrpSpPr>
            <p:cNvPr id="109" name="组合 108">
              <a:extLst>
                <a:ext uri="{FF2B5EF4-FFF2-40B4-BE49-F238E27FC236}">
                  <a16:creationId xmlns:a16="http://schemas.microsoft.com/office/drawing/2014/main" id="{A7FB86B1-DC22-1FDE-041B-2D2B81137EAE}"/>
                </a:ext>
              </a:extLst>
            </p:cNvPr>
            <p:cNvGrpSpPr/>
            <p:nvPr/>
          </p:nvGrpSpPr>
          <p:grpSpPr>
            <a:xfrm>
              <a:off x="9096957" y="4287040"/>
              <a:ext cx="533400" cy="1312569"/>
              <a:chOff x="3344047" y="4287041"/>
              <a:chExt cx="533400" cy="1312569"/>
            </a:xfrm>
          </p:grpSpPr>
          <p:sp>
            <p:nvSpPr>
              <p:cNvPr id="111" name="Rectangle 5">
                <a:extLst>
                  <a:ext uri="{FF2B5EF4-FFF2-40B4-BE49-F238E27FC236}">
                    <a16:creationId xmlns:a16="http://schemas.microsoft.com/office/drawing/2014/main" id="{0DC088C6-8EE9-5744-DB08-FE9DD684171B}"/>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a:extLst>
                  <a:ext uri="{FF2B5EF4-FFF2-40B4-BE49-F238E27FC236}">
                    <a16:creationId xmlns:a16="http://schemas.microsoft.com/office/drawing/2014/main" id="{723342BD-70CF-A81E-FDF6-51465E031C2B}"/>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a:extLst>
                  <a:ext uri="{FF2B5EF4-FFF2-40B4-BE49-F238E27FC236}">
                    <a16:creationId xmlns:a16="http://schemas.microsoft.com/office/drawing/2014/main" id="{B1A7FA2E-4944-8C15-A915-7B3EAA981A6A}"/>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a:extLst>
                <a:ext uri="{FF2B5EF4-FFF2-40B4-BE49-F238E27FC236}">
                  <a16:creationId xmlns:a16="http://schemas.microsoft.com/office/drawing/2014/main" id="{A5A1B777-BD25-C769-E6B1-7948F707FB1B}"/>
                </a:ext>
              </a:extLst>
            </p:cNvPr>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a:extLst>
              <a:ext uri="{FF2B5EF4-FFF2-40B4-BE49-F238E27FC236}">
                <a16:creationId xmlns:a16="http://schemas.microsoft.com/office/drawing/2014/main" id="{7CE90E55-FA60-D8D1-31E4-358A43C6E251}"/>
              </a:ext>
            </a:extLst>
          </p:cNvPr>
          <p:cNvGrpSpPr/>
          <p:nvPr/>
        </p:nvGrpSpPr>
        <p:grpSpPr>
          <a:xfrm>
            <a:off x="5748545" y="2055888"/>
            <a:ext cx="533400" cy="984427"/>
            <a:chOff x="3344047" y="4287041"/>
            <a:chExt cx="533400" cy="1312569"/>
          </a:xfrm>
        </p:grpSpPr>
        <p:sp>
          <p:nvSpPr>
            <p:cNvPr id="115" name="Rectangle 5">
              <a:extLst>
                <a:ext uri="{FF2B5EF4-FFF2-40B4-BE49-F238E27FC236}">
                  <a16:creationId xmlns:a16="http://schemas.microsoft.com/office/drawing/2014/main" id="{8E6A0EB2-BF16-CB2D-99F5-6AEE53D87740}"/>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a:extLst>
                <a:ext uri="{FF2B5EF4-FFF2-40B4-BE49-F238E27FC236}">
                  <a16:creationId xmlns:a16="http://schemas.microsoft.com/office/drawing/2014/main" id="{3B5D336D-A31C-F6EC-B5C6-82E08F624827}"/>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
              <a:extLst>
                <a:ext uri="{FF2B5EF4-FFF2-40B4-BE49-F238E27FC236}">
                  <a16:creationId xmlns:a16="http://schemas.microsoft.com/office/drawing/2014/main" id="{3B10323F-A266-21DF-92A0-82EE13D0642C}"/>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组合 117">
            <a:extLst>
              <a:ext uri="{FF2B5EF4-FFF2-40B4-BE49-F238E27FC236}">
                <a16:creationId xmlns:a16="http://schemas.microsoft.com/office/drawing/2014/main" id="{0C96BA34-CABA-A89F-58EE-C74C83AB7873}"/>
              </a:ext>
            </a:extLst>
          </p:cNvPr>
          <p:cNvGrpSpPr/>
          <p:nvPr/>
        </p:nvGrpSpPr>
        <p:grpSpPr>
          <a:xfrm>
            <a:off x="6807393" y="2055888"/>
            <a:ext cx="675622" cy="984427"/>
            <a:chOff x="3344047" y="4287041"/>
            <a:chExt cx="533400" cy="1312569"/>
          </a:xfrm>
        </p:grpSpPr>
        <p:sp>
          <p:nvSpPr>
            <p:cNvPr id="119" name="Rectangle 5">
              <a:extLst>
                <a:ext uri="{FF2B5EF4-FFF2-40B4-BE49-F238E27FC236}">
                  <a16:creationId xmlns:a16="http://schemas.microsoft.com/office/drawing/2014/main" id="{F49F415F-30FE-D374-727F-8E8946993B96}"/>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a:extLst>
                <a:ext uri="{FF2B5EF4-FFF2-40B4-BE49-F238E27FC236}">
                  <a16:creationId xmlns:a16="http://schemas.microsoft.com/office/drawing/2014/main" id="{B5039908-2909-4DEC-4D23-A05B099D9957}"/>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a:extLst>
                <a:ext uri="{FF2B5EF4-FFF2-40B4-BE49-F238E27FC236}">
                  <a16:creationId xmlns:a16="http://schemas.microsoft.com/office/drawing/2014/main" id="{B5BFEDB8-EDC2-5DFE-6D69-C7BD1A991354}"/>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a:extLst>
              <a:ext uri="{FF2B5EF4-FFF2-40B4-BE49-F238E27FC236}">
                <a16:creationId xmlns:a16="http://schemas.microsoft.com/office/drawing/2014/main" id="{F5806E4B-908F-2617-79AC-9CDDAAD235B6}"/>
              </a:ext>
            </a:extLst>
          </p:cNvPr>
          <p:cNvGrpSpPr/>
          <p:nvPr/>
        </p:nvGrpSpPr>
        <p:grpSpPr>
          <a:xfrm>
            <a:off x="1283841" y="2055888"/>
            <a:ext cx="533400" cy="984427"/>
            <a:chOff x="2459424" y="4263014"/>
            <a:chExt cx="533400" cy="1312569"/>
          </a:xfrm>
        </p:grpSpPr>
        <p:grpSp>
          <p:nvGrpSpPr>
            <p:cNvPr id="123" name="组合 122">
              <a:extLst>
                <a:ext uri="{FF2B5EF4-FFF2-40B4-BE49-F238E27FC236}">
                  <a16:creationId xmlns:a16="http://schemas.microsoft.com/office/drawing/2014/main" id="{F62CC815-1713-7AE8-7FF0-CBCA8F0D681E}"/>
                </a:ext>
              </a:extLst>
            </p:cNvPr>
            <p:cNvGrpSpPr/>
            <p:nvPr/>
          </p:nvGrpSpPr>
          <p:grpSpPr>
            <a:xfrm>
              <a:off x="2459424" y="4263014"/>
              <a:ext cx="533400" cy="1312569"/>
              <a:chOff x="3344047" y="4287041"/>
              <a:chExt cx="533400" cy="1312569"/>
            </a:xfrm>
          </p:grpSpPr>
          <p:sp>
            <p:nvSpPr>
              <p:cNvPr id="125" name="Rectangle 5">
                <a:extLst>
                  <a:ext uri="{FF2B5EF4-FFF2-40B4-BE49-F238E27FC236}">
                    <a16:creationId xmlns:a16="http://schemas.microsoft.com/office/drawing/2014/main" id="{8E5C407E-B54E-BE30-74A2-06237966B670}"/>
                  </a:ext>
                </a:extLst>
              </p:cNvPr>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a:extLst>
                  <a:ext uri="{FF2B5EF4-FFF2-40B4-BE49-F238E27FC236}">
                    <a16:creationId xmlns:a16="http://schemas.microsoft.com/office/drawing/2014/main" id="{8D19387E-A693-5540-0401-255B6B553026}"/>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a:extLst>
                  <a:ext uri="{FF2B5EF4-FFF2-40B4-BE49-F238E27FC236}">
                    <a16:creationId xmlns:a16="http://schemas.microsoft.com/office/drawing/2014/main" id="{BCCD8DCA-1487-19A3-87E5-3C2205AFE77A}"/>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a:extLst>
                <a:ext uri="{FF2B5EF4-FFF2-40B4-BE49-F238E27FC236}">
                  <a16:creationId xmlns:a16="http://schemas.microsoft.com/office/drawing/2014/main" id="{0B76EF7A-3F40-749E-B9B9-57F0F18A02F3}"/>
                </a:ext>
              </a:extLst>
            </p:cNvPr>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a:extLst>
              <a:ext uri="{FF2B5EF4-FFF2-40B4-BE49-F238E27FC236}">
                <a16:creationId xmlns:a16="http://schemas.microsoft.com/office/drawing/2014/main" id="{62CF6CE4-C6A4-9826-17F9-396C86F43348}"/>
              </a:ext>
            </a:extLst>
          </p:cNvPr>
          <p:cNvSpPr>
            <a:spLocks noChangeShapeType="1"/>
          </p:cNvSpPr>
          <p:nvPr/>
        </p:nvSpPr>
        <p:spPr bwMode="auto">
          <a:xfrm flipH="1">
            <a:off x="182778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a:extLst>
              <a:ext uri="{FF2B5EF4-FFF2-40B4-BE49-F238E27FC236}">
                <a16:creationId xmlns:a16="http://schemas.microsoft.com/office/drawing/2014/main" id="{2824CF15-8BC9-C361-D51E-9D775560138A}"/>
              </a:ext>
            </a:extLst>
          </p:cNvPr>
          <p:cNvSpPr>
            <a:spLocks noChangeShapeType="1"/>
          </p:cNvSpPr>
          <p:nvPr/>
        </p:nvSpPr>
        <p:spPr bwMode="auto">
          <a:xfrm>
            <a:off x="1703118"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a:extLst>
              <a:ext uri="{FF2B5EF4-FFF2-40B4-BE49-F238E27FC236}">
                <a16:creationId xmlns:a16="http://schemas.microsoft.com/office/drawing/2014/main" id="{D388BA67-884C-7216-6BC9-13183507B02C}"/>
              </a:ext>
            </a:extLst>
          </p:cNvPr>
          <p:cNvSpPr>
            <a:spLocks noChangeShapeType="1"/>
          </p:cNvSpPr>
          <p:nvPr/>
        </p:nvSpPr>
        <p:spPr bwMode="auto">
          <a:xfrm>
            <a:off x="2761967"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a:extLst>
              <a:ext uri="{FF2B5EF4-FFF2-40B4-BE49-F238E27FC236}">
                <a16:creationId xmlns:a16="http://schemas.microsoft.com/office/drawing/2014/main" id="{4014F2B1-3F0E-61D1-1B1F-677547100DF2}"/>
              </a:ext>
            </a:extLst>
          </p:cNvPr>
          <p:cNvSpPr>
            <a:spLocks noChangeShapeType="1"/>
          </p:cNvSpPr>
          <p:nvPr/>
        </p:nvSpPr>
        <p:spPr bwMode="auto">
          <a:xfrm>
            <a:off x="3884001"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a:extLst>
              <a:ext uri="{FF2B5EF4-FFF2-40B4-BE49-F238E27FC236}">
                <a16:creationId xmlns:a16="http://schemas.microsoft.com/office/drawing/2014/main" id="{E07D02AD-F2F4-E9B2-A1DE-F96D2E37596B}"/>
              </a:ext>
            </a:extLst>
          </p:cNvPr>
          <p:cNvSpPr>
            <a:spLocks noChangeShapeType="1"/>
          </p:cNvSpPr>
          <p:nvPr/>
        </p:nvSpPr>
        <p:spPr bwMode="auto">
          <a:xfrm>
            <a:off x="6167823"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a:extLst>
              <a:ext uri="{FF2B5EF4-FFF2-40B4-BE49-F238E27FC236}">
                <a16:creationId xmlns:a16="http://schemas.microsoft.com/office/drawing/2014/main" id="{7364DF57-DBEB-2DC3-6ACC-925E3BEEE1DC}"/>
              </a:ext>
            </a:extLst>
          </p:cNvPr>
          <p:cNvSpPr>
            <a:spLocks noChangeShapeType="1"/>
          </p:cNvSpPr>
          <p:nvPr/>
        </p:nvSpPr>
        <p:spPr bwMode="auto">
          <a:xfrm>
            <a:off x="7336602" y="2901815"/>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a:extLst>
              <a:ext uri="{FF2B5EF4-FFF2-40B4-BE49-F238E27FC236}">
                <a16:creationId xmlns:a16="http://schemas.microsoft.com/office/drawing/2014/main" id="{B8E4BD08-87BD-FE6B-A4A4-54E62F645951}"/>
              </a:ext>
            </a:extLst>
          </p:cNvPr>
          <p:cNvSpPr>
            <a:spLocks noChangeShapeType="1"/>
          </p:cNvSpPr>
          <p:nvPr/>
        </p:nvSpPr>
        <p:spPr bwMode="auto">
          <a:xfrm flipH="1">
            <a:off x="7892423" y="2226447"/>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29">
            <a:extLst>
              <a:ext uri="{FF2B5EF4-FFF2-40B4-BE49-F238E27FC236}">
                <a16:creationId xmlns:a16="http://schemas.microsoft.com/office/drawing/2014/main" id="{BAA396EE-675D-D832-C528-FC6187C48E47}"/>
              </a:ext>
            </a:extLst>
          </p:cNvPr>
          <p:cNvSpPr>
            <a:spLocks noChangeShapeType="1"/>
          </p:cNvSpPr>
          <p:nvPr/>
        </p:nvSpPr>
        <p:spPr bwMode="auto">
          <a:xfrm flipH="1">
            <a:off x="628194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a:extLst>
              <a:ext uri="{FF2B5EF4-FFF2-40B4-BE49-F238E27FC236}">
                <a16:creationId xmlns:a16="http://schemas.microsoft.com/office/drawing/2014/main" id="{449E5A8A-33F3-3B4B-BDB4-8E0060EDE6E4}"/>
              </a:ext>
            </a:extLst>
          </p:cNvPr>
          <p:cNvSpPr>
            <a:spLocks noChangeShapeType="1"/>
          </p:cNvSpPr>
          <p:nvPr/>
        </p:nvSpPr>
        <p:spPr bwMode="auto">
          <a:xfrm flipH="1">
            <a:off x="4344742" y="2226447"/>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a:extLst>
              <a:ext uri="{FF2B5EF4-FFF2-40B4-BE49-F238E27FC236}">
                <a16:creationId xmlns:a16="http://schemas.microsoft.com/office/drawing/2014/main" id="{672F0CA8-0F91-B2D8-7923-46E602D4FE37}"/>
              </a:ext>
            </a:extLst>
          </p:cNvPr>
          <p:cNvSpPr>
            <a:spLocks noChangeShapeType="1"/>
          </p:cNvSpPr>
          <p:nvPr/>
        </p:nvSpPr>
        <p:spPr bwMode="auto">
          <a:xfrm flipH="1">
            <a:off x="2876090"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a:extLst>
              <a:ext uri="{FF2B5EF4-FFF2-40B4-BE49-F238E27FC236}">
                <a16:creationId xmlns:a16="http://schemas.microsoft.com/office/drawing/2014/main" id="{49881540-1EE4-AE21-39B9-7FCBB680B44B}"/>
              </a:ext>
            </a:extLst>
          </p:cNvPr>
          <p:cNvSpPr>
            <a:spLocks noChangeShapeType="1"/>
          </p:cNvSpPr>
          <p:nvPr/>
        </p:nvSpPr>
        <p:spPr bwMode="auto">
          <a:xfrm>
            <a:off x="4344742"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a:extLst>
              <a:ext uri="{FF2B5EF4-FFF2-40B4-BE49-F238E27FC236}">
                <a16:creationId xmlns:a16="http://schemas.microsoft.com/office/drawing/2014/main" id="{B9B2F2BA-2DD9-F2E2-1F6E-FB4765ACE43B}"/>
              </a:ext>
            </a:extLst>
          </p:cNvPr>
          <p:cNvSpPr>
            <a:spLocks noChangeShapeType="1"/>
          </p:cNvSpPr>
          <p:nvPr/>
        </p:nvSpPr>
        <p:spPr bwMode="auto">
          <a:xfrm>
            <a:off x="7892424"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a:extLst>
              <a:ext uri="{FF2B5EF4-FFF2-40B4-BE49-F238E27FC236}">
                <a16:creationId xmlns:a16="http://schemas.microsoft.com/office/drawing/2014/main" id="{D3A69C10-01F9-E779-D36D-49217454824C}"/>
              </a:ext>
            </a:extLst>
          </p:cNvPr>
          <p:cNvSpPr>
            <a:spLocks noChangeShapeType="1"/>
          </p:cNvSpPr>
          <p:nvPr/>
        </p:nvSpPr>
        <p:spPr bwMode="auto">
          <a:xfrm flipH="1">
            <a:off x="7483015" y="2226447"/>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a:extLst>
              <a:ext uri="{FF2B5EF4-FFF2-40B4-BE49-F238E27FC236}">
                <a16:creationId xmlns:a16="http://schemas.microsoft.com/office/drawing/2014/main" id="{06FFDD3C-5230-91B4-DE63-16A9D2C56AD5}"/>
              </a:ext>
            </a:extLst>
          </p:cNvPr>
          <p:cNvSpPr>
            <a:spLocks noChangeShapeType="1"/>
          </p:cNvSpPr>
          <p:nvPr/>
        </p:nvSpPr>
        <p:spPr bwMode="auto">
          <a:xfrm flipH="1">
            <a:off x="3948323" y="2226447"/>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8" name="直接连接符 67">
            <a:extLst>
              <a:ext uri="{FF2B5EF4-FFF2-40B4-BE49-F238E27FC236}">
                <a16:creationId xmlns:a16="http://schemas.microsoft.com/office/drawing/2014/main" id="{B691D5BF-2DDC-B3A4-C89B-048E2A6CDE95}"/>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6C34E7DB-7072-EF0A-1C62-70A62A77B1B6}"/>
              </a:ext>
            </a:extLst>
          </p:cNvPr>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CE3EAAE8-1A5C-B381-B37E-E85589F9AB99}"/>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2" name="矩形 1">
            <a:extLst>
              <a:ext uri="{FF2B5EF4-FFF2-40B4-BE49-F238E27FC236}">
                <a16:creationId xmlns:a16="http://schemas.microsoft.com/office/drawing/2014/main" id="{B615025F-2963-FE19-719B-02672E12E07A}"/>
              </a:ext>
            </a:extLst>
          </p:cNvPr>
          <p:cNvSpPr/>
          <p:nvPr/>
        </p:nvSpPr>
        <p:spPr>
          <a:xfrm>
            <a:off x="493821" y="1446757"/>
            <a:ext cx="3142075" cy="369332"/>
          </a:xfrm>
          <a:prstGeom prst="rect">
            <a:avLst/>
          </a:prstGeom>
        </p:spPr>
        <p:txBody>
          <a:bodyPr wrap="square">
            <a:spAutoFit/>
          </a:bodyPr>
          <a:lstStyle/>
          <a:p>
            <a:r>
              <a:rPr lang="en-US" altLang="zh-CN" dirty="0">
                <a:latin typeface="微软雅黑" pitchFamily="34" charset="-122"/>
                <a:ea typeface="微软雅黑" pitchFamily="34" charset="-122"/>
                <a:cs typeface="经典粗黑简" pitchFamily="49" charset="-122"/>
              </a:rPr>
              <a:t>2.3.3.1 </a:t>
            </a:r>
            <a:r>
              <a:rPr lang="zh-CN" altLang="en-US" dirty="0">
                <a:latin typeface="微软雅黑" pitchFamily="34" charset="-122"/>
                <a:ea typeface="微软雅黑" pitchFamily="34" charset="-122"/>
                <a:cs typeface="经典粗黑简" pitchFamily="49" charset="-122"/>
              </a:rPr>
              <a:t>插入结点操作</a:t>
            </a:r>
          </a:p>
        </p:txBody>
      </p:sp>
      <p:sp>
        <p:nvSpPr>
          <p:cNvPr id="11" name="Rectangle 228">
            <a:extLst>
              <a:ext uri="{FF2B5EF4-FFF2-40B4-BE49-F238E27FC236}">
                <a16:creationId xmlns:a16="http://schemas.microsoft.com/office/drawing/2014/main" id="{5AD331CC-3753-EE7E-D24C-C5219C276CDF}"/>
              </a:ext>
            </a:extLst>
          </p:cNvPr>
          <p:cNvSpPr>
            <a:spLocks noChangeArrowheads="1"/>
          </p:cNvSpPr>
          <p:nvPr/>
        </p:nvSpPr>
        <p:spPr bwMode="auto">
          <a:xfrm>
            <a:off x="4117574" y="139180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p</a:t>
            </a:r>
          </a:p>
        </p:txBody>
      </p:sp>
      <p:sp>
        <p:nvSpPr>
          <p:cNvPr id="12" name="Line 29">
            <a:extLst>
              <a:ext uri="{FF2B5EF4-FFF2-40B4-BE49-F238E27FC236}">
                <a16:creationId xmlns:a16="http://schemas.microsoft.com/office/drawing/2014/main" id="{AFBCF804-E46A-CB2E-9BF9-E7A192471D33}"/>
              </a:ext>
            </a:extLst>
          </p:cNvPr>
          <p:cNvSpPr>
            <a:spLocks noChangeShapeType="1"/>
          </p:cNvSpPr>
          <p:nvPr/>
        </p:nvSpPr>
        <p:spPr bwMode="auto">
          <a:xfrm>
            <a:off x="4400917" y="1776450"/>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矩形 8">
            <a:extLst>
              <a:ext uri="{FF2B5EF4-FFF2-40B4-BE49-F238E27FC236}">
                <a16:creationId xmlns:a16="http://schemas.microsoft.com/office/drawing/2014/main" id="{5AA2788C-41AC-FB76-FCEC-C1AC557420EE}"/>
              </a:ext>
            </a:extLst>
          </p:cNvPr>
          <p:cNvSpPr/>
          <p:nvPr/>
        </p:nvSpPr>
        <p:spPr>
          <a:xfrm>
            <a:off x="-17178" y="3027210"/>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13" name="矩形 12">
            <a:extLst>
              <a:ext uri="{FF2B5EF4-FFF2-40B4-BE49-F238E27FC236}">
                <a16:creationId xmlns:a16="http://schemas.microsoft.com/office/drawing/2014/main" id="{4AFD6FC4-C64D-B39D-AD0E-659DEA0CA3C2}"/>
              </a:ext>
            </a:extLst>
          </p:cNvPr>
          <p:cNvSpPr/>
          <p:nvPr/>
        </p:nvSpPr>
        <p:spPr>
          <a:xfrm>
            <a:off x="412635" y="3312174"/>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18" name="Rectangle 55">
            <a:extLst>
              <a:ext uri="{FF2B5EF4-FFF2-40B4-BE49-F238E27FC236}">
                <a16:creationId xmlns:a16="http://schemas.microsoft.com/office/drawing/2014/main" id="{FE45B633-0DFD-9638-2408-470654E4B4AB}"/>
              </a:ext>
            </a:extLst>
          </p:cNvPr>
          <p:cNvSpPr>
            <a:spLocks noChangeArrowheads="1"/>
          </p:cNvSpPr>
          <p:nvPr/>
        </p:nvSpPr>
        <p:spPr bwMode="auto">
          <a:xfrm>
            <a:off x="4379042" y="155302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grpSp>
        <p:nvGrpSpPr>
          <p:cNvPr id="4" name="组合 3">
            <a:extLst>
              <a:ext uri="{FF2B5EF4-FFF2-40B4-BE49-F238E27FC236}">
                <a16:creationId xmlns:a16="http://schemas.microsoft.com/office/drawing/2014/main" id="{EB95ABFE-7B1A-5BE7-94BF-2C6550C77BE9}"/>
              </a:ext>
            </a:extLst>
          </p:cNvPr>
          <p:cNvGrpSpPr/>
          <p:nvPr/>
        </p:nvGrpSpPr>
        <p:grpSpPr>
          <a:xfrm>
            <a:off x="5375026" y="3640925"/>
            <a:ext cx="533400" cy="984427"/>
            <a:chOff x="3344047" y="4287041"/>
            <a:chExt cx="533400" cy="1312569"/>
          </a:xfrm>
        </p:grpSpPr>
        <p:sp>
          <p:nvSpPr>
            <p:cNvPr id="5" name="Rectangle 5">
              <a:extLst>
                <a:ext uri="{FF2B5EF4-FFF2-40B4-BE49-F238E27FC236}">
                  <a16:creationId xmlns:a16="http://schemas.microsoft.com/office/drawing/2014/main" id="{9D679C23-6B0C-1D9D-2AA1-1DA62FFF6A1F}"/>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600" baseline="-25000" dirty="0"/>
                <a:t>e </a:t>
              </a:r>
              <a:r>
                <a:rPr lang="en-US" altLang="zh-CN" sz="2400" dirty="0"/>
                <a:t>   </a:t>
              </a:r>
            </a:p>
          </p:txBody>
        </p:sp>
        <p:sp>
          <p:nvSpPr>
            <p:cNvPr id="6" name="Line 6">
              <a:extLst>
                <a:ext uri="{FF2B5EF4-FFF2-40B4-BE49-F238E27FC236}">
                  <a16:creationId xmlns:a16="http://schemas.microsoft.com/office/drawing/2014/main" id="{98A79A32-2636-0043-BFD5-D119A4AFA1C9}"/>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Line 6">
              <a:extLst>
                <a:ext uri="{FF2B5EF4-FFF2-40B4-BE49-F238E27FC236}">
                  <a16:creationId xmlns:a16="http://schemas.microsoft.com/office/drawing/2014/main" id="{711649E6-6713-E640-76B3-9659242FF659}"/>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 name="Line 29">
            <a:extLst>
              <a:ext uri="{FF2B5EF4-FFF2-40B4-BE49-F238E27FC236}">
                <a16:creationId xmlns:a16="http://schemas.microsoft.com/office/drawing/2014/main" id="{3E1BF782-3CBC-8472-0982-DC71672E6E9B}"/>
              </a:ext>
            </a:extLst>
          </p:cNvPr>
          <p:cNvSpPr>
            <a:spLocks noChangeShapeType="1"/>
          </p:cNvSpPr>
          <p:nvPr/>
        </p:nvSpPr>
        <p:spPr bwMode="auto">
          <a:xfrm>
            <a:off x="4735455" y="3798909"/>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228">
            <a:extLst>
              <a:ext uri="{FF2B5EF4-FFF2-40B4-BE49-F238E27FC236}">
                <a16:creationId xmlns:a16="http://schemas.microsoft.com/office/drawing/2014/main" id="{266F09F4-D852-58CD-9ECE-EEC712BD87FA}"/>
              </a:ext>
            </a:extLst>
          </p:cNvPr>
          <p:cNvSpPr>
            <a:spLocks noChangeArrowheads="1"/>
          </p:cNvSpPr>
          <p:nvPr/>
        </p:nvSpPr>
        <p:spPr bwMode="auto">
          <a:xfrm>
            <a:off x="4387833" y="3565397"/>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s</a:t>
            </a:r>
          </a:p>
        </p:txBody>
      </p:sp>
      <p:sp>
        <p:nvSpPr>
          <p:cNvPr id="15" name="Rectangle 55">
            <a:extLst>
              <a:ext uri="{FF2B5EF4-FFF2-40B4-BE49-F238E27FC236}">
                <a16:creationId xmlns:a16="http://schemas.microsoft.com/office/drawing/2014/main" id="{27E769AD-CA1E-C318-5325-3E8D92CF26C7}"/>
              </a:ext>
            </a:extLst>
          </p:cNvPr>
          <p:cNvSpPr>
            <a:spLocks noChangeArrowheads="1"/>
          </p:cNvSpPr>
          <p:nvPr/>
        </p:nvSpPr>
        <p:spPr bwMode="auto">
          <a:xfrm>
            <a:off x="4731794" y="330114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19" name="矩形 18">
            <a:extLst>
              <a:ext uri="{FF2B5EF4-FFF2-40B4-BE49-F238E27FC236}">
                <a16:creationId xmlns:a16="http://schemas.microsoft.com/office/drawing/2014/main" id="{6223E947-4216-5EDF-FED7-C52B1B44B23A}"/>
              </a:ext>
            </a:extLst>
          </p:cNvPr>
          <p:cNvSpPr/>
          <p:nvPr/>
        </p:nvSpPr>
        <p:spPr>
          <a:xfrm>
            <a:off x="420097" y="3685542"/>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生成一个新的结点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a:t>
            </a:r>
          </a:p>
        </p:txBody>
      </p:sp>
      <p:sp>
        <p:nvSpPr>
          <p:cNvPr id="14" name="Rectangle 55">
            <a:extLst>
              <a:ext uri="{FF2B5EF4-FFF2-40B4-BE49-F238E27FC236}">
                <a16:creationId xmlns:a16="http://schemas.microsoft.com/office/drawing/2014/main" id="{194C5B35-8E0D-EE6B-9BCF-20E9A8F34A52}"/>
              </a:ext>
            </a:extLst>
          </p:cNvPr>
          <p:cNvSpPr>
            <a:spLocks noChangeArrowheads="1"/>
          </p:cNvSpPr>
          <p:nvPr/>
        </p:nvSpPr>
        <p:spPr bwMode="auto">
          <a:xfrm>
            <a:off x="6057889" y="333590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6" name="Line 29">
            <a:extLst>
              <a:ext uri="{FF2B5EF4-FFF2-40B4-BE49-F238E27FC236}">
                <a16:creationId xmlns:a16="http://schemas.microsoft.com/office/drawing/2014/main" id="{C25285D4-6CAB-BA8E-C192-FAACB4ADE4B0}"/>
              </a:ext>
            </a:extLst>
          </p:cNvPr>
          <p:cNvSpPr>
            <a:spLocks noChangeShapeType="1"/>
          </p:cNvSpPr>
          <p:nvPr/>
        </p:nvSpPr>
        <p:spPr bwMode="auto">
          <a:xfrm flipH="1" flipV="1">
            <a:off x="6007658" y="3052284"/>
            <a:ext cx="0" cy="146368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9">
            <a:extLst>
              <a:ext uri="{FF2B5EF4-FFF2-40B4-BE49-F238E27FC236}">
                <a16:creationId xmlns:a16="http://schemas.microsoft.com/office/drawing/2014/main" id="{DAFA30F1-AB80-6939-BD2A-64FB8E62B52C}"/>
              </a:ext>
            </a:extLst>
          </p:cNvPr>
          <p:cNvSpPr>
            <a:spLocks noChangeShapeType="1"/>
          </p:cNvSpPr>
          <p:nvPr/>
        </p:nvSpPr>
        <p:spPr bwMode="auto">
          <a:xfrm>
            <a:off x="5622613" y="4515965"/>
            <a:ext cx="385045"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矩形 22">
            <a:extLst>
              <a:ext uri="{FF2B5EF4-FFF2-40B4-BE49-F238E27FC236}">
                <a16:creationId xmlns:a16="http://schemas.microsoft.com/office/drawing/2014/main" id="{AB41B6D9-FD93-5797-D250-B36A351AA11C}"/>
              </a:ext>
            </a:extLst>
          </p:cNvPr>
          <p:cNvSpPr/>
          <p:nvPr/>
        </p:nvSpPr>
        <p:spPr>
          <a:xfrm>
            <a:off x="412634" y="4076573"/>
            <a:ext cx="4159365"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③ 确定新结点</a:t>
            </a:r>
            <a:r>
              <a:rPr lang="en-US" altLang="zh-CN" sz="2000" dirty="0">
                <a:latin typeface="微软雅黑" pitchFamily="34" charset="-122"/>
                <a:ea typeface="微软雅黑" pitchFamily="34" charset="-122"/>
                <a:cs typeface="经典粗黑简" pitchFamily="49" charset="-122"/>
              </a:rPr>
              <a:t>s</a:t>
            </a:r>
            <a:r>
              <a:rPr lang="zh-CN" altLang="en-US" sz="2000" dirty="0">
                <a:latin typeface="微软雅黑" pitchFamily="34" charset="-122"/>
                <a:ea typeface="微软雅黑" pitchFamily="34" charset="-122"/>
                <a:cs typeface="经典粗黑简" pitchFamily="49" charset="-122"/>
              </a:rPr>
              <a:t>前驱、后继指针；</a:t>
            </a:r>
          </a:p>
        </p:txBody>
      </p:sp>
      <p:sp>
        <p:nvSpPr>
          <p:cNvPr id="25" name="Line 29">
            <a:extLst>
              <a:ext uri="{FF2B5EF4-FFF2-40B4-BE49-F238E27FC236}">
                <a16:creationId xmlns:a16="http://schemas.microsoft.com/office/drawing/2014/main" id="{B5678E34-325E-5ADE-C012-17C8EDD97B44}"/>
              </a:ext>
            </a:extLst>
          </p:cNvPr>
          <p:cNvSpPr>
            <a:spLocks noChangeShapeType="1"/>
          </p:cNvSpPr>
          <p:nvPr/>
        </p:nvSpPr>
        <p:spPr bwMode="auto">
          <a:xfrm flipH="1" flipV="1">
            <a:off x="5508104" y="3292765"/>
            <a:ext cx="0" cy="496421"/>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9">
            <a:extLst>
              <a:ext uri="{FF2B5EF4-FFF2-40B4-BE49-F238E27FC236}">
                <a16:creationId xmlns:a16="http://schemas.microsoft.com/office/drawing/2014/main" id="{3492C6FC-5445-EDCF-75DD-039A7B9A7368}"/>
              </a:ext>
            </a:extLst>
          </p:cNvPr>
          <p:cNvSpPr>
            <a:spLocks noChangeShapeType="1"/>
          </p:cNvSpPr>
          <p:nvPr/>
        </p:nvSpPr>
        <p:spPr bwMode="auto">
          <a:xfrm>
            <a:off x="4341681" y="3301148"/>
            <a:ext cx="1166424"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29">
            <a:extLst>
              <a:ext uri="{FF2B5EF4-FFF2-40B4-BE49-F238E27FC236}">
                <a16:creationId xmlns:a16="http://schemas.microsoft.com/office/drawing/2014/main" id="{F6C57D56-9EBF-ABA9-4AD6-9A4CEED902EC}"/>
              </a:ext>
            </a:extLst>
          </p:cNvPr>
          <p:cNvSpPr>
            <a:spLocks noChangeShapeType="1"/>
          </p:cNvSpPr>
          <p:nvPr/>
        </p:nvSpPr>
        <p:spPr bwMode="auto">
          <a:xfrm>
            <a:off x="4341680" y="2987152"/>
            <a:ext cx="206066"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29">
            <a:extLst>
              <a:ext uri="{FF2B5EF4-FFF2-40B4-BE49-F238E27FC236}">
                <a16:creationId xmlns:a16="http://schemas.microsoft.com/office/drawing/2014/main" id="{D4D6C74D-E416-B4C1-8768-6A2055168AEB}"/>
              </a:ext>
            </a:extLst>
          </p:cNvPr>
          <p:cNvSpPr>
            <a:spLocks noChangeShapeType="1"/>
          </p:cNvSpPr>
          <p:nvPr/>
        </p:nvSpPr>
        <p:spPr bwMode="auto">
          <a:xfrm flipH="1" flipV="1">
            <a:off x="4341680" y="2987152"/>
            <a:ext cx="0" cy="325022"/>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Rectangle 55">
            <a:extLst>
              <a:ext uri="{FF2B5EF4-FFF2-40B4-BE49-F238E27FC236}">
                <a16:creationId xmlns:a16="http://schemas.microsoft.com/office/drawing/2014/main" id="{2614EE7E-EF30-AF30-92E5-3728EB244F39}"/>
              </a:ext>
            </a:extLst>
          </p:cNvPr>
          <p:cNvSpPr>
            <a:spLocks noChangeArrowheads="1"/>
          </p:cNvSpPr>
          <p:nvPr/>
        </p:nvSpPr>
        <p:spPr bwMode="auto">
          <a:xfrm>
            <a:off x="3954649" y="288582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7" name="矩形 16">
            <a:extLst>
              <a:ext uri="{FF2B5EF4-FFF2-40B4-BE49-F238E27FC236}">
                <a16:creationId xmlns:a16="http://schemas.microsoft.com/office/drawing/2014/main" id="{FE0F5904-2D3C-F21F-0AAE-15DEC144C06C}"/>
              </a:ext>
            </a:extLst>
          </p:cNvPr>
          <p:cNvSpPr/>
          <p:nvPr/>
        </p:nvSpPr>
        <p:spPr>
          <a:xfrm>
            <a:off x="412634" y="4515965"/>
            <a:ext cx="491216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④ 确定</a:t>
            </a:r>
            <a:r>
              <a:rPr lang="en-US" altLang="zh-CN" sz="2000" dirty="0">
                <a:latin typeface="微软雅黑" pitchFamily="34" charset="-122"/>
                <a:ea typeface="微软雅黑" pitchFamily="34" charset="-122"/>
                <a:cs typeface="经典粗黑简" pitchFamily="49" charset="-122"/>
              </a:rPr>
              <a:t>a</a:t>
            </a:r>
            <a:r>
              <a:rPr lang="en-US" altLang="zh-CN" sz="2000" baseline="-25000" dirty="0">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的前驱指针、</a:t>
            </a:r>
            <a:r>
              <a:rPr lang="en-US" altLang="zh-CN" sz="2000" dirty="0">
                <a:latin typeface="微软雅黑" pitchFamily="34" charset="-122"/>
                <a:ea typeface="微软雅黑" pitchFamily="34" charset="-122"/>
                <a:cs typeface="经典粗黑简" pitchFamily="49" charset="-122"/>
              </a:rPr>
              <a:t>a</a:t>
            </a:r>
            <a:r>
              <a:rPr lang="en-US" altLang="zh-CN" sz="2000" baseline="-25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的后继指针；</a:t>
            </a:r>
          </a:p>
        </p:txBody>
      </p:sp>
      <p:sp>
        <p:nvSpPr>
          <p:cNvPr id="20" name="文本框 19">
            <a:extLst>
              <a:ext uri="{FF2B5EF4-FFF2-40B4-BE49-F238E27FC236}">
                <a16:creationId xmlns:a16="http://schemas.microsoft.com/office/drawing/2014/main" id="{C02AFE9E-27A6-8BE1-BDFD-ED51A806E678}"/>
              </a:ext>
            </a:extLst>
          </p:cNvPr>
          <p:cNvSpPr txBox="1"/>
          <p:nvPr/>
        </p:nvSpPr>
        <p:spPr>
          <a:xfrm>
            <a:off x="6159253" y="4108472"/>
            <a:ext cx="2509256" cy="398827"/>
          </a:xfrm>
          <a:prstGeom prst="rect">
            <a:avLst/>
          </a:prstGeom>
          <a:noFill/>
        </p:spPr>
        <p:txBody>
          <a:bodyPr wrap="square">
            <a:spAutoFit/>
          </a:bodyPr>
          <a:lstStyle/>
          <a:p>
            <a:pPr algn="l">
              <a:lnSpc>
                <a:spcPts val="2600"/>
              </a:lnSpc>
            </a:pPr>
            <a:r>
              <a:rPr kumimoji="1" lang="en-US" altLang="zh-CN" sz="1800" dirty="0">
                <a:solidFill>
                  <a:srgbClr val="0000FF"/>
                </a:solidFill>
                <a:latin typeface="Consolas" pitchFamily="49" charset="0"/>
                <a:ea typeface="仿宋" pitchFamily="49" charset="-122"/>
                <a:cs typeface="Consolas" pitchFamily="49" charset="0"/>
              </a:rPr>
              <a:t>p-&gt;next=s</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	</a:t>
            </a:r>
            <a:endParaRPr lang="zh-CN" altLang="en-US" dirty="0"/>
          </a:p>
        </p:txBody>
      </p:sp>
      <p:sp>
        <p:nvSpPr>
          <p:cNvPr id="24" name="Line 29">
            <a:extLst>
              <a:ext uri="{FF2B5EF4-FFF2-40B4-BE49-F238E27FC236}">
                <a16:creationId xmlns:a16="http://schemas.microsoft.com/office/drawing/2014/main" id="{6B9CC23C-5AD8-AF04-521C-179A94C9CCBA}"/>
              </a:ext>
            </a:extLst>
          </p:cNvPr>
          <p:cNvSpPr>
            <a:spLocks noChangeShapeType="1"/>
          </p:cNvSpPr>
          <p:nvPr/>
        </p:nvSpPr>
        <p:spPr bwMode="auto">
          <a:xfrm>
            <a:off x="5606323" y="2283718"/>
            <a:ext cx="0" cy="1340027"/>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29">
            <a:extLst>
              <a:ext uri="{FF2B5EF4-FFF2-40B4-BE49-F238E27FC236}">
                <a16:creationId xmlns:a16="http://schemas.microsoft.com/office/drawing/2014/main" id="{B70FE836-2463-C6AB-393F-46C2AC1EED30}"/>
              </a:ext>
            </a:extLst>
          </p:cNvPr>
          <p:cNvSpPr>
            <a:spLocks noChangeShapeType="1"/>
          </p:cNvSpPr>
          <p:nvPr/>
        </p:nvSpPr>
        <p:spPr bwMode="auto">
          <a:xfrm>
            <a:off x="5627115" y="2283718"/>
            <a:ext cx="385045"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Rectangle 55">
            <a:extLst>
              <a:ext uri="{FF2B5EF4-FFF2-40B4-BE49-F238E27FC236}">
                <a16:creationId xmlns:a16="http://schemas.microsoft.com/office/drawing/2014/main" id="{120EFCE2-F3EF-7C10-29BE-EB78511B2D43}"/>
              </a:ext>
            </a:extLst>
          </p:cNvPr>
          <p:cNvSpPr>
            <a:spLocks noChangeArrowheads="1"/>
          </p:cNvSpPr>
          <p:nvPr/>
        </p:nvSpPr>
        <p:spPr bwMode="auto">
          <a:xfrm>
            <a:off x="5203959" y="2338153"/>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④</a:t>
            </a:r>
            <a:endParaRPr kumimoji="0" lang="zh-CN" altLang="en-US" sz="2400" dirty="0">
              <a:solidFill>
                <a:srgbClr val="FF0000"/>
              </a:solidFill>
              <a:ea typeface="CFNEOP+TimesNewRoman" charset="-122"/>
            </a:endParaRPr>
          </a:p>
        </p:txBody>
      </p:sp>
      <p:sp>
        <p:nvSpPr>
          <p:cNvPr id="22" name="Line 29">
            <a:extLst>
              <a:ext uri="{FF2B5EF4-FFF2-40B4-BE49-F238E27FC236}">
                <a16:creationId xmlns:a16="http://schemas.microsoft.com/office/drawing/2014/main" id="{15F179EB-5A16-0880-7156-8B4233020DF7}"/>
              </a:ext>
            </a:extLst>
          </p:cNvPr>
          <p:cNvSpPr>
            <a:spLocks noChangeShapeType="1"/>
          </p:cNvSpPr>
          <p:nvPr/>
        </p:nvSpPr>
        <p:spPr bwMode="auto">
          <a:xfrm>
            <a:off x="5108975" y="3012082"/>
            <a:ext cx="433907"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29">
            <a:extLst>
              <a:ext uri="{FF2B5EF4-FFF2-40B4-BE49-F238E27FC236}">
                <a16:creationId xmlns:a16="http://schemas.microsoft.com/office/drawing/2014/main" id="{185ADBFC-6278-B331-7BDB-B2FA6F9D4366}"/>
              </a:ext>
            </a:extLst>
          </p:cNvPr>
          <p:cNvSpPr>
            <a:spLocks noChangeShapeType="1"/>
          </p:cNvSpPr>
          <p:nvPr/>
        </p:nvSpPr>
        <p:spPr bwMode="auto">
          <a:xfrm>
            <a:off x="5547833" y="3012082"/>
            <a:ext cx="0" cy="611664"/>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6120217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962B8-8A6D-1EC6-5C68-5E958043729C}"/>
            </a:ext>
          </a:extLst>
        </p:cNvPr>
        <p:cNvGrpSpPr/>
        <p:nvPr/>
      </p:nvGrpSpPr>
      <p:grpSpPr>
        <a:xfrm>
          <a:off x="0" y="0"/>
          <a:ext cx="0" cy="0"/>
          <a:chOff x="0" y="0"/>
          <a:chExt cx="0" cy="0"/>
        </a:xfrm>
      </p:grpSpPr>
      <p:sp>
        <p:nvSpPr>
          <p:cNvPr id="47" name="Rectangle 25">
            <a:extLst>
              <a:ext uri="{FF2B5EF4-FFF2-40B4-BE49-F238E27FC236}">
                <a16:creationId xmlns:a16="http://schemas.microsoft.com/office/drawing/2014/main" id="{00AFA83D-9CB6-5D67-20E7-7FA41C8F29B2}"/>
              </a:ext>
            </a:extLst>
          </p:cNvPr>
          <p:cNvSpPr>
            <a:spLocks noChangeArrowheads="1"/>
          </p:cNvSpPr>
          <p:nvPr/>
        </p:nvSpPr>
        <p:spPr bwMode="auto">
          <a:xfrm>
            <a:off x="7620379" y="239960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a:extLst>
              <a:ext uri="{FF2B5EF4-FFF2-40B4-BE49-F238E27FC236}">
                <a16:creationId xmlns:a16="http://schemas.microsoft.com/office/drawing/2014/main" id="{D6D98176-2EF5-B1FF-73BA-DB2E2DBEF0E6}"/>
              </a:ext>
            </a:extLst>
          </p:cNvPr>
          <p:cNvSpPr>
            <a:spLocks noChangeArrowheads="1"/>
          </p:cNvSpPr>
          <p:nvPr/>
        </p:nvSpPr>
        <p:spPr bwMode="auto">
          <a:xfrm>
            <a:off x="4014473" y="23887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a:extLst>
              <a:ext uri="{FF2B5EF4-FFF2-40B4-BE49-F238E27FC236}">
                <a16:creationId xmlns:a16="http://schemas.microsoft.com/office/drawing/2014/main" id="{CA927028-CA56-E077-B665-716FC929D91C}"/>
              </a:ext>
            </a:extLst>
          </p:cNvPr>
          <p:cNvSpPr>
            <a:spLocks noChangeShapeType="1"/>
          </p:cNvSpPr>
          <p:nvPr/>
        </p:nvSpPr>
        <p:spPr bwMode="auto">
          <a:xfrm>
            <a:off x="631856" y="2232697"/>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a:extLst>
              <a:ext uri="{FF2B5EF4-FFF2-40B4-BE49-F238E27FC236}">
                <a16:creationId xmlns:a16="http://schemas.microsoft.com/office/drawing/2014/main" id="{5AA68FA3-6CF1-1B52-9736-3BF37917C423}"/>
              </a:ext>
            </a:extLst>
          </p:cNvPr>
          <p:cNvSpPr>
            <a:spLocks noChangeArrowheads="1"/>
          </p:cNvSpPr>
          <p:nvPr/>
        </p:nvSpPr>
        <p:spPr bwMode="auto">
          <a:xfrm>
            <a:off x="366211" y="203479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95" name="组合 94">
            <a:extLst>
              <a:ext uri="{FF2B5EF4-FFF2-40B4-BE49-F238E27FC236}">
                <a16:creationId xmlns:a16="http://schemas.microsoft.com/office/drawing/2014/main" id="{E35FE98A-A8B6-567E-8B6B-943652AEE57C}"/>
              </a:ext>
            </a:extLst>
          </p:cNvPr>
          <p:cNvGrpSpPr/>
          <p:nvPr/>
        </p:nvGrpSpPr>
        <p:grpSpPr>
          <a:xfrm>
            <a:off x="2342689" y="2055888"/>
            <a:ext cx="533400" cy="984427"/>
            <a:chOff x="3344047" y="4287041"/>
            <a:chExt cx="533400" cy="1312569"/>
          </a:xfrm>
        </p:grpSpPr>
        <p:sp>
          <p:nvSpPr>
            <p:cNvPr id="97" name="Rectangle 5">
              <a:extLst>
                <a:ext uri="{FF2B5EF4-FFF2-40B4-BE49-F238E27FC236}">
                  <a16:creationId xmlns:a16="http://schemas.microsoft.com/office/drawing/2014/main" id="{CFB072F1-4E8D-2AD2-38A4-2BB212107147}"/>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a:extLst>
                <a:ext uri="{FF2B5EF4-FFF2-40B4-BE49-F238E27FC236}">
                  <a16:creationId xmlns:a16="http://schemas.microsoft.com/office/drawing/2014/main" id="{EDD89FEA-4C95-045A-1362-83E9B94EE773}"/>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a:extLst>
                <a:ext uri="{FF2B5EF4-FFF2-40B4-BE49-F238E27FC236}">
                  <a16:creationId xmlns:a16="http://schemas.microsoft.com/office/drawing/2014/main" id="{E3672C7A-89F6-3A73-8686-4EBB40706C9A}"/>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a:extLst>
              <a:ext uri="{FF2B5EF4-FFF2-40B4-BE49-F238E27FC236}">
                <a16:creationId xmlns:a16="http://schemas.microsoft.com/office/drawing/2014/main" id="{97733A50-AA66-2312-4ACD-92E45E9165F7}"/>
              </a:ext>
            </a:extLst>
          </p:cNvPr>
          <p:cNvGrpSpPr/>
          <p:nvPr/>
        </p:nvGrpSpPr>
        <p:grpSpPr>
          <a:xfrm>
            <a:off x="3401537" y="2055888"/>
            <a:ext cx="533400" cy="984427"/>
            <a:chOff x="3344047" y="4287041"/>
            <a:chExt cx="533400" cy="1312569"/>
          </a:xfrm>
        </p:grpSpPr>
        <p:sp>
          <p:nvSpPr>
            <p:cNvPr id="101" name="Rectangle 5">
              <a:extLst>
                <a:ext uri="{FF2B5EF4-FFF2-40B4-BE49-F238E27FC236}">
                  <a16:creationId xmlns:a16="http://schemas.microsoft.com/office/drawing/2014/main" id="{C0186AA3-03F8-CA44-7A70-7BC266315DCA}"/>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5952E02B-EBF5-CB75-16D7-FED760B2ECE5}"/>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a:extLst>
                <a:ext uri="{FF2B5EF4-FFF2-40B4-BE49-F238E27FC236}">
                  <a16:creationId xmlns:a16="http://schemas.microsoft.com/office/drawing/2014/main" id="{4F1C8B89-B87B-3951-BF04-9DE8E1A2738B}"/>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a:extLst>
              <a:ext uri="{FF2B5EF4-FFF2-40B4-BE49-F238E27FC236}">
                <a16:creationId xmlns:a16="http://schemas.microsoft.com/office/drawing/2014/main" id="{F801D10D-A7AA-6CAA-43B6-F79F5D1D4F35}"/>
              </a:ext>
            </a:extLst>
          </p:cNvPr>
          <p:cNvGrpSpPr/>
          <p:nvPr/>
        </p:nvGrpSpPr>
        <p:grpSpPr>
          <a:xfrm>
            <a:off x="4547475" y="2055888"/>
            <a:ext cx="675622" cy="984427"/>
            <a:chOff x="3344047" y="4287041"/>
            <a:chExt cx="533400" cy="1312569"/>
          </a:xfrm>
        </p:grpSpPr>
        <p:sp>
          <p:nvSpPr>
            <p:cNvPr id="105" name="Rectangle 5">
              <a:extLst>
                <a:ext uri="{FF2B5EF4-FFF2-40B4-BE49-F238E27FC236}">
                  <a16:creationId xmlns:a16="http://schemas.microsoft.com/office/drawing/2014/main" id="{E429D5F9-BA88-E00C-B168-200C89A5A29E}"/>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a:extLst>
                <a:ext uri="{FF2B5EF4-FFF2-40B4-BE49-F238E27FC236}">
                  <a16:creationId xmlns:a16="http://schemas.microsoft.com/office/drawing/2014/main" id="{797472BC-6F02-61AA-DAB6-FB10C368CF6C}"/>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a:extLst>
                <a:ext uri="{FF2B5EF4-FFF2-40B4-BE49-F238E27FC236}">
                  <a16:creationId xmlns:a16="http://schemas.microsoft.com/office/drawing/2014/main" id="{8E9A3486-A519-3D63-A04C-71041B42656A}"/>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a:extLst>
              <a:ext uri="{FF2B5EF4-FFF2-40B4-BE49-F238E27FC236}">
                <a16:creationId xmlns:a16="http://schemas.microsoft.com/office/drawing/2014/main" id="{55909D06-D632-904B-22C5-14A19F3E78B9}"/>
              </a:ext>
            </a:extLst>
          </p:cNvPr>
          <p:cNvGrpSpPr/>
          <p:nvPr/>
        </p:nvGrpSpPr>
        <p:grpSpPr>
          <a:xfrm>
            <a:off x="8095554" y="2055887"/>
            <a:ext cx="533400" cy="1076760"/>
            <a:chOff x="9096957" y="4287040"/>
            <a:chExt cx="533400" cy="1435680"/>
          </a:xfrm>
        </p:grpSpPr>
        <p:grpSp>
          <p:nvGrpSpPr>
            <p:cNvPr id="109" name="组合 108">
              <a:extLst>
                <a:ext uri="{FF2B5EF4-FFF2-40B4-BE49-F238E27FC236}">
                  <a16:creationId xmlns:a16="http://schemas.microsoft.com/office/drawing/2014/main" id="{9E913A2E-31E3-514A-1234-071A44FBCAA3}"/>
                </a:ext>
              </a:extLst>
            </p:cNvPr>
            <p:cNvGrpSpPr/>
            <p:nvPr/>
          </p:nvGrpSpPr>
          <p:grpSpPr>
            <a:xfrm>
              <a:off x="9096957" y="4287040"/>
              <a:ext cx="533400" cy="1312569"/>
              <a:chOff x="3344047" y="4287041"/>
              <a:chExt cx="533400" cy="1312569"/>
            </a:xfrm>
          </p:grpSpPr>
          <p:sp>
            <p:nvSpPr>
              <p:cNvPr id="111" name="Rectangle 5">
                <a:extLst>
                  <a:ext uri="{FF2B5EF4-FFF2-40B4-BE49-F238E27FC236}">
                    <a16:creationId xmlns:a16="http://schemas.microsoft.com/office/drawing/2014/main" id="{F4914784-0D3A-95E5-319D-C2B56916B41B}"/>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a:extLst>
                  <a:ext uri="{FF2B5EF4-FFF2-40B4-BE49-F238E27FC236}">
                    <a16:creationId xmlns:a16="http://schemas.microsoft.com/office/drawing/2014/main" id="{7ABD9903-2171-27F3-E6BB-BA3420362A43}"/>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a:extLst>
                  <a:ext uri="{FF2B5EF4-FFF2-40B4-BE49-F238E27FC236}">
                    <a16:creationId xmlns:a16="http://schemas.microsoft.com/office/drawing/2014/main" id="{BE9D03C6-540E-D96B-DEE0-84BCC54F824E}"/>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a:extLst>
                <a:ext uri="{FF2B5EF4-FFF2-40B4-BE49-F238E27FC236}">
                  <a16:creationId xmlns:a16="http://schemas.microsoft.com/office/drawing/2014/main" id="{5D20E5BF-A906-404E-4296-8C49B910D3D8}"/>
                </a:ext>
              </a:extLst>
            </p:cNvPr>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a:extLst>
              <a:ext uri="{FF2B5EF4-FFF2-40B4-BE49-F238E27FC236}">
                <a16:creationId xmlns:a16="http://schemas.microsoft.com/office/drawing/2014/main" id="{264906A6-AB35-75CB-FDE1-246CFA34DE1A}"/>
              </a:ext>
            </a:extLst>
          </p:cNvPr>
          <p:cNvGrpSpPr/>
          <p:nvPr/>
        </p:nvGrpSpPr>
        <p:grpSpPr>
          <a:xfrm>
            <a:off x="5748545" y="2055888"/>
            <a:ext cx="533400" cy="984427"/>
            <a:chOff x="3344047" y="4287041"/>
            <a:chExt cx="533400" cy="1312569"/>
          </a:xfrm>
        </p:grpSpPr>
        <p:sp>
          <p:nvSpPr>
            <p:cNvPr id="115" name="Rectangle 5">
              <a:extLst>
                <a:ext uri="{FF2B5EF4-FFF2-40B4-BE49-F238E27FC236}">
                  <a16:creationId xmlns:a16="http://schemas.microsoft.com/office/drawing/2014/main" id="{F1833CD1-6A07-1045-A3D1-7A1B91D9808E}"/>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a:extLst>
                <a:ext uri="{FF2B5EF4-FFF2-40B4-BE49-F238E27FC236}">
                  <a16:creationId xmlns:a16="http://schemas.microsoft.com/office/drawing/2014/main" id="{871FE54E-1FFA-FF5F-3B2C-65A5945623CC}"/>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
              <a:extLst>
                <a:ext uri="{FF2B5EF4-FFF2-40B4-BE49-F238E27FC236}">
                  <a16:creationId xmlns:a16="http://schemas.microsoft.com/office/drawing/2014/main" id="{856CB2D9-DCC6-F9A8-169D-5A6AC55725E0}"/>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组合 117">
            <a:extLst>
              <a:ext uri="{FF2B5EF4-FFF2-40B4-BE49-F238E27FC236}">
                <a16:creationId xmlns:a16="http://schemas.microsoft.com/office/drawing/2014/main" id="{D6441FFD-5005-5332-33A6-3BED6CAD21FB}"/>
              </a:ext>
            </a:extLst>
          </p:cNvPr>
          <p:cNvGrpSpPr/>
          <p:nvPr/>
        </p:nvGrpSpPr>
        <p:grpSpPr>
          <a:xfrm>
            <a:off x="6807393" y="2055888"/>
            <a:ext cx="675622" cy="984427"/>
            <a:chOff x="3344047" y="4287041"/>
            <a:chExt cx="533400" cy="1312569"/>
          </a:xfrm>
        </p:grpSpPr>
        <p:sp>
          <p:nvSpPr>
            <p:cNvPr id="119" name="Rectangle 5">
              <a:extLst>
                <a:ext uri="{FF2B5EF4-FFF2-40B4-BE49-F238E27FC236}">
                  <a16:creationId xmlns:a16="http://schemas.microsoft.com/office/drawing/2014/main" id="{6FF75DB0-7B91-9B0A-B6B0-FCE4F2E37B5A}"/>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a:extLst>
                <a:ext uri="{FF2B5EF4-FFF2-40B4-BE49-F238E27FC236}">
                  <a16:creationId xmlns:a16="http://schemas.microsoft.com/office/drawing/2014/main" id="{349B7849-C3CB-BBA3-BCD9-BAF72A47F23F}"/>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a:extLst>
                <a:ext uri="{FF2B5EF4-FFF2-40B4-BE49-F238E27FC236}">
                  <a16:creationId xmlns:a16="http://schemas.microsoft.com/office/drawing/2014/main" id="{300B1566-0974-7830-802C-F738B3DA3180}"/>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a:extLst>
              <a:ext uri="{FF2B5EF4-FFF2-40B4-BE49-F238E27FC236}">
                <a16:creationId xmlns:a16="http://schemas.microsoft.com/office/drawing/2014/main" id="{0BE0C723-7945-F17E-996F-3AC7C669FEBE}"/>
              </a:ext>
            </a:extLst>
          </p:cNvPr>
          <p:cNvGrpSpPr/>
          <p:nvPr/>
        </p:nvGrpSpPr>
        <p:grpSpPr>
          <a:xfrm>
            <a:off x="1283841" y="2055888"/>
            <a:ext cx="533400" cy="984427"/>
            <a:chOff x="2459424" y="4263014"/>
            <a:chExt cx="533400" cy="1312569"/>
          </a:xfrm>
        </p:grpSpPr>
        <p:grpSp>
          <p:nvGrpSpPr>
            <p:cNvPr id="123" name="组合 122">
              <a:extLst>
                <a:ext uri="{FF2B5EF4-FFF2-40B4-BE49-F238E27FC236}">
                  <a16:creationId xmlns:a16="http://schemas.microsoft.com/office/drawing/2014/main" id="{C15E9A45-C6E7-D235-2144-54701271033E}"/>
                </a:ext>
              </a:extLst>
            </p:cNvPr>
            <p:cNvGrpSpPr/>
            <p:nvPr/>
          </p:nvGrpSpPr>
          <p:grpSpPr>
            <a:xfrm>
              <a:off x="2459424" y="4263014"/>
              <a:ext cx="533400" cy="1312569"/>
              <a:chOff x="3344047" y="4287041"/>
              <a:chExt cx="533400" cy="1312569"/>
            </a:xfrm>
          </p:grpSpPr>
          <p:sp>
            <p:nvSpPr>
              <p:cNvPr id="125" name="Rectangle 5">
                <a:extLst>
                  <a:ext uri="{FF2B5EF4-FFF2-40B4-BE49-F238E27FC236}">
                    <a16:creationId xmlns:a16="http://schemas.microsoft.com/office/drawing/2014/main" id="{3FB4B76D-48F5-DE62-D3C7-4A99FCB80E91}"/>
                  </a:ext>
                </a:extLst>
              </p:cNvPr>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a:extLst>
                  <a:ext uri="{FF2B5EF4-FFF2-40B4-BE49-F238E27FC236}">
                    <a16:creationId xmlns:a16="http://schemas.microsoft.com/office/drawing/2014/main" id="{3AF48403-942C-E444-36E7-00BE59B869B8}"/>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a:extLst>
                  <a:ext uri="{FF2B5EF4-FFF2-40B4-BE49-F238E27FC236}">
                    <a16:creationId xmlns:a16="http://schemas.microsoft.com/office/drawing/2014/main" id="{4B9048D7-46FE-4FEB-D16F-3CD7231773F4}"/>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a:extLst>
                <a:ext uri="{FF2B5EF4-FFF2-40B4-BE49-F238E27FC236}">
                  <a16:creationId xmlns:a16="http://schemas.microsoft.com/office/drawing/2014/main" id="{1FDA914F-3DE8-8B53-3D3E-4E87B667E3F5}"/>
                </a:ext>
              </a:extLst>
            </p:cNvPr>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a:extLst>
              <a:ext uri="{FF2B5EF4-FFF2-40B4-BE49-F238E27FC236}">
                <a16:creationId xmlns:a16="http://schemas.microsoft.com/office/drawing/2014/main" id="{EF0FB439-B1E5-573D-1F33-D68C8AEF3622}"/>
              </a:ext>
            </a:extLst>
          </p:cNvPr>
          <p:cNvSpPr>
            <a:spLocks noChangeShapeType="1"/>
          </p:cNvSpPr>
          <p:nvPr/>
        </p:nvSpPr>
        <p:spPr bwMode="auto">
          <a:xfrm flipH="1">
            <a:off x="182778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a:extLst>
              <a:ext uri="{FF2B5EF4-FFF2-40B4-BE49-F238E27FC236}">
                <a16:creationId xmlns:a16="http://schemas.microsoft.com/office/drawing/2014/main" id="{F8D43DC5-992E-2734-1C3A-40B5DEC4E92C}"/>
              </a:ext>
            </a:extLst>
          </p:cNvPr>
          <p:cNvSpPr>
            <a:spLocks noChangeShapeType="1"/>
          </p:cNvSpPr>
          <p:nvPr/>
        </p:nvSpPr>
        <p:spPr bwMode="auto">
          <a:xfrm>
            <a:off x="1703118"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a:extLst>
              <a:ext uri="{FF2B5EF4-FFF2-40B4-BE49-F238E27FC236}">
                <a16:creationId xmlns:a16="http://schemas.microsoft.com/office/drawing/2014/main" id="{6A50840D-72BC-6C2C-374C-7B54D49BC494}"/>
              </a:ext>
            </a:extLst>
          </p:cNvPr>
          <p:cNvSpPr>
            <a:spLocks noChangeShapeType="1"/>
          </p:cNvSpPr>
          <p:nvPr/>
        </p:nvSpPr>
        <p:spPr bwMode="auto">
          <a:xfrm>
            <a:off x="2761967"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a:extLst>
              <a:ext uri="{FF2B5EF4-FFF2-40B4-BE49-F238E27FC236}">
                <a16:creationId xmlns:a16="http://schemas.microsoft.com/office/drawing/2014/main" id="{262BA4E2-7DAA-3E48-8E05-9DB134278B10}"/>
              </a:ext>
            </a:extLst>
          </p:cNvPr>
          <p:cNvSpPr>
            <a:spLocks noChangeShapeType="1"/>
          </p:cNvSpPr>
          <p:nvPr/>
        </p:nvSpPr>
        <p:spPr bwMode="auto">
          <a:xfrm>
            <a:off x="3884001"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 name="Line 29">
            <a:extLst>
              <a:ext uri="{FF2B5EF4-FFF2-40B4-BE49-F238E27FC236}">
                <a16:creationId xmlns:a16="http://schemas.microsoft.com/office/drawing/2014/main" id="{2986F529-184A-1DED-2B30-147AED31A944}"/>
              </a:ext>
            </a:extLst>
          </p:cNvPr>
          <p:cNvSpPr>
            <a:spLocks noChangeShapeType="1"/>
          </p:cNvSpPr>
          <p:nvPr/>
        </p:nvSpPr>
        <p:spPr bwMode="auto">
          <a:xfrm>
            <a:off x="5108975"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a:extLst>
              <a:ext uri="{FF2B5EF4-FFF2-40B4-BE49-F238E27FC236}">
                <a16:creationId xmlns:a16="http://schemas.microsoft.com/office/drawing/2014/main" id="{72D322A3-3CEB-8DE5-E6F4-BCE0819EB35F}"/>
              </a:ext>
            </a:extLst>
          </p:cNvPr>
          <p:cNvSpPr>
            <a:spLocks noChangeShapeType="1"/>
          </p:cNvSpPr>
          <p:nvPr/>
        </p:nvSpPr>
        <p:spPr bwMode="auto">
          <a:xfrm>
            <a:off x="6167823"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a:extLst>
              <a:ext uri="{FF2B5EF4-FFF2-40B4-BE49-F238E27FC236}">
                <a16:creationId xmlns:a16="http://schemas.microsoft.com/office/drawing/2014/main" id="{702D9211-B2C0-6591-FA0A-1CF3023B4F58}"/>
              </a:ext>
            </a:extLst>
          </p:cNvPr>
          <p:cNvSpPr>
            <a:spLocks noChangeShapeType="1"/>
          </p:cNvSpPr>
          <p:nvPr/>
        </p:nvSpPr>
        <p:spPr bwMode="auto">
          <a:xfrm>
            <a:off x="7336602" y="2901815"/>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a:extLst>
              <a:ext uri="{FF2B5EF4-FFF2-40B4-BE49-F238E27FC236}">
                <a16:creationId xmlns:a16="http://schemas.microsoft.com/office/drawing/2014/main" id="{5E120E9E-F1E5-5633-6C77-C78248287AB9}"/>
              </a:ext>
            </a:extLst>
          </p:cNvPr>
          <p:cNvSpPr>
            <a:spLocks noChangeShapeType="1"/>
          </p:cNvSpPr>
          <p:nvPr/>
        </p:nvSpPr>
        <p:spPr bwMode="auto">
          <a:xfrm flipH="1">
            <a:off x="7892423" y="2226447"/>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29">
            <a:extLst>
              <a:ext uri="{FF2B5EF4-FFF2-40B4-BE49-F238E27FC236}">
                <a16:creationId xmlns:a16="http://schemas.microsoft.com/office/drawing/2014/main" id="{851B926E-97F5-2A39-A7B7-A09C65FD95B5}"/>
              </a:ext>
            </a:extLst>
          </p:cNvPr>
          <p:cNvSpPr>
            <a:spLocks noChangeShapeType="1"/>
          </p:cNvSpPr>
          <p:nvPr/>
        </p:nvSpPr>
        <p:spPr bwMode="auto">
          <a:xfrm flipH="1">
            <a:off x="628194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7" name="Line 29">
            <a:extLst>
              <a:ext uri="{FF2B5EF4-FFF2-40B4-BE49-F238E27FC236}">
                <a16:creationId xmlns:a16="http://schemas.microsoft.com/office/drawing/2014/main" id="{DD195790-77C3-1171-781D-F96065C6DBD5}"/>
              </a:ext>
            </a:extLst>
          </p:cNvPr>
          <p:cNvSpPr>
            <a:spLocks noChangeShapeType="1"/>
          </p:cNvSpPr>
          <p:nvPr/>
        </p:nvSpPr>
        <p:spPr bwMode="auto">
          <a:xfrm flipH="1">
            <a:off x="5223098"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a:extLst>
              <a:ext uri="{FF2B5EF4-FFF2-40B4-BE49-F238E27FC236}">
                <a16:creationId xmlns:a16="http://schemas.microsoft.com/office/drawing/2014/main" id="{5694E924-D09A-68BC-6B47-552E778C4906}"/>
              </a:ext>
            </a:extLst>
          </p:cNvPr>
          <p:cNvSpPr>
            <a:spLocks noChangeShapeType="1"/>
          </p:cNvSpPr>
          <p:nvPr/>
        </p:nvSpPr>
        <p:spPr bwMode="auto">
          <a:xfrm flipH="1">
            <a:off x="4344742" y="2226447"/>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a:extLst>
              <a:ext uri="{FF2B5EF4-FFF2-40B4-BE49-F238E27FC236}">
                <a16:creationId xmlns:a16="http://schemas.microsoft.com/office/drawing/2014/main" id="{3B9D23EC-99F4-5EEB-684F-75EBF65FBFB8}"/>
              </a:ext>
            </a:extLst>
          </p:cNvPr>
          <p:cNvSpPr>
            <a:spLocks noChangeShapeType="1"/>
          </p:cNvSpPr>
          <p:nvPr/>
        </p:nvSpPr>
        <p:spPr bwMode="auto">
          <a:xfrm flipH="1">
            <a:off x="2876090"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a:extLst>
              <a:ext uri="{FF2B5EF4-FFF2-40B4-BE49-F238E27FC236}">
                <a16:creationId xmlns:a16="http://schemas.microsoft.com/office/drawing/2014/main" id="{894AC286-DCA5-DA3B-FC1C-3FFF1CAEA75D}"/>
              </a:ext>
            </a:extLst>
          </p:cNvPr>
          <p:cNvSpPr>
            <a:spLocks noChangeShapeType="1"/>
          </p:cNvSpPr>
          <p:nvPr/>
        </p:nvSpPr>
        <p:spPr bwMode="auto">
          <a:xfrm>
            <a:off x="4344742"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a:extLst>
              <a:ext uri="{FF2B5EF4-FFF2-40B4-BE49-F238E27FC236}">
                <a16:creationId xmlns:a16="http://schemas.microsoft.com/office/drawing/2014/main" id="{FB987E13-4CB3-A9CF-B874-09C350523789}"/>
              </a:ext>
            </a:extLst>
          </p:cNvPr>
          <p:cNvSpPr>
            <a:spLocks noChangeShapeType="1"/>
          </p:cNvSpPr>
          <p:nvPr/>
        </p:nvSpPr>
        <p:spPr bwMode="auto">
          <a:xfrm>
            <a:off x="7892424"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a:extLst>
              <a:ext uri="{FF2B5EF4-FFF2-40B4-BE49-F238E27FC236}">
                <a16:creationId xmlns:a16="http://schemas.microsoft.com/office/drawing/2014/main" id="{5276B532-5DD4-916C-AECE-FAE4D30C9459}"/>
              </a:ext>
            </a:extLst>
          </p:cNvPr>
          <p:cNvSpPr>
            <a:spLocks noChangeShapeType="1"/>
          </p:cNvSpPr>
          <p:nvPr/>
        </p:nvSpPr>
        <p:spPr bwMode="auto">
          <a:xfrm flipH="1">
            <a:off x="7483015" y="2226447"/>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a:extLst>
              <a:ext uri="{FF2B5EF4-FFF2-40B4-BE49-F238E27FC236}">
                <a16:creationId xmlns:a16="http://schemas.microsoft.com/office/drawing/2014/main" id="{7903DDE1-EE15-58EB-AC55-5CD3AE3C744C}"/>
              </a:ext>
            </a:extLst>
          </p:cNvPr>
          <p:cNvSpPr>
            <a:spLocks noChangeShapeType="1"/>
          </p:cNvSpPr>
          <p:nvPr/>
        </p:nvSpPr>
        <p:spPr bwMode="auto">
          <a:xfrm flipH="1">
            <a:off x="3948323" y="2226447"/>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8" name="直接连接符 67">
            <a:extLst>
              <a:ext uri="{FF2B5EF4-FFF2-40B4-BE49-F238E27FC236}">
                <a16:creationId xmlns:a16="http://schemas.microsoft.com/office/drawing/2014/main" id="{F6EC9FDE-04E1-EF18-A704-68ABC39EF203}"/>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445B0809-2044-D4CF-09C7-2C4F2CB6DC8C}"/>
              </a:ext>
            </a:extLst>
          </p:cNvPr>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42C02DD2-EDDF-93E4-2559-79CE58B3A4D2}"/>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2" name="矩形 1">
            <a:extLst>
              <a:ext uri="{FF2B5EF4-FFF2-40B4-BE49-F238E27FC236}">
                <a16:creationId xmlns:a16="http://schemas.microsoft.com/office/drawing/2014/main" id="{BD239724-1780-2A60-9E08-6172F031AC7D}"/>
              </a:ext>
            </a:extLst>
          </p:cNvPr>
          <p:cNvSpPr/>
          <p:nvPr/>
        </p:nvSpPr>
        <p:spPr>
          <a:xfrm>
            <a:off x="493821" y="1446757"/>
            <a:ext cx="3142075" cy="369332"/>
          </a:xfrm>
          <a:prstGeom prst="rect">
            <a:avLst/>
          </a:prstGeom>
        </p:spPr>
        <p:txBody>
          <a:bodyPr wrap="square">
            <a:spAutoFit/>
          </a:bodyPr>
          <a:lstStyle/>
          <a:p>
            <a:r>
              <a:rPr lang="en-US" altLang="zh-CN" dirty="0">
                <a:latin typeface="微软雅黑" pitchFamily="34" charset="-122"/>
                <a:ea typeface="微软雅黑" pitchFamily="34" charset="-122"/>
                <a:cs typeface="经典粗黑简" pitchFamily="49" charset="-122"/>
              </a:rPr>
              <a:t>2.3.3.2 </a:t>
            </a:r>
            <a:r>
              <a:rPr lang="zh-CN" altLang="en-US" dirty="0">
                <a:latin typeface="微软雅黑" pitchFamily="34" charset="-122"/>
                <a:ea typeface="微软雅黑" pitchFamily="34" charset="-122"/>
                <a:cs typeface="经典粗黑简" pitchFamily="49" charset="-122"/>
              </a:rPr>
              <a:t>删除结点操作</a:t>
            </a:r>
          </a:p>
        </p:txBody>
      </p:sp>
      <p:sp>
        <p:nvSpPr>
          <p:cNvPr id="9" name="矩形 8">
            <a:extLst>
              <a:ext uri="{FF2B5EF4-FFF2-40B4-BE49-F238E27FC236}">
                <a16:creationId xmlns:a16="http://schemas.microsoft.com/office/drawing/2014/main" id="{493F6BF0-4FB9-0245-6659-2145D9031F19}"/>
              </a:ext>
            </a:extLst>
          </p:cNvPr>
          <p:cNvSpPr/>
          <p:nvPr/>
        </p:nvSpPr>
        <p:spPr>
          <a:xfrm>
            <a:off x="-17178" y="3027210"/>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13" name="矩形 12">
            <a:extLst>
              <a:ext uri="{FF2B5EF4-FFF2-40B4-BE49-F238E27FC236}">
                <a16:creationId xmlns:a16="http://schemas.microsoft.com/office/drawing/2014/main" id="{D1556B21-0504-85E4-ABF8-1DC31860A72C}"/>
              </a:ext>
            </a:extLst>
          </p:cNvPr>
          <p:cNvSpPr/>
          <p:nvPr/>
        </p:nvSpPr>
        <p:spPr>
          <a:xfrm>
            <a:off x="412635" y="3312174"/>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14" name="矩形 13">
            <a:extLst>
              <a:ext uri="{FF2B5EF4-FFF2-40B4-BE49-F238E27FC236}">
                <a16:creationId xmlns:a16="http://schemas.microsoft.com/office/drawing/2014/main" id="{F1A01AAC-9A1B-DB99-ADB3-6E87A6203ABE}"/>
              </a:ext>
            </a:extLst>
          </p:cNvPr>
          <p:cNvSpPr/>
          <p:nvPr/>
        </p:nvSpPr>
        <p:spPr>
          <a:xfrm>
            <a:off x="5802407" y="3346350"/>
            <a:ext cx="2924029" cy="1338828"/>
          </a:xfrm>
          <a:prstGeom prst="rect">
            <a:avLst/>
          </a:prstGeom>
        </p:spPr>
        <p:txBody>
          <a:bodyPr wrap="square">
            <a:spAutoFit/>
          </a:bodyPr>
          <a:lstStyle/>
          <a:p>
            <a:pPr marL="1143000" lvl="2" indent="-228600">
              <a:spcBef>
                <a:spcPct val="15000"/>
              </a:spcBef>
              <a:buClr>
                <a:schemeClr val="tx1"/>
              </a:buClr>
              <a:buSzPct val="65000"/>
            </a:pPr>
            <a:r>
              <a:rPr lang="en-US" altLang="zh-CN" sz="1200" dirty="0">
                <a:latin typeface="Times New Roman" pitchFamily="18" charset="0"/>
                <a:ea typeface="宋体" pitchFamily="2" charset="-122"/>
              </a:rPr>
              <a:t>p =L;   j = 0;    </a:t>
            </a:r>
          </a:p>
          <a:p>
            <a:pPr marL="1143000" lvl="2" indent="-228600">
              <a:spcBef>
                <a:spcPct val="15000"/>
              </a:spcBef>
              <a:buClr>
                <a:schemeClr val="tx1"/>
              </a:buClr>
              <a:buSzPct val="65000"/>
            </a:pPr>
            <a:r>
              <a:rPr lang="en-US" altLang="zh-CN" sz="1200" dirty="0">
                <a:latin typeface="Times New Roman" pitchFamily="18" charset="0"/>
                <a:ea typeface="宋体" pitchFamily="2" charset="-122"/>
              </a:rPr>
              <a:t>while (p!=NULL &amp;&amp; j &lt; </a:t>
            </a:r>
            <a:r>
              <a:rPr lang="en-US" altLang="zh-CN" sz="1200" dirty="0">
                <a:solidFill>
                  <a:srgbClr val="FF0000"/>
                </a:solidFill>
                <a:latin typeface="Times New Roman" pitchFamily="18" charset="0"/>
                <a:ea typeface="宋体" pitchFamily="2" charset="-122"/>
              </a:rPr>
              <a:t>i-1</a:t>
            </a:r>
            <a:r>
              <a:rPr lang="en-US" altLang="zh-CN" sz="1200" dirty="0">
                <a:latin typeface="Times New Roman" pitchFamily="18" charset="0"/>
                <a:ea typeface="宋体" pitchFamily="2" charset="-122"/>
              </a:rPr>
              <a:t>) </a:t>
            </a:r>
          </a:p>
          <a:p>
            <a:pPr marL="1143000" lvl="2" indent="-228600">
              <a:spcBef>
                <a:spcPct val="15000"/>
              </a:spcBef>
              <a:buClr>
                <a:schemeClr val="tx1"/>
              </a:buClr>
              <a:buSzPct val="65000"/>
            </a:pPr>
            <a:r>
              <a:rPr lang="en-US" altLang="zh-CN" sz="1200" dirty="0">
                <a:latin typeface="Times New Roman" pitchFamily="18" charset="0"/>
                <a:ea typeface="宋体" pitchFamily="2" charset="-122"/>
              </a:rPr>
              <a:t>{      </a:t>
            </a:r>
          </a:p>
          <a:p>
            <a:pPr marL="1143000" lvl="2" indent="-228600">
              <a:spcBef>
                <a:spcPct val="15000"/>
              </a:spcBef>
              <a:buClr>
                <a:schemeClr val="tx1"/>
              </a:buClr>
              <a:buSzPct val="65000"/>
            </a:pPr>
            <a:r>
              <a:rPr lang="zh-CN" altLang="en-US" sz="1200" dirty="0">
                <a:latin typeface="Times New Roman" pitchFamily="18" charset="0"/>
                <a:ea typeface="宋体" pitchFamily="2" charset="-122"/>
              </a:rPr>
              <a:t>             </a:t>
            </a:r>
            <a:r>
              <a:rPr lang="en-US" altLang="zh-CN" sz="1200" dirty="0">
                <a:latin typeface="Times New Roman" pitchFamily="18" charset="0"/>
                <a:ea typeface="宋体" pitchFamily="2" charset="-122"/>
              </a:rPr>
              <a:t>p = p-&gt;next;</a:t>
            </a:r>
          </a:p>
          <a:p>
            <a:pPr marL="1143000" lvl="2" indent="-228600">
              <a:spcBef>
                <a:spcPct val="15000"/>
              </a:spcBef>
              <a:buClr>
                <a:schemeClr val="tx1"/>
              </a:buClr>
              <a:buSzPct val="65000"/>
            </a:pPr>
            <a:r>
              <a:rPr lang="en-US" altLang="zh-CN" sz="1200" dirty="0">
                <a:latin typeface="Times New Roman" pitchFamily="18" charset="0"/>
                <a:ea typeface="宋体" pitchFamily="2" charset="-122"/>
              </a:rPr>
              <a:t>             </a:t>
            </a:r>
            <a:r>
              <a:rPr lang="en-US" altLang="zh-CN" sz="1200" dirty="0" err="1">
                <a:latin typeface="Times New Roman" pitchFamily="18" charset="0"/>
                <a:ea typeface="宋体" pitchFamily="2" charset="-122"/>
              </a:rPr>
              <a:t>j++</a:t>
            </a:r>
            <a:r>
              <a:rPr lang="en-US" altLang="zh-CN" sz="1200" dirty="0">
                <a:latin typeface="Times New Roman" pitchFamily="18" charset="0"/>
                <a:ea typeface="宋体" pitchFamily="2" charset="-122"/>
              </a:rPr>
              <a:t>;</a:t>
            </a:r>
          </a:p>
          <a:p>
            <a:pPr marL="1143000" lvl="2" indent="-228600">
              <a:spcBef>
                <a:spcPct val="15000"/>
              </a:spcBef>
              <a:buClr>
                <a:schemeClr val="tx1"/>
              </a:buClr>
              <a:buSzPct val="65000"/>
            </a:pPr>
            <a:r>
              <a:rPr lang="en-US" altLang="zh-CN" sz="1200" dirty="0">
                <a:latin typeface="Times New Roman" pitchFamily="18" charset="0"/>
                <a:ea typeface="宋体" pitchFamily="2" charset="-122"/>
              </a:rPr>
              <a:t>}	</a:t>
            </a:r>
            <a:endParaRPr lang="zh-CN" altLang="en-US" sz="1200" dirty="0">
              <a:latin typeface="Times New Roman" pitchFamily="18" charset="0"/>
              <a:ea typeface="宋体" pitchFamily="2" charset="-122"/>
            </a:endParaRPr>
          </a:p>
        </p:txBody>
      </p:sp>
      <p:sp>
        <p:nvSpPr>
          <p:cNvPr id="16" name="矩形 15">
            <a:extLst>
              <a:ext uri="{FF2B5EF4-FFF2-40B4-BE49-F238E27FC236}">
                <a16:creationId xmlns:a16="http://schemas.microsoft.com/office/drawing/2014/main" id="{A3A0B34B-04E0-A776-D8E2-99DB28A6BF86}"/>
              </a:ext>
            </a:extLst>
          </p:cNvPr>
          <p:cNvSpPr/>
          <p:nvPr/>
        </p:nvSpPr>
        <p:spPr>
          <a:xfrm>
            <a:off x="6872500" y="4615096"/>
            <a:ext cx="1210588" cy="400110"/>
          </a:xfrm>
          <a:prstGeom prst="rect">
            <a:avLst/>
          </a:prstGeom>
        </p:spPr>
        <p:txBody>
          <a:bodyPr wrap="none">
            <a:spAutoFit/>
          </a:bodyPr>
          <a:lstStyle/>
          <a:p>
            <a:pPr marL="0" lvl="1"/>
            <a:r>
              <a:rPr lang="zh-CN" altLang="en-US" sz="2000" dirty="0">
                <a:latin typeface="微软雅黑" pitchFamily="34" charset="-122"/>
                <a:ea typeface="微软雅黑" pitchFamily="34" charset="-122"/>
                <a:cs typeface="经典粗黑简" pitchFamily="49" charset="-122"/>
              </a:rPr>
              <a:t>顺</a:t>
            </a:r>
            <a:r>
              <a:rPr lang="zh-CN" altLang="en-US" sz="2000" dirty="0">
                <a:solidFill>
                  <a:srgbClr val="FF0000"/>
                </a:solidFill>
                <a:latin typeface="微软雅黑" pitchFamily="34" charset="-122"/>
                <a:ea typeface="微软雅黑" pitchFamily="34" charset="-122"/>
                <a:cs typeface="经典粗黑简" pitchFamily="49" charset="-122"/>
              </a:rPr>
              <a:t>藤</a:t>
            </a:r>
            <a:r>
              <a:rPr lang="zh-CN" altLang="en-US" sz="2000" dirty="0">
                <a:latin typeface="微软雅黑" pitchFamily="34" charset="-122"/>
                <a:ea typeface="微软雅黑" pitchFamily="34" charset="-122"/>
                <a:cs typeface="经典粗黑简" pitchFamily="49" charset="-122"/>
              </a:rPr>
              <a:t>摸</a:t>
            </a:r>
            <a:r>
              <a:rPr lang="zh-CN" altLang="en-US" sz="2000" dirty="0">
                <a:solidFill>
                  <a:srgbClr val="FF0000"/>
                </a:solidFill>
                <a:latin typeface="微软雅黑" pitchFamily="34" charset="-122"/>
                <a:ea typeface="微软雅黑" pitchFamily="34" charset="-122"/>
                <a:cs typeface="经典粗黑简" pitchFamily="49" charset="-122"/>
              </a:rPr>
              <a:t>瓜</a:t>
            </a:r>
          </a:p>
        </p:txBody>
      </p:sp>
      <p:sp>
        <p:nvSpPr>
          <p:cNvPr id="17" name="Rectangle 57">
            <a:extLst>
              <a:ext uri="{FF2B5EF4-FFF2-40B4-BE49-F238E27FC236}">
                <a16:creationId xmlns:a16="http://schemas.microsoft.com/office/drawing/2014/main" id="{B770EA79-F794-0930-35F0-CA101E061FD4}"/>
              </a:ext>
            </a:extLst>
          </p:cNvPr>
          <p:cNvSpPr>
            <a:spLocks noChangeArrowheads="1"/>
          </p:cNvSpPr>
          <p:nvPr/>
        </p:nvSpPr>
        <p:spPr bwMode="auto">
          <a:xfrm>
            <a:off x="4229218" y="3018838"/>
            <a:ext cx="1013740"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j=i-1</a:t>
            </a:r>
            <a:endParaRPr kumimoji="0" lang="zh-CN" altLang="en-US" sz="2400" dirty="0">
              <a:ea typeface="Li Super" charset="-122"/>
            </a:endParaRPr>
          </a:p>
        </p:txBody>
      </p:sp>
      <p:sp>
        <p:nvSpPr>
          <p:cNvPr id="4" name="Rectangle 228">
            <a:extLst>
              <a:ext uri="{FF2B5EF4-FFF2-40B4-BE49-F238E27FC236}">
                <a16:creationId xmlns:a16="http://schemas.microsoft.com/office/drawing/2014/main" id="{177A6730-0FB6-5B2D-6F31-9695F131E4C2}"/>
              </a:ext>
            </a:extLst>
          </p:cNvPr>
          <p:cNvSpPr>
            <a:spLocks noChangeArrowheads="1"/>
          </p:cNvSpPr>
          <p:nvPr/>
        </p:nvSpPr>
        <p:spPr bwMode="auto">
          <a:xfrm>
            <a:off x="4195312" y="143792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p</a:t>
            </a:r>
          </a:p>
        </p:txBody>
      </p:sp>
      <p:sp>
        <p:nvSpPr>
          <p:cNvPr id="5" name="Line 29">
            <a:extLst>
              <a:ext uri="{FF2B5EF4-FFF2-40B4-BE49-F238E27FC236}">
                <a16:creationId xmlns:a16="http://schemas.microsoft.com/office/drawing/2014/main" id="{25DB43A2-5F1F-EFF1-7499-E8F63C0A7975}"/>
              </a:ext>
            </a:extLst>
          </p:cNvPr>
          <p:cNvSpPr>
            <a:spLocks noChangeShapeType="1"/>
          </p:cNvSpPr>
          <p:nvPr/>
        </p:nvSpPr>
        <p:spPr bwMode="auto">
          <a:xfrm>
            <a:off x="4417033" y="1778661"/>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Rectangle 55">
            <a:extLst>
              <a:ext uri="{FF2B5EF4-FFF2-40B4-BE49-F238E27FC236}">
                <a16:creationId xmlns:a16="http://schemas.microsoft.com/office/drawing/2014/main" id="{C666A734-33DF-06C9-BEF9-03E6C5638538}"/>
              </a:ext>
            </a:extLst>
          </p:cNvPr>
          <p:cNvSpPr>
            <a:spLocks noChangeArrowheads="1"/>
          </p:cNvSpPr>
          <p:nvPr/>
        </p:nvSpPr>
        <p:spPr bwMode="auto">
          <a:xfrm>
            <a:off x="4417033" y="1430622"/>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Tree>
    <p:extLst>
      <p:ext uri="{BB962C8B-B14F-4D97-AF65-F5344CB8AC3E}">
        <p14:creationId xmlns:p14="http://schemas.microsoft.com/office/powerpoint/2010/main" val="1481433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4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4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9" grpId="0"/>
      <p:bldP spid="50" grpId="0" animBg="1"/>
      <p:bldP spid="59" grpId="0"/>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9" grpId="0"/>
      <p:bldP spid="13" grpId="0"/>
      <p:bldP spid="14" grpId="0"/>
      <p:bldP spid="16" grpId="0"/>
      <p:bldP spid="17" grpId="0"/>
      <p:bldP spid="4" grpId="0"/>
      <p:bldP spid="5"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616C8-BAD7-360B-6967-BC98049F4424}"/>
            </a:ext>
          </a:extLst>
        </p:cNvPr>
        <p:cNvGrpSpPr/>
        <p:nvPr/>
      </p:nvGrpSpPr>
      <p:grpSpPr>
        <a:xfrm>
          <a:off x="0" y="0"/>
          <a:ext cx="0" cy="0"/>
          <a:chOff x="0" y="0"/>
          <a:chExt cx="0" cy="0"/>
        </a:xfrm>
      </p:grpSpPr>
      <p:sp>
        <p:nvSpPr>
          <p:cNvPr id="47" name="Rectangle 25">
            <a:extLst>
              <a:ext uri="{FF2B5EF4-FFF2-40B4-BE49-F238E27FC236}">
                <a16:creationId xmlns:a16="http://schemas.microsoft.com/office/drawing/2014/main" id="{3ECD84D9-03CB-047F-413E-E3060FF20919}"/>
              </a:ext>
            </a:extLst>
          </p:cNvPr>
          <p:cNvSpPr>
            <a:spLocks noChangeArrowheads="1"/>
          </p:cNvSpPr>
          <p:nvPr/>
        </p:nvSpPr>
        <p:spPr bwMode="auto">
          <a:xfrm>
            <a:off x="7620379" y="239960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a:extLst>
              <a:ext uri="{FF2B5EF4-FFF2-40B4-BE49-F238E27FC236}">
                <a16:creationId xmlns:a16="http://schemas.microsoft.com/office/drawing/2014/main" id="{AA222FBC-241B-EA60-E93D-D9EF89927919}"/>
              </a:ext>
            </a:extLst>
          </p:cNvPr>
          <p:cNvSpPr>
            <a:spLocks noChangeArrowheads="1"/>
          </p:cNvSpPr>
          <p:nvPr/>
        </p:nvSpPr>
        <p:spPr bwMode="auto">
          <a:xfrm>
            <a:off x="4014473" y="23887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a:extLst>
              <a:ext uri="{FF2B5EF4-FFF2-40B4-BE49-F238E27FC236}">
                <a16:creationId xmlns:a16="http://schemas.microsoft.com/office/drawing/2014/main" id="{98B72076-6D74-169E-5303-884AA9364A6A}"/>
              </a:ext>
            </a:extLst>
          </p:cNvPr>
          <p:cNvSpPr>
            <a:spLocks noChangeShapeType="1"/>
          </p:cNvSpPr>
          <p:nvPr/>
        </p:nvSpPr>
        <p:spPr bwMode="auto">
          <a:xfrm>
            <a:off x="631856" y="2232697"/>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a:extLst>
              <a:ext uri="{FF2B5EF4-FFF2-40B4-BE49-F238E27FC236}">
                <a16:creationId xmlns:a16="http://schemas.microsoft.com/office/drawing/2014/main" id="{665B9CF3-BD8A-4FEB-8511-77ACCED38B62}"/>
              </a:ext>
            </a:extLst>
          </p:cNvPr>
          <p:cNvSpPr>
            <a:spLocks noChangeArrowheads="1"/>
          </p:cNvSpPr>
          <p:nvPr/>
        </p:nvSpPr>
        <p:spPr bwMode="auto">
          <a:xfrm>
            <a:off x="366211" y="203479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95" name="组合 94">
            <a:extLst>
              <a:ext uri="{FF2B5EF4-FFF2-40B4-BE49-F238E27FC236}">
                <a16:creationId xmlns:a16="http://schemas.microsoft.com/office/drawing/2014/main" id="{ABEC099A-4A8A-B855-C00C-F4A34763502E}"/>
              </a:ext>
            </a:extLst>
          </p:cNvPr>
          <p:cNvGrpSpPr/>
          <p:nvPr/>
        </p:nvGrpSpPr>
        <p:grpSpPr>
          <a:xfrm>
            <a:off x="2342689" y="2055888"/>
            <a:ext cx="533400" cy="984427"/>
            <a:chOff x="3344047" y="4287041"/>
            <a:chExt cx="533400" cy="1312569"/>
          </a:xfrm>
        </p:grpSpPr>
        <p:sp>
          <p:nvSpPr>
            <p:cNvPr id="97" name="Rectangle 5">
              <a:extLst>
                <a:ext uri="{FF2B5EF4-FFF2-40B4-BE49-F238E27FC236}">
                  <a16:creationId xmlns:a16="http://schemas.microsoft.com/office/drawing/2014/main" id="{3F02B748-B808-96B0-0AE3-754B297A8187}"/>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a:extLst>
                <a:ext uri="{FF2B5EF4-FFF2-40B4-BE49-F238E27FC236}">
                  <a16:creationId xmlns:a16="http://schemas.microsoft.com/office/drawing/2014/main" id="{7D6207D8-2C2D-B0E2-C947-38D7647DE0D3}"/>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a:extLst>
                <a:ext uri="{FF2B5EF4-FFF2-40B4-BE49-F238E27FC236}">
                  <a16:creationId xmlns:a16="http://schemas.microsoft.com/office/drawing/2014/main" id="{D21816FB-8B79-DFE2-23C2-FB8FD9BECA76}"/>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a:extLst>
              <a:ext uri="{FF2B5EF4-FFF2-40B4-BE49-F238E27FC236}">
                <a16:creationId xmlns:a16="http://schemas.microsoft.com/office/drawing/2014/main" id="{C71B5BCE-B839-277D-973C-13D385FDD37B}"/>
              </a:ext>
            </a:extLst>
          </p:cNvPr>
          <p:cNvGrpSpPr/>
          <p:nvPr/>
        </p:nvGrpSpPr>
        <p:grpSpPr>
          <a:xfrm>
            <a:off x="3401537" y="2055888"/>
            <a:ext cx="533400" cy="984427"/>
            <a:chOff x="3344047" y="4287041"/>
            <a:chExt cx="533400" cy="1312569"/>
          </a:xfrm>
        </p:grpSpPr>
        <p:sp>
          <p:nvSpPr>
            <p:cNvPr id="101" name="Rectangle 5">
              <a:extLst>
                <a:ext uri="{FF2B5EF4-FFF2-40B4-BE49-F238E27FC236}">
                  <a16:creationId xmlns:a16="http://schemas.microsoft.com/office/drawing/2014/main" id="{E36C7103-F175-9AAE-A5FE-0845616AE528}"/>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1EBA3E02-B8ED-4131-83BC-A386D97B23EA}"/>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a:extLst>
                <a:ext uri="{FF2B5EF4-FFF2-40B4-BE49-F238E27FC236}">
                  <a16:creationId xmlns:a16="http://schemas.microsoft.com/office/drawing/2014/main" id="{61939832-6F31-6EDA-0392-E5716C975A05}"/>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a:extLst>
              <a:ext uri="{FF2B5EF4-FFF2-40B4-BE49-F238E27FC236}">
                <a16:creationId xmlns:a16="http://schemas.microsoft.com/office/drawing/2014/main" id="{4BBF1C69-749E-9149-6FDE-3F49FC93722D}"/>
              </a:ext>
            </a:extLst>
          </p:cNvPr>
          <p:cNvGrpSpPr/>
          <p:nvPr/>
        </p:nvGrpSpPr>
        <p:grpSpPr>
          <a:xfrm>
            <a:off x="4547475" y="2055888"/>
            <a:ext cx="675622" cy="984427"/>
            <a:chOff x="3344047" y="4287041"/>
            <a:chExt cx="533400" cy="1312569"/>
          </a:xfrm>
        </p:grpSpPr>
        <p:sp>
          <p:nvSpPr>
            <p:cNvPr id="105" name="Rectangle 5">
              <a:extLst>
                <a:ext uri="{FF2B5EF4-FFF2-40B4-BE49-F238E27FC236}">
                  <a16:creationId xmlns:a16="http://schemas.microsoft.com/office/drawing/2014/main" id="{52849CC6-70CC-614B-4BDB-F54BE86C15CA}"/>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a:extLst>
                <a:ext uri="{FF2B5EF4-FFF2-40B4-BE49-F238E27FC236}">
                  <a16:creationId xmlns:a16="http://schemas.microsoft.com/office/drawing/2014/main" id="{65CDFB0E-4E2B-5294-0491-5ECAFCE013AD}"/>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a:extLst>
                <a:ext uri="{FF2B5EF4-FFF2-40B4-BE49-F238E27FC236}">
                  <a16:creationId xmlns:a16="http://schemas.microsoft.com/office/drawing/2014/main" id="{01D5C366-7040-61E6-3CA5-F6EC870EA5FF}"/>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a:extLst>
              <a:ext uri="{FF2B5EF4-FFF2-40B4-BE49-F238E27FC236}">
                <a16:creationId xmlns:a16="http://schemas.microsoft.com/office/drawing/2014/main" id="{582F9B80-183A-7AD5-7657-DFCA9E46240C}"/>
              </a:ext>
            </a:extLst>
          </p:cNvPr>
          <p:cNvGrpSpPr/>
          <p:nvPr/>
        </p:nvGrpSpPr>
        <p:grpSpPr>
          <a:xfrm>
            <a:off x="8095554" y="2055887"/>
            <a:ext cx="533400" cy="1076760"/>
            <a:chOff x="9096957" y="4287040"/>
            <a:chExt cx="533400" cy="1435680"/>
          </a:xfrm>
        </p:grpSpPr>
        <p:grpSp>
          <p:nvGrpSpPr>
            <p:cNvPr id="109" name="组合 108">
              <a:extLst>
                <a:ext uri="{FF2B5EF4-FFF2-40B4-BE49-F238E27FC236}">
                  <a16:creationId xmlns:a16="http://schemas.microsoft.com/office/drawing/2014/main" id="{31514CC2-2BD9-1856-255D-9D2E8949827A}"/>
                </a:ext>
              </a:extLst>
            </p:cNvPr>
            <p:cNvGrpSpPr/>
            <p:nvPr/>
          </p:nvGrpSpPr>
          <p:grpSpPr>
            <a:xfrm>
              <a:off x="9096957" y="4287040"/>
              <a:ext cx="533400" cy="1312569"/>
              <a:chOff x="3344047" y="4287041"/>
              <a:chExt cx="533400" cy="1312569"/>
            </a:xfrm>
          </p:grpSpPr>
          <p:sp>
            <p:nvSpPr>
              <p:cNvPr id="111" name="Rectangle 5">
                <a:extLst>
                  <a:ext uri="{FF2B5EF4-FFF2-40B4-BE49-F238E27FC236}">
                    <a16:creationId xmlns:a16="http://schemas.microsoft.com/office/drawing/2014/main" id="{5EA9C2D7-A447-3FC9-9431-940AD7EDE34E}"/>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a:extLst>
                  <a:ext uri="{FF2B5EF4-FFF2-40B4-BE49-F238E27FC236}">
                    <a16:creationId xmlns:a16="http://schemas.microsoft.com/office/drawing/2014/main" id="{11623CE7-1E18-492B-7E4D-892B4A33512E}"/>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a:extLst>
                  <a:ext uri="{FF2B5EF4-FFF2-40B4-BE49-F238E27FC236}">
                    <a16:creationId xmlns:a16="http://schemas.microsoft.com/office/drawing/2014/main" id="{AE1BC7DC-2E67-126C-647B-0FE486FD89B3}"/>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a:extLst>
                <a:ext uri="{FF2B5EF4-FFF2-40B4-BE49-F238E27FC236}">
                  <a16:creationId xmlns:a16="http://schemas.microsoft.com/office/drawing/2014/main" id="{763AA6DA-9DE7-3076-841E-76C31FA8A335}"/>
                </a:ext>
              </a:extLst>
            </p:cNvPr>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a:extLst>
              <a:ext uri="{FF2B5EF4-FFF2-40B4-BE49-F238E27FC236}">
                <a16:creationId xmlns:a16="http://schemas.microsoft.com/office/drawing/2014/main" id="{96716E46-1403-94FF-D9A4-9AB21F432E13}"/>
              </a:ext>
            </a:extLst>
          </p:cNvPr>
          <p:cNvGrpSpPr/>
          <p:nvPr/>
        </p:nvGrpSpPr>
        <p:grpSpPr>
          <a:xfrm>
            <a:off x="5748545" y="2055888"/>
            <a:ext cx="533400" cy="984427"/>
            <a:chOff x="3344047" y="4287041"/>
            <a:chExt cx="533400" cy="1312569"/>
          </a:xfrm>
        </p:grpSpPr>
        <p:sp>
          <p:nvSpPr>
            <p:cNvPr id="115" name="Rectangle 5">
              <a:extLst>
                <a:ext uri="{FF2B5EF4-FFF2-40B4-BE49-F238E27FC236}">
                  <a16:creationId xmlns:a16="http://schemas.microsoft.com/office/drawing/2014/main" id="{AF9284BC-0334-3BDA-521E-4862609A5008}"/>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a:extLst>
                <a:ext uri="{FF2B5EF4-FFF2-40B4-BE49-F238E27FC236}">
                  <a16:creationId xmlns:a16="http://schemas.microsoft.com/office/drawing/2014/main" id="{416C63CD-EF06-DA04-33BD-E518BB257095}"/>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
              <a:extLst>
                <a:ext uri="{FF2B5EF4-FFF2-40B4-BE49-F238E27FC236}">
                  <a16:creationId xmlns:a16="http://schemas.microsoft.com/office/drawing/2014/main" id="{2F46BD8B-E6A0-14B2-6802-75B88AF6F9C1}"/>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组合 117">
            <a:extLst>
              <a:ext uri="{FF2B5EF4-FFF2-40B4-BE49-F238E27FC236}">
                <a16:creationId xmlns:a16="http://schemas.microsoft.com/office/drawing/2014/main" id="{93BDBC79-2C77-55E7-3D69-EECD5A1AF038}"/>
              </a:ext>
            </a:extLst>
          </p:cNvPr>
          <p:cNvGrpSpPr/>
          <p:nvPr/>
        </p:nvGrpSpPr>
        <p:grpSpPr>
          <a:xfrm>
            <a:off x="6807393" y="2055888"/>
            <a:ext cx="675622" cy="984427"/>
            <a:chOff x="3344047" y="4287041"/>
            <a:chExt cx="533400" cy="1312569"/>
          </a:xfrm>
        </p:grpSpPr>
        <p:sp>
          <p:nvSpPr>
            <p:cNvPr id="119" name="Rectangle 5">
              <a:extLst>
                <a:ext uri="{FF2B5EF4-FFF2-40B4-BE49-F238E27FC236}">
                  <a16:creationId xmlns:a16="http://schemas.microsoft.com/office/drawing/2014/main" id="{8C766506-12A4-5B65-022C-0199E627A0D6}"/>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a:extLst>
                <a:ext uri="{FF2B5EF4-FFF2-40B4-BE49-F238E27FC236}">
                  <a16:creationId xmlns:a16="http://schemas.microsoft.com/office/drawing/2014/main" id="{E69E2CFE-B767-6E90-ABCA-407822BCC540}"/>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a:extLst>
                <a:ext uri="{FF2B5EF4-FFF2-40B4-BE49-F238E27FC236}">
                  <a16:creationId xmlns:a16="http://schemas.microsoft.com/office/drawing/2014/main" id="{964327BC-D82B-111C-7C57-CA3662C49E42}"/>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a:extLst>
              <a:ext uri="{FF2B5EF4-FFF2-40B4-BE49-F238E27FC236}">
                <a16:creationId xmlns:a16="http://schemas.microsoft.com/office/drawing/2014/main" id="{265251FD-5DC3-F68E-CDC6-D256AB0EC451}"/>
              </a:ext>
            </a:extLst>
          </p:cNvPr>
          <p:cNvGrpSpPr/>
          <p:nvPr/>
        </p:nvGrpSpPr>
        <p:grpSpPr>
          <a:xfrm>
            <a:off x="1283841" y="2055888"/>
            <a:ext cx="533400" cy="984427"/>
            <a:chOff x="2459424" y="4263014"/>
            <a:chExt cx="533400" cy="1312569"/>
          </a:xfrm>
        </p:grpSpPr>
        <p:grpSp>
          <p:nvGrpSpPr>
            <p:cNvPr id="123" name="组合 122">
              <a:extLst>
                <a:ext uri="{FF2B5EF4-FFF2-40B4-BE49-F238E27FC236}">
                  <a16:creationId xmlns:a16="http://schemas.microsoft.com/office/drawing/2014/main" id="{7FADB501-045C-43CD-BCE9-F87F7B909D27}"/>
                </a:ext>
              </a:extLst>
            </p:cNvPr>
            <p:cNvGrpSpPr/>
            <p:nvPr/>
          </p:nvGrpSpPr>
          <p:grpSpPr>
            <a:xfrm>
              <a:off x="2459424" y="4263014"/>
              <a:ext cx="533400" cy="1312569"/>
              <a:chOff x="3344047" y="4287041"/>
              <a:chExt cx="533400" cy="1312569"/>
            </a:xfrm>
          </p:grpSpPr>
          <p:sp>
            <p:nvSpPr>
              <p:cNvPr id="125" name="Rectangle 5">
                <a:extLst>
                  <a:ext uri="{FF2B5EF4-FFF2-40B4-BE49-F238E27FC236}">
                    <a16:creationId xmlns:a16="http://schemas.microsoft.com/office/drawing/2014/main" id="{7C882E5A-C46E-9D06-5BD7-9DCE18107E7F}"/>
                  </a:ext>
                </a:extLst>
              </p:cNvPr>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a:extLst>
                  <a:ext uri="{FF2B5EF4-FFF2-40B4-BE49-F238E27FC236}">
                    <a16:creationId xmlns:a16="http://schemas.microsoft.com/office/drawing/2014/main" id="{2AA3C4A2-EC10-C6D2-76C8-A1ECEFA59D50}"/>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a:extLst>
                  <a:ext uri="{FF2B5EF4-FFF2-40B4-BE49-F238E27FC236}">
                    <a16:creationId xmlns:a16="http://schemas.microsoft.com/office/drawing/2014/main" id="{CCC8483D-9278-A408-B352-14A8F5FB6991}"/>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a:extLst>
                <a:ext uri="{FF2B5EF4-FFF2-40B4-BE49-F238E27FC236}">
                  <a16:creationId xmlns:a16="http://schemas.microsoft.com/office/drawing/2014/main" id="{6A999565-1E01-5B9F-F00D-B9CD58141E41}"/>
                </a:ext>
              </a:extLst>
            </p:cNvPr>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a:extLst>
              <a:ext uri="{FF2B5EF4-FFF2-40B4-BE49-F238E27FC236}">
                <a16:creationId xmlns:a16="http://schemas.microsoft.com/office/drawing/2014/main" id="{C2B73775-9BDF-1C75-CF8D-F5216DA1EBB3}"/>
              </a:ext>
            </a:extLst>
          </p:cNvPr>
          <p:cNvSpPr>
            <a:spLocks noChangeShapeType="1"/>
          </p:cNvSpPr>
          <p:nvPr/>
        </p:nvSpPr>
        <p:spPr bwMode="auto">
          <a:xfrm flipH="1">
            <a:off x="182778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a:extLst>
              <a:ext uri="{FF2B5EF4-FFF2-40B4-BE49-F238E27FC236}">
                <a16:creationId xmlns:a16="http://schemas.microsoft.com/office/drawing/2014/main" id="{ADBA83D4-35B6-08B5-81A6-924621473D95}"/>
              </a:ext>
            </a:extLst>
          </p:cNvPr>
          <p:cNvSpPr>
            <a:spLocks noChangeShapeType="1"/>
          </p:cNvSpPr>
          <p:nvPr/>
        </p:nvSpPr>
        <p:spPr bwMode="auto">
          <a:xfrm>
            <a:off x="1703118"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a:extLst>
              <a:ext uri="{FF2B5EF4-FFF2-40B4-BE49-F238E27FC236}">
                <a16:creationId xmlns:a16="http://schemas.microsoft.com/office/drawing/2014/main" id="{E55F0F4C-B5E5-0F57-1520-827DEE8AC7BA}"/>
              </a:ext>
            </a:extLst>
          </p:cNvPr>
          <p:cNvSpPr>
            <a:spLocks noChangeShapeType="1"/>
          </p:cNvSpPr>
          <p:nvPr/>
        </p:nvSpPr>
        <p:spPr bwMode="auto">
          <a:xfrm>
            <a:off x="2761967"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a:extLst>
              <a:ext uri="{FF2B5EF4-FFF2-40B4-BE49-F238E27FC236}">
                <a16:creationId xmlns:a16="http://schemas.microsoft.com/office/drawing/2014/main" id="{863AEF79-5004-8430-02C7-E53B3AB50A94}"/>
              </a:ext>
            </a:extLst>
          </p:cNvPr>
          <p:cNvSpPr>
            <a:spLocks noChangeShapeType="1"/>
          </p:cNvSpPr>
          <p:nvPr/>
        </p:nvSpPr>
        <p:spPr bwMode="auto">
          <a:xfrm>
            <a:off x="3884001"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 name="Line 29">
            <a:extLst>
              <a:ext uri="{FF2B5EF4-FFF2-40B4-BE49-F238E27FC236}">
                <a16:creationId xmlns:a16="http://schemas.microsoft.com/office/drawing/2014/main" id="{62E42F0E-3A15-3503-44E4-1874FD05CD06}"/>
              </a:ext>
            </a:extLst>
          </p:cNvPr>
          <p:cNvSpPr>
            <a:spLocks noChangeShapeType="1"/>
          </p:cNvSpPr>
          <p:nvPr/>
        </p:nvSpPr>
        <p:spPr bwMode="auto">
          <a:xfrm>
            <a:off x="5108975"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a:extLst>
              <a:ext uri="{FF2B5EF4-FFF2-40B4-BE49-F238E27FC236}">
                <a16:creationId xmlns:a16="http://schemas.microsoft.com/office/drawing/2014/main" id="{59846846-6F48-149A-1B8D-51EB06E5E59B}"/>
              </a:ext>
            </a:extLst>
          </p:cNvPr>
          <p:cNvSpPr>
            <a:spLocks noChangeShapeType="1"/>
          </p:cNvSpPr>
          <p:nvPr/>
        </p:nvSpPr>
        <p:spPr bwMode="auto">
          <a:xfrm>
            <a:off x="6167823"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a:extLst>
              <a:ext uri="{FF2B5EF4-FFF2-40B4-BE49-F238E27FC236}">
                <a16:creationId xmlns:a16="http://schemas.microsoft.com/office/drawing/2014/main" id="{54E77CF2-D1AE-1387-0E87-E1E3E6BCDE08}"/>
              </a:ext>
            </a:extLst>
          </p:cNvPr>
          <p:cNvSpPr>
            <a:spLocks noChangeShapeType="1"/>
          </p:cNvSpPr>
          <p:nvPr/>
        </p:nvSpPr>
        <p:spPr bwMode="auto">
          <a:xfrm>
            <a:off x="7336602" y="2901815"/>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a:extLst>
              <a:ext uri="{FF2B5EF4-FFF2-40B4-BE49-F238E27FC236}">
                <a16:creationId xmlns:a16="http://schemas.microsoft.com/office/drawing/2014/main" id="{604257DE-E953-A942-3E75-FAE6E77A9DE9}"/>
              </a:ext>
            </a:extLst>
          </p:cNvPr>
          <p:cNvSpPr>
            <a:spLocks noChangeShapeType="1"/>
          </p:cNvSpPr>
          <p:nvPr/>
        </p:nvSpPr>
        <p:spPr bwMode="auto">
          <a:xfrm flipH="1">
            <a:off x="7892423" y="2226447"/>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29">
            <a:extLst>
              <a:ext uri="{FF2B5EF4-FFF2-40B4-BE49-F238E27FC236}">
                <a16:creationId xmlns:a16="http://schemas.microsoft.com/office/drawing/2014/main" id="{C8E80C78-369A-D90C-B2BC-23B36D4C9A45}"/>
              </a:ext>
            </a:extLst>
          </p:cNvPr>
          <p:cNvSpPr>
            <a:spLocks noChangeShapeType="1"/>
          </p:cNvSpPr>
          <p:nvPr/>
        </p:nvSpPr>
        <p:spPr bwMode="auto">
          <a:xfrm flipH="1">
            <a:off x="628194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7" name="Line 29">
            <a:extLst>
              <a:ext uri="{FF2B5EF4-FFF2-40B4-BE49-F238E27FC236}">
                <a16:creationId xmlns:a16="http://schemas.microsoft.com/office/drawing/2014/main" id="{1A65F6A0-742F-75AE-2316-48FF240B3BD7}"/>
              </a:ext>
            </a:extLst>
          </p:cNvPr>
          <p:cNvSpPr>
            <a:spLocks noChangeShapeType="1"/>
          </p:cNvSpPr>
          <p:nvPr/>
        </p:nvSpPr>
        <p:spPr bwMode="auto">
          <a:xfrm flipH="1">
            <a:off x="5223098"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a:extLst>
              <a:ext uri="{FF2B5EF4-FFF2-40B4-BE49-F238E27FC236}">
                <a16:creationId xmlns:a16="http://schemas.microsoft.com/office/drawing/2014/main" id="{F171364B-1283-40BC-85FF-3CA57B1407E5}"/>
              </a:ext>
            </a:extLst>
          </p:cNvPr>
          <p:cNvSpPr>
            <a:spLocks noChangeShapeType="1"/>
          </p:cNvSpPr>
          <p:nvPr/>
        </p:nvSpPr>
        <p:spPr bwMode="auto">
          <a:xfrm flipH="1">
            <a:off x="4344742" y="2226447"/>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a:extLst>
              <a:ext uri="{FF2B5EF4-FFF2-40B4-BE49-F238E27FC236}">
                <a16:creationId xmlns:a16="http://schemas.microsoft.com/office/drawing/2014/main" id="{0F8001DA-C297-E441-0DB8-F589696C2DB8}"/>
              </a:ext>
            </a:extLst>
          </p:cNvPr>
          <p:cNvSpPr>
            <a:spLocks noChangeShapeType="1"/>
          </p:cNvSpPr>
          <p:nvPr/>
        </p:nvSpPr>
        <p:spPr bwMode="auto">
          <a:xfrm flipH="1">
            <a:off x="2876090"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a:extLst>
              <a:ext uri="{FF2B5EF4-FFF2-40B4-BE49-F238E27FC236}">
                <a16:creationId xmlns:a16="http://schemas.microsoft.com/office/drawing/2014/main" id="{F1FD4299-6A48-5B13-57DC-4ACEFDE3496C}"/>
              </a:ext>
            </a:extLst>
          </p:cNvPr>
          <p:cNvSpPr>
            <a:spLocks noChangeShapeType="1"/>
          </p:cNvSpPr>
          <p:nvPr/>
        </p:nvSpPr>
        <p:spPr bwMode="auto">
          <a:xfrm>
            <a:off x="4344742"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a:extLst>
              <a:ext uri="{FF2B5EF4-FFF2-40B4-BE49-F238E27FC236}">
                <a16:creationId xmlns:a16="http://schemas.microsoft.com/office/drawing/2014/main" id="{BD906440-D489-99E4-ED15-204C2A310149}"/>
              </a:ext>
            </a:extLst>
          </p:cNvPr>
          <p:cNvSpPr>
            <a:spLocks noChangeShapeType="1"/>
          </p:cNvSpPr>
          <p:nvPr/>
        </p:nvSpPr>
        <p:spPr bwMode="auto">
          <a:xfrm>
            <a:off x="7892424"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a:extLst>
              <a:ext uri="{FF2B5EF4-FFF2-40B4-BE49-F238E27FC236}">
                <a16:creationId xmlns:a16="http://schemas.microsoft.com/office/drawing/2014/main" id="{D16C5D1B-4625-8FB6-6A57-EDBBDE92BB39}"/>
              </a:ext>
            </a:extLst>
          </p:cNvPr>
          <p:cNvSpPr>
            <a:spLocks noChangeShapeType="1"/>
          </p:cNvSpPr>
          <p:nvPr/>
        </p:nvSpPr>
        <p:spPr bwMode="auto">
          <a:xfrm flipH="1">
            <a:off x="7483015" y="2226447"/>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a:extLst>
              <a:ext uri="{FF2B5EF4-FFF2-40B4-BE49-F238E27FC236}">
                <a16:creationId xmlns:a16="http://schemas.microsoft.com/office/drawing/2014/main" id="{8DAB1DDA-600F-4525-C208-1813B99F4DA8}"/>
              </a:ext>
            </a:extLst>
          </p:cNvPr>
          <p:cNvSpPr>
            <a:spLocks noChangeShapeType="1"/>
          </p:cNvSpPr>
          <p:nvPr/>
        </p:nvSpPr>
        <p:spPr bwMode="auto">
          <a:xfrm flipH="1">
            <a:off x="3948323" y="2226447"/>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8" name="直接连接符 67">
            <a:extLst>
              <a:ext uri="{FF2B5EF4-FFF2-40B4-BE49-F238E27FC236}">
                <a16:creationId xmlns:a16="http://schemas.microsoft.com/office/drawing/2014/main" id="{19C1B510-461B-9309-EC60-4B3F269E0E64}"/>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4AB6766F-D0BE-7A02-0C79-3B598C37707A}"/>
              </a:ext>
            </a:extLst>
          </p:cNvPr>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78F9CE06-7720-28B0-34D7-BFCD2B82AC62}"/>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2" name="矩形 1">
            <a:extLst>
              <a:ext uri="{FF2B5EF4-FFF2-40B4-BE49-F238E27FC236}">
                <a16:creationId xmlns:a16="http://schemas.microsoft.com/office/drawing/2014/main" id="{F68B1E32-9517-EADB-F517-622BE297EB6F}"/>
              </a:ext>
            </a:extLst>
          </p:cNvPr>
          <p:cNvSpPr/>
          <p:nvPr/>
        </p:nvSpPr>
        <p:spPr>
          <a:xfrm>
            <a:off x="493821" y="1446757"/>
            <a:ext cx="3142075" cy="369332"/>
          </a:xfrm>
          <a:prstGeom prst="rect">
            <a:avLst/>
          </a:prstGeom>
        </p:spPr>
        <p:txBody>
          <a:bodyPr wrap="square">
            <a:spAutoFit/>
          </a:bodyPr>
          <a:lstStyle/>
          <a:p>
            <a:r>
              <a:rPr lang="en-US" altLang="zh-CN" dirty="0">
                <a:latin typeface="微软雅黑" pitchFamily="34" charset="-122"/>
                <a:ea typeface="微软雅黑" pitchFamily="34" charset="-122"/>
                <a:cs typeface="经典粗黑简" pitchFamily="49" charset="-122"/>
              </a:rPr>
              <a:t>2.3.3.2 </a:t>
            </a:r>
            <a:r>
              <a:rPr lang="zh-CN" altLang="en-US" dirty="0">
                <a:latin typeface="微软雅黑" pitchFamily="34" charset="-122"/>
                <a:ea typeface="微软雅黑" pitchFamily="34" charset="-122"/>
                <a:cs typeface="经典粗黑简" pitchFamily="49" charset="-122"/>
              </a:rPr>
              <a:t>删除结点操作</a:t>
            </a:r>
          </a:p>
        </p:txBody>
      </p:sp>
      <p:sp>
        <p:nvSpPr>
          <p:cNvPr id="11" name="Rectangle 228">
            <a:extLst>
              <a:ext uri="{FF2B5EF4-FFF2-40B4-BE49-F238E27FC236}">
                <a16:creationId xmlns:a16="http://schemas.microsoft.com/office/drawing/2014/main" id="{9CC54485-8A35-F190-300B-D8453E96025F}"/>
              </a:ext>
            </a:extLst>
          </p:cNvPr>
          <p:cNvSpPr>
            <a:spLocks noChangeArrowheads="1"/>
          </p:cNvSpPr>
          <p:nvPr/>
        </p:nvSpPr>
        <p:spPr bwMode="auto">
          <a:xfrm>
            <a:off x="5368242" y="1427098"/>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q</a:t>
            </a:r>
          </a:p>
        </p:txBody>
      </p:sp>
      <p:sp>
        <p:nvSpPr>
          <p:cNvPr id="12" name="Line 29">
            <a:extLst>
              <a:ext uri="{FF2B5EF4-FFF2-40B4-BE49-F238E27FC236}">
                <a16:creationId xmlns:a16="http://schemas.microsoft.com/office/drawing/2014/main" id="{4BABCB29-484D-036A-B01B-BCDD19FA0A1D}"/>
              </a:ext>
            </a:extLst>
          </p:cNvPr>
          <p:cNvSpPr>
            <a:spLocks noChangeShapeType="1"/>
          </p:cNvSpPr>
          <p:nvPr/>
        </p:nvSpPr>
        <p:spPr bwMode="auto">
          <a:xfrm>
            <a:off x="5589963" y="1767837"/>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矩形 8">
            <a:extLst>
              <a:ext uri="{FF2B5EF4-FFF2-40B4-BE49-F238E27FC236}">
                <a16:creationId xmlns:a16="http://schemas.microsoft.com/office/drawing/2014/main" id="{427518BB-23F1-673C-F823-931FB77B17A9}"/>
              </a:ext>
            </a:extLst>
          </p:cNvPr>
          <p:cNvSpPr/>
          <p:nvPr/>
        </p:nvSpPr>
        <p:spPr>
          <a:xfrm>
            <a:off x="-17178" y="3027210"/>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13" name="矩形 12">
            <a:extLst>
              <a:ext uri="{FF2B5EF4-FFF2-40B4-BE49-F238E27FC236}">
                <a16:creationId xmlns:a16="http://schemas.microsoft.com/office/drawing/2014/main" id="{4DE9D27C-20BA-47AE-2F4A-96D9C8F9AE72}"/>
              </a:ext>
            </a:extLst>
          </p:cNvPr>
          <p:cNvSpPr/>
          <p:nvPr/>
        </p:nvSpPr>
        <p:spPr>
          <a:xfrm>
            <a:off x="412635" y="3312174"/>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17" name="Rectangle 57">
            <a:extLst>
              <a:ext uri="{FF2B5EF4-FFF2-40B4-BE49-F238E27FC236}">
                <a16:creationId xmlns:a16="http://schemas.microsoft.com/office/drawing/2014/main" id="{055E2E3D-4C61-4AD0-81EB-85361D69DA6B}"/>
              </a:ext>
            </a:extLst>
          </p:cNvPr>
          <p:cNvSpPr>
            <a:spLocks noChangeArrowheads="1"/>
          </p:cNvSpPr>
          <p:nvPr/>
        </p:nvSpPr>
        <p:spPr bwMode="auto">
          <a:xfrm>
            <a:off x="4229218" y="3018838"/>
            <a:ext cx="1013740" cy="461665"/>
          </a:xfrm>
          <a:prstGeom prst="rect">
            <a:avLst/>
          </a:prstGeom>
          <a:noFill/>
          <a:ln w="38100">
            <a:noFill/>
            <a:miter lim="800000"/>
            <a:headEnd/>
            <a:tailEnd/>
          </a:ln>
        </p:spPr>
        <p:txBody>
          <a:bodyPr wrap="square">
            <a:spAutoFit/>
          </a:bodyPr>
          <a:lstStyle/>
          <a:p>
            <a:pPr algn="r">
              <a:defRPr/>
            </a:pPr>
            <a:r>
              <a:rPr kumimoji="0" lang="en-US" altLang="zh-CN" sz="2400" dirty="0">
                <a:ea typeface="Li Super" charset="-122"/>
              </a:rPr>
              <a:t>j=i-1</a:t>
            </a:r>
            <a:endParaRPr kumimoji="0" lang="zh-CN" altLang="en-US" sz="2400" dirty="0">
              <a:ea typeface="Li Super" charset="-122"/>
            </a:endParaRPr>
          </a:p>
        </p:txBody>
      </p:sp>
      <p:sp>
        <p:nvSpPr>
          <p:cNvPr id="18" name="Rectangle 55">
            <a:extLst>
              <a:ext uri="{FF2B5EF4-FFF2-40B4-BE49-F238E27FC236}">
                <a16:creationId xmlns:a16="http://schemas.microsoft.com/office/drawing/2014/main" id="{B224D3A9-2A37-261B-BFC5-29E01781819D}"/>
              </a:ext>
            </a:extLst>
          </p:cNvPr>
          <p:cNvSpPr>
            <a:spLocks noChangeArrowheads="1"/>
          </p:cNvSpPr>
          <p:nvPr/>
        </p:nvSpPr>
        <p:spPr bwMode="auto">
          <a:xfrm>
            <a:off x="5589963" y="1419798"/>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4" name="Rectangle 228">
            <a:extLst>
              <a:ext uri="{FF2B5EF4-FFF2-40B4-BE49-F238E27FC236}">
                <a16:creationId xmlns:a16="http://schemas.microsoft.com/office/drawing/2014/main" id="{D1AEB021-2A52-1B08-4A27-9FB83EBA794D}"/>
              </a:ext>
            </a:extLst>
          </p:cNvPr>
          <p:cNvSpPr>
            <a:spLocks noChangeArrowheads="1"/>
          </p:cNvSpPr>
          <p:nvPr/>
        </p:nvSpPr>
        <p:spPr bwMode="auto">
          <a:xfrm>
            <a:off x="4195312" y="143792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p</a:t>
            </a:r>
          </a:p>
        </p:txBody>
      </p:sp>
      <p:sp>
        <p:nvSpPr>
          <p:cNvPr id="5" name="Line 29">
            <a:extLst>
              <a:ext uri="{FF2B5EF4-FFF2-40B4-BE49-F238E27FC236}">
                <a16:creationId xmlns:a16="http://schemas.microsoft.com/office/drawing/2014/main" id="{EE231C5C-14E2-C48A-BF3F-995928A5B78A}"/>
              </a:ext>
            </a:extLst>
          </p:cNvPr>
          <p:cNvSpPr>
            <a:spLocks noChangeShapeType="1"/>
          </p:cNvSpPr>
          <p:nvPr/>
        </p:nvSpPr>
        <p:spPr bwMode="auto">
          <a:xfrm>
            <a:off x="4417033" y="1778661"/>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Rectangle 55">
            <a:extLst>
              <a:ext uri="{FF2B5EF4-FFF2-40B4-BE49-F238E27FC236}">
                <a16:creationId xmlns:a16="http://schemas.microsoft.com/office/drawing/2014/main" id="{AA36C85E-C8F3-3486-4559-B4A89E6C8B5A}"/>
              </a:ext>
            </a:extLst>
          </p:cNvPr>
          <p:cNvSpPr>
            <a:spLocks noChangeArrowheads="1"/>
          </p:cNvSpPr>
          <p:nvPr/>
        </p:nvSpPr>
        <p:spPr bwMode="auto">
          <a:xfrm>
            <a:off x="4417033" y="1430622"/>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7" name="矩形 6">
            <a:extLst>
              <a:ext uri="{FF2B5EF4-FFF2-40B4-BE49-F238E27FC236}">
                <a16:creationId xmlns:a16="http://schemas.microsoft.com/office/drawing/2014/main" id="{DA9012A2-0B01-EAB3-A9CD-A209DD3BEA39}"/>
              </a:ext>
            </a:extLst>
          </p:cNvPr>
          <p:cNvSpPr/>
          <p:nvPr/>
        </p:nvSpPr>
        <p:spPr>
          <a:xfrm>
            <a:off x="420097" y="3685542"/>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设置</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指针指向待删除结点；</a:t>
            </a:r>
          </a:p>
        </p:txBody>
      </p:sp>
      <p:sp>
        <p:nvSpPr>
          <p:cNvPr id="8" name="文本框 7">
            <a:extLst>
              <a:ext uri="{FF2B5EF4-FFF2-40B4-BE49-F238E27FC236}">
                <a16:creationId xmlns:a16="http://schemas.microsoft.com/office/drawing/2014/main" id="{26A826C8-CF21-325A-B768-709C2D54E2A1}"/>
              </a:ext>
            </a:extLst>
          </p:cNvPr>
          <p:cNvSpPr txBox="1"/>
          <p:nvPr/>
        </p:nvSpPr>
        <p:spPr>
          <a:xfrm>
            <a:off x="4344743" y="3679254"/>
            <a:ext cx="2027458" cy="398827"/>
          </a:xfrm>
          <a:prstGeom prst="rect">
            <a:avLst/>
          </a:prstGeom>
          <a:noFill/>
        </p:spPr>
        <p:txBody>
          <a:bodyPr wrap="square">
            <a:spAutoFit/>
          </a:bodyPr>
          <a:lstStyle/>
          <a:p>
            <a:pPr algn="l">
              <a:lnSpc>
                <a:spcPts val="2600"/>
              </a:lnSpc>
            </a:pPr>
            <a:r>
              <a:rPr kumimoji="1" lang="en-US" altLang="zh-CN" dirty="0">
                <a:solidFill>
                  <a:srgbClr val="0000FF"/>
                </a:solidFill>
                <a:latin typeface="Consolas" pitchFamily="49" charset="0"/>
                <a:ea typeface="仿宋" pitchFamily="49" charset="-122"/>
                <a:cs typeface="Consolas" pitchFamily="49" charset="0"/>
              </a:rPr>
              <a:t>q</a:t>
            </a:r>
            <a:r>
              <a:rPr kumimoji="1" lang="en-US" altLang="zh-CN" sz="1800" dirty="0">
                <a:solidFill>
                  <a:srgbClr val="0000FF"/>
                </a:solidFill>
                <a:latin typeface="Consolas" pitchFamily="49" charset="0"/>
                <a:ea typeface="仿宋" pitchFamily="49" charset="-122"/>
                <a:cs typeface="Consolas" pitchFamily="49" charset="0"/>
              </a:rPr>
              <a:t>=p-&gt;next</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	</a:t>
            </a:r>
            <a:endParaRPr lang="zh-CN" altLang="en-US" dirty="0"/>
          </a:p>
        </p:txBody>
      </p:sp>
    </p:spTree>
    <p:extLst>
      <p:ext uri="{BB962C8B-B14F-4D97-AF65-F5344CB8AC3E}">
        <p14:creationId xmlns:p14="http://schemas.microsoft.com/office/powerpoint/2010/main" val="12986754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A055A-2046-08A6-75C9-BD399CA73B7F}"/>
            </a:ext>
          </a:extLst>
        </p:cNvPr>
        <p:cNvGrpSpPr/>
        <p:nvPr/>
      </p:nvGrpSpPr>
      <p:grpSpPr>
        <a:xfrm>
          <a:off x="0" y="0"/>
          <a:ext cx="0" cy="0"/>
          <a:chOff x="0" y="0"/>
          <a:chExt cx="0" cy="0"/>
        </a:xfrm>
      </p:grpSpPr>
      <p:sp>
        <p:nvSpPr>
          <p:cNvPr id="47" name="Rectangle 25">
            <a:extLst>
              <a:ext uri="{FF2B5EF4-FFF2-40B4-BE49-F238E27FC236}">
                <a16:creationId xmlns:a16="http://schemas.microsoft.com/office/drawing/2014/main" id="{575CFCB1-3C7C-D922-9FD6-E1F276326BD6}"/>
              </a:ext>
            </a:extLst>
          </p:cNvPr>
          <p:cNvSpPr>
            <a:spLocks noChangeArrowheads="1"/>
          </p:cNvSpPr>
          <p:nvPr/>
        </p:nvSpPr>
        <p:spPr bwMode="auto">
          <a:xfrm>
            <a:off x="7620379" y="239960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a:extLst>
              <a:ext uri="{FF2B5EF4-FFF2-40B4-BE49-F238E27FC236}">
                <a16:creationId xmlns:a16="http://schemas.microsoft.com/office/drawing/2014/main" id="{94832214-700A-DA03-275B-80659412C340}"/>
              </a:ext>
            </a:extLst>
          </p:cNvPr>
          <p:cNvSpPr>
            <a:spLocks noChangeArrowheads="1"/>
          </p:cNvSpPr>
          <p:nvPr/>
        </p:nvSpPr>
        <p:spPr bwMode="auto">
          <a:xfrm>
            <a:off x="4014473" y="23887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a:extLst>
              <a:ext uri="{FF2B5EF4-FFF2-40B4-BE49-F238E27FC236}">
                <a16:creationId xmlns:a16="http://schemas.microsoft.com/office/drawing/2014/main" id="{3047494B-1B1C-92A0-C7D8-69FA7446002E}"/>
              </a:ext>
            </a:extLst>
          </p:cNvPr>
          <p:cNvSpPr>
            <a:spLocks noChangeShapeType="1"/>
          </p:cNvSpPr>
          <p:nvPr/>
        </p:nvSpPr>
        <p:spPr bwMode="auto">
          <a:xfrm>
            <a:off x="631856" y="2232697"/>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a:extLst>
              <a:ext uri="{FF2B5EF4-FFF2-40B4-BE49-F238E27FC236}">
                <a16:creationId xmlns:a16="http://schemas.microsoft.com/office/drawing/2014/main" id="{92E85751-C051-3A93-D1B2-07FC91103D84}"/>
              </a:ext>
            </a:extLst>
          </p:cNvPr>
          <p:cNvSpPr>
            <a:spLocks noChangeArrowheads="1"/>
          </p:cNvSpPr>
          <p:nvPr/>
        </p:nvSpPr>
        <p:spPr bwMode="auto">
          <a:xfrm>
            <a:off x="366211" y="203479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95" name="组合 94">
            <a:extLst>
              <a:ext uri="{FF2B5EF4-FFF2-40B4-BE49-F238E27FC236}">
                <a16:creationId xmlns:a16="http://schemas.microsoft.com/office/drawing/2014/main" id="{25E56CA4-2C26-A1DA-EBD4-6ABBC28568F2}"/>
              </a:ext>
            </a:extLst>
          </p:cNvPr>
          <p:cNvGrpSpPr/>
          <p:nvPr/>
        </p:nvGrpSpPr>
        <p:grpSpPr>
          <a:xfrm>
            <a:off x="2342689" y="2055888"/>
            <a:ext cx="533400" cy="984427"/>
            <a:chOff x="3344047" y="4287041"/>
            <a:chExt cx="533400" cy="1312569"/>
          </a:xfrm>
        </p:grpSpPr>
        <p:sp>
          <p:nvSpPr>
            <p:cNvPr id="97" name="Rectangle 5">
              <a:extLst>
                <a:ext uri="{FF2B5EF4-FFF2-40B4-BE49-F238E27FC236}">
                  <a16:creationId xmlns:a16="http://schemas.microsoft.com/office/drawing/2014/main" id="{890A6949-2FF9-19C4-C59D-3384131F56A5}"/>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a:extLst>
                <a:ext uri="{FF2B5EF4-FFF2-40B4-BE49-F238E27FC236}">
                  <a16:creationId xmlns:a16="http://schemas.microsoft.com/office/drawing/2014/main" id="{F6A94112-7B81-E8F4-5785-1240C8AA02AC}"/>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a:extLst>
                <a:ext uri="{FF2B5EF4-FFF2-40B4-BE49-F238E27FC236}">
                  <a16:creationId xmlns:a16="http://schemas.microsoft.com/office/drawing/2014/main" id="{FB2B4F31-C52E-2D08-5802-EE6F9724AB95}"/>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a:extLst>
              <a:ext uri="{FF2B5EF4-FFF2-40B4-BE49-F238E27FC236}">
                <a16:creationId xmlns:a16="http://schemas.microsoft.com/office/drawing/2014/main" id="{A14578C6-4687-3B56-CF34-150298736B03}"/>
              </a:ext>
            </a:extLst>
          </p:cNvPr>
          <p:cNvGrpSpPr/>
          <p:nvPr/>
        </p:nvGrpSpPr>
        <p:grpSpPr>
          <a:xfrm>
            <a:off x="3401537" y="2055888"/>
            <a:ext cx="533400" cy="984427"/>
            <a:chOff x="3344047" y="4287041"/>
            <a:chExt cx="533400" cy="1312569"/>
          </a:xfrm>
        </p:grpSpPr>
        <p:sp>
          <p:nvSpPr>
            <p:cNvPr id="101" name="Rectangle 5">
              <a:extLst>
                <a:ext uri="{FF2B5EF4-FFF2-40B4-BE49-F238E27FC236}">
                  <a16:creationId xmlns:a16="http://schemas.microsoft.com/office/drawing/2014/main" id="{4B9A881E-D5F1-8431-2207-0B7127C0CD33}"/>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BEB32819-DA0A-81F5-B5DA-97D80010641F}"/>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a:extLst>
                <a:ext uri="{FF2B5EF4-FFF2-40B4-BE49-F238E27FC236}">
                  <a16:creationId xmlns:a16="http://schemas.microsoft.com/office/drawing/2014/main" id="{0515F976-E83A-EE4E-8B21-92B7A43BD48A}"/>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a:extLst>
              <a:ext uri="{FF2B5EF4-FFF2-40B4-BE49-F238E27FC236}">
                <a16:creationId xmlns:a16="http://schemas.microsoft.com/office/drawing/2014/main" id="{A1CE201E-8D31-2C27-471C-40DBC28477D5}"/>
              </a:ext>
            </a:extLst>
          </p:cNvPr>
          <p:cNvGrpSpPr/>
          <p:nvPr/>
        </p:nvGrpSpPr>
        <p:grpSpPr>
          <a:xfrm>
            <a:off x="4547475" y="2055888"/>
            <a:ext cx="675622" cy="984427"/>
            <a:chOff x="3344047" y="4287041"/>
            <a:chExt cx="533400" cy="1312569"/>
          </a:xfrm>
        </p:grpSpPr>
        <p:sp>
          <p:nvSpPr>
            <p:cNvPr id="105" name="Rectangle 5">
              <a:extLst>
                <a:ext uri="{FF2B5EF4-FFF2-40B4-BE49-F238E27FC236}">
                  <a16:creationId xmlns:a16="http://schemas.microsoft.com/office/drawing/2014/main" id="{FBDFAE84-4DDE-BC88-3DC2-DE303807AEE4}"/>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a:extLst>
                <a:ext uri="{FF2B5EF4-FFF2-40B4-BE49-F238E27FC236}">
                  <a16:creationId xmlns:a16="http://schemas.microsoft.com/office/drawing/2014/main" id="{B39ECD5E-13A3-5CC1-40FE-DE7C88EB69E4}"/>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a:extLst>
                <a:ext uri="{FF2B5EF4-FFF2-40B4-BE49-F238E27FC236}">
                  <a16:creationId xmlns:a16="http://schemas.microsoft.com/office/drawing/2014/main" id="{89770C0F-1018-7E39-C802-ACA251FAEF13}"/>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a:extLst>
              <a:ext uri="{FF2B5EF4-FFF2-40B4-BE49-F238E27FC236}">
                <a16:creationId xmlns:a16="http://schemas.microsoft.com/office/drawing/2014/main" id="{F267FEB3-EEDC-1798-BE9E-D0B2F78DBBAE}"/>
              </a:ext>
            </a:extLst>
          </p:cNvPr>
          <p:cNvGrpSpPr/>
          <p:nvPr/>
        </p:nvGrpSpPr>
        <p:grpSpPr>
          <a:xfrm>
            <a:off x="8095554" y="2055887"/>
            <a:ext cx="533400" cy="1076760"/>
            <a:chOff x="9096957" y="4287040"/>
            <a:chExt cx="533400" cy="1435680"/>
          </a:xfrm>
        </p:grpSpPr>
        <p:grpSp>
          <p:nvGrpSpPr>
            <p:cNvPr id="109" name="组合 108">
              <a:extLst>
                <a:ext uri="{FF2B5EF4-FFF2-40B4-BE49-F238E27FC236}">
                  <a16:creationId xmlns:a16="http://schemas.microsoft.com/office/drawing/2014/main" id="{CEFA79C9-7757-FBFA-2509-8643A3A2AF62}"/>
                </a:ext>
              </a:extLst>
            </p:cNvPr>
            <p:cNvGrpSpPr/>
            <p:nvPr/>
          </p:nvGrpSpPr>
          <p:grpSpPr>
            <a:xfrm>
              <a:off x="9096957" y="4287040"/>
              <a:ext cx="533400" cy="1312569"/>
              <a:chOff x="3344047" y="4287041"/>
              <a:chExt cx="533400" cy="1312569"/>
            </a:xfrm>
          </p:grpSpPr>
          <p:sp>
            <p:nvSpPr>
              <p:cNvPr id="111" name="Rectangle 5">
                <a:extLst>
                  <a:ext uri="{FF2B5EF4-FFF2-40B4-BE49-F238E27FC236}">
                    <a16:creationId xmlns:a16="http://schemas.microsoft.com/office/drawing/2014/main" id="{A64F2E08-8E3F-20A6-83B1-2C45DD9815B1}"/>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a:extLst>
                  <a:ext uri="{FF2B5EF4-FFF2-40B4-BE49-F238E27FC236}">
                    <a16:creationId xmlns:a16="http://schemas.microsoft.com/office/drawing/2014/main" id="{05A6134E-4001-3AA2-3EDC-AEA71D1C2FCE}"/>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a:extLst>
                  <a:ext uri="{FF2B5EF4-FFF2-40B4-BE49-F238E27FC236}">
                    <a16:creationId xmlns:a16="http://schemas.microsoft.com/office/drawing/2014/main" id="{093217E3-6E29-8AB8-8D7F-4396B27CDDD7}"/>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a:extLst>
                <a:ext uri="{FF2B5EF4-FFF2-40B4-BE49-F238E27FC236}">
                  <a16:creationId xmlns:a16="http://schemas.microsoft.com/office/drawing/2014/main" id="{F007B650-FAC6-74EB-389E-E01C44558EE0}"/>
                </a:ext>
              </a:extLst>
            </p:cNvPr>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a:extLst>
              <a:ext uri="{FF2B5EF4-FFF2-40B4-BE49-F238E27FC236}">
                <a16:creationId xmlns:a16="http://schemas.microsoft.com/office/drawing/2014/main" id="{177C2AF8-5F08-DB68-8ABD-003985AD0BF5}"/>
              </a:ext>
            </a:extLst>
          </p:cNvPr>
          <p:cNvGrpSpPr/>
          <p:nvPr/>
        </p:nvGrpSpPr>
        <p:grpSpPr>
          <a:xfrm>
            <a:off x="5748545" y="2055888"/>
            <a:ext cx="533400" cy="984427"/>
            <a:chOff x="3344047" y="4287041"/>
            <a:chExt cx="533400" cy="1312569"/>
          </a:xfrm>
        </p:grpSpPr>
        <p:sp>
          <p:nvSpPr>
            <p:cNvPr id="115" name="Rectangle 5">
              <a:extLst>
                <a:ext uri="{FF2B5EF4-FFF2-40B4-BE49-F238E27FC236}">
                  <a16:creationId xmlns:a16="http://schemas.microsoft.com/office/drawing/2014/main" id="{D9C40702-33D9-5B57-1D33-FE6396CCEE15}"/>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a:extLst>
                <a:ext uri="{FF2B5EF4-FFF2-40B4-BE49-F238E27FC236}">
                  <a16:creationId xmlns:a16="http://schemas.microsoft.com/office/drawing/2014/main" id="{D3E96903-1963-CA54-C03B-9DC8AB8E3F5D}"/>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
              <a:extLst>
                <a:ext uri="{FF2B5EF4-FFF2-40B4-BE49-F238E27FC236}">
                  <a16:creationId xmlns:a16="http://schemas.microsoft.com/office/drawing/2014/main" id="{7EF7A888-098C-ADDB-6144-86FBB1779A5E}"/>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组合 117">
            <a:extLst>
              <a:ext uri="{FF2B5EF4-FFF2-40B4-BE49-F238E27FC236}">
                <a16:creationId xmlns:a16="http://schemas.microsoft.com/office/drawing/2014/main" id="{A9DBDAA9-8218-1C9E-4445-6E7FABDCB104}"/>
              </a:ext>
            </a:extLst>
          </p:cNvPr>
          <p:cNvGrpSpPr/>
          <p:nvPr/>
        </p:nvGrpSpPr>
        <p:grpSpPr>
          <a:xfrm>
            <a:off x="6807393" y="2055888"/>
            <a:ext cx="675622" cy="984427"/>
            <a:chOff x="3344047" y="4287041"/>
            <a:chExt cx="533400" cy="1312569"/>
          </a:xfrm>
        </p:grpSpPr>
        <p:sp>
          <p:nvSpPr>
            <p:cNvPr id="119" name="Rectangle 5">
              <a:extLst>
                <a:ext uri="{FF2B5EF4-FFF2-40B4-BE49-F238E27FC236}">
                  <a16:creationId xmlns:a16="http://schemas.microsoft.com/office/drawing/2014/main" id="{EB7F3EBD-0CDC-71C6-C954-C2F6AD05A6DB}"/>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a:extLst>
                <a:ext uri="{FF2B5EF4-FFF2-40B4-BE49-F238E27FC236}">
                  <a16:creationId xmlns:a16="http://schemas.microsoft.com/office/drawing/2014/main" id="{C0BC6336-B41B-52DB-D0E2-B916D7831E48}"/>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a:extLst>
                <a:ext uri="{FF2B5EF4-FFF2-40B4-BE49-F238E27FC236}">
                  <a16:creationId xmlns:a16="http://schemas.microsoft.com/office/drawing/2014/main" id="{D8739334-6B7E-317C-375B-8C2609D4F8DF}"/>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a:extLst>
              <a:ext uri="{FF2B5EF4-FFF2-40B4-BE49-F238E27FC236}">
                <a16:creationId xmlns:a16="http://schemas.microsoft.com/office/drawing/2014/main" id="{0F88C744-C624-75F3-DD4E-A50253DB30A5}"/>
              </a:ext>
            </a:extLst>
          </p:cNvPr>
          <p:cNvGrpSpPr/>
          <p:nvPr/>
        </p:nvGrpSpPr>
        <p:grpSpPr>
          <a:xfrm>
            <a:off x="1283841" y="2055888"/>
            <a:ext cx="533400" cy="984427"/>
            <a:chOff x="2459424" y="4263014"/>
            <a:chExt cx="533400" cy="1312569"/>
          </a:xfrm>
        </p:grpSpPr>
        <p:grpSp>
          <p:nvGrpSpPr>
            <p:cNvPr id="123" name="组合 122">
              <a:extLst>
                <a:ext uri="{FF2B5EF4-FFF2-40B4-BE49-F238E27FC236}">
                  <a16:creationId xmlns:a16="http://schemas.microsoft.com/office/drawing/2014/main" id="{01774E85-9DB6-AA65-BE79-4F107C980036}"/>
                </a:ext>
              </a:extLst>
            </p:cNvPr>
            <p:cNvGrpSpPr/>
            <p:nvPr/>
          </p:nvGrpSpPr>
          <p:grpSpPr>
            <a:xfrm>
              <a:off x="2459424" y="4263014"/>
              <a:ext cx="533400" cy="1312569"/>
              <a:chOff x="3344047" y="4287041"/>
              <a:chExt cx="533400" cy="1312569"/>
            </a:xfrm>
          </p:grpSpPr>
          <p:sp>
            <p:nvSpPr>
              <p:cNvPr id="125" name="Rectangle 5">
                <a:extLst>
                  <a:ext uri="{FF2B5EF4-FFF2-40B4-BE49-F238E27FC236}">
                    <a16:creationId xmlns:a16="http://schemas.microsoft.com/office/drawing/2014/main" id="{B5F8346D-8ED0-4D7F-6A0D-AEE400EC440A}"/>
                  </a:ext>
                </a:extLst>
              </p:cNvPr>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a:extLst>
                  <a:ext uri="{FF2B5EF4-FFF2-40B4-BE49-F238E27FC236}">
                    <a16:creationId xmlns:a16="http://schemas.microsoft.com/office/drawing/2014/main" id="{ADB2901B-4E18-1244-136B-2AFA9AAC7E71}"/>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a:extLst>
                  <a:ext uri="{FF2B5EF4-FFF2-40B4-BE49-F238E27FC236}">
                    <a16:creationId xmlns:a16="http://schemas.microsoft.com/office/drawing/2014/main" id="{B54DDB39-E2B9-15C5-01B9-7C1EBCE5D58B}"/>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a:extLst>
                <a:ext uri="{FF2B5EF4-FFF2-40B4-BE49-F238E27FC236}">
                  <a16:creationId xmlns:a16="http://schemas.microsoft.com/office/drawing/2014/main" id="{6D296393-C8A9-6F78-83B0-B6E61DFCED2C}"/>
                </a:ext>
              </a:extLst>
            </p:cNvPr>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a:extLst>
              <a:ext uri="{FF2B5EF4-FFF2-40B4-BE49-F238E27FC236}">
                <a16:creationId xmlns:a16="http://schemas.microsoft.com/office/drawing/2014/main" id="{F77676CB-5AE4-C9F7-E9AF-A7168A9AB43A}"/>
              </a:ext>
            </a:extLst>
          </p:cNvPr>
          <p:cNvSpPr>
            <a:spLocks noChangeShapeType="1"/>
          </p:cNvSpPr>
          <p:nvPr/>
        </p:nvSpPr>
        <p:spPr bwMode="auto">
          <a:xfrm flipH="1">
            <a:off x="182778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a:extLst>
              <a:ext uri="{FF2B5EF4-FFF2-40B4-BE49-F238E27FC236}">
                <a16:creationId xmlns:a16="http://schemas.microsoft.com/office/drawing/2014/main" id="{726325FF-7B71-FBB0-60C3-DBE78A7639BD}"/>
              </a:ext>
            </a:extLst>
          </p:cNvPr>
          <p:cNvSpPr>
            <a:spLocks noChangeShapeType="1"/>
          </p:cNvSpPr>
          <p:nvPr/>
        </p:nvSpPr>
        <p:spPr bwMode="auto">
          <a:xfrm>
            <a:off x="1703118"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a:extLst>
              <a:ext uri="{FF2B5EF4-FFF2-40B4-BE49-F238E27FC236}">
                <a16:creationId xmlns:a16="http://schemas.microsoft.com/office/drawing/2014/main" id="{1F6FD0E7-2A52-A7F0-0328-B8DC3C29BC02}"/>
              </a:ext>
            </a:extLst>
          </p:cNvPr>
          <p:cNvSpPr>
            <a:spLocks noChangeShapeType="1"/>
          </p:cNvSpPr>
          <p:nvPr/>
        </p:nvSpPr>
        <p:spPr bwMode="auto">
          <a:xfrm>
            <a:off x="2761967"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a:extLst>
              <a:ext uri="{FF2B5EF4-FFF2-40B4-BE49-F238E27FC236}">
                <a16:creationId xmlns:a16="http://schemas.microsoft.com/office/drawing/2014/main" id="{73BFB1E4-D557-F43E-3A8C-247CAB627D8F}"/>
              </a:ext>
            </a:extLst>
          </p:cNvPr>
          <p:cNvSpPr>
            <a:spLocks noChangeShapeType="1"/>
          </p:cNvSpPr>
          <p:nvPr/>
        </p:nvSpPr>
        <p:spPr bwMode="auto">
          <a:xfrm>
            <a:off x="3884001"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 name="Line 29">
            <a:extLst>
              <a:ext uri="{FF2B5EF4-FFF2-40B4-BE49-F238E27FC236}">
                <a16:creationId xmlns:a16="http://schemas.microsoft.com/office/drawing/2014/main" id="{6A08331D-7180-3764-F3B2-63F27F304659}"/>
              </a:ext>
            </a:extLst>
          </p:cNvPr>
          <p:cNvSpPr>
            <a:spLocks noChangeShapeType="1"/>
          </p:cNvSpPr>
          <p:nvPr/>
        </p:nvSpPr>
        <p:spPr bwMode="auto">
          <a:xfrm>
            <a:off x="5108975"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a:extLst>
              <a:ext uri="{FF2B5EF4-FFF2-40B4-BE49-F238E27FC236}">
                <a16:creationId xmlns:a16="http://schemas.microsoft.com/office/drawing/2014/main" id="{EF41585D-56C5-EC31-3CA3-37EEF44EC8F6}"/>
              </a:ext>
            </a:extLst>
          </p:cNvPr>
          <p:cNvSpPr>
            <a:spLocks noChangeShapeType="1"/>
          </p:cNvSpPr>
          <p:nvPr/>
        </p:nvSpPr>
        <p:spPr bwMode="auto">
          <a:xfrm>
            <a:off x="6167823"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a:extLst>
              <a:ext uri="{FF2B5EF4-FFF2-40B4-BE49-F238E27FC236}">
                <a16:creationId xmlns:a16="http://schemas.microsoft.com/office/drawing/2014/main" id="{843C75F7-9CB4-B7B2-8D56-B9E6EA7B4130}"/>
              </a:ext>
            </a:extLst>
          </p:cNvPr>
          <p:cNvSpPr>
            <a:spLocks noChangeShapeType="1"/>
          </p:cNvSpPr>
          <p:nvPr/>
        </p:nvSpPr>
        <p:spPr bwMode="auto">
          <a:xfrm>
            <a:off x="7336602" y="2901815"/>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a:extLst>
              <a:ext uri="{FF2B5EF4-FFF2-40B4-BE49-F238E27FC236}">
                <a16:creationId xmlns:a16="http://schemas.microsoft.com/office/drawing/2014/main" id="{31FC128C-94BE-E824-F16C-C282FDBBFF92}"/>
              </a:ext>
            </a:extLst>
          </p:cNvPr>
          <p:cNvSpPr>
            <a:spLocks noChangeShapeType="1"/>
          </p:cNvSpPr>
          <p:nvPr/>
        </p:nvSpPr>
        <p:spPr bwMode="auto">
          <a:xfrm flipH="1">
            <a:off x="7892423" y="2226447"/>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29">
            <a:extLst>
              <a:ext uri="{FF2B5EF4-FFF2-40B4-BE49-F238E27FC236}">
                <a16:creationId xmlns:a16="http://schemas.microsoft.com/office/drawing/2014/main" id="{BB3A8B6F-2F09-27A8-F8EA-457CC3C98C32}"/>
              </a:ext>
            </a:extLst>
          </p:cNvPr>
          <p:cNvSpPr>
            <a:spLocks noChangeShapeType="1"/>
          </p:cNvSpPr>
          <p:nvPr/>
        </p:nvSpPr>
        <p:spPr bwMode="auto">
          <a:xfrm flipH="1">
            <a:off x="628194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7" name="Line 29">
            <a:extLst>
              <a:ext uri="{FF2B5EF4-FFF2-40B4-BE49-F238E27FC236}">
                <a16:creationId xmlns:a16="http://schemas.microsoft.com/office/drawing/2014/main" id="{DB1C3E68-FC27-637B-C617-5406ED86EFF1}"/>
              </a:ext>
            </a:extLst>
          </p:cNvPr>
          <p:cNvSpPr>
            <a:spLocks noChangeShapeType="1"/>
          </p:cNvSpPr>
          <p:nvPr/>
        </p:nvSpPr>
        <p:spPr bwMode="auto">
          <a:xfrm flipH="1">
            <a:off x="5223098"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a:extLst>
              <a:ext uri="{FF2B5EF4-FFF2-40B4-BE49-F238E27FC236}">
                <a16:creationId xmlns:a16="http://schemas.microsoft.com/office/drawing/2014/main" id="{9D3259FD-D00D-13D4-74FA-09B133336D45}"/>
              </a:ext>
            </a:extLst>
          </p:cNvPr>
          <p:cNvSpPr>
            <a:spLocks noChangeShapeType="1"/>
          </p:cNvSpPr>
          <p:nvPr/>
        </p:nvSpPr>
        <p:spPr bwMode="auto">
          <a:xfrm flipH="1">
            <a:off x="4344742" y="2226447"/>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a:extLst>
              <a:ext uri="{FF2B5EF4-FFF2-40B4-BE49-F238E27FC236}">
                <a16:creationId xmlns:a16="http://schemas.microsoft.com/office/drawing/2014/main" id="{5D18E79A-EC64-05BB-F745-FE5B396CE953}"/>
              </a:ext>
            </a:extLst>
          </p:cNvPr>
          <p:cNvSpPr>
            <a:spLocks noChangeShapeType="1"/>
          </p:cNvSpPr>
          <p:nvPr/>
        </p:nvSpPr>
        <p:spPr bwMode="auto">
          <a:xfrm flipH="1">
            <a:off x="2876090"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a:extLst>
              <a:ext uri="{FF2B5EF4-FFF2-40B4-BE49-F238E27FC236}">
                <a16:creationId xmlns:a16="http://schemas.microsoft.com/office/drawing/2014/main" id="{3A51A2EA-2E6F-74AD-4CDF-73F3E9B022D4}"/>
              </a:ext>
            </a:extLst>
          </p:cNvPr>
          <p:cNvSpPr>
            <a:spLocks noChangeShapeType="1"/>
          </p:cNvSpPr>
          <p:nvPr/>
        </p:nvSpPr>
        <p:spPr bwMode="auto">
          <a:xfrm>
            <a:off x="4344742"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a:extLst>
              <a:ext uri="{FF2B5EF4-FFF2-40B4-BE49-F238E27FC236}">
                <a16:creationId xmlns:a16="http://schemas.microsoft.com/office/drawing/2014/main" id="{E9FAE18B-C398-E9EB-F45B-8D14A30267CA}"/>
              </a:ext>
            </a:extLst>
          </p:cNvPr>
          <p:cNvSpPr>
            <a:spLocks noChangeShapeType="1"/>
          </p:cNvSpPr>
          <p:nvPr/>
        </p:nvSpPr>
        <p:spPr bwMode="auto">
          <a:xfrm>
            <a:off x="7892424"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a:extLst>
              <a:ext uri="{FF2B5EF4-FFF2-40B4-BE49-F238E27FC236}">
                <a16:creationId xmlns:a16="http://schemas.microsoft.com/office/drawing/2014/main" id="{A215A16F-1E09-F851-65F5-0754CC9271FD}"/>
              </a:ext>
            </a:extLst>
          </p:cNvPr>
          <p:cNvSpPr>
            <a:spLocks noChangeShapeType="1"/>
          </p:cNvSpPr>
          <p:nvPr/>
        </p:nvSpPr>
        <p:spPr bwMode="auto">
          <a:xfrm flipH="1">
            <a:off x="7483015" y="2226447"/>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a:extLst>
              <a:ext uri="{FF2B5EF4-FFF2-40B4-BE49-F238E27FC236}">
                <a16:creationId xmlns:a16="http://schemas.microsoft.com/office/drawing/2014/main" id="{CCE3DC48-6933-642E-A118-90197550D9E2}"/>
              </a:ext>
            </a:extLst>
          </p:cNvPr>
          <p:cNvSpPr>
            <a:spLocks noChangeShapeType="1"/>
          </p:cNvSpPr>
          <p:nvPr/>
        </p:nvSpPr>
        <p:spPr bwMode="auto">
          <a:xfrm flipH="1">
            <a:off x="3948323" y="2226447"/>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8" name="直接连接符 67">
            <a:extLst>
              <a:ext uri="{FF2B5EF4-FFF2-40B4-BE49-F238E27FC236}">
                <a16:creationId xmlns:a16="http://schemas.microsoft.com/office/drawing/2014/main" id="{BDE9BB23-7BAD-7626-E30F-C17115994A4B}"/>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E5A11B7A-2437-7725-C0A5-3D9E9DCC1EEB}"/>
              </a:ext>
            </a:extLst>
          </p:cNvPr>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60788F40-4BBF-15F6-39E7-CDACA8BF87A9}"/>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2" name="矩形 1">
            <a:extLst>
              <a:ext uri="{FF2B5EF4-FFF2-40B4-BE49-F238E27FC236}">
                <a16:creationId xmlns:a16="http://schemas.microsoft.com/office/drawing/2014/main" id="{8DA4FC00-79F2-C434-D449-EFA4F35C004F}"/>
              </a:ext>
            </a:extLst>
          </p:cNvPr>
          <p:cNvSpPr/>
          <p:nvPr/>
        </p:nvSpPr>
        <p:spPr>
          <a:xfrm>
            <a:off x="493821" y="1446757"/>
            <a:ext cx="3142075" cy="369332"/>
          </a:xfrm>
          <a:prstGeom prst="rect">
            <a:avLst/>
          </a:prstGeom>
        </p:spPr>
        <p:txBody>
          <a:bodyPr wrap="square">
            <a:spAutoFit/>
          </a:bodyPr>
          <a:lstStyle/>
          <a:p>
            <a:r>
              <a:rPr lang="en-US" altLang="zh-CN" dirty="0">
                <a:latin typeface="微软雅黑" pitchFamily="34" charset="-122"/>
                <a:ea typeface="微软雅黑" pitchFamily="34" charset="-122"/>
                <a:cs typeface="经典粗黑简" pitchFamily="49" charset="-122"/>
              </a:rPr>
              <a:t>2.3.3.2 </a:t>
            </a:r>
            <a:r>
              <a:rPr lang="zh-CN" altLang="en-US" dirty="0">
                <a:latin typeface="微软雅黑" pitchFamily="34" charset="-122"/>
                <a:ea typeface="微软雅黑" pitchFamily="34" charset="-122"/>
                <a:cs typeface="经典粗黑简" pitchFamily="49" charset="-122"/>
              </a:rPr>
              <a:t>删除结点操作</a:t>
            </a:r>
          </a:p>
        </p:txBody>
      </p:sp>
      <p:sp>
        <p:nvSpPr>
          <p:cNvPr id="11" name="Rectangle 228">
            <a:extLst>
              <a:ext uri="{FF2B5EF4-FFF2-40B4-BE49-F238E27FC236}">
                <a16:creationId xmlns:a16="http://schemas.microsoft.com/office/drawing/2014/main" id="{CFB24432-2CB0-09FE-8834-0AEA4E06FD6B}"/>
              </a:ext>
            </a:extLst>
          </p:cNvPr>
          <p:cNvSpPr>
            <a:spLocks noChangeArrowheads="1"/>
          </p:cNvSpPr>
          <p:nvPr/>
        </p:nvSpPr>
        <p:spPr bwMode="auto">
          <a:xfrm>
            <a:off x="5368242" y="1427098"/>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q</a:t>
            </a:r>
          </a:p>
        </p:txBody>
      </p:sp>
      <p:sp>
        <p:nvSpPr>
          <p:cNvPr id="12" name="Line 29">
            <a:extLst>
              <a:ext uri="{FF2B5EF4-FFF2-40B4-BE49-F238E27FC236}">
                <a16:creationId xmlns:a16="http://schemas.microsoft.com/office/drawing/2014/main" id="{12DA1972-5251-CAB6-9D22-0A83EF8CD968}"/>
              </a:ext>
            </a:extLst>
          </p:cNvPr>
          <p:cNvSpPr>
            <a:spLocks noChangeShapeType="1"/>
          </p:cNvSpPr>
          <p:nvPr/>
        </p:nvSpPr>
        <p:spPr bwMode="auto">
          <a:xfrm>
            <a:off x="5589963" y="1767837"/>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矩形 8">
            <a:extLst>
              <a:ext uri="{FF2B5EF4-FFF2-40B4-BE49-F238E27FC236}">
                <a16:creationId xmlns:a16="http://schemas.microsoft.com/office/drawing/2014/main" id="{95EFCCE0-FC76-805E-B7D0-05FE4B05CD25}"/>
              </a:ext>
            </a:extLst>
          </p:cNvPr>
          <p:cNvSpPr/>
          <p:nvPr/>
        </p:nvSpPr>
        <p:spPr>
          <a:xfrm>
            <a:off x="-17178" y="3027210"/>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13" name="矩形 12">
            <a:extLst>
              <a:ext uri="{FF2B5EF4-FFF2-40B4-BE49-F238E27FC236}">
                <a16:creationId xmlns:a16="http://schemas.microsoft.com/office/drawing/2014/main" id="{FA4777BA-07F9-3EF9-2786-74AAC19CAEDE}"/>
              </a:ext>
            </a:extLst>
          </p:cNvPr>
          <p:cNvSpPr/>
          <p:nvPr/>
        </p:nvSpPr>
        <p:spPr>
          <a:xfrm>
            <a:off x="412635" y="3312174"/>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18" name="Rectangle 55">
            <a:extLst>
              <a:ext uri="{FF2B5EF4-FFF2-40B4-BE49-F238E27FC236}">
                <a16:creationId xmlns:a16="http://schemas.microsoft.com/office/drawing/2014/main" id="{404752E4-E299-EA7C-AC94-AAAE51787675}"/>
              </a:ext>
            </a:extLst>
          </p:cNvPr>
          <p:cNvSpPr>
            <a:spLocks noChangeArrowheads="1"/>
          </p:cNvSpPr>
          <p:nvPr/>
        </p:nvSpPr>
        <p:spPr bwMode="auto">
          <a:xfrm>
            <a:off x="5589963" y="1419798"/>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4" name="Rectangle 228">
            <a:extLst>
              <a:ext uri="{FF2B5EF4-FFF2-40B4-BE49-F238E27FC236}">
                <a16:creationId xmlns:a16="http://schemas.microsoft.com/office/drawing/2014/main" id="{9D29D438-5F61-77FB-3458-4EC3E61BFF48}"/>
              </a:ext>
            </a:extLst>
          </p:cNvPr>
          <p:cNvSpPr>
            <a:spLocks noChangeArrowheads="1"/>
          </p:cNvSpPr>
          <p:nvPr/>
        </p:nvSpPr>
        <p:spPr bwMode="auto">
          <a:xfrm>
            <a:off x="4195312" y="143792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p</a:t>
            </a:r>
          </a:p>
        </p:txBody>
      </p:sp>
      <p:sp>
        <p:nvSpPr>
          <p:cNvPr id="5" name="Line 29">
            <a:extLst>
              <a:ext uri="{FF2B5EF4-FFF2-40B4-BE49-F238E27FC236}">
                <a16:creationId xmlns:a16="http://schemas.microsoft.com/office/drawing/2014/main" id="{19D041F5-3C26-01FD-D0FC-0E12E28AC3BD}"/>
              </a:ext>
            </a:extLst>
          </p:cNvPr>
          <p:cNvSpPr>
            <a:spLocks noChangeShapeType="1"/>
          </p:cNvSpPr>
          <p:nvPr/>
        </p:nvSpPr>
        <p:spPr bwMode="auto">
          <a:xfrm>
            <a:off x="4417033" y="1778661"/>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Rectangle 55">
            <a:extLst>
              <a:ext uri="{FF2B5EF4-FFF2-40B4-BE49-F238E27FC236}">
                <a16:creationId xmlns:a16="http://schemas.microsoft.com/office/drawing/2014/main" id="{CA6477EE-B077-7304-9F00-F7904EAB4347}"/>
              </a:ext>
            </a:extLst>
          </p:cNvPr>
          <p:cNvSpPr>
            <a:spLocks noChangeArrowheads="1"/>
          </p:cNvSpPr>
          <p:nvPr/>
        </p:nvSpPr>
        <p:spPr bwMode="auto">
          <a:xfrm>
            <a:off x="4417033" y="1430622"/>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7" name="矩形 6">
            <a:extLst>
              <a:ext uri="{FF2B5EF4-FFF2-40B4-BE49-F238E27FC236}">
                <a16:creationId xmlns:a16="http://schemas.microsoft.com/office/drawing/2014/main" id="{98CEF122-A3A1-36D3-D5F3-639274F0C5CD}"/>
              </a:ext>
            </a:extLst>
          </p:cNvPr>
          <p:cNvSpPr/>
          <p:nvPr/>
        </p:nvSpPr>
        <p:spPr>
          <a:xfrm>
            <a:off x="420097" y="3685542"/>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设置</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指针指向待删除结点；</a:t>
            </a:r>
          </a:p>
        </p:txBody>
      </p:sp>
      <p:sp>
        <p:nvSpPr>
          <p:cNvPr id="8" name="矩形 7">
            <a:extLst>
              <a:ext uri="{FF2B5EF4-FFF2-40B4-BE49-F238E27FC236}">
                <a16:creationId xmlns:a16="http://schemas.microsoft.com/office/drawing/2014/main" id="{D0D5885C-0B0F-1755-8EC7-EEC846DD5F47}"/>
              </a:ext>
            </a:extLst>
          </p:cNvPr>
          <p:cNvSpPr/>
          <p:nvPr/>
        </p:nvSpPr>
        <p:spPr>
          <a:xfrm>
            <a:off x="412303" y="4076573"/>
            <a:ext cx="3151585"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③ 设置</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结点的新后继；</a:t>
            </a:r>
          </a:p>
        </p:txBody>
      </p:sp>
      <p:sp>
        <p:nvSpPr>
          <p:cNvPr id="14" name="Rectangle 55">
            <a:extLst>
              <a:ext uri="{FF2B5EF4-FFF2-40B4-BE49-F238E27FC236}">
                <a16:creationId xmlns:a16="http://schemas.microsoft.com/office/drawing/2014/main" id="{E1F87297-C973-A329-DE01-5533BD5B8F8B}"/>
              </a:ext>
            </a:extLst>
          </p:cNvPr>
          <p:cNvSpPr>
            <a:spLocks noChangeArrowheads="1"/>
          </p:cNvSpPr>
          <p:nvPr/>
        </p:nvSpPr>
        <p:spPr bwMode="auto">
          <a:xfrm>
            <a:off x="5969961" y="334635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5" name="Line 29">
            <a:extLst>
              <a:ext uri="{FF2B5EF4-FFF2-40B4-BE49-F238E27FC236}">
                <a16:creationId xmlns:a16="http://schemas.microsoft.com/office/drawing/2014/main" id="{488E919C-5828-1411-DA31-82E6DD73D965}"/>
              </a:ext>
            </a:extLst>
          </p:cNvPr>
          <p:cNvSpPr>
            <a:spLocks noChangeShapeType="1"/>
          </p:cNvSpPr>
          <p:nvPr/>
        </p:nvSpPr>
        <p:spPr bwMode="auto">
          <a:xfrm flipH="1" flipV="1">
            <a:off x="6901343" y="3027210"/>
            <a:ext cx="0" cy="40011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29">
            <a:extLst>
              <a:ext uri="{FF2B5EF4-FFF2-40B4-BE49-F238E27FC236}">
                <a16:creationId xmlns:a16="http://schemas.microsoft.com/office/drawing/2014/main" id="{35037FCD-E1B0-7172-78FD-A1AA229FD9F4}"/>
              </a:ext>
            </a:extLst>
          </p:cNvPr>
          <p:cNvSpPr>
            <a:spLocks noChangeShapeType="1"/>
          </p:cNvSpPr>
          <p:nvPr/>
        </p:nvSpPr>
        <p:spPr bwMode="auto">
          <a:xfrm>
            <a:off x="4932040" y="3427320"/>
            <a:ext cx="1969303"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29">
            <a:extLst>
              <a:ext uri="{FF2B5EF4-FFF2-40B4-BE49-F238E27FC236}">
                <a16:creationId xmlns:a16="http://schemas.microsoft.com/office/drawing/2014/main" id="{EE80D0FC-D605-6A48-6DD9-8AE4FEBA83D6}"/>
              </a:ext>
            </a:extLst>
          </p:cNvPr>
          <p:cNvSpPr>
            <a:spLocks noChangeShapeType="1"/>
          </p:cNvSpPr>
          <p:nvPr/>
        </p:nvSpPr>
        <p:spPr bwMode="auto">
          <a:xfrm flipH="1" flipV="1">
            <a:off x="4923264" y="2930899"/>
            <a:ext cx="0" cy="496421"/>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Rectangle 55">
            <a:extLst>
              <a:ext uri="{FF2B5EF4-FFF2-40B4-BE49-F238E27FC236}">
                <a16:creationId xmlns:a16="http://schemas.microsoft.com/office/drawing/2014/main" id="{C617B3C9-EF93-BEEF-A7F0-9F577B927F41}"/>
              </a:ext>
            </a:extLst>
          </p:cNvPr>
          <p:cNvSpPr>
            <a:spLocks noChangeArrowheads="1"/>
          </p:cNvSpPr>
          <p:nvPr/>
        </p:nvSpPr>
        <p:spPr bwMode="auto">
          <a:xfrm>
            <a:off x="5195637" y="2680675"/>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sym typeface="Wingdings 2" panose="05020102010507070707" pitchFamily="18" charset="2"/>
              </a:rPr>
              <a:t></a:t>
            </a:r>
            <a:endParaRPr kumimoji="0" lang="zh-CN" altLang="en-US" sz="2400" dirty="0">
              <a:solidFill>
                <a:srgbClr val="FF0000"/>
              </a:solidFill>
              <a:ea typeface="CFNEOP+TimesNewRoman" charset="-122"/>
            </a:endParaRPr>
          </a:p>
        </p:txBody>
      </p:sp>
      <p:sp>
        <p:nvSpPr>
          <p:cNvPr id="21" name="文本框 20">
            <a:extLst>
              <a:ext uri="{FF2B5EF4-FFF2-40B4-BE49-F238E27FC236}">
                <a16:creationId xmlns:a16="http://schemas.microsoft.com/office/drawing/2014/main" id="{3407771B-2A2F-98BC-99AA-509B97132B94}"/>
              </a:ext>
            </a:extLst>
          </p:cNvPr>
          <p:cNvSpPr txBox="1"/>
          <p:nvPr/>
        </p:nvSpPr>
        <p:spPr>
          <a:xfrm>
            <a:off x="2102001" y="4496010"/>
            <a:ext cx="6187272" cy="398827"/>
          </a:xfrm>
          <a:prstGeom prst="rect">
            <a:avLst/>
          </a:prstGeom>
          <a:noFill/>
        </p:spPr>
        <p:txBody>
          <a:bodyPr wrap="square">
            <a:spAutoFit/>
          </a:bodyPr>
          <a:lstStyle/>
          <a:p>
            <a:pPr>
              <a:lnSpc>
                <a:spcPts val="2600"/>
              </a:lnSpc>
            </a:pPr>
            <a:r>
              <a:rPr kumimoji="1" lang="en-US" altLang="zh-CN" sz="1800" dirty="0">
                <a:solidFill>
                  <a:srgbClr val="0000FF"/>
                </a:solidFill>
                <a:latin typeface="Consolas" pitchFamily="49" charset="0"/>
                <a:ea typeface="仿宋" pitchFamily="49" charset="-122"/>
                <a:cs typeface="Consolas" pitchFamily="49" charset="0"/>
              </a:rPr>
              <a:t>p-&gt;next=q-&gt;next</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dirty="0">
                <a:solidFill>
                  <a:srgbClr val="0000FF"/>
                </a:solidFill>
                <a:latin typeface="Consolas" pitchFamily="49" charset="0"/>
                <a:ea typeface="仿宋" pitchFamily="49" charset="-122"/>
                <a:cs typeface="Consolas" pitchFamily="49" charset="0"/>
              </a:rPr>
              <a:t>// p-&gt;next=p-&gt;next-&gt;next</a:t>
            </a:r>
            <a:r>
              <a:rPr kumimoji="1" lang="zh-CN" altLang="en-US"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	</a:t>
            </a:r>
            <a:endParaRPr lang="zh-CN" altLang="en-US" dirty="0"/>
          </a:p>
        </p:txBody>
      </p:sp>
    </p:spTree>
    <p:extLst>
      <p:ext uri="{BB962C8B-B14F-4D97-AF65-F5344CB8AC3E}">
        <p14:creationId xmlns:p14="http://schemas.microsoft.com/office/powerpoint/2010/main" val="224722526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84F5E-D7E2-5FAB-0479-FD0005433CF1}"/>
            </a:ext>
          </a:extLst>
        </p:cNvPr>
        <p:cNvGrpSpPr/>
        <p:nvPr/>
      </p:nvGrpSpPr>
      <p:grpSpPr>
        <a:xfrm>
          <a:off x="0" y="0"/>
          <a:ext cx="0" cy="0"/>
          <a:chOff x="0" y="0"/>
          <a:chExt cx="0" cy="0"/>
        </a:xfrm>
      </p:grpSpPr>
      <p:sp>
        <p:nvSpPr>
          <p:cNvPr id="47" name="Rectangle 25">
            <a:extLst>
              <a:ext uri="{FF2B5EF4-FFF2-40B4-BE49-F238E27FC236}">
                <a16:creationId xmlns:a16="http://schemas.microsoft.com/office/drawing/2014/main" id="{0042F692-79CF-3185-969B-523A73D8FD5B}"/>
              </a:ext>
            </a:extLst>
          </p:cNvPr>
          <p:cNvSpPr>
            <a:spLocks noChangeArrowheads="1"/>
          </p:cNvSpPr>
          <p:nvPr/>
        </p:nvSpPr>
        <p:spPr bwMode="auto">
          <a:xfrm>
            <a:off x="7620379" y="239960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a:extLst>
              <a:ext uri="{FF2B5EF4-FFF2-40B4-BE49-F238E27FC236}">
                <a16:creationId xmlns:a16="http://schemas.microsoft.com/office/drawing/2014/main" id="{6D99C04D-FE0E-178B-C1BD-F51A1D3ABA7D}"/>
              </a:ext>
            </a:extLst>
          </p:cNvPr>
          <p:cNvSpPr>
            <a:spLocks noChangeArrowheads="1"/>
          </p:cNvSpPr>
          <p:nvPr/>
        </p:nvSpPr>
        <p:spPr bwMode="auto">
          <a:xfrm>
            <a:off x="4014473" y="23887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a:extLst>
              <a:ext uri="{FF2B5EF4-FFF2-40B4-BE49-F238E27FC236}">
                <a16:creationId xmlns:a16="http://schemas.microsoft.com/office/drawing/2014/main" id="{BF4FE284-AE2D-10BF-A859-2DC0721E9CFE}"/>
              </a:ext>
            </a:extLst>
          </p:cNvPr>
          <p:cNvSpPr>
            <a:spLocks noChangeShapeType="1"/>
          </p:cNvSpPr>
          <p:nvPr/>
        </p:nvSpPr>
        <p:spPr bwMode="auto">
          <a:xfrm>
            <a:off x="631856" y="2232697"/>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a:extLst>
              <a:ext uri="{FF2B5EF4-FFF2-40B4-BE49-F238E27FC236}">
                <a16:creationId xmlns:a16="http://schemas.microsoft.com/office/drawing/2014/main" id="{FD765BB1-26B0-9205-0515-E0A3F0DE06EB}"/>
              </a:ext>
            </a:extLst>
          </p:cNvPr>
          <p:cNvSpPr>
            <a:spLocks noChangeArrowheads="1"/>
          </p:cNvSpPr>
          <p:nvPr/>
        </p:nvSpPr>
        <p:spPr bwMode="auto">
          <a:xfrm>
            <a:off x="366211" y="203479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95" name="组合 94">
            <a:extLst>
              <a:ext uri="{FF2B5EF4-FFF2-40B4-BE49-F238E27FC236}">
                <a16:creationId xmlns:a16="http://schemas.microsoft.com/office/drawing/2014/main" id="{56CC2C9F-6472-F473-E045-5EC3907B8A6A}"/>
              </a:ext>
            </a:extLst>
          </p:cNvPr>
          <p:cNvGrpSpPr/>
          <p:nvPr/>
        </p:nvGrpSpPr>
        <p:grpSpPr>
          <a:xfrm>
            <a:off x="2342689" y="2055888"/>
            <a:ext cx="533400" cy="984427"/>
            <a:chOff x="3344047" y="4287041"/>
            <a:chExt cx="533400" cy="1312569"/>
          </a:xfrm>
        </p:grpSpPr>
        <p:sp>
          <p:nvSpPr>
            <p:cNvPr id="97" name="Rectangle 5">
              <a:extLst>
                <a:ext uri="{FF2B5EF4-FFF2-40B4-BE49-F238E27FC236}">
                  <a16:creationId xmlns:a16="http://schemas.microsoft.com/office/drawing/2014/main" id="{F594B590-F8D7-3E5D-BA7C-FF1C3B7E07D8}"/>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a:extLst>
                <a:ext uri="{FF2B5EF4-FFF2-40B4-BE49-F238E27FC236}">
                  <a16:creationId xmlns:a16="http://schemas.microsoft.com/office/drawing/2014/main" id="{EC5696B5-FD8C-23E6-FC2E-BB7BA5453D6D}"/>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a:extLst>
                <a:ext uri="{FF2B5EF4-FFF2-40B4-BE49-F238E27FC236}">
                  <a16:creationId xmlns:a16="http://schemas.microsoft.com/office/drawing/2014/main" id="{AA24FF52-5041-1AB5-434B-B927E8F47F7F}"/>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a:extLst>
              <a:ext uri="{FF2B5EF4-FFF2-40B4-BE49-F238E27FC236}">
                <a16:creationId xmlns:a16="http://schemas.microsoft.com/office/drawing/2014/main" id="{5EBC9D79-474A-8337-2803-126A492BCD41}"/>
              </a:ext>
            </a:extLst>
          </p:cNvPr>
          <p:cNvGrpSpPr/>
          <p:nvPr/>
        </p:nvGrpSpPr>
        <p:grpSpPr>
          <a:xfrm>
            <a:off x="3401537" y="2055888"/>
            <a:ext cx="533400" cy="984427"/>
            <a:chOff x="3344047" y="4287041"/>
            <a:chExt cx="533400" cy="1312569"/>
          </a:xfrm>
        </p:grpSpPr>
        <p:sp>
          <p:nvSpPr>
            <p:cNvPr id="101" name="Rectangle 5">
              <a:extLst>
                <a:ext uri="{FF2B5EF4-FFF2-40B4-BE49-F238E27FC236}">
                  <a16:creationId xmlns:a16="http://schemas.microsoft.com/office/drawing/2014/main" id="{4D4CB9B5-E13D-28B7-63ED-579769352881}"/>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31DAB9DF-C82C-6B0E-113E-43B839540CD7}"/>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a:extLst>
                <a:ext uri="{FF2B5EF4-FFF2-40B4-BE49-F238E27FC236}">
                  <a16:creationId xmlns:a16="http://schemas.microsoft.com/office/drawing/2014/main" id="{3FB0A7F2-24F3-7D2A-4AEF-E319F52D7060}"/>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a:extLst>
              <a:ext uri="{FF2B5EF4-FFF2-40B4-BE49-F238E27FC236}">
                <a16:creationId xmlns:a16="http://schemas.microsoft.com/office/drawing/2014/main" id="{74C694EC-C7B8-D750-26B6-00D7D746AA9D}"/>
              </a:ext>
            </a:extLst>
          </p:cNvPr>
          <p:cNvGrpSpPr/>
          <p:nvPr/>
        </p:nvGrpSpPr>
        <p:grpSpPr>
          <a:xfrm>
            <a:off x="4547475" y="2055888"/>
            <a:ext cx="675622" cy="984427"/>
            <a:chOff x="3344047" y="4287041"/>
            <a:chExt cx="533400" cy="1312569"/>
          </a:xfrm>
        </p:grpSpPr>
        <p:sp>
          <p:nvSpPr>
            <p:cNvPr id="105" name="Rectangle 5">
              <a:extLst>
                <a:ext uri="{FF2B5EF4-FFF2-40B4-BE49-F238E27FC236}">
                  <a16:creationId xmlns:a16="http://schemas.microsoft.com/office/drawing/2014/main" id="{8B9DD1D9-C864-949B-2C86-974815C45260}"/>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a:extLst>
                <a:ext uri="{FF2B5EF4-FFF2-40B4-BE49-F238E27FC236}">
                  <a16:creationId xmlns:a16="http://schemas.microsoft.com/office/drawing/2014/main" id="{5EC3EBAA-D84A-A8C5-0EB0-2087FD2DB5C3}"/>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a:extLst>
                <a:ext uri="{FF2B5EF4-FFF2-40B4-BE49-F238E27FC236}">
                  <a16:creationId xmlns:a16="http://schemas.microsoft.com/office/drawing/2014/main" id="{495C96A8-9E60-30F2-B1BE-2FA7AC77EE5E}"/>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a:extLst>
              <a:ext uri="{FF2B5EF4-FFF2-40B4-BE49-F238E27FC236}">
                <a16:creationId xmlns:a16="http://schemas.microsoft.com/office/drawing/2014/main" id="{0861A990-C78C-9352-90AF-EA55918229E1}"/>
              </a:ext>
            </a:extLst>
          </p:cNvPr>
          <p:cNvGrpSpPr/>
          <p:nvPr/>
        </p:nvGrpSpPr>
        <p:grpSpPr>
          <a:xfrm>
            <a:off x="8095554" y="2055887"/>
            <a:ext cx="533400" cy="1076760"/>
            <a:chOff x="9096957" y="4287040"/>
            <a:chExt cx="533400" cy="1435680"/>
          </a:xfrm>
        </p:grpSpPr>
        <p:grpSp>
          <p:nvGrpSpPr>
            <p:cNvPr id="109" name="组合 108">
              <a:extLst>
                <a:ext uri="{FF2B5EF4-FFF2-40B4-BE49-F238E27FC236}">
                  <a16:creationId xmlns:a16="http://schemas.microsoft.com/office/drawing/2014/main" id="{63F62848-5C0D-BF76-A5C0-F547736DF8B9}"/>
                </a:ext>
              </a:extLst>
            </p:cNvPr>
            <p:cNvGrpSpPr/>
            <p:nvPr/>
          </p:nvGrpSpPr>
          <p:grpSpPr>
            <a:xfrm>
              <a:off x="9096957" y="4287040"/>
              <a:ext cx="533400" cy="1312569"/>
              <a:chOff x="3344047" y="4287041"/>
              <a:chExt cx="533400" cy="1312569"/>
            </a:xfrm>
          </p:grpSpPr>
          <p:sp>
            <p:nvSpPr>
              <p:cNvPr id="111" name="Rectangle 5">
                <a:extLst>
                  <a:ext uri="{FF2B5EF4-FFF2-40B4-BE49-F238E27FC236}">
                    <a16:creationId xmlns:a16="http://schemas.microsoft.com/office/drawing/2014/main" id="{DC7DB411-F2FD-3F00-25E1-52C8C6E1AEFE}"/>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a:extLst>
                  <a:ext uri="{FF2B5EF4-FFF2-40B4-BE49-F238E27FC236}">
                    <a16:creationId xmlns:a16="http://schemas.microsoft.com/office/drawing/2014/main" id="{D481906C-7831-6528-FEB1-95A0712281A2}"/>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a:extLst>
                  <a:ext uri="{FF2B5EF4-FFF2-40B4-BE49-F238E27FC236}">
                    <a16:creationId xmlns:a16="http://schemas.microsoft.com/office/drawing/2014/main" id="{5B390123-ED77-73BB-1D18-94376620DA25}"/>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a:extLst>
                <a:ext uri="{FF2B5EF4-FFF2-40B4-BE49-F238E27FC236}">
                  <a16:creationId xmlns:a16="http://schemas.microsoft.com/office/drawing/2014/main" id="{DB7F6DBF-07EA-3E8A-3BFC-1067C3F2442B}"/>
                </a:ext>
              </a:extLst>
            </p:cNvPr>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a:extLst>
              <a:ext uri="{FF2B5EF4-FFF2-40B4-BE49-F238E27FC236}">
                <a16:creationId xmlns:a16="http://schemas.microsoft.com/office/drawing/2014/main" id="{6235E8E1-CD34-63DD-D415-FF5682DEFC0B}"/>
              </a:ext>
            </a:extLst>
          </p:cNvPr>
          <p:cNvGrpSpPr/>
          <p:nvPr/>
        </p:nvGrpSpPr>
        <p:grpSpPr>
          <a:xfrm>
            <a:off x="5748545" y="2055888"/>
            <a:ext cx="533400" cy="984427"/>
            <a:chOff x="3344047" y="4287041"/>
            <a:chExt cx="533400" cy="1312569"/>
          </a:xfrm>
        </p:grpSpPr>
        <p:sp>
          <p:nvSpPr>
            <p:cNvPr id="115" name="Rectangle 5">
              <a:extLst>
                <a:ext uri="{FF2B5EF4-FFF2-40B4-BE49-F238E27FC236}">
                  <a16:creationId xmlns:a16="http://schemas.microsoft.com/office/drawing/2014/main" id="{CD8BA1D6-8A7B-C98A-88B9-94702C8CCF20}"/>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a:extLst>
                <a:ext uri="{FF2B5EF4-FFF2-40B4-BE49-F238E27FC236}">
                  <a16:creationId xmlns:a16="http://schemas.microsoft.com/office/drawing/2014/main" id="{9EC352E5-530A-40B4-37D8-3D5F7DA6CAF6}"/>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
              <a:extLst>
                <a:ext uri="{FF2B5EF4-FFF2-40B4-BE49-F238E27FC236}">
                  <a16:creationId xmlns:a16="http://schemas.microsoft.com/office/drawing/2014/main" id="{49FFD801-075E-E74B-E993-3D39043BFBE9}"/>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组合 117">
            <a:extLst>
              <a:ext uri="{FF2B5EF4-FFF2-40B4-BE49-F238E27FC236}">
                <a16:creationId xmlns:a16="http://schemas.microsoft.com/office/drawing/2014/main" id="{44EFC597-A2FA-2996-951A-BB06616D7827}"/>
              </a:ext>
            </a:extLst>
          </p:cNvPr>
          <p:cNvGrpSpPr/>
          <p:nvPr/>
        </p:nvGrpSpPr>
        <p:grpSpPr>
          <a:xfrm>
            <a:off x="6807393" y="2055888"/>
            <a:ext cx="675622" cy="984427"/>
            <a:chOff x="3344047" y="4287041"/>
            <a:chExt cx="533400" cy="1312569"/>
          </a:xfrm>
        </p:grpSpPr>
        <p:sp>
          <p:nvSpPr>
            <p:cNvPr id="119" name="Rectangle 5">
              <a:extLst>
                <a:ext uri="{FF2B5EF4-FFF2-40B4-BE49-F238E27FC236}">
                  <a16:creationId xmlns:a16="http://schemas.microsoft.com/office/drawing/2014/main" id="{9F7D1B6D-0DCF-92AB-804E-26531C9E21B6}"/>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a:extLst>
                <a:ext uri="{FF2B5EF4-FFF2-40B4-BE49-F238E27FC236}">
                  <a16:creationId xmlns:a16="http://schemas.microsoft.com/office/drawing/2014/main" id="{4D82522F-F0A6-96D6-6BEC-C22771964A36}"/>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a:extLst>
                <a:ext uri="{FF2B5EF4-FFF2-40B4-BE49-F238E27FC236}">
                  <a16:creationId xmlns:a16="http://schemas.microsoft.com/office/drawing/2014/main" id="{8611134B-BCC8-9C4A-1314-EB324F5C9734}"/>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a:extLst>
              <a:ext uri="{FF2B5EF4-FFF2-40B4-BE49-F238E27FC236}">
                <a16:creationId xmlns:a16="http://schemas.microsoft.com/office/drawing/2014/main" id="{D1AEE541-E1AF-A03C-B3A8-EE4FF2445B9D}"/>
              </a:ext>
            </a:extLst>
          </p:cNvPr>
          <p:cNvGrpSpPr/>
          <p:nvPr/>
        </p:nvGrpSpPr>
        <p:grpSpPr>
          <a:xfrm>
            <a:off x="1283841" y="2055888"/>
            <a:ext cx="533400" cy="984427"/>
            <a:chOff x="2459424" y="4263014"/>
            <a:chExt cx="533400" cy="1312569"/>
          </a:xfrm>
        </p:grpSpPr>
        <p:grpSp>
          <p:nvGrpSpPr>
            <p:cNvPr id="123" name="组合 122">
              <a:extLst>
                <a:ext uri="{FF2B5EF4-FFF2-40B4-BE49-F238E27FC236}">
                  <a16:creationId xmlns:a16="http://schemas.microsoft.com/office/drawing/2014/main" id="{2F9028CE-03E5-6125-6060-5B03D53A03F6}"/>
                </a:ext>
              </a:extLst>
            </p:cNvPr>
            <p:cNvGrpSpPr/>
            <p:nvPr/>
          </p:nvGrpSpPr>
          <p:grpSpPr>
            <a:xfrm>
              <a:off x="2459424" y="4263014"/>
              <a:ext cx="533400" cy="1312569"/>
              <a:chOff x="3344047" y="4287041"/>
              <a:chExt cx="533400" cy="1312569"/>
            </a:xfrm>
          </p:grpSpPr>
          <p:sp>
            <p:nvSpPr>
              <p:cNvPr id="125" name="Rectangle 5">
                <a:extLst>
                  <a:ext uri="{FF2B5EF4-FFF2-40B4-BE49-F238E27FC236}">
                    <a16:creationId xmlns:a16="http://schemas.microsoft.com/office/drawing/2014/main" id="{3412E36A-EAE6-B9E9-3AF7-0BC8DAD3ADF1}"/>
                  </a:ext>
                </a:extLst>
              </p:cNvPr>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a:extLst>
                  <a:ext uri="{FF2B5EF4-FFF2-40B4-BE49-F238E27FC236}">
                    <a16:creationId xmlns:a16="http://schemas.microsoft.com/office/drawing/2014/main" id="{3B6FB5DF-D493-A604-8B99-B7C3736BECC0}"/>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a:extLst>
                  <a:ext uri="{FF2B5EF4-FFF2-40B4-BE49-F238E27FC236}">
                    <a16:creationId xmlns:a16="http://schemas.microsoft.com/office/drawing/2014/main" id="{733E37F0-EC5A-766E-CE77-91E3386B678E}"/>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a:extLst>
                <a:ext uri="{FF2B5EF4-FFF2-40B4-BE49-F238E27FC236}">
                  <a16:creationId xmlns:a16="http://schemas.microsoft.com/office/drawing/2014/main" id="{08A0D57F-6FF5-C6D2-387C-83AD54E931E2}"/>
                </a:ext>
              </a:extLst>
            </p:cNvPr>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a:extLst>
              <a:ext uri="{FF2B5EF4-FFF2-40B4-BE49-F238E27FC236}">
                <a16:creationId xmlns:a16="http://schemas.microsoft.com/office/drawing/2014/main" id="{21D30C3A-FDD7-D586-8EB9-AB5420E2ECC4}"/>
              </a:ext>
            </a:extLst>
          </p:cNvPr>
          <p:cNvSpPr>
            <a:spLocks noChangeShapeType="1"/>
          </p:cNvSpPr>
          <p:nvPr/>
        </p:nvSpPr>
        <p:spPr bwMode="auto">
          <a:xfrm flipH="1">
            <a:off x="182778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a:extLst>
              <a:ext uri="{FF2B5EF4-FFF2-40B4-BE49-F238E27FC236}">
                <a16:creationId xmlns:a16="http://schemas.microsoft.com/office/drawing/2014/main" id="{831AD6E5-2921-3B1B-D317-59A8114AE8F1}"/>
              </a:ext>
            </a:extLst>
          </p:cNvPr>
          <p:cNvSpPr>
            <a:spLocks noChangeShapeType="1"/>
          </p:cNvSpPr>
          <p:nvPr/>
        </p:nvSpPr>
        <p:spPr bwMode="auto">
          <a:xfrm>
            <a:off x="1703118"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a:extLst>
              <a:ext uri="{FF2B5EF4-FFF2-40B4-BE49-F238E27FC236}">
                <a16:creationId xmlns:a16="http://schemas.microsoft.com/office/drawing/2014/main" id="{2FFD5BAC-1FC5-FBEF-1650-1D3AE1791476}"/>
              </a:ext>
            </a:extLst>
          </p:cNvPr>
          <p:cNvSpPr>
            <a:spLocks noChangeShapeType="1"/>
          </p:cNvSpPr>
          <p:nvPr/>
        </p:nvSpPr>
        <p:spPr bwMode="auto">
          <a:xfrm>
            <a:off x="2761967"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a:extLst>
              <a:ext uri="{FF2B5EF4-FFF2-40B4-BE49-F238E27FC236}">
                <a16:creationId xmlns:a16="http://schemas.microsoft.com/office/drawing/2014/main" id="{EBB7D755-F7C2-F98A-D159-D1A7E7DC6A7D}"/>
              </a:ext>
            </a:extLst>
          </p:cNvPr>
          <p:cNvSpPr>
            <a:spLocks noChangeShapeType="1"/>
          </p:cNvSpPr>
          <p:nvPr/>
        </p:nvSpPr>
        <p:spPr bwMode="auto">
          <a:xfrm>
            <a:off x="3884001"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a:extLst>
              <a:ext uri="{FF2B5EF4-FFF2-40B4-BE49-F238E27FC236}">
                <a16:creationId xmlns:a16="http://schemas.microsoft.com/office/drawing/2014/main" id="{73A896CE-09D5-13A3-EFB2-41D467B8F82A}"/>
              </a:ext>
            </a:extLst>
          </p:cNvPr>
          <p:cNvSpPr>
            <a:spLocks noChangeShapeType="1"/>
          </p:cNvSpPr>
          <p:nvPr/>
        </p:nvSpPr>
        <p:spPr bwMode="auto">
          <a:xfrm>
            <a:off x="6167823"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a:extLst>
              <a:ext uri="{FF2B5EF4-FFF2-40B4-BE49-F238E27FC236}">
                <a16:creationId xmlns:a16="http://schemas.microsoft.com/office/drawing/2014/main" id="{2FA77DD3-4993-16CA-80C3-4D1C2FB8C0C3}"/>
              </a:ext>
            </a:extLst>
          </p:cNvPr>
          <p:cNvSpPr>
            <a:spLocks noChangeShapeType="1"/>
          </p:cNvSpPr>
          <p:nvPr/>
        </p:nvSpPr>
        <p:spPr bwMode="auto">
          <a:xfrm>
            <a:off x="7336602" y="2901815"/>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a:extLst>
              <a:ext uri="{FF2B5EF4-FFF2-40B4-BE49-F238E27FC236}">
                <a16:creationId xmlns:a16="http://schemas.microsoft.com/office/drawing/2014/main" id="{78E33344-158D-DE01-36AF-6D2BD0D4CFDB}"/>
              </a:ext>
            </a:extLst>
          </p:cNvPr>
          <p:cNvSpPr>
            <a:spLocks noChangeShapeType="1"/>
          </p:cNvSpPr>
          <p:nvPr/>
        </p:nvSpPr>
        <p:spPr bwMode="auto">
          <a:xfrm flipH="1">
            <a:off x="7892423" y="2226447"/>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29">
            <a:extLst>
              <a:ext uri="{FF2B5EF4-FFF2-40B4-BE49-F238E27FC236}">
                <a16:creationId xmlns:a16="http://schemas.microsoft.com/office/drawing/2014/main" id="{94C16125-A93B-A101-7164-6E1A9168BBD1}"/>
              </a:ext>
            </a:extLst>
          </p:cNvPr>
          <p:cNvSpPr>
            <a:spLocks noChangeShapeType="1"/>
          </p:cNvSpPr>
          <p:nvPr/>
        </p:nvSpPr>
        <p:spPr bwMode="auto">
          <a:xfrm flipH="1">
            <a:off x="628194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7" name="Line 29">
            <a:extLst>
              <a:ext uri="{FF2B5EF4-FFF2-40B4-BE49-F238E27FC236}">
                <a16:creationId xmlns:a16="http://schemas.microsoft.com/office/drawing/2014/main" id="{AE5DFE6D-EEC9-DFD2-D44B-D1745F54AEE6}"/>
              </a:ext>
            </a:extLst>
          </p:cNvPr>
          <p:cNvSpPr>
            <a:spLocks noChangeShapeType="1"/>
          </p:cNvSpPr>
          <p:nvPr/>
        </p:nvSpPr>
        <p:spPr bwMode="auto">
          <a:xfrm flipH="1">
            <a:off x="5223098"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a:extLst>
              <a:ext uri="{FF2B5EF4-FFF2-40B4-BE49-F238E27FC236}">
                <a16:creationId xmlns:a16="http://schemas.microsoft.com/office/drawing/2014/main" id="{D6C6C793-831A-FD50-6473-2838E8827057}"/>
              </a:ext>
            </a:extLst>
          </p:cNvPr>
          <p:cNvSpPr>
            <a:spLocks noChangeShapeType="1"/>
          </p:cNvSpPr>
          <p:nvPr/>
        </p:nvSpPr>
        <p:spPr bwMode="auto">
          <a:xfrm flipH="1">
            <a:off x="4344742" y="2226447"/>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a:extLst>
              <a:ext uri="{FF2B5EF4-FFF2-40B4-BE49-F238E27FC236}">
                <a16:creationId xmlns:a16="http://schemas.microsoft.com/office/drawing/2014/main" id="{D33EE812-10B3-323C-9390-7C35C053C553}"/>
              </a:ext>
            </a:extLst>
          </p:cNvPr>
          <p:cNvSpPr>
            <a:spLocks noChangeShapeType="1"/>
          </p:cNvSpPr>
          <p:nvPr/>
        </p:nvSpPr>
        <p:spPr bwMode="auto">
          <a:xfrm flipH="1">
            <a:off x="2876090"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a:extLst>
              <a:ext uri="{FF2B5EF4-FFF2-40B4-BE49-F238E27FC236}">
                <a16:creationId xmlns:a16="http://schemas.microsoft.com/office/drawing/2014/main" id="{6C188491-3EE6-3408-E2B0-12EA29C7ADFA}"/>
              </a:ext>
            </a:extLst>
          </p:cNvPr>
          <p:cNvSpPr>
            <a:spLocks noChangeShapeType="1"/>
          </p:cNvSpPr>
          <p:nvPr/>
        </p:nvSpPr>
        <p:spPr bwMode="auto">
          <a:xfrm>
            <a:off x="4344742"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a:extLst>
              <a:ext uri="{FF2B5EF4-FFF2-40B4-BE49-F238E27FC236}">
                <a16:creationId xmlns:a16="http://schemas.microsoft.com/office/drawing/2014/main" id="{28748B88-4175-7771-CA51-850BF6C2A38C}"/>
              </a:ext>
            </a:extLst>
          </p:cNvPr>
          <p:cNvSpPr>
            <a:spLocks noChangeShapeType="1"/>
          </p:cNvSpPr>
          <p:nvPr/>
        </p:nvSpPr>
        <p:spPr bwMode="auto">
          <a:xfrm>
            <a:off x="7892424"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a:extLst>
              <a:ext uri="{FF2B5EF4-FFF2-40B4-BE49-F238E27FC236}">
                <a16:creationId xmlns:a16="http://schemas.microsoft.com/office/drawing/2014/main" id="{315D166A-EBA4-77C1-981D-698055ECD6AD}"/>
              </a:ext>
            </a:extLst>
          </p:cNvPr>
          <p:cNvSpPr>
            <a:spLocks noChangeShapeType="1"/>
          </p:cNvSpPr>
          <p:nvPr/>
        </p:nvSpPr>
        <p:spPr bwMode="auto">
          <a:xfrm flipH="1">
            <a:off x="7483015" y="2226447"/>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a:extLst>
              <a:ext uri="{FF2B5EF4-FFF2-40B4-BE49-F238E27FC236}">
                <a16:creationId xmlns:a16="http://schemas.microsoft.com/office/drawing/2014/main" id="{492B72A2-D8D9-8B79-8C13-02D97967EEB3}"/>
              </a:ext>
            </a:extLst>
          </p:cNvPr>
          <p:cNvSpPr>
            <a:spLocks noChangeShapeType="1"/>
          </p:cNvSpPr>
          <p:nvPr/>
        </p:nvSpPr>
        <p:spPr bwMode="auto">
          <a:xfrm flipH="1">
            <a:off x="3948323" y="2226447"/>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8" name="直接连接符 67">
            <a:extLst>
              <a:ext uri="{FF2B5EF4-FFF2-40B4-BE49-F238E27FC236}">
                <a16:creationId xmlns:a16="http://schemas.microsoft.com/office/drawing/2014/main" id="{E9C9E07B-8BD8-7BCA-E05A-8E78F66757B2}"/>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A1000CB6-59AC-72E3-A5B3-124D4C20C106}"/>
              </a:ext>
            </a:extLst>
          </p:cNvPr>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E193A0B4-415B-33AD-C749-F3CDED696AAE}"/>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2" name="矩形 1">
            <a:extLst>
              <a:ext uri="{FF2B5EF4-FFF2-40B4-BE49-F238E27FC236}">
                <a16:creationId xmlns:a16="http://schemas.microsoft.com/office/drawing/2014/main" id="{577839F1-2342-269D-3566-DB9DDFAC4F97}"/>
              </a:ext>
            </a:extLst>
          </p:cNvPr>
          <p:cNvSpPr/>
          <p:nvPr/>
        </p:nvSpPr>
        <p:spPr>
          <a:xfrm>
            <a:off x="493821" y="1446757"/>
            <a:ext cx="3142075" cy="369332"/>
          </a:xfrm>
          <a:prstGeom prst="rect">
            <a:avLst/>
          </a:prstGeom>
        </p:spPr>
        <p:txBody>
          <a:bodyPr wrap="square">
            <a:spAutoFit/>
          </a:bodyPr>
          <a:lstStyle/>
          <a:p>
            <a:r>
              <a:rPr lang="en-US" altLang="zh-CN" dirty="0">
                <a:latin typeface="微软雅黑" pitchFamily="34" charset="-122"/>
                <a:ea typeface="微软雅黑" pitchFamily="34" charset="-122"/>
                <a:cs typeface="经典粗黑简" pitchFamily="49" charset="-122"/>
              </a:rPr>
              <a:t>2.3.3.2 </a:t>
            </a:r>
            <a:r>
              <a:rPr lang="zh-CN" altLang="en-US" dirty="0">
                <a:latin typeface="微软雅黑" pitchFamily="34" charset="-122"/>
                <a:ea typeface="微软雅黑" pitchFamily="34" charset="-122"/>
                <a:cs typeface="经典粗黑简" pitchFamily="49" charset="-122"/>
              </a:rPr>
              <a:t>删除结点操作</a:t>
            </a:r>
          </a:p>
        </p:txBody>
      </p:sp>
      <p:sp>
        <p:nvSpPr>
          <p:cNvPr id="11" name="Rectangle 228">
            <a:extLst>
              <a:ext uri="{FF2B5EF4-FFF2-40B4-BE49-F238E27FC236}">
                <a16:creationId xmlns:a16="http://schemas.microsoft.com/office/drawing/2014/main" id="{9519FDE7-E799-33FA-BDAE-62CED8306D17}"/>
              </a:ext>
            </a:extLst>
          </p:cNvPr>
          <p:cNvSpPr>
            <a:spLocks noChangeArrowheads="1"/>
          </p:cNvSpPr>
          <p:nvPr/>
        </p:nvSpPr>
        <p:spPr bwMode="auto">
          <a:xfrm>
            <a:off x="5368242" y="1427098"/>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q</a:t>
            </a:r>
          </a:p>
        </p:txBody>
      </p:sp>
      <p:sp>
        <p:nvSpPr>
          <p:cNvPr id="12" name="Line 29">
            <a:extLst>
              <a:ext uri="{FF2B5EF4-FFF2-40B4-BE49-F238E27FC236}">
                <a16:creationId xmlns:a16="http://schemas.microsoft.com/office/drawing/2014/main" id="{A2ABEE1F-FDAB-66A5-CE25-248777ABD7DD}"/>
              </a:ext>
            </a:extLst>
          </p:cNvPr>
          <p:cNvSpPr>
            <a:spLocks noChangeShapeType="1"/>
          </p:cNvSpPr>
          <p:nvPr/>
        </p:nvSpPr>
        <p:spPr bwMode="auto">
          <a:xfrm>
            <a:off x="5589963" y="1767837"/>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矩形 8">
            <a:extLst>
              <a:ext uri="{FF2B5EF4-FFF2-40B4-BE49-F238E27FC236}">
                <a16:creationId xmlns:a16="http://schemas.microsoft.com/office/drawing/2014/main" id="{1F2FB023-9796-86D6-8898-80D9BAABFBDE}"/>
              </a:ext>
            </a:extLst>
          </p:cNvPr>
          <p:cNvSpPr/>
          <p:nvPr/>
        </p:nvSpPr>
        <p:spPr>
          <a:xfrm>
            <a:off x="-17178" y="3027210"/>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13" name="矩形 12">
            <a:extLst>
              <a:ext uri="{FF2B5EF4-FFF2-40B4-BE49-F238E27FC236}">
                <a16:creationId xmlns:a16="http://schemas.microsoft.com/office/drawing/2014/main" id="{25C9167D-D14F-08DA-C829-F065332BA442}"/>
              </a:ext>
            </a:extLst>
          </p:cNvPr>
          <p:cNvSpPr/>
          <p:nvPr/>
        </p:nvSpPr>
        <p:spPr>
          <a:xfrm>
            <a:off x="412635" y="3312174"/>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18" name="Rectangle 55">
            <a:extLst>
              <a:ext uri="{FF2B5EF4-FFF2-40B4-BE49-F238E27FC236}">
                <a16:creationId xmlns:a16="http://schemas.microsoft.com/office/drawing/2014/main" id="{13FFA465-202E-8B31-CD7C-2187A8866AB1}"/>
              </a:ext>
            </a:extLst>
          </p:cNvPr>
          <p:cNvSpPr>
            <a:spLocks noChangeArrowheads="1"/>
          </p:cNvSpPr>
          <p:nvPr/>
        </p:nvSpPr>
        <p:spPr bwMode="auto">
          <a:xfrm>
            <a:off x="5589963" y="1419798"/>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4" name="Rectangle 228">
            <a:extLst>
              <a:ext uri="{FF2B5EF4-FFF2-40B4-BE49-F238E27FC236}">
                <a16:creationId xmlns:a16="http://schemas.microsoft.com/office/drawing/2014/main" id="{5DEF37C3-C214-D450-B2C2-E3314B38E8BB}"/>
              </a:ext>
            </a:extLst>
          </p:cNvPr>
          <p:cNvSpPr>
            <a:spLocks noChangeArrowheads="1"/>
          </p:cNvSpPr>
          <p:nvPr/>
        </p:nvSpPr>
        <p:spPr bwMode="auto">
          <a:xfrm>
            <a:off x="4195312" y="143792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p</a:t>
            </a:r>
          </a:p>
        </p:txBody>
      </p:sp>
      <p:sp>
        <p:nvSpPr>
          <p:cNvPr id="5" name="Line 29">
            <a:extLst>
              <a:ext uri="{FF2B5EF4-FFF2-40B4-BE49-F238E27FC236}">
                <a16:creationId xmlns:a16="http://schemas.microsoft.com/office/drawing/2014/main" id="{9D0174B1-90B7-166E-D777-4A6A8F10F599}"/>
              </a:ext>
            </a:extLst>
          </p:cNvPr>
          <p:cNvSpPr>
            <a:spLocks noChangeShapeType="1"/>
          </p:cNvSpPr>
          <p:nvPr/>
        </p:nvSpPr>
        <p:spPr bwMode="auto">
          <a:xfrm>
            <a:off x="4417033" y="1778661"/>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Rectangle 55">
            <a:extLst>
              <a:ext uri="{FF2B5EF4-FFF2-40B4-BE49-F238E27FC236}">
                <a16:creationId xmlns:a16="http://schemas.microsoft.com/office/drawing/2014/main" id="{6FCED969-113D-C4E6-4102-25A497269983}"/>
              </a:ext>
            </a:extLst>
          </p:cNvPr>
          <p:cNvSpPr>
            <a:spLocks noChangeArrowheads="1"/>
          </p:cNvSpPr>
          <p:nvPr/>
        </p:nvSpPr>
        <p:spPr bwMode="auto">
          <a:xfrm>
            <a:off x="4417033" y="1430622"/>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7" name="矩形 6">
            <a:extLst>
              <a:ext uri="{FF2B5EF4-FFF2-40B4-BE49-F238E27FC236}">
                <a16:creationId xmlns:a16="http://schemas.microsoft.com/office/drawing/2014/main" id="{F369CE35-03DE-9CF0-9FB1-88BB597143B9}"/>
              </a:ext>
            </a:extLst>
          </p:cNvPr>
          <p:cNvSpPr/>
          <p:nvPr/>
        </p:nvSpPr>
        <p:spPr>
          <a:xfrm>
            <a:off x="420097" y="3685542"/>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设置</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指针指向待删除结点；</a:t>
            </a:r>
          </a:p>
        </p:txBody>
      </p:sp>
      <p:sp>
        <p:nvSpPr>
          <p:cNvPr id="8" name="矩形 7">
            <a:extLst>
              <a:ext uri="{FF2B5EF4-FFF2-40B4-BE49-F238E27FC236}">
                <a16:creationId xmlns:a16="http://schemas.microsoft.com/office/drawing/2014/main" id="{737D7706-B0B1-86CA-18AE-E5C4E277E5C1}"/>
              </a:ext>
            </a:extLst>
          </p:cNvPr>
          <p:cNvSpPr/>
          <p:nvPr/>
        </p:nvSpPr>
        <p:spPr>
          <a:xfrm>
            <a:off x="412303" y="4076573"/>
            <a:ext cx="3151585"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③ 设置</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结点的新后继；</a:t>
            </a:r>
          </a:p>
        </p:txBody>
      </p:sp>
      <p:sp>
        <p:nvSpPr>
          <p:cNvPr id="14" name="Rectangle 55">
            <a:extLst>
              <a:ext uri="{FF2B5EF4-FFF2-40B4-BE49-F238E27FC236}">
                <a16:creationId xmlns:a16="http://schemas.microsoft.com/office/drawing/2014/main" id="{E386FB30-5C64-7685-30EF-DD7AAEE0BA2E}"/>
              </a:ext>
            </a:extLst>
          </p:cNvPr>
          <p:cNvSpPr>
            <a:spLocks noChangeArrowheads="1"/>
          </p:cNvSpPr>
          <p:nvPr/>
        </p:nvSpPr>
        <p:spPr bwMode="auto">
          <a:xfrm>
            <a:off x="5969961" y="334635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5" name="Line 29">
            <a:extLst>
              <a:ext uri="{FF2B5EF4-FFF2-40B4-BE49-F238E27FC236}">
                <a16:creationId xmlns:a16="http://schemas.microsoft.com/office/drawing/2014/main" id="{820F3998-4FC8-B4BE-871C-CC4158028B32}"/>
              </a:ext>
            </a:extLst>
          </p:cNvPr>
          <p:cNvSpPr>
            <a:spLocks noChangeShapeType="1"/>
          </p:cNvSpPr>
          <p:nvPr/>
        </p:nvSpPr>
        <p:spPr bwMode="auto">
          <a:xfrm flipH="1" flipV="1">
            <a:off x="6901343" y="3027210"/>
            <a:ext cx="0" cy="40011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29">
            <a:extLst>
              <a:ext uri="{FF2B5EF4-FFF2-40B4-BE49-F238E27FC236}">
                <a16:creationId xmlns:a16="http://schemas.microsoft.com/office/drawing/2014/main" id="{59EE8935-AE6D-80E5-B631-735467E65506}"/>
              </a:ext>
            </a:extLst>
          </p:cNvPr>
          <p:cNvSpPr>
            <a:spLocks noChangeShapeType="1"/>
          </p:cNvSpPr>
          <p:nvPr/>
        </p:nvSpPr>
        <p:spPr bwMode="auto">
          <a:xfrm>
            <a:off x="4932040" y="3427320"/>
            <a:ext cx="1969303"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29">
            <a:extLst>
              <a:ext uri="{FF2B5EF4-FFF2-40B4-BE49-F238E27FC236}">
                <a16:creationId xmlns:a16="http://schemas.microsoft.com/office/drawing/2014/main" id="{103A57C5-9563-1525-2E37-771EDE50E1DD}"/>
              </a:ext>
            </a:extLst>
          </p:cNvPr>
          <p:cNvSpPr>
            <a:spLocks noChangeShapeType="1"/>
          </p:cNvSpPr>
          <p:nvPr/>
        </p:nvSpPr>
        <p:spPr bwMode="auto">
          <a:xfrm flipH="1" flipV="1">
            <a:off x="4923264" y="2930899"/>
            <a:ext cx="0" cy="496421"/>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文本框 20">
            <a:extLst>
              <a:ext uri="{FF2B5EF4-FFF2-40B4-BE49-F238E27FC236}">
                <a16:creationId xmlns:a16="http://schemas.microsoft.com/office/drawing/2014/main" id="{EE14B15C-D4DB-EDBC-B564-096BA7EFCE4D}"/>
              </a:ext>
            </a:extLst>
          </p:cNvPr>
          <p:cNvSpPr txBox="1"/>
          <p:nvPr/>
        </p:nvSpPr>
        <p:spPr>
          <a:xfrm>
            <a:off x="2102001" y="4496010"/>
            <a:ext cx="6187272" cy="398827"/>
          </a:xfrm>
          <a:prstGeom prst="rect">
            <a:avLst/>
          </a:prstGeom>
          <a:noFill/>
        </p:spPr>
        <p:txBody>
          <a:bodyPr wrap="square">
            <a:spAutoFit/>
          </a:bodyPr>
          <a:lstStyle/>
          <a:p>
            <a:pPr>
              <a:lnSpc>
                <a:spcPts val="2600"/>
              </a:lnSpc>
            </a:pPr>
            <a:r>
              <a:rPr kumimoji="1" lang="en-US" altLang="zh-CN" sz="1800" dirty="0">
                <a:solidFill>
                  <a:srgbClr val="0000FF"/>
                </a:solidFill>
                <a:latin typeface="Consolas" pitchFamily="49" charset="0"/>
                <a:ea typeface="仿宋" pitchFamily="49" charset="-122"/>
                <a:cs typeface="Consolas" pitchFamily="49" charset="0"/>
              </a:rPr>
              <a:t>p-&gt;next=q-&gt;next</a:t>
            </a:r>
            <a:r>
              <a:rPr kumimoji="1" lang="zh-CN" altLang="en-US" sz="1800" dirty="0">
                <a:solidFill>
                  <a:srgbClr val="0000FF"/>
                </a:solidFill>
                <a:latin typeface="Consolas" pitchFamily="49" charset="0"/>
                <a:ea typeface="仿宋" pitchFamily="49" charset="-122"/>
                <a:cs typeface="Consolas" pitchFamily="49" charset="0"/>
              </a:rPr>
              <a:t>；</a:t>
            </a:r>
            <a:r>
              <a:rPr kumimoji="1" lang="en-US" altLang="zh-CN" dirty="0">
                <a:solidFill>
                  <a:srgbClr val="0000FF"/>
                </a:solidFill>
                <a:latin typeface="Consolas" pitchFamily="49" charset="0"/>
                <a:ea typeface="仿宋" pitchFamily="49" charset="-122"/>
                <a:cs typeface="Consolas" pitchFamily="49" charset="0"/>
              </a:rPr>
              <a:t>// p-&gt;next=p-&gt;next-&gt;next</a:t>
            </a:r>
            <a:r>
              <a:rPr kumimoji="1" lang="zh-CN" altLang="en-US"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	</a:t>
            </a:r>
            <a:endParaRPr lang="zh-CN" altLang="en-US" dirty="0"/>
          </a:p>
        </p:txBody>
      </p:sp>
    </p:spTree>
    <p:extLst>
      <p:ext uri="{BB962C8B-B14F-4D97-AF65-F5344CB8AC3E}">
        <p14:creationId xmlns:p14="http://schemas.microsoft.com/office/powerpoint/2010/main" val="299962086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39EB8-050B-33ED-C72D-D47AE852C24A}"/>
            </a:ext>
          </a:extLst>
        </p:cNvPr>
        <p:cNvGrpSpPr/>
        <p:nvPr/>
      </p:nvGrpSpPr>
      <p:grpSpPr>
        <a:xfrm>
          <a:off x="0" y="0"/>
          <a:ext cx="0" cy="0"/>
          <a:chOff x="0" y="0"/>
          <a:chExt cx="0" cy="0"/>
        </a:xfrm>
      </p:grpSpPr>
      <p:sp>
        <p:nvSpPr>
          <p:cNvPr id="47" name="Rectangle 25">
            <a:extLst>
              <a:ext uri="{FF2B5EF4-FFF2-40B4-BE49-F238E27FC236}">
                <a16:creationId xmlns:a16="http://schemas.microsoft.com/office/drawing/2014/main" id="{CED720EA-5A19-1CBE-8E07-CCA7911C746E}"/>
              </a:ext>
            </a:extLst>
          </p:cNvPr>
          <p:cNvSpPr>
            <a:spLocks noChangeArrowheads="1"/>
          </p:cNvSpPr>
          <p:nvPr/>
        </p:nvSpPr>
        <p:spPr bwMode="auto">
          <a:xfrm>
            <a:off x="7620379" y="239960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a:extLst>
              <a:ext uri="{FF2B5EF4-FFF2-40B4-BE49-F238E27FC236}">
                <a16:creationId xmlns:a16="http://schemas.microsoft.com/office/drawing/2014/main" id="{CF2F6B45-55FE-FCA0-4F10-C11E7E38837A}"/>
              </a:ext>
            </a:extLst>
          </p:cNvPr>
          <p:cNvSpPr>
            <a:spLocks noChangeArrowheads="1"/>
          </p:cNvSpPr>
          <p:nvPr/>
        </p:nvSpPr>
        <p:spPr bwMode="auto">
          <a:xfrm>
            <a:off x="4014473" y="23887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a:extLst>
              <a:ext uri="{FF2B5EF4-FFF2-40B4-BE49-F238E27FC236}">
                <a16:creationId xmlns:a16="http://schemas.microsoft.com/office/drawing/2014/main" id="{C5761A85-3B54-820C-EE55-A53A0CAAC7FE}"/>
              </a:ext>
            </a:extLst>
          </p:cNvPr>
          <p:cNvSpPr>
            <a:spLocks noChangeShapeType="1"/>
          </p:cNvSpPr>
          <p:nvPr/>
        </p:nvSpPr>
        <p:spPr bwMode="auto">
          <a:xfrm>
            <a:off x="631856" y="2232697"/>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a:extLst>
              <a:ext uri="{FF2B5EF4-FFF2-40B4-BE49-F238E27FC236}">
                <a16:creationId xmlns:a16="http://schemas.microsoft.com/office/drawing/2014/main" id="{AB9582D4-C751-5E16-45B6-38A6B4C3A2DA}"/>
              </a:ext>
            </a:extLst>
          </p:cNvPr>
          <p:cNvSpPr>
            <a:spLocks noChangeArrowheads="1"/>
          </p:cNvSpPr>
          <p:nvPr/>
        </p:nvSpPr>
        <p:spPr bwMode="auto">
          <a:xfrm>
            <a:off x="366211" y="203479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95" name="组合 94">
            <a:extLst>
              <a:ext uri="{FF2B5EF4-FFF2-40B4-BE49-F238E27FC236}">
                <a16:creationId xmlns:a16="http://schemas.microsoft.com/office/drawing/2014/main" id="{7DFC06EF-64C3-F0D4-0429-A4C114E63B2D}"/>
              </a:ext>
            </a:extLst>
          </p:cNvPr>
          <p:cNvGrpSpPr/>
          <p:nvPr/>
        </p:nvGrpSpPr>
        <p:grpSpPr>
          <a:xfrm>
            <a:off x="2342689" y="2055888"/>
            <a:ext cx="533400" cy="984427"/>
            <a:chOff x="3344047" y="4287041"/>
            <a:chExt cx="533400" cy="1312569"/>
          </a:xfrm>
        </p:grpSpPr>
        <p:sp>
          <p:nvSpPr>
            <p:cNvPr id="97" name="Rectangle 5">
              <a:extLst>
                <a:ext uri="{FF2B5EF4-FFF2-40B4-BE49-F238E27FC236}">
                  <a16:creationId xmlns:a16="http://schemas.microsoft.com/office/drawing/2014/main" id="{60D8BA03-909F-BA9D-B200-800C2FD71B58}"/>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a:extLst>
                <a:ext uri="{FF2B5EF4-FFF2-40B4-BE49-F238E27FC236}">
                  <a16:creationId xmlns:a16="http://schemas.microsoft.com/office/drawing/2014/main" id="{8E19D983-6F2B-0961-4F50-B35327F04444}"/>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a:extLst>
                <a:ext uri="{FF2B5EF4-FFF2-40B4-BE49-F238E27FC236}">
                  <a16:creationId xmlns:a16="http://schemas.microsoft.com/office/drawing/2014/main" id="{F9770098-F75C-AB95-CCEC-09106C032377}"/>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a:extLst>
              <a:ext uri="{FF2B5EF4-FFF2-40B4-BE49-F238E27FC236}">
                <a16:creationId xmlns:a16="http://schemas.microsoft.com/office/drawing/2014/main" id="{473F0653-5B9E-7886-73C8-35330DFD58D0}"/>
              </a:ext>
            </a:extLst>
          </p:cNvPr>
          <p:cNvGrpSpPr/>
          <p:nvPr/>
        </p:nvGrpSpPr>
        <p:grpSpPr>
          <a:xfrm>
            <a:off x="3401537" y="2055888"/>
            <a:ext cx="533400" cy="984427"/>
            <a:chOff x="3344047" y="4287041"/>
            <a:chExt cx="533400" cy="1312569"/>
          </a:xfrm>
        </p:grpSpPr>
        <p:sp>
          <p:nvSpPr>
            <p:cNvPr id="101" name="Rectangle 5">
              <a:extLst>
                <a:ext uri="{FF2B5EF4-FFF2-40B4-BE49-F238E27FC236}">
                  <a16:creationId xmlns:a16="http://schemas.microsoft.com/office/drawing/2014/main" id="{DEEAE1B2-E313-7306-6451-5ECBF8C3A8E1}"/>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5844B148-95E3-CEDE-7750-5B8E2F3C7C2C}"/>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a:extLst>
                <a:ext uri="{FF2B5EF4-FFF2-40B4-BE49-F238E27FC236}">
                  <a16:creationId xmlns:a16="http://schemas.microsoft.com/office/drawing/2014/main" id="{73811E6A-6DD8-33D0-BACA-F9A126D0F28D}"/>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a:extLst>
              <a:ext uri="{FF2B5EF4-FFF2-40B4-BE49-F238E27FC236}">
                <a16:creationId xmlns:a16="http://schemas.microsoft.com/office/drawing/2014/main" id="{32A967D3-AB1B-FCB9-B40D-FFEBC09F391B}"/>
              </a:ext>
            </a:extLst>
          </p:cNvPr>
          <p:cNvGrpSpPr/>
          <p:nvPr/>
        </p:nvGrpSpPr>
        <p:grpSpPr>
          <a:xfrm>
            <a:off x="4547475" y="2055888"/>
            <a:ext cx="675622" cy="984427"/>
            <a:chOff x="3344047" y="4287041"/>
            <a:chExt cx="533400" cy="1312569"/>
          </a:xfrm>
        </p:grpSpPr>
        <p:sp>
          <p:nvSpPr>
            <p:cNvPr id="105" name="Rectangle 5">
              <a:extLst>
                <a:ext uri="{FF2B5EF4-FFF2-40B4-BE49-F238E27FC236}">
                  <a16:creationId xmlns:a16="http://schemas.microsoft.com/office/drawing/2014/main" id="{A7DF2029-6E4B-1827-82F6-4CA2706AF429}"/>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a:extLst>
                <a:ext uri="{FF2B5EF4-FFF2-40B4-BE49-F238E27FC236}">
                  <a16:creationId xmlns:a16="http://schemas.microsoft.com/office/drawing/2014/main" id="{ABDAEA77-2E4E-52FC-4029-D28F428465D5}"/>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a:extLst>
                <a:ext uri="{FF2B5EF4-FFF2-40B4-BE49-F238E27FC236}">
                  <a16:creationId xmlns:a16="http://schemas.microsoft.com/office/drawing/2014/main" id="{D3046C72-EA0F-B107-3FA2-4135F048B8A9}"/>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a:extLst>
              <a:ext uri="{FF2B5EF4-FFF2-40B4-BE49-F238E27FC236}">
                <a16:creationId xmlns:a16="http://schemas.microsoft.com/office/drawing/2014/main" id="{150BDBC0-9B1C-080E-32CE-141CF4293537}"/>
              </a:ext>
            </a:extLst>
          </p:cNvPr>
          <p:cNvGrpSpPr/>
          <p:nvPr/>
        </p:nvGrpSpPr>
        <p:grpSpPr>
          <a:xfrm>
            <a:off x="8095554" y="2055887"/>
            <a:ext cx="533400" cy="1076760"/>
            <a:chOff x="9096957" y="4287040"/>
            <a:chExt cx="533400" cy="1435680"/>
          </a:xfrm>
        </p:grpSpPr>
        <p:grpSp>
          <p:nvGrpSpPr>
            <p:cNvPr id="109" name="组合 108">
              <a:extLst>
                <a:ext uri="{FF2B5EF4-FFF2-40B4-BE49-F238E27FC236}">
                  <a16:creationId xmlns:a16="http://schemas.microsoft.com/office/drawing/2014/main" id="{E1991452-9446-3888-7338-9253B74057A5}"/>
                </a:ext>
              </a:extLst>
            </p:cNvPr>
            <p:cNvGrpSpPr/>
            <p:nvPr/>
          </p:nvGrpSpPr>
          <p:grpSpPr>
            <a:xfrm>
              <a:off x="9096957" y="4287040"/>
              <a:ext cx="533400" cy="1312569"/>
              <a:chOff x="3344047" y="4287041"/>
              <a:chExt cx="533400" cy="1312569"/>
            </a:xfrm>
          </p:grpSpPr>
          <p:sp>
            <p:nvSpPr>
              <p:cNvPr id="111" name="Rectangle 5">
                <a:extLst>
                  <a:ext uri="{FF2B5EF4-FFF2-40B4-BE49-F238E27FC236}">
                    <a16:creationId xmlns:a16="http://schemas.microsoft.com/office/drawing/2014/main" id="{1012E5E3-E64D-1444-0870-8D20C7BABDFA}"/>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a:extLst>
                  <a:ext uri="{FF2B5EF4-FFF2-40B4-BE49-F238E27FC236}">
                    <a16:creationId xmlns:a16="http://schemas.microsoft.com/office/drawing/2014/main" id="{F57560CE-2AFE-44F7-B9CC-9861D79E6A4B}"/>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a:extLst>
                  <a:ext uri="{FF2B5EF4-FFF2-40B4-BE49-F238E27FC236}">
                    <a16:creationId xmlns:a16="http://schemas.microsoft.com/office/drawing/2014/main" id="{1C93B757-D3D3-3ADF-4375-FFB5CC6F64B9}"/>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a:extLst>
                <a:ext uri="{FF2B5EF4-FFF2-40B4-BE49-F238E27FC236}">
                  <a16:creationId xmlns:a16="http://schemas.microsoft.com/office/drawing/2014/main" id="{9DAF3A47-2077-7929-D410-8AC2213B6E40}"/>
                </a:ext>
              </a:extLst>
            </p:cNvPr>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a:extLst>
              <a:ext uri="{FF2B5EF4-FFF2-40B4-BE49-F238E27FC236}">
                <a16:creationId xmlns:a16="http://schemas.microsoft.com/office/drawing/2014/main" id="{7A1413DD-0ABE-5F77-7A30-A59905B9F162}"/>
              </a:ext>
            </a:extLst>
          </p:cNvPr>
          <p:cNvGrpSpPr/>
          <p:nvPr/>
        </p:nvGrpSpPr>
        <p:grpSpPr>
          <a:xfrm>
            <a:off x="5748545" y="2055888"/>
            <a:ext cx="533400" cy="984427"/>
            <a:chOff x="3344047" y="4287041"/>
            <a:chExt cx="533400" cy="1312569"/>
          </a:xfrm>
        </p:grpSpPr>
        <p:sp>
          <p:nvSpPr>
            <p:cNvPr id="115" name="Rectangle 5">
              <a:extLst>
                <a:ext uri="{FF2B5EF4-FFF2-40B4-BE49-F238E27FC236}">
                  <a16:creationId xmlns:a16="http://schemas.microsoft.com/office/drawing/2014/main" id="{D84C76FB-BACB-3B4D-5387-AE64B6484BB0}"/>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a:extLst>
                <a:ext uri="{FF2B5EF4-FFF2-40B4-BE49-F238E27FC236}">
                  <a16:creationId xmlns:a16="http://schemas.microsoft.com/office/drawing/2014/main" id="{7CD949DE-501A-1AA9-FCD4-43C01F0D8110}"/>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
              <a:extLst>
                <a:ext uri="{FF2B5EF4-FFF2-40B4-BE49-F238E27FC236}">
                  <a16:creationId xmlns:a16="http://schemas.microsoft.com/office/drawing/2014/main" id="{48FEC440-1A90-D15D-C36E-C807BA5512A2}"/>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组合 117">
            <a:extLst>
              <a:ext uri="{FF2B5EF4-FFF2-40B4-BE49-F238E27FC236}">
                <a16:creationId xmlns:a16="http://schemas.microsoft.com/office/drawing/2014/main" id="{E8C90F2F-5D62-161F-661E-12D9101059FE}"/>
              </a:ext>
            </a:extLst>
          </p:cNvPr>
          <p:cNvGrpSpPr/>
          <p:nvPr/>
        </p:nvGrpSpPr>
        <p:grpSpPr>
          <a:xfrm>
            <a:off x="6807393" y="2055888"/>
            <a:ext cx="675622" cy="984427"/>
            <a:chOff x="3344047" y="4287041"/>
            <a:chExt cx="533400" cy="1312569"/>
          </a:xfrm>
        </p:grpSpPr>
        <p:sp>
          <p:nvSpPr>
            <p:cNvPr id="119" name="Rectangle 5">
              <a:extLst>
                <a:ext uri="{FF2B5EF4-FFF2-40B4-BE49-F238E27FC236}">
                  <a16:creationId xmlns:a16="http://schemas.microsoft.com/office/drawing/2014/main" id="{3A201FB7-B44C-A844-9344-F086B588B529}"/>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a:extLst>
                <a:ext uri="{FF2B5EF4-FFF2-40B4-BE49-F238E27FC236}">
                  <a16:creationId xmlns:a16="http://schemas.microsoft.com/office/drawing/2014/main" id="{10071C49-C519-48FF-8C53-755D0CD39255}"/>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a:extLst>
                <a:ext uri="{FF2B5EF4-FFF2-40B4-BE49-F238E27FC236}">
                  <a16:creationId xmlns:a16="http://schemas.microsoft.com/office/drawing/2014/main" id="{3C2D127E-56CE-5C4C-F75D-5A9EF2FDFD75}"/>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a:extLst>
              <a:ext uri="{FF2B5EF4-FFF2-40B4-BE49-F238E27FC236}">
                <a16:creationId xmlns:a16="http://schemas.microsoft.com/office/drawing/2014/main" id="{A083B7D8-9FE2-4786-F8E2-EB6C3951D2A8}"/>
              </a:ext>
            </a:extLst>
          </p:cNvPr>
          <p:cNvGrpSpPr/>
          <p:nvPr/>
        </p:nvGrpSpPr>
        <p:grpSpPr>
          <a:xfrm>
            <a:off x="1283841" y="2055888"/>
            <a:ext cx="533400" cy="984427"/>
            <a:chOff x="2459424" y="4263014"/>
            <a:chExt cx="533400" cy="1312569"/>
          </a:xfrm>
        </p:grpSpPr>
        <p:grpSp>
          <p:nvGrpSpPr>
            <p:cNvPr id="123" name="组合 122">
              <a:extLst>
                <a:ext uri="{FF2B5EF4-FFF2-40B4-BE49-F238E27FC236}">
                  <a16:creationId xmlns:a16="http://schemas.microsoft.com/office/drawing/2014/main" id="{EE747468-A811-3304-FF8F-7A81E50C877B}"/>
                </a:ext>
              </a:extLst>
            </p:cNvPr>
            <p:cNvGrpSpPr/>
            <p:nvPr/>
          </p:nvGrpSpPr>
          <p:grpSpPr>
            <a:xfrm>
              <a:off x="2459424" y="4263014"/>
              <a:ext cx="533400" cy="1312569"/>
              <a:chOff x="3344047" y="4287041"/>
              <a:chExt cx="533400" cy="1312569"/>
            </a:xfrm>
          </p:grpSpPr>
          <p:sp>
            <p:nvSpPr>
              <p:cNvPr id="125" name="Rectangle 5">
                <a:extLst>
                  <a:ext uri="{FF2B5EF4-FFF2-40B4-BE49-F238E27FC236}">
                    <a16:creationId xmlns:a16="http://schemas.microsoft.com/office/drawing/2014/main" id="{9EEED430-6FFE-5F02-BFC7-AC62F9DF168A}"/>
                  </a:ext>
                </a:extLst>
              </p:cNvPr>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a:extLst>
                  <a:ext uri="{FF2B5EF4-FFF2-40B4-BE49-F238E27FC236}">
                    <a16:creationId xmlns:a16="http://schemas.microsoft.com/office/drawing/2014/main" id="{CC54C8BF-44EF-8A6E-F205-1740EF2BBF2C}"/>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a:extLst>
                  <a:ext uri="{FF2B5EF4-FFF2-40B4-BE49-F238E27FC236}">
                    <a16:creationId xmlns:a16="http://schemas.microsoft.com/office/drawing/2014/main" id="{A24D5391-C77C-9CB1-60CB-CABE5E33C75B}"/>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a:extLst>
                <a:ext uri="{FF2B5EF4-FFF2-40B4-BE49-F238E27FC236}">
                  <a16:creationId xmlns:a16="http://schemas.microsoft.com/office/drawing/2014/main" id="{1EF73F59-1A78-000C-C821-8D6F91C4615E}"/>
                </a:ext>
              </a:extLst>
            </p:cNvPr>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a:extLst>
              <a:ext uri="{FF2B5EF4-FFF2-40B4-BE49-F238E27FC236}">
                <a16:creationId xmlns:a16="http://schemas.microsoft.com/office/drawing/2014/main" id="{A2447CF0-86D1-25B7-E60F-50CD8ABF7EF9}"/>
              </a:ext>
            </a:extLst>
          </p:cNvPr>
          <p:cNvSpPr>
            <a:spLocks noChangeShapeType="1"/>
          </p:cNvSpPr>
          <p:nvPr/>
        </p:nvSpPr>
        <p:spPr bwMode="auto">
          <a:xfrm flipH="1">
            <a:off x="182778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a:extLst>
              <a:ext uri="{FF2B5EF4-FFF2-40B4-BE49-F238E27FC236}">
                <a16:creationId xmlns:a16="http://schemas.microsoft.com/office/drawing/2014/main" id="{E2055BDE-80A4-9DE3-6E6F-BD7FF5F6B152}"/>
              </a:ext>
            </a:extLst>
          </p:cNvPr>
          <p:cNvSpPr>
            <a:spLocks noChangeShapeType="1"/>
          </p:cNvSpPr>
          <p:nvPr/>
        </p:nvSpPr>
        <p:spPr bwMode="auto">
          <a:xfrm>
            <a:off x="1703118"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a:extLst>
              <a:ext uri="{FF2B5EF4-FFF2-40B4-BE49-F238E27FC236}">
                <a16:creationId xmlns:a16="http://schemas.microsoft.com/office/drawing/2014/main" id="{92B1CF0A-9E65-4DF4-A80C-56DCA43EDBE1}"/>
              </a:ext>
            </a:extLst>
          </p:cNvPr>
          <p:cNvSpPr>
            <a:spLocks noChangeShapeType="1"/>
          </p:cNvSpPr>
          <p:nvPr/>
        </p:nvSpPr>
        <p:spPr bwMode="auto">
          <a:xfrm>
            <a:off x="2761967"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a:extLst>
              <a:ext uri="{FF2B5EF4-FFF2-40B4-BE49-F238E27FC236}">
                <a16:creationId xmlns:a16="http://schemas.microsoft.com/office/drawing/2014/main" id="{EA7014FC-6B97-0E5E-685A-F81B4FB2FDB7}"/>
              </a:ext>
            </a:extLst>
          </p:cNvPr>
          <p:cNvSpPr>
            <a:spLocks noChangeShapeType="1"/>
          </p:cNvSpPr>
          <p:nvPr/>
        </p:nvSpPr>
        <p:spPr bwMode="auto">
          <a:xfrm>
            <a:off x="3884001"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a:extLst>
              <a:ext uri="{FF2B5EF4-FFF2-40B4-BE49-F238E27FC236}">
                <a16:creationId xmlns:a16="http://schemas.microsoft.com/office/drawing/2014/main" id="{3BF71093-B61D-491F-4948-6907566B9F2B}"/>
              </a:ext>
            </a:extLst>
          </p:cNvPr>
          <p:cNvSpPr>
            <a:spLocks noChangeShapeType="1"/>
          </p:cNvSpPr>
          <p:nvPr/>
        </p:nvSpPr>
        <p:spPr bwMode="auto">
          <a:xfrm>
            <a:off x="6167823"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a:extLst>
              <a:ext uri="{FF2B5EF4-FFF2-40B4-BE49-F238E27FC236}">
                <a16:creationId xmlns:a16="http://schemas.microsoft.com/office/drawing/2014/main" id="{A388D1EB-0B0A-877B-2640-E5A1EAD952C8}"/>
              </a:ext>
            </a:extLst>
          </p:cNvPr>
          <p:cNvSpPr>
            <a:spLocks noChangeShapeType="1"/>
          </p:cNvSpPr>
          <p:nvPr/>
        </p:nvSpPr>
        <p:spPr bwMode="auto">
          <a:xfrm>
            <a:off x="7336602" y="2901815"/>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a:extLst>
              <a:ext uri="{FF2B5EF4-FFF2-40B4-BE49-F238E27FC236}">
                <a16:creationId xmlns:a16="http://schemas.microsoft.com/office/drawing/2014/main" id="{6886C0F4-7308-A60B-A62F-868DDE2C3378}"/>
              </a:ext>
            </a:extLst>
          </p:cNvPr>
          <p:cNvSpPr>
            <a:spLocks noChangeShapeType="1"/>
          </p:cNvSpPr>
          <p:nvPr/>
        </p:nvSpPr>
        <p:spPr bwMode="auto">
          <a:xfrm flipH="1">
            <a:off x="7892423" y="2226447"/>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Line 29">
            <a:extLst>
              <a:ext uri="{FF2B5EF4-FFF2-40B4-BE49-F238E27FC236}">
                <a16:creationId xmlns:a16="http://schemas.microsoft.com/office/drawing/2014/main" id="{070D6C56-1977-FA65-EC45-8216933AE367}"/>
              </a:ext>
            </a:extLst>
          </p:cNvPr>
          <p:cNvSpPr>
            <a:spLocks noChangeShapeType="1"/>
          </p:cNvSpPr>
          <p:nvPr/>
        </p:nvSpPr>
        <p:spPr bwMode="auto">
          <a:xfrm flipH="1">
            <a:off x="628194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7" name="Line 29">
            <a:extLst>
              <a:ext uri="{FF2B5EF4-FFF2-40B4-BE49-F238E27FC236}">
                <a16:creationId xmlns:a16="http://schemas.microsoft.com/office/drawing/2014/main" id="{37221FE1-0DAB-59A0-5E14-FD02F8ECEF59}"/>
              </a:ext>
            </a:extLst>
          </p:cNvPr>
          <p:cNvSpPr>
            <a:spLocks noChangeShapeType="1"/>
          </p:cNvSpPr>
          <p:nvPr/>
        </p:nvSpPr>
        <p:spPr bwMode="auto">
          <a:xfrm flipH="1">
            <a:off x="5223098"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a:extLst>
              <a:ext uri="{FF2B5EF4-FFF2-40B4-BE49-F238E27FC236}">
                <a16:creationId xmlns:a16="http://schemas.microsoft.com/office/drawing/2014/main" id="{37ADAA58-C721-390C-CB75-AFB6CE05109D}"/>
              </a:ext>
            </a:extLst>
          </p:cNvPr>
          <p:cNvSpPr>
            <a:spLocks noChangeShapeType="1"/>
          </p:cNvSpPr>
          <p:nvPr/>
        </p:nvSpPr>
        <p:spPr bwMode="auto">
          <a:xfrm flipH="1">
            <a:off x="4344742" y="2226447"/>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a:extLst>
              <a:ext uri="{FF2B5EF4-FFF2-40B4-BE49-F238E27FC236}">
                <a16:creationId xmlns:a16="http://schemas.microsoft.com/office/drawing/2014/main" id="{26A1AB21-526B-0A55-55A9-48EB5FBBA0F0}"/>
              </a:ext>
            </a:extLst>
          </p:cNvPr>
          <p:cNvSpPr>
            <a:spLocks noChangeShapeType="1"/>
          </p:cNvSpPr>
          <p:nvPr/>
        </p:nvSpPr>
        <p:spPr bwMode="auto">
          <a:xfrm flipH="1">
            <a:off x="2876090"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a:extLst>
              <a:ext uri="{FF2B5EF4-FFF2-40B4-BE49-F238E27FC236}">
                <a16:creationId xmlns:a16="http://schemas.microsoft.com/office/drawing/2014/main" id="{DE383134-429D-DD0A-5049-7325EBD8939F}"/>
              </a:ext>
            </a:extLst>
          </p:cNvPr>
          <p:cNvSpPr>
            <a:spLocks noChangeShapeType="1"/>
          </p:cNvSpPr>
          <p:nvPr/>
        </p:nvSpPr>
        <p:spPr bwMode="auto">
          <a:xfrm>
            <a:off x="4344742"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a:extLst>
              <a:ext uri="{FF2B5EF4-FFF2-40B4-BE49-F238E27FC236}">
                <a16:creationId xmlns:a16="http://schemas.microsoft.com/office/drawing/2014/main" id="{630A8D86-04B0-1D0B-5FCC-8A8D43516757}"/>
              </a:ext>
            </a:extLst>
          </p:cNvPr>
          <p:cNvSpPr>
            <a:spLocks noChangeShapeType="1"/>
          </p:cNvSpPr>
          <p:nvPr/>
        </p:nvSpPr>
        <p:spPr bwMode="auto">
          <a:xfrm>
            <a:off x="7892424"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a:extLst>
              <a:ext uri="{FF2B5EF4-FFF2-40B4-BE49-F238E27FC236}">
                <a16:creationId xmlns:a16="http://schemas.microsoft.com/office/drawing/2014/main" id="{FBBC4D43-F5C7-8E5F-CD34-2CDD34AE50D1}"/>
              </a:ext>
            </a:extLst>
          </p:cNvPr>
          <p:cNvSpPr>
            <a:spLocks noChangeShapeType="1"/>
          </p:cNvSpPr>
          <p:nvPr/>
        </p:nvSpPr>
        <p:spPr bwMode="auto">
          <a:xfrm flipH="1">
            <a:off x="7483015" y="2226447"/>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a:extLst>
              <a:ext uri="{FF2B5EF4-FFF2-40B4-BE49-F238E27FC236}">
                <a16:creationId xmlns:a16="http://schemas.microsoft.com/office/drawing/2014/main" id="{BEE0D06A-86B4-6B7F-13B1-1E25CEEF040A}"/>
              </a:ext>
            </a:extLst>
          </p:cNvPr>
          <p:cNvSpPr>
            <a:spLocks noChangeShapeType="1"/>
          </p:cNvSpPr>
          <p:nvPr/>
        </p:nvSpPr>
        <p:spPr bwMode="auto">
          <a:xfrm flipH="1">
            <a:off x="3948323" y="2226447"/>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8" name="直接连接符 67">
            <a:extLst>
              <a:ext uri="{FF2B5EF4-FFF2-40B4-BE49-F238E27FC236}">
                <a16:creationId xmlns:a16="http://schemas.microsoft.com/office/drawing/2014/main" id="{F78142FE-F153-38CD-D9AC-75E68EED86BD}"/>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E91A7C33-73F5-B2AE-BA17-07C002423387}"/>
              </a:ext>
            </a:extLst>
          </p:cNvPr>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A1D00426-8C85-499A-9846-F4FE0BA305D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2" name="矩形 1">
            <a:extLst>
              <a:ext uri="{FF2B5EF4-FFF2-40B4-BE49-F238E27FC236}">
                <a16:creationId xmlns:a16="http://schemas.microsoft.com/office/drawing/2014/main" id="{C51DE88B-96E0-833C-8C3B-1661FD33F1F8}"/>
              </a:ext>
            </a:extLst>
          </p:cNvPr>
          <p:cNvSpPr/>
          <p:nvPr/>
        </p:nvSpPr>
        <p:spPr>
          <a:xfrm>
            <a:off x="493821" y="1446757"/>
            <a:ext cx="3142075" cy="369332"/>
          </a:xfrm>
          <a:prstGeom prst="rect">
            <a:avLst/>
          </a:prstGeom>
        </p:spPr>
        <p:txBody>
          <a:bodyPr wrap="square">
            <a:spAutoFit/>
          </a:bodyPr>
          <a:lstStyle/>
          <a:p>
            <a:r>
              <a:rPr lang="en-US" altLang="zh-CN" dirty="0">
                <a:latin typeface="微软雅黑" pitchFamily="34" charset="-122"/>
                <a:ea typeface="微软雅黑" pitchFamily="34" charset="-122"/>
                <a:cs typeface="经典粗黑简" pitchFamily="49" charset="-122"/>
              </a:rPr>
              <a:t>2.3.3.2 </a:t>
            </a:r>
            <a:r>
              <a:rPr lang="zh-CN" altLang="en-US" dirty="0">
                <a:latin typeface="微软雅黑" pitchFamily="34" charset="-122"/>
                <a:ea typeface="微软雅黑" pitchFamily="34" charset="-122"/>
                <a:cs typeface="经典粗黑简" pitchFamily="49" charset="-122"/>
              </a:rPr>
              <a:t>删除结点操作</a:t>
            </a:r>
          </a:p>
        </p:txBody>
      </p:sp>
      <p:sp>
        <p:nvSpPr>
          <p:cNvPr id="11" name="Rectangle 228">
            <a:extLst>
              <a:ext uri="{FF2B5EF4-FFF2-40B4-BE49-F238E27FC236}">
                <a16:creationId xmlns:a16="http://schemas.microsoft.com/office/drawing/2014/main" id="{BE2B523D-577F-8CCE-63E6-E32DF4BE7172}"/>
              </a:ext>
            </a:extLst>
          </p:cNvPr>
          <p:cNvSpPr>
            <a:spLocks noChangeArrowheads="1"/>
          </p:cNvSpPr>
          <p:nvPr/>
        </p:nvSpPr>
        <p:spPr bwMode="auto">
          <a:xfrm>
            <a:off x="5368242" y="1427098"/>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q</a:t>
            </a:r>
          </a:p>
        </p:txBody>
      </p:sp>
      <p:sp>
        <p:nvSpPr>
          <p:cNvPr id="12" name="Line 29">
            <a:extLst>
              <a:ext uri="{FF2B5EF4-FFF2-40B4-BE49-F238E27FC236}">
                <a16:creationId xmlns:a16="http://schemas.microsoft.com/office/drawing/2014/main" id="{4FAC7FA9-3884-D4E8-7772-AAF0832223BD}"/>
              </a:ext>
            </a:extLst>
          </p:cNvPr>
          <p:cNvSpPr>
            <a:spLocks noChangeShapeType="1"/>
          </p:cNvSpPr>
          <p:nvPr/>
        </p:nvSpPr>
        <p:spPr bwMode="auto">
          <a:xfrm>
            <a:off x="5589963" y="1767837"/>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矩形 8">
            <a:extLst>
              <a:ext uri="{FF2B5EF4-FFF2-40B4-BE49-F238E27FC236}">
                <a16:creationId xmlns:a16="http://schemas.microsoft.com/office/drawing/2014/main" id="{A702D3C4-1D91-989A-3232-084F977141A9}"/>
              </a:ext>
            </a:extLst>
          </p:cNvPr>
          <p:cNvSpPr/>
          <p:nvPr/>
        </p:nvSpPr>
        <p:spPr>
          <a:xfrm>
            <a:off x="-17178" y="3027210"/>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13" name="矩形 12">
            <a:extLst>
              <a:ext uri="{FF2B5EF4-FFF2-40B4-BE49-F238E27FC236}">
                <a16:creationId xmlns:a16="http://schemas.microsoft.com/office/drawing/2014/main" id="{8668870B-77D2-B622-3D24-C835F82D5E3E}"/>
              </a:ext>
            </a:extLst>
          </p:cNvPr>
          <p:cNvSpPr/>
          <p:nvPr/>
        </p:nvSpPr>
        <p:spPr>
          <a:xfrm>
            <a:off x="412635" y="3312174"/>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18" name="Rectangle 55">
            <a:extLst>
              <a:ext uri="{FF2B5EF4-FFF2-40B4-BE49-F238E27FC236}">
                <a16:creationId xmlns:a16="http://schemas.microsoft.com/office/drawing/2014/main" id="{FD7C48C0-69FD-FDF6-4E43-B760438D5DC5}"/>
              </a:ext>
            </a:extLst>
          </p:cNvPr>
          <p:cNvSpPr>
            <a:spLocks noChangeArrowheads="1"/>
          </p:cNvSpPr>
          <p:nvPr/>
        </p:nvSpPr>
        <p:spPr bwMode="auto">
          <a:xfrm>
            <a:off x="5589963" y="1419798"/>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4" name="Rectangle 228">
            <a:extLst>
              <a:ext uri="{FF2B5EF4-FFF2-40B4-BE49-F238E27FC236}">
                <a16:creationId xmlns:a16="http://schemas.microsoft.com/office/drawing/2014/main" id="{5689487A-A9D4-5A07-7429-A7372D9209A3}"/>
              </a:ext>
            </a:extLst>
          </p:cNvPr>
          <p:cNvSpPr>
            <a:spLocks noChangeArrowheads="1"/>
          </p:cNvSpPr>
          <p:nvPr/>
        </p:nvSpPr>
        <p:spPr bwMode="auto">
          <a:xfrm>
            <a:off x="4195312" y="143792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p</a:t>
            </a:r>
          </a:p>
        </p:txBody>
      </p:sp>
      <p:sp>
        <p:nvSpPr>
          <p:cNvPr id="5" name="Line 29">
            <a:extLst>
              <a:ext uri="{FF2B5EF4-FFF2-40B4-BE49-F238E27FC236}">
                <a16:creationId xmlns:a16="http://schemas.microsoft.com/office/drawing/2014/main" id="{60CA89F4-0480-B566-2657-1E0EB3DE1EA8}"/>
              </a:ext>
            </a:extLst>
          </p:cNvPr>
          <p:cNvSpPr>
            <a:spLocks noChangeShapeType="1"/>
          </p:cNvSpPr>
          <p:nvPr/>
        </p:nvSpPr>
        <p:spPr bwMode="auto">
          <a:xfrm>
            <a:off x="4417033" y="1778661"/>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Rectangle 55">
            <a:extLst>
              <a:ext uri="{FF2B5EF4-FFF2-40B4-BE49-F238E27FC236}">
                <a16:creationId xmlns:a16="http://schemas.microsoft.com/office/drawing/2014/main" id="{20CF4712-58B4-6B48-0F41-594897DDEDCE}"/>
              </a:ext>
            </a:extLst>
          </p:cNvPr>
          <p:cNvSpPr>
            <a:spLocks noChangeArrowheads="1"/>
          </p:cNvSpPr>
          <p:nvPr/>
        </p:nvSpPr>
        <p:spPr bwMode="auto">
          <a:xfrm>
            <a:off x="4417033" y="1430622"/>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7" name="矩形 6">
            <a:extLst>
              <a:ext uri="{FF2B5EF4-FFF2-40B4-BE49-F238E27FC236}">
                <a16:creationId xmlns:a16="http://schemas.microsoft.com/office/drawing/2014/main" id="{967BA456-E5B9-D124-1D60-02543EC18964}"/>
              </a:ext>
            </a:extLst>
          </p:cNvPr>
          <p:cNvSpPr/>
          <p:nvPr/>
        </p:nvSpPr>
        <p:spPr>
          <a:xfrm>
            <a:off x="420097" y="3685542"/>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设置</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指针指向待删除结点；</a:t>
            </a:r>
          </a:p>
        </p:txBody>
      </p:sp>
      <p:sp>
        <p:nvSpPr>
          <p:cNvPr id="8" name="矩形 7">
            <a:extLst>
              <a:ext uri="{FF2B5EF4-FFF2-40B4-BE49-F238E27FC236}">
                <a16:creationId xmlns:a16="http://schemas.microsoft.com/office/drawing/2014/main" id="{87F4CF87-B709-2BFE-E5FD-953318BAD93B}"/>
              </a:ext>
            </a:extLst>
          </p:cNvPr>
          <p:cNvSpPr/>
          <p:nvPr/>
        </p:nvSpPr>
        <p:spPr>
          <a:xfrm>
            <a:off x="412303" y="4076573"/>
            <a:ext cx="3151585"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③ 设置</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结点的新后继；</a:t>
            </a:r>
          </a:p>
        </p:txBody>
      </p:sp>
      <p:sp>
        <p:nvSpPr>
          <p:cNvPr id="14" name="Rectangle 55">
            <a:extLst>
              <a:ext uri="{FF2B5EF4-FFF2-40B4-BE49-F238E27FC236}">
                <a16:creationId xmlns:a16="http://schemas.microsoft.com/office/drawing/2014/main" id="{8DD640F5-CD48-C43D-0347-596DF26FD6A5}"/>
              </a:ext>
            </a:extLst>
          </p:cNvPr>
          <p:cNvSpPr>
            <a:spLocks noChangeArrowheads="1"/>
          </p:cNvSpPr>
          <p:nvPr/>
        </p:nvSpPr>
        <p:spPr bwMode="auto">
          <a:xfrm>
            <a:off x="5969961" y="334635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5" name="Line 29">
            <a:extLst>
              <a:ext uri="{FF2B5EF4-FFF2-40B4-BE49-F238E27FC236}">
                <a16:creationId xmlns:a16="http://schemas.microsoft.com/office/drawing/2014/main" id="{F4FC6A03-B80F-FF02-4B9F-7DAF46D817B8}"/>
              </a:ext>
            </a:extLst>
          </p:cNvPr>
          <p:cNvSpPr>
            <a:spLocks noChangeShapeType="1"/>
          </p:cNvSpPr>
          <p:nvPr/>
        </p:nvSpPr>
        <p:spPr bwMode="auto">
          <a:xfrm flipH="1" flipV="1">
            <a:off x="6901343" y="3027210"/>
            <a:ext cx="0" cy="40011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29">
            <a:extLst>
              <a:ext uri="{FF2B5EF4-FFF2-40B4-BE49-F238E27FC236}">
                <a16:creationId xmlns:a16="http://schemas.microsoft.com/office/drawing/2014/main" id="{5BF2FA3C-A6DA-F0F0-0E08-A4C9E241F627}"/>
              </a:ext>
            </a:extLst>
          </p:cNvPr>
          <p:cNvSpPr>
            <a:spLocks noChangeShapeType="1"/>
          </p:cNvSpPr>
          <p:nvPr/>
        </p:nvSpPr>
        <p:spPr bwMode="auto">
          <a:xfrm>
            <a:off x="4932040" y="3427320"/>
            <a:ext cx="1969303"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29">
            <a:extLst>
              <a:ext uri="{FF2B5EF4-FFF2-40B4-BE49-F238E27FC236}">
                <a16:creationId xmlns:a16="http://schemas.microsoft.com/office/drawing/2014/main" id="{2E124598-9519-F186-65A0-9A7BE81376DA}"/>
              </a:ext>
            </a:extLst>
          </p:cNvPr>
          <p:cNvSpPr>
            <a:spLocks noChangeShapeType="1"/>
          </p:cNvSpPr>
          <p:nvPr/>
        </p:nvSpPr>
        <p:spPr bwMode="auto">
          <a:xfrm flipH="1" flipV="1">
            <a:off x="4923264" y="2930899"/>
            <a:ext cx="0" cy="496421"/>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文本框 20">
            <a:extLst>
              <a:ext uri="{FF2B5EF4-FFF2-40B4-BE49-F238E27FC236}">
                <a16:creationId xmlns:a16="http://schemas.microsoft.com/office/drawing/2014/main" id="{12072AC0-6B07-660A-61FB-518D864D1CB4}"/>
              </a:ext>
            </a:extLst>
          </p:cNvPr>
          <p:cNvSpPr txBox="1"/>
          <p:nvPr/>
        </p:nvSpPr>
        <p:spPr>
          <a:xfrm>
            <a:off x="4326893" y="4459661"/>
            <a:ext cx="2887249" cy="398827"/>
          </a:xfrm>
          <a:prstGeom prst="rect">
            <a:avLst/>
          </a:prstGeom>
          <a:noFill/>
        </p:spPr>
        <p:txBody>
          <a:bodyPr wrap="square">
            <a:spAutoFit/>
          </a:bodyPr>
          <a:lstStyle/>
          <a:p>
            <a:pPr>
              <a:lnSpc>
                <a:spcPts val="2600"/>
              </a:lnSpc>
            </a:pPr>
            <a:r>
              <a:rPr kumimoji="1" lang="en-US" altLang="zh-CN" sz="1800" dirty="0">
                <a:solidFill>
                  <a:srgbClr val="0000FF"/>
                </a:solidFill>
                <a:latin typeface="Consolas" pitchFamily="49" charset="0"/>
                <a:ea typeface="仿宋" pitchFamily="49" charset="-122"/>
                <a:cs typeface="Consolas" pitchFamily="49" charset="0"/>
              </a:rPr>
              <a:t>q-&gt;next-&gt;prior=p</a:t>
            </a:r>
            <a:r>
              <a:rPr kumimoji="1" lang="zh-CN" altLang="en-US" sz="1800" dirty="0">
                <a:solidFill>
                  <a:srgbClr val="0000FF"/>
                </a:solidFill>
                <a:latin typeface="Consolas" pitchFamily="49" charset="0"/>
                <a:ea typeface="仿宋" pitchFamily="49" charset="-122"/>
                <a:cs typeface="Consolas" pitchFamily="49" charset="0"/>
              </a:rPr>
              <a:t>；</a:t>
            </a:r>
            <a:endParaRPr lang="zh-CN" altLang="en-US" dirty="0"/>
          </a:p>
        </p:txBody>
      </p:sp>
      <p:sp>
        <p:nvSpPr>
          <p:cNvPr id="10" name="矩形 9">
            <a:extLst>
              <a:ext uri="{FF2B5EF4-FFF2-40B4-BE49-F238E27FC236}">
                <a16:creationId xmlns:a16="http://schemas.microsoft.com/office/drawing/2014/main" id="{C86336EE-F0E4-27B3-6FCD-49FFFE854E93}"/>
              </a:ext>
            </a:extLst>
          </p:cNvPr>
          <p:cNvSpPr/>
          <p:nvPr/>
        </p:nvSpPr>
        <p:spPr>
          <a:xfrm>
            <a:off x="412303" y="4459020"/>
            <a:ext cx="3522634"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④ 设置</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结点后继的新前驱；</a:t>
            </a:r>
          </a:p>
        </p:txBody>
      </p:sp>
      <p:sp>
        <p:nvSpPr>
          <p:cNvPr id="17" name="Line 29">
            <a:extLst>
              <a:ext uri="{FF2B5EF4-FFF2-40B4-BE49-F238E27FC236}">
                <a16:creationId xmlns:a16="http://schemas.microsoft.com/office/drawing/2014/main" id="{8556BA29-B153-DAA5-1114-B4A25ABD4EC2}"/>
              </a:ext>
            </a:extLst>
          </p:cNvPr>
          <p:cNvSpPr>
            <a:spLocks noChangeShapeType="1"/>
          </p:cNvSpPr>
          <p:nvPr/>
        </p:nvSpPr>
        <p:spPr bwMode="auto">
          <a:xfrm>
            <a:off x="4988892" y="1366778"/>
            <a:ext cx="2128442"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29">
            <a:extLst>
              <a:ext uri="{FF2B5EF4-FFF2-40B4-BE49-F238E27FC236}">
                <a16:creationId xmlns:a16="http://schemas.microsoft.com/office/drawing/2014/main" id="{BC6ECE67-5B57-C5E9-D4DF-834811D8FEFB}"/>
              </a:ext>
            </a:extLst>
          </p:cNvPr>
          <p:cNvSpPr>
            <a:spLocks noChangeShapeType="1"/>
          </p:cNvSpPr>
          <p:nvPr/>
        </p:nvSpPr>
        <p:spPr bwMode="auto">
          <a:xfrm flipH="1" flipV="1">
            <a:off x="7117334" y="1366778"/>
            <a:ext cx="0" cy="879692"/>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9">
            <a:extLst>
              <a:ext uri="{FF2B5EF4-FFF2-40B4-BE49-F238E27FC236}">
                <a16:creationId xmlns:a16="http://schemas.microsoft.com/office/drawing/2014/main" id="{5B17C778-4D57-3D50-232F-EA460C062866}"/>
              </a:ext>
            </a:extLst>
          </p:cNvPr>
          <p:cNvSpPr>
            <a:spLocks noChangeShapeType="1"/>
          </p:cNvSpPr>
          <p:nvPr/>
        </p:nvSpPr>
        <p:spPr bwMode="auto">
          <a:xfrm flipH="1">
            <a:off x="4988892" y="1357042"/>
            <a:ext cx="0" cy="704136"/>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Rectangle 55">
            <a:extLst>
              <a:ext uri="{FF2B5EF4-FFF2-40B4-BE49-F238E27FC236}">
                <a16:creationId xmlns:a16="http://schemas.microsoft.com/office/drawing/2014/main" id="{EBBD44B1-6B31-2AD7-88FF-6C9F9584581F}"/>
              </a:ext>
            </a:extLst>
          </p:cNvPr>
          <p:cNvSpPr>
            <a:spLocks noChangeArrowheads="1"/>
          </p:cNvSpPr>
          <p:nvPr/>
        </p:nvSpPr>
        <p:spPr bwMode="auto">
          <a:xfrm>
            <a:off x="6331072" y="90835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④</a:t>
            </a:r>
            <a:endParaRPr kumimoji="0" lang="zh-CN" altLang="en-US" sz="2400" dirty="0">
              <a:solidFill>
                <a:srgbClr val="FF0000"/>
              </a:solidFill>
              <a:ea typeface="CFNEOP+TimesNewRoman" charset="-122"/>
            </a:endParaRPr>
          </a:p>
        </p:txBody>
      </p:sp>
      <p:sp>
        <p:nvSpPr>
          <p:cNvPr id="24" name="Rectangle 55">
            <a:extLst>
              <a:ext uri="{FF2B5EF4-FFF2-40B4-BE49-F238E27FC236}">
                <a16:creationId xmlns:a16="http://schemas.microsoft.com/office/drawing/2014/main" id="{A942FB80-6E75-6E47-7D10-4E523E49F49A}"/>
              </a:ext>
            </a:extLst>
          </p:cNvPr>
          <p:cNvSpPr>
            <a:spLocks noChangeArrowheads="1"/>
          </p:cNvSpPr>
          <p:nvPr/>
        </p:nvSpPr>
        <p:spPr bwMode="auto">
          <a:xfrm>
            <a:off x="6367712" y="2003161"/>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sym typeface="Wingdings 2" panose="05020102010507070707" pitchFamily="18" charset="2"/>
              </a:rPr>
              <a:t></a:t>
            </a:r>
            <a:endParaRPr kumimoji="0" lang="zh-CN" altLang="en-US" sz="2400" dirty="0">
              <a:solidFill>
                <a:srgbClr val="FF0000"/>
              </a:solidFill>
              <a:ea typeface="CFNEOP+TimesNewRoman" charset="-122"/>
            </a:endParaRPr>
          </a:p>
        </p:txBody>
      </p:sp>
    </p:spTree>
    <p:extLst>
      <p:ext uri="{BB962C8B-B14F-4D97-AF65-F5344CB8AC3E}">
        <p14:creationId xmlns:p14="http://schemas.microsoft.com/office/powerpoint/2010/main" val="422618076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AE15B-CEDD-25C3-1AA2-26A6E85BDE32}"/>
            </a:ext>
          </a:extLst>
        </p:cNvPr>
        <p:cNvGrpSpPr/>
        <p:nvPr/>
      </p:nvGrpSpPr>
      <p:grpSpPr>
        <a:xfrm>
          <a:off x="0" y="0"/>
          <a:ext cx="0" cy="0"/>
          <a:chOff x="0" y="0"/>
          <a:chExt cx="0" cy="0"/>
        </a:xfrm>
      </p:grpSpPr>
      <p:sp>
        <p:nvSpPr>
          <p:cNvPr id="47" name="Rectangle 25">
            <a:extLst>
              <a:ext uri="{FF2B5EF4-FFF2-40B4-BE49-F238E27FC236}">
                <a16:creationId xmlns:a16="http://schemas.microsoft.com/office/drawing/2014/main" id="{029D6FE8-450C-ECD9-C4DA-2A22292220A6}"/>
              </a:ext>
            </a:extLst>
          </p:cNvPr>
          <p:cNvSpPr>
            <a:spLocks noChangeArrowheads="1"/>
          </p:cNvSpPr>
          <p:nvPr/>
        </p:nvSpPr>
        <p:spPr bwMode="auto">
          <a:xfrm>
            <a:off x="7620379" y="239960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a:extLst>
              <a:ext uri="{FF2B5EF4-FFF2-40B4-BE49-F238E27FC236}">
                <a16:creationId xmlns:a16="http://schemas.microsoft.com/office/drawing/2014/main" id="{60AF3615-5DC4-A398-A069-5684DDDD0E0A}"/>
              </a:ext>
            </a:extLst>
          </p:cNvPr>
          <p:cNvSpPr>
            <a:spLocks noChangeArrowheads="1"/>
          </p:cNvSpPr>
          <p:nvPr/>
        </p:nvSpPr>
        <p:spPr bwMode="auto">
          <a:xfrm>
            <a:off x="4014473" y="23887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a:extLst>
              <a:ext uri="{FF2B5EF4-FFF2-40B4-BE49-F238E27FC236}">
                <a16:creationId xmlns:a16="http://schemas.microsoft.com/office/drawing/2014/main" id="{96ADA1BE-A565-D67E-537F-2D06E14978B3}"/>
              </a:ext>
            </a:extLst>
          </p:cNvPr>
          <p:cNvSpPr>
            <a:spLocks noChangeShapeType="1"/>
          </p:cNvSpPr>
          <p:nvPr/>
        </p:nvSpPr>
        <p:spPr bwMode="auto">
          <a:xfrm>
            <a:off x="631856" y="2232697"/>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a:extLst>
              <a:ext uri="{FF2B5EF4-FFF2-40B4-BE49-F238E27FC236}">
                <a16:creationId xmlns:a16="http://schemas.microsoft.com/office/drawing/2014/main" id="{FB32ABF0-67DD-9EFE-FE2A-BDCC1912987C}"/>
              </a:ext>
            </a:extLst>
          </p:cNvPr>
          <p:cNvSpPr>
            <a:spLocks noChangeArrowheads="1"/>
          </p:cNvSpPr>
          <p:nvPr/>
        </p:nvSpPr>
        <p:spPr bwMode="auto">
          <a:xfrm>
            <a:off x="366211" y="203479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95" name="组合 94">
            <a:extLst>
              <a:ext uri="{FF2B5EF4-FFF2-40B4-BE49-F238E27FC236}">
                <a16:creationId xmlns:a16="http://schemas.microsoft.com/office/drawing/2014/main" id="{C0AA11AC-AC6A-D309-D10F-975E1643ABAC}"/>
              </a:ext>
            </a:extLst>
          </p:cNvPr>
          <p:cNvGrpSpPr/>
          <p:nvPr/>
        </p:nvGrpSpPr>
        <p:grpSpPr>
          <a:xfrm>
            <a:off x="2342689" y="2055888"/>
            <a:ext cx="533400" cy="984427"/>
            <a:chOff x="3344047" y="4287041"/>
            <a:chExt cx="533400" cy="1312569"/>
          </a:xfrm>
        </p:grpSpPr>
        <p:sp>
          <p:nvSpPr>
            <p:cNvPr id="97" name="Rectangle 5">
              <a:extLst>
                <a:ext uri="{FF2B5EF4-FFF2-40B4-BE49-F238E27FC236}">
                  <a16:creationId xmlns:a16="http://schemas.microsoft.com/office/drawing/2014/main" id="{7ED70C4A-8323-9A99-75F7-6F91933B8723}"/>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a:extLst>
                <a:ext uri="{FF2B5EF4-FFF2-40B4-BE49-F238E27FC236}">
                  <a16:creationId xmlns:a16="http://schemas.microsoft.com/office/drawing/2014/main" id="{80BCE9CF-5976-77AF-04DD-E0ED59A7F199}"/>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a:extLst>
                <a:ext uri="{FF2B5EF4-FFF2-40B4-BE49-F238E27FC236}">
                  <a16:creationId xmlns:a16="http://schemas.microsoft.com/office/drawing/2014/main" id="{2CFF8248-B0CF-7068-5AD1-ECB269F17828}"/>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a:extLst>
              <a:ext uri="{FF2B5EF4-FFF2-40B4-BE49-F238E27FC236}">
                <a16:creationId xmlns:a16="http://schemas.microsoft.com/office/drawing/2014/main" id="{E68702FE-A8AB-3BB8-6D2C-8C71CB8E883A}"/>
              </a:ext>
            </a:extLst>
          </p:cNvPr>
          <p:cNvGrpSpPr/>
          <p:nvPr/>
        </p:nvGrpSpPr>
        <p:grpSpPr>
          <a:xfrm>
            <a:off x="3401537" y="2055888"/>
            <a:ext cx="533400" cy="984427"/>
            <a:chOff x="3344047" y="4287041"/>
            <a:chExt cx="533400" cy="1312569"/>
          </a:xfrm>
        </p:grpSpPr>
        <p:sp>
          <p:nvSpPr>
            <p:cNvPr id="101" name="Rectangle 5">
              <a:extLst>
                <a:ext uri="{FF2B5EF4-FFF2-40B4-BE49-F238E27FC236}">
                  <a16:creationId xmlns:a16="http://schemas.microsoft.com/office/drawing/2014/main" id="{1A49F899-3CB9-49DE-322E-207D8CC31CE9}"/>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0875B15A-519C-4E73-F073-FEC804B42F9D}"/>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a:extLst>
                <a:ext uri="{FF2B5EF4-FFF2-40B4-BE49-F238E27FC236}">
                  <a16:creationId xmlns:a16="http://schemas.microsoft.com/office/drawing/2014/main" id="{DC5AF616-CA89-8962-F1D9-B46DDC15BDC3}"/>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a:extLst>
              <a:ext uri="{FF2B5EF4-FFF2-40B4-BE49-F238E27FC236}">
                <a16:creationId xmlns:a16="http://schemas.microsoft.com/office/drawing/2014/main" id="{A521C809-3609-589E-4C53-E49D4BDA5716}"/>
              </a:ext>
            </a:extLst>
          </p:cNvPr>
          <p:cNvGrpSpPr/>
          <p:nvPr/>
        </p:nvGrpSpPr>
        <p:grpSpPr>
          <a:xfrm>
            <a:off x="4547475" y="2055888"/>
            <a:ext cx="675622" cy="984427"/>
            <a:chOff x="3344047" y="4287041"/>
            <a:chExt cx="533400" cy="1312569"/>
          </a:xfrm>
        </p:grpSpPr>
        <p:sp>
          <p:nvSpPr>
            <p:cNvPr id="105" name="Rectangle 5">
              <a:extLst>
                <a:ext uri="{FF2B5EF4-FFF2-40B4-BE49-F238E27FC236}">
                  <a16:creationId xmlns:a16="http://schemas.microsoft.com/office/drawing/2014/main" id="{AD610D63-EA81-285D-1619-6429280D63BB}"/>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a:extLst>
                <a:ext uri="{FF2B5EF4-FFF2-40B4-BE49-F238E27FC236}">
                  <a16:creationId xmlns:a16="http://schemas.microsoft.com/office/drawing/2014/main" id="{DF6A8F1D-E4AF-3E93-D36A-32172C97C07D}"/>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a:extLst>
                <a:ext uri="{FF2B5EF4-FFF2-40B4-BE49-F238E27FC236}">
                  <a16:creationId xmlns:a16="http://schemas.microsoft.com/office/drawing/2014/main" id="{E1C5676A-7530-555E-E5B4-2FED6FE2C184}"/>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a:extLst>
              <a:ext uri="{FF2B5EF4-FFF2-40B4-BE49-F238E27FC236}">
                <a16:creationId xmlns:a16="http://schemas.microsoft.com/office/drawing/2014/main" id="{6AC1498B-D220-7CC0-850A-05E111D2F343}"/>
              </a:ext>
            </a:extLst>
          </p:cNvPr>
          <p:cNvGrpSpPr/>
          <p:nvPr/>
        </p:nvGrpSpPr>
        <p:grpSpPr>
          <a:xfrm>
            <a:off x="8095554" y="2055887"/>
            <a:ext cx="533400" cy="1076760"/>
            <a:chOff x="9096957" y="4287040"/>
            <a:chExt cx="533400" cy="1435680"/>
          </a:xfrm>
        </p:grpSpPr>
        <p:grpSp>
          <p:nvGrpSpPr>
            <p:cNvPr id="109" name="组合 108">
              <a:extLst>
                <a:ext uri="{FF2B5EF4-FFF2-40B4-BE49-F238E27FC236}">
                  <a16:creationId xmlns:a16="http://schemas.microsoft.com/office/drawing/2014/main" id="{87DF202C-B8A3-3E28-6A16-5F8A5CF702E5}"/>
                </a:ext>
              </a:extLst>
            </p:cNvPr>
            <p:cNvGrpSpPr/>
            <p:nvPr/>
          </p:nvGrpSpPr>
          <p:grpSpPr>
            <a:xfrm>
              <a:off x="9096957" y="4287040"/>
              <a:ext cx="533400" cy="1312569"/>
              <a:chOff x="3344047" y="4287041"/>
              <a:chExt cx="533400" cy="1312569"/>
            </a:xfrm>
          </p:grpSpPr>
          <p:sp>
            <p:nvSpPr>
              <p:cNvPr id="111" name="Rectangle 5">
                <a:extLst>
                  <a:ext uri="{FF2B5EF4-FFF2-40B4-BE49-F238E27FC236}">
                    <a16:creationId xmlns:a16="http://schemas.microsoft.com/office/drawing/2014/main" id="{0BE8F263-CB16-4A8F-88CB-27B31DE266A5}"/>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a:extLst>
                  <a:ext uri="{FF2B5EF4-FFF2-40B4-BE49-F238E27FC236}">
                    <a16:creationId xmlns:a16="http://schemas.microsoft.com/office/drawing/2014/main" id="{CEBB44A3-3EF2-A1B6-C00C-869ADF4C6981}"/>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a:extLst>
                  <a:ext uri="{FF2B5EF4-FFF2-40B4-BE49-F238E27FC236}">
                    <a16:creationId xmlns:a16="http://schemas.microsoft.com/office/drawing/2014/main" id="{B6C7194F-B890-C1B4-A099-080AE232741B}"/>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a:extLst>
                <a:ext uri="{FF2B5EF4-FFF2-40B4-BE49-F238E27FC236}">
                  <a16:creationId xmlns:a16="http://schemas.microsoft.com/office/drawing/2014/main" id="{7318B113-6D8A-41C9-A79E-3117573EC689}"/>
                </a:ext>
              </a:extLst>
            </p:cNvPr>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a:extLst>
              <a:ext uri="{FF2B5EF4-FFF2-40B4-BE49-F238E27FC236}">
                <a16:creationId xmlns:a16="http://schemas.microsoft.com/office/drawing/2014/main" id="{EA1D24F8-D010-7712-D23C-9734D8D1426D}"/>
              </a:ext>
            </a:extLst>
          </p:cNvPr>
          <p:cNvGrpSpPr/>
          <p:nvPr/>
        </p:nvGrpSpPr>
        <p:grpSpPr>
          <a:xfrm>
            <a:off x="5748545" y="2055888"/>
            <a:ext cx="533400" cy="984427"/>
            <a:chOff x="3344047" y="4287041"/>
            <a:chExt cx="533400" cy="1312569"/>
          </a:xfrm>
        </p:grpSpPr>
        <p:sp>
          <p:nvSpPr>
            <p:cNvPr id="115" name="Rectangle 5">
              <a:extLst>
                <a:ext uri="{FF2B5EF4-FFF2-40B4-BE49-F238E27FC236}">
                  <a16:creationId xmlns:a16="http://schemas.microsoft.com/office/drawing/2014/main" id="{4F5A3909-2F8C-184E-369E-FDE54020A164}"/>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a:extLst>
                <a:ext uri="{FF2B5EF4-FFF2-40B4-BE49-F238E27FC236}">
                  <a16:creationId xmlns:a16="http://schemas.microsoft.com/office/drawing/2014/main" id="{BA75DABA-6D60-9533-4132-F299EDCC51CE}"/>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
              <a:extLst>
                <a:ext uri="{FF2B5EF4-FFF2-40B4-BE49-F238E27FC236}">
                  <a16:creationId xmlns:a16="http://schemas.microsoft.com/office/drawing/2014/main" id="{FCE0119D-F77E-63A0-C85E-DAB22BF40979}"/>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组合 117">
            <a:extLst>
              <a:ext uri="{FF2B5EF4-FFF2-40B4-BE49-F238E27FC236}">
                <a16:creationId xmlns:a16="http://schemas.microsoft.com/office/drawing/2014/main" id="{11511163-3159-DFB6-DE03-B9CA10403094}"/>
              </a:ext>
            </a:extLst>
          </p:cNvPr>
          <p:cNvGrpSpPr/>
          <p:nvPr/>
        </p:nvGrpSpPr>
        <p:grpSpPr>
          <a:xfrm>
            <a:off x="6807393" y="2055888"/>
            <a:ext cx="675622" cy="984427"/>
            <a:chOff x="3344047" y="4287041"/>
            <a:chExt cx="533400" cy="1312569"/>
          </a:xfrm>
        </p:grpSpPr>
        <p:sp>
          <p:nvSpPr>
            <p:cNvPr id="119" name="Rectangle 5">
              <a:extLst>
                <a:ext uri="{FF2B5EF4-FFF2-40B4-BE49-F238E27FC236}">
                  <a16:creationId xmlns:a16="http://schemas.microsoft.com/office/drawing/2014/main" id="{F991883D-3723-B368-96A1-9D9ACF180E0C}"/>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a:extLst>
                <a:ext uri="{FF2B5EF4-FFF2-40B4-BE49-F238E27FC236}">
                  <a16:creationId xmlns:a16="http://schemas.microsoft.com/office/drawing/2014/main" id="{A327F560-7DE3-F48F-542F-419797770BF0}"/>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a:extLst>
                <a:ext uri="{FF2B5EF4-FFF2-40B4-BE49-F238E27FC236}">
                  <a16:creationId xmlns:a16="http://schemas.microsoft.com/office/drawing/2014/main" id="{4BD53718-4E5D-F664-AFBD-9504EAB32925}"/>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a:extLst>
              <a:ext uri="{FF2B5EF4-FFF2-40B4-BE49-F238E27FC236}">
                <a16:creationId xmlns:a16="http://schemas.microsoft.com/office/drawing/2014/main" id="{BBC4A03F-D7C4-B78E-082F-DC5777663084}"/>
              </a:ext>
            </a:extLst>
          </p:cNvPr>
          <p:cNvGrpSpPr/>
          <p:nvPr/>
        </p:nvGrpSpPr>
        <p:grpSpPr>
          <a:xfrm>
            <a:off x="1283841" y="2055888"/>
            <a:ext cx="533400" cy="984427"/>
            <a:chOff x="2459424" y="4263014"/>
            <a:chExt cx="533400" cy="1312569"/>
          </a:xfrm>
        </p:grpSpPr>
        <p:grpSp>
          <p:nvGrpSpPr>
            <p:cNvPr id="123" name="组合 122">
              <a:extLst>
                <a:ext uri="{FF2B5EF4-FFF2-40B4-BE49-F238E27FC236}">
                  <a16:creationId xmlns:a16="http://schemas.microsoft.com/office/drawing/2014/main" id="{488F8550-F6C9-2784-FD8A-3B7C0812739A}"/>
                </a:ext>
              </a:extLst>
            </p:cNvPr>
            <p:cNvGrpSpPr/>
            <p:nvPr/>
          </p:nvGrpSpPr>
          <p:grpSpPr>
            <a:xfrm>
              <a:off x="2459424" y="4263014"/>
              <a:ext cx="533400" cy="1312569"/>
              <a:chOff x="3344047" y="4287041"/>
              <a:chExt cx="533400" cy="1312569"/>
            </a:xfrm>
          </p:grpSpPr>
          <p:sp>
            <p:nvSpPr>
              <p:cNvPr id="125" name="Rectangle 5">
                <a:extLst>
                  <a:ext uri="{FF2B5EF4-FFF2-40B4-BE49-F238E27FC236}">
                    <a16:creationId xmlns:a16="http://schemas.microsoft.com/office/drawing/2014/main" id="{475B1EAB-A837-E508-28EF-8D1A599BA700}"/>
                  </a:ext>
                </a:extLst>
              </p:cNvPr>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a:extLst>
                  <a:ext uri="{FF2B5EF4-FFF2-40B4-BE49-F238E27FC236}">
                    <a16:creationId xmlns:a16="http://schemas.microsoft.com/office/drawing/2014/main" id="{0CBD1E6C-B7B0-3608-EB48-ECBD30015A8C}"/>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a:extLst>
                  <a:ext uri="{FF2B5EF4-FFF2-40B4-BE49-F238E27FC236}">
                    <a16:creationId xmlns:a16="http://schemas.microsoft.com/office/drawing/2014/main" id="{6368B224-3B90-7A7B-1CB8-1CD77066FD73}"/>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a:extLst>
                <a:ext uri="{FF2B5EF4-FFF2-40B4-BE49-F238E27FC236}">
                  <a16:creationId xmlns:a16="http://schemas.microsoft.com/office/drawing/2014/main" id="{0EB71FC0-B04C-51F0-87C5-F057431C87FD}"/>
                </a:ext>
              </a:extLst>
            </p:cNvPr>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a:extLst>
              <a:ext uri="{FF2B5EF4-FFF2-40B4-BE49-F238E27FC236}">
                <a16:creationId xmlns:a16="http://schemas.microsoft.com/office/drawing/2014/main" id="{68D59CAB-D395-E62F-2C6E-BFECDA460BB6}"/>
              </a:ext>
            </a:extLst>
          </p:cNvPr>
          <p:cNvSpPr>
            <a:spLocks noChangeShapeType="1"/>
          </p:cNvSpPr>
          <p:nvPr/>
        </p:nvSpPr>
        <p:spPr bwMode="auto">
          <a:xfrm flipH="1">
            <a:off x="182778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a:extLst>
              <a:ext uri="{FF2B5EF4-FFF2-40B4-BE49-F238E27FC236}">
                <a16:creationId xmlns:a16="http://schemas.microsoft.com/office/drawing/2014/main" id="{452C19D6-F0CD-70C8-A257-FD6A86EDAF02}"/>
              </a:ext>
            </a:extLst>
          </p:cNvPr>
          <p:cNvSpPr>
            <a:spLocks noChangeShapeType="1"/>
          </p:cNvSpPr>
          <p:nvPr/>
        </p:nvSpPr>
        <p:spPr bwMode="auto">
          <a:xfrm>
            <a:off x="1703118"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a:extLst>
              <a:ext uri="{FF2B5EF4-FFF2-40B4-BE49-F238E27FC236}">
                <a16:creationId xmlns:a16="http://schemas.microsoft.com/office/drawing/2014/main" id="{6388114A-7D7D-2A58-CB19-D9F1A8402204}"/>
              </a:ext>
            </a:extLst>
          </p:cNvPr>
          <p:cNvSpPr>
            <a:spLocks noChangeShapeType="1"/>
          </p:cNvSpPr>
          <p:nvPr/>
        </p:nvSpPr>
        <p:spPr bwMode="auto">
          <a:xfrm>
            <a:off x="2761967"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a:extLst>
              <a:ext uri="{FF2B5EF4-FFF2-40B4-BE49-F238E27FC236}">
                <a16:creationId xmlns:a16="http://schemas.microsoft.com/office/drawing/2014/main" id="{EB4F53F7-FD4C-F034-5709-029A6AE52AB1}"/>
              </a:ext>
            </a:extLst>
          </p:cNvPr>
          <p:cNvSpPr>
            <a:spLocks noChangeShapeType="1"/>
          </p:cNvSpPr>
          <p:nvPr/>
        </p:nvSpPr>
        <p:spPr bwMode="auto">
          <a:xfrm>
            <a:off x="3884001"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a:extLst>
              <a:ext uri="{FF2B5EF4-FFF2-40B4-BE49-F238E27FC236}">
                <a16:creationId xmlns:a16="http://schemas.microsoft.com/office/drawing/2014/main" id="{06BFEAF9-FF8A-F761-F689-B6D1521F62B1}"/>
              </a:ext>
            </a:extLst>
          </p:cNvPr>
          <p:cNvSpPr>
            <a:spLocks noChangeShapeType="1"/>
          </p:cNvSpPr>
          <p:nvPr/>
        </p:nvSpPr>
        <p:spPr bwMode="auto">
          <a:xfrm>
            <a:off x="6167823"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a:extLst>
              <a:ext uri="{FF2B5EF4-FFF2-40B4-BE49-F238E27FC236}">
                <a16:creationId xmlns:a16="http://schemas.microsoft.com/office/drawing/2014/main" id="{3F9D3E9C-191B-4493-6C58-7992988EAB44}"/>
              </a:ext>
            </a:extLst>
          </p:cNvPr>
          <p:cNvSpPr>
            <a:spLocks noChangeShapeType="1"/>
          </p:cNvSpPr>
          <p:nvPr/>
        </p:nvSpPr>
        <p:spPr bwMode="auto">
          <a:xfrm>
            <a:off x="7336602" y="2901815"/>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a:extLst>
              <a:ext uri="{FF2B5EF4-FFF2-40B4-BE49-F238E27FC236}">
                <a16:creationId xmlns:a16="http://schemas.microsoft.com/office/drawing/2014/main" id="{AE2154DB-F2F2-A886-BBA0-260331F31098}"/>
              </a:ext>
            </a:extLst>
          </p:cNvPr>
          <p:cNvSpPr>
            <a:spLocks noChangeShapeType="1"/>
          </p:cNvSpPr>
          <p:nvPr/>
        </p:nvSpPr>
        <p:spPr bwMode="auto">
          <a:xfrm flipH="1">
            <a:off x="7892423" y="2226447"/>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7" name="Line 29">
            <a:extLst>
              <a:ext uri="{FF2B5EF4-FFF2-40B4-BE49-F238E27FC236}">
                <a16:creationId xmlns:a16="http://schemas.microsoft.com/office/drawing/2014/main" id="{1360E491-E1F4-6A7A-5BBA-08AABD2C763E}"/>
              </a:ext>
            </a:extLst>
          </p:cNvPr>
          <p:cNvSpPr>
            <a:spLocks noChangeShapeType="1"/>
          </p:cNvSpPr>
          <p:nvPr/>
        </p:nvSpPr>
        <p:spPr bwMode="auto">
          <a:xfrm flipH="1">
            <a:off x="5223098"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a:extLst>
              <a:ext uri="{FF2B5EF4-FFF2-40B4-BE49-F238E27FC236}">
                <a16:creationId xmlns:a16="http://schemas.microsoft.com/office/drawing/2014/main" id="{5D2DBEF7-C262-7354-FB34-B5FF87523ABD}"/>
              </a:ext>
            </a:extLst>
          </p:cNvPr>
          <p:cNvSpPr>
            <a:spLocks noChangeShapeType="1"/>
          </p:cNvSpPr>
          <p:nvPr/>
        </p:nvSpPr>
        <p:spPr bwMode="auto">
          <a:xfrm flipH="1">
            <a:off x="4344742" y="2226447"/>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a:extLst>
              <a:ext uri="{FF2B5EF4-FFF2-40B4-BE49-F238E27FC236}">
                <a16:creationId xmlns:a16="http://schemas.microsoft.com/office/drawing/2014/main" id="{EF85C49A-B50F-607C-42C3-AAA459F67D87}"/>
              </a:ext>
            </a:extLst>
          </p:cNvPr>
          <p:cNvSpPr>
            <a:spLocks noChangeShapeType="1"/>
          </p:cNvSpPr>
          <p:nvPr/>
        </p:nvSpPr>
        <p:spPr bwMode="auto">
          <a:xfrm flipH="1">
            <a:off x="2876090"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a:extLst>
              <a:ext uri="{FF2B5EF4-FFF2-40B4-BE49-F238E27FC236}">
                <a16:creationId xmlns:a16="http://schemas.microsoft.com/office/drawing/2014/main" id="{2D632396-BFA1-961C-F44C-A8B9D0B90DA4}"/>
              </a:ext>
            </a:extLst>
          </p:cNvPr>
          <p:cNvSpPr>
            <a:spLocks noChangeShapeType="1"/>
          </p:cNvSpPr>
          <p:nvPr/>
        </p:nvSpPr>
        <p:spPr bwMode="auto">
          <a:xfrm>
            <a:off x="4344742"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a:extLst>
              <a:ext uri="{FF2B5EF4-FFF2-40B4-BE49-F238E27FC236}">
                <a16:creationId xmlns:a16="http://schemas.microsoft.com/office/drawing/2014/main" id="{963C9FB2-E6F0-6DB1-5293-EBB0B57FD745}"/>
              </a:ext>
            </a:extLst>
          </p:cNvPr>
          <p:cNvSpPr>
            <a:spLocks noChangeShapeType="1"/>
          </p:cNvSpPr>
          <p:nvPr/>
        </p:nvSpPr>
        <p:spPr bwMode="auto">
          <a:xfrm>
            <a:off x="7892424"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a:extLst>
              <a:ext uri="{FF2B5EF4-FFF2-40B4-BE49-F238E27FC236}">
                <a16:creationId xmlns:a16="http://schemas.microsoft.com/office/drawing/2014/main" id="{D1161068-9A32-DBAA-B4E6-A672EA60524A}"/>
              </a:ext>
            </a:extLst>
          </p:cNvPr>
          <p:cNvSpPr>
            <a:spLocks noChangeShapeType="1"/>
          </p:cNvSpPr>
          <p:nvPr/>
        </p:nvSpPr>
        <p:spPr bwMode="auto">
          <a:xfrm flipH="1">
            <a:off x="7483015" y="2226447"/>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a:extLst>
              <a:ext uri="{FF2B5EF4-FFF2-40B4-BE49-F238E27FC236}">
                <a16:creationId xmlns:a16="http://schemas.microsoft.com/office/drawing/2014/main" id="{C61D26BA-9905-7836-ADAE-D4EAB419C84C}"/>
              </a:ext>
            </a:extLst>
          </p:cNvPr>
          <p:cNvSpPr>
            <a:spLocks noChangeShapeType="1"/>
          </p:cNvSpPr>
          <p:nvPr/>
        </p:nvSpPr>
        <p:spPr bwMode="auto">
          <a:xfrm flipH="1">
            <a:off x="3948323" y="2226447"/>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8" name="直接连接符 67">
            <a:extLst>
              <a:ext uri="{FF2B5EF4-FFF2-40B4-BE49-F238E27FC236}">
                <a16:creationId xmlns:a16="http://schemas.microsoft.com/office/drawing/2014/main" id="{20794C96-C833-4205-1DD3-D66A8C8D8012}"/>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98EE492C-CF30-595D-B1EB-2B62A035444C}"/>
              </a:ext>
            </a:extLst>
          </p:cNvPr>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57F2BE3F-2159-FA7D-15E9-45EEA12A4899}"/>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2" name="矩形 1">
            <a:extLst>
              <a:ext uri="{FF2B5EF4-FFF2-40B4-BE49-F238E27FC236}">
                <a16:creationId xmlns:a16="http://schemas.microsoft.com/office/drawing/2014/main" id="{516B6221-1169-12DF-5BA8-582FB9CA7D56}"/>
              </a:ext>
            </a:extLst>
          </p:cNvPr>
          <p:cNvSpPr/>
          <p:nvPr/>
        </p:nvSpPr>
        <p:spPr>
          <a:xfrm>
            <a:off x="493821" y="1446757"/>
            <a:ext cx="3142075" cy="369332"/>
          </a:xfrm>
          <a:prstGeom prst="rect">
            <a:avLst/>
          </a:prstGeom>
        </p:spPr>
        <p:txBody>
          <a:bodyPr wrap="square">
            <a:spAutoFit/>
          </a:bodyPr>
          <a:lstStyle/>
          <a:p>
            <a:r>
              <a:rPr lang="en-US" altLang="zh-CN" dirty="0">
                <a:latin typeface="微软雅黑" pitchFamily="34" charset="-122"/>
                <a:ea typeface="微软雅黑" pitchFamily="34" charset="-122"/>
                <a:cs typeface="经典粗黑简" pitchFamily="49" charset="-122"/>
              </a:rPr>
              <a:t>2.3.3.2 </a:t>
            </a:r>
            <a:r>
              <a:rPr lang="zh-CN" altLang="en-US" dirty="0">
                <a:latin typeface="微软雅黑" pitchFamily="34" charset="-122"/>
                <a:ea typeface="微软雅黑" pitchFamily="34" charset="-122"/>
                <a:cs typeface="经典粗黑简" pitchFamily="49" charset="-122"/>
              </a:rPr>
              <a:t>删除结点操作</a:t>
            </a:r>
          </a:p>
        </p:txBody>
      </p:sp>
      <p:sp>
        <p:nvSpPr>
          <p:cNvPr id="11" name="Rectangle 228">
            <a:extLst>
              <a:ext uri="{FF2B5EF4-FFF2-40B4-BE49-F238E27FC236}">
                <a16:creationId xmlns:a16="http://schemas.microsoft.com/office/drawing/2014/main" id="{16FFC58A-0E14-7962-D266-3B99386F2538}"/>
              </a:ext>
            </a:extLst>
          </p:cNvPr>
          <p:cNvSpPr>
            <a:spLocks noChangeArrowheads="1"/>
          </p:cNvSpPr>
          <p:nvPr/>
        </p:nvSpPr>
        <p:spPr bwMode="auto">
          <a:xfrm>
            <a:off x="5368242" y="1427098"/>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q</a:t>
            </a:r>
          </a:p>
        </p:txBody>
      </p:sp>
      <p:sp>
        <p:nvSpPr>
          <p:cNvPr id="12" name="Line 29">
            <a:extLst>
              <a:ext uri="{FF2B5EF4-FFF2-40B4-BE49-F238E27FC236}">
                <a16:creationId xmlns:a16="http://schemas.microsoft.com/office/drawing/2014/main" id="{7CC88AA3-9C5C-3B03-43D0-C649D1A12A00}"/>
              </a:ext>
            </a:extLst>
          </p:cNvPr>
          <p:cNvSpPr>
            <a:spLocks noChangeShapeType="1"/>
          </p:cNvSpPr>
          <p:nvPr/>
        </p:nvSpPr>
        <p:spPr bwMode="auto">
          <a:xfrm>
            <a:off x="5589963" y="1767837"/>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矩形 8">
            <a:extLst>
              <a:ext uri="{FF2B5EF4-FFF2-40B4-BE49-F238E27FC236}">
                <a16:creationId xmlns:a16="http://schemas.microsoft.com/office/drawing/2014/main" id="{73A7C7F2-2918-226E-4046-C56F746FA478}"/>
              </a:ext>
            </a:extLst>
          </p:cNvPr>
          <p:cNvSpPr/>
          <p:nvPr/>
        </p:nvSpPr>
        <p:spPr>
          <a:xfrm>
            <a:off x="-17178" y="3027210"/>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13" name="矩形 12">
            <a:extLst>
              <a:ext uri="{FF2B5EF4-FFF2-40B4-BE49-F238E27FC236}">
                <a16:creationId xmlns:a16="http://schemas.microsoft.com/office/drawing/2014/main" id="{75355FC1-A36E-9C59-6F94-7F4A64FFFD26}"/>
              </a:ext>
            </a:extLst>
          </p:cNvPr>
          <p:cNvSpPr/>
          <p:nvPr/>
        </p:nvSpPr>
        <p:spPr>
          <a:xfrm>
            <a:off x="412635" y="3312174"/>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18" name="Rectangle 55">
            <a:extLst>
              <a:ext uri="{FF2B5EF4-FFF2-40B4-BE49-F238E27FC236}">
                <a16:creationId xmlns:a16="http://schemas.microsoft.com/office/drawing/2014/main" id="{ED7CEB04-8C89-9610-0735-4FD902673596}"/>
              </a:ext>
            </a:extLst>
          </p:cNvPr>
          <p:cNvSpPr>
            <a:spLocks noChangeArrowheads="1"/>
          </p:cNvSpPr>
          <p:nvPr/>
        </p:nvSpPr>
        <p:spPr bwMode="auto">
          <a:xfrm>
            <a:off x="5589963" y="1419798"/>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4" name="Rectangle 228">
            <a:extLst>
              <a:ext uri="{FF2B5EF4-FFF2-40B4-BE49-F238E27FC236}">
                <a16:creationId xmlns:a16="http://schemas.microsoft.com/office/drawing/2014/main" id="{DB329756-750D-27E3-B91C-295E1129FE10}"/>
              </a:ext>
            </a:extLst>
          </p:cNvPr>
          <p:cNvSpPr>
            <a:spLocks noChangeArrowheads="1"/>
          </p:cNvSpPr>
          <p:nvPr/>
        </p:nvSpPr>
        <p:spPr bwMode="auto">
          <a:xfrm>
            <a:off x="4195312" y="143792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p</a:t>
            </a:r>
          </a:p>
        </p:txBody>
      </p:sp>
      <p:sp>
        <p:nvSpPr>
          <p:cNvPr id="5" name="Line 29">
            <a:extLst>
              <a:ext uri="{FF2B5EF4-FFF2-40B4-BE49-F238E27FC236}">
                <a16:creationId xmlns:a16="http://schemas.microsoft.com/office/drawing/2014/main" id="{6D260217-24F5-66CC-CDAF-1787B7F1A415}"/>
              </a:ext>
            </a:extLst>
          </p:cNvPr>
          <p:cNvSpPr>
            <a:spLocks noChangeShapeType="1"/>
          </p:cNvSpPr>
          <p:nvPr/>
        </p:nvSpPr>
        <p:spPr bwMode="auto">
          <a:xfrm>
            <a:off x="4417033" y="1778661"/>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Rectangle 55">
            <a:extLst>
              <a:ext uri="{FF2B5EF4-FFF2-40B4-BE49-F238E27FC236}">
                <a16:creationId xmlns:a16="http://schemas.microsoft.com/office/drawing/2014/main" id="{004000A5-D964-ED62-9D27-FDEB14F8A785}"/>
              </a:ext>
            </a:extLst>
          </p:cNvPr>
          <p:cNvSpPr>
            <a:spLocks noChangeArrowheads="1"/>
          </p:cNvSpPr>
          <p:nvPr/>
        </p:nvSpPr>
        <p:spPr bwMode="auto">
          <a:xfrm>
            <a:off x="4417033" y="1430622"/>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7" name="矩形 6">
            <a:extLst>
              <a:ext uri="{FF2B5EF4-FFF2-40B4-BE49-F238E27FC236}">
                <a16:creationId xmlns:a16="http://schemas.microsoft.com/office/drawing/2014/main" id="{941D5004-3828-E902-78FC-A2A8F4B5CA78}"/>
              </a:ext>
            </a:extLst>
          </p:cNvPr>
          <p:cNvSpPr/>
          <p:nvPr/>
        </p:nvSpPr>
        <p:spPr>
          <a:xfrm>
            <a:off x="420097" y="3685542"/>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设置</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指针指向待删除结点；</a:t>
            </a:r>
          </a:p>
        </p:txBody>
      </p:sp>
      <p:sp>
        <p:nvSpPr>
          <p:cNvPr id="8" name="矩形 7">
            <a:extLst>
              <a:ext uri="{FF2B5EF4-FFF2-40B4-BE49-F238E27FC236}">
                <a16:creationId xmlns:a16="http://schemas.microsoft.com/office/drawing/2014/main" id="{AEC2C441-7CC5-64DF-3DFF-48CC37569663}"/>
              </a:ext>
            </a:extLst>
          </p:cNvPr>
          <p:cNvSpPr/>
          <p:nvPr/>
        </p:nvSpPr>
        <p:spPr>
          <a:xfrm>
            <a:off x="412303" y="4076573"/>
            <a:ext cx="3151585"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③ 设置</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结点的新后继；</a:t>
            </a:r>
          </a:p>
        </p:txBody>
      </p:sp>
      <p:sp>
        <p:nvSpPr>
          <p:cNvPr id="14" name="Rectangle 55">
            <a:extLst>
              <a:ext uri="{FF2B5EF4-FFF2-40B4-BE49-F238E27FC236}">
                <a16:creationId xmlns:a16="http://schemas.microsoft.com/office/drawing/2014/main" id="{010CAA5C-D3FC-35B7-C7DC-E73D7613BAD2}"/>
              </a:ext>
            </a:extLst>
          </p:cNvPr>
          <p:cNvSpPr>
            <a:spLocks noChangeArrowheads="1"/>
          </p:cNvSpPr>
          <p:nvPr/>
        </p:nvSpPr>
        <p:spPr bwMode="auto">
          <a:xfrm>
            <a:off x="5969961" y="334635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5" name="Line 29">
            <a:extLst>
              <a:ext uri="{FF2B5EF4-FFF2-40B4-BE49-F238E27FC236}">
                <a16:creationId xmlns:a16="http://schemas.microsoft.com/office/drawing/2014/main" id="{11C21DDE-AC1A-2D47-2CCD-EF7DF15AE6FD}"/>
              </a:ext>
            </a:extLst>
          </p:cNvPr>
          <p:cNvSpPr>
            <a:spLocks noChangeShapeType="1"/>
          </p:cNvSpPr>
          <p:nvPr/>
        </p:nvSpPr>
        <p:spPr bwMode="auto">
          <a:xfrm flipH="1" flipV="1">
            <a:off x="6901343" y="3027210"/>
            <a:ext cx="0" cy="40011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29">
            <a:extLst>
              <a:ext uri="{FF2B5EF4-FFF2-40B4-BE49-F238E27FC236}">
                <a16:creationId xmlns:a16="http://schemas.microsoft.com/office/drawing/2014/main" id="{68E45EBB-FF0E-FDFA-3970-BB6E8DB61416}"/>
              </a:ext>
            </a:extLst>
          </p:cNvPr>
          <p:cNvSpPr>
            <a:spLocks noChangeShapeType="1"/>
          </p:cNvSpPr>
          <p:nvPr/>
        </p:nvSpPr>
        <p:spPr bwMode="auto">
          <a:xfrm>
            <a:off x="4932040" y="3427320"/>
            <a:ext cx="1969303"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29">
            <a:extLst>
              <a:ext uri="{FF2B5EF4-FFF2-40B4-BE49-F238E27FC236}">
                <a16:creationId xmlns:a16="http://schemas.microsoft.com/office/drawing/2014/main" id="{98209EE0-3441-4087-7A43-FE24D20C3006}"/>
              </a:ext>
            </a:extLst>
          </p:cNvPr>
          <p:cNvSpPr>
            <a:spLocks noChangeShapeType="1"/>
          </p:cNvSpPr>
          <p:nvPr/>
        </p:nvSpPr>
        <p:spPr bwMode="auto">
          <a:xfrm flipH="1" flipV="1">
            <a:off x="4923264" y="2930899"/>
            <a:ext cx="0" cy="496421"/>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文本框 20">
            <a:extLst>
              <a:ext uri="{FF2B5EF4-FFF2-40B4-BE49-F238E27FC236}">
                <a16:creationId xmlns:a16="http://schemas.microsoft.com/office/drawing/2014/main" id="{757E410C-749E-1FEF-9254-16B89C0B30BA}"/>
              </a:ext>
            </a:extLst>
          </p:cNvPr>
          <p:cNvSpPr txBox="1"/>
          <p:nvPr/>
        </p:nvSpPr>
        <p:spPr>
          <a:xfrm>
            <a:off x="4326893" y="4459661"/>
            <a:ext cx="2887249" cy="398827"/>
          </a:xfrm>
          <a:prstGeom prst="rect">
            <a:avLst/>
          </a:prstGeom>
          <a:noFill/>
        </p:spPr>
        <p:txBody>
          <a:bodyPr wrap="square">
            <a:spAutoFit/>
          </a:bodyPr>
          <a:lstStyle/>
          <a:p>
            <a:pPr>
              <a:lnSpc>
                <a:spcPts val="2600"/>
              </a:lnSpc>
            </a:pPr>
            <a:r>
              <a:rPr kumimoji="1" lang="en-US" altLang="zh-CN" sz="1800" dirty="0">
                <a:solidFill>
                  <a:srgbClr val="0000FF"/>
                </a:solidFill>
                <a:latin typeface="Consolas" pitchFamily="49" charset="0"/>
                <a:ea typeface="仿宋" pitchFamily="49" charset="-122"/>
                <a:cs typeface="Consolas" pitchFamily="49" charset="0"/>
              </a:rPr>
              <a:t>q-&gt;next-&gt;prior=p</a:t>
            </a:r>
            <a:r>
              <a:rPr kumimoji="1" lang="zh-CN" altLang="en-US" sz="1800" dirty="0">
                <a:solidFill>
                  <a:srgbClr val="0000FF"/>
                </a:solidFill>
                <a:latin typeface="Consolas" pitchFamily="49" charset="0"/>
                <a:ea typeface="仿宋" pitchFamily="49" charset="-122"/>
                <a:cs typeface="Consolas" pitchFamily="49" charset="0"/>
              </a:rPr>
              <a:t>；</a:t>
            </a:r>
            <a:endParaRPr lang="zh-CN" altLang="en-US" dirty="0"/>
          </a:p>
        </p:txBody>
      </p:sp>
      <p:sp>
        <p:nvSpPr>
          <p:cNvPr id="10" name="矩形 9">
            <a:extLst>
              <a:ext uri="{FF2B5EF4-FFF2-40B4-BE49-F238E27FC236}">
                <a16:creationId xmlns:a16="http://schemas.microsoft.com/office/drawing/2014/main" id="{3021A195-FF6E-A174-0435-52BBBF4F430D}"/>
              </a:ext>
            </a:extLst>
          </p:cNvPr>
          <p:cNvSpPr/>
          <p:nvPr/>
        </p:nvSpPr>
        <p:spPr>
          <a:xfrm>
            <a:off x="412303" y="4459020"/>
            <a:ext cx="3522634"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④ 设置</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结点后继的新前驱；</a:t>
            </a:r>
          </a:p>
        </p:txBody>
      </p:sp>
      <p:sp>
        <p:nvSpPr>
          <p:cNvPr id="17" name="Line 29">
            <a:extLst>
              <a:ext uri="{FF2B5EF4-FFF2-40B4-BE49-F238E27FC236}">
                <a16:creationId xmlns:a16="http://schemas.microsoft.com/office/drawing/2014/main" id="{07AE1026-CF05-DD7E-D03F-E254C0DE575D}"/>
              </a:ext>
            </a:extLst>
          </p:cNvPr>
          <p:cNvSpPr>
            <a:spLocks noChangeShapeType="1"/>
          </p:cNvSpPr>
          <p:nvPr/>
        </p:nvSpPr>
        <p:spPr bwMode="auto">
          <a:xfrm>
            <a:off x="4988892" y="1366778"/>
            <a:ext cx="2128442"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29">
            <a:extLst>
              <a:ext uri="{FF2B5EF4-FFF2-40B4-BE49-F238E27FC236}">
                <a16:creationId xmlns:a16="http://schemas.microsoft.com/office/drawing/2014/main" id="{584D83F5-83D9-28A9-04D0-9B91F7367B2F}"/>
              </a:ext>
            </a:extLst>
          </p:cNvPr>
          <p:cNvSpPr>
            <a:spLocks noChangeShapeType="1"/>
          </p:cNvSpPr>
          <p:nvPr/>
        </p:nvSpPr>
        <p:spPr bwMode="auto">
          <a:xfrm flipH="1" flipV="1">
            <a:off x="7117334" y="1366778"/>
            <a:ext cx="0" cy="879692"/>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9">
            <a:extLst>
              <a:ext uri="{FF2B5EF4-FFF2-40B4-BE49-F238E27FC236}">
                <a16:creationId xmlns:a16="http://schemas.microsoft.com/office/drawing/2014/main" id="{1021CB91-F02F-B2B3-BFCA-8A0B32D240C7}"/>
              </a:ext>
            </a:extLst>
          </p:cNvPr>
          <p:cNvSpPr>
            <a:spLocks noChangeShapeType="1"/>
          </p:cNvSpPr>
          <p:nvPr/>
        </p:nvSpPr>
        <p:spPr bwMode="auto">
          <a:xfrm flipH="1">
            <a:off x="4988892" y="1357042"/>
            <a:ext cx="0" cy="704136"/>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Rectangle 55">
            <a:extLst>
              <a:ext uri="{FF2B5EF4-FFF2-40B4-BE49-F238E27FC236}">
                <a16:creationId xmlns:a16="http://schemas.microsoft.com/office/drawing/2014/main" id="{3E2710EA-6D25-4702-9B29-C0838C6FE469}"/>
              </a:ext>
            </a:extLst>
          </p:cNvPr>
          <p:cNvSpPr>
            <a:spLocks noChangeArrowheads="1"/>
          </p:cNvSpPr>
          <p:nvPr/>
        </p:nvSpPr>
        <p:spPr bwMode="auto">
          <a:xfrm>
            <a:off x="6331072" y="90835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④</a:t>
            </a:r>
            <a:endParaRPr kumimoji="0" lang="zh-CN" altLang="en-US" sz="2400" dirty="0">
              <a:solidFill>
                <a:srgbClr val="FF0000"/>
              </a:solidFill>
              <a:ea typeface="CFNEOP+TimesNewRoman" charset="-122"/>
            </a:endParaRPr>
          </a:p>
        </p:txBody>
      </p:sp>
    </p:spTree>
    <p:extLst>
      <p:ext uri="{BB962C8B-B14F-4D97-AF65-F5344CB8AC3E}">
        <p14:creationId xmlns:p14="http://schemas.microsoft.com/office/powerpoint/2010/main" val="13564375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8ED7C-5329-98A8-236D-764BD7EAF632}"/>
            </a:ext>
          </a:extLst>
        </p:cNvPr>
        <p:cNvGrpSpPr/>
        <p:nvPr/>
      </p:nvGrpSpPr>
      <p:grpSpPr>
        <a:xfrm>
          <a:off x="0" y="0"/>
          <a:ext cx="0" cy="0"/>
          <a:chOff x="0" y="0"/>
          <a:chExt cx="0" cy="0"/>
        </a:xfrm>
      </p:grpSpPr>
      <p:sp>
        <p:nvSpPr>
          <p:cNvPr id="47" name="Rectangle 25">
            <a:extLst>
              <a:ext uri="{FF2B5EF4-FFF2-40B4-BE49-F238E27FC236}">
                <a16:creationId xmlns:a16="http://schemas.microsoft.com/office/drawing/2014/main" id="{DAFFD9AE-3DB0-229A-6329-58BCD8C6B26E}"/>
              </a:ext>
            </a:extLst>
          </p:cNvPr>
          <p:cNvSpPr>
            <a:spLocks noChangeArrowheads="1"/>
          </p:cNvSpPr>
          <p:nvPr/>
        </p:nvSpPr>
        <p:spPr bwMode="auto">
          <a:xfrm>
            <a:off x="7620379" y="239960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a:extLst>
              <a:ext uri="{FF2B5EF4-FFF2-40B4-BE49-F238E27FC236}">
                <a16:creationId xmlns:a16="http://schemas.microsoft.com/office/drawing/2014/main" id="{F74F274E-2183-FF4B-D329-910D7B701C68}"/>
              </a:ext>
            </a:extLst>
          </p:cNvPr>
          <p:cNvSpPr>
            <a:spLocks noChangeArrowheads="1"/>
          </p:cNvSpPr>
          <p:nvPr/>
        </p:nvSpPr>
        <p:spPr bwMode="auto">
          <a:xfrm>
            <a:off x="4014473" y="23887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a:extLst>
              <a:ext uri="{FF2B5EF4-FFF2-40B4-BE49-F238E27FC236}">
                <a16:creationId xmlns:a16="http://schemas.microsoft.com/office/drawing/2014/main" id="{30CFCC6C-8F4E-800E-80A4-1E0ED8E53E08}"/>
              </a:ext>
            </a:extLst>
          </p:cNvPr>
          <p:cNvSpPr>
            <a:spLocks noChangeShapeType="1"/>
          </p:cNvSpPr>
          <p:nvPr/>
        </p:nvSpPr>
        <p:spPr bwMode="auto">
          <a:xfrm>
            <a:off x="631856" y="2232697"/>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a:extLst>
              <a:ext uri="{FF2B5EF4-FFF2-40B4-BE49-F238E27FC236}">
                <a16:creationId xmlns:a16="http://schemas.microsoft.com/office/drawing/2014/main" id="{4CB2C1D2-69BC-FF34-497C-DF09EA42886F}"/>
              </a:ext>
            </a:extLst>
          </p:cNvPr>
          <p:cNvSpPr>
            <a:spLocks noChangeArrowheads="1"/>
          </p:cNvSpPr>
          <p:nvPr/>
        </p:nvSpPr>
        <p:spPr bwMode="auto">
          <a:xfrm>
            <a:off x="366211" y="203479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95" name="组合 94">
            <a:extLst>
              <a:ext uri="{FF2B5EF4-FFF2-40B4-BE49-F238E27FC236}">
                <a16:creationId xmlns:a16="http://schemas.microsoft.com/office/drawing/2014/main" id="{FC727356-4008-1661-3D97-B352EB2F59A8}"/>
              </a:ext>
            </a:extLst>
          </p:cNvPr>
          <p:cNvGrpSpPr/>
          <p:nvPr/>
        </p:nvGrpSpPr>
        <p:grpSpPr>
          <a:xfrm>
            <a:off x="2342689" y="2055888"/>
            <a:ext cx="533400" cy="984427"/>
            <a:chOff x="3344047" y="4287041"/>
            <a:chExt cx="533400" cy="1312569"/>
          </a:xfrm>
        </p:grpSpPr>
        <p:sp>
          <p:nvSpPr>
            <p:cNvPr id="97" name="Rectangle 5">
              <a:extLst>
                <a:ext uri="{FF2B5EF4-FFF2-40B4-BE49-F238E27FC236}">
                  <a16:creationId xmlns:a16="http://schemas.microsoft.com/office/drawing/2014/main" id="{643C3CB4-671E-7188-61C4-06BC0FD54F58}"/>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a:extLst>
                <a:ext uri="{FF2B5EF4-FFF2-40B4-BE49-F238E27FC236}">
                  <a16:creationId xmlns:a16="http://schemas.microsoft.com/office/drawing/2014/main" id="{4A6AC1A5-A969-17C0-8EF3-0B039D767FE0}"/>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a:extLst>
                <a:ext uri="{FF2B5EF4-FFF2-40B4-BE49-F238E27FC236}">
                  <a16:creationId xmlns:a16="http://schemas.microsoft.com/office/drawing/2014/main" id="{352F6349-F066-1F85-3348-AC8AE4EBCFE9}"/>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a:extLst>
              <a:ext uri="{FF2B5EF4-FFF2-40B4-BE49-F238E27FC236}">
                <a16:creationId xmlns:a16="http://schemas.microsoft.com/office/drawing/2014/main" id="{0AF3E1B2-855B-A5A2-D962-90A2EB836FFA}"/>
              </a:ext>
            </a:extLst>
          </p:cNvPr>
          <p:cNvGrpSpPr/>
          <p:nvPr/>
        </p:nvGrpSpPr>
        <p:grpSpPr>
          <a:xfrm>
            <a:off x="3401537" y="2055888"/>
            <a:ext cx="533400" cy="984427"/>
            <a:chOff x="3344047" y="4287041"/>
            <a:chExt cx="533400" cy="1312569"/>
          </a:xfrm>
        </p:grpSpPr>
        <p:sp>
          <p:nvSpPr>
            <p:cNvPr id="101" name="Rectangle 5">
              <a:extLst>
                <a:ext uri="{FF2B5EF4-FFF2-40B4-BE49-F238E27FC236}">
                  <a16:creationId xmlns:a16="http://schemas.microsoft.com/office/drawing/2014/main" id="{30099F75-085F-69E9-9394-FEC9EDD6BD97}"/>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9F3EDCE8-62B7-8132-BAFF-07C7D9E98287}"/>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a:extLst>
                <a:ext uri="{FF2B5EF4-FFF2-40B4-BE49-F238E27FC236}">
                  <a16:creationId xmlns:a16="http://schemas.microsoft.com/office/drawing/2014/main" id="{442E35E6-4EB0-5B4F-D3D1-2D9EC71711F6}"/>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a:extLst>
              <a:ext uri="{FF2B5EF4-FFF2-40B4-BE49-F238E27FC236}">
                <a16:creationId xmlns:a16="http://schemas.microsoft.com/office/drawing/2014/main" id="{EA2AF6C2-212F-C924-C617-FD6796AF76D5}"/>
              </a:ext>
            </a:extLst>
          </p:cNvPr>
          <p:cNvGrpSpPr/>
          <p:nvPr/>
        </p:nvGrpSpPr>
        <p:grpSpPr>
          <a:xfrm>
            <a:off x="4547475" y="2055888"/>
            <a:ext cx="675622" cy="984427"/>
            <a:chOff x="3344047" y="4287041"/>
            <a:chExt cx="533400" cy="1312569"/>
          </a:xfrm>
        </p:grpSpPr>
        <p:sp>
          <p:nvSpPr>
            <p:cNvPr id="105" name="Rectangle 5">
              <a:extLst>
                <a:ext uri="{FF2B5EF4-FFF2-40B4-BE49-F238E27FC236}">
                  <a16:creationId xmlns:a16="http://schemas.microsoft.com/office/drawing/2014/main" id="{5504A94F-B323-5F59-266F-6B451706860C}"/>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a:extLst>
                <a:ext uri="{FF2B5EF4-FFF2-40B4-BE49-F238E27FC236}">
                  <a16:creationId xmlns:a16="http://schemas.microsoft.com/office/drawing/2014/main" id="{F5DA6DF5-C57D-4615-10C5-8B0F6D9B5904}"/>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a:extLst>
                <a:ext uri="{FF2B5EF4-FFF2-40B4-BE49-F238E27FC236}">
                  <a16:creationId xmlns:a16="http://schemas.microsoft.com/office/drawing/2014/main" id="{13C591F7-B574-C6B9-6F46-34C36081508B}"/>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a:extLst>
              <a:ext uri="{FF2B5EF4-FFF2-40B4-BE49-F238E27FC236}">
                <a16:creationId xmlns:a16="http://schemas.microsoft.com/office/drawing/2014/main" id="{1DE7F2D3-9E0E-EC85-2611-928DCC986F8F}"/>
              </a:ext>
            </a:extLst>
          </p:cNvPr>
          <p:cNvGrpSpPr/>
          <p:nvPr/>
        </p:nvGrpSpPr>
        <p:grpSpPr>
          <a:xfrm>
            <a:off x="8095554" y="2055887"/>
            <a:ext cx="533400" cy="1076760"/>
            <a:chOff x="9096957" y="4287040"/>
            <a:chExt cx="533400" cy="1435680"/>
          </a:xfrm>
        </p:grpSpPr>
        <p:grpSp>
          <p:nvGrpSpPr>
            <p:cNvPr id="109" name="组合 108">
              <a:extLst>
                <a:ext uri="{FF2B5EF4-FFF2-40B4-BE49-F238E27FC236}">
                  <a16:creationId xmlns:a16="http://schemas.microsoft.com/office/drawing/2014/main" id="{17295C8F-F45F-7FC0-2E79-AE5F27490643}"/>
                </a:ext>
              </a:extLst>
            </p:cNvPr>
            <p:cNvGrpSpPr/>
            <p:nvPr/>
          </p:nvGrpSpPr>
          <p:grpSpPr>
            <a:xfrm>
              <a:off x="9096957" y="4287040"/>
              <a:ext cx="533400" cy="1312569"/>
              <a:chOff x="3344047" y="4287041"/>
              <a:chExt cx="533400" cy="1312569"/>
            </a:xfrm>
          </p:grpSpPr>
          <p:sp>
            <p:nvSpPr>
              <p:cNvPr id="111" name="Rectangle 5">
                <a:extLst>
                  <a:ext uri="{FF2B5EF4-FFF2-40B4-BE49-F238E27FC236}">
                    <a16:creationId xmlns:a16="http://schemas.microsoft.com/office/drawing/2014/main" id="{0B9355B0-9EB5-A434-572D-43D440398CB3}"/>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a:extLst>
                  <a:ext uri="{FF2B5EF4-FFF2-40B4-BE49-F238E27FC236}">
                    <a16:creationId xmlns:a16="http://schemas.microsoft.com/office/drawing/2014/main" id="{DEAF8D43-7652-EBE8-8EFE-05F4B3AF394E}"/>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a:extLst>
                  <a:ext uri="{FF2B5EF4-FFF2-40B4-BE49-F238E27FC236}">
                    <a16:creationId xmlns:a16="http://schemas.microsoft.com/office/drawing/2014/main" id="{50ECBEF8-16E4-C951-79D1-9B5C6577E64F}"/>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a:extLst>
                <a:ext uri="{FF2B5EF4-FFF2-40B4-BE49-F238E27FC236}">
                  <a16:creationId xmlns:a16="http://schemas.microsoft.com/office/drawing/2014/main" id="{78369EAB-1846-7884-AB62-0717D6EE4D40}"/>
                </a:ext>
              </a:extLst>
            </p:cNvPr>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4" name="组合 113">
            <a:extLst>
              <a:ext uri="{FF2B5EF4-FFF2-40B4-BE49-F238E27FC236}">
                <a16:creationId xmlns:a16="http://schemas.microsoft.com/office/drawing/2014/main" id="{2E7C979D-7222-F7A3-A0A2-B2394845407D}"/>
              </a:ext>
            </a:extLst>
          </p:cNvPr>
          <p:cNvGrpSpPr/>
          <p:nvPr/>
        </p:nvGrpSpPr>
        <p:grpSpPr>
          <a:xfrm>
            <a:off x="5748545" y="2055888"/>
            <a:ext cx="533400" cy="984427"/>
            <a:chOff x="3344047" y="4287041"/>
            <a:chExt cx="533400" cy="1312569"/>
          </a:xfrm>
          <a:pattFill prst="wdDnDiag">
            <a:fgClr>
              <a:schemeClr val="accent1"/>
            </a:fgClr>
            <a:bgClr>
              <a:schemeClr val="bg1"/>
            </a:bgClr>
          </a:pattFill>
        </p:grpSpPr>
        <p:sp>
          <p:nvSpPr>
            <p:cNvPr id="115" name="Rectangle 5">
              <a:extLst>
                <a:ext uri="{FF2B5EF4-FFF2-40B4-BE49-F238E27FC236}">
                  <a16:creationId xmlns:a16="http://schemas.microsoft.com/office/drawing/2014/main" id="{DD2A5806-5290-8196-4703-D748EB101D11}"/>
                </a:ext>
              </a:extLst>
            </p:cNvPr>
            <p:cNvSpPr>
              <a:spLocks noChangeArrowheads="1"/>
            </p:cNvSpPr>
            <p:nvPr/>
          </p:nvSpPr>
          <p:spPr bwMode="auto">
            <a:xfrm>
              <a:off x="3344047" y="4287041"/>
              <a:ext cx="533400" cy="1312569"/>
            </a:xfrm>
            <a:prstGeom prst="rect">
              <a:avLst/>
            </a:prstGeom>
            <a:grp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16" name="Line 6">
              <a:extLst>
                <a:ext uri="{FF2B5EF4-FFF2-40B4-BE49-F238E27FC236}">
                  <a16:creationId xmlns:a16="http://schemas.microsoft.com/office/drawing/2014/main" id="{6FEE3CF8-C76B-DF2E-B97C-68F6D20EFCFC}"/>
                </a:ext>
              </a:extLst>
            </p:cNvPr>
            <p:cNvSpPr>
              <a:spLocks noChangeShapeType="1"/>
            </p:cNvSpPr>
            <p:nvPr/>
          </p:nvSpPr>
          <p:spPr bwMode="auto">
            <a:xfrm flipV="1">
              <a:off x="3346678" y="4655875"/>
              <a:ext cx="530769" cy="1"/>
            </a:xfrm>
            <a:prstGeom prst="line">
              <a:avLst/>
            </a:prstGeom>
            <a:grpFill/>
            <a:ln w="19050">
              <a:solidFill>
                <a:schemeClr val="tx1"/>
              </a:solidFill>
              <a:round/>
              <a:headEnd/>
              <a:tailEnd/>
            </a:ln>
          </p:spPr>
          <p:txBody>
            <a:bodyPr/>
            <a:lstStyle/>
            <a:p>
              <a:endParaRPr lang="zh-CN" altLang="en-US"/>
            </a:p>
          </p:txBody>
        </p:sp>
        <p:sp>
          <p:nvSpPr>
            <p:cNvPr id="117" name="Line 6">
              <a:extLst>
                <a:ext uri="{FF2B5EF4-FFF2-40B4-BE49-F238E27FC236}">
                  <a16:creationId xmlns:a16="http://schemas.microsoft.com/office/drawing/2014/main" id="{C524EC3F-50FB-01DB-90BD-2DFC839AD30E}"/>
                </a:ext>
              </a:extLst>
            </p:cNvPr>
            <p:cNvSpPr>
              <a:spLocks noChangeShapeType="1"/>
            </p:cNvSpPr>
            <p:nvPr/>
          </p:nvSpPr>
          <p:spPr bwMode="auto">
            <a:xfrm flipV="1">
              <a:off x="3346678" y="5207870"/>
              <a:ext cx="530769" cy="1"/>
            </a:xfrm>
            <a:prstGeom prst="line">
              <a:avLst/>
            </a:prstGeom>
            <a:grpFill/>
            <a:ln w="19050">
              <a:solidFill>
                <a:schemeClr val="tx1"/>
              </a:solidFill>
              <a:round/>
              <a:headEnd/>
              <a:tailEnd/>
            </a:ln>
          </p:spPr>
          <p:txBody>
            <a:bodyPr/>
            <a:lstStyle/>
            <a:p>
              <a:endParaRPr lang="zh-CN" altLang="en-US"/>
            </a:p>
          </p:txBody>
        </p:sp>
      </p:grpSp>
      <p:grpSp>
        <p:nvGrpSpPr>
          <p:cNvPr id="118" name="组合 117">
            <a:extLst>
              <a:ext uri="{FF2B5EF4-FFF2-40B4-BE49-F238E27FC236}">
                <a16:creationId xmlns:a16="http://schemas.microsoft.com/office/drawing/2014/main" id="{AB2D79B4-29E3-343C-087E-EABB3632D5F7}"/>
              </a:ext>
            </a:extLst>
          </p:cNvPr>
          <p:cNvGrpSpPr/>
          <p:nvPr/>
        </p:nvGrpSpPr>
        <p:grpSpPr>
          <a:xfrm>
            <a:off x="6807393" y="2055888"/>
            <a:ext cx="675622" cy="984427"/>
            <a:chOff x="3344047" y="4287041"/>
            <a:chExt cx="533400" cy="1312569"/>
          </a:xfrm>
        </p:grpSpPr>
        <p:sp>
          <p:nvSpPr>
            <p:cNvPr id="119" name="Rectangle 5">
              <a:extLst>
                <a:ext uri="{FF2B5EF4-FFF2-40B4-BE49-F238E27FC236}">
                  <a16:creationId xmlns:a16="http://schemas.microsoft.com/office/drawing/2014/main" id="{7E862C61-7AEA-4FE0-A7D0-E3D11D98825D}"/>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a:extLst>
                <a:ext uri="{FF2B5EF4-FFF2-40B4-BE49-F238E27FC236}">
                  <a16:creationId xmlns:a16="http://schemas.microsoft.com/office/drawing/2014/main" id="{BA206E02-DB54-4D31-A01C-ECAB976E7A4F}"/>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a:extLst>
                <a:ext uri="{FF2B5EF4-FFF2-40B4-BE49-F238E27FC236}">
                  <a16:creationId xmlns:a16="http://schemas.microsoft.com/office/drawing/2014/main" id="{183F000D-0E3F-AA07-217A-78F9C9F38963}"/>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a:extLst>
              <a:ext uri="{FF2B5EF4-FFF2-40B4-BE49-F238E27FC236}">
                <a16:creationId xmlns:a16="http://schemas.microsoft.com/office/drawing/2014/main" id="{62A42A23-43C3-289B-9649-A9EA1CDD9AA5}"/>
              </a:ext>
            </a:extLst>
          </p:cNvPr>
          <p:cNvGrpSpPr/>
          <p:nvPr/>
        </p:nvGrpSpPr>
        <p:grpSpPr>
          <a:xfrm>
            <a:off x="1283841" y="2055888"/>
            <a:ext cx="533400" cy="984427"/>
            <a:chOff x="2459424" y="4263014"/>
            <a:chExt cx="533400" cy="1312569"/>
          </a:xfrm>
        </p:grpSpPr>
        <p:grpSp>
          <p:nvGrpSpPr>
            <p:cNvPr id="123" name="组合 122">
              <a:extLst>
                <a:ext uri="{FF2B5EF4-FFF2-40B4-BE49-F238E27FC236}">
                  <a16:creationId xmlns:a16="http://schemas.microsoft.com/office/drawing/2014/main" id="{21000606-4325-EE8F-26E7-C9AC2CF93F7C}"/>
                </a:ext>
              </a:extLst>
            </p:cNvPr>
            <p:cNvGrpSpPr/>
            <p:nvPr/>
          </p:nvGrpSpPr>
          <p:grpSpPr>
            <a:xfrm>
              <a:off x="2459424" y="4263014"/>
              <a:ext cx="533400" cy="1312569"/>
              <a:chOff x="3344047" y="4287041"/>
              <a:chExt cx="533400" cy="1312569"/>
            </a:xfrm>
          </p:grpSpPr>
          <p:sp>
            <p:nvSpPr>
              <p:cNvPr id="125" name="Rectangle 5">
                <a:extLst>
                  <a:ext uri="{FF2B5EF4-FFF2-40B4-BE49-F238E27FC236}">
                    <a16:creationId xmlns:a16="http://schemas.microsoft.com/office/drawing/2014/main" id="{66C52BAF-49A4-E120-1425-A778ED4DDDD6}"/>
                  </a:ext>
                </a:extLst>
              </p:cNvPr>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a:extLst>
                  <a:ext uri="{FF2B5EF4-FFF2-40B4-BE49-F238E27FC236}">
                    <a16:creationId xmlns:a16="http://schemas.microsoft.com/office/drawing/2014/main" id="{3564501D-BB56-7BB8-BE65-D91F38D20AA1}"/>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a:extLst>
                  <a:ext uri="{FF2B5EF4-FFF2-40B4-BE49-F238E27FC236}">
                    <a16:creationId xmlns:a16="http://schemas.microsoft.com/office/drawing/2014/main" id="{158BE5F7-7CFC-84BE-279F-2F4CC5B29AC6}"/>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a:extLst>
                <a:ext uri="{FF2B5EF4-FFF2-40B4-BE49-F238E27FC236}">
                  <a16:creationId xmlns:a16="http://schemas.microsoft.com/office/drawing/2014/main" id="{3377A3CF-CFC1-CF7C-F170-D581049EC09E}"/>
                </a:ext>
              </a:extLst>
            </p:cNvPr>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a:extLst>
              <a:ext uri="{FF2B5EF4-FFF2-40B4-BE49-F238E27FC236}">
                <a16:creationId xmlns:a16="http://schemas.microsoft.com/office/drawing/2014/main" id="{9FEC3824-ACAB-9CAD-D135-55B6469A2244}"/>
              </a:ext>
            </a:extLst>
          </p:cNvPr>
          <p:cNvSpPr>
            <a:spLocks noChangeShapeType="1"/>
          </p:cNvSpPr>
          <p:nvPr/>
        </p:nvSpPr>
        <p:spPr bwMode="auto">
          <a:xfrm flipH="1">
            <a:off x="182778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a:extLst>
              <a:ext uri="{FF2B5EF4-FFF2-40B4-BE49-F238E27FC236}">
                <a16:creationId xmlns:a16="http://schemas.microsoft.com/office/drawing/2014/main" id="{F7E97067-25CA-7A15-6D75-FBB5B0CE83EB}"/>
              </a:ext>
            </a:extLst>
          </p:cNvPr>
          <p:cNvSpPr>
            <a:spLocks noChangeShapeType="1"/>
          </p:cNvSpPr>
          <p:nvPr/>
        </p:nvSpPr>
        <p:spPr bwMode="auto">
          <a:xfrm>
            <a:off x="1703118"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a:extLst>
              <a:ext uri="{FF2B5EF4-FFF2-40B4-BE49-F238E27FC236}">
                <a16:creationId xmlns:a16="http://schemas.microsoft.com/office/drawing/2014/main" id="{27027D97-EE3F-4B9B-7DD3-E9231DB837AD}"/>
              </a:ext>
            </a:extLst>
          </p:cNvPr>
          <p:cNvSpPr>
            <a:spLocks noChangeShapeType="1"/>
          </p:cNvSpPr>
          <p:nvPr/>
        </p:nvSpPr>
        <p:spPr bwMode="auto">
          <a:xfrm>
            <a:off x="2761967"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a:extLst>
              <a:ext uri="{FF2B5EF4-FFF2-40B4-BE49-F238E27FC236}">
                <a16:creationId xmlns:a16="http://schemas.microsoft.com/office/drawing/2014/main" id="{8D0260D9-57E9-0344-0F6B-CA947C125709}"/>
              </a:ext>
            </a:extLst>
          </p:cNvPr>
          <p:cNvSpPr>
            <a:spLocks noChangeShapeType="1"/>
          </p:cNvSpPr>
          <p:nvPr/>
        </p:nvSpPr>
        <p:spPr bwMode="auto">
          <a:xfrm>
            <a:off x="3884001"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 name="Line 29">
            <a:extLst>
              <a:ext uri="{FF2B5EF4-FFF2-40B4-BE49-F238E27FC236}">
                <a16:creationId xmlns:a16="http://schemas.microsoft.com/office/drawing/2014/main" id="{5954D189-02A7-DFFE-DEB1-14B905E2A6F3}"/>
              </a:ext>
            </a:extLst>
          </p:cNvPr>
          <p:cNvSpPr>
            <a:spLocks noChangeShapeType="1"/>
          </p:cNvSpPr>
          <p:nvPr/>
        </p:nvSpPr>
        <p:spPr bwMode="auto">
          <a:xfrm>
            <a:off x="6167823"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a:extLst>
              <a:ext uri="{FF2B5EF4-FFF2-40B4-BE49-F238E27FC236}">
                <a16:creationId xmlns:a16="http://schemas.microsoft.com/office/drawing/2014/main" id="{AFA33955-AA74-163F-4A1B-D5FECFCA55D8}"/>
              </a:ext>
            </a:extLst>
          </p:cNvPr>
          <p:cNvSpPr>
            <a:spLocks noChangeShapeType="1"/>
          </p:cNvSpPr>
          <p:nvPr/>
        </p:nvSpPr>
        <p:spPr bwMode="auto">
          <a:xfrm>
            <a:off x="7336602" y="2901815"/>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a:extLst>
              <a:ext uri="{FF2B5EF4-FFF2-40B4-BE49-F238E27FC236}">
                <a16:creationId xmlns:a16="http://schemas.microsoft.com/office/drawing/2014/main" id="{26A3C8B9-9248-D97D-B15D-3432AE332960}"/>
              </a:ext>
            </a:extLst>
          </p:cNvPr>
          <p:cNvSpPr>
            <a:spLocks noChangeShapeType="1"/>
          </p:cNvSpPr>
          <p:nvPr/>
        </p:nvSpPr>
        <p:spPr bwMode="auto">
          <a:xfrm flipH="1">
            <a:off x="7892423" y="2226447"/>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7" name="Line 29">
            <a:extLst>
              <a:ext uri="{FF2B5EF4-FFF2-40B4-BE49-F238E27FC236}">
                <a16:creationId xmlns:a16="http://schemas.microsoft.com/office/drawing/2014/main" id="{5A28E81B-5018-D380-E8DB-2433B3BD96CF}"/>
              </a:ext>
            </a:extLst>
          </p:cNvPr>
          <p:cNvSpPr>
            <a:spLocks noChangeShapeType="1"/>
          </p:cNvSpPr>
          <p:nvPr/>
        </p:nvSpPr>
        <p:spPr bwMode="auto">
          <a:xfrm flipH="1">
            <a:off x="5223098"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a:extLst>
              <a:ext uri="{FF2B5EF4-FFF2-40B4-BE49-F238E27FC236}">
                <a16:creationId xmlns:a16="http://schemas.microsoft.com/office/drawing/2014/main" id="{0F0C510A-1844-3860-00C7-AA4AB44DE1BE}"/>
              </a:ext>
            </a:extLst>
          </p:cNvPr>
          <p:cNvSpPr>
            <a:spLocks noChangeShapeType="1"/>
          </p:cNvSpPr>
          <p:nvPr/>
        </p:nvSpPr>
        <p:spPr bwMode="auto">
          <a:xfrm flipH="1">
            <a:off x="4344742" y="2226447"/>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a:extLst>
              <a:ext uri="{FF2B5EF4-FFF2-40B4-BE49-F238E27FC236}">
                <a16:creationId xmlns:a16="http://schemas.microsoft.com/office/drawing/2014/main" id="{2ED8F24B-5B67-C5C0-981A-FD7A651F7F8B}"/>
              </a:ext>
            </a:extLst>
          </p:cNvPr>
          <p:cNvSpPr>
            <a:spLocks noChangeShapeType="1"/>
          </p:cNvSpPr>
          <p:nvPr/>
        </p:nvSpPr>
        <p:spPr bwMode="auto">
          <a:xfrm flipH="1">
            <a:off x="2876090"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a:extLst>
              <a:ext uri="{FF2B5EF4-FFF2-40B4-BE49-F238E27FC236}">
                <a16:creationId xmlns:a16="http://schemas.microsoft.com/office/drawing/2014/main" id="{B2FD1CE5-CD10-DF66-4C1D-393CB735BEF4}"/>
              </a:ext>
            </a:extLst>
          </p:cNvPr>
          <p:cNvSpPr>
            <a:spLocks noChangeShapeType="1"/>
          </p:cNvSpPr>
          <p:nvPr/>
        </p:nvSpPr>
        <p:spPr bwMode="auto">
          <a:xfrm>
            <a:off x="4344742"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a:extLst>
              <a:ext uri="{FF2B5EF4-FFF2-40B4-BE49-F238E27FC236}">
                <a16:creationId xmlns:a16="http://schemas.microsoft.com/office/drawing/2014/main" id="{BA70D97F-3FD4-A288-7DB2-F7443F1E2655}"/>
              </a:ext>
            </a:extLst>
          </p:cNvPr>
          <p:cNvSpPr>
            <a:spLocks noChangeShapeType="1"/>
          </p:cNvSpPr>
          <p:nvPr/>
        </p:nvSpPr>
        <p:spPr bwMode="auto">
          <a:xfrm>
            <a:off x="7892424"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a:extLst>
              <a:ext uri="{FF2B5EF4-FFF2-40B4-BE49-F238E27FC236}">
                <a16:creationId xmlns:a16="http://schemas.microsoft.com/office/drawing/2014/main" id="{9449B36F-0D3F-FD89-E29F-3091EFC9DC83}"/>
              </a:ext>
            </a:extLst>
          </p:cNvPr>
          <p:cNvSpPr>
            <a:spLocks noChangeShapeType="1"/>
          </p:cNvSpPr>
          <p:nvPr/>
        </p:nvSpPr>
        <p:spPr bwMode="auto">
          <a:xfrm flipH="1">
            <a:off x="7483015" y="2226447"/>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a:extLst>
              <a:ext uri="{FF2B5EF4-FFF2-40B4-BE49-F238E27FC236}">
                <a16:creationId xmlns:a16="http://schemas.microsoft.com/office/drawing/2014/main" id="{53F9F8CB-DAA8-32E5-D0F4-0163D3A7384D}"/>
              </a:ext>
            </a:extLst>
          </p:cNvPr>
          <p:cNvSpPr>
            <a:spLocks noChangeShapeType="1"/>
          </p:cNvSpPr>
          <p:nvPr/>
        </p:nvSpPr>
        <p:spPr bwMode="auto">
          <a:xfrm flipH="1">
            <a:off x="3948323" y="2226447"/>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8" name="直接连接符 67">
            <a:extLst>
              <a:ext uri="{FF2B5EF4-FFF2-40B4-BE49-F238E27FC236}">
                <a16:creationId xmlns:a16="http://schemas.microsoft.com/office/drawing/2014/main" id="{D6A4B74E-0DF0-88A1-4E19-47D89DE04701}"/>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02FB199F-861A-3569-F3EC-B26EE3DB1D77}"/>
              </a:ext>
            </a:extLst>
          </p:cNvPr>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218926E0-9117-CF13-D45E-8C307F257788}"/>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2" name="矩形 1">
            <a:extLst>
              <a:ext uri="{FF2B5EF4-FFF2-40B4-BE49-F238E27FC236}">
                <a16:creationId xmlns:a16="http://schemas.microsoft.com/office/drawing/2014/main" id="{95B72A3C-7EF9-861B-C93B-540761E02FD5}"/>
              </a:ext>
            </a:extLst>
          </p:cNvPr>
          <p:cNvSpPr/>
          <p:nvPr/>
        </p:nvSpPr>
        <p:spPr>
          <a:xfrm>
            <a:off x="493821" y="1446757"/>
            <a:ext cx="3142075" cy="369332"/>
          </a:xfrm>
          <a:prstGeom prst="rect">
            <a:avLst/>
          </a:prstGeom>
        </p:spPr>
        <p:txBody>
          <a:bodyPr wrap="square">
            <a:spAutoFit/>
          </a:bodyPr>
          <a:lstStyle/>
          <a:p>
            <a:r>
              <a:rPr lang="en-US" altLang="zh-CN" dirty="0">
                <a:latin typeface="微软雅黑" pitchFamily="34" charset="-122"/>
                <a:ea typeface="微软雅黑" pitchFamily="34" charset="-122"/>
                <a:cs typeface="经典粗黑简" pitchFamily="49" charset="-122"/>
              </a:rPr>
              <a:t>2.3.3.2 </a:t>
            </a:r>
            <a:r>
              <a:rPr lang="zh-CN" altLang="en-US" dirty="0">
                <a:latin typeface="微软雅黑" pitchFamily="34" charset="-122"/>
                <a:ea typeface="微软雅黑" pitchFamily="34" charset="-122"/>
                <a:cs typeface="经典粗黑简" pitchFamily="49" charset="-122"/>
              </a:rPr>
              <a:t>删除结点操作</a:t>
            </a:r>
          </a:p>
        </p:txBody>
      </p:sp>
      <p:sp>
        <p:nvSpPr>
          <p:cNvPr id="11" name="Rectangle 228">
            <a:extLst>
              <a:ext uri="{FF2B5EF4-FFF2-40B4-BE49-F238E27FC236}">
                <a16:creationId xmlns:a16="http://schemas.microsoft.com/office/drawing/2014/main" id="{F5174A7E-9FCF-6828-713A-4E4BE3AAFE79}"/>
              </a:ext>
            </a:extLst>
          </p:cNvPr>
          <p:cNvSpPr>
            <a:spLocks noChangeArrowheads="1"/>
          </p:cNvSpPr>
          <p:nvPr/>
        </p:nvSpPr>
        <p:spPr bwMode="auto">
          <a:xfrm>
            <a:off x="5368242" y="1427098"/>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q</a:t>
            </a:r>
          </a:p>
        </p:txBody>
      </p:sp>
      <p:sp>
        <p:nvSpPr>
          <p:cNvPr id="12" name="Line 29">
            <a:extLst>
              <a:ext uri="{FF2B5EF4-FFF2-40B4-BE49-F238E27FC236}">
                <a16:creationId xmlns:a16="http://schemas.microsoft.com/office/drawing/2014/main" id="{F1BFD137-4A4F-F483-E2BC-2C37BBB6284D}"/>
              </a:ext>
            </a:extLst>
          </p:cNvPr>
          <p:cNvSpPr>
            <a:spLocks noChangeShapeType="1"/>
          </p:cNvSpPr>
          <p:nvPr/>
        </p:nvSpPr>
        <p:spPr bwMode="auto">
          <a:xfrm>
            <a:off x="5589963" y="1767837"/>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矩形 8">
            <a:extLst>
              <a:ext uri="{FF2B5EF4-FFF2-40B4-BE49-F238E27FC236}">
                <a16:creationId xmlns:a16="http://schemas.microsoft.com/office/drawing/2014/main" id="{2440F5FD-ED19-685E-AF5A-1EE156BE8673}"/>
              </a:ext>
            </a:extLst>
          </p:cNvPr>
          <p:cNvSpPr/>
          <p:nvPr/>
        </p:nvSpPr>
        <p:spPr>
          <a:xfrm>
            <a:off x="-17178" y="3027210"/>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13" name="矩形 12">
            <a:extLst>
              <a:ext uri="{FF2B5EF4-FFF2-40B4-BE49-F238E27FC236}">
                <a16:creationId xmlns:a16="http://schemas.microsoft.com/office/drawing/2014/main" id="{321700D4-60CC-3100-862A-09B6BAC18E9C}"/>
              </a:ext>
            </a:extLst>
          </p:cNvPr>
          <p:cNvSpPr/>
          <p:nvPr/>
        </p:nvSpPr>
        <p:spPr>
          <a:xfrm>
            <a:off x="412635" y="3312174"/>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18" name="Rectangle 55">
            <a:extLst>
              <a:ext uri="{FF2B5EF4-FFF2-40B4-BE49-F238E27FC236}">
                <a16:creationId xmlns:a16="http://schemas.microsoft.com/office/drawing/2014/main" id="{05D55991-0C8F-2390-2DD2-16A236F2061E}"/>
              </a:ext>
            </a:extLst>
          </p:cNvPr>
          <p:cNvSpPr>
            <a:spLocks noChangeArrowheads="1"/>
          </p:cNvSpPr>
          <p:nvPr/>
        </p:nvSpPr>
        <p:spPr bwMode="auto">
          <a:xfrm>
            <a:off x="5589963" y="1419798"/>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4" name="Rectangle 228">
            <a:extLst>
              <a:ext uri="{FF2B5EF4-FFF2-40B4-BE49-F238E27FC236}">
                <a16:creationId xmlns:a16="http://schemas.microsoft.com/office/drawing/2014/main" id="{83B42E76-5626-F67E-09DA-5582D6D83BC8}"/>
              </a:ext>
            </a:extLst>
          </p:cNvPr>
          <p:cNvSpPr>
            <a:spLocks noChangeArrowheads="1"/>
          </p:cNvSpPr>
          <p:nvPr/>
        </p:nvSpPr>
        <p:spPr bwMode="auto">
          <a:xfrm>
            <a:off x="4195312" y="143792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p</a:t>
            </a:r>
          </a:p>
        </p:txBody>
      </p:sp>
      <p:sp>
        <p:nvSpPr>
          <p:cNvPr id="5" name="Line 29">
            <a:extLst>
              <a:ext uri="{FF2B5EF4-FFF2-40B4-BE49-F238E27FC236}">
                <a16:creationId xmlns:a16="http://schemas.microsoft.com/office/drawing/2014/main" id="{8FF63839-1C4C-2DB9-6A96-284A0931A52F}"/>
              </a:ext>
            </a:extLst>
          </p:cNvPr>
          <p:cNvSpPr>
            <a:spLocks noChangeShapeType="1"/>
          </p:cNvSpPr>
          <p:nvPr/>
        </p:nvSpPr>
        <p:spPr bwMode="auto">
          <a:xfrm>
            <a:off x="4417033" y="1778661"/>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Rectangle 55">
            <a:extLst>
              <a:ext uri="{FF2B5EF4-FFF2-40B4-BE49-F238E27FC236}">
                <a16:creationId xmlns:a16="http://schemas.microsoft.com/office/drawing/2014/main" id="{5E2B76AE-DB82-3455-E8AD-7623E4A396C8}"/>
              </a:ext>
            </a:extLst>
          </p:cNvPr>
          <p:cNvSpPr>
            <a:spLocks noChangeArrowheads="1"/>
          </p:cNvSpPr>
          <p:nvPr/>
        </p:nvSpPr>
        <p:spPr bwMode="auto">
          <a:xfrm>
            <a:off x="4417033" y="1430622"/>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7" name="矩形 6">
            <a:extLst>
              <a:ext uri="{FF2B5EF4-FFF2-40B4-BE49-F238E27FC236}">
                <a16:creationId xmlns:a16="http://schemas.microsoft.com/office/drawing/2014/main" id="{5BFB3D85-36FD-A075-1D87-DA9A7A31DB63}"/>
              </a:ext>
            </a:extLst>
          </p:cNvPr>
          <p:cNvSpPr/>
          <p:nvPr/>
        </p:nvSpPr>
        <p:spPr>
          <a:xfrm>
            <a:off x="420097" y="3685542"/>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设置</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指针指向待删除结点；</a:t>
            </a:r>
          </a:p>
        </p:txBody>
      </p:sp>
      <p:sp>
        <p:nvSpPr>
          <p:cNvPr id="8" name="矩形 7">
            <a:extLst>
              <a:ext uri="{FF2B5EF4-FFF2-40B4-BE49-F238E27FC236}">
                <a16:creationId xmlns:a16="http://schemas.microsoft.com/office/drawing/2014/main" id="{C54A5402-7BE2-715A-0294-A90E57607A53}"/>
              </a:ext>
            </a:extLst>
          </p:cNvPr>
          <p:cNvSpPr/>
          <p:nvPr/>
        </p:nvSpPr>
        <p:spPr>
          <a:xfrm>
            <a:off x="412303" y="4076573"/>
            <a:ext cx="3151585"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③ 设置</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结点的新后继；</a:t>
            </a:r>
          </a:p>
        </p:txBody>
      </p:sp>
      <p:sp>
        <p:nvSpPr>
          <p:cNvPr id="14" name="Rectangle 55">
            <a:extLst>
              <a:ext uri="{FF2B5EF4-FFF2-40B4-BE49-F238E27FC236}">
                <a16:creationId xmlns:a16="http://schemas.microsoft.com/office/drawing/2014/main" id="{05664CA3-D13C-7B80-6A05-F71AB1D8BB06}"/>
              </a:ext>
            </a:extLst>
          </p:cNvPr>
          <p:cNvSpPr>
            <a:spLocks noChangeArrowheads="1"/>
          </p:cNvSpPr>
          <p:nvPr/>
        </p:nvSpPr>
        <p:spPr bwMode="auto">
          <a:xfrm>
            <a:off x="5969961" y="334635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5" name="Line 29">
            <a:extLst>
              <a:ext uri="{FF2B5EF4-FFF2-40B4-BE49-F238E27FC236}">
                <a16:creationId xmlns:a16="http://schemas.microsoft.com/office/drawing/2014/main" id="{ECF41FC4-D0C2-7ED3-E212-51F476501534}"/>
              </a:ext>
            </a:extLst>
          </p:cNvPr>
          <p:cNvSpPr>
            <a:spLocks noChangeShapeType="1"/>
          </p:cNvSpPr>
          <p:nvPr/>
        </p:nvSpPr>
        <p:spPr bwMode="auto">
          <a:xfrm flipH="1" flipV="1">
            <a:off x="6901343" y="3027210"/>
            <a:ext cx="0" cy="40011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29">
            <a:extLst>
              <a:ext uri="{FF2B5EF4-FFF2-40B4-BE49-F238E27FC236}">
                <a16:creationId xmlns:a16="http://schemas.microsoft.com/office/drawing/2014/main" id="{C54B28FF-7104-3219-5154-8713D712CCE4}"/>
              </a:ext>
            </a:extLst>
          </p:cNvPr>
          <p:cNvSpPr>
            <a:spLocks noChangeShapeType="1"/>
          </p:cNvSpPr>
          <p:nvPr/>
        </p:nvSpPr>
        <p:spPr bwMode="auto">
          <a:xfrm>
            <a:off x="4932040" y="3427320"/>
            <a:ext cx="1969303"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29">
            <a:extLst>
              <a:ext uri="{FF2B5EF4-FFF2-40B4-BE49-F238E27FC236}">
                <a16:creationId xmlns:a16="http://schemas.microsoft.com/office/drawing/2014/main" id="{70287F41-F9B1-86BA-195B-116A3EDF38AE}"/>
              </a:ext>
            </a:extLst>
          </p:cNvPr>
          <p:cNvSpPr>
            <a:spLocks noChangeShapeType="1"/>
          </p:cNvSpPr>
          <p:nvPr/>
        </p:nvSpPr>
        <p:spPr bwMode="auto">
          <a:xfrm flipH="1" flipV="1">
            <a:off x="4923264" y="2930899"/>
            <a:ext cx="0" cy="496421"/>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文本框 20">
            <a:extLst>
              <a:ext uri="{FF2B5EF4-FFF2-40B4-BE49-F238E27FC236}">
                <a16:creationId xmlns:a16="http://schemas.microsoft.com/office/drawing/2014/main" id="{00AC8DEE-03A5-7AB2-83C3-9AD494CF45A4}"/>
              </a:ext>
            </a:extLst>
          </p:cNvPr>
          <p:cNvSpPr txBox="1"/>
          <p:nvPr/>
        </p:nvSpPr>
        <p:spPr>
          <a:xfrm>
            <a:off x="5564635" y="4408225"/>
            <a:ext cx="1580569" cy="398827"/>
          </a:xfrm>
          <a:prstGeom prst="rect">
            <a:avLst/>
          </a:prstGeom>
          <a:noFill/>
        </p:spPr>
        <p:txBody>
          <a:bodyPr wrap="square">
            <a:spAutoFit/>
          </a:bodyPr>
          <a:lstStyle/>
          <a:p>
            <a:pPr>
              <a:lnSpc>
                <a:spcPts val="2600"/>
              </a:lnSpc>
            </a:pPr>
            <a:r>
              <a:rPr kumimoji="1" lang="en-US" altLang="zh-CN" dirty="0">
                <a:solidFill>
                  <a:srgbClr val="0000FF"/>
                </a:solidFill>
                <a:latin typeface="Consolas" pitchFamily="49" charset="0"/>
                <a:ea typeface="仿宋" pitchFamily="49" charset="-122"/>
                <a:cs typeface="Consolas" pitchFamily="49" charset="0"/>
              </a:rPr>
              <a:t>free(</a:t>
            </a:r>
            <a:r>
              <a:rPr kumimoji="1" lang="en-US" altLang="zh-CN" sz="1800" dirty="0">
                <a:solidFill>
                  <a:srgbClr val="0000FF"/>
                </a:solidFill>
                <a:latin typeface="Consolas" pitchFamily="49" charset="0"/>
                <a:ea typeface="仿宋" pitchFamily="49" charset="-122"/>
                <a:cs typeface="Consolas" pitchFamily="49" charset="0"/>
              </a:rPr>
              <a:t>q)</a:t>
            </a:r>
            <a:r>
              <a:rPr kumimoji="1" lang="zh-CN" altLang="en-US" sz="1800" dirty="0">
                <a:solidFill>
                  <a:srgbClr val="0000FF"/>
                </a:solidFill>
                <a:latin typeface="Consolas" pitchFamily="49" charset="0"/>
                <a:ea typeface="仿宋" pitchFamily="49" charset="-122"/>
                <a:cs typeface="Consolas" pitchFamily="49" charset="0"/>
              </a:rPr>
              <a:t>；</a:t>
            </a:r>
            <a:endParaRPr lang="zh-CN" altLang="en-US" dirty="0"/>
          </a:p>
        </p:txBody>
      </p:sp>
      <p:sp>
        <p:nvSpPr>
          <p:cNvPr id="10" name="矩形 9">
            <a:extLst>
              <a:ext uri="{FF2B5EF4-FFF2-40B4-BE49-F238E27FC236}">
                <a16:creationId xmlns:a16="http://schemas.microsoft.com/office/drawing/2014/main" id="{700BBE2A-FEEA-698B-A47E-FFA9D7ABD9EF}"/>
              </a:ext>
            </a:extLst>
          </p:cNvPr>
          <p:cNvSpPr/>
          <p:nvPr/>
        </p:nvSpPr>
        <p:spPr>
          <a:xfrm>
            <a:off x="412303" y="4459020"/>
            <a:ext cx="3522634"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④ 设置</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结点后继的新前驱；</a:t>
            </a:r>
          </a:p>
        </p:txBody>
      </p:sp>
      <p:sp>
        <p:nvSpPr>
          <p:cNvPr id="17" name="Line 29">
            <a:extLst>
              <a:ext uri="{FF2B5EF4-FFF2-40B4-BE49-F238E27FC236}">
                <a16:creationId xmlns:a16="http://schemas.microsoft.com/office/drawing/2014/main" id="{78482CB7-5113-F747-4715-CECAAA3CBCF2}"/>
              </a:ext>
            </a:extLst>
          </p:cNvPr>
          <p:cNvSpPr>
            <a:spLocks noChangeShapeType="1"/>
          </p:cNvSpPr>
          <p:nvPr/>
        </p:nvSpPr>
        <p:spPr bwMode="auto">
          <a:xfrm>
            <a:off x="4988892" y="1366778"/>
            <a:ext cx="2128442"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29">
            <a:extLst>
              <a:ext uri="{FF2B5EF4-FFF2-40B4-BE49-F238E27FC236}">
                <a16:creationId xmlns:a16="http://schemas.microsoft.com/office/drawing/2014/main" id="{5E199EAB-619D-1745-515B-D4D1ECF7BA58}"/>
              </a:ext>
            </a:extLst>
          </p:cNvPr>
          <p:cNvSpPr>
            <a:spLocks noChangeShapeType="1"/>
          </p:cNvSpPr>
          <p:nvPr/>
        </p:nvSpPr>
        <p:spPr bwMode="auto">
          <a:xfrm flipH="1" flipV="1">
            <a:off x="7117334" y="1366778"/>
            <a:ext cx="0" cy="879692"/>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9">
            <a:extLst>
              <a:ext uri="{FF2B5EF4-FFF2-40B4-BE49-F238E27FC236}">
                <a16:creationId xmlns:a16="http://schemas.microsoft.com/office/drawing/2014/main" id="{A620DD66-C4E2-EDB4-E3B4-002C39FDD88A}"/>
              </a:ext>
            </a:extLst>
          </p:cNvPr>
          <p:cNvSpPr>
            <a:spLocks noChangeShapeType="1"/>
          </p:cNvSpPr>
          <p:nvPr/>
        </p:nvSpPr>
        <p:spPr bwMode="auto">
          <a:xfrm flipH="1">
            <a:off x="4988892" y="1357042"/>
            <a:ext cx="0" cy="704136"/>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Rectangle 55">
            <a:extLst>
              <a:ext uri="{FF2B5EF4-FFF2-40B4-BE49-F238E27FC236}">
                <a16:creationId xmlns:a16="http://schemas.microsoft.com/office/drawing/2014/main" id="{36DF213D-4F10-8F25-043A-44B2722CE2E7}"/>
              </a:ext>
            </a:extLst>
          </p:cNvPr>
          <p:cNvSpPr>
            <a:spLocks noChangeArrowheads="1"/>
          </p:cNvSpPr>
          <p:nvPr/>
        </p:nvSpPr>
        <p:spPr bwMode="auto">
          <a:xfrm>
            <a:off x="6331072" y="90835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④</a:t>
            </a:r>
            <a:endParaRPr kumimoji="0" lang="zh-CN" altLang="en-US" sz="2400" dirty="0">
              <a:solidFill>
                <a:srgbClr val="FF0000"/>
              </a:solidFill>
              <a:ea typeface="CFNEOP+TimesNewRoman" charset="-122"/>
            </a:endParaRPr>
          </a:p>
        </p:txBody>
      </p:sp>
      <p:sp>
        <p:nvSpPr>
          <p:cNvPr id="24" name="矩形 23">
            <a:extLst>
              <a:ext uri="{FF2B5EF4-FFF2-40B4-BE49-F238E27FC236}">
                <a16:creationId xmlns:a16="http://schemas.microsoft.com/office/drawing/2014/main" id="{74CA3EE3-CBD7-3406-7945-AB2CB7216911}"/>
              </a:ext>
            </a:extLst>
          </p:cNvPr>
          <p:cNvSpPr/>
          <p:nvPr/>
        </p:nvSpPr>
        <p:spPr>
          <a:xfrm>
            <a:off x="4617432" y="3982672"/>
            <a:ext cx="3522634"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⑤ 释放</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结点占用的存储空间；</a:t>
            </a:r>
          </a:p>
        </p:txBody>
      </p:sp>
      <p:sp>
        <p:nvSpPr>
          <p:cNvPr id="25" name="Rectangle 55">
            <a:extLst>
              <a:ext uri="{FF2B5EF4-FFF2-40B4-BE49-F238E27FC236}">
                <a16:creationId xmlns:a16="http://schemas.microsoft.com/office/drawing/2014/main" id="{BA11C8C0-6807-8FA9-197B-6CCF135CB119}"/>
              </a:ext>
            </a:extLst>
          </p:cNvPr>
          <p:cNvSpPr>
            <a:spLocks noChangeArrowheads="1"/>
          </p:cNvSpPr>
          <p:nvPr/>
        </p:nvSpPr>
        <p:spPr bwMode="auto">
          <a:xfrm>
            <a:off x="6314873" y="2670982"/>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sym typeface="Wingdings 2" panose="05020102010507070707" pitchFamily="18" charset="2"/>
              </a:rPr>
              <a:t></a:t>
            </a:r>
            <a:endParaRPr kumimoji="0" lang="zh-CN" altLang="en-US" sz="2400" dirty="0">
              <a:solidFill>
                <a:srgbClr val="FF0000"/>
              </a:solidFill>
              <a:ea typeface="CFNEOP+TimesNewRoman" charset="-122"/>
            </a:endParaRPr>
          </a:p>
        </p:txBody>
      </p:sp>
      <p:sp>
        <p:nvSpPr>
          <p:cNvPr id="26" name="Rectangle 55">
            <a:extLst>
              <a:ext uri="{FF2B5EF4-FFF2-40B4-BE49-F238E27FC236}">
                <a16:creationId xmlns:a16="http://schemas.microsoft.com/office/drawing/2014/main" id="{7FA65AFC-6303-D3FA-A1AF-02DE53AA520F}"/>
              </a:ext>
            </a:extLst>
          </p:cNvPr>
          <p:cNvSpPr>
            <a:spLocks noChangeArrowheads="1"/>
          </p:cNvSpPr>
          <p:nvPr/>
        </p:nvSpPr>
        <p:spPr bwMode="auto">
          <a:xfrm>
            <a:off x="5307340" y="201112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sym typeface="Wingdings 2" panose="05020102010507070707" pitchFamily="18" charset="2"/>
              </a:rPr>
              <a:t></a:t>
            </a:r>
            <a:endParaRPr kumimoji="0" lang="zh-CN" altLang="en-US" sz="2400" dirty="0">
              <a:solidFill>
                <a:srgbClr val="FF0000"/>
              </a:solidFill>
              <a:ea typeface="CFNEOP+TimesNewRoman" charset="-122"/>
            </a:endParaRPr>
          </a:p>
        </p:txBody>
      </p:sp>
      <p:sp>
        <p:nvSpPr>
          <p:cNvPr id="27" name="Rectangle 55">
            <a:extLst>
              <a:ext uri="{FF2B5EF4-FFF2-40B4-BE49-F238E27FC236}">
                <a16:creationId xmlns:a16="http://schemas.microsoft.com/office/drawing/2014/main" id="{CBA58870-9A32-924A-E3CD-9DA6799898CD}"/>
              </a:ext>
            </a:extLst>
          </p:cNvPr>
          <p:cNvSpPr>
            <a:spLocks noChangeArrowheads="1"/>
          </p:cNvSpPr>
          <p:nvPr/>
        </p:nvSpPr>
        <p:spPr bwMode="auto">
          <a:xfrm>
            <a:off x="5897781" y="1990173"/>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⑤</a:t>
            </a:r>
            <a:endParaRPr kumimoji="0" lang="zh-CN" altLang="en-US" sz="2400" dirty="0">
              <a:solidFill>
                <a:srgbClr val="FF0000"/>
              </a:solidFill>
              <a:ea typeface="CFNEOP+TimesNewRoman" charset="-122"/>
            </a:endParaRPr>
          </a:p>
        </p:txBody>
      </p:sp>
    </p:spTree>
    <p:extLst>
      <p:ext uri="{BB962C8B-B14F-4D97-AF65-F5344CB8AC3E}">
        <p14:creationId xmlns:p14="http://schemas.microsoft.com/office/powerpoint/2010/main" val="421514821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57D11-2A3D-3A44-DCE8-63235714AA60}"/>
            </a:ext>
          </a:extLst>
        </p:cNvPr>
        <p:cNvGrpSpPr/>
        <p:nvPr/>
      </p:nvGrpSpPr>
      <p:grpSpPr>
        <a:xfrm>
          <a:off x="0" y="0"/>
          <a:ext cx="0" cy="0"/>
          <a:chOff x="0" y="0"/>
          <a:chExt cx="0" cy="0"/>
        </a:xfrm>
      </p:grpSpPr>
      <p:sp>
        <p:nvSpPr>
          <p:cNvPr id="47" name="Rectangle 25">
            <a:extLst>
              <a:ext uri="{FF2B5EF4-FFF2-40B4-BE49-F238E27FC236}">
                <a16:creationId xmlns:a16="http://schemas.microsoft.com/office/drawing/2014/main" id="{74C42D15-C58A-B621-01E6-151E1A89176D}"/>
              </a:ext>
            </a:extLst>
          </p:cNvPr>
          <p:cNvSpPr>
            <a:spLocks noChangeArrowheads="1"/>
          </p:cNvSpPr>
          <p:nvPr/>
        </p:nvSpPr>
        <p:spPr bwMode="auto">
          <a:xfrm>
            <a:off x="7620379" y="239960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9" name="Rectangle 36">
            <a:extLst>
              <a:ext uri="{FF2B5EF4-FFF2-40B4-BE49-F238E27FC236}">
                <a16:creationId xmlns:a16="http://schemas.microsoft.com/office/drawing/2014/main" id="{572738CF-7104-476E-3C4C-2D014F0EB248}"/>
              </a:ext>
            </a:extLst>
          </p:cNvPr>
          <p:cNvSpPr>
            <a:spLocks noChangeArrowheads="1"/>
          </p:cNvSpPr>
          <p:nvPr/>
        </p:nvSpPr>
        <p:spPr bwMode="auto">
          <a:xfrm>
            <a:off x="4014473" y="238871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50" name="Line 29">
            <a:extLst>
              <a:ext uri="{FF2B5EF4-FFF2-40B4-BE49-F238E27FC236}">
                <a16:creationId xmlns:a16="http://schemas.microsoft.com/office/drawing/2014/main" id="{CE244073-CF84-5576-661E-0A73B9265AA3}"/>
              </a:ext>
            </a:extLst>
          </p:cNvPr>
          <p:cNvSpPr>
            <a:spLocks noChangeShapeType="1"/>
          </p:cNvSpPr>
          <p:nvPr/>
        </p:nvSpPr>
        <p:spPr bwMode="auto">
          <a:xfrm>
            <a:off x="631856" y="2232697"/>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28">
            <a:extLst>
              <a:ext uri="{FF2B5EF4-FFF2-40B4-BE49-F238E27FC236}">
                <a16:creationId xmlns:a16="http://schemas.microsoft.com/office/drawing/2014/main" id="{53600393-FD28-AF92-52F7-70B4D1A6C0EE}"/>
              </a:ext>
            </a:extLst>
          </p:cNvPr>
          <p:cNvSpPr>
            <a:spLocks noChangeArrowheads="1"/>
          </p:cNvSpPr>
          <p:nvPr/>
        </p:nvSpPr>
        <p:spPr bwMode="auto">
          <a:xfrm>
            <a:off x="366211" y="203479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95" name="组合 94">
            <a:extLst>
              <a:ext uri="{FF2B5EF4-FFF2-40B4-BE49-F238E27FC236}">
                <a16:creationId xmlns:a16="http://schemas.microsoft.com/office/drawing/2014/main" id="{BB2DCD96-DE26-9321-4B8E-21AE14C9ACB8}"/>
              </a:ext>
            </a:extLst>
          </p:cNvPr>
          <p:cNvGrpSpPr/>
          <p:nvPr/>
        </p:nvGrpSpPr>
        <p:grpSpPr>
          <a:xfrm>
            <a:off x="2342689" y="2055888"/>
            <a:ext cx="533400" cy="984427"/>
            <a:chOff x="3344047" y="4287041"/>
            <a:chExt cx="533400" cy="1312569"/>
          </a:xfrm>
        </p:grpSpPr>
        <p:sp>
          <p:nvSpPr>
            <p:cNvPr id="97" name="Rectangle 5">
              <a:extLst>
                <a:ext uri="{FF2B5EF4-FFF2-40B4-BE49-F238E27FC236}">
                  <a16:creationId xmlns:a16="http://schemas.microsoft.com/office/drawing/2014/main" id="{054AA919-AAE2-9628-A62F-FCBB2F508EC8}"/>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98" name="Line 6">
              <a:extLst>
                <a:ext uri="{FF2B5EF4-FFF2-40B4-BE49-F238E27FC236}">
                  <a16:creationId xmlns:a16="http://schemas.microsoft.com/office/drawing/2014/main" id="{D25830BB-D98A-E6F5-CB57-FD11BECB73B1}"/>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6">
              <a:extLst>
                <a:ext uri="{FF2B5EF4-FFF2-40B4-BE49-F238E27FC236}">
                  <a16:creationId xmlns:a16="http://schemas.microsoft.com/office/drawing/2014/main" id="{01D98790-424E-5C54-971C-9CBE6D4890C4}"/>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组合 99">
            <a:extLst>
              <a:ext uri="{FF2B5EF4-FFF2-40B4-BE49-F238E27FC236}">
                <a16:creationId xmlns:a16="http://schemas.microsoft.com/office/drawing/2014/main" id="{E4F7FC5D-0245-8839-4D28-4E3E214A4EBB}"/>
              </a:ext>
            </a:extLst>
          </p:cNvPr>
          <p:cNvGrpSpPr/>
          <p:nvPr/>
        </p:nvGrpSpPr>
        <p:grpSpPr>
          <a:xfrm>
            <a:off x="3401537" y="2055888"/>
            <a:ext cx="533400" cy="984427"/>
            <a:chOff x="3344047" y="4287041"/>
            <a:chExt cx="533400" cy="1312569"/>
          </a:xfrm>
        </p:grpSpPr>
        <p:sp>
          <p:nvSpPr>
            <p:cNvPr id="101" name="Rectangle 5">
              <a:extLst>
                <a:ext uri="{FF2B5EF4-FFF2-40B4-BE49-F238E27FC236}">
                  <a16:creationId xmlns:a16="http://schemas.microsoft.com/office/drawing/2014/main" id="{6AFEBC3F-070F-278B-F074-572E372EF938}"/>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02" name="Line 6">
              <a:extLst>
                <a:ext uri="{FF2B5EF4-FFF2-40B4-BE49-F238E27FC236}">
                  <a16:creationId xmlns:a16="http://schemas.microsoft.com/office/drawing/2014/main" id="{EC4E8620-2122-B9FA-D34A-7CDCAF37CC40}"/>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6">
              <a:extLst>
                <a:ext uri="{FF2B5EF4-FFF2-40B4-BE49-F238E27FC236}">
                  <a16:creationId xmlns:a16="http://schemas.microsoft.com/office/drawing/2014/main" id="{2978D529-CDAD-13F6-DAD4-0EF00F28520C}"/>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 name="组合 103">
            <a:extLst>
              <a:ext uri="{FF2B5EF4-FFF2-40B4-BE49-F238E27FC236}">
                <a16:creationId xmlns:a16="http://schemas.microsoft.com/office/drawing/2014/main" id="{081B3ECA-9847-32F4-CF15-75F49267DB96}"/>
              </a:ext>
            </a:extLst>
          </p:cNvPr>
          <p:cNvGrpSpPr/>
          <p:nvPr/>
        </p:nvGrpSpPr>
        <p:grpSpPr>
          <a:xfrm>
            <a:off x="4547475" y="2055888"/>
            <a:ext cx="675622" cy="984427"/>
            <a:chOff x="3344047" y="4287041"/>
            <a:chExt cx="533400" cy="1312569"/>
          </a:xfrm>
        </p:grpSpPr>
        <p:sp>
          <p:nvSpPr>
            <p:cNvPr id="105" name="Rectangle 5">
              <a:extLst>
                <a:ext uri="{FF2B5EF4-FFF2-40B4-BE49-F238E27FC236}">
                  <a16:creationId xmlns:a16="http://schemas.microsoft.com/office/drawing/2014/main" id="{331C77E8-5227-17DE-8D7F-0BE25624739A}"/>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06" name="Line 6">
              <a:extLst>
                <a:ext uri="{FF2B5EF4-FFF2-40B4-BE49-F238E27FC236}">
                  <a16:creationId xmlns:a16="http://schemas.microsoft.com/office/drawing/2014/main" id="{62CF83E4-3E64-02BD-5265-2017409F240D}"/>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6">
              <a:extLst>
                <a:ext uri="{FF2B5EF4-FFF2-40B4-BE49-F238E27FC236}">
                  <a16:creationId xmlns:a16="http://schemas.microsoft.com/office/drawing/2014/main" id="{71B1F467-A636-65FB-705A-C887C773F720}"/>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8" name="组合 107">
            <a:extLst>
              <a:ext uri="{FF2B5EF4-FFF2-40B4-BE49-F238E27FC236}">
                <a16:creationId xmlns:a16="http://schemas.microsoft.com/office/drawing/2014/main" id="{99AFAEDB-E133-7D26-5335-0BF983551FD8}"/>
              </a:ext>
            </a:extLst>
          </p:cNvPr>
          <p:cNvGrpSpPr/>
          <p:nvPr/>
        </p:nvGrpSpPr>
        <p:grpSpPr>
          <a:xfrm>
            <a:off x="8095554" y="2055887"/>
            <a:ext cx="533400" cy="1076760"/>
            <a:chOff x="9096957" y="4287040"/>
            <a:chExt cx="533400" cy="1435680"/>
          </a:xfrm>
        </p:grpSpPr>
        <p:grpSp>
          <p:nvGrpSpPr>
            <p:cNvPr id="109" name="组合 108">
              <a:extLst>
                <a:ext uri="{FF2B5EF4-FFF2-40B4-BE49-F238E27FC236}">
                  <a16:creationId xmlns:a16="http://schemas.microsoft.com/office/drawing/2014/main" id="{C6279AD3-11C3-9EE7-BFFD-83ACD36DFD80}"/>
                </a:ext>
              </a:extLst>
            </p:cNvPr>
            <p:cNvGrpSpPr/>
            <p:nvPr/>
          </p:nvGrpSpPr>
          <p:grpSpPr>
            <a:xfrm>
              <a:off x="9096957" y="4287040"/>
              <a:ext cx="533400" cy="1312569"/>
              <a:chOff x="3344047" y="4287041"/>
              <a:chExt cx="533400" cy="1312569"/>
            </a:xfrm>
          </p:grpSpPr>
          <p:sp>
            <p:nvSpPr>
              <p:cNvPr id="111" name="Rectangle 5">
                <a:extLst>
                  <a:ext uri="{FF2B5EF4-FFF2-40B4-BE49-F238E27FC236}">
                    <a16:creationId xmlns:a16="http://schemas.microsoft.com/office/drawing/2014/main" id="{C3D0DB19-919D-469C-61DD-60B45CCF0A9A}"/>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112" name="Line 6">
                <a:extLst>
                  <a:ext uri="{FF2B5EF4-FFF2-40B4-BE49-F238E27FC236}">
                    <a16:creationId xmlns:a16="http://schemas.microsoft.com/office/drawing/2014/main" id="{6E0E3FDD-A293-62A1-6576-C17B1132D2F8}"/>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6">
                <a:extLst>
                  <a:ext uri="{FF2B5EF4-FFF2-40B4-BE49-F238E27FC236}">
                    <a16:creationId xmlns:a16="http://schemas.microsoft.com/office/drawing/2014/main" id="{7A87D65B-4DFD-7421-4C84-A8D37BD5CBF4}"/>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 name="矩形 109">
              <a:extLst>
                <a:ext uri="{FF2B5EF4-FFF2-40B4-BE49-F238E27FC236}">
                  <a16:creationId xmlns:a16="http://schemas.microsoft.com/office/drawing/2014/main" id="{FC752C09-B341-4957-355C-7F4BC1E6DB77}"/>
                </a:ext>
              </a:extLst>
            </p:cNvPr>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118" name="组合 117">
            <a:extLst>
              <a:ext uri="{FF2B5EF4-FFF2-40B4-BE49-F238E27FC236}">
                <a16:creationId xmlns:a16="http://schemas.microsoft.com/office/drawing/2014/main" id="{433969A2-D1DA-62E4-6BD5-6D5FD5403E03}"/>
              </a:ext>
            </a:extLst>
          </p:cNvPr>
          <p:cNvGrpSpPr/>
          <p:nvPr/>
        </p:nvGrpSpPr>
        <p:grpSpPr>
          <a:xfrm>
            <a:off x="6807393" y="2055888"/>
            <a:ext cx="675622" cy="984427"/>
            <a:chOff x="3344047" y="4287041"/>
            <a:chExt cx="533400" cy="1312569"/>
          </a:xfrm>
        </p:grpSpPr>
        <p:sp>
          <p:nvSpPr>
            <p:cNvPr id="119" name="Rectangle 5">
              <a:extLst>
                <a:ext uri="{FF2B5EF4-FFF2-40B4-BE49-F238E27FC236}">
                  <a16:creationId xmlns:a16="http://schemas.microsoft.com/office/drawing/2014/main" id="{C1063884-1F4A-07FD-D52D-BA6069F81B60}"/>
                </a:ext>
              </a:extLst>
            </p:cNvPr>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120" name="Line 6">
              <a:extLst>
                <a:ext uri="{FF2B5EF4-FFF2-40B4-BE49-F238E27FC236}">
                  <a16:creationId xmlns:a16="http://schemas.microsoft.com/office/drawing/2014/main" id="{D3852943-FFA1-4A55-BD0B-AD17F1BBE95D}"/>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
              <a:extLst>
                <a:ext uri="{FF2B5EF4-FFF2-40B4-BE49-F238E27FC236}">
                  <a16:creationId xmlns:a16="http://schemas.microsoft.com/office/drawing/2014/main" id="{58731BBF-423A-DCA1-0749-3EA55B542EDC}"/>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 name="组合 121">
            <a:extLst>
              <a:ext uri="{FF2B5EF4-FFF2-40B4-BE49-F238E27FC236}">
                <a16:creationId xmlns:a16="http://schemas.microsoft.com/office/drawing/2014/main" id="{DFF0C3C8-96AE-6EBF-7CBC-D276672FE817}"/>
              </a:ext>
            </a:extLst>
          </p:cNvPr>
          <p:cNvGrpSpPr/>
          <p:nvPr/>
        </p:nvGrpSpPr>
        <p:grpSpPr>
          <a:xfrm>
            <a:off x="1283841" y="2055888"/>
            <a:ext cx="533400" cy="984427"/>
            <a:chOff x="2459424" y="4263014"/>
            <a:chExt cx="533400" cy="1312569"/>
          </a:xfrm>
        </p:grpSpPr>
        <p:grpSp>
          <p:nvGrpSpPr>
            <p:cNvPr id="123" name="组合 122">
              <a:extLst>
                <a:ext uri="{FF2B5EF4-FFF2-40B4-BE49-F238E27FC236}">
                  <a16:creationId xmlns:a16="http://schemas.microsoft.com/office/drawing/2014/main" id="{AE287686-10FE-C618-9E26-8A02F79361E7}"/>
                </a:ext>
              </a:extLst>
            </p:cNvPr>
            <p:cNvGrpSpPr/>
            <p:nvPr/>
          </p:nvGrpSpPr>
          <p:grpSpPr>
            <a:xfrm>
              <a:off x="2459424" y="4263014"/>
              <a:ext cx="533400" cy="1312569"/>
              <a:chOff x="3344047" y="4287041"/>
              <a:chExt cx="533400" cy="1312569"/>
            </a:xfrm>
          </p:grpSpPr>
          <p:sp>
            <p:nvSpPr>
              <p:cNvPr id="125" name="Rectangle 5">
                <a:extLst>
                  <a:ext uri="{FF2B5EF4-FFF2-40B4-BE49-F238E27FC236}">
                    <a16:creationId xmlns:a16="http://schemas.microsoft.com/office/drawing/2014/main" id="{4F215E2B-39B2-2B19-CCE3-A9258556BB15}"/>
                  </a:ext>
                </a:extLst>
              </p:cNvPr>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126" name="Line 6">
                <a:extLst>
                  <a:ext uri="{FF2B5EF4-FFF2-40B4-BE49-F238E27FC236}">
                    <a16:creationId xmlns:a16="http://schemas.microsoft.com/office/drawing/2014/main" id="{C7D4926C-77D8-CEB1-ECFE-FD8E568EE61D}"/>
                  </a:ext>
                </a:extLst>
              </p:cNvPr>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6">
                <a:extLst>
                  <a:ext uri="{FF2B5EF4-FFF2-40B4-BE49-F238E27FC236}">
                    <a16:creationId xmlns:a16="http://schemas.microsoft.com/office/drawing/2014/main" id="{82C8E809-2DD2-A3B3-2CDE-0B65C29EEA4A}"/>
                  </a:ext>
                </a:extLst>
              </p:cNvPr>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4" name="矩形 123">
              <a:extLst>
                <a:ext uri="{FF2B5EF4-FFF2-40B4-BE49-F238E27FC236}">
                  <a16:creationId xmlns:a16="http://schemas.microsoft.com/office/drawing/2014/main" id="{D2EA02BA-B106-9CD9-90F0-829522E56431}"/>
                </a:ext>
              </a:extLst>
            </p:cNvPr>
            <p:cNvSpPr/>
            <p:nvPr/>
          </p:nvSpPr>
          <p:spPr>
            <a:xfrm>
              <a:off x="2518375" y="4294295"/>
              <a:ext cx="415498" cy="492443"/>
            </a:xfrm>
            <a:prstGeom prst="rect">
              <a:avLst/>
            </a:prstGeom>
          </p:spPr>
          <p:txBody>
            <a:bodyPr wrap="none">
              <a:spAutoFit/>
            </a:bodyPr>
            <a:lstStyle/>
            <a:p>
              <a:r>
                <a:rPr lang="zh-CN" altLang="en-US" dirty="0"/>
                <a:t>∧</a:t>
              </a:r>
            </a:p>
          </p:txBody>
        </p:sp>
      </p:grpSp>
      <p:sp>
        <p:nvSpPr>
          <p:cNvPr id="128" name="Line 29">
            <a:extLst>
              <a:ext uri="{FF2B5EF4-FFF2-40B4-BE49-F238E27FC236}">
                <a16:creationId xmlns:a16="http://schemas.microsoft.com/office/drawing/2014/main" id="{325EB935-817D-2AED-334C-A514D01C6DD9}"/>
              </a:ext>
            </a:extLst>
          </p:cNvPr>
          <p:cNvSpPr>
            <a:spLocks noChangeShapeType="1"/>
          </p:cNvSpPr>
          <p:nvPr/>
        </p:nvSpPr>
        <p:spPr bwMode="auto">
          <a:xfrm flipH="1">
            <a:off x="1827786"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 name="Line 29">
            <a:extLst>
              <a:ext uri="{FF2B5EF4-FFF2-40B4-BE49-F238E27FC236}">
                <a16:creationId xmlns:a16="http://schemas.microsoft.com/office/drawing/2014/main" id="{434480A3-5BEC-CDC1-8B50-24B024C8B65A}"/>
              </a:ext>
            </a:extLst>
          </p:cNvPr>
          <p:cNvSpPr>
            <a:spLocks noChangeShapeType="1"/>
          </p:cNvSpPr>
          <p:nvPr/>
        </p:nvSpPr>
        <p:spPr bwMode="auto">
          <a:xfrm>
            <a:off x="1703118"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Line 29">
            <a:extLst>
              <a:ext uri="{FF2B5EF4-FFF2-40B4-BE49-F238E27FC236}">
                <a16:creationId xmlns:a16="http://schemas.microsoft.com/office/drawing/2014/main" id="{F7748670-7BBD-1CE8-DE81-E68FD00F507E}"/>
              </a:ext>
            </a:extLst>
          </p:cNvPr>
          <p:cNvSpPr>
            <a:spLocks noChangeShapeType="1"/>
          </p:cNvSpPr>
          <p:nvPr/>
        </p:nvSpPr>
        <p:spPr bwMode="auto">
          <a:xfrm>
            <a:off x="2761967" y="2901815"/>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1" name="Line 29">
            <a:extLst>
              <a:ext uri="{FF2B5EF4-FFF2-40B4-BE49-F238E27FC236}">
                <a16:creationId xmlns:a16="http://schemas.microsoft.com/office/drawing/2014/main" id="{5D2DDC66-0E45-B3E9-0683-9247893D66B3}"/>
              </a:ext>
            </a:extLst>
          </p:cNvPr>
          <p:cNvSpPr>
            <a:spLocks noChangeShapeType="1"/>
          </p:cNvSpPr>
          <p:nvPr/>
        </p:nvSpPr>
        <p:spPr bwMode="auto">
          <a:xfrm>
            <a:off x="3884001"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Line 29">
            <a:extLst>
              <a:ext uri="{FF2B5EF4-FFF2-40B4-BE49-F238E27FC236}">
                <a16:creationId xmlns:a16="http://schemas.microsoft.com/office/drawing/2014/main" id="{D45CA15D-C77D-D778-FD44-2844609116F6}"/>
              </a:ext>
            </a:extLst>
          </p:cNvPr>
          <p:cNvSpPr>
            <a:spLocks noChangeShapeType="1"/>
          </p:cNvSpPr>
          <p:nvPr/>
        </p:nvSpPr>
        <p:spPr bwMode="auto">
          <a:xfrm>
            <a:off x="7336602" y="2901815"/>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 name="Line 29">
            <a:extLst>
              <a:ext uri="{FF2B5EF4-FFF2-40B4-BE49-F238E27FC236}">
                <a16:creationId xmlns:a16="http://schemas.microsoft.com/office/drawing/2014/main" id="{3C9EE2ED-7C4D-3B3B-D695-1094919BF117}"/>
              </a:ext>
            </a:extLst>
          </p:cNvPr>
          <p:cNvSpPr>
            <a:spLocks noChangeShapeType="1"/>
          </p:cNvSpPr>
          <p:nvPr/>
        </p:nvSpPr>
        <p:spPr bwMode="auto">
          <a:xfrm flipH="1">
            <a:off x="7892423" y="2226447"/>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 name="Line 29">
            <a:extLst>
              <a:ext uri="{FF2B5EF4-FFF2-40B4-BE49-F238E27FC236}">
                <a16:creationId xmlns:a16="http://schemas.microsoft.com/office/drawing/2014/main" id="{43DA8A24-DF60-7CC2-1FA4-AC99E959055F}"/>
              </a:ext>
            </a:extLst>
          </p:cNvPr>
          <p:cNvSpPr>
            <a:spLocks noChangeShapeType="1"/>
          </p:cNvSpPr>
          <p:nvPr/>
        </p:nvSpPr>
        <p:spPr bwMode="auto">
          <a:xfrm flipH="1">
            <a:off x="4344742" y="2226447"/>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 name="Line 29">
            <a:extLst>
              <a:ext uri="{FF2B5EF4-FFF2-40B4-BE49-F238E27FC236}">
                <a16:creationId xmlns:a16="http://schemas.microsoft.com/office/drawing/2014/main" id="{E8CE4D2E-ED40-47F9-9277-96FFA695BDD2}"/>
              </a:ext>
            </a:extLst>
          </p:cNvPr>
          <p:cNvSpPr>
            <a:spLocks noChangeShapeType="1"/>
          </p:cNvSpPr>
          <p:nvPr/>
        </p:nvSpPr>
        <p:spPr bwMode="auto">
          <a:xfrm flipH="1">
            <a:off x="2876090" y="2226447"/>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 name="Line 29">
            <a:extLst>
              <a:ext uri="{FF2B5EF4-FFF2-40B4-BE49-F238E27FC236}">
                <a16:creationId xmlns:a16="http://schemas.microsoft.com/office/drawing/2014/main" id="{F315E219-5A5C-94B5-15E8-BAB88445A927}"/>
              </a:ext>
            </a:extLst>
          </p:cNvPr>
          <p:cNvSpPr>
            <a:spLocks noChangeShapeType="1"/>
          </p:cNvSpPr>
          <p:nvPr/>
        </p:nvSpPr>
        <p:spPr bwMode="auto">
          <a:xfrm>
            <a:off x="4344742"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Line 29">
            <a:extLst>
              <a:ext uri="{FF2B5EF4-FFF2-40B4-BE49-F238E27FC236}">
                <a16:creationId xmlns:a16="http://schemas.microsoft.com/office/drawing/2014/main" id="{594B51D5-4912-8C56-0DEF-DDFC28FC6C34}"/>
              </a:ext>
            </a:extLst>
          </p:cNvPr>
          <p:cNvSpPr>
            <a:spLocks noChangeShapeType="1"/>
          </p:cNvSpPr>
          <p:nvPr/>
        </p:nvSpPr>
        <p:spPr bwMode="auto">
          <a:xfrm>
            <a:off x="7892424" y="2901815"/>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29">
            <a:extLst>
              <a:ext uri="{FF2B5EF4-FFF2-40B4-BE49-F238E27FC236}">
                <a16:creationId xmlns:a16="http://schemas.microsoft.com/office/drawing/2014/main" id="{3D2BEE46-14AD-F84A-C7A0-615443C2EAC6}"/>
              </a:ext>
            </a:extLst>
          </p:cNvPr>
          <p:cNvSpPr>
            <a:spLocks noChangeShapeType="1"/>
          </p:cNvSpPr>
          <p:nvPr/>
        </p:nvSpPr>
        <p:spPr bwMode="auto">
          <a:xfrm flipH="1">
            <a:off x="7483015" y="2226447"/>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 name="Line 29">
            <a:extLst>
              <a:ext uri="{FF2B5EF4-FFF2-40B4-BE49-F238E27FC236}">
                <a16:creationId xmlns:a16="http://schemas.microsoft.com/office/drawing/2014/main" id="{9F89D725-9B1E-2758-791D-42C84651CD83}"/>
              </a:ext>
            </a:extLst>
          </p:cNvPr>
          <p:cNvSpPr>
            <a:spLocks noChangeShapeType="1"/>
          </p:cNvSpPr>
          <p:nvPr/>
        </p:nvSpPr>
        <p:spPr bwMode="auto">
          <a:xfrm flipH="1">
            <a:off x="3948323" y="2226447"/>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68" name="直接连接符 67">
            <a:extLst>
              <a:ext uri="{FF2B5EF4-FFF2-40B4-BE49-F238E27FC236}">
                <a16:creationId xmlns:a16="http://schemas.microsoft.com/office/drawing/2014/main" id="{72BF9248-C91B-33FB-E11F-A14F57DBA223}"/>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B86AC5D1-3E5B-70B2-6772-D19DFE57B353}"/>
              </a:ext>
            </a:extLst>
          </p:cNvPr>
          <p:cNvSpPr/>
          <p:nvPr/>
        </p:nvSpPr>
        <p:spPr>
          <a:xfrm>
            <a:off x="395535" y="843558"/>
            <a:ext cx="288573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2.3.3 </a:t>
            </a:r>
            <a:r>
              <a:rPr lang="zh-CN" altLang="en-US" sz="2800" b="1" dirty="0">
                <a:solidFill>
                  <a:schemeClr val="bg1"/>
                </a:solidFill>
                <a:latin typeface="经典粗黑简" pitchFamily="49" charset="-122"/>
                <a:ea typeface="经典粗黑简" pitchFamily="49" charset="-122"/>
                <a:cs typeface="经典粗黑简" pitchFamily="49" charset="-122"/>
              </a:rPr>
              <a:t>双向链表</a:t>
            </a:r>
          </a:p>
        </p:txBody>
      </p:sp>
      <p:sp>
        <p:nvSpPr>
          <p:cNvPr id="3" name="Rectangle 2">
            <a:extLst>
              <a:ext uri="{FF2B5EF4-FFF2-40B4-BE49-F238E27FC236}">
                <a16:creationId xmlns:a16="http://schemas.microsoft.com/office/drawing/2014/main" id="{BA180B2B-BC08-1C73-8878-820783DD0F0C}"/>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2" name="矩形 1">
            <a:extLst>
              <a:ext uri="{FF2B5EF4-FFF2-40B4-BE49-F238E27FC236}">
                <a16:creationId xmlns:a16="http://schemas.microsoft.com/office/drawing/2014/main" id="{AB002855-A3E4-5369-8CD7-9F1CD278C448}"/>
              </a:ext>
            </a:extLst>
          </p:cNvPr>
          <p:cNvSpPr/>
          <p:nvPr/>
        </p:nvSpPr>
        <p:spPr>
          <a:xfrm>
            <a:off x="493821" y="1446757"/>
            <a:ext cx="3142075" cy="369332"/>
          </a:xfrm>
          <a:prstGeom prst="rect">
            <a:avLst/>
          </a:prstGeom>
        </p:spPr>
        <p:txBody>
          <a:bodyPr wrap="square">
            <a:spAutoFit/>
          </a:bodyPr>
          <a:lstStyle/>
          <a:p>
            <a:r>
              <a:rPr lang="en-US" altLang="zh-CN" dirty="0">
                <a:latin typeface="微软雅黑" pitchFamily="34" charset="-122"/>
                <a:ea typeface="微软雅黑" pitchFamily="34" charset="-122"/>
                <a:cs typeface="经典粗黑简" pitchFamily="49" charset="-122"/>
              </a:rPr>
              <a:t>2.3.3.2 </a:t>
            </a:r>
            <a:r>
              <a:rPr lang="zh-CN" altLang="en-US" dirty="0">
                <a:latin typeface="微软雅黑" pitchFamily="34" charset="-122"/>
                <a:ea typeface="微软雅黑" pitchFamily="34" charset="-122"/>
                <a:cs typeface="经典粗黑简" pitchFamily="49" charset="-122"/>
              </a:rPr>
              <a:t>删除结点操作</a:t>
            </a:r>
          </a:p>
        </p:txBody>
      </p:sp>
      <p:sp>
        <p:nvSpPr>
          <p:cNvPr id="11" name="Rectangle 228">
            <a:extLst>
              <a:ext uri="{FF2B5EF4-FFF2-40B4-BE49-F238E27FC236}">
                <a16:creationId xmlns:a16="http://schemas.microsoft.com/office/drawing/2014/main" id="{F9B78257-98FB-1E10-F298-1A670C1E746F}"/>
              </a:ext>
            </a:extLst>
          </p:cNvPr>
          <p:cNvSpPr>
            <a:spLocks noChangeArrowheads="1"/>
          </p:cNvSpPr>
          <p:nvPr/>
        </p:nvSpPr>
        <p:spPr bwMode="auto">
          <a:xfrm>
            <a:off x="5368242" y="1427098"/>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q</a:t>
            </a:r>
          </a:p>
        </p:txBody>
      </p:sp>
      <p:sp>
        <p:nvSpPr>
          <p:cNvPr id="9" name="矩形 8">
            <a:extLst>
              <a:ext uri="{FF2B5EF4-FFF2-40B4-BE49-F238E27FC236}">
                <a16:creationId xmlns:a16="http://schemas.microsoft.com/office/drawing/2014/main" id="{7C4861BE-2A54-3DC7-7770-8A33DEA59C78}"/>
              </a:ext>
            </a:extLst>
          </p:cNvPr>
          <p:cNvSpPr/>
          <p:nvPr/>
        </p:nvSpPr>
        <p:spPr>
          <a:xfrm>
            <a:off x="-17178" y="3027210"/>
            <a:ext cx="2166083" cy="400110"/>
          </a:xfrm>
          <a:prstGeom prst="rect">
            <a:avLst/>
          </a:prstGeom>
        </p:spPr>
        <p:txBody>
          <a:bodyPr wrap="square">
            <a:spAutoFit/>
          </a:bodyPr>
          <a:lstStyle/>
          <a:p>
            <a:pPr marL="742950" lvl="1" indent="-28575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基本步骤：</a:t>
            </a:r>
          </a:p>
        </p:txBody>
      </p:sp>
      <p:sp>
        <p:nvSpPr>
          <p:cNvPr id="13" name="矩形 12">
            <a:extLst>
              <a:ext uri="{FF2B5EF4-FFF2-40B4-BE49-F238E27FC236}">
                <a16:creationId xmlns:a16="http://schemas.microsoft.com/office/drawing/2014/main" id="{47F4BA0E-A6B6-59AD-09DE-D34BDC50DB33}"/>
              </a:ext>
            </a:extLst>
          </p:cNvPr>
          <p:cNvSpPr/>
          <p:nvPr/>
        </p:nvSpPr>
        <p:spPr>
          <a:xfrm>
            <a:off x="412635" y="3312174"/>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① 找到第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个元素所在结点；</a:t>
            </a:r>
          </a:p>
        </p:txBody>
      </p:sp>
      <p:sp>
        <p:nvSpPr>
          <p:cNvPr id="18" name="Rectangle 55">
            <a:extLst>
              <a:ext uri="{FF2B5EF4-FFF2-40B4-BE49-F238E27FC236}">
                <a16:creationId xmlns:a16="http://schemas.microsoft.com/office/drawing/2014/main" id="{EECE9BCC-2ECD-E3B3-6576-A3E078CF8719}"/>
              </a:ext>
            </a:extLst>
          </p:cNvPr>
          <p:cNvSpPr>
            <a:spLocks noChangeArrowheads="1"/>
          </p:cNvSpPr>
          <p:nvPr/>
        </p:nvSpPr>
        <p:spPr bwMode="auto">
          <a:xfrm>
            <a:off x="5589963" y="1419798"/>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②</a:t>
            </a:r>
            <a:endParaRPr kumimoji="0" lang="zh-CN" altLang="en-US" sz="2400" dirty="0">
              <a:solidFill>
                <a:srgbClr val="FF0000"/>
              </a:solidFill>
              <a:ea typeface="CFNEOP+TimesNewRoman" charset="-122"/>
            </a:endParaRPr>
          </a:p>
        </p:txBody>
      </p:sp>
      <p:sp>
        <p:nvSpPr>
          <p:cNvPr id="4" name="Rectangle 228">
            <a:extLst>
              <a:ext uri="{FF2B5EF4-FFF2-40B4-BE49-F238E27FC236}">
                <a16:creationId xmlns:a16="http://schemas.microsoft.com/office/drawing/2014/main" id="{051A66F5-3CEF-5C73-195D-F3764D2F40C6}"/>
              </a:ext>
            </a:extLst>
          </p:cNvPr>
          <p:cNvSpPr>
            <a:spLocks noChangeArrowheads="1"/>
          </p:cNvSpPr>
          <p:nvPr/>
        </p:nvSpPr>
        <p:spPr bwMode="auto">
          <a:xfrm>
            <a:off x="4195312" y="143792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p</a:t>
            </a:r>
          </a:p>
        </p:txBody>
      </p:sp>
      <p:sp>
        <p:nvSpPr>
          <p:cNvPr id="5" name="Line 29">
            <a:extLst>
              <a:ext uri="{FF2B5EF4-FFF2-40B4-BE49-F238E27FC236}">
                <a16:creationId xmlns:a16="http://schemas.microsoft.com/office/drawing/2014/main" id="{AE8151A8-FFEA-7C21-1E30-50C951EBFF0D}"/>
              </a:ext>
            </a:extLst>
          </p:cNvPr>
          <p:cNvSpPr>
            <a:spLocks noChangeShapeType="1"/>
          </p:cNvSpPr>
          <p:nvPr/>
        </p:nvSpPr>
        <p:spPr bwMode="auto">
          <a:xfrm>
            <a:off x="4417033" y="1778661"/>
            <a:ext cx="146557" cy="27943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Rectangle 55">
            <a:extLst>
              <a:ext uri="{FF2B5EF4-FFF2-40B4-BE49-F238E27FC236}">
                <a16:creationId xmlns:a16="http://schemas.microsoft.com/office/drawing/2014/main" id="{93CE5944-2A02-39A7-CBEA-7C8246304DE0}"/>
              </a:ext>
            </a:extLst>
          </p:cNvPr>
          <p:cNvSpPr>
            <a:spLocks noChangeArrowheads="1"/>
          </p:cNvSpPr>
          <p:nvPr/>
        </p:nvSpPr>
        <p:spPr bwMode="auto">
          <a:xfrm>
            <a:off x="4417033" y="1430622"/>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①</a:t>
            </a:r>
            <a:endParaRPr kumimoji="0" lang="zh-CN" altLang="en-US" sz="2400" dirty="0">
              <a:solidFill>
                <a:srgbClr val="FF0000"/>
              </a:solidFill>
              <a:ea typeface="CFNEOP+TimesNewRoman" charset="-122"/>
            </a:endParaRPr>
          </a:p>
        </p:txBody>
      </p:sp>
      <p:sp>
        <p:nvSpPr>
          <p:cNvPr id="7" name="矩形 6">
            <a:extLst>
              <a:ext uri="{FF2B5EF4-FFF2-40B4-BE49-F238E27FC236}">
                <a16:creationId xmlns:a16="http://schemas.microsoft.com/office/drawing/2014/main" id="{A8C4D650-6108-EE86-FE2A-F368A4885554}"/>
              </a:ext>
            </a:extLst>
          </p:cNvPr>
          <p:cNvSpPr/>
          <p:nvPr/>
        </p:nvSpPr>
        <p:spPr>
          <a:xfrm>
            <a:off x="420097" y="3685542"/>
            <a:ext cx="3629852"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② 设置</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指针指向待删除结点；</a:t>
            </a:r>
          </a:p>
        </p:txBody>
      </p:sp>
      <p:sp>
        <p:nvSpPr>
          <p:cNvPr id="8" name="矩形 7">
            <a:extLst>
              <a:ext uri="{FF2B5EF4-FFF2-40B4-BE49-F238E27FC236}">
                <a16:creationId xmlns:a16="http://schemas.microsoft.com/office/drawing/2014/main" id="{6DFD325D-A028-CAE1-77BA-D6E09C813166}"/>
              </a:ext>
            </a:extLst>
          </p:cNvPr>
          <p:cNvSpPr/>
          <p:nvPr/>
        </p:nvSpPr>
        <p:spPr>
          <a:xfrm>
            <a:off x="412303" y="4076573"/>
            <a:ext cx="3151585"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③ 设置</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结点的新后继；</a:t>
            </a:r>
          </a:p>
        </p:txBody>
      </p:sp>
      <p:sp>
        <p:nvSpPr>
          <p:cNvPr id="14" name="Rectangle 55">
            <a:extLst>
              <a:ext uri="{FF2B5EF4-FFF2-40B4-BE49-F238E27FC236}">
                <a16:creationId xmlns:a16="http://schemas.microsoft.com/office/drawing/2014/main" id="{EBBF8E26-14F9-EF37-1042-48FE922FE905}"/>
              </a:ext>
            </a:extLst>
          </p:cNvPr>
          <p:cNvSpPr>
            <a:spLocks noChangeArrowheads="1"/>
          </p:cNvSpPr>
          <p:nvPr/>
        </p:nvSpPr>
        <p:spPr bwMode="auto">
          <a:xfrm>
            <a:off x="5969961" y="334635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③</a:t>
            </a:r>
            <a:endParaRPr kumimoji="0" lang="zh-CN" altLang="en-US" sz="2400" dirty="0">
              <a:solidFill>
                <a:srgbClr val="FF0000"/>
              </a:solidFill>
              <a:ea typeface="CFNEOP+TimesNewRoman" charset="-122"/>
            </a:endParaRPr>
          </a:p>
        </p:txBody>
      </p:sp>
      <p:sp>
        <p:nvSpPr>
          <p:cNvPr id="15" name="Line 29">
            <a:extLst>
              <a:ext uri="{FF2B5EF4-FFF2-40B4-BE49-F238E27FC236}">
                <a16:creationId xmlns:a16="http://schemas.microsoft.com/office/drawing/2014/main" id="{68B30627-8CFE-380C-763C-5A38856C55B3}"/>
              </a:ext>
            </a:extLst>
          </p:cNvPr>
          <p:cNvSpPr>
            <a:spLocks noChangeShapeType="1"/>
          </p:cNvSpPr>
          <p:nvPr/>
        </p:nvSpPr>
        <p:spPr bwMode="auto">
          <a:xfrm flipH="1" flipV="1">
            <a:off x="6901343" y="3027210"/>
            <a:ext cx="0" cy="40011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29">
            <a:extLst>
              <a:ext uri="{FF2B5EF4-FFF2-40B4-BE49-F238E27FC236}">
                <a16:creationId xmlns:a16="http://schemas.microsoft.com/office/drawing/2014/main" id="{B62407E1-700C-1A10-9945-4D9C87A99110}"/>
              </a:ext>
            </a:extLst>
          </p:cNvPr>
          <p:cNvSpPr>
            <a:spLocks noChangeShapeType="1"/>
          </p:cNvSpPr>
          <p:nvPr/>
        </p:nvSpPr>
        <p:spPr bwMode="auto">
          <a:xfrm>
            <a:off x="4932040" y="3427320"/>
            <a:ext cx="1969303"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29">
            <a:extLst>
              <a:ext uri="{FF2B5EF4-FFF2-40B4-BE49-F238E27FC236}">
                <a16:creationId xmlns:a16="http://schemas.microsoft.com/office/drawing/2014/main" id="{D464B2C9-9BE4-35F2-EBA2-1DF6974EBC42}"/>
              </a:ext>
            </a:extLst>
          </p:cNvPr>
          <p:cNvSpPr>
            <a:spLocks noChangeShapeType="1"/>
          </p:cNvSpPr>
          <p:nvPr/>
        </p:nvSpPr>
        <p:spPr bwMode="auto">
          <a:xfrm flipH="1" flipV="1">
            <a:off x="4923264" y="2930899"/>
            <a:ext cx="0" cy="496421"/>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文本框 20">
            <a:extLst>
              <a:ext uri="{FF2B5EF4-FFF2-40B4-BE49-F238E27FC236}">
                <a16:creationId xmlns:a16="http://schemas.microsoft.com/office/drawing/2014/main" id="{786B153B-8FCC-61A3-B453-9B5F0ED13145}"/>
              </a:ext>
            </a:extLst>
          </p:cNvPr>
          <p:cNvSpPr txBox="1"/>
          <p:nvPr/>
        </p:nvSpPr>
        <p:spPr>
          <a:xfrm>
            <a:off x="5564635" y="4408225"/>
            <a:ext cx="1580569" cy="398827"/>
          </a:xfrm>
          <a:prstGeom prst="rect">
            <a:avLst/>
          </a:prstGeom>
          <a:noFill/>
        </p:spPr>
        <p:txBody>
          <a:bodyPr wrap="square">
            <a:spAutoFit/>
          </a:bodyPr>
          <a:lstStyle/>
          <a:p>
            <a:pPr>
              <a:lnSpc>
                <a:spcPts val="2600"/>
              </a:lnSpc>
            </a:pPr>
            <a:r>
              <a:rPr kumimoji="1" lang="en-US" altLang="zh-CN" dirty="0">
                <a:solidFill>
                  <a:srgbClr val="0000FF"/>
                </a:solidFill>
                <a:latin typeface="Consolas" pitchFamily="49" charset="0"/>
                <a:ea typeface="仿宋" pitchFamily="49" charset="-122"/>
                <a:cs typeface="Consolas" pitchFamily="49" charset="0"/>
              </a:rPr>
              <a:t>free(</a:t>
            </a:r>
            <a:r>
              <a:rPr kumimoji="1" lang="en-US" altLang="zh-CN" sz="1800" dirty="0">
                <a:solidFill>
                  <a:srgbClr val="0000FF"/>
                </a:solidFill>
                <a:latin typeface="Consolas" pitchFamily="49" charset="0"/>
                <a:ea typeface="仿宋" pitchFamily="49" charset="-122"/>
                <a:cs typeface="Consolas" pitchFamily="49" charset="0"/>
              </a:rPr>
              <a:t>q)</a:t>
            </a:r>
            <a:r>
              <a:rPr kumimoji="1" lang="zh-CN" altLang="en-US" sz="1800" dirty="0">
                <a:solidFill>
                  <a:srgbClr val="0000FF"/>
                </a:solidFill>
                <a:latin typeface="Consolas" pitchFamily="49" charset="0"/>
                <a:ea typeface="仿宋" pitchFamily="49" charset="-122"/>
                <a:cs typeface="Consolas" pitchFamily="49" charset="0"/>
              </a:rPr>
              <a:t>；</a:t>
            </a:r>
            <a:endParaRPr lang="zh-CN" altLang="en-US" dirty="0"/>
          </a:p>
        </p:txBody>
      </p:sp>
      <p:sp>
        <p:nvSpPr>
          <p:cNvPr id="10" name="矩形 9">
            <a:extLst>
              <a:ext uri="{FF2B5EF4-FFF2-40B4-BE49-F238E27FC236}">
                <a16:creationId xmlns:a16="http://schemas.microsoft.com/office/drawing/2014/main" id="{A98D9046-34E5-B8B0-78AE-17F4B5B6F04F}"/>
              </a:ext>
            </a:extLst>
          </p:cNvPr>
          <p:cNvSpPr/>
          <p:nvPr/>
        </p:nvSpPr>
        <p:spPr>
          <a:xfrm>
            <a:off x="412303" y="4459020"/>
            <a:ext cx="3522634"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④ 设置</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结点后继的新前驱；</a:t>
            </a:r>
          </a:p>
        </p:txBody>
      </p:sp>
      <p:sp>
        <p:nvSpPr>
          <p:cNvPr id="17" name="Line 29">
            <a:extLst>
              <a:ext uri="{FF2B5EF4-FFF2-40B4-BE49-F238E27FC236}">
                <a16:creationId xmlns:a16="http://schemas.microsoft.com/office/drawing/2014/main" id="{F61D1225-8E93-700B-DAA2-62C871B14ABD}"/>
              </a:ext>
            </a:extLst>
          </p:cNvPr>
          <p:cNvSpPr>
            <a:spLocks noChangeShapeType="1"/>
          </p:cNvSpPr>
          <p:nvPr/>
        </p:nvSpPr>
        <p:spPr bwMode="auto">
          <a:xfrm>
            <a:off x="4988892" y="1366778"/>
            <a:ext cx="2128442" cy="0"/>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29">
            <a:extLst>
              <a:ext uri="{FF2B5EF4-FFF2-40B4-BE49-F238E27FC236}">
                <a16:creationId xmlns:a16="http://schemas.microsoft.com/office/drawing/2014/main" id="{750516E2-8201-C40C-E72B-160F71188F46}"/>
              </a:ext>
            </a:extLst>
          </p:cNvPr>
          <p:cNvSpPr>
            <a:spLocks noChangeShapeType="1"/>
          </p:cNvSpPr>
          <p:nvPr/>
        </p:nvSpPr>
        <p:spPr bwMode="auto">
          <a:xfrm flipH="1" flipV="1">
            <a:off x="7117334" y="1366778"/>
            <a:ext cx="0" cy="879692"/>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9">
            <a:extLst>
              <a:ext uri="{FF2B5EF4-FFF2-40B4-BE49-F238E27FC236}">
                <a16:creationId xmlns:a16="http://schemas.microsoft.com/office/drawing/2014/main" id="{DF0CEAFA-F50B-F9B6-9377-51C57EBBF66B}"/>
              </a:ext>
            </a:extLst>
          </p:cNvPr>
          <p:cNvSpPr>
            <a:spLocks noChangeShapeType="1"/>
          </p:cNvSpPr>
          <p:nvPr/>
        </p:nvSpPr>
        <p:spPr bwMode="auto">
          <a:xfrm flipH="1">
            <a:off x="4988892" y="1357042"/>
            <a:ext cx="0" cy="704136"/>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Rectangle 55">
            <a:extLst>
              <a:ext uri="{FF2B5EF4-FFF2-40B4-BE49-F238E27FC236}">
                <a16:creationId xmlns:a16="http://schemas.microsoft.com/office/drawing/2014/main" id="{1DE5027F-06F6-3F37-606F-845697A703B5}"/>
              </a:ext>
            </a:extLst>
          </p:cNvPr>
          <p:cNvSpPr>
            <a:spLocks noChangeArrowheads="1"/>
          </p:cNvSpPr>
          <p:nvPr/>
        </p:nvSpPr>
        <p:spPr bwMode="auto">
          <a:xfrm>
            <a:off x="6331072" y="90835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④</a:t>
            </a:r>
            <a:endParaRPr kumimoji="0" lang="zh-CN" altLang="en-US" sz="2400" dirty="0">
              <a:solidFill>
                <a:srgbClr val="FF0000"/>
              </a:solidFill>
              <a:ea typeface="CFNEOP+TimesNewRoman" charset="-122"/>
            </a:endParaRPr>
          </a:p>
        </p:txBody>
      </p:sp>
      <p:sp>
        <p:nvSpPr>
          <p:cNvPr id="24" name="矩形 23">
            <a:extLst>
              <a:ext uri="{FF2B5EF4-FFF2-40B4-BE49-F238E27FC236}">
                <a16:creationId xmlns:a16="http://schemas.microsoft.com/office/drawing/2014/main" id="{B831AECA-EFCC-E007-69D4-9703AF3AB562}"/>
              </a:ext>
            </a:extLst>
          </p:cNvPr>
          <p:cNvSpPr/>
          <p:nvPr/>
        </p:nvSpPr>
        <p:spPr>
          <a:xfrm>
            <a:off x="4617432" y="3982672"/>
            <a:ext cx="3522634" cy="400110"/>
          </a:xfrm>
          <a:prstGeom prst="rect">
            <a:avLst/>
          </a:prstGeom>
        </p:spPr>
        <p:txBody>
          <a:bodyPr wrap="square">
            <a:spAutoFit/>
          </a:bodyPr>
          <a:lstStyle/>
          <a:p>
            <a:pPr marL="342900" lvl="2" indent="-342900">
              <a:spcBef>
                <a:spcPct val="15000"/>
              </a:spcBef>
              <a:buClr>
                <a:schemeClr val="bg1"/>
              </a:buClr>
              <a:buSzPct val="95000"/>
            </a:pPr>
            <a:r>
              <a:rPr lang="zh-CN" altLang="en-US" sz="2000" dirty="0">
                <a:latin typeface="微软雅黑" pitchFamily="34" charset="-122"/>
                <a:ea typeface="微软雅黑" pitchFamily="34" charset="-122"/>
                <a:cs typeface="经典粗黑简" pitchFamily="49" charset="-122"/>
              </a:rPr>
              <a:t>⑤ 释放</a:t>
            </a:r>
            <a:r>
              <a:rPr lang="en-US" altLang="zh-CN" sz="2000" dirty="0">
                <a:latin typeface="微软雅黑" pitchFamily="34" charset="-122"/>
                <a:ea typeface="微软雅黑" pitchFamily="34" charset="-122"/>
                <a:cs typeface="经典粗黑简" pitchFamily="49" charset="-122"/>
              </a:rPr>
              <a:t>q</a:t>
            </a:r>
            <a:r>
              <a:rPr lang="zh-CN" altLang="en-US" sz="2000" dirty="0">
                <a:latin typeface="微软雅黑" pitchFamily="34" charset="-122"/>
                <a:ea typeface="微软雅黑" pitchFamily="34" charset="-122"/>
                <a:cs typeface="经典粗黑简" pitchFamily="49" charset="-122"/>
              </a:rPr>
              <a:t>结点占用的存储空间；</a:t>
            </a:r>
          </a:p>
        </p:txBody>
      </p:sp>
      <p:sp>
        <p:nvSpPr>
          <p:cNvPr id="27" name="Rectangle 55">
            <a:extLst>
              <a:ext uri="{FF2B5EF4-FFF2-40B4-BE49-F238E27FC236}">
                <a16:creationId xmlns:a16="http://schemas.microsoft.com/office/drawing/2014/main" id="{2D9A3FFF-2273-3F70-FCFE-4EFFA4F82171}"/>
              </a:ext>
            </a:extLst>
          </p:cNvPr>
          <p:cNvSpPr>
            <a:spLocks noChangeArrowheads="1"/>
          </p:cNvSpPr>
          <p:nvPr/>
        </p:nvSpPr>
        <p:spPr bwMode="auto">
          <a:xfrm>
            <a:off x="5897781" y="1990173"/>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⑤</a:t>
            </a:r>
            <a:endParaRPr kumimoji="0" lang="zh-CN" altLang="en-US" sz="2400" dirty="0">
              <a:solidFill>
                <a:srgbClr val="FF0000"/>
              </a:solidFill>
              <a:ea typeface="CFNEOP+TimesNewRoman" charset="-122"/>
            </a:endParaRPr>
          </a:p>
        </p:txBody>
      </p:sp>
    </p:spTree>
    <p:extLst>
      <p:ext uri="{BB962C8B-B14F-4D97-AF65-F5344CB8AC3E}">
        <p14:creationId xmlns:p14="http://schemas.microsoft.com/office/powerpoint/2010/main" val="249092789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55"/>
          <p:cNvSpPr>
            <a:spLocks noChangeArrowheads="1"/>
          </p:cNvSpPr>
          <p:nvPr/>
        </p:nvSpPr>
        <p:spPr bwMode="auto">
          <a:xfrm>
            <a:off x="2772585" y="3714586"/>
            <a:ext cx="2389509" cy="369332"/>
          </a:xfrm>
          <a:prstGeom prst="rect">
            <a:avLst/>
          </a:prstGeom>
          <a:noFill/>
          <a:ln>
            <a:noFill/>
          </a:ln>
        </p:spPr>
        <p:txBody>
          <a:bodyPr wrap="square" lIns="0" tIns="0" rIns="0" bIns="0" anchor="ctr">
            <a:spAutoFit/>
          </a:bodyPr>
          <a:lstStyle/>
          <a:p>
            <a:pPr marL="193675" lvl="1">
              <a:spcBef>
                <a:spcPct val="20000"/>
              </a:spcBef>
            </a:pPr>
            <a:r>
              <a:rPr lang="zh-CN" altLang="en-US" sz="2400" dirty="0">
                <a:latin typeface="微软雅黑" pitchFamily="34" charset="-122"/>
                <a:ea typeface="微软雅黑" pitchFamily="34" charset="-122"/>
                <a:cs typeface="经典粗黑简" pitchFamily="49" charset="-122"/>
              </a:rPr>
              <a:t>单链的循环链表</a:t>
            </a:r>
          </a:p>
        </p:txBody>
      </p:sp>
      <p:sp>
        <p:nvSpPr>
          <p:cNvPr id="13" name="Rectangle 5"/>
          <p:cNvSpPr>
            <a:spLocks noChangeArrowheads="1"/>
          </p:cNvSpPr>
          <p:nvPr/>
        </p:nvSpPr>
        <p:spPr bwMode="auto">
          <a:xfrm>
            <a:off x="2346442" y="3133129"/>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4" name="Line 6"/>
          <p:cNvSpPr>
            <a:spLocks noChangeShapeType="1"/>
          </p:cNvSpPr>
          <p:nvPr/>
        </p:nvSpPr>
        <p:spPr bwMode="auto">
          <a:xfrm>
            <a:off x="2879842" y="313312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Rectangle 25"/>
          <p:cNvSpPr>
            <a:spLocks noChangeArrowheads="1"/>
          </p:cNvSpPr>
          <p:nvPr/>
        </p:nvSpPr>
        <p:spPr bwMode="auto">
          <a:xfrm>
            <a:off x="3503232" y="319571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6" name="Rectangle 36"/>
          <p:cNvSpPr>
            <a:spLocks noChangeArrowheads="1"/>
          </p:cNvSpPr>
          <p:nvPr/>
        </p:nvSpPr>
        <p:spPr bwMode="auto">
          <a:xfrm>
            <a:off x="5493112" y="321687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7" name="Line 29"/>
          <p:cNvSpPr>
            <a:spLocks noChangeShapeType="1"/>
          </p:cNvSpPr>
          <p:nvPr/>
        </p:nvSpPr>
        <p:spPr bwMode="auto">
          <a:xfrm>
            <a:off x="809834" y="335963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29"/>
          <p:cNvSpPr>
            <a:spLocks noChangeShapeType="1"/>
          </p:cNvSpPr>
          <p:nvPr/>
        </p:nvSpPr>
        <p:spPr bwMode="auto">
          <a:xfrm>
            <a:off x="3141099" y="3392676"/>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Rectangle 5"/>
          <p:cNvSpPr>
            <a:spLocks noChangeArrowheads="1"/>
          </p:cNvSpPr>
          <p:nvPr/>
        </p:nvSpPr>
        <p:spPr bwMode="auto">
          <a:xfrm>
            <a:off x="4116515" y="3143752"/>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0" name="Line 6"/>
          <p:cNvSpPr>
            <a:spLocks noChangeShapeType="1"/>
          </p:cNvSpPr>
          <p:nvPr/>
        </p:nvSpPr>
        <p:spPr bwMode="auto">
          <a:xfrm>
            <a:off x="4853088" y="3138376"/>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9"/>
          <p:cNvSpPr>
            <a:spLocks noChangeShapeType="1"/>
          </p:cNvSpPr>
          <p:nvPr/>
        </p:nvSpPr>
        <p:spPr bwMode="auto">
          <a:xfrm>
            <a:off x="3818165" y="338245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9"/>
          <p:cNvSpPr>
            <a:spLocks noChangeShapeType="1"/>
          </p:cNvSpPr>
          <p:nvPr/>
        </p:nvSpPr>
        <p:spPr bwMode="auto">
          <a:xfrm>
            <a:off x="5128274" y="340975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Rectangle 5"/>
          <p:cNvSpPr>
            <a:spLocks noChangeArrowheads="1"/>
          </p:cNvSpPr>
          <p:nvPr/>
        </p:nvSpPr>
        <p:spPr bwMode="auto">
          <a:xfrm>
            <a:off x="6208821" y="314375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endParaRPr lang="en-US" altLang="zh-CN" sz="2400" dirty="0"/>
          </a:p>
        </p:txBody>
      </p:sp>
      <p:sp>
        <p:nvSpPr>
          <p:cNvPr id="24" name="Line 6"/>
          <p:cNvSpPr>
            <a:spLocks noChangeShapeType="1"/>
          </p:cNvSpPr>
          <p:nvPr/>
        </p:nvSpPr>
        <p:spPr bwMode="auto">
          <a:xfrm>
            <a:off x="6742221" y="314375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9"/>
          <p:cNvSpPr>
            <a:spLocks noChangeShapeType="1"/>
          </p:cNvSpPr>
          <p:nvPr/>
        </p:nvSpPr>
        <p:spPr bwMode="auto">
          <a:xfrm>
            <a:off x="5827821" y="339792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5"/>
          <p:cNvSpPr>
            <a:spLocks noChangeArrowheads="1"/>
          </p:cNvSpPr>
          <p:nvPr/>
        </p:nvSpPr>
        <p:spPr bwMode="auto">
          <a:xfrm>
            <a:off x="1190834" y="3133129"/>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27" name="Line 6"/>
          <p:cNvSpPr>
            <a:spLocks noChangeShapeType="1"/>
          </p:cNvSpPr>
          <p:nvPr/>
        </p:nvSpPr>
        <p:spPr bwMode="auto">
          <a:xfrm>
            <a:off x="1724234" y="313312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9"/>
          <p:cNvSpPr>
            <a:spLocks noChangeShapeType="1"/>
          </p:cNvSpPr>
          <p:nvPr/>
        </p:nvSpPr>
        <p:spPr bwMode="auto">
          <a:xfrm>
            <a:off x="1985491" y="3392676"/>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Rectangle 228"/>
          <p:cNvSpPr>
            <a:spLocks noChangeArrowheads="1"/>
          </p:cNvSpPr>
          <p:nvPr/>
        </p:nvSpPr>
        <p:spPr bwMode="auto">
          <a:xfrm>
            <a:off x="544189" y="3169351"/>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30" name="矩形 29"/>
          <p:cNvSpPr/>
          <p:nvPr/>
        </p:nvSpPr>
        <p:spPr>
          <a:xfrm>
            <a:off x="1441916" y="2363042"/>
            <a:ext cx="6154420" cy="424732"/>
          </a:xfrm>
          <a:prstGeom prst="rect">
            <a:avLst/>
          </a:prstGeom>
        </p:spPr>
        <p:txBody>
          <a:bodyPr wrap="square">
            <a:spAutoFit/>
          </a:bodyPr>
          <a:lstStyle/>
          <a:p>
            <a:pPr lvl="1">
              <a:lnSpc>
                <a:spcPct val="90000"/>
              </a:lnSpc>
            </a:pPr>
            <a:r>
              <a:rPr lang="zh-CN" altLang="en-US"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1</a:t>
            </a:r>
            <a:r>
              <a:rPr lang="en-US" altLang="zh-CN" sz="2400" dirty="0">
                <a:latin typeface="微软雅黑" pitchFamily="34" charset="-122"/>
                <a:ea typeface="微软雅黑" pitchFamily="34" charset="-122"/>
                <a:cs typeface="经典粗黑简" pitchFamily="49" charset="-122"/>
              </a:rPr>
              <a:t>, a</a:t>
            </a:r>
            <a:r>
              <a:rPr lang="en-US" altLang="zh-CN" sz="2400" baseline="-25000" dirty="0">
                <a:latin typeface="微软雅黑" pitchFamily="34" charset="-122"/>
                <a:ea typeface="微软雅黑" pitchFamily="34" charset="-122"/>
                <a:cs typeface="经典粗黑简" pitchFamily="49" charset="-122"/>
              </a:rPr>
              <a:t>2</a:t>
            </a:r>
            <a:r>
              <a:rPr lang="en-US" altLang="zh-CN" sz="2400" dirty="0">
                <a:latin typeface="微软雅黑" pitchFamily="34" charset="-122"/>
                <a:ea typeface="微软雅黑" pitchFamily="34" charset="-122"/>
                <a:cs typeface="经典粗黑简" pitchFamily="49" charset="-122"/>
              </a:rPr>
              <a:t>, …, a</a:t>
            </a:r>
            <a:r>
              <a:rPr lang="en-US" altLang="zh-CN" sz="2400" baseline="-25000" dirty="0">
                <a:latin typeface="微软雅黑" pitchFamily="34" charset="-122"/>
                <a:ea typeface="微软雅黑" pitchFamily="34" charset="-122"/>
                <a:cs typeface="经典粗黑简" pitchFamily="49" charset="-122"/>
              </a:rPr>
              <a:t>i-1</a:t>
            </a:r>
            <a:r>
              <a:rPr lang="en-US" altLang="zh-CN" sz="2400" dirty="0">
                <a:latin typeface="微软雅黑" pitchFamily="34" charset="-122"/>
                <a:ea typeface="微软雅黑" pitchFamily="34" charset="-122"/>
                <a:cs typeface="经典粗黑简" pitchFamily="49" charset="-122"/>
              </a:rPr>
              <a:t>, </a:t>
            </a:r>
            <a:r>
              <a:rPr lang="en-US" altLang="zh-CN" sz="2400" dirty="0" err="1">
                <a:latin typeface="微软雅黑" pitchFamily="34" charset="-122"/>
                <a:ea typeface="微软雅黑" pitchFamily="34" charset="-122"/>
                <a:cs typeface="经典粗黑简" pitchFamily="49" charset="-122"/>
              </a:rPr>
              <a:t>a</a:t>
            </a:r>
            <a:r>
              <a:rPr lang="en-US" altLang="zh-CN" sz="2400" baseline="-25000" dirty="0" err="1">
                <a:latin typeface="微软雅黑" pitchFamily="34" charset="-122"/>
                <a:ea typeface="微软雅黑" pitchFamily="34" charset="-122"/>
                <a:cs typeface="经典粗黑简" pitchFamily="49" charset="-122"/>
              </a:rPr>
              <a:t>i</a:t>
            </a:r>
            <a:r>
              <a:rPr lang="en-US" altLang="zh-CN" sz="2400" dirty="0">
                <a:latin typeface="微软雅黑" pitchFamily="34" charset="-122"/>
                <a:ea typeface="微软雅黑" pitchFamily="34" charset="-122"/>
                <a:cs typeface="经典粗黑简" pitchFamily="49" charset="-122"/>
              </a:rPr>
              <a:t>, a</a:t>
            </a:r>
            <a:r>
              <a:rPr lang="en-US" altLang="zh-CN" sz="2400" baseline="-25000" dirty="0">
                <a:latin typeface="微软雅黑" pitchFamily="34" charset="-122"/>
                <a:ea typeface="微软雅黑" pitchFamily="34" charset="-122"/>
                <a:cs typeface="经典粗黑简" pitchFamily="49" charset="-122"/>
              </a:rPr>
              <a:t>i＋1</a:t>
            </a:r>
            <a:r>
              <a:rPr lang="en-US" altLang="zh-CN" sz="2400" dirty="0">
                <a:latin typeface="微软雅黑" pitchFamily="34" charset="-122"/>
                <a:ea typeface="微软雅黑" pitchFamily="34" charset="-122"/>
                <a:cs typeface="经典粗黑简" pitchFamily="49" charset="-122"/>
              </a:rPr>
              <a:t>, …, a</a:t>
            </a:r>
            <a:r>
              <a:rPr lang="en-US" altLang="zh-CN" sz="2400" baseline="-25000" dirty="0">
                <a:latin typeface="微软雅黑" pitchFamily="34" charset="-122"/>
                <a:ea typeface="微软雅黑" pitchFamily="34" charset="-122"/>
                <a:cs typeface="经典粗黑简" pitchFamily="49" charset="-122"/>
              </a:rPr>
              <a:t>n</a:t>
            </a:r>
            <a:r>
              <a:rPr lang="en-US" altLang="zh-CN" sz="2400" dirty="0">
                <a:latin typeface="微软雅黑" pitchFamily="34" charset="-122"/>
                <a:ea typeface="微软雅黑" pitchFamily="34" charset="-122"/>
                <a:cs typeface="经典粗黑简" pitchFamily="49" charset="-122"/>
              </a:rPr>
              <a:t>)</a:t>
            </a:r>
          </a:p>
        </p:txBody>
      </p:sp>
      <p:sp>
        <p:nvSpPr>
          <p:cNvPr id="31" name="矩形 30"/>
          <p:cNvSpPr/>
          <p:nvPr/>
        </p:nvSpPr>
        <p:spPr>
          <a:xfrm>
            <a:off x="579447" y="2459672"/>
            <a:ext cx="1210588" cy="400110"/>
          </a:xfrm>
          <a:prstGeom prst="rect">
            <a:avLst/>
          </a:prstGeom>
        </p:spPr>
        <p:txBody>
          <a:bodyPr wrap="none">
            <a:spAutoFit/>
          </a:bodyPr>
          <a:lstStyle/>
          <a:p>
            <a:r>
              <a:rPr lang="zh-CN" altLang="en-US" sz="2000" dirty="0">
                <a:latin typeface="微软雅黑" pitchFamily="34" charset="-122"/>
                <a:ea typeface="微软雅黑" pitchFamily="34" charset="-122"/>
                <a:cs typeface="经典粗黑简" pitchFamily="49" charset="-122"/>
              </a:rPr>
              <a:t>线性表：</a:t>
            </a:r>
          </a:p>
        </p:txBody>
      </p:sp>
      <p:sp>
        <p:nvSpPr>
          <p:cNvPr id="32" name="Line 20"/>
          <p:cNvSpPr>
            <a:spLocks noChangeShapeType="1"/>
          </p:cNvSpPr>
          <p:nvPr/>
        </p:nvSpPr>
        <p:spPr bwMode="auto">
          <a:xfrm flipV="1">
            <a:off x="6932099" y="2967026"/>
            <a:ext cx="0" cy="400050"/>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pPr>
              <a:defRPr/>
            </a:pPr>
            <a:endParaRPr lang="zh-CN" altLang="en-US"/>
          </a:p>
        </p:txBody>
      </p:sp>
      <p:sp>
        <p:nvSpPr>
          <p:cNvPr id="33" name="Line 21"/>
          <p:cNvSpPr>
            <a:spLocks noChangeShapeType="1"/>
          </p:cNvSpPr>
          <p:nvPr/>
        </p:nvSpPr>
        <p:spPr bwMode="auto">
          <a:xfrm flipH="1" flipV="1">
            <a:off x="870796" y="2947544"/>
            <a:ext cx="6061303" cy="19481"/>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4" name="Line 22"/>
          <p:cNvSpPr>
            <a:spLocks noChangeShapeType="1"/>
          </p:cNvSpPr>
          <p:nvPr/>
        </p:nvSpPr>
        <p:spPr bwMode="auto">
          <a:xfrm>
            <a:off x="882338" y="2955100"/>
            <a:ext cx="0" cy="290844"/>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5" name="Line 23"/>
          <p:cNvSpPr>
            <a:spLocks noChangeShapeType="1"/>
          </p:cNvSpPr>
          <p:nvPr/>
        </p:nvSpPr>
        <p:spPr bwMode="auto">
          <a:xfrm>
            <a:off x="882338" y="3245944"/>
            <a:ext cx="304800" cy="0"/>
          </a:xfrm>
          <a:prstGeom prst="line">
            <a:avLst/>
          </a:prstGeom>
          <a:ln w="19050">
            <a:solidFill>
              <a:schemeClr val="tx1"/>
            </a:solidFill>
            <a:headEnd/>
            <a:tailEnd type="triangle"/>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6" name="Line 29"/>
          <p:cNvSpPr>
            <a:spLocks noChangeShapeType="1"/>
          </p:cNvSpPr>
          <p:nvPr/>
        </p:nvSpPr>
        <p:spPr bwMode="auto">
          <a:xfrm>
            <a:off x="5982814" y="420525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Rectangle 5"/>
          <p:cNvSpPr>
            <a:spLocks noChangeArrowheads="1"/>
          </p:cNvSpPr>
          <p:nvPr/>
        </p:nvSpPr>
        <p:spPr bwMode="auto">
          <a:xfrm>
            <a:off x="6363814" y="3978757"/>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38" name="Line 6"/>
          <p:cNvSpPr>
            <a:spLocks noChangeShapeType="1"/>
          </p:cNvSpPr>
          <p:nvPr/>
        </p:nvSpPr>
        <p:spPr bwMode="auto">
          <a:xfrm>
            <a:off x="6897214" y="3978757"/>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Rectangle 228"/>
          <p:cNvSpPr>
            <a:spLocks noChangeArrowheads="1"/>
          </p:cNvSpPr>
          <p:nvPr/>
        </p:nvSpPr>
        <p:spPr bwMode="auto">
          <a:xfrm>
            <a:off x="5717169" y="4014978"/>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40" name="Line 20"/>
          <p:cNvSpPr>
            <a:spLocks noChangeShapeType="1"/>
          </p:cNvSpPr>
          <p:nvPr/>
        </p:nvSpPr>
        <p:spPr bwMode="auto">
          <a:xfrm flipV="1">
            <a:off x="7776919" y="3788826"/>
            <a:ext cx="0" cy="421702"/>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pPr>
              <a:defRPr/>
            </a:pPr>
            <a:endParaRPr lang="zh-CN" altLang="en-US"/>
          </a:p>
        </p:txBody>
      </p:sp>
      <p:sp>
        <p:nvSpPr>
          <p:cNvPr id="41" name="Line 21"/>
          <p:cNvSpPr>
            <a:spLocks noChangeShapeType="1"/>
          </p:cNvSpPr>
          <p:nvPr/>
        </p:nvSpPr>
        <p:spPr bwMode="auto">
          <a:xfrm flipH="1">
            <a:off x="6043777" y="3784467"/>
            <a:ext cx="1733142" cy="8707"/>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2" name="Line 22"/>
          <p:cNvSpPr>
            <a:spLocks noChangeShapeType="1"/>
          </p:cNvSpPr>
          <p:nvPr/>
        </p:nvSpPr>
        <p:spPr bwMode="auto">
          <a:xfrm>
            <a:off x="6055318" y="3794196"/>
            <a:ext cx="0" cy="290844"/>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3" name="Line 23"/>
          <p:cNvSpPr>
            <a:spLocks noChangeShapeType="1"/>
          </p:cNvSpPr>
          <p:nvPr/>
        </p:nvSpPr>
        <p:spPr bwMode="auto">
          <a:xfrm>
            <a:off x="6055318" y="4091572"/>
            <a:ext cx="304800" cy="0"/>
          </a:xfrm>
          <a:prstGeom prst="line">
            <a:avLst/>
          </a:prstGeom>
          <a:ln w="19050">
            <a:solidFill>
              <a:schemeClr val="tx1"/>
            </a:solidFill>
            <a:headEnd/>
            <a:tailEnd type="triangle"/>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4" name="Line 21"/>
          <p:cNvSpPr>
            <a:spLocks noChangeShapeType="1"/>
          </p:cNvSpPr>
          <p:nvPr/>
        </p:nvSpPr>
        <p:spPr bwMode="auto">
          <a:xfrm flipH="1">
            <a:off x="7156295" y="4210528"/>
            <a:ext cx="620625" cy="0"/>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5" name="Rectangle 55"/>
          <p:cNvSpPr>
            <a:spLocks noChangeArrowheads="1"/>
          </p:cNvSpPr>
          <p:nvPr/>
        </p:nvSpPr>
        <p:spPr bwMode="auto">
          <a:xfrm>
            <a:off x="5128275" y="4531119"/>
            <a:ext cx="3631427" cy="369332"/>
          </a:xfrm>
          <a:prstGeom prst="rect">
            <a:avLst/>
          </a:prstGeom>
          <a:noFill/>
          <a:ln>
            <a:noFill/>
          </a:ln>
        </p:spPr>
        <p:txBody>
          <a:bodyPr wrap="square" lIns="0" tIns="0" rIns="0" bIns="0" anchor="ctr">
            <a:spAutoFit/>
          </a:bodyPr>
          <a:lstStyle/>
          <a:p>
            <a:pPr marL="193675" lvl="1">
              <a:spcBef>
                <a:spcPct val="20000"/>
              </a:spcBef>
            </a:pPr>
            <a:r>
              <a:rPr lang="zh-CN" altLang="en-US" sz="2400" dirty="0">
                <a:latin typeface="微软雅黑" pitchFamily="34" charset="-122"/>
                <a:ea typeface="微软雅黑" pitchFamily="34" charset="-122"/>
                <a:cs typeface="经典粗黑简" pitchFamily="49" charset="-122"/>
              </a:rPr>
              <a:t>单链的循环链表（空表）</a:t>
            </a:r>
          </a:p>
        </p:txBody>
      </p:sp>
      <p:sp>
        <p:nvSpPr>
          <p:cNvPr id="47" name="矩形 46"/>
          <p:cNvSpPr/>
          <p:nvPr/>
        </p:nvSpPr>
        <p:spPr>
          <a:xfrm>
            <a:off x="580011" y="1437625"/>
            <a:ext cx="8410473" cy="1015663"/>
          </a:xfrm>
          <a:prstGeom prst="rect">
            <a:avLst/>
          </a:prstGeom>
        </p:spPr>
        <p:txBody>
          <a:bodyPr wrap="square">
            <a:spAutoFit/>
          </a:bodyPr>
          <a:lstStyle/>
          <a:p>
            <a:r>
              <a:rPr lang="zh-CN" altLang="en-US" sz="2000" dirty="0">
                <a:solidFill>
                  <a:srgbClr val="FF0000"/>
                </a:solidFill>
                <a:latin typeface="微软雅黑" pitchFamily="34" charset="-122"/>
                <a:ea typeface="微软雅黑" pitchFamily="34" charset="-122"/>
                <a:cs typeface="经典粗黑简" pitchFamily="49" charset="-122"/>
              </a:rPr>
              <a:t>循环链表</a:t>
            </a:r>
            <a:r>
              <a:rPr lang="en-US" altLang="zh-CN" sz="2000" dirty="0">
                <a:solidFill>
                  <a:srgbClr val="FF0000"/>
                </a:solidFill>
                <a:latin typeface="微软雅黑" pitchFamily="34" charset="-122"/>
                <a:ea typeface="微软雅黑" pitchFamily="34" charset="-122"/>
                <a:cs typeface="经典粗黑简" pitchFamily="49" charset="-122"/>
              </a:rPr>
              <a:t>(Circular Linked List)</a:t>
            </a:r>
            <a:r>
              <a:rPr lang="zh-CN" altLang="en-US" sz="2000" dirty="0">
                <a:latin typeface="微软雅黑" pitchFamily="34" charset="-122"/>
                <a:ea typeface="微软雅黑" pitchFamily="34" charset="-122"/>
                <a:cs typeface="经典粗黑简" pitchFamily="49" charset="-122"/>
              </a:rPr>
              <a:t>是线性表另一种形式的链式存储结构，其特点是表中最后一个结点的指针域指向头结点，整个链表形成一个环。于是，从表中任何一个结点出发均可以找到其他结点。</a:t>
            </a:r>
          </a:p>
        </p:txBody>
      </p:sp>
      <p:cxnSp>
        <p:nvCxnSpPr>
          <p:cNvPr id="50" name="直接连接符 4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395536" y="843558"/>
            <a:ext cx="302433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2.3.4 </a:t>
            </a:r>
            <a:r>
              <a:rPr lang="zh-CN" altLang="en-US" sz="2800" b="1" dirty="0">
                <a:solidFill>
                  <a:schemeClr val="bg1"/>
                </a:solidFill>
                <a:latin typeface="经典粗黑简" pitchFamily="49" charset="-122"/>
                <a:ea typeface="经典粗黑简" pitchFamily="49" charset="-122"/>
                <a:cs typeface="经典粗黑简" pitchFamily="49" charset="-122"/>
              </a:rPr>
              <a:t>循环链表</a:t>
            </a:r>
          </a:p>
        </p:txBody>
      </p:sp>
      <p:sp>
        <p:nvSpPr>
          <p:cNvPr id="3" name="Rectangle 2">
            <a:extLst>
              <a:ext uri="{FF2B5EF4-FFF2-40B4-BE49-F238E27FC236}">
                <a16:creationId xmlns:a16="http://schemas.microsoft.com/office/drawing/2014/main" id="{53D27EF5-8220-BC6B-BF3D-DB4340765C50}"/>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Tree>
    <p:extLst>
      <p:ext uri="{BB962C8B-B14F-4D97-AF65-F5344CB8AC3E}">
        <p14:creationId xmlns:p14="http://schemas.microsoft.com/office/powerpoint/2010/main" val="2696139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2" grpId="0" animBg="1"/>
      <p:bldP spid="33" grpId="0" animBg="1"/>
      <p:bldP spid="34" grpId="0" animBg="1"/>
      <p:bldP spid="35" grpId="0" animBg="1"/>
      <p:bldP spid="36" grpId="0" animBg="1"/>
      <p:bldP spid="37" grpId="0" animBg="1"/>
      <p:bldP spid="38" grpId="0" animBg="1"/>
      <p:bldP spid="39" grpId="0"/>
      <p:bldP spid="40" grpId="0" animBg="1"/>
      <p:bldP spid="41" grpId="0" animBg="1"/>
      <p:bldP spid="42" grpId="0" animBg="1"/>
      <p:bldP spid="43" grpId="0" animBg="1"/>
      <p:bldP spid="44" grpId="0" animBg="1"/>
      <p:bldP spid="45"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580011" y="1437625"/>
            <a:ext cx="8410473" cy="1015663"/>
          </a:xfrm>
          <a:prstGeom prst="rect">
            <a:avLst/>
          </a:prstGeom>
        </p:spPr>
        <p:txBody>
          <a:bodyPr wrap="square">
            <a:spAutoFit/>
          </a:bodyPr>
          <a:lstStyle/>
          <a:p>
            <a:r>
              <a:rPr lang="zh-CN" altLang="en-US" sz="2000" dirty="0">
                <a:solidFill>
                  <a:srgbClr val="FF0000"/>
                </a:solidFill>
                <a:latin typeface="微软雅黑" pitchFamily="34" charset="-122"/>
                <a:ea typeface="微软雅黑" pitchFamily="34" charset="-122"/>
                <a:cs typeface="经典粗黑简" pitchFamily="49" charset="-122"/>
              </a:rPr>
              <a:t>循环链表</a:t>
            </a:r>
            <a:r>
              <a:rPr lang="en-US" altLang="zh-CN" sz="2000" dirty="0">
                <a:solidFill>
                  <a:srgbClr val="FF0000"/>
                </a:solidFill>
                <a:latin typeface="微软雅黑" pitchFamily="34" charset="-122"/>
                <a:ea typeface="微软雅黑" pitchFamily="34" charset="-122"/>
                <a:cs typeface="经典粗黑简" pitchFamily="49" charset="-122"/>
              </a:rPr>
              <a:t>(Circular Linked List)</a:t>
            </a:r>
            <a:r>
              <a:rPr lang="zh-CN" altLang="en-US" sz="2000" dirty="0">
                <a:latin typeface="微软雅黑" pitchFamily="34" charset="-122"/>
                <a:ea typeface="微软雅黑" pitchFamily="34" charset="-122"/>
                <a:cs typeface="经典粗黑简" pitchFamily="49" charset="-122"/>
              </a:rPr>
              <a:t>是线性表另一种形式的链式存储结构，其特点是表中最后一个结点的指针域指向头结点，整个链表形成一个环。于是，从表中任何一个结点出发均可以找到其他结点。</a:t>
            </a:r>
          </a:p>
        </p:txBody>
      </p:sp>
      <p:sp>
        <p:nvSpPr>
          <p:cNvPr id="46" name="矩形 45"/>
          <p:cNvSpPr/>
          <p:nvPr/>
        </p:nvSpPr>
        <p:spPr>
          <a:xfrm>
            <a:off x="146639" y="4137924"/>
            <a:ext cx="8850722" cy="707886"/>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循环链表的操作和线性链表基本一致，主要操作还是</a:t>
            </a:r>
            <a:r>
              <a:rPr lang="zh-CN" altLang="en-US" sz="2000" dirty="0">
                <a:solidFill>
                  <a:srgbClr val="FF0000"/>
                </a:solidFill>
                <a:latin typeface="微软雅黑" pitchFamily="34" charset="-122"/>
                <a:ea typeface="微软雅黑" pitchFamily="34" charset="-122"/>
                <a:cs typeface="经典粗黑简" pitchFamily="49" charset="-122"/>
              </a:rPr>
              <a:t>顺藤摸瓜</a:t>
            </a:r>
            <a:r>
              <a:rPr lang="zh-CN" altLang="en-US" sz="2000" dirty="0">
                <a:latin typeface="微软雅黑" pitchFamily="34" charset="-122"/>
                <a:ea typeface="微软雅黑" pitchFamily="34" charset="-122"/>
                <a:cs typeface="经典粗黑简" pitchFamily="49" charset="-122"/>
              </a:rPr>
              <a:t>，差别仅在于算法循环条件不是</a:t>
            </a:r>
            <a:r>
              <a:rPr lang="en-US" altLang="zh-CN" sz="2000" dirty="0">
                <a:latin typeface="微软雅黑" pitchFamily="34" charset="-122"/>
                <a:ea typeface="微软雅黑" pitchFamily="34" charset="-122"/>
                <a:cs typeface="经典粗黑简" pitchFamily="49" charset="-122"/>
              </a:rPr>
              <a:t>p</a:t>
            </a:r>
            <a:r>
              <a:rPr lang="zh-CN" altLang="en-US" sz="2000" dirty="0">
                <a:latin typeface="微软雅黑" pitchFamily="34" charset="-122"/>
                <a:ea typeface="微软雅黑" pitchFamily="34" charset="-122"/>
                <a:cs typeface="经典粗黑简" pitchFamily="49" charset="-122"/>
              </a:rPr>
              <a:t>或者</a:t>
            </a:r>
            <a:r>
              <a:rPr lang="en-US" altLang="zh-CN" sz="2000" dirty="0">
                <a:latin typeface="微软雅黑" pitchFamily="34" charset="-122"/>
                <a:ea typeface="微软雅黑" pitchFamily="34" charset="-122"/>
                <a:cs typeface="经典粗黑简" pitchFamily="49" charset="-122"/>
              </a:rPr>
              <a:t>p-&gt;next</a:t>
            </a:r>
            <a:r>
              <a:rPr lang="zh-CN" altLang="en-US" sz="2000" dirty="0">
                <a:latin typeface="微软雅黑" pitchFamily="34" charset="-122"/>
                <a:ea typeface="微软雅黑" pitchFamily="34" charset="-122"/>
                <a:cs typeface="经典粗黑简" pitchFamily="49" charset="-122"/>
              </a:rPr>
              <a:t>是否为空，而是他们是否等于头指针。</a:t>
            </a:r>
          </a:p>
        </p:txBody>
      </p:sp>
      <p:sp>
        <p:nvSpPr>
          <p:cNvPr id="36" name="Rectangle 55"/>
          <p:cNvSpPr>
            <a:spLocks noChangeArrowheads="1"/>
          </p:cNvSpPr>
          <p:nvPr/>
        </p:nvSpPr>
        <p:spPr bwMode="auto">
          <a:xfrm>
            <a:off x="2772585" y="3714586"/>
            <a:ext cx="2389509" cy="369332"/>
          </a:xfrm>
          <a:prstGeom prst="rect">
            <a:avLst/>
          </a:prstGeom>
          <a:noFill/>
          <a:ln>
            <a:noFill/>
          </a:ln>
        </p:spPr>
        <p:txBody>
          <a:bodyPr wrap="square" lIns="0" tIns="0" rIns="0" bIns="0" anchor="ctr">
            <a:spAutoFit/>
          </a:bodyPr>
          <a:lstStyle/>
          <a:p>
            <a:pPr marL="193675" lvl="1">
              <a:spcBef>
                <a:spcPct val="20000"/>
              </a:spcBef>
            </a:pPr>
            <a:r>
              <a:rPr lang="zh-CN" altLang="en-US" sz="2400" dirty="0">
                <a:latin typeface="微软雅黑" pitchFamily="34" charset="-122"/>
                <a:ea typeface="微软雅黑" pitchFamily="34" charset="-122"/>
                <a:cs typeface="经典粗黑简" pitchFamily="49" charset="-122"/>
              </a:rPr>
              <a:t>单链的循环链表</a:t>
            </a:r>
          </a:p>
        </p:txBody>
      </p:sp>
      <p:sp>
        <p:nvSpPr>
          <p:cNvPr id="37" name="Rectangle 5"/>
          <p:cNvSpPr>
            <a:spLocks noChangeArrowheads="1"/>
          </p:cNvSpPr>
          <p:nvPr/>
        </p:nvSpPr>
        <p:spPr bwMode="auto">
          <a:xfrm>
            <a:off x="2346442" y="3133129"/>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38" name="Line 6"/>
          <p:cNvSpPr>
            <a:spLocks noChangeShapeType="1"/>
          </p:cNvSpPr>
          <p:nvPr/>
        </p:nvSpPr>
        <p:spPr bwMode="auto">
          <a:xfrm>
            <a:off x="2879842" y="313312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Rectangle 25"/>
          <p:cNvSpPr>
            <a:spLocks noChangeArrowheads="1"/>
          </p:cNvSpPr>
          <p:nvPr/>
        </p:nvSpPr>
        <p:spPr bwMode="auto">
          <a:xfrm>
            <a:off x="3503232" y="319571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0" name="Rectangle 36"/>
          <p:cNvSpPr>
            <a:spLocks noChangeArrowheads="1"/>
          </p:cNvSpPr>
          <p:nvPr/>
        </p:nvSpPr>
        <p:spPr bwMode="auto">
          <a:xfrm>
            <a:off x="5493112" y="321687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1" name="Line 29"/>
          <p:cNvSpPr>
            <a:spLocks noChangeShapeType="1"/>
          </p:cNvSpPr>
          <p:nvPr/>
        </p:nvSpPr>
        <p:spPr bwMode="auto">
          <a:xfrm>
            <a:off x="809834" y="335963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 name="Line 29"/>
          <p:cNvSpPr>
            <a:spLocks noChangeShapeType="1"/>
          </p:cNvSpPr>
          <p:nvPr/>
        </p:nvSpPr>
        <p:spPr bwMode="auto">
          <a:xfrm>
            <a:off x="3141099" y="3392676"/>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5"/>
          <p:cNvSpPr>
            <a:spLocks noChangeArrowheads="1"/>
          </p:cNvSpPr>
          <p:nvPr/>
        </p:nvSpPr>
        <p:spPr bwMode="auto">
          <a:xfrm>
            <a:off x="4116515" y="3143752"/>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44" name="Line 6"/>
          <p:cNvSpPr>
            <a:spLocks noChangeShapeType="1"/>
          </p:cNvSpPr>
          <p:nvPr/>
        </p:nvSpPr>
        <p:spPr bwMode="auto">
          <a:xfrm>
            <a:off x="4853088" y="3138376"/>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9"/>
          <p:cNvSpPr>
            <a:spLocks noChangeShapeType="1"/>
          </p:cNvSpPr>
          <p:nvPr/>
        </p:nvSpPr>
        <p:spPr bwMode="auto">
          <a:xfrm>
            <a:off x="3818165" y="3382454"/>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Line 29"/>
          <p:cNvSpPr>
            <a:spLocks noChangeShapeType="1"/>
          </p:cNvSpPr>
          <p:nvPr/>
        </p:nvSpPr>
        <p:spPr bwMode="auto">
          <a:xfrm>
            <a:off x="5128274" y="340975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Rectangle 5"/>
          <p:cNvSpPr>
            <a:spLocks noChangeArrowheads="1"/>
          </p:cNvSpPr>
          <p:nvPr/>
        </p:nvSpPr>
        <p:spPr bwMode="auto">
          <a:xfrm>
            <a:off x="6208821" y="3143751"/>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endParaRPr lang="en-US" altLang="zh-CN" sz="2400" dirty="0"/>
          </a:p>
        </p:txBody>
      </p:sp>
      <p:sp>
        <p:nvSpPr>
          <p:cNvPr id="53" name="Line 6"/>
          <p:cNvSpPr>
            <a:spLocks noChangeShapeType="1"/>
          </p:cNvSpPr>
          <p:nvPr/>
        </p:nvSpPr>
        <p:spPr bwMode="auto">
          <a:xfrm>
            <a:off x="6742221" y="314375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29"/>
          <p:cNvSpPr>
            <a:spLocks noChangeShapeType="1"/>
          </p:cNvSpPr>
          <p:nvPr/>
        </p:nvSpPr>
        <p:spPr bwMode="auto">
          <a:xfrm>
            <a:off x="5827821" y="339792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 name="Rectangle 5"/>
          <p:cNvSpPr>
            <a:spLocks noChangeArrowheads="1"/>
          </p:cNvSpPr>
          <p:nvPr/>
        </p:nvSpPr>
        <p:spPr bwMode="auto">
          <a:xfrm>
            <a:off x="1190834" y="3133129"/>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56" name="Line 6"/>
          <p:cNvSpPr>
            <a:spLocks noChangeShapeType="1"/>
          </p:cNvSpPr>
          <p:nvPr/>
        </p:nvSpPr>
        <p:spPr bwMode="auto">
          <a:xfrm>
            <a:off x="1724234" y="313312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29"/>
          <p:cNvSpPr>
            <a:spLocks noChangeShapeType="1"/>
          </p:cNvSpPr>
          <p:nvPr/>
        </p:nvSpPr>
        <p:spPr bwMode="auto">
          <a:xfrm>
            <a:off x="1985491" y="3392676"/>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Rectangle 228"/>
          <p:cNvSpPr>
            <a:spLocks noChangeArrowheads="1"/>
          </p:cNvSpPr>
          <p:nvPr/>
        </p:nvSpPr>
        <p:spPr bwMode="auto">
          <a:xfrm>
            <a:off x="544189" y="3169351"/>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59" name="矩形 58"/>
          <p:cNvSpPr/>
          <p:nvPr/>
        </p:nvSpPr>
        <p:spPr>
          <a:xfrm>
            <a:off x="1441916" y="2363042"/>
            <a:ext cx="6154420" cy="424732"/>
          </a:xfrm>
          <a:prstGeom prst="rect">
            <a:avLst/>
          </a:prstGeom>
        </p:spPr>
        <p:txBody>
          <a:bodyPr wrap="square">
            <a:spAutoFit/>
          </a:bodyPr>
          <a:lstStyle/>
          <a:p>
            <a:pPr lvl="1">
              <a:lnSpc>
                <a:spcPct val="90000"/>
              </a:lnSpc>
            </a:pPr>
            <a:r>
              <a:rPr lang="zh-CN" altLang="en-US"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1</a:t>
            </a:r>
            <a:r>
              <a:rPr lang="en-US" altLang="zh-CN" sz="2400" dirty="0">
                <a:latin typeface="微软雅黑" pitchFamily="34" charset="-122"/>
                <a:ea typeface="微软雅黑" pitchFamily="34" charset="-122"/>
                <a:cs typeface="经典粗黑简" pitchFamily="49" charset="-122"/>
              </a:rPr>
              <a:t>, a</a:t>
            </a:r>
            <a:r>
              <a:rPr lang="en-US" altLang="zh-CN" sz="2400" baseline="-25000" dirty="0">
                <a:latin typeface="微软雅黑" pitchFamily="34" charset="-122"/>
                <a:ea typeface="微软雅黑" pitchFamily="34" charset="-122"/>
                <a:cs typeface="经典粗黑简" pitchFamily="49" charset="-122"/>
              </a:rPr>
              <a:t>2</a:t>
            </a:r>
            <a:r>
              <a:rPr lang="en-US" altLang="zh-CN" sz="2400" dirty="0">
                <a:latin typeface="微软雅黑" pitchFamily="34" charset="-122"/>
                <a:ea typeface="微软雅黑" pitchFamily="34" charset="-122"/>
                <a:cs typeface="经典粗黑简" pitchFamily="49" charset="-122"/>
              </a:rPr>
              <a:t>, …, a</a:t>
            </a:r>
            <a:r>
              <a:rPr lang="en-US" altLang="zh-CN" sz="2400" baseline="-25000" dirty="0">
                <a:latin typeface="微软雅黑" pitchFamily="34" charset="-122"/>
                <a:ea typeface="微软雅黑" pitchFamily="34" charset="-122"/>
                <a:cs typeface="经典粗黑简" pitchFamily="49" charset="-122"/>
              </a:rPr>
              <a:t>i-1</a:t>
            </a:r>
            <a:r>
              <a:rPr lang="en-US" altLang="zh-CN" sz="2400" dirty="0">
                <a:latin typeface="微软雅黑" pitchFamily="34" charset="-122"/>
                <a:ea typeface="微软雅黑" pitchFamily="34" charset="-122"/>
                <a:cs typeface="经典粗黑简" pitchFamily="49" charset="-122"/>
              </a:rPr>
              <a:t>, </a:t>
            </a:r>
            <a:r>
              <a:rPr lang="en-US" altLang="zh-CN" sz="2400" dirty="0" err="1">
                <a:latin typeface="微软雅黑" pitchFamily="34" charset="-122"/>
                <a:ea typeface="微软雅黑" pitchFamily="34" charset="-122"/>
                <a:cs typeface="经典粗黑简" pitchFamily="49" charset="-122"/>
              </a:rPr>
              <a:t>a</a:t>
            </a:r>
            <a:r>
              <a:rPr lang="en-US" altLang="zh-CN" sz="2400" baseline="-25000" dirty="0" err="1">
                <a:latin typeface="微软雅黑" pitchFamily="34" charset="-122"/>
                <a:ea typeface="微软雅黑" pitchFamily="34" charset="-122"/>
                <a:cs typeface="经典粗黑简" pitchFamily="49" charset="-122"/>
              </a:rPr>
              <a:t>i</a:t>
            </a:r>
            <a:r>
              <a:rPr lang="en-US" altLang="zh-CN" sz="2400" dirty="0">
                <a:latin typeface="微软雅黑" pitchFamily="34" charset="-122"/>
                <a:ea typeface="微软雅黑" pitchFamily="34" charset="-122"/>
                <a:cs typeface="经典粗黑简" pitchFamily="49" charset="-122"/>
              </a:rPr>
              <a:t>, a</a:t>
            </a:r>
            <a:r>
              <a:rPr lang="en-US" altLang="zh-CN" sz="2400" baseline="-25000" dirty="0">
                <a:latin typeface="微软雅黑" pitchFamily="34" charset="-122"/>
                <a:ea typeface="微软雅黑" pitchFamily="34" charset="-122"/>
                <a:cs typeface="经典粗黑简" pitchFamily="49" charset="-122"/>
              </a:rPr>
              <a:t>i＋1</a:t>
            </a:r>
            <a:r>
              <a:rPr lang="en-US" altLang="zh-CN" sz="2400" dirty="0">
                <a:latin typeface="微软雅黑" pitchFamily="34" charset="-122"/>
                <a:ea typeface="微软雅黑" pitchFamily="34" charset="-122"/>
                <a:cs typeface="经典粗黑简" pitchFamily="49" charset="-122"/>
              </a:rPr>
              <a:t>, …, a</a:t>
            </a:r>
            <a:r>
              <a:rPr lang="en-US" altLang="zh-CN" sz="2400" baseline="-25000" dirty="0">
                <a:latin typeface="微软雅黑" pitchFamily="34" charset="-122"/>
                <a:ea typeface="微软雅黑" pitchFamily="34" charset="-122"/>
                <a:cs typeface="经典粗黑简" pitchFamily="49" charset="-122"/>
              </a:rPr>
              <a:t>n</a:t>
            </a:r>
            <a:r>
              <a:rPr lang="en-US" altLang="zh-CN" sz="2400" dirty="0">
                <a:latin typeface="微软雅黑" pitchFamily="34" charset="-122"/>
                <a:ea typeface="微软雅黑" pitchFamily="34" charset="-122"/>
                <a:cs typeface="经典粗黑简" pitchFamily="49" charset="-122"/>
              </a:rPr>
              <a:t>)</a:t>
            </a:r>
          </a:p>
        </p:txBody>
      </p:sp>
      <p:sp>
        <p:nvSpPr>
          <p:cNvPr id="60" name="矩形 59"/>
          <p:cNvSpPr/>
          <p:nvPr/>
        </p:nvSpPr>
        <p:spPr>
          <a:xfrm>
            <a:off x="579447" y="2459672"/>
            <a:ext cx="1210588" cy="400110"/>
          </a:xfrm>
          <a:prstGeom prst="rect">
            <a:avLst/>
          </a:prstGeom>
        </p:spPr>
        <p:txBody>
          <a:bodyPr wrap="none">
            <a:spAutoFit/>
          </a:bodyPr>
          <a:lstStyle/>
          <a:p>
            <a:r>
              <a:rPr lang="zh-CN" altLang="en-US" sz="2000" dirty="0">
                <a:latin typeface="微软雅黑" pitchFamily="34" charset="-122"/>
                <a:ea typeface="微软雅黑" pitchFamily="34" charset="-122"/>
                <a:cs typeface="经典粗黑简" pitchFamily="49" charset="-122"/>
              </a:rPr>
              <a:t>线性表：</a:t>
            </a:r>
          </a:p>
        </p:txBody>
      </p:sp>
      <p:sp>
        <p:nvSpPr>
          <p:cNvPr id="61" name="Line 20"/>
          <p:cNvSpPr>
            <a:spLocks noChangeShapeType="1"/>
          </p:cNvSpPr>
          <p:nvPr/>
        </p:nvSpPr>
        <p:spPr bwMode="auto">
          <a:xfrm flipV="1">
            <a:off x="6932099" y="2967026"/>
            <a:ext cx="0" cy="400050"/>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pPr>
              <a:defRPr/>
            </a:pPr>
            <a:endParaRPr lang="zh-CN" altLang="en-US"/>
          </a:p>
        </p:txBody>
      </p:sp>
      <p:sp>
        <p:nvSpPr>
          <p:cNvPr id="62" name="Line 21"/>
          <p:cNvSpPr>
            <a:spLocks noChangeShapeType="1"/>
          </p:cNvSpPr>
          <p:nvPr/>
        </p:nvSpPr>
        <p:spPr bwMode="auto">
          <a:xfrm flipH="1" flipV="1">
            <a:off x="870796" y="2947544"/>
            <a:ext cx="6061303" cy="19481"/>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63" name="Line 22"/>
          <p:cNvSpPr>
            <a:spLocks noChangeShapeType="1"/>
          </p:cNvSpPr>
          <p:nvPr/>
        </p:nvSpPr>
        <p:spPr bwMode="auto">
          <a:xfrm>
            <a:off x="882338" y="2955100"/>
            <a:ext cx="0" cy="290844"/>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64" name="Line 23"/>
          <p:cNvSpPr>
            <a:spLocks noChangeShapeType="1"/>
          </p:cNvSpPr>
          <p:nvPr/>
        </p:nvSpPr>
        <p:spPr bwMode="auto">
          <a:xfrm>
            <a:off x="882338" y="3245944"/>
            <a:ext cx="304800" cy="0"/>
          </a:xfrm>
          <a:prstGeom prst="line">
            <a:avLst/>
          </a:prstGeom>
          <a:ln w="19050">
            <a:solidFill>
              <a:schemeClr val="tx1"/>
            </a:solidFill>
            <a:headEnd/>
            <a:tailEnd type="triangle"/>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cxnSp>
        <p:nvCxnSpPr>
          <p:cNvPr id="3" name="直接连接符 2">
            <a:extLst>
              <a:ext uri="{FF2B5EF4-FFF2-40B4-BE49-F238E27FC236}">
                <a16:creationId xmlns:a16="http://schemas.microsoft.com/office/drawing/2014/main" id="{DAF1DA11-DDC5-CAD3-E3EB-C7F9B412B853}"/>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BA444A9F-F4AE-AB02-4DEB-308440AC0180}"/>
              </a:ext>
            </a:extLst>
          </p:cNvPr>
          <p:cNvSpPr/>
          <p:nvPr/>
        </p:nvSpPr>
        <p:spPr>
          <a:xfrm>
            <a:off x="395536" y="843558"/>
            <a:ext cx="302433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2.3.4 </a:t>
            </a:r>
            <a:r>
              <a:rPr lang="zh-CN" altLang="en-US" sz="2800" b="1" dirty="0">
                <a:solidFill>
                  <a:schemeClr val="bg1"/>
                </a:solidFill>
                <a:latin typeface="经典粗黑简" pitchFamily="49" charset="-122"/>
                <a:ea typeface="经典粗黑简" pitchFamily="49" charset="-122"/>
                <a:cs typeface="经典粗黑简" pitchFamily="49" charset="-122"/>
              </a:rPr>
              <a:t>循环链表</a:t>
            </a:r>
          </a:p>
        </p:txBody>
      </p:sp>
      <p:sp>
        <p:nvSpPr>
          <p:cNvPr id="5" name="Rectangle 2">
            <a:extLst>
              <a:ext uri="{FF2B5EF4-FFF2-40B4-BE49-F238E27FC236}">
                <a16:creationId xmlns:a16="http://schemas.microsoft.com/office/drawing/2014/main" id="{7E3BFE4F-D9D1-0786-A25C-0D09CCF83762}"/>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Tree>
    <p:extLst>
      <p:ext uri="{BB962C8B-B14F-4D97-AF65-F5344CB8AC3E}">
        <p14:creationId xmlns:p14="http://schemas.microsoft.com/office/powerpoint/2010/main" val="994209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36" grpId="0"/>
      <p:bldP spid="61" grpId="0" animBg="1"/>
      <p:bldP spid="62" grpId="0" animBg="1"/>
      <p:bldP spid="63" grpId="0" animBg="1"/>
      <p:bldP spid="6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DCBD6-2004-2615-73F2-94111686F5EE}"/>
            </a:ext>
          </a:extLst>
        </p:cNvPr>
        <p:cNvGrpSpPr/>
        <p:nvPr/>
      </p:nvGrpSpPr>
      <p:grpSpPr>
        <a:xfrm>
          <a:off x="0" y="0"/>
          <a:ext cx="0" cy="0"/>
          <a:chOff x="0" y="0"/>
          <a:chExt cx="0" cy="0"/>
        </a:xfrm>
      </p:grpSpPr>
      <p:sp>
        <p:nvSpPr>
          <p:cNvPr id="37" name="Rectangle 5">
            <a:extLst>
              <a:ext uri="{FF2B5EF4-FFF2-40B4-BE49-F238E27FC236}">
                <a16:creationId xmlns:a16="http://schemas.microsoft.com/office/drawing/2014/main" id="{47E629F2-71FD-1B03-B0CB-419AA19F278B}"/>
              </a:ext>
            </a:extLst>
          </p:cNvPr>
          <p:cNvSpPr>
            <a:spLocks noChangeArrowheads="1"/>
          </p:cNvSpPr>
          <p:nvPr/>
        </p:nvSpPr>
        <p:spPr bwMode="auto">
          <a:xfrm>
            <a:off x="2735278" y="174922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38" name="Line 6">
            <a:extLst>
              <a:ext uri="{FF2B5EF4-FFF2-40B4-BE49-F238E27FC236}">
                <a16:creationId xmlns:a16="http://schemas.microsoft.com/office/drawing/2014/main" id="{567B94E0-33C9-6B98-A247-6796254AB3A4}"/>
              </a:ext>
            </a:extLst>
          </p:cNvPr>
          <p:cNvSpPr>
            <a:spLocks noChangeShapeType="1"/>
          </p:cNvSpPr>
          <p:nvPr/>
        </p:nvSpPr>
        <p:spPr bwMode="auto">
          <a:xfrm>
            <a:off x="3268678" y="1749223"/>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Rectangle 25">
            <a:extLst>
              <a:ext uri="{FF2B5EF4-FFF2-40B4-BE49-F238E27FC236}">
                <a16:creationId xmlns:a16="http://schemas.microsoft.com/office/drawing/2014/main" id="{C6E94B96-2E53-CE37-E84D-BDF1D179D63C}"/>
              </a:ext>
            </a:extLst>
          </p:cNvPr>
          <p:cNvSpPr>
            <a:spLocks noChangeArrowheads="1"/>
          </p:cNvSpPr>
          <p:nvPr/>
        </p:nvSpPr>
        <p:spPr bwMode="auto">
          <a:xfrm>
            <a:off x="3892068" y="1811809"/>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0" name="Rectangle 36">
            <a:extLst>
              <a:ext uri="{FF2B5EF4-FFF2-40B4-BE49-F238E27FC236}">
                <a16:creationId xmlns:a16="http://schemas.microsoft.com/office/drawing/2014/main" id="{ED517DF7-EC7E-F4A1-3214-40E3FF727A19}"/>
              </a:ext>
            </a:extLst>
          </p:cNvPr>
          <p:cNvSpPr>
            <a:spLocks noChangeArrowheads="1"/>
          </p:cNvSpPr>
          <p:nvPr/>
        </p:nvSpPr>
        <p:spPr bwMode="auto">
          <a:xfrm>
            <a:off x="5881948" y="1832972"/>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41" name="Line 29">
            <a:extLst>
              <a:ext uri="{FF2B5EF4-FFF2-40B4-BE49-F238E27FC236}">
                <a16:creationId xmlns:a16="http://schemas.microsoft.com/office/drawing/2014/main" id="{B2085057-384F-805F-83D0-76E2AD702CDC}"/>
              </a:ext>
            </a:extLst>
          </p:cNvPr>
          <p:cNvSpPr>
            <a:spLocks noChangeShapeType="1"/>
          </p:cNvSpPr>
          <p:nvPr/>
        </p:nvSpPr>
        <p:spPr bwMode="auto">
          <a:xfrm>
            <a:off x="1198670" y="197572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 name="Line 29">
            <a:extLst>
              <a:ext uri="{FF2B5EF4-FFF2-40B4-BE49-F238E27FC236}">
                <a16:creationId xmlns:a16="http://schemas.microsoft.com/office/drawing/2014/main" id="{0F3C1FA4-AA6D-012F-4563-041393D09773}"/>
              </a:ext>
            </a:extLst>
          </p:cNvPr>
          <p:cNvSpPr>
            <a:spLocks noChangeShapeType="1"/>
          </p:cNvSpPr>
          <p:nvPr/>
        </p:nvSpPr>
        <p:spPr bwMode="auto">
          <a:xfrm>
            <a:off x="3529935" y="200877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5">
            <a:extLst>
              <a:ext uri="{FF2B5EF4-FFF2-40B4-BE49-F238E27FC236}">
                <a16:creationId xmlns:a16="http://schemas.microsoft.com/office/drawing/2014/main" id="{E64F3770-E685-7515-E5EF-C9DDDA5457FC}"/>
              </a:ext>
            </a:extLst>
          </p:cNvPr>
          <p:cNvSpPr>
            <a:spLocks noChangeArrowheads="1"/>
          </p:cNvSpPr>
          <p:nvPr/>
        </p:nvSpPr>
        <p:spPr bwMode="auto">
          <a:xfrm>
            <a:off x="4505351" y="1759846"/>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44" name="Line 6">
            <a:extLst>
              <a:ext uri="{FF2B5EF4-FFF2-40B4-BE49-F238E27FC236}">
                <a16:creationId xmlns:a16="http://schemas.microsoft.com/office/drawing/2014/main" id="{923FE7BE-2C5F-FC1E-615B-488EF043B4C9}"/>
              </a:ext>
            </a:extLst>
          </p:cNvPr>
          <p:cNvSpPr>
            <a:spLocks noChangeShapeType="1"/>
          </p:cNvSpPr>
          <p:nvPr/>
        </p:nvSpPr>
        <p:spPr bwMode="auto">
          <a:xfrm>
            <a:off x="5241924" y="1754470"/>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9">
            <a:extLst>
              <a:ext uri="{FF2B5EF4-FFF2-40B4-BE49-F238E27FC236}">
                <a16:creationId xmlns:a16="http://schemas.microsoft.com/office/drawing/2014/main" id="{3AF8E2ED-B7AE-C16A-0997-51181B4C4E77}"/>
              </a:ext>
            </a:extLst>
          </p:cNvPr>
          <p:cNvSpPr>
            <a:spLocks noChangeShapeType="1"/>
          </p:cNvSpPr>
          <p:nvPr/>
        </p:nvSpPr>
        <p:spPr bwMode="auto">
          <a:xfrm>
            <a:off x="4207001" y="1998548"/>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Line 29">
            <a:extLst>
              <a:ext uri="{FF2B5EF4-FFF2-40B4-BE49-F238E27FC236}">
                <a16:creationId xmlns:a16="http://schemas.microsoft.com/office/drawing/2014/main" id="{9F1CB462-4F96-1F7B-3DA5-B2875417B9F2}"/>
              </a:ext>
            </a:extLst>
          </p:cNvPr>
          <p:cNvSpPr>
            <a:spLocks noChangeShapeType="1"/>
          </p:cNvSpPr>
          <p:nvPr/>
        </p:nvSpPr>
        <p:spPr bwMode="auto">
          <a:xfrm>
            <a:off x="5517110" y="202584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Rectangle 5">
            <a:extLst>
              <a:ext uri="{FF2B5EF4-FFF2-40B4-BE49-F238E27FC236}">
                <a16:creationId xmlns:a16="http://schemas.microsoft.com/office/drawing/2014/main" id="{9BBCDF27-8AA7-F30E-85BC-DBA3FE440A68}"/>
              </a:ext>
            </a:extLst>
          </p:cNvPr>
          <p:cNvSpPr>
            <a:spLocks noChangeArrowheads="1"/>
          </p:cNvSpPr>
          <p:nvPr/>
        </p:nvSpPr>
        <p:spPr bwMode="auto">
          <a:xfrm>
            <a:off x="6597657" y="1759845"/>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endParaRPr lang="en-US" altLang="zh-CN" sz="2400" dirty="0"/>
          </a:p>
        </p:txBody>
      </p:sp>
      <p:sp>
        <p:nvSpPr>
          <p:cNvPr id="53" name="Line 6">
            <a:extLst>
              <a:ext uri="{FF2B5EF4-FFF2-40B4-BE49-F238E27FC236}">
                <a16:creationId xmlns:a16="http://schemas.microsoft.com/office/drawing/2014/main" id="{7F2068DE-E06A-BF00-B68D-0467FFA5BEF0}"/>
              </a:ext>
            </a:extLst>
          </p:cNvPr>
          <p:cNvSpPr>
            <a:spLocks noChangeShapeType="1"/>
          </p:cNvSpPr>
          <p:nvPr/>
        </p:nvSpPr>
        <p:spPr bwMode="auto">
          <a:xfrm>
            <a:off x="7131057" y="1759845"/>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29">
            <a:extLst>
              <a:ext uri="{FF2B5EF4-FFF2-40B4-BE49-F238E27FC236}">
                <a16:creationId xmlns:a16="http://schemas.microsoft.com/office/drawing/2014/main" id="{58AC4759-805C-0368-9B01-DF399AB10D66}"/>
              </a:ext>
            </a:extLst>
          </p:cNvPr>
          <p:cNvSpPr>
            <a:spLocks noChangeShapeType="1"/>
          </p:cNvSpPr>
          <p:nvPr/>
        </p:nvSpPr>
        <p:spPr bwMode="auto">
          <a:xfrm>
            <a:off x="6216657" y="201401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 name="Rectangle 5">
            <a:extLst>
              <a:ext uri="{FF2B5EF4-FFF2-40B4-BE49-F238E27FC236}">
                <a16:creationId xmlns:a16="http://schemas.microsoft.com/office/drawing/2014/main" id="{DA451933-EB00-3F0E-81D3-1DBAE74B914C}"/>
              </a:ext>
            </a:extLst>
          </p:cNvPr>
          <p:cNvSpPr>
            <a:spLocks noChangeArrowheads="1"/>
          </p:cNvSpPr>
          <p:nvPr/>
        </p:nvSpPr>
        <p:spPr bwMode="auto">
          <a:xfrm>
            <a:off x="1579670" y="1749223"/>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56" name="Line 6">
            <a:extLst>
              <a:ext uri="{FF2B5EF4-FFF2-40B4-BE49-F238E27FC236}">
                <a16:creationId xmlns:a16="http://schemas.microsoft.com/office/drawing/2014/main" id="{A2DC2BE4-9051-770C-844F-2299B65342FB}"/>
              </a:ext>
            </a:extLst>
          </p:cNvPr>
          <p:cNvSpPr>
            <a:spLocks noChangeShapeType="1"/>
          </p:cNvSpPr>
          <p:nvPr/>
        </p:nvSpPr>
        <p:spPr bwMode="auto">
          <a:xfrm>
            <a:off x="2113070" y="1749223"/>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29">
            <a:extLst>
              <a:ext uri="{FF2B5EF4-FFF2-40B4-BE49-F238E27FC236}">
                <a16:creationId xmlns:a16="http://schemas.microsoft.com/office/drawing/2014/main" id="{F5F5441E-47F7-DBD4-0F0D-8D0AD78A9DD2}"/>
              </a:ext>
            </a:extLst>
          </p:cNvPr>
          <p:cNvSpPr>
            <a:spLocks noChangeShapeType="1"/>
          </p:cNvSpPr>
          <p:nvPr/>
        </p:nvSpPr>
        <p:spPr bwMode="auto">
          <a:xfrm>
            <a:off x="2374327" y="200877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Rectangle 228">
            <a:extLst>
              <a:ext uri="{FF2B5EF4-FFF2-40B4-BE49-F238E27FC236}">
                <a16:creationId xmlns:a16="http://schemas.microsoft.com/office/drawing/2014/main" id="{E4359FD2-7232-437A-1E49-3126D753D053}"/>
              </a:ext>
            </a:extLst>
          </p:cNvPr>
          <p:cNvSpPr>
            <a:spLocks noChangeArrowheads="1"/>
          </p:cNvSpPr>
          <p:nvPr/>
        </p:nvSpPr>
        <p:spPr bwMode="auto">
          <a:xfrm>
            <a:off x="933025" y="1785445"/>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sp>
        <p:nvSpPr>
          <p:cNvPr id="61" name="Line 20">
            <a:extLst>
              <a:ext uri="{FF2B5EF4-FFF2-40B4-BE49-F238E27FC236}">
                <a16:creationId xmlns:a16="http://schemas.microsoft.com/office/drawing/2014/main" id="{18F210F6-F8F8-8CB4-398F-95206BB07CAE}"/>
              </a:ext>
            </a:extLst>
          </p:cNvPr>
          <p:cNvSpPr>
            <a:spLocks noChangeShapeType="1"/>
          </p:cNvSpPr>
          <p:nvPr/>
        </p:nvSpPr>
        <p:spPr bwMode="auto">
          <a:xfrm flipV="1">
            <a:off x="7320935" y="1583120"/>
            <a:ext cx="0" cy="400050"/>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pPr>
              <a:defRPr/>
            </a:pPr>
            <a:endParaRPr lang="zh-CN" altLang="en-US"/>
          </a:p>
        </p:txBody>
      </p:sp>
      <p:sp>
        <p:nvSpPr>
          <p:cNvPr id="62" name="Line 21">
            <a:extLst>
              <a:ext uri="{FF2B5EF4-FFF2-40B4-BE49-F238E27FC236}">
                <a16:creationId xmlns:a16="http://schemas.microsoft.com/office/drawing/2014/main" id="{AB1E50F2-3201-3F3F-8A8B-BD77D799903A}"/>
              </a:ext>
            </a:extLst>
          </p:cNvPr>
          <p:cNvSpPr>
            <a:spLocks noChangeShapeType="1"/>
          </p:cNvSpPr>
          <p:nvPr/>
        </p:nvSpPr>
        <p:spPr bwMode="auto">
          <a:xfrm flipH="1" flipV="1">
            <a:off x="1259632" y="1563638"/>
            <a:ext cx="6061303" cy="19481"/>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63" name="Line 22">
            <a:extLst>
              <a:ext uri="{FF2B5EF4-FFF2-40B4-BE49-F238E27FC236}">
                <a16:creationId xmlns:a16="http://schemas.microsoft.com/office/drawing/2014/main" id="{3CF2E8F9-9480-7447-F800-80B1502CE6AD}"/>
              </a:ext>
            </a:extLst>
          </p:cNvPr>
          <p:cNvSpPr>
            <a:spLocks noChangeShapeType="1"/>
          </p:cNvSpPr>
          <p:nvPr/>
        </p:nvSpPr>
        <p:spPr bwMode="auto">
          <a:xfrm>
            <a:off x="1271174" y="1571194"/>
            <a:ext cx="0" cy="290844"/>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64" name="Line 23">
            <a:extLst>
              <a:ext uri="{FF2B5EF4-FFF2-40B4-BE49-F238E27FC236}">
                <a16:creationId xmlns:a16="http://schemas.microsoft.com/office/drawing/2014/main" id="{E3AF8BA7-01C2-FB55-C9FA-5E4AC17D72E0}"/>
              </a:ext>
            </a:extLst>
          </p:cNvPr>
          <p:cNvSpPr>
            <a:spLocks noChangeShapeType="1"/>
          </p:cNvSpPr>
          <p:nvPr/>
        </p:nvSpPr>
        <p:spPr bwMode="auto">
          <a:xfrm>
            <a:off x="1271174" y="1862038"/>
            <a:ext cx="304800" cy="0"/>
          </a:xfrm>
          <a:prstGeom prst="line">
            <a:avLst/>
          </a:prstGeom>
          <a:ln w="19050">
            <a:solidFill>
              <a:schemeClr val="tx1"/>
            </a:solidFill>
            <a:headEnd/>
            <a:tailEnd type="triangle"/>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cxnSp>
        <p:nvCxnSpPr>
          <p:cNvPr id="3" name="直接连接符 2">
            <a:extLst>
              <a:ext uri="{FF2B5EF4-FFF2-40B4-BE49-F238E27FC236}">
                <a16:creationId xmlns:a16="http://schemas.microsoft.com/office/drawing/2014/main" id="{26F95328-24E7-C794-BBD2-9AC56A7F5C5C}"/>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5E5E0740-B94C-35F9-ECFF-88F087F13E85}"/>
              </a:ext>
            </a:extLst>
          </p:cNvPr>
          <p:cNvSpPr/>
          <p:nvPr/>
        </p:nvSpPr>
        <p:spPr>
          <a:xfrm>
            <a:off x="395536" y="843558"/>
            <a:ext cx="302433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2.3.4 </a:t>
            </a:r>
            <a:r>
              <a:rPr lang="zh-CN" altLang="en-US" sz="2800" b="1" dirty="0">
                <a:solidFill>
                  <a:schemeClr val="bg1"/>
                </a:solidFill>
                <a:latin typeface="经典粗黑简" pitchFamily="49" charset="-122"/>
                <a:ea typeface="经典粗黑简" pitchFamily="49" charset="-122"/>
                <a:cs typeface="经典粗黑简" pitchFamily="49" charset="-122"/>
              </a:rPr>
              <a:t>循环链表</a:t>
            </a:r>
          </a:p>
        </p:txBody>
      </p:sp>
      <p:sp>
        <p:nvSpPr>
          <p:cNvPr id="5" name="Rectangle 2">
            <a:extLst>
              <a:ext uri="{FF2B5EF4-FFF2-40B4-BE49-F238E27FC236}">
                <a16:creationId xmlns:a16="http://schemas.microsoft.com/office/drawing/2014/main" id="{9DD9B977-6A5F-0FAA-5CA2-E76E89B2FCC9}"/>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6" name="文本框 5">
            <a:extLst>
              <a:ext uri="{FF2B5EF4-FFF2-40B4-BE49-F238E27FC236}">
                <a16:creationId xmlns:a16="http://schemas.microsoft.com/office/drawing/2014/main" id="{E81E7C36-2F2C-61BE-A4E0-A59B62C72153}"/>
              </a:ext>
            </a:extLst>
          </p:cNvPr>
          <p:cNvSpPr txBox="1"/>
          <p:nvPr/>
        </p:nvSpPr>
        <p:spPr>
          <a:xfrm>
            <a:off x="255842" y="2459898"/>
            <a:ext cx="3375580" cy="923330"/>
          </a:xfrm>
          <a:prstGeom prst="rect">
            <a:avLst/>
          </a:prstGeom>
          <a:noFill/>
        </p:spPr>
        <p:txBody>
          <a:bodyPr wrap="square">
            <a:spAutoFit/>
          </a:bodyPr>
          <a:lstStyle/>
          <a:p>
            <a:r>
              <a:rPr lang="zh-CN" altLang="zh-CN" sz="1800" dirty="0">
                <a:solidFill>
                  <a:srgbClr val="FF0000"/>
                </a:solidFill>
                <a:latin typeface="Consolas" pitchFamily="49" charset="0"/>
                <a:ea typeface="楷体" pitchFamily="49" charset="-122"/>
                <a:cs typeface="Consolas" pitchFamily="49" charset="0"/>
              </a:rPr>
              <a:t>【例</a:t>
            </a:r>
            <a:r>
              <a:rPr lang="en-US" altLang="zh-CN" sz="1800" dirty="0">
                <a:solidFill>
                  <a:srgbClr val="FF0000"/>
                </a:solidFill>
                <a:latin typeface="Consolas" pitchFamily="49" charset="0"/>
                <a:ea typeface="楷体" pitchFamily="49" charset="-122"/>
                <a:cs typeface="Consolas" pitchFamily="49" charset="0"/>
              </a:rPr>
              <a:t>2.11</a:t>
            </a:r>
            <a:r>
              <a:rPr lang="zh-CN" altLang="zh-CN" sz="1800" dirty="0">
                <a:solidFill>
                  <a:srgbClr val="FF0000"/>
                </a:solidFill>
                <a:latin typeface="Consolas" pitchFamily="49" charset="0"/>
                <a:ea typeface="楷体" pitchFamily="49" charset="-122"/>
                <a:cs typeface="Consolas" pitchFamily="49" charset="0"/>
              </a:rPr>
              <a:t>】</a:t>
            </a:r>
            <a:r>
              <a:rPr lang="zh-CN" altLang="zh-CN" sz="1800" dirty="0">
                <a:solidFill>
                  <a:srgbClr val="0000FF"/>
                </a:solidFill>
                <a:latin typeface="Consolas" pitchFamily="49" charset="0"/>
                <a:ea typeface="楷体" pitchFamily="49" charset="-122"/>
                <a:cs typeface="Consolas" pitchFamily="49" charset="0"/>
              </a:rPr>
              <a:t>有一个带头结点的循环单链表</a:t>
            </a:r>
            <a:r>
              <a:rPr lang="en-US" altLang="zh-CN" sz="1800" dirty="0">
                <a:solidFill>
                  <a:srgbClr val="0000FF"/>
                </a:solidFill>
                <a:latin typeface="Consolas" pitchFamily="49" charset="0"/>
                <a:ea typeface="楷体" pitchFamily="49" charset="-122"/>
                <a:cs typeface="Consolas" pitchFamily="49" charset="0"/>
              </a:rPr>
              <a:t>L</a:t>
            </a:r>
            <a:r>
              <a:rPr lang="zh-CN" altLang="zh-CN" sz="1800" dirty="0">
                <a:solidFill>
                  <a:srgbClr val="0000FF"/>
                </a:solidFill>
                <a:latin typeface="Consolas" pitchFamily="49" charset="0"/>
                <a:ea typeface="楷体" pitchFamily="49" charset="-122"/>
                <a:cs typeface="Consolas" pitchFamily="49" charset="0"/>
              </a:rPr>
              <a:t>，设计一个算法统计其</a:t>
            </a:r>
            <a:r>
              <a:rPr lang="en-US" altLang="zh-CN" sz="1800" dirty="0">
                <a:solidFill>
                  <a:srgbClr val="0000FF"/>
                </a:solidFill>
                <a:latin typeface="Consolas" pitchFamily="49" charset="0"/>
                <a:ea typeface="楷体" pitchFamily="49" charset="-122"/>
                <a:cs typeface="Consolas" pitchFamily="49" charset="0"/>
              </a:rPr>
              <a:t>data</a:t>
            </a:r>
            <a:r>
              <a:rPr lang="zh-CN" altLang="zh-CN" sz="1800" dirty="0">
                <a:solidFill>
                  <a:srgbClr val="0000FF"/>
                </a:solidFill>
                <a:latin typeface="Consolas" pitchFamily="49" charset="0"/>
                <a:ea typeface="楷体" pitchFamily="49" charset="-122"/>
                <a:cs typeface="Consolas" pitchFamily="49" charset="0"/>
              </a:rPr>
              <a:t>域值为</a:t>
            </a:r>
            <a:r>
              <a:rPr lang="en-US" altLang="zh-CN" sz="1800" i="1" dirty="0">
                <a:solidFill>
                  <a:srgbClr val="0000FF"/>
                </a:solidFill>
                <a:latin typeface="Consolas" pitchFamily="49" charset="0"/>
                <a:ea typeface="楷体" pitchFamily="49" charset="-122"/>
                <a:cs typeface="Consolas" pitchFamily="49" charset="0"/>
              </a:rPr>
              <a:t>x</a:t>
            </a:r>
            <a:r>
              <a:rPr lang="zh-CN" altLang="zh-CN" sz="1800" dirty="0">
                <a:solidFill>
                  <a:srgbClr val="0000FF"/>
                </a:solidFill>
                <a:latin typeface="Consolas" pitchFamily="49" charset="0"/>
                <a:ea typeface="楷体" pitchFamily="49" charset="-122"/>
                <a:cs typeface="Consolas" pitchFamily="49" charset="0"/>
              </a:rPr>
              <a:t>的结点个数。</a:t>
            </a:r>
            <a:endParaRPr lang="zh-CN" altLang="en-US" dirty="0"/>
          </a:p>
        </p:txBody>
      </p:sp>
      <p:sp>
        <p:nvSpPr>
          <p:cNvPr id="7" name="TextBox 3">
            <a:extLst>
              <a:ext uri="{FF2B5EF4-FFF2-40B4-BE49-F238E27FC236}">
                <a16:creationId xmlns:a16="http://schemas.microsoft.com/office/drawing/2014/main" id="{599638D1-8D6F-33F9-C43B-32CF7BFBA3A1}"/>
              </a:ext>
            </a:extLst>
          </p:cNvPr>
          <p:cNvSpPr txBox="1"/>
          <p:nvPr/>
        </p:nvSpPr>
        <p:spPr>
          <a:xfrm>
            <a:off x="3720435" y="2274861"/>
            <a:ext cx="5184576" cy="258759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1800"/>
              </a:lnSpc>
            </a:pPr>
            <a:r>
              <a:rPr lang="en-US" altLang="zh-CN" sz="1400" dirty="0">
                <a:solidFill>
                  <a:srgbClr val="0000FF"/>
                </a:solidFill>
                <a:latin typeface="Consolas" pitchFamily="49" charset="0"/>
                <a:ea typeface="仿宋" pitchFamily="49" charset="-122"/>
                <a:cs typeface="Consolas" pitchFamily="49" charset="0"/>
              </a:rPr>
              <a:t>int </a:t>
            </a:r>
            <a:r>
              <a:rPr lang="en-US" altLang="zh-CN" sz="1400" dirty="0">
                <a:solidFill>
                  <a:srgbClr val="FF0000"/>
                </a:solidFill>
                <a:latin typeface="Consolas" pitchFamily="49" charset="0"/>
                <a:ea typeface="仿宋" pitchFamily="49" charset="-122"/>
                <a:cs typeface="Consolas" pitchFamily="49" charset="0"/>
              </a:rPr>
              <a:t>count</a:t>
            </a:r>
            <a:r>
              <a:rPr lang="en-US" altLang="zh-CN" sz="1400" dirty="0">
                <a:solidFill>
                  <a:srgbClr val="0000FF"/>
                </a:solidFill>
                <a:latin typeface="Consolas" pitchFamily="49" charset="0"/>
                <a:ea typeface="仿宋" pitchFamily="49" charset="-122"/>
                <a:cs typeface="Consolas" pitchFamily="49" charset="0"/>
              </a:rPr>
              <a:t>(</a:t>
            </a:r>
            <a:r>
              <a:rPr lang="en-US" altLang="zh-CN" sz="1400" dirty="0" err="1">
                <a:solidFill>
                  <a:srgbClr val="0000FF"/>
                </a:solidFill>
                <a:latin typeface="Consolas" pitchFamily="49" charset="0"/>
                <a:ea typeface="仿宋" pitchFamily="49" charset="-122"/>
                <a:cs typeface="Consolas" pitchFamily="49" charset="0"/>
              </a:rPr>
              <a:t>LinkNode</a:t>
            </a:r>
            <a:r>
              <a:rPr lang="en-US" altLang="zh-CN" sz="1400" dirty="0">
                <a:solidFill>
                  <a:srgbClr val="0000FF"/>
                </a:solidFill>
                <a:latin typeface="Consolas" pitchFamily="49" charset="0"/>
                <a:ea typeface="仿宋" pitchFamily="49" charset="-122"/>
                <a:cs typeface="Consolas" pitchFamily="49" charset="0"/>
              </a:rPr>
              <a:t> *</a:t>
            </a:r>
            <a:r>
              <a:rPr lang="en-US" altLang="zh-CN" sz="1400" dirty="0" err="1">
                <a:solidFill>
                  <a:srgbClr val="0000FF"/>
                </a:solidFill>
                <a:latin typeface="Consolas" pitchFamily="49" charset="0"/>
                <a:ea typeface="仿宋" pitchFamily="49" charset="-122"/>
                <a:cs typeface="Consolas" pitchFamily="49" charset="0"/>
              </a:rPr>
              <a:t>L,ElemType</a:t>
            </a:r>
            <a:r>
              <a:rPr lang="en-US" altLang="zh-CN" sz="1400" dirty="0">
                <a:solidFill>
                  <a:srgbClr val="0000FF"/>
                </a:solidFill>
                <a:latin typeface="Consolas" pitchFamily="49" charset="0"/>
                <a:ea typeface="仿宋" pitchFamily="49" charset="-122"/>
                <a:cs typeface="Consolas" pitchFamily="49" charset="0"/>
              </a:rPr>
              <a:t> x)</a:t>
            </a:r>
            <a:endParaRPr lang="zh-CN" altLang="zh-CN" sz="1400" dirty="0">
              <a:solidFill>
                <a:srgbClr val="0000FF"/>
              </a:solidFill>
              <a:latin typeface="Consolas" pitchFamily="49" charset="0"/>
              <a:ea typeface="仿宋" pitchFamily="49" charset="-122"/>
              <a:cs typeface="Consolas" pitchFamily="49" charset="0"/>
            </a:endParaRPr>
          </a:p>
          <a:p>
            <a:pPr algn="l">
              <a:lnSpc>
                <a:spcPts val="1800"/>
              </a:lnSpc>
            </a:pPr>
            <a:r>
              <a:rPr lang="en-US" altLang="zh-CN" sz="1400" dirty="0">
                <a:solidFill>
                  <a:srgbClr val="0000FF"/>
                </a:solidFill>
                <a:latin typeface="Consolas" pitchFamily="49" charset="0"/>
                <a:ea typeface="仿宋" pitchFamily="49" charset="-122"/>
                <a:cs typeface="Consolas" pitchFamily="49" charset="0"/>
              </a:rPr>
              <a:t>{  int </a:t>
            </a:r>
            <a:r>
              <a:rPr lang="en-US" altLang="zh-CN" sz="1400" dirty="0" err="1">
                <a:solidFill>
                  <a:srgbClr val="0000FF"/>
                </a:solidFill>
                <a:latin typeface="Consolas" pitchFamily="49" charset="0"/>
                <a:ea typeface="仿宋" pitchFamily="49" charset="-122"/>
                <a:cs typeface="Consolas" pitchFamily="49" charset="0"/>
              </a:rPr>
              <a:t>cnt</a:t>
            </a:r>
            <a:r>
              <a:rPr lang="en-US" altLang="zh-CN" sz="1400" dirty="0">
                <a:solidFill>
                  <a:srgbClr val="0000FF"/>
                </a:solidFill>
                <a:latin typeface="Consolas" pitchFamily="49" charset="0"/>
                <a:ea typeface="仿宋" pitchFamily="49" charset="-122"/>
                <a:cs typeface="Consolas" pitchFamily="49" charset="0"/>
              </a:rPr>
              <a:t>=0;</a:t>
            </a:r>
            <a:endParaRPr lang="zh-CN" altLang="zh-CN" sz="1400" dirty="0">
              <a:solidFill>
                <a:srgbClr val="0000FF"/>
              </a:solidFill>
              <a:latin typeface="Consolas" pitchFamily="49" charset="0"/>
              <a:ea typeface="仿宋" pitchFamily="49" charset="-122"/>
              <a:cs typeface="Consolas" pitchFamily="49" charset="0"/>
            </a:endParaRPr>
          </a:p>
          <a:p>
            <a:pPr algn="l">
              <a:lnSpc>
                <a:spcPts val="1800"/>
              </a:lnSpc>
            </a:pPr>
            <a:r>
              <a:rPr lang="en-US" altLang="zh-CN" sz="1400" dirty="0">
                <a:solidFill>
                  <a:srgbClr val="0000FF"/>
                </a:solidFill>
                <a:latin typeface="Consolas" pitchFamily="49" charset="0"/>
                <a:ea typeface="仿宋" pitchFamily="49" charset="-122"/>
                <a:cs typeface="Consolas" pitchFamily="49" charset="0"/>
              </a:rPr>
              <a:t>   </a:t>
            </a:r>
            <a:r>
              <a:rPr lang="en-US" altLang="zh-CN" sz="1400" dirty="0" err="1">
                <a:solidFill>
                  <a:srgbClr val="0000FF"/>
                </a:solidFill>
                <a:latin typeface="Consolas" pitchFamily="49" charset="0"/>
                <a:ea typeface="仿宋" pitchFamily="49" charset="-122"/>
                <a:cs typeface="Consolas" pitchFamily="49" charset="0"/>
              </a:rPr>
              <a:t>LinkNode</a:t>
            </a:r>
            <a:r>
              <a:rPr lang="en-US" altLang="zh-CN" sz="1400" dirty="0">
                <a:solidFill>
                  <a:srgbClr val="0000FF"/>
                </a:solidFill>
                <a:latin typeface="Consolas" pitchFamily="49" charset="0"/>
                <a:ea typeface="仿宋" pitchFamily="49" charset="-122"/>
                <a:cs typeface="Consolas" pitchFamily="49" charset="0"/>
              </a:rPr>
              <a:t> *p=L-&gt;next; </a:t>
            </a:r>
            <a:r>
              <a:rPr lang="en-US" altLang="zh-CN" sz="1400" dirty="0">
                <a:solidFill>
                  <a:srgbClr val="00B0F0"/>
                </a:solidFill>
                <a:latin typeface="Consolas" pitchFamily="49" charset="0"/>
                <a:ea typeface="仿宋" pitchFamily="49" charset="-122"/>
                <a:cs typeface="Consolas" pitchFamily="49" charset="0"/>
              </a:rPr>
              <a:t>//p</a:t>
            </a:r>
            <a:r>
              <a:rPr lang="zh-CN" altLang="zh-CN" sz="1400" dirty="0">
                <a:solidFill>
                  <a:srgbClr val="00B0F0"/>
                </a:solidFill>
                <a:latin typeface="Consolas" pitchFamily="49" charset="0"/>
                <a:ea typeface="仿宋" pitchFamily="49" charset="-122"/>
                <a:cs typeface="Consolas" pitchFamily="49" charset="0"/>
              </a:rPr>
              <a:t>指向首结点</a:t>
            </a:r>
            <a:r>
              <a:rPr lang="en-US" altLang="zh-CN" sz="1400" dirty="0">
                <a:solidFill>
                  <a:srgbClr val="00B0F0"/>
                </a:solidFill>
                <a:latin typeface="Consolas" pitchFamily="49" charset="0"/>
                <a:ea typeface="仿宋" pitchFamily="49" charset="-122"/>
                <a:cs typeface="Consolas" pitchFamily="49" charset="0"/>
              </a:rPr>
              <a:t>,</a:t>
            </a:r>
            <a:r>
              <a:rPr lang="en-US" altLang="zh-CN" sz="1400" dirty="0" err="1">
                <a:solidFill>
                  <a:srgbClr val="00B0F0"/>
                </a:solidFill>
                <a:latin typeface="Consolas" pitchFamily="49" charset="0"/>
                <a:ea typeface="仿宋" pitchFamily="49" charset="-122"/>
                <a:cs typeface="Consolas" pitchFamily="49" charset="0"/>
              </a:rPr>
              <a:t>cnt</a:t>
            </a:r>
            <a:r>
              <a:rPr lang="zh-CN" altLang="zh-CN" sz="1400" dirty="0">
                <a:solidFill>
                  <a:srgbClr val="00B0F0"/>
                </a:solidFill>
                <a:latin typeface="Consolas" pitchFamily="49" charset="0"/>
                <a:ea typeface="仿宋" pitchFamily="49" charset="-122"/>
                <a:cs typeface="Consolas" pitchFamily="49" charset="0"/>
              </a:rPr>
              <a:t>置为</a:t>
            </a:r>
            <a:r>
              <a:rPr lang="en-US" altLang="zh-CN" sz="1400" dirty="0">
                <a:solidFill>
                  <a:srgbClr val="00B0F0"/>
                </a:solidFill>
                <a:latin typeface="Consolas" pitchFamily="49" charset="0"/>
                <a:ea typeface="仿宋" pitchFamily="49" charset="-122"/>
                <a:cs typeface="Consolas" pitchFamily="49" charset="0"/>
              </a:rPr>
              <a:t>0</a:t>
            </a:r>
            <a:endParaRPr lang="zh-CN" altLang="zh-CN" sz="1400" dirty="0">
              <a:solidFill>
                <a:srgbClr val="00B0F0"/>
              </a:solidFill>
              <a:latin typeface="Consolas" pitchFamily="49" charset="0"/>
              <a:ea typeface="仿宋" pitchFamily="49" charset="-122"/>
              <a:cs typeface="Consolas" pitchFamily="49" charset="0"/>
            </a:endParaRPr>
          </a:p>
          <a:p>
            <a:pPr algn="l">
              <a:lnSpc>
                <a:spcPts val="1800"/>
              </a:lnSpc>
            </a:pPr>
            <a:r>
              <a:rPr lang="en-US" altLang="zh-CN" sz="1400" dirty="0">
                <a:solidFill>
                  <a:srgbClr val="0000FF"/>
                </a:solidFill>
                <a:latin typeface="Consolas" pitchFamily="49" charset="0"/>
                <a:ea typeface="仿宋" pitchFamily="49" charset="-122"/>
                <a:cs typeface="Consolas" pitchFamily="49" charset="0"/>
              </a:rPr>
              <a:t>   while (</a:t>
            </a:r>
            <a:r>
              <a:rPr lang="en-US" altLang="zh-CN" sz="1400" dirty="0">
                <a:solidFill>
                  <a:srgbClr val="FF00FF"/>
                </a:solidFill>
                <a:latin typeface="Consolas" pitchFamily="49" charset="0"/>
                <a:ea typeface="仿宋" pitchFamily="49" charset="-122"/>
                <a:cs typeface="Consolas" pitchFamily="49" charset="0"/>
              </a:rPr>
              <a:t>p!=L</a:t>
            </a:r>
            <a:r>
              <a:rPr lang="en-US" altLang="zh-CN" sz="1400" dirty="0">
                <a:solidFill>
                  <a:srgbClr val="0000FF"/>
                </a:solidFill>
                <a:latin typeface="Consolas" pitchFamily="49" charset="0"/>
                <a:ea typeface="仿宋" pitchFamily="49" charset="-122"/>
                <a:cs typeface="Consolas" pitchFamily="49" charset="0"/>
              </a:rPr>
              <a:t>)	</a:t>
            </a:r>
            <a:r>
              <a:rPr lang="en-US" altLang="zh-CN" sz="1400" dirty="0">
                <a:solidFill>
                  <a:srgbClr val="00B0F0"/>
                </a:solidFill>
                <a:latin typeface="Consolas" pitchFamily="49" charset="0"/>
                <a:ea typeface="仿宋" pitchFamily="49" charset="-122"/>
                <a:cs typeface="Consolas" pitchFamily="49" charset="0"/>
              </a:rPr>
              <a:t>//</a:t>
            </a:r>
            <a:r>
              <a:rPr lang="zh-CN" altLang="zh-CN" sz="1400" dirty="0">
                <a:solidFill>
                  <a:srgbClr val="00B0F0"/>
                </a:solidFill>
                <a:latin typeface="Consolas" pitchFamily="49" charset="0"/>
                <a:ea typeface="仿宋" pitchFamily="49" charset="-122"/>
                <a:cs typeface="Consolas" pitchFamily="49" charset="0"/>
              </a:rPr>
              <a:t>扫描循环单链表</a:t>
            </a:r>
            <a:r>
              <a:rPr lang="en-US" altLang="zh-CN" sz="1400" dirty="0">
                <a:solidFill>
                  <a:srgbClr val="00B0F0"/>
                </a:solidFill>
                <a:latin typeface="Consolas" pitchFamily="49" charset="0"/>
                <a:ea typeface="仿宋" pitchFamily="49" charset="-122"/>
                <a:cs typeface="Consolas" pitchFamily="49" charset="0"/>
              </a:rPr>
              <a:t>L</a:t>
            </a:r>
            <a:endParaRPr lang="zh-CN" altLang="zh-CN" sz="1400" dirty="0">
              <a:solidFill>
                <a:srgbClr val="00B0F0"/>
              </a:solidFill>
              <a:latin typeface="Consolas" pitchFamily="49" charset="0"/>
              <a:ea typeface="仿宋" pitchFamily="49" charset="-122"/>
              <a:cs typeface="Consolas" pitchFamily="49" charset="0"/>
            </a:endParaRPr>
          </a:p>
          <a:p>
            <a:pPr algn="l">
              <a:lnSpc>
                <a:spcPts val="1800"/>
              </a:lnSpc>
            </a:pPr>
            <a:r>
              <a:rPr lang="en-US" altLang="zh-CN" sz="1400" dirty="0">
                <a:solidFill>
                  <a:srgbClr val="0000FF"/>
                </a:solidFill>
                <a:latin typeface="Consolas" pitchFamily="49" charset="0"/>
                <a:ea typeface="仿宋" pitchFamily="49" charset="-122"/>
                <a:cs typeface="Consolas" pitchFamily="49" charset="0"/>
              </a:rPr>
              <a:t>   {  if (p-&gt;data==x)</a:t>
            </a:r>
            <a:endParaRPr lang="zh-CN" altLang="zh-CN" sz="1400" dirty="0">
              <a:solidFill>
                <a:srgbClr val="0000FF"/>
              </a:solidFill>
              <a:latin typeface="Consolas" pitchFamily="49" charset="0"/>
              <a:ea typeface="仿宋" pitchFamily="49" charset="-122"/>
              <a:cs typeface="Consolas" pitchFamily="49" charset="0"/>
            </a:endParaRPr>
          </a:p>
          <a:p>
            <a:pPr algn="l">
              <a:lnSpc>
                <a:spcPts val="1800"/>
              </a:lnSpc>
            </a:pPr>
            <a:r>
              <a:rPr lang="en-US" altLang="zh-CN" sz="1400" dirty="0">
                <a:solidFill>
                  <a:srgbClr val="0000FF"/>
                </a:solidFill>
                <a:latin typeface="Consolas" pitchFamily="49" charset="0"/>
                <a:ea typeface="仿宋" pitchFamily="49" charset="-122"/>
                <a:cs typeface="Consolas" pitchFamily="49" charset="0"/>
              </a:rPr>
              <a:t>         </a:t>
            </a:r>
            <a:r>
              <a:rPr lang="en-US" altLang="zh-CN" sz="1400" dirty="0" err="1">
                <a:solidFill>
                  <a:srgbClr val="0000FF"/>
                </a:solidFill>
                <a:latin typeface="Consolas" pitchFamily="49" charset="0"/>
                <a:ea typeface="仿宋" pitchFamily="49" charset="-122"/>
                <a:cs typeface="Consolas" pitchFamily="49" charset="0"/>
              </a:rPr>
              <a:t>cnt</a:t>
            </a:r>
            <a:r>
              <a:rPr lang="en-US" altLang="zh-CN" sz="1400" dirty="0">
                <a:solidFill>
                  <a:srgbClr val="0000FF"/>
                </a:solidFill>
                <a:latin typeface="Consolas" pitchFamily="49" charset="0"/>
                <a:ea typeface="仿宋" pitchFamily="49" charset="-122"/>
                <a:cs typeface="Consolas" pitchFamily="49" charset="0"/>
              </a:rPr>
              <a:t>++;	</a:t>
            </a:r>
            <a:r>
              <a:rPr lang="en-US" altLang="zh-CN" sz="1400" dirty="0">
                <a:solidFill>
                  <a:srgbClr val="00B0F0"/>
                </a:solidFill>
                <a:latin typeface="Consolas" pitchFamily="49" charset="0"/>
                <a:ea typeface="仿宋" pitchFamily="49" charset="-122"/>
                <a:cs typeface="Consolas" pitchFamily="49" charset="0"/>
              </a:rPr>
              <a:t>//</a:t>
            </a:r>
            <a:r>
              <a:rPr lang="zh-CN" altLang="zh-CN" sz="1400" dirty="0">
                <a:solidFill>
                  <a:srgbClr val="00B0F0"/>
                </a:solidFill>
                <a:latin typeface="Consolas" pitchFamily="49" charset="0"/>
                <a:ea typeface="仿宋" pitchFamily="49" charset="-122"/>
                <a:cs typeface="Consolas" pitchFamily="49" charset="0"/>
              </a:rPr>
              <a:t>找到值为</a:t>
            </a:r>
            <a:r>
              <a:rPr lang="en-US" altLang="zh-CN" sz="1400" dirty="0">
                <a:solidFill>
                  <a:srgbClr val="00B0F0"/>
                </a:solidFill>
                <a:latin typeface="Consolas" pitchFamily="49" charset="0"/>
                <a:ea typeface="仿宋" pitchFamily="49" charset="-122"/>
                <a:cs typeface="Consolas" pitchFamily="49" charset="0"/>
              </a:rPr>
              <a:t>x</a:t>
            </a:r>
            <a:r>
              <a:rPr lang="zh-CN" altLang="zh-CN" sz="1400" dirty="0">
                <a:solidFill>
                  <a:srgbClr val="00B0F0"/>
                </a:solidFill>
                <a:latin typeface="Consolas" pitchFamily="49" charset="0"/>
                <a:ea typeface="仿宋" pitchFamily="49" charset="-122"/>
                <a:cs typeface="Consolas" pitchFamily="49" charset="0"/>
              </a:rPr>
              <a:t>的结点后</a:t>
            </a:r>
            <a:r>
              <a:rPr lang="en-US" altLang="zh-CN" sz="1400" dirty="0" err="1">
                <a:solidFill>
                  <a:srgbClr val="00B0F0"/>
                </a:solidFill>
                <a:latin typeface="Consolas" pitchFamily="49" charset="0"/>
                <a:ea typeface="仿宋" pitchFamily="49" charset="-122"/>
                <a:cs typeface="Consolas" pitchFamily="49" charset="0"/>
              </a:rPr>
              <a:t>cnt</a:t>
            </a:r>
            <a:r>
              <a:rPr lang="zh-CN" altLang="zh-CN" sz="1400" dirty="0">
                <a:solidFill>
                  <a:srgbClr val="00B0F0"/>
                </a:solidFill>
                <a:latin typeface="Consolas" pitchFamily="49" charset="0"/>
                <a:ea typeface="仿宋" pitchFamily="49" charset="-122"/>
                <a:cs typeface="Consolas" pitchFamily="49" charset="0"/>
              </a:rPr>
              <a:t>增</a:t>
            </a:r>
            <a:r>
              <a:rPr lang="en-US" altLang="zh-CN" sz="1400" dirty="0">
                <a:solidFill>
                  <a:srgbClr val="00B0F0"/>
                </a:solidFill>
                <a:latin typeface="Consolas" pitchFamily="49" charset="0"/>
                <a:ea typeface="仿宋" pitchFamily="49" charset="-122"/>
                <a:cs typeface="Consolas" pitchFamily="49" charset="0"/>
              </a:rPr>
              <a:t>1</a:t>
            </a:r>
            <a:endParaRPr lang="zh-CN" altLang="zh-CN" sz="1400" dirty="0">
              <a:solidFill>
                <a:srgbClr val="00B0F0"/>
              </a:solidFill>
              <a:latin typeface="Consolas" pitchFamily="49" charset="0"/>
              <a:ea typeface="仿宋" pitchFamily="49" charset="-122"/>
              <a:cs typeface="Consolas" pitchFamily="49" charset="0"/>
            </a:endParaRPr>
          </a:p>
          <a:p>
            <a:pPr algn="l">
              <a:lnSpc>
                <a:spcPts val="1800"/>
              </a:lnSpc>
            </a:pPr>
            <a:r>
              <a:rPr lang="en-US" altLang="zh-CN" sz="1400" dirty="0">
                <a:solidFill>
                  <a:srgbClr val="0000FF"/>
                </a:solidFill>
                <a:latin typeface="Consolas" pitchFamily="49" charset="0"/>
                <a:ea typeface="仿宋" pitchFamily="49" charset="-122"/>
                <a:cs typeface="Consolas" pitchFamily="49" charset="0"/>
              </a:rPr>
              <a:t>      p=p-&gt;next;	</a:t>
            </a:r>
            <a:r>
              <a:rPr lang="en-US" altLang="zh-CN" sz="1400" dirty="0">
                <a:solidFill>
                  <a:srgbClr val="00B0F0"/>
                </a:solidFill>
                <a:latin typeface="Consolas" pitchFamily="49" charset="0"/>
                <a:ea typeface="仿宋" pitchFamily="49" charset="-122"/>
                <a:cs typeface="Consolas" pitchFamily="49" charset="0"/>
              </a:rPr>
              <a:t>//p</a:t>
            </a:r>
            <a:r>
              <a:rPr lang="zh-CN" altLang="zh-CN" sz="1400" dirty="0">
                <a:solidFill>
                  <a:srgbClr val="00B0F0"/>
                </a:solidFill>
                <a:latin typeface="Consolas" pitchFamily="49" charset="0"/>
                <a:ea typeface="仿宋" pitchFamily="49" charset="-122"/>
                <a:cs typeface="Consolas" pitchFamily="49" charset="0"/>
              </a:rPr>
              <a:t>指向下一个结点</a:t>
            </a:r>
          </a:p>
          <a:p>
            <a:pPr algn="l">
              <a:lnSpc>
                <a:spcPts val="1800"/>
              </a:lnSpc>
            </a:pPr>
            <a:r>
              <a:rPr lang="en-US" altLang="zh-CN" sz="1400" dirty="0">
                <a:solidFill>
                  <a:srgbClr val="0000FF"/>
                </a:solidFill>
                <a:latin typeface="Consolas" pitchFamily="49" charset="0"/>
                <a:ea typeface="仿宋" pitchFamily="49" charset="-122"/>
                <a:cs typeface="Consolas" pitchFamily="49" charset="0"/>
              </a:rPr>
              <a:t>   }</a:t>
            </a:r>
            <a:endParaRPr lang="zh-CN" altLang="zh-CN" sz="1400" dirty="0">
              <a:solidFill>
                <a:srgbClr val="0000FF"/>
              </a:solidFill>
              <a:latin typeface="Consolas" pitchFamily="49" charset="0"/>
              <a:ea typeface="仿宋" pitchFamily="49" charset="-122"/>
              <a:cs typeface="Consolas" pitchFamily="49" charset="0"/>
            </a:endParaRPr>
          </a:p>
          <a:p>
            <a:pPr algn="l">
              <a:lnSpc>
                <a:spcPts val="1800"/>
              </a:lnSpc>
            </a:pPr>
            <a:r>
              <a:rPr lang="en-US" altLang="zh-CN" sz="1400" dirty="0">
                <a:solidFill>
                  <a:srgbClr val="0000FF"/>
                </a:solidFill>
                <a:latin typeface="Consolas" pitchFamily="49" charset="0"/>
                <a:ea typeface="仿宋" pitchFamily="49" charset="-122"/>
                <a:cs typeface="Consolas" pitchFamily="49" charset="0"/>
              </a:rPr>
              <a:t>   return </a:t>
            </a:r>
            <a:r>
              <a:rPr lang="en-US" altLang="zh-CN" sz="1400" dirty="0" err="1">
                <a:solidFill>
                  <a:srgbClr val="0000FF"/>
                </a:solidFill>
                <a:latin typeface="Consolas" pitchFamily="49" charset="0"/>
                <a:ea typeface="仿宋" pitchFamily="49" charset="-122"/>
                <a:cs typeface="Consolas" pitchFamily="49" charset="0"/>
              </a:rPr>
              <a:t>cnt</a:t>
            </a:r>
            <a:r>
              <a:rPr lang="en-US" altLang="zh-CN" sz="1400" dirty="0">
                <a:solidFill>
                  <a:srgbClr val="0000FF"/>
                </a:solidFill>
                <a:latin typeface="Consolas" pitchFamily="49" charset="0"/>
                <a:ea typeface="仿宋" pitchFamily="49" charset="-122"/>
                <a:cs typeface="Consolas" pitchFamily="49" charset="0"/>
              </a:rPr>
              <a:t>;	</a:t>
            </a:r>
            <a:r>
              <a:rPr lang="en-US" altLang="zh-CN" sz="1400" dirty="0">
                <a:solidFill>
                  <a:srgbClr val="00B0F0"/>
                </a:solidFill>
                <a:latin typeface="Consolas" pitchFamily="49" charset="0"/>
                <a:ea typeface="仿宋" pitchFamily="49" charset="-122"/>
                <a:cs typeface="Consolas" pitchFamily="49" charset="0"/>
              </a:rPr>
              <a:t>//</a:t>
            </a:r>
            <a:r>
              <a:rPr lang="zh-CN" altLang="zh-CN" sz="1400" dirty="0">
                <a:solidFill>
                  <a:srgbClr val="00B0F0"/>
                </a:solidFill>
                <a:latin typeface="Consolas" pitchFamily="49" charset="0"/>
                <a:ea typeface="仿宋" pitchFamily="49" charset="-122"/>
                <a:cs typeface="Consolas" pitchFamily="49" charset="0"/>
              </a:rPr>
              <a:t>返回值为</a:t>
            </a:r>
            <a:r>
              <a:rPr lang="en-US" altLang="zh-CN" sz="1400" dirty="0">
                <a:solidFill>
                  <a:srgbClr val="00B0F0"/>
                </a:solidFill>
                <a:latin typeface="Consolas" pitchFamily="49" charset="0"/>
                <a:ea typeface="仿宋" pitchFamily="49" charset="-122"/>
                <a:cs typeface="Consolas" pitchFamily="49" charset="0"/>
              </a:rPr>
              <a:t>x</a:t>
            </a:r>
            <a:r>
              <a:rPr lang="zh-CN" altLang="zh-CN" sz="1400" dirty="0">
                <a:solidFill>
                  <a:srgbClr val="00B0F0"/>
                </a:solidFill>
                <a:latin typeface="Consolas" pitchFamily="49" charset="0"/>
                <a:ea typeface="仿宋" pitchFamily="49" charset="-122"/>
                <a:cs typeface="Consolas" pitchFamily="49" charset="0"/>
              </a:rPr>
              <a:t>的结点个数</a:t>
            </a:r>
          </a:p>
          <a:p>
            <a:pPr algn="l">
              <a:lnSpc>
                <a:spcPts val="1800"/>
              </a:lnSpc>
            </a:pPr>
            <a:r>
              <a:rPr lang="en-US" altLang="zh-CN" sz="1400" dirty="0">
                <a:solidFill>
                  <a:srgbClr val="0000FF"/>
                </a:solidFill>
                <a:latin typeface="Consolas" pitchFamily="49" charset="0"/>
                <a:ea typeface="仿宋" pitchFamily="49" charset="-122"/>
                <a:cs typeface="Consolas" pitchFamily="49" charset="0"/>
              </a:rPr>
              <a:t>}</a:t>
            </a:r>
            <a:endParaRPr lang="zh-CN" altLang="en-US" sz="1400" dirty="0">
              <a:solidFill>
                <a:srgbClr val="0000FF"/>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528119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animBg="1"/>
      <p:bldP spid="63" grpId="0" animBg="1"/>
      <p:bldP spid="6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346442" y="3210796"/>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4" name="Line 6"/>
          <p:cNvSpPr>
            <a:spLocks noChangeShapeType="1"/>
          </p:cNvSpPr>
          <p:nvPr/>
        </p:nvSpPr>
        <p:spPr bwMode="auto">
          <a:xfrm>
            <a:off x="2879842" y="3210796"/>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Rectangle 25"/>
          <p:cNvSpPr>
            <a:spLocks noChangeArrowheads="1"/>
          </p:cNvSpPr>
          <p:nvPr/>
        </p:nvSpPr>
        <p:spPr bwMode="auto">
          <a:xfrm>
            <a:off x="3503232" y="3273382"/>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6" name="Rectangle 36"/>
          <p:cNvSpPr>
            <a:spLocks noChangeArrowheads="1"/>
          </p:cNvSpPr>
          <p:nvPr/>
        </p:nvSpPr>
        <p:spPr bwMode="auto">
          <a:xfrm>
            <a:off x="5493112" y="329454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8" name="Line 29"/>
          <p:cNvSpPr>
            <a:spLocks noChangeShapeType="1"/>
          </p:cNvSpPr>
          <p:nvPr/>
        </p:nvSpPr>
        <p:spPr bwMode="auto">
          <a:xfrm>
            <a:off x="3141099" y="3470343"/>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Rectangle 5"/>
          <p:cNvSpPr>
            <a:spLocks noChangeArrowheads="1"/>
          </p:cNvSpPr>
          <p:nvPr/>
        </p:nvSpPr>
        <p:spPr bwMode="auto">
          <a:xfrm>
            <a:off x="4116515" y="3221419"/>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0" name="Line 6"/>
          <p:cNvSpPr>
            <a:spLocks noChangeShapeType="1"/>
          </p:cNvSpPr>
          <p:nvPr/>
        </p:nvSpPr>
        <p:spPr bwMode="auto">
          <a:xfrm>
            <a:off x="4853088" y="3216043"/>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9"/>
          <p:cNvSpPr>
            <a:spLocks noChangeShapeType="1"/>
          </p:cNvSpPr>
          <p:nvPr/>
        </p:nvSpPr>
        <p:spPr bwMode="auto">
          <a:xfrm>
            <a:off x="3818165" y="3460121"/>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9"/>
          <p:cNvSpPr>
            <a:spLocks noChangeShapeType="1"/>
          </p:cNvSpPr>
          <p:nvPr/>
        </p:nvSpPr>
        <p:spPr bwMode="auto">
          <a:xfrm>
            <a:off x="5128274" y="348742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Rectangle 5"/>
          <p:cNvSpPr>
            <a:spLocks noChangeArrowheads="1"/>
          </p:cNvSpPr>
          <p:nvPr/>
        </p:nvSpPr>
        <p:spPr bwMode="auto">
          <a:xfrm>
            <a:off x="6208821" y="322141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endParaRPr lang="en-US" altLang="zh-CN" sz="2400" dirty="0"/>
          </a:p>
        </p:txBody>
      </p:sp>
      <p:sp>
        <p:nvSpPr>
          <p:cNvPr id="24" name="Line 6"/>
          <p:cNvSpPr>
            <a:spLocks noChangeShapeType="1"/>
          </p:cNvSpPr>
          <p:nvPr/>
        </p:nvSpPr>
        <p:spPr bwMode="auto">
          <a:xfrm>
            <a:off x="6742221" y="322141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9"/>
          <p:cNvSpPr>
            <a:spLocks noChangeShapeType="1"/>
          </p:cNvSpPr>
          <p:nvPr/>
        </p:nvSpPr>
        <p:spPr bwMode="auto">
          <a:xfrm>
            <a:off x="5827821" y="347559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5"/>
          <p:cNvSpPr>
            <a:spLocks noChangeArrowheads="1"/>
          </p:cNvSpPr>
          <p:nvPr/>
        </p:nvSpPr>
        <p:spPr bwMode="auto">
          <a:xfrm>
            <a:off x="1190834" y="3210796"/>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27" name="Line 6"/>
          <p:cNvSpPr>
            <a:spLocks noChangeShapeType="1"/>
          </p:cNvSpPr>
          <p:nvPr/>
        </p:nvSpPr>
        <p:spPr bwMode="auto">
          <a:xfrm>
            <a:off x="1724234" y="3210796"/>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9"/>
          <p:cNvSpPr>
            <a:spLocks noChangeShapeType="1"/>
          </p:cNvSpPr>
          <p:nvPr/>
        </p:nvSpPr>
        <p:spPr bwMode="auto">
          <a:xfrm>
            <a:off x="1985491" y="3470343"/>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矩形 29"/>
          <p:cNvSpPr/>
          <p:nvPr/>
        </p:nvSpPr>
        <p:spPr>
          <a:xfrm>
            <a:off x="1190834" y="2470207"/>
            <a:ext cx="6154420" cy="590931"/>
          </a:xfrm>
          <a:prstGeom prst="rect">
            <a:avLst/>
          </a:prstGeom>
        </p:spPr>
        <p:txBody>
          <a:bodyPr wrap="square">
            <a:spAutoFit/>
          </a:bodyPr>
          <a:lstStyle/>
          <a:p>
            <a:pPr lvl="1">
              <a:lnSpc>
                <a:spcPct val="90000"/>
              </a:lnSpc>
            </a:pPr>
            <a:r>
              <a:rPr lang="zh-CN" altLang="en-US" sz="3600" dirty="0">
                <a:latin typeface="微软雅黑" pitchFamily="34" charset="-122"/>
                <a:ea typeface="微软雅黑" pitchFamily="34" charset="-122"/>
                <a:cs typeface="经典粗黑简" pitchFamily="49" charset="-122"/>
              </a:rPr>
              <a:t>(</a:t>
            </a:r>
            <a:r>
              <a:rPr lang="en-US" altLang="zh-CN" sz="3200" dirty="0">
                <a:latin typeface="微软雅黑" pitchFamily="34" charset="-122"/>
                <a:ea typeface="微软雅黑" pitchFamily="34" charset="-122"/>
                <a:cs typeface="经典粗黑简" pitchFamily="49" charset="-122"/>
              </a:rPr>
              <a:t>a</a:t>
            </a:r>
            <a:r>
              <a:rPr lang="en-US" altLang="zh-CN" sz="3200" baseline="-25000" dirty="0">
                <a:latin typeface="微软雅黑" pitchFamily="34" charset="-122"/>
                <a:ea typeface="微软雅黑" pitchFamily="34" charset="-122"/>
                <a:cs typeface="经典粗黑简" pitchFamily="49" charset="-122"/>
              </a:rPr>
              <a:t>1</a:t>
            </a:r>
            <a:r>
              <a:rPr lang="en-US" altLang="zh-CN" sz="3200" dirty="0">
                <a:latin typeface="微软雅黑" pitchFamily="34" charset="-122"/>
                <a:ea typeface="微软雅黑" pitchFamily="34" charset="-122"/>
                <a:cs typeface="经典粗黑简" pitchFamily="49" charset="-122"/>
              </a:rPr>
              <a:t>, a</a:t>
            </a:r>
            <a:r>
              <a:rPr lang="en-US" altLang="zh-CN" sz="3200" baseline="-25000" dirty="0">
                <a:latin typeface="微软雅黑" pitchFamily="34" charset="-122"/>
                <a:ea typeface="微软雅黑" pitchFamily="34" charset="-122"/>
                <a:cs typeface="经典粗黑简" pitchFamily="49" charset="-122"/>
              </a:rPr>
              <a:t>2</a:t>
            </a:r>
            <a:r>
              <a:rPr lang="en-US" altLang="zh-CN" sz="3200" dirty="0">
                <a:latin typeface="微软雅黑" pitchFamily="34" charset="-122"/>
                <a:ea typeface="微软雅黑" pitchFamily="34" charset="-122"/>
                <a:cs typeface="经典粗黑简" pitchFamily="49" charset="-122"/>
              </a:rPr>
              <a:t>, …, a</a:t>
            </a:r>
            <a:r>
              <a:rPr lang="en-US" altLang="zh-CN" sz="3200" baseline="-25000" dirty="0">
                <a:latin typeface="微软雅黑" pitchFamily="34" charset="-122"/>
                <a:ea typeface="微软雅黑" pitchFamily="34" charset="-122"/>
                <a:cs typeface="经典粗黑简" pitchFamily="49" charset="-122"/>
              </a:rPr>
              <a:t>i-1</a:t>
            </a:r>
            <a:r>
              <a:rPr lang="en-US" altLang="zh-CN" sz="3200" dirty="0">
                <a:latin typeface="微软雅黑" pitchFamily="34" charset="-122"/>
                <a:ea typeface="微软雅黑" pitchFamily="34" charset="-122"/>
                <a:cs typeface="经典粗黑简" pitchFamily="49" charset="-122"/>
              </a:rPr>
              <a:t>, </a:t>
            </a:r>
            <a:r>
              <a:rPr lang="en-US" altLang="zh-CN" sz="3200" dirty="0" err="1">
                <a:latin typeface="微软雅黑" pitchFamily="34" charset="-122"/>
                <a:ea typeface="微软雅黑" pitchFamily="34" charset="-122"/>
                <a:cs typeface="经典粗黑简" pitchFamily="49" charset="-122"/>
              </a:rPr>
              <a:t>a</a:t>
            </a:r>
            <a:r>
              <a:rPr lang="en-US" altLang="zh-CN" sz="3200" baseline="-25000" dirty="0" err="1">
                <a:latin typeface="微软雅黑" pitchFamily="34" charset="-122"/>
                <a:ea typeface="微软雅黑" pitchFamily="34" charset="-122"/>
                <a:cs typeface="经典粗黑简" pitchFamily="49" charset="-122"/>
              </a:rPr>
              <a:t>i</a:t>
            </a:r>
            <a:r>
              <a:rPr lang="en-US" altLang="zh-CN" sz="3200" dirty="0">
                <a:latin typeface="微软雅黑" pitchFamily="34" charset="-122"/>
                <a:ea typeface="微软雅黑" pitchFamily="34" charset="-122"/>
                <a:cs typeface="经典粗黑简" pitchFamily="49" charset="-122"/>
              </a:rPr>
              <a:t>, a</a:t>
            </a:r>
            <a:r>
              <a:rPr lang="en-US" altLang="zh-CN" sz="3200" baseline="-25000" dirty="0">
                <a:latin typeface="微软雅黑" pitchFamily="34" charset="-122"/>
                <a:ea typeface="微软雅黑" pitchFamily="34" charset="-122"/>
                <a:cs typeface="经典粗黑简" pitchFamily="49" charset="-122"/>
              </a:rPr>
              <a:t>i＋1</a:t>
            </a:r>
            <a:r>
              <a:rPr lang="en-US" altLang="zh-CN" sz="3200" dirty="0">
                <a:latin typeface="微软雅黑" pitchFamily="34" charset="-122"/>
                <a:ea typeface="微软雅黑" pitchFamily="34" charset="-122"/>
                <a:cs typeface="经典粗黑简" pitchFamily="49" charset="-122"/>
              </a:rPr>
              <a:t>, …, a</a:t>
            </a:r>
            <a:r>
              <a:rPr lang="en-US" altLang="zh-CN" sz="3200" baseline="-25000" dirty="0">
                <a:latin typeface="微软雅黑" pitchFamily="34" charset="-122"/>
                <a:ea typeface="微软雅黑" pitchFamily="34" charset="-122"/>
                <a:cs typeface="经典粗黑简" pitchFamily="49" charset="-122"/>
              </a:rPr>
              <a:t>n</a:t>
            </a:r>
            <a:r>
              <a:rPr lang="en-US" altLang="zh-CN" sz="3600" dirty="0">
                <a:latin typeface="微软雅黑" pitchFamily="34" charset="-122"/>
                <a:ea typeface="微软雅黑" pitchFamily="34" charset="-122"/>
                <a:cs typeface="经典粗黑简" pitchFamily="49" charset="-122"/>
              </a:rPr>
              <a:t>)</a:t>
            </a:r>
          </a:p>
        </p:txBody>
      </p:sp>
      <p:sp>
        <p:nvSpPr>
          <p:cNvPr id="31" name="矩形 30"/>
          <p:cNvSpPr/>
          <p:nvPr/>
        </p:nvSpPr>
        <p:spPr>
          <a:xfrm>
            <a:off x="579447" y="2518682"/>
            <a:ext cx="1415772"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线性表：</a:t>
            </a:r>
          </a:p>
        </p:txBody>
      </p:sp>
      <p:sp>
        <p:nvSpPr>
          <p:cNvPr id="32" name="Line 20"/>
          <p:cNvSpPr>
            <a:spLocks noChangeShapeType="1"/>
          </p:cNvSpPr>
          <p:nvPr/>
        </p:nvSpPr>
        <p:spPr bwMode="auto">
          <a:xfrm flipV="1">
            <a:off x="6932099" y="3044693"/>
            <a:ext cx="0" cy="400050"/>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pPr>
              <a:defRPr/>
            </a:pPr>
            <a:endParaRPr lang="zh-CN" altLang="en-US"/>
          </a:p>
        </p:txBody>
      </p:sp>
      <p:sp>
        <p:nvSpPr>
          <p:cNvPr id="33" name="Line 21"/>
          <p:cNvSpPr>
            <a:spLocks noChangeShapeType="1"/>
          </p:cNvSpPr>
          <p:nvPr/>
        </p:nvSpPr>
        <p:spPr bwMode="auto">
          <a:xfrm flipH="1" flipV="1">
            <a:off x="870796" y="3025211"/>
            <a:ext cx="6061303" cy="19481"/>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4" name="Line 22"/>
          <p:cNvSpPr>
            <a:spLocks noChangeShapeType="1"/>
          </p:cNvSpPr>
          <p:nvPr/>
        </p:nvSpPr>
        <p:spPr bwMode="auto">
          <a:xfrm>
            <a:off x="882338" y="3032767"/>
            <a:ext cx="0" cy="290844"/>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5" name="Line 23"/>
          <p:cNvSpPr>
            <a:spLocks noChangeShapeType="1"/>
          </p:cNvSpPr>
          <p:nvPr/>
        </p:nvSpPr>
        <p:spPr bwMode="auto">
          <a:xfrm>
            <a:off x="882338" y="3323611"/>
            <a:ext cx="304800" cy="0"/>
          </a:xfrm>
          <a:prstGeom prst="line">
            <a:avLst/>
          </a:prstGeom>
          <a:ln w="19050">
            <a:solidFill>
              <a:schemeClr val="tx1"/>
            </a:solidFill>
            <a:headEnd/>
            <a:tailEnd type="triangle"/>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7" name="矩形 46"/>
          <p:cNvSpPr/>
          <p:nvPr/>
        </p:nvSpPr>
        <p:spPr>
          <a:xfrm>
            <a:off x="580011" y="1437625"/>
            <a:ext cx="8410473" cy="1015663"/>
          </a:xfrm>
          <a:prstGeom prst="rect">
            <a:avLst/>
          </a:prstGeom>
        </p:spPr>
        <p:txBody>
          <a:bodyPr wrap="square">
            <a:spAutoFit/>
          </a:bodyPr>
          <a:lstStyle/>
          <a:p>
            <a:r>
              <a:rPr lang="zh-CN" altLang="en-US" sz="2000" dirty="0">
                <a:solidFill>
                  <a:srgbClr val="FF0000"/>
                </a:solidFill>
                <a:latin typeface="微软雅黑" pitchFamily="34" charset="-122"/>
                <a:ea typeface="微软雅黑" pitchFamily="34" charset="-122"/>
                <a:cs typeface="经典粗黑简" pitchFamily="49" charset="-122"/>
              </a:rPr>
              <a:t>循环链表</a:t>
            </a:r>
            <a:r>
              <a:rPr lang="en-US" altLang="zh-CN" sz="2000" dirty="0">
                <a:solidFill>
                  <a:srgbClr val="FF0000"/>
                </a:solidFill>
                <a:latin typeface="微软雅黑" pitchFamily="34" charset="-122"/>
                <a:ea typeface="微软雅黑" pitchFamily="34" charset="-122"/>
                <a:cs typeface="经典粗黑简" pitchFamily="49" charset="-122"/>
              </a:rPr>
              <a:t>(Circular Linked List)</a:t>
            </a:r>
            <a:r>
              <a:rPr lang="zh-CN" altLang="en-US" sz="2000" dirty="0">
                <a:latin typeface="微软雅黑" pitchFamily="34" charset="-122"/>
                <a:ea typeface="微软雅黑" pitchFamily="34" charset="-122"/>
                <a:cs typeface="经典粗黑简" pitchFamily="49" charset="-122"/>
              </a:rPr>
              <a:t>是线性表另一种形式的链式存储结构，其特点是表中最后一个结点的指针域指向头结点，整个链表形成一个环。于是，从表中任何一个结点出发均可以找到其他结点。</a:t>
            </a:r>
          </a:p>
        </p:txBody>
      </p:sp>
      <p:sp>
        <p:nvSpPr>
          <p:cNvPr id="36" name="Line 29"/>
          <p:cNvSpPr>
            <a:spLocks noChangeShapeType="1"/>
          </p:cNvSpPr>
          <p:nvPr/>
        </p:nvSpPr>
        <p:spPr bwMode="auto">
          <a:xfrm flipH="1">
            <a:off x="7123342" y="3481761"/>
            <a:ext cx="378795" cy="38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Rectangle 228"/>
          <p:cNvSpPr>
            <a:spLocks noChangeArrowheads="1"/>
          </p:cNvSpPr>
          <p:nvPr/>
        </p:nvSpPr>
        <p:spPr bwMode="auto">
          <a:xfrm>
            <a:off x="7517222" y="3300428"/>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T</a:t>
            </a:r>
          </a:p>
        </p:txBody>
      </p:sp>
      <p:sp>
        <p:nvSpPr>
          <p:cNvPr id="38" name="Rectangle 55"/>
          <p:cNvSpPr>
            <a:spLocks noChangeArrowheads="1"/>
          </p:cNvSpPr>
          <p:nvPr/>
        </p:nvSpPr>
        <p:spPr bwMode="auto">
          <a:xfrm>
            <a:off x="2772705" y="3786594"/>
            <a:ext cx="3684348" cy="369332"/>
          </a:xfrm>
          <a:prstGeom prst="rect">
            <a:avLst/>
          </a:prstGeom>
          <a:noFill/>
          <a:ln>
            <a:noFill/>
          </a:ln>
        </p:spPr>
        <p:txBody>
          <a:bodyPr wrap="square" lIns="0" tIns="0" rIns="0" bIns="0" anchor="ctr">
            <a:spAutoFit/>
          </a:bodyPr>
          <a:lstStyle/>
          <a:p>
            <a:pPr marL="193675" lvl="1">
              <a:spcBef>
                <a:spcPct val="20000"/>
              </a:spcBef>
            </a:pPr>
            <a:r>
              <a:rPr lang="zh-CN" altLang="en-US" sz="2400" dirty="0">
                <a:latin typeface="微软雅黑" pitchFamily="34" charset="-122"/>
                <a:ea typeface="微软雅黑" pitchFamily="34" charset="-122"/>
                <a:cs typeface="经典粗黑简" pitchFamily="49" charset="-122"/>
              </a:rPr>
              <a:t>仅设立尾指针的循环链表</a:t>
            </a:r>
          </a:p>
        </p:txBody>
      </p:sp>
      <p:cxnSp>
        <p:nvCxnSpPr>
          <p:cNvPr id="3" name="直接连接符 2">
            <a:extLst>
              <a:ext uri="{FF2B5EF4-FFF2-40B4-BE49-F238E27FC236}">
                <a16:creationId xmlns:a16="http://schemas.microsoft.com/office/drawing/2014/main" id="{82ED907C-2AFB-1034-5140-091FF6ED2A93}"/>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F2A22D18-DAD4-DDDC-5A29-4509D5B5C38C}"/>
              </a:ext>
            </a:extLst>
          </p:cNvPr>
          <p:cNvSpPr/>
          <p:nvPr/>
        </p:nvSpPr>
        <p:spPr>
          <a:xfrm>
            <a:off x="395536" y="843558"/>
            <a:ext cx="302433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2.3.4 </a:t>
            </a:r>
            <a:r>
              <a:rPr lang="zh-CN" altLang="en-US" sz="2800" b="1" dirty="0">
                <a:solidFill>
                  <a:schemeClr val="bg1"/>
                </a:solidFill>
                <a:latin typeface="经典粗黑简" pitchFamily="49" charset="-122"/>
                <a:ea typeface="经典粗黑简" pitchFamily="49" charset="-122"/>
                <a:cs typeface="经典粗黑简" pitchFamily="49" charset="-122"/>
              </a:rPr>
              <a:t>循环链表</a:t>
            </a:r>
          </a:p>
        </p:txBody>
      </p:sp>
      <p:sp>
        <p:nvSpPr>
          <p:cNvPr id="5" name="Rectangle 2">
            <a:extLst>
              <a:ext uri="{FF2B5EF4-FFF2-40B4-BE49-F238E27FC236}">
                <a16:creationId xmlns:a16="http://schemas.microsoft.com/office/drawing/2014/main" id="{2FD56329-A362-44BD-9EC7-4A1A295844E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Tree>
    <p:extLst>
      <p:ext uri="{BB962C8B-B14F-4D97-AF65-F5344CB8AC3E}">
        <p14:creationId xmlns:p14="http://schemas.microsoft.com/office/powerpoint/2010/main" val="565920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346442" y="317297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4" name="Line 6"/>
          <p:cNvSpPr>
            <a:spLocks noChangeShapeType="1"/>
          </p:cNvSpPr>
          <p:nvPr/>
        </p:nvSpPr>
        <p:spPr bwMode="auto">
          <a:xfrm>
            <a:off x="2879842" y="317297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Rectangle 25"/>
          <p:cNvSpPr>
            <a:spLocks noChangeArrowheads="1"/>
          </p:cNvSpPr>
          <p:nvPr/>
        </p:nvSpPr>
        <p:spPr bwMode="auto">
          <a:xfrm>
            <a:off x="3503232" y="323556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6" name="Rectangle 36"/>
          <p:cNvSpPr>
            <a:spLocks noChangeArrowheads="1"/>
          </p:cNvSpPr>
          <p:nvPr/>
        </p:nvSpPr>
        <p:spPr bwMode="auto">
          <a:xfrm>
            <a:off x="5493112" y="325672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8" name="Line 29"/>
          <p:cNvSpPr>
            <a:spLocks noChangeShapeType="1"/>
          </p:cNvSpPr>
          <p:nvPr/>
        </p:nvSpPr>
        <p:spPr bwMode="auto">
          <a:xfrm>
            <a:off x="3141099" y="343252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Rectangle 5"/>
          <p:cNvSpPr>
            <a:spLocks noChangeArrowheads="1"/>
          </p:cNvSpPr>
          <p:nvPr/>
        </p:nvSpPr>
        <p:spPr bwMode="auto">
          <a:xfrm>
            <a:off x="4116515" y="3183597"/>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0" name="Line 6"/>
          <p:cNvSpPr>
            <a:spLocks noChangeShapeType="1"/>
          </p:cNvSpPr>
          <p:nvPr/>
        </p:nvSpPr>
        <p:spPr bwMode="auto">
          <a:xfrm>
            <a:off x="4853088" y="3178221"/>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9"/>
          <p:cNvSpPr>
            <a:spLocks noChangeShapeType="1"/>
          </p:cNvSpPr>
          <p:nvPr/>
        </p:nvSpPr>
        <p:spPr bwMode="auto">
          <a:xfrm>
            <a:off x="3818165" y="3422299"/>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9"/>
          <p:cNvSpPr>
            <a:spLocks noChangeShapeType="1"/>
          </p:cNvSpPr>
          <p:nvPr/>
        </p:nvSpPr>
        <p:spPr bwMode="auto">
          <a:xfrm>
            <a:off x="5128274" y="344959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Rectangle 5"/>
          <p:cNvSpPr>
            <a:spLocks noChangeArrowheads="1"/>
          </p:cNvSpPr>
          <p:nvPr/>
        </p:nvSpPr>
        <p:spPr bwMode="auto">
          <a:xfrm>
            <a:off x="6208821" y="3183596"/>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endParaRPr lang="en-US" altLang="zh-CN" sz="2400" dirty="0"/>
          </a:p>
        </p:txBody>
      </p:sp>
      <p:sp>
        <p:nvSpPr>
          <p:cNvPr id="24" name="Line 6"/>
          <p:cNvSpPr>
            <a:spLocks noChangeShapeType="1"/>
          </p:cNvSpPr>
          <p:nvPr/>
        </p:nvSpPr>
        <p:spPr bwMode="auto">
          <a:xfrm>
            <a:off x="6742221" y="3183596"/>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9"/>
          <p:cNvSpPr>
            <a:spLocks noChangeShapeType="1"/>
          </p:cNvSpPr>
          <p:nvPr/>
        </p:nvSpPr>
        <p:spPr bwMode="auto">
          <a:xfrm>
            <a:off x="5827821" y="3437769"/>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5"/>
          <p:cNvSpPr>
            <a:spLocks noChangeArrowheads="1"/>
          </p:cNvSpPr>
          <p:nvPr/>
        </p:nvSpPr>
        <p:spPr bwMode="auto">
          <a:xfrm>
            <a:off x="1190834" y="3172974"/>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27" name="Line 6"/>
          <p:cNvSpPr>
            <a:spLocks noChangeShapeType="1"/>
          </p:cNvSpPr>
          <p:nvPr/>
        </p:nvSpPr>
        <p:spPr bwMode="auto">
          <a:xfrm>
            <a:off x="1724234" y="317297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9"/>
          <p:cNvSpPr>
            <a:spLocks noChangeShapeType="1"/>
          </p:cNvSpPr>
          <p:nvPr/>
        </p:nvSpPr>
        <p:spPr bwMode="auto">
          <a:xfrm>
            <a:off x="1985491" y="343252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矩形 29"/>
          <p:cNvSpPr/>
          <p:nvPr/>
        </p:nvSpPr>
        <p:spPr>
          <a:xfrm>
            <a:off x="1190834" y="2432385"/>
            <a:ext cx="6154420" cy="590931"/>
          </a:xfrm>
          <a:prstGeom prst="rect">
            <a:avLst/>
          </a:prstGeom>
        </p:spPr>
        <p:txBody>
          <a:bodyPr wrap="square">
            <a:spAutoFit/>
          </a:bodyPr>
          <a:lstStyle/>
          <a:p>
            <a:pPr lvl="1">
              <a:lnSpc>
                <a:spcPct val="90000"/>
              </a:lnSpc>
            </a:pPr>
            <a:r>
              <a:rPr lang="zh-CN" altLang="en-US" sz="3600" dirty="0">
                <a:latin typeface="微软雅黑" pitchFamily="34" charset="-122"/>
                <a:ea typeface="微软雅黑" pitchFamily="34" charset="-122"/>
                <a:cs typeface="经典粗黑简" pitchFamily="49" charset="-122"/>
              </a:rPr>
              <a:t>(</a:t>
            </a:r>
            <a:r>
              <a:rPr lang="en-US" altLang="zh-CN" sz="3200" dirty="0">
                <a:latin typeface="微软雅黑" pitchFamily="34" charset="-122"/>
                <a:ea typeface="微软雅黑" pitchFamily="34" charset="-122"/>
                <a:cs typeface="经典粗黑简" pitchFamily="49" charset="-122"/>
              </a:rPr>
              <a:t>a</a:t>
            </a:r>
            <a:r>
              <a:rPr lang="en-US" altLang="zh-CN" sz="3200" baseline="-25000" dirty="0">
                <a:latin typeface="微软雅黑" pitchFamily="34" charset="-122"/>
                <a:ea typeface="微软雅黑" pitchFamily="34" charset="-122"/>
                <a:cs typeface="经典粗黑简" pitchFamily="49" charset="-122"/>
              </a:rPr>
              <a:t>1</a:t>
            </a:r>
            <a:r>
              <a:rPr lang="en-US" altLang="zh-CN" sz="3200" dirty="0">
                <a:latin typeface="微软雅黑" pitchFamily="34" charset="-122"/>
                <a:ea typeface="微软雅黑" pitchFamily="34" charset="-122"/>
                <a:cs typeface="经典粗黑简" pitchFamily="49" charset="-122"/>
              </a:rPr>
              <a:t>, a</a:t>
            </a:r>
            <a:r>
              <a:rPr lang="en-US" altLang="zh-CN" sz="3200" baseline="-25000" dirty="0">
                <a:latin typeface="微软雅黑" pitchFamily="34" charset="-122"/>
                <a:ea typeface="微软雅黑" pitchFamily="34" charset="-122"/>
                <a:cs typeface="经典粗黑简" pitchFamily="49" charset="-122"/>
              </a:rPr>
              <a:t>2</a:t>
            </a:r>
            <a:r>
              <a:rPr lang="en-US" altLang="zh-CN" sz="3200" dirty="0">
                <a:latin typeface="微软雅黑" pitchFamily="34" charset="-122"/>
                <a:ea typeface="微软雅黑" pitchFamily="34" charset="-122"/>
                <a:cs typeface="经典粗黑简" pitchFamily="49" charset="-122"/>
              </a:rPr>
              <a:t>, …, a</a:t>
            </a:r>
            <a:r>
              <a:rPr lang="en-US" altLang="zh-CN" sz="3200" baseline="-25000" dirty="0">
                <a:latin typeface="微软雅黑" pitchFamily="34" charset="-122"/>
                <a:ea typeface="微软雅黑" pitchFamily="34" charset="-122"/>
                <a:cs typeface="经典粗黑简" pitchFamily="49" charset="-122"/>
              </a:rPr>
              <a:t>i-1</a:t>
            </a:r>
            <a:r>
              <a:rPr lang="en-US" altLang="zh-CN" sz="3200" dirty="0">
                <a:latin typeface="微软雅黑" pitchFamily="34" charset="-122"/>
                <a:ea typeface="微软雅黑" pitchFamily="34" charset="-122"/>
                <a:cs typeface="经典粗黑简" pitchFamily="49" charset="-122"/>
              </a:rPr>
              <a:t>, </a:t>
            </a:r>
            <a:r>
              <a:rPr lang="en-US" altLang="zh-CN" sz="3200" dirty="0" err="1">
                <a:latin typeface="微软雅黑" pitchFamily="34" charset="-122"/>
                <a:ea typeface="微软雅黑" pitchFamily="34" charset="-122"/>
                <a:cs typeface="经典粗黑简" pitchFamily="49" charset="-122"/>
              </a:rPr>
              <a:t>a</a:t>
            </a:r>
            <a:r>
              <a:rPr lang="en-US" altLang="zh-CN" sz="3200" baseline="-25000" dirty="0" err="1">
                <a:latin typeface="微软雅黑" pitchFamily="34" charset="-122"/>
                <a:ea typeface="微软雅黑" pitchFamily="34" charset="-122"/>
                <a:cs typeface="经典粗黑简" pitchFamily="49" charset="-122"/>
              </a:rPr>
              <a:t>i</a:t>
            </a:r>
            <a:r>
              <a:rPr lang="en-US" altLang="zh-CN" sz="3200" dirty="0">
                <a:latin typeface="微软雅黑" pitchFamily="34" charset="-122"/>
                <a:ea typeface="微软雅黑" pitchFamily="34" charset="-122"/>
                <a:cs typeface="经典粗黑简" pitchFamily="49" charset="-122"/>
              </a:rPr>
              <a:t>, a</a:t>
            </a:r>
            <a:r>
              <a:rPr lang="en-US" altLang="zh-CN" sz="3200" baseline="-25000" dirty="0">
                <a:latin typeface="微软雅黑" pitchFamily="34" charset="-122"/>
                <a:ea typeface="微软雅黑" pitchFamily="34" charset="-122"/>
                <a:cs typeface="经典粗黑简" pitchFamily="49" charset="-122"/>
              </a:rPr>
              <a:t>i＋1</a:t>
            </a:r>
            <a:r>
              <a:rPr lang="en-US" altLang="zh-CN" sz="3200" dirty="0">
                <a:latin typeface="微软雅黑" pitchFamily="34" charset="-122"/>
                <a:ea typeface="微软雅黑" pitchFamily="34" charset="-122"/>
                <a:cs typeface="经典粗黑简" pitchFamily="49" charset="-122"/>
              </a:rPr>
              <a:t>, …, a</a:t>
            </a:r>
            <a:r>
              <a:rPr lang="en-US" altLang="zh-CN" sz="3200" baseline="-25000" dirty="0">
                <a:latin typeface="微软雅黑" pitchFamily="34" charset="-122"/>
                <a:ea typeface="微软雅黑" pitchFamily="34" charset="-122"/>
                <a:cs typeface="经典粗黑简" pitchFamily="49" charset="-122"/>
              </a:rPr>
              <a:t>n</a:t>
            </a:r>
            <a:r>
              <a:rPr lang="en-US" altLang="zh-CN" sz="3600" dirty="0">
                <a:latin typeface="微软雅黑" pitchFamily="34" charset="-122"/>
                <a:ea typeface="微软雅黑" pitchFamily="34" charset="-122"/>
                <a:cs typeface="经典粗黑简" pitchFamily="49" charset="-122"/>
              </a:rPr>
              <a:t>)</a:t>
            </a:r>
          </a:p>
        </p:txBody>
      </p:sp>
      <p:sp>
        <p:nvSpPr>
          <p:cNvPr id="31" name="矩形 30"/>
          <p:cNvSpPr/>
          <p:nvPr/>
        </p:nvSpPr>
        <p:spPr>
          <a:xfrm>
            <a:off x="579447" y="2480860"/>
            <a:ext cx="1415772"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线性表：</a:t>
            </a:r>
          </a:p>
        </p:txBody>
      </p:sp>
      <p:sp>
        <p:nvSpPr>
          <p:cNvPr id="32" name="Line 20"/>
          <p:cNvSpPr>
            <a:spLocks noChangeShapeType="1"/>
          </p:cNvSpPr>
          <p:nvPr/>
        </p:nvSpPr>
        <p:spPr bwMode="auto">
          <a:xfrm flipV="1">
            <a:off x="6932099" y="3006871"/>
            <a:ext cx="0" cy="400050"/>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pPr>
              <a:defRPr/>
            </a:pPr>
            <a:endParaRPr lang="zh-CN" altLang="en-US"/>
          </a:p>
        </p:txBody>
      </p:sp>
      <p:sp>
        <p:nvSpPr>
          <p:cNvPr id="33" name="Line 21"/>
          <p:cNvSpPr>
            <a:spLocks noChangeShapeType="1"/>
          </p:cNvSpPr>
          <p:nvPr/>
        </p:nvSpPr>
        <p:spPr bwMode="auto">
          <a:xfrm flipH="1" flipV="1">
            <a:off x="870796" y="2987389"/>
            <a:ext cx="6061303" cy="19481"/>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4" name="Line 22"/>
          <p:cNvSpPr>
            <a:spLocks noChangeShapeType="1"/>
          </p:cNvSpPr>
          <p:nvPr/>
        </p:nvSpPr>
        <p:spPr bwMode="auto">
          <a:xfrm>
            <a:off x="882338" y="2994945"/>
            <a:ext cx="0" cy="290844"/>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5" name="Line 23"/>
          <p:cNvSpPr>
            <a:spLocks noChangeShapeType="1"/>
          </p:cNvSpPr>
          <p:nvPr/>
        </p:nvSpPr>
        <p:spPr bwMode="auto">
          <a:xfrm>
            <a:off x="882338" y="3285789"/>
            <a:ext cx="304800" cy="0"/>
          </a:xfrm>
          <a:prstGeom prst="line">
            <a:avLst/>
          </a:prstGeom>
          <a:ln w="19050">
            <a:solidFill>
              <a:schemeClr val="tx1"/>
            </a:solidFill>
            <a:headEnd/>
            <a:tailEnd type="triangle"/>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7" name="矩形 46"/>
          <p:cNvSpPr/>
          <p:nvPr/>
        </p:nvSpPr>
        <p:spPr>
          <a:xfrm>
            <a:off x="580011" y="1437625"/>
            <a:ext cx="8410473" cy="1015663"/>
          </a:xfrm>
          <a:prstGeom prst="rect">
            <a:avLst/>
          </a:prstGeom>
        </p:spPr>
        <p:txBody>
          <a:bodyPr wrap="square">
            <a:spAutoFit/>
          </a:bodyPr>
          <a:lstStyle/>
          <a:p>
            <a:r>
              <a:rPr lang="zh-CN" altLang="en-US" sz="2000" dirty="0">
                <a:solidFill>
                  <a:srgbClr val="FF0000"/>
                </a:solidFill>
                <a:latin typeface="微软雅黑" pitchFamily="34" charset="-122"/>
                <a:ea typeface="微软雅黑" pitchFamily="34" charset="-122"/>
                <a:cs typeface="经典粗黑简" pitchFamily="49" charset="-122"/>
              </a:rPr>
              <a:t>循环链表</a:t>
            </a:r>
            <a:r>
              <a:rPr lang="en-US" altLang="zh-CN" sz="2000" dirty="0">
                <a:solidFill>
                  <a:srgbClr val="FF0000"/>
                </a:solidFill>
                <a:latin typeface="微软雅黑" pitchFamily="34" charset="-122"/>
                <a:ea typeface="微软雅黑" pitchFamily="34" charset="-122"/>
                <a:cs typeface="经典粗黑简" pitchFamily="49" charset="-122"/>
              </a:rPr>
              <a:t>(Circular Linked List)</a:t>
            </a:r>
            <a:r>
              <a:rPr lang="zh-CN" altLang="en-US" sz="2000" dirty="0">
                <a:latin typeface="微软雅黑" pitchFamily="34" charset="-122"/>
                <a:ea typeface="微软雅黑" pitchFamily="34" charset="-122"/>
                <a:cs typeface="经典粗黑简" pitchFamily="49" charset="-122"/>
              </a:rPr>
              <a:t>是线性表另一种形式的链式存储结构，其特点是表中最后一个结点的指针域指向头结点，整个链表形成一个环。于是，从表中任何一个结点出发均可以找到其他结点。</a:t>
            </a:r>
          </a:p>
        </p:txBody>
      </p:sp>
      <p:sp>
        <p:nvSpPr>
          <p:cNvPr id="36" name="Line 29"/>
          <p:cNvSpPr>
            <a:spLocks noChangeShapeType="1"/>
          </p:cNvSpPr>
          <p:nvPr/>
        </p:nvSpPr>
        <p:spPr bwMode="auto">
          <a:xfrm flipH="1">
            <a:off x="7123342" y="3443939"/>
            <a:ext cx="378795" cy="38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Rectangle 228"/>
          <p:cNvSpPr>
            <a:spLocks noChangeArrowheads="1"/>
          </p:cNvSpPr>
          <p:nvPr/>
        </p:nvSpPr>
        <p:spPr bwMode="auto">
          <a:xfrm>
            <a:off x="7517222" y="3262606"/>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T</a:t>
            </a:r>
          </a:p>
        </p:txBody>
      </p:sp>
      <p:sp>
        <p:nvSpPr>
          <p:cNvPr id="38" name="Rectangle 55"/>
          <p:cNvSpPr>
            <a:spLocks noChangeArrowheads="1"/>
          </p:cNvSpPr>
          <p:nvPr/>
        </p:nvSpPr>
        <p:spPr bwMode="auto">
          <a:xfrm>
            <a:off x="2772705" y="3699342"/>
            <a:ext cx="3684348" cy="307777"/>
          </a:xfrm>
          <a:prstGeom prst="rect">
            <a:avLst/>
          </a:prstGeom>
          <a:noFill/>
          <a:ln>
            <a:noFill/>
          </a:ln>
        </p:spPr>
        <p:txBody>
          <a:bodyPr wrap="square" lIns="0" tIns="0" rIns="0" bIns="0" anchor="ctr">
            <a:spAutoFit/>
          </a:bodyPr>
          <a:lstStyle/>
          <a:p>
            <a:pPr marL="193675" lvl="1">
              <a:spcBef>
                <a:spcPct val="20000"/>
              </a:spcBef>
            </a:pPr>
            <a:r>
              <a:rPr lang="zh-CN" altLang="en-US" sz="2000" dirty="0">
                <a:latin typeface="微软雅黑" pitchFamily="34" charset="-122"/>
                <a:ea typeface="微软雅黑" pitchFamily="34" charset="-122"/>
                <a:cs typeface="经典粗黑简" pitchFamily="49" charset="-122"/>
              </a:rPr>
              <a:t>仅设立尾指针的循环链表</a:t>
            </a:r>
          </a:p>
        </p:txBody>
      </p:sp>
      <p:sp>
        <p:nvSpPr>
          <p:cNvPr id="39" name="Rectangle 55"/>
          <p:cNvSpPr>
            <a:spLocks noChangeArrowheads="1"/>
          </p:cNvSpPr>
          <p:nvPr/>
        </p:nvSpPr>
        <p:spPr bwMode="auto">
          <a:xfrm>
            <a:off x="366403" y="3969372"/>
            <a:ext cx="4874720" cy="307777"/>
          </a:xfrm>
          <a:prstGeom prst="rect">
            <a:avLst/>
          </a:prstGeom>
          <a:noFill/>
          <a:ln>
            <a:noFill/>
          </a:ln>
        </p:spPr>
        <p:txBody>
          <a:bodyPr wrap="square" lIns="0" tIns="0" rIns="0" bIns="0" anchor="ctr">
            <a:spAutoFit/>
          </a:bodyPr>
          <a:lstStyle/>
          <a:p>
            <a:pPr marL="193675" lvl="1">
              <a:spcBef>
                <a:spcPct val="20000"/>
              </a:spcBef>
            </a:pPr>
            <a:r>
              <a:rPr lang="zh-CN" altLang="en-US" sz="2000" dirty="0">
                <a:latin typeface="微软雅黑" pitchFamily="34" charset="-122"/>
                <a:ea typeface="微软雅黑" pitchFamily="34" charset="-122"/>
                <a:cs typeface="经典粗黑简" pitchFamily="49" charset="-122"/>
              </a:rPr>
              <a:t>设立尾指针循环链表的特点：</a:t>
            </a:r>
          </a:p>
        </p:txBody>
      </p:sp>
      <p:sp>
        <p:nvSpPr>
          <p:cNvPr id="40" name="矩形 39"/>
          <p:cNvSpPr/>
          <p:nvPr/>
        </p:nvSpPr>
        <p:spPr>
          <a:xfrm>
            <a:off x="1058663" y="4247821"/>
            <a:ext cx="5057795" cy="400110"/>
          </a:xfrm>
          <a:prstGeom prst="rect">
            <a:avLst/>
          </a:prstGeom>
        </p:spPr>
        <p:txBody>
          <a:bodyPr wrap="none">
            <a:spAutoFit/>
          </a:bodyPr>
          <a:lstStyle/>
          <a:p>
            <a:r>
              <a:rPr lang="zh-CN" altLang="en-US" sz="2000" dirty="0">
                <a:latin typeface="微软雅黑" pitchFamily="34" charset="-122"/>
                <a:ea typeface="微软雅黑" pitchFamily="34" charset="-122"/>
                <a:cs typeface="经典粗黑简" pitchFamily="49" charset="-122"/>
              </a:rPr>
              <a:t>①、通过表尾指针可以一步得到表头指针；</a:t>
            </a:r>
          </a:p>
        </p:txBody>
      </p:sp>
      <p:sp>
        <p:nvSpPr>
          <p:cNvPr id="41" name="矩形 40"/>
          <p:cNvSpPr/>
          <p:nvPr/>
        </p:nvSpPr>
        <p:spPr>
          <a:xfrm>
            <a:off x="1067301" y="4547904"/>
            <a:ext cx="7969196"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②、对于简单的两个表的合并可以通过简单操作完成，</a:t>
            </a:r>
            <a:r>
              <a:rPr lang="en-US" altLang="zh-CN" sz="2000" dirty="0">
                <a:latin typeface="微软雅黑" pitchFamily="34" charset="-122"/>
                <a:ea typeface="微软雅黑" pitchFamily="34" charset="-122"/>
                <a:cs typeface="经典粗黑简" pitchFamily="49" charset="-122"/>
              </a:rPr>
              <a:t>T(n)=O(1</a:t>
            </a:r>
            <a:r>
              <a:rPr lang="zh-CN" altLang="en-US" sz="2000" dirty="0">
                <a:latin typeface="微软雅黑" pitchFamily="34" charset="-122"/>
                <a:ea typeface="微软雅黑" pitchFamily="34" charset="-122"/>
                <a:cs typeface="经典粗黑简" pitchFamily="49" charset="-122"/>
              </a:rPr>
              <a:t>）；</a:t>
            </a:r>
          </a:p>
        </p:txBody>
      </p:sp>
      <p:cxnSp>
        <p:nvCxnSpPr>
          <p:cNvPr id="3" name="直接连接符 2">
            <a:extLst>
              <a:ext uri="{FF2B5EF4-FFF2-40B4-BE49-F238E27FC236}">
                <a16:creationId xmlns:a16="http://schemas.microsoft.com/office/drawing/2014/main" id="{0E1A0797-36B2-2D81-F72C-41565BB3E41D}"/>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6977ED29-4E97-8D5D-EE86-D3E27C7FF224}"/>
              </a:ext>
            </a:extLst>
          </p:cNvPr>
          <p:cNvSpPr/>
          <p:nvPr/>
        </p:nvSpPr>
        <p:spPr>
          <a:xfrm>
            <a:off x="395536" y="843558"/>
            <a:ext cx="302433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2.3.4 </a:t>
            </a:r>
            <a:r>
              <a:rPr lang="zh-CN" altLang="en-US" sz="2800" b="1" dirty="0">
                <a:solidFill>
                  <a:schemeClr val="bg1"/>
                </a:solidFill>
                <a:latin typeface="经典粗黑简" pitchFamily="49" charset="-122"/>
                <a:ea typeface="经典粗黑简" pitchFamily="49" charset="-122"/>
                <a:cs typeface="经典粗黑简" pitchFamily="49" charset="-122"/>
              </a:rPr>
              <a:t>循环链表</a:t>
            </a:r>
          </a:p>
        </p:txBody>
      </p:sp>
      <p:sp>
        <p:nvSpPr>
          <p:cNvPr id="5" name="Rectangle 2">
            <a:extLst>
              <a:ext uri="{FF2B5EF4-FFF2-40B4-BE49-F238E27FC236}">
                <a16:creationId xmlns:a16="http://schemas.microsoft.com/office/drawing/2014/main" id="{FBFE09FA-3076-2187-EE29-7D7FD83DB30F}"/>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Tree>
    <p:extLst>
      <p:ext uri="{BB962C8B-B14F-4D97-AF65-F5344CB8AC3E}">
        <p14:creationId xmlns:p14="http://schemas.microsoft.com/office/powerpoint/2010/main" val="3322184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40" grpId="0"/>
      <p:bldP spid="41"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ED0EC-DDEB-C3CF-6898-F0F1E11793BF}"/>
            </a:ext>
          </a:extLst>
        </p:cNvPr>
        <p:cNvGrpSpPr/>
        <p:nvPr/>
      </p:nvGrpSpPr>
      <p:grpSpPr>
        <a:xfrm>
          <a:off x="0" y="0"/>
          <a:ext cx="0" cy="0"/>
          <a:chOff x="0" y="0"/>
          <a:chExt cx="0" cy="0"/>
        </a:xfrm>
      </p:grpSpPr>
      <p:cxnSp>
        <p:nvCxnSpPr>
          <p:cNvPr id="3" name="直接连接符 2">
            <a:extLst>
              <a:ext uri="{FF2B5EF4-FFF2-40B4-BE49-F238E27FC236}">
                <a16:creationId xmlns:a16="http://schemas.microsoft.com/office/drawing/2014/main" id="{1E9EB16E-48BB-6973-5C4F-3F9FB3302BE5}"/>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56530AC3-02C6-0D0E-BD7D-5471B797F7C9}"/>
              </a:ext>
            </a:extLst>
          </p:cNvPr>
          <p:cNvSpPr/>
          <p:nvPr/>
        </p:nvSpPr>
        <p:spPr>
          <a:xfrm>
            <a:off x="395536" y="843558"/>
            <a:ext cx="302433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2.3.4 </a:t>
            </a:r>
            <a:r>
              <a:rPr lang="zh-CN" altLang="en-US" sz="2800" b="1" dirty="0">
                <a:solidFill>
                  <a:schemeClr val="bg1"/>
                </a:solidFill>
                <a:latin typeface="经典粗黑简" pitchFamily="49" charset="-122"/>
                <a:ea typeface="经典粗黑简" pitchFamily="49" charset="-122"/>
                <a:cs typeface="经典粗黑简" pitchFamily="49" charset="-122"/>
              </a:rPr>
              <a:t>循环链表</a:t>
            </a:r>
          </a:p>
        </p:txBody>
      </p:sp>
      <p:sp>
        <p:nvSpPr>
          <p:cNvPr id="5" name="Rectangle 2">
            <a:extLst>
              <a:ext uri="{FF2B5EF4-FFF2-40B4-BE49-F238E27FC236}">
                <a16:creationId xmlns:a16="http://schemas.microsoft.com/office/drawing/2014/main" id="{0B9D6E1A-3D34-02F0-6C3F-0EE65BB2CEFE}"/>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
        <p:nvSpPr>
          <p:cNvPr id="2" name="TextBox 3">
            <a:extLst>
              <a:ext uri="{FF2B5EF4-FFF2-40B4-BE49-F238E27FC236}">
                <a16:creationId xmlns:a16="http://schemas.microsoft.com/office/drawing/2014/main" id="{22E5EE68-160C-1AD1-2BB0-2A6036C4B24C}"/>
              </a:ext>
            </a:extLst>
          </p:cNvPr>
          <p:cNvSpPr txBox="1"/>
          <p:nvPr/>
        </p:nvSpPr>
        <p:spPr>
          <a:xfrm>
            <a:off x="971600" y="1398796"/>
            <a:ext cx="7488832" cy="1978490"/>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gn="l">
              <a:lnSpc>
                <a:spcPts val="2500"/>
              </a:lnSpc>
            </a:pPr>
            <a:r>
              <a:rPr kumimoji="1" lang="en-US" altLang="zh-CN" sz="2000" dirty="0">
                <a:solidFill>
                  <a:srgbClr val="FF3300"/>
                </a:solidFill>
                <a:latin typeface="Consolas" pitchFamily="49" charset="0"/>
                <a:ea typeface="楷体" pitchFamily="49" charset="-122"/>
                <a:cs typeface="Consolas" pitchFamily="49" charset="0"/>
              </a:rPr>
              <a:t>   </a:t>
            </a:r>
            <a:r>
              <a:rPr lang="zh-CN" altLang="en-US" sz="1400" dirty="0">
                <a:latin typeface="微软雅黑" pitchFamily="34" charset="-122"/>
                <a:ea typeface="微软雅黑" pitchFamily="34" charset="-122"/>
                <a:cs typeface="经典粗黑简" pitchFamily="49" charset="-122"/>
              </a:rPr>
              <a:t>某线性表最常用的操作是在尾元素之后插入一个元素和删除第一个元素，故采用（  ）存储方式最节省运算时间。</a:t>
            </a:r>
          </a:p>
          <a:p>
            <a:pPr algn="l">
              <a:lnSpc>
                <a:spcPts val="2500"/>
              </a:lnSpc>
            </a:pPr>
            <a:r>
              <a:rPr lang="en-US" sz="1400" dirty="0">
                <a:latin typeface="微软雅黑" pitchFamily="34" charset="-122"/>
                <a:ea typeface="微软雅黑" pitchFamily="34" charset="-122"/>
                <a:cs typeface="经典粗黑简" pitchFamily="49" charset="-122"/>
              </a:rPr>
              <a:t>    A.</a:t>
            </a:r>
            <a:r>
              <a:rPr lang="zh-CN" altLang="en-US" sz="1400" dirty="0">
                <a:latin typeface="微软雅黑" pitchFamily="34" charset="-122"/>
                <a:ea typeface="微软雅黑" pitchFamily="34" charset="-122"/>
                <a:cs typeface="经典粗黑简" pitchFamily="49" charset="-122"/>
              </a:rPr>
              <a:t>单链表</a:t>
            </a:r>
            <a:endParaRPr lang="en-US" sz="1400" dirty="0">
              <a:latin typeface="微软雅黑" pitchFamily="34" charset="-122"/>
              <a:ea typeface="微软雅黑" pitchFamily="34" charset="-122"/>
              <a:cs typeface="经典粗黑简" pitchFamily="49" charset="-122"/>
            </a:endParaRPr>
          </a:p>
          <a:p>
            <a:pPr algn="l">
              <a:lnSpc>
                <a:spcPts val="2500"/>
              </a:lnSpc>
            </a:pPr>
            <a:r>
              <a:rPr lang="en-US" sz="1400" dirty="0">
                <a:latin typeface="微软雅黑" pitchFamily="34" charset="-122"/>
                <a:ea typeface="微软雅黑" pitchFamily="34" charset="-122"/>
                <a:cs typeface="经典粗黑简" pitchFamily="49" charset="-122"/>
              </a:rPr>
              <a:t>    B.</a:t>
            </a:r>
            <a:r>
              <a:rPr lang="zh-CN" altLang="en-US" sz="1400" dirty="0">
                <a:latin typeface="微软雅黑" pitchFamily="34" charset="-122"/>
                <a:ea typeface="微软雅黑" pitchFamily="34" charset="-122"/>
                <a:cs typeface="经典粗黑简" pitchFamily="49" charset="-122"/>
              </a:rPr>
              <a:t>仅有头结点指针的循环单链表</a:t>
            </a:r>
          </a:p>
          <a:p>
            <a:pPr algn="l">
              <a:lnSpc>
                <a:spcPts val="2500"/>
              </a:lnSpc>
            </a:pPr>
            <a:r>
              <a:rPr lang="en-US" sz="1400" dirty="0">
                <a:latin typeface="微软雅黑" pitchFamily="34" charset="-122"/>
                <a:ea typeface="微软雅黑" pitchFamily="34" charset="-122"/>
                <a:cs typeface="经典粗黑简" pitchFamily="49" charset="-122"/>
              </a:rPr>
              <a:t>    C.</a:t>
            </a:r>
            <a:r>
              <a:rPr lang="zh-CN" altLang="en-US" sz="1400" dirty="0">
                <a:latin typeface="微软雅黑" pitchFamily="34" charset="-122"/>
                <a:ea typeface="微软雅黑" pitchFamily="34" charset="-122"/>
                <a:cs typeface="经典粗黑简" pitchFamily="49" charset="-122"/>
              </a:rPr>
              <a:t>双链表</a:t>
            </a:r>
            <a:endParaRPr lang="en-US" sz="1400" dirty="0">
              <a:latin typeface="微软雅黑" pitchFamily="34" charset="-122"/>
              <a:ea typeface="微软雅黑" pitchFamily="34" charset="-122"/>
              <a:cs typeface="经典粗黑简" pitchFamily="49" charset="-122"/>
            </a:endParaRPr>
          </a:p>
          <a:p>
            <a:pPr algn="l">
              <a:lnSpc>
                <a:spcPts val="2500"/>
              </a:lnSpc>
            </a:pPr>
            <a:r>
              <a:rPr lang="en-US" sz="1400" dirty="0">
                <a:latin typeface="微软雅黑" pitchFamily="34" charset="-122"/>
                <a:ea typeface="微软雅黑" pitchFamily="34" charset="-122"/>
                <a:cs typeface="经典粗黑简" pitchFamily="49" charset="-122"/>
              </a:rPr>
              <a:t>    </a:t>
            </a:r>
            <a:r>
              <a:rPr lang="en-US" sz="1400" dirty="0">
                <a:solidFill>
                  <a:srgbClr val="FF0000"/>
                </a:solidFill>
                <a:latin typeface="微软雅黑" pitchFamily="34" charset="-122"/>
                <a:ea typeface="微软雅黑" pitchFamily="34" charset="-122"/>
                <a:cs typeface="经典粗黑简" pitchFamily="49" charset="-122"/>
              </a:rPr>
              <a:t>D.</a:t>
            </a:r>
            <a:r>
              <a:rPr lang="zh-CN" altLang="en-US" sz="1400" dirty="0">
                <a:solidFill>
                  <a:srgbClr val="FF0000"/>
                </a:solidFill>
                <a:latin typeface="微软雅黑" pitchFamily="34" charset="-122"/>
                <a:ea typeface="微软雅黑" pitchFamily="34" charset="-122"/>
                <a:cs typeface="经典粗黑简" pitchFamily="49" charset="-122"/>
              </a:rPr>
              <a:t>仅有尾结点指针的循环单链表</a:t>
            </a:r>
          </a:p>
        </p:txBody>
      </p:sp>
      <p:sp>
        <p:nvSpPr>
          <p:cNvPr id="6" name="Rectangle 5">
            <a:extLst>
              <a:ext uri="{FF2B5EF4-FFF2-40B4-BE49-F238E27FC236}">
                <a16:creationId xmlns:a16="http://schemas.microsoft.com/office/drawing/2014/main" id="{4BC5FF0E-96B5-947A-5665-27A3965FD8B5}"/>
              </a:ext>
            </a:extLst>
          </p:cNvPr>
          <p:cNvSpPr>
            <a:spLocks noChangeArrowheads="1"/>
          </p:cNvSpPr>
          <p:nvPr/>
        </p:nvSpPr>
        <p:spPr bwMode="auto">
          <a:xfrm>
            <a:off x="2439646" y="395409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7" name="Line 6">
            <a:extLst>
              <a:ext uri="{FF2B5EF4-FFF2-40B4-BE49-F238E27FC236}">
                <a16:creationId xmlns:a16="http://schemas.microsoft.com/office/drawing/2014/main" id="{76843116-1993-A878-F645-9A7366A973F0}"/>
              </a:ext>
            </a:extLst>
          </p:cNvPr>
          <p:cNvSpPr>
            <a:spLocks noChangeShapeType="1"/>
          </p:cNvSpPr>
          <p:nvPr/>
        </p:nvSpPr>
        <p:spPr bwMode="auto">
          <a:xfrm>
            <a:off x="2973046" y="395409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Rectangle 25">
            <a:extLst>
              <a:ext uri="{FF2B5EF4-FFF2-40B4-BE49-F238E27FC236}">
                <a16:creationId xmlns:a16="http://schemas.microsoft.com/office/drawing/2014/main" id="{AAD18A87-243B-A6C8-034D-A80D96F9ECC3}"/>
              </a:ext>
            </a:extLst>
          </p:cNvPr>
          <p:cNvSpPr>
            <a:spLocks noChangeArrowheads="1"/>
          </p:cNvSpPr>
          <p:nvPr/>
        </p:nvSpPr>
        <p:spPr bwMode="auto">
          <a:xfrm>
            <a:off x="3596436" y="4016684"/>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9" name="Rectangle 36">
            <a:extLst>
              <a:ext uri="{FF2B5EF4-FFF2-40B4-BE49-F238E27FC236}">
                <a16:creationId xmlns:a16="http://schemas.microsoft.com/office/drawing/2014/main" id="{1A556B55-340C-38A0-C8F8-12F9C62ABC2F}"/>
              </a:ext>
            </a:extLst>
          </p:cNvPr>
          <p:cNvSpPr>
            <a:spLocks noChangeArrowheads="1"/>
          </p:cNvSpPr>
          <p:nvPr/>
        </p:nvSpPr>
        <p:spPr bwMode="auto">
          <a:xfrm>
            <a:off x="5586316" y="4037847"/>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0" name="Line 29">
            <a:extLst>
              <a:ext uri="{FF2B5EF4-FFF2-40B4-BE49-F238E27FC236}">
                <a16:creationId xmlns:a16="http://schemas.microsoft.com/office/drawing/2014/main" id="{6DFDF0A2-CCE9-47D2-DD2B-5D4EEF2AA4A5}"/>
              </a:ext>
            </a:extLst>
          </p:cNvPr>
          <p:cNvSpPr>
            <a:spLocks noChangeShapeType="1"/>
          </p:cNvSpPr>
          <p:nvPr/>
        </p:nvSpPr>
        <p:spPr bwMode="auto">
          <a:xfrm>
            <a:off x="3234303" y="4213645"/>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Rectangle 5">
            <a:extLst>
              <a:ext uri="{FF2B5EF4-FFF2-40B4-BE49-F238E27FC236}">
                <a16:creationId xmlns:a16="http://schemas.microsoft.com/office/drawing/2014/main" id="{799FC366-2D66-D9F5-7955-317E0C1D1C50}"/>
              </a:ext>
            </a:extLst>
          </p:cNvPr>
          <p:cNvSpPr>
            <a:spLocks noChangeArrowheads="1"/>
          </p:cNvSpPr>
          <p:nvPr/>
        </p:nvSpPr>
        <p:spPr bwMode="auto">
          <a:xfrm>
            <a:off x="4209719" y="3964721"/>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12" name="Line 6">
            <a:extLst>
              <a:ext uri="{FF2B5EF4-FFF2-40B4-BE49-F238E27FC236}">
                <a16:creationId xmlns:a16="http://schemas.microsoft.com/office/drawing/2014/main" id="{6806C044-0E67-FEC5-60BD-737AE3200220}"/>
              </a:ext>
            </a:extLst>
          </p:cNvPr>
          <p:cNvSpPr>
            <a:spLocks noChangeShapeType="1"/>
          </p:cNvSpPr>
          <p:nvPr/>
        </p:nvSpPr>
        <p:spPr bwMode="auto">
          <a:xfrm>
            <a:off x="4946292" y="3959345"/>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29">
            <a:extLst>
              <a:ext uri="{FF2B5EF4-FFF2-40B4-BE49-F238E27FC236}">
                <a16:creationId xmlns:a16="http://schemas.microsoft.com/office/drawing/2014/main" id="{E540E785-0F15-713E-3EA0-501B1C53A1B5}"/>
              </a:ext>
            </a:extLst>
          </p:cNvPr>
          <p:cNvSpPr>
            <a:spLocks noChangeShapeType="1"/>
          </p:cNvSpPr>
          <p:nvPr/>
        </p:nvSpPr>
        <p:spPr bwMode="auto">
          <a:xfrm>
            <a:off x="3911369" y="4203423"/>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Line 29">
            <a:extLst>
              <a:ext uri="{FF2B5EF4-FFF2-40B4-BE49-F238E27FC236}">
                <a16:creationId xmlns:a16="http://schemas.microsoft.com/office/drawing/2014/main" id="{DD27945E-EFA1-C941-4BA2-1F6992F89D46}"/>
              </a:ext>
            </a:extLst>
          </p:cNvPr>
          <p:cNvSpPr>
            <a:spLocks noChangeShapeType="1"/>
          </p:cNvSpPr>
          <p:nvPr/>
        </p:nvSpPr>
        <p:spPr bwMode="auto">
          <a:xfrm>
            <a:off x="5221478" y="4230722"/>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 name="Rectangle 5">
            <a:extLst>
              <a:ext uri="{FF2B5EF4-FFF2-40B4-BE49-F238E27FC236}">
                <a16:creationId xmlns:a16="http://schemas.microsoft.com/office/drawing/2014/main" id="{7291B9A9-4EBB-5B8E-FF3E-D1FBD2CB8213}"/>
              </a:ext>
            </a:extLst>
          </p:cNvPr>
          <p:cNvSpPr>
            <a:spLocks noChangeArrowheads="1"/>
          </p:cNvSpPr>
          <p:nvPr/>
        </p:nvSpPr>
        <p:spPr bwMode="auto">
          <a:xfrm>
            <a:off x="6302025" y="396472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endParaRPr lang="en-US" altLang="zh-CN" sz="2400" dirty="0"/>
          </a:p>
        </p:txBody>
      </p:sp>
      <p:sp>
        <p:nvSpPr>
          <p:cNvPr id="43" name="Line 6">
            <a:extLst>
              <a:ext uri="{FF2B5EF4-FFF2-40B4-BE49-F238E27FC236}">
                <a16:creationId xmlns:a16="http://schemas.microsoft.com/office/drawing/2014/main" id="{FBCA1BA2-A36D-C25D-1DA9-9BA34FE5CAFA}"/>
              </a:ext>
            </a:extLst>
          </p:cNvPr>
          <p:cNvSpPr>
            <a:spLocks noChangeShapeType="1"/>
          </p:cNvSpPr>
          <p:nvPr/>
        </p:nvSpPr>
        <p:spPr bwMode="auto">
          <a:xfrm>
            <a:off x="6835425" y="396472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29">
            <a:extLst>
              <a:ext uri="{FF2B5EF4-FFF2-40B4-BE49-F238E27FC236}">
                <a16:creationId xmlns:a16="http://schemas.microsoft.com/office/drawing/2014/main" id="{743D63CF-8231-D2C4-10E7-7693C77AB9F0}"/>
              </a:ext>
            </a:extLst>
          </p:cNvPr>
          <p:cNvSpPr>
            <a:spLocks noChangeShapeType="1"/>
          </p:cNvSpPr>
          <p:nvPr/>
        </p:nvSpPr>
        <p:spPr bwMode="auto">
          <a:xfrm>
            <a:off x="5921025" y="4218893"/>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 name="Rectangle 5">
            <a:extLst>
              <a:ext uri="{FF2B5EF4-FFF2-40B4-BE49-F238E27FC236}">
                <a16:creationId xmlns:a16="http://schemas.microsoft.com/office/drawing/2014/main" id="{DE37F866-7D53-194E-B549-784133AB7146}"/>
              </a:ext>
            </a:extLst>
          </p:cNvPr>
          <p:cNvSpPr>
            <a:spLocks noChangeArrowheads="1"/>
          </p:cNvSpPr>
          <p:nvPr/>
        </p:nvSpPr>
        <p:spPr bwMode="auto">
          <a:xfrm>
            <a:off x="1284038" y="3954098"/>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46" name="Line 6">
            <a:extLst>
              <a:ext uri="{FF2B5EF4-FFF2-40B4-BE49-F238E27FC236}">
                <a16:creationId xmlns:a16="http://schemas.microsoft.com/office/drawing/2014/main" id="{685DA49D-B7AA-0338-EA14-24A0402DFDF1}"/>
              </a:ext>
            </a:extLst>
          </p:cNvPr>
          <p:cNvSpPr>
            <a:spLocks noChangeShapeType="1"/>
          </p:cNvSpPr>
          <p:nvPr/>
        </p:nvSpPr>
        <p:spPr bwMode="auto">
          <a:xfrm>
            <a:off x="1817438" y="395409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29">
            <a:extLst>
              <a:ext uri="{FF2B5EF4-FFF2-40B4-BE49-F238E27FC236}">
                <a16:creationId xmlns:a16="http://schemas.microsoft.com/office/drawing/2014/main" id="{2F5748A6-6CC7-3D4F-E454-13EEE16B0A26}"/>
              </a:ext>
            </a:extLst>
          </p:cNvPr>
          <p:cNvSpPr>
            <a:spLocks noChangeShapeType="1"/>
          </p:cNvSpPr>
          <p:nvPr/>
        </p:nvSpPr>
        <p:spPr bwMode="auto">
          <a:xfrm>
            <a:off x="2078695" y="4213645"/>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20">
            <a:extLst>
              <a:ext uri="{FF2B5EF4-FFF2-40B4-BE49-F238E27FC236}">
                <a16:creationId xmlns:a16="http://schemas.microsoft.com/office/drawing/2014/main" id="{557888BA-1A6B-104A-9794-3CBE98159470}"/>
              </a:ext>
            </a:extLst>
          </p:cNvPr>
          <p:cNvSpPr>
            <a:spLocks noChangeShapeType="1"/>
          </p:cNvSpPr>
          <p:nvPr/>
        </p:nvSpPr>
        <p:spPr bwMode="auto">
          <a:xfrm flipV="1">
            <a:off x="7025303" y="3787995"/>
            <a:ext cx="0" cy="400050"/>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pPr>
              <a:defRPr/>
            </a:pPr>
            <a:endParaRPr lang="zh-CN" altLang="en-US"/>
          </a:p>
        </p:txBody>
      </p:sp>
      <p:sp>
        <p:nvSpPr>
          <p:cNvPr id="50" name="Line 21">
            <a:extLst>
              <a:ext uri="{FF2B5EF4-FFF2-40B4-BE49-F238E27FC236}">
                <a16:creationId xmlns:a16="http://schemas.microsoft.com/office/drawing/2014/main" id="{DD7D4742-01F4-3C22-38C1-122EC0DA5239}"/>
              </a:ext>
            </a:extLst>
          </p:cNvPr>
          <p:cNvSpPr>
            <a:spLocks noChangeShapeType="1"/>
          </p:cNvSpPr>
          <p:nvPr/>
        </p:nvSpPr>
        <p:spPr bwMode="auto">
          <a:xfrm flipH="1" flipV="1">
            <a:off x="964000" y="3768513"/>
            <a:ext cx="6061303" cy="19481"/>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51" name="Line 22">
            <a:extLst>
              <a:ext uri="{FF2B5EF4-FFF2-40B4-BE49-F238E27FC236}">
                <a16:creationId xmlns:a16="http://schemas.microsoft.com/office/drawing/2014/main" id="{02E9EA53-8BB3-1739-DF5E-8D0CC1AC5E4E}"/>
              </a:ext>
            </a:extLst>
          </p:cNvPr>
          <p:cNvSpPr>
            <a:spLocks noChangeShapeType="1"/>
          </p:cNvSpPr>
          <p:nvPr/>
        </p:nvSpPr>
        <p:spPr bwMode="auto">
          <a:xfrm>
            <a:off x="975542" y="3776069"/>
            <a:ext cx="0" cy="290844"/>
          </a:xfrm>
          <a:prstGeom prst="line">
            <a:avLst/>
          </a:prstGeom>
          <a:ln w="19050">
            <a:solidFill>
              <a:schemeClr val="tx1"/>
            </a:solidFill>
            <a:headEnd/>
            <a:tailEnd/>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52" name="Line 23">
            <a:extLst>
              <a:ext uri="{FF2B5EF4-FFF2-40B4-BE49-F238E27FC236}">
                <a16:creationId xmlns:a16="http://schemas.microsoft.com/office/drawing/2014/main" id="{E4C8B2FF-A822-0512-9620-3C75E09798D1}"/>
              </a:ext>
            </a:extLst>
          </p:cNvPr>
          <p:cNvSpPr>
            <a:spLocks noChangeShapeType="1"/>
          </p:cNvSpPr>
          <p:nvPr/>
        </p:nvSpPr>
        <p:spPr bwMode="auto">
          <a:xfrm>
            <a:off x="975542" y="4066913"/>
            <a:ext cx="304800" cy="0"/>
          </a:xfrm>
          <a:prstGeom prst="line">
            <a:avLst/>
          </a:prstGeom>
          <a:ln w="19050">
            <a:solidFill>
              <a:schemeClr val="tx1"/>
            </a:solidFill>
            <a:headEnd/>
            <a:tailEnd type="triangle"/>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53" name="Line 29">
            <a:extLst>
              <a:ext uri="{FF2B5EF4-FFF2-40B4-BE49-F238E27FC236}">
                <a16:creationId xmlns:a16="http://schemas.microsoft.com/office/drawing/2014/main" id="{3093519C-572E-68B3-375A-78FAC3E490E5}"/>
              </a:ext>
            </a:extLst>
          </p:cNvPr>
          <p:cNvSpPr>
            <a:spLocks noChangeShapeType="1"/>
          </p:cNvSpPr>
          <p:nvPr/>
        </p:nvSpPr>
        <p:spPr bwMode="auto">
          <a:xfrm flipH="1">
            <a:off x="7216546" y="4225063"/>
            <a:ext cx="378795" cy="38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Rectangle 228">
            <a:extLst>
              <a:ext uri="{FF2B5EF4-FFF2-40B4-BE49-F238E27FC236}">
                <a16:creationId xmlns:a16="http://schemas.microsoft.com/office/drawing/2014/main" id="{ABB37E2E-A967-BD04-BAEB-1E4CCCB69074}"/>
              </a:ext>
            </a:extLst>
          </p:cNvPr>
          <p:cNvSpPr>
            <a:spLocks noChangeArrowheads="1"/>
          </p:cNvSpPr>
          <p:nvPr/>
        </p:nvSpPr>
        <p:spPr bwMode="auto">
          <a:xfrm>
            <a:off x="7610426" y="4043730"/>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T</a:t>
            </a:r>
          </a:p>
        </p:txBody>
      </p:sp>
      <p:sp>
        <p:nvSpPr>
          <p:cNvPr id="55" name="TextBox 16">
            <a:extLst>
              <a:ext uri="{FF2B5EF4-FFF2-40B4-BE49-F238E27FC236}">
                <a16:creationId xmlns:a16="http://schemas.microsoft.com/office/drawing/2014/main" id="{154A0C0B-38D8-BC43-5328-2349B7508601}"/>
              </a:ext>
            </a:extLst>
          </p:cNvPr>
          <p:cNvSpPr txBox="1"/>
          <p:nvPr/>
        </p:nvSpPr>
        <p:spPr>
          <a:xfrm>
            <a:off x="4060544" y="2901833"/>
            <a:ext cx="2368881" cy="70057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50000"/>
              </a:lnSpc>
            </a:pPr>
            <a:r>
              <a:rPr lang="zh-CN" altLang="en-US" sz="1400" dirty="0">
                <a:solidFill>
                  <a:schemeClr val="tx1"/>
                </a:solidFill>
                <a:latin typeface="微软雅黑" pitchFamily="34" charset="-122"/>
                <a:ea typeface="微软雅黑" pitchFamily="34" charset="-122"/>
                <a:cs typeface="经典粗黑简" pitchFamily="49" charset="-122"/>
              </a:rPr>
              <a:t>在尾元素之后插入一个元素</a:t>
            </a:r>
            <a:endParaRPr lang="en-US" altLang="zh-CN" sz="1400" dirty="0">
              <a:solidFill>
                <a:schemeClr val="tx1"/>
              </a:solidFill>
              <a:latin typeface="微软雅黑" pitchFamily="34" charset="-122"/>
              <a:ea typeface="微软雅黑" pitchFamily="34" charset="-122"/>
              <a:cs typeface="经典粗黑简" pitchFamily="49" charset="-122"/>
            </a:endParaRPr>
          </a:p>
          <a:p>
            <a:pPr algn="l">
              <a:lnSpc>
                <a:spcPct val="150000"/>
              </a:lnSpc>
            </a:pPr>
            <a:r>
              <a:rPr lang="zh-CN" altLang="en-US" sz="1400" dirty="0">
                <a:solidFill>
                  <a:schemeClr val="tx1"/>
                </a:solidFill>
                <a:latin typeface="微软雅黑" pitchFamily="34" charset="-122"/>
                <a:ea typeface="微软雅黑" pitchFamily="34" charset="-122"/>
                <a:cs typeface="经典粗黑简" pitchFamily="49" charset="-122"/>
              </a:rPr>
              <a:t>删除第一个元素</a:t>
            </a:r>
          </a:p>
        </p:txBody>
      </p:sp>
      <p:sp>
        <p:nvSpPr>
          <p:cNvPr id="56" name="右箭头 17">
            <a:extLst>
              <a:ext uri="{FF2B5EF4-FFF2-40B4-BE49-F238E27FC236}">
                <a16:creationId xmlns:a16="http://schemas.microsoft.com/office/drawing/2014/main" id="{1E5799DB-17BB-DDB8-2D80-6B83CC9977FE}"/>
              </a:ext>
            </a:extLst>
          </p:cNvPr>
          <p:cNvSpPr/>
          <p:nvPr/>
        </p:nvSpPr>
        <p:spPr>
          <a:xfrm>
            <a:off x="6437754" y="3126598"/>
            <a:ext cx="642942" cy="285752"/>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57" name="TextBox 18">
            <a:extLst>
              <a:ext uri="{FF2B5EF4-FFF2-40B4-BE49-F238E27FC236}">
                <a16:creationId xmlns:a16="http://schemas.microsoft.com/office/drawing/2014/main" id="{B56982FC-5FB5-B7E8-6811-D090EBA2DA13}"/>
              </a:ext>
            </a:extLst>
          </p:cNvPr>
          <p:cNvSpPr txBox="1"/>
          <p:nvPr/>
        </p:nvSpPr>
        <p:spPr>
          <a:xfrm>
            <a:off x="7031124" y="3119025"/>
            <a:ext cx="1861353" cy="307777"/>
          </a:xfrm>
          <a:prstGeom prst="rect">
            <a:avLst/>
          </a:prstGeom>
          <a:noFill/>
        </p:spPr>
        <p:txBody>
          <a:bodyPr wrap="square" rtlCol="0">
            <a:spAutoFit/>
          </a:bodyPr>
          <a:lstStyle/>
          <a:p>
            <a:r>
              <a:rPr lang="zh-CN" altLang="en-US" sz="1400" dirty="0">
                <a:latin typeface="微软雅黑" pitchFamily="34" charset="-122"/>
                <a:ea typeface="微软雅黑" pitchFamily="34" charset="-122"/>
                <a:cs typeface="经典粗黑简" pitchFamily="49" charset="-122"/>
              </a:rPr>
              <a:t>时间复杂度均为</a:t>
            </a:r>
            <a:r>
              <a:rPr lang="en-US" altLang="zh-CN" sz="1400" dirty="0">
                <a:latin typeface="微软雅黑" pitchFamily="34" charset="-122"/>
                <a:ea typeface="微软雅黑" pitchFamily="34" charset="-122"/>
                <a:cs typeface="经典粗黑简" pitchFamily="49" charset="-122"/>
              </a:rPr>
              <a:t>O(1)</a:t>
            </a:r>
            <a:endParaRPr lang="zh-CN" altLang="en-US" sz="1400" dirty="0">
              <a:latin typeface="微软雅黑" pitchFamily="34" charset="-122"/>
              <a:ea typeface="微软雅黑" pitchFamily="34" charset="-122"/>
              <a:cs typeface="经典粗黑简" pitchFamily="49" charset="-122"/>
            </a:endParaRPr>
          </a:p>
        </p:txBody>
      </p:sp>
    </p:spTree>
    <p:extLst>
      <p:ext uri="{BB962C8B-B14F-4D97-AF65-F5344CB8AC3E}">
        <p14:creationId xmlns:p14="http://schemas.microsoft.com/office/powerpoint/2010/main" val="1338263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1" grpId="0" animBg="1"/>
      <p:bldP spid="52"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581470" y="1722391"/>
            <a:ext cx="2355714" cy="34290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latin typeface="微软雅黑" pitchFamily="34" charset="-122"/>
                <a:ea typeface="微软雅黑" pitchFamily="34" charset="-122"/>
                <a:cs typeface="经典粗黑简" pitchFamily="49" charset="-122"/>
              </a:rPr>
              <a:t>双向循环链表</a:t>
            </a:r>
          </a:p>
        </p:txBody>
      </p:sp>
      <p:sp>
        <p:nvSpPr>
          <p:cNvPr id="7" name="Rectangle 25"/>
          <p:cNvSpPr>
            <a:spLocks noChangeArrowheads="1"/>
          </p:cNvSpPr>
          <p:nvPr/>
        </p:nvSpPr>
        <p:spPr bwMode="auto">
          <a:xfrm>
            <a:off x="7662932" y="259269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8" name="Rectangle 36"/>
          <p:cNvSpPr>
            <a:spLocks noChangeArrowheads="1"/>
          </p:cNvSpPr>
          <p:nvPr/>
        </p:nvSpPr>
        <p:spPr bwMode="auto">
          <a:xfrm>
            <a:off x="4057026" y="258181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9" name="Line 29"/>
          <p:cNvSpPr>
            <a:spLocks noChangeShapeType="1"/>
          </p:cNvSpPr>
          <p:nvPr/>
        </p:nvSpPr>
        <p:spPr bwMode="auto">
          <a:xfrm>
            <a:off x="674409" y="2425792"/>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Rectangle 228"/>
          <p:cNvSpPr>
            <a:spLocks noChangeArrowheads="1"/>
          </p:cNvSpPr>
          <p:nvPr/>
        </p:nvSpPr>
        <p:spPr bwMode="auto">
          <a:xfrm>
            <a:off x="408764" y="2227885"/>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13" name="组合 12"/>
          <p:cNvGrpSpPr/>
          <p:nvPr/>
        </p:nvGrpSpPr>
        <p:grpSpPr>
          <a:xfrm>
            <a:off x="2385242" y="2248983"/>
            <a:ext cx="533400" cy="984427"/>
            <a:chOff x="3344047" y="4287041"/>
            <a:chExt cx="533400" cy="1312569"/>
          </a:xfrm>
        </p:grpSpPr>
        <p:sp>
          <p:nvSpPr>
            <p:cNvPr id="14"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5"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 name="组合 16"/>
          <p:cNvGrpSpPr/>
          <p:nvPr/>
        </p:nvGrpSpPr>
        <p:grpSpPr>
          <a:xfrm>
            <a:off x="3444090" y="2248983"/>
            <a:ext cx="533400" cy="984427"/>
            <a:chOff x="3344047" y="4287041"/>
            <a:chExt cx="533400" cy="1312569"/>
          </a:xfrm>
        </p:grpSpPr>
        <p:sp>
          <p:nvSpPr>
            <p:cNvPr id="18"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9"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1" name="组合 20"/>
          <p:cNvGrpSpPr/>
          <p:nvPr/>
        </p:nvGrpSpPr>
        <p:grpSpPr>
          <a:xfrm>
            <a:off x="4590028" y="2248983"/>
            <a:ext cx="675622" cy="984427"/>
            <a:chOff x="3344047" y="4287041"/>
            <a:chExt cx="533400" cy="1312569"/>
          </a:xfrm>
        </p:grpSpPr>
        <p:sp>
          <p:nvSpPr>
            <p:cNvPr id="22"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23"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5" name="组合 24"/>
          <p:cNvGrpSpPr/>
          <p:nvPr/>
        </p:nvGrpSpPr>
        <p:grpSpPr>
          <a:xfrm>
            <a:off x="8138107" y="2248982"/>
            <a:ext cx="533400" cy="1076760"/>
            <a:chOff x="9096957" y="4287040"/>
            <a:chExt cx="533400" cy="1435680"/>
          </a:xfrm>
        </p:grpSpPr>
        <p:grpSp>
          <p:nvGrpSpPr>
            <p:cNvPr id="26" name="组合 25"/>
            <p:cNvGrpSpPr/>
            <p:nvPr/>
          </p:nvGrpSpPr>
          <p:grpSpPr>
            <a:xfrm>
              <a:off x="9096957" y="4287040"/>
              <a:ext cx="533400" cy="1312569"/>
              <a:chOff x="3344047" y="4287041"/>
              <a:chExt cx="533400" cy="1312569"/>
            </a:xfrm>
          </p:grpSpPr>
          <p:sp>
            <p:nvSpPr>
              <p:cNvPr id="28"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29"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7" name="矩形 26"/>
            <p:cNvSpPr/>
            <p:nvPr/>
          </p:nvSpPr>
          <p:spPr>
            <a:xfrm>
              <a:off x="9155908" y="5230277"/>
              <a:ext cx="415498" cy="492443"/>
            </a:xfrm>
            <a:prstGeom prst="rect">
              <a:avLst/>
            </a:prstGeom>
          </p:spPr>
          <p:txBody>
            <a:bodyPr wrap="none">
              <a:spAutoFit/>
            </a:bodyPr>
            <a:lstStyle/>
            <a:p>
              <a:r>
                <a:rPr lang="zh-CN" altLang="en-US" dirty="0"/>
                <a:t>∧</a:t>
              </a:r>
            </a:p>
          </p:txBody>
        </p:sp>
      </p:grpSp>
      <p:grpSp>
        <p:nvGrpSpPr>
          <p:cNvPr id="31" name="组合 30"/>
          <p:cNvGrpSpPr/>
          <p:nvPr/>
        </p:nvGrpSpPr>
        <p:grpSpPr>
          <a:xfrm>
            <a:off x="5791098" y="2248983"/>
            <a:ext cx="533400" cy="984427"/>
            <a:chOff x="3344047" y="4287041"/>
            <a:chExt cx="533400" cy="1312569"/>
          </a:xfrm>
        </p:grpSpPr>
        <p:sp>
          <p:nvSpPr>
            <p:cNvPr id="32"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33"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5" name="组合 34"/>
          <p:cNvGrpSpPr/>
          <p:nvPr/>
        </p:nvGrpSpPr>
        <p:grpSpPr>
          <a:xfrm>
            <a:off x="6849946" y="2248983"/>
            <a:ext cx="675622" cy="984427"/>
            <a:chOff x="3344047" y="4287041"/>
            <a:chExt cx="533400" cy="1312569"/>
          </a:xfrm>
        </p:grpSpPr>
        <p:sp>
          <p:nvSpPr>
            <p:cNvPr id="36"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37"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9" name="组合 38"/>
          <p:cNvGrpSpPr/>
          <p:nvPr/>
        </p:nvGrpSpPr>
        <p:grpSpPr>
          <a:xfrm>
            <a:off x="1326394" y="2248983"/>
            <a:ext cx="533400" cy="984427"/>
            <a:chOff x="2459424" y="4263014"/>
            <a:chExt cx="533400" cy="1312569"/>
          </a:xfrm>
        </p:grpSpPr>
        <p:grpSp>
          <p:nvGrpSpPr>
            <p:cNvPr id="40" name="组合 39"/>
            <p:cNvGrpSpPr/>
            <p:nvPr/>
          </p:nvGrpSpPr>
          <p:grpSpPr>
            <a:xfrm>
              <a:off x="2459424" y="4263014"/>
              <a:ext cx="533400" cy="1312569"/>
              <a:chOff x="3344047" y="4287041"/>
              <a:chExt cx="533400" cy="1312569"/>
            </a:xfrm>
          </p:grpSpPr>
          <p:sp>
            <p:nvSpPr>
              <p:cNvPr id="42" name="Rectangle 5"/>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43"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 name="矩形 40"/>
            <p:cNvSpPr/>
            <p:nvPr/>
          </p:nvSpPr>
          <p:spPr>
            <a:xfrm>
              <a:off x="2518375" y="4294295"/>
              <a:ext cx="415498" cy="492443"/>
            </a:xfrm>
            <a:prstGeom prst="rect">
              <a:avLst/>
            </a:prstGeom>
          </p:spPr>
          <p:txBody>
            <a:bodyPr wrap="none">
              <a:spAutoFit/>
            </a:bodyPr>
            <a:lstStyle/>
            <a:p>
              <a:r>
                <a:rPr lang="zh-CN" altLang="en-US" dirty="0"/>
                <a:t>∧</a:t>
              </a:r>
            </a:p>
          </p:txBody>
        </p:sp>
      </p:grpSp>
      <p:sp>
        <p:nvSpPr>
          <p:cNvPr id="45" name="Line 29"/>
          <p:cNvSpPr>
            <a:spLocks noChangeShapeType="1"/>
          </p:cNvSpPr>
          <p:nvPr/>
        </p:nvSpPr>
        <p:spPr bwMode="auto">
          <a:xfrm flipH="1">
            <a:off x="1870339" y="241954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Line 29"/>
          <p:cNvSpPr>
            <a:spLocks noChangeShapeType="1"/>
          </p:cNvSpPr>
          <p:nvPr/>
        </p:nvSpPr>
        <p:spPr bwMode="auto">
          <a:xfrm>
            <a:off x="1745671" y="3094910"/>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Line 29"/>
          <p:cNvSpPr>
            <a:spLocks noChangeShapeType="1"/>
          </p:cNvSpPr>
          <p:nvPr/>
        </p:nvSpPr>
        <p:spPr bwMode="auto">
          <a:xfrm>
            <a:off x="2804520" y="3094910"/>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Line 29"/>
          <p:cNvSpPr>
            <a:spLocks noChangeShapeType="1"/>
          </p:cNvSpPr>
          <p:nvPr/>
        </p:nvSpPr>
        <p:spPr bwMode="auto">
          <a:xfrm>
            <a:off x="3926554" y="3094910"/>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29"/>
          <p:cNvSpPr>
            <a:spLocks noChangeShapeType="1"/>
          </p:cNvSpPr>
          <p:nvPr/>
        </p:nvSpPr>
        <p:spPr bwMode="auto">
          <a:xfrm>
            <a:off x="5151528" y="3094910"/>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Line 29"/>
          <p:cNvSpPr>
            <a:spLocks noChangeShapeType="1"/>
          </p:cNvSpPr>
          <p:nvPr/>
        </p:nvSpPr>
        <p:spPr bwMode="auto">
          <a:xfrm>
            <a:off x="6210376" y="3094910"/>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Line 29"/>
          <p:cNvSpPr>
            <a:spLocks noChangeShapeType="1"/>
          </p:cNvSpPr>
          <p:nvPr/>
        </p:nvSpPr>
        <p:spPr bwMode="auto">
          <a:xfrm>
            <a:off x="7379155" y="3094910"/>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Line 29"/>
          <p:cNvSpPr>
            <a:spLocks noChangeShapeType="1"/>
          </p:cNvSpPr>
          <p:nvPr/>
        </p:nvSpPr>
        <p:spPr bwMode="auto">
          <a:xfrm flipH="1">
            <a:off x="7934976" y="2419541"/>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Line 29"/>
          <p:cNvSpPr>
            <a:spLocks noChangeShapeType="1"/>
          </p:cNvSpPr>
          <p:nvPr/>
        </p:nvSpPr>
        <p:spPr bwMode="auto">
          <a:xfrm flipH="1">
            <a:off x="6324499" y="241954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Line 29"/>
          <p:cNvSpPr>
            <a:spLocks noChangeShapeType="1"/>
          </p:cNvSpPr>
          <p:nvPr/>
        </p:nvSpPr>
        <p:spPr bwMode="auto">
          <a:xfrm flipH="1">
            <a:off x="5265651" y="241954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 name="Line 29"/>
          <p:cNvSpPr>
            <a:spLocks noChangeShapeType="1"/>
          </p:cNvSpPr>
          <p:nvPr/>
        </p:nvSpPr>
        <p:spPr bwMode="auto">
          <a:xfrm flipH="1">
            <a:off x="4387295" y="2419541"/>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 name="Line 29"/>
          <p:cNvSpPr>
            <a:spLocks noChangeShapeType="1"/>
          </p:cNvSpPr>
          <p:nvPr/>
        </p:nvSpPr>
        <p:spPr bwMode="auto">
          <a:xfrm flipH="1">
            <a:off x="2918643" y="241954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Line 29"/>
          <p:cNvSpPr>
            <a:spLocks noChangeShapeType="1"/>
          </p:cNvSpPr>
          <p:nvPr/>
        </p:nvSpPr>
        <p:spPr bwMode="auto">
          <a:xfrm>
            <a:off x="4387295" y="3094910"/>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Line 29"/>
          <p:cNvSpPr>
            <a:spLocks noChangeShapeType="1"/>
          </p:cNvSpPr>
          <p:nvPr/>
        </p:nvSpPr>
        <p:spPr bwMode="auto">
          <a:xfrm>
            <a:off x="7934977" y="3094910"/>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Line 29"/>
          <p:cNvSpPr>
            <a:spLocks noChangeShapeType="1"/>
          </p:cNvSpPr>
          <p:nvPr/>
        </p:nvSpPr>
        <p:spPr bwMode="auto">
          <a:xfrm flipH="1">
            <a:off x="7525568" y="2419541"/>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 name="Line 29"/>
          <p:cNvSpPr>
            <a:spLocks noChangeShapeType="1"/>
          </p:cNvSpPr>
          <p:nvPr/>
        </p:nvSpPr>
        <p:spPr bwMode="auto">
          <a:xfrm flipH="1">
            <a:off x="3990876" y="2419541"/>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3" name="直接连接符 2">
            <a:extLst>
              <a:ext uri="{FF2B5EF4-FFF2-40B4-BE49-F238E27FC236}">
                <a16:creationId xmlns:a16="http://schemas.microsoft.com/office/drawing/2014/main" id="{BF9051E7-A8D7-E4C2-7F88-F1B2F029B549}"/>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91EBE05A-BA0F-CB78-7A89-70CB4E8704D2}"/>
              </a:ext>
            </a:extLst>
          </p:cNvPr>
          <p:cNvSpPr/>
          <p:nvPr/>
        </p:nvSpPr>
        <p:spPr>
          <a:xfrm>
            <a:off x="395536" y="843558"/>
            <a:ext cx="302433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2.3.4 </a:t>
            </a:r>
            <a:r>
              <a:rPr lang="zh-CN" altLang="en-US" sz="2800" b="1" dirty="0">
                <a:solidFill>
                  <a:schemeClr val="bg1"/>
                </a:solidFill>
                <a:latin typeface="经典粗黑简" pitchFamily="49" charset="-122"/>
                <a:ea typeface="经典粗黑简" pitchFamily="49" charset="-122"/>
                <a:cs typeface="经典粗黑简" pitchFamily="49" charset="-122"/>
              </a:rPr>
              <a:t>循环链表</a:t>
            </a:r>
          </a:p>
        </p:txBody>
      </p:sp>
      <p:sp>
        <p:nvSpPr>
          <p:cNvPr id="5" name="Rectangle 2">
            <a:extLst>
              <a:ext uri="{FF2B5EF4-FFF2-40B4-BE49-F238E27FC236}">
                <a16:creationId xmlns:a16="http://schemas.microsoft.com/office/drawing/2014/main" id="{2A719CE5-791B-1BEF-939E-E98420B9E4B3}"/>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Tree>
    <p:extLst>
      <p:ext uri="{BB962C8B-B14F-4D97-AF65-F5344CB8AC3E}">
        <p14:creationId xmlns:p14="http://schemas.microsoft.com/office/powerpoint/2010/main" val="88977614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581470" y="1722391"/>
            <a:ext cx="2355714" cy="34290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latin typeface="微软雅黑" pitchFamily="34" charset="-122"/>
                <a:ea typeface="微软雅黑" pitchFamily="34" charset="-122"/>
                <a:cs typeface="经典粗黑简" pitchFamily="49" charset="-122"/>
              </a:rPr>
              <a:t>双向循环链表</a:t>
            </a:r>
          </a:p>
        </p:txBody>
      </p:sp>
      <p:sp>
        <p:nvSpPr>
          <p:cNvPr id="7" name="Rectangle 25"/>
          <p:cNvSpPr>
            <a:spLocks noChangeArrowheads="1"/>
          </p:cNvSpPr>
          <p:nvPr/>
        </p:nvSpPr>
        <p:spPr bwMode="auto">
          <a:xfrm>
            <a:off x="7662932" y="259269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8" name="Rectangle 36"/>
          <p:cNvSpPr>
            <a:spLocks noChangeArrowheads="1"/>
          </p:cNvSpPr>
          <p:nvPr/>
        </p:nvSpPr>
        <p:spPr bwMode="auto">
          <a:xfrm>
            <a:off x="4057026" y="258181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9" name="Line 29"/>
          <p:cNvSpPr>
            <a:spLocks noChangeShapeType="1"/>
          </p:cNvSpPr>
          <p:nvPr/>
        </p:nvSpPr>
        <p:spPr bwMode="auto">
          <a:xfrm>
            <a:off x="674409" y="2425792"/>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Rectangle 228"/>
          <p:cNvSpPr>
            <a:spLocks noChangeArrowheads="1"/>
          </p:cNvSpPr>
          <p:nvPr/>
        </p:nvSpPr>
        <p:spPr bwMode="auto">
          <a:xfrm>
            <a:off x="408764" y="2227885"/>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13" name="组合 12"/>
          <p:cNvGrpSpPr/>
          <p:nvPr/>
        </p:nvGrpSpPr>
        <p:grpSpPr>
          <a:xfrm>
            <a:off x="2385242" y="2248983"/>
            <a:ext cx="533400" cy="984427"/>
            <a:chOff x="3344047" y="4287041"/>
            <a:chExt cx="533400" cy="1312569"/>
          </a:xfrm>
        </p:grpSpPr>
        <p:sp>
          <p:nvSpPr>
            <p:cNvPr id="14"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5"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 name="组合 16"/>
          <p:cNvGrpSpPr/>
          <p:nvPr/>
        </p:nvGrpSpPr>
        <p:grpSpPr>
          <a:xfrm>
            <a:off x="3444090" y="2248983"/>
            <a:ext cx="533400" cy="984427"/>
            <a:chOff x="3344047" y="4287041"/>
            <a:chExt cx="533400" cy="1312569"/>
          </a:xfrm>
        </p:grpSpPr>
        <p:sp>
          <p:nvSpPr>
            <p:cNvPr id="18"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9"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1" name="组合 20"/>
          <p:cNvGrpSpPr/>
          <p:nvPr/>
        </p:nvGrpSpPr>
        <p:grpSpPr>
          <a:xfrm>
            <a:off x="4590028" y="2248983"/>
            <a:ext cx="675622" cy="984427"/>
            <a:chOff x="3344047" y="4287041"/>
            <a:chExt cx="533400" cy="1312569"/>
          </a:xfrm>
        </p:grpSpPr>
        <p:sp>
          <p:nvSpPr>
            <p:cNvPr id="22"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23"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6" name="组合 25"/>
          <p:cNvGrpSpPr/>
          <p:nvPr/>
        </p:nvGrpSpPr>
        <p:grpSpPr>
          <a:xfrm>
            <a:off x="8138107" y="2248983"/>
            <a:ext cx="533400" cy="984427"/>
            <a:chOff x="3344047" y="4287041"/>
            <a:chExt cx="533400" cy="1312569"/>
          </a:xfrm>
        </p:grpSpPr>
        <p:sp>
          <p:nvSpPr>
            <p:cNvPr id="28"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29"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 name="组合 30"/>
          <p:cNvGrpSpPr/>
          <p:nvPr/>
        </p:nvGrpSpPr>
        <p:grpSpPr>
          <a:xfrm>
            <a:off x="5791098" y="2248983"/>
            <a:ext cx="533400" cy="984427"/>
            <a:chOff x="3344047" y="4287041"/>
            <a:chExt cx="533400" cy="1312569"/>
          </a:xfrm>
        </p:grpSpPr>
        <p:sp>
          <p:nvSpPr>
            <p:cNvPr id="32"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33"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5" name="组合 34"/>
          <p:cNvGrpSpPr/>
          <p:nvPr/>
        </p:nvGrpSpPr>
        <p:grpSpPr>
          <a:xfrm>
            <a:off x="6849946" y="2248983"/>
            <a:ext cx="675622" cy="984427"/>
            <a:chOff x="3344047" y="4287041"/>
            <a:chExt cx="533400" cy="1312569"/>
          </a:xfrm>
        </p:grpSpPr>
        <p:sp>
          <p:nvSpPr>
            <p:cNvPr id="36"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37"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9" name="组合 38"/>
          <p:cNvGrpSpPr/>
          <p:nvPr/>
        </p:nvGrpSpPr>
        <p:grpSpPr>
          <a:xfrm>
            <a:off x="1326394" y="2248983"/>
            <a:ext cx="533400" cy="984427"/>
            <a:chOff x="2459424" y="4263014"/>
            <a:chExt cx="533400" cy="1312569"/>
          </a:xfrm>
        </p:grpSpPr>
        <p:grpSp>
          <p:nvGrpSpPr>
            <p:cNvPr id="40" name="组合 39"/>
            <p:cNvGrpSpPr/>
            <p:nvPr/>
          </p:nvGrpSpPr>
          <p:grpSpPr>
            <a:xfrm>
              <a:off x="2459424" y="4263014"/>
              <a:ext cx="533400" cy="1312569"/>
              <a:chOff x="3344047" y="4287041"/>
              <a:chExt cx="533400" cy="1312569"/>
            </a:xfrm>
          </p:grpSpPr>
          <p:sp>
            <p:nvSpPr>
              <p:cNvPr id="42" name="Rectangle 5"/>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43"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 name="矩形 40"/>
            <p:cNvSpPr/>
            <p:nvPr/>
          </p:nvSpPr>
          <p:spPr>
            <a:xfrm>
              <a:off x="2518375" y="4294295"/>
              <a:ext cx="415498" cy="492443"/>
            </a:xfrm>
            <a:prstGeom prst="rect">
              <a:avLst/>
            </a:prstGeom>
          </p:spPr>
          <p:txBody>
            <a:bodyPr wrap="none">
              <a:spAutoFit/>
            </a:bodyPr>
            <a:lstStyle/>
            <a:p>
              <a:r>
                <a:rPr lang="zh-CN" altLang="en-US" dirty="0"/>
                <a:t>∧</a:t>
              </a:r>
            </a:p>
          </p:txBody>
        </p:sp>
      </p:grpSp>
      <p:sp>
        <p:nvSpPr>
          <p:cNvPr id="45" name="Line 29"/>
          <p:cNvSpPr>
            <a:spLocks noChangeShapeType="1"/>
          </p:cNvSpPr>
          <p:nvPr/>
        </p:nvSpPr>
        <p:spPr bwMode="auto">
          <a:xfrm flipH="1">
            <a:off x="1870339" y="241954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Line 29"/>
          <p:cNvSpPr>
            <a:spLocks noChangeShapeType="1"/>
          </p:cNvSpPr>
          <p:nvPr/>
        </p:nvSpPr>
        <p:spPr bwMode="auto">
          <a:xfrm>
            <a:off x="1745671" y="3094910"/>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Line 29"/>
          <p:cNvSpPr>
            <a:spLocks noChangeShapeType="1"/>
          </p:cNvSpPr>
          <p:nvPr/>
        </p:nvSpPr>
        <p:spPr bwMode="auto">
          <a:xfrm>
            <a:off x="2804520" y="3094910"/>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Line 29"/>
          <p:cNvSpPr>
            <a:spLocks noChangeShapeType="1"/>
          </p:cNvSpPr>
          <p:nvPr/>
        </p:nvSpPr>
        <p:spPr bwMode="auto">
          <a:xfrm>
            <a:off x="3926554" y="3094910"/>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29"/>
          <p:cNvSpPr>
            <a:spLocks noChangeShapeType="1"/>
          </p:cNvSpPr>
          <p:nvPr/>
        </p:nvSpPr>
        <p:spPr bwMode="auto">
          <a:xfrm>
            <a:off x="5151528" y="3094910"/>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Line 29"/>
          <p:cNvSpPr>
            <a:spLocks noChangeShapeType="1"/>
          </p:cNvSpPr>
          <p:nvPr/>
        </p:nvSpPr>
        <p:spPr bwMode="auto">
          <a:xfrm>
            <a:off x="6210376" y="3094910"/>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Line 29"/>
          <p:cNvSpPr>
            <a:spLocks noChangeShapeType="1"/>
          </p:cNvSpPr>
          <p:nvPr/>
        </p:nvSpPr>
        <p:spPr bwMode="auto">
          <a:xfrm>
            <a:off x="7379155" y="3094910"/>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Line 29"/>
          <p:cNvSpPr>
            <a:spLocks noChangeShapeType="1"/>
          </p:cNvSpPr>
          <p:nvPr/>
        </p:nvSpPr>
        <p:spPr bwMode="auto">
          <a:xfrm flipH="1">
            <a:off x="7934976" y="2419541"/>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Line 29"/>
          <p:cNvSpPr>
            <a:spLocks noChangeShapeType="1"/>
          </p:cNvSpPr>
          <p:nvPr/>
        </p:nvSpPr>
        <p:spPr bwMode="auto">
          <a:xfrm flipH="1">
            <a:off x="6324499" y="241954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Line 29"/>
          <p:cNvSpPr>
            <a:spLocks noChangeShapeType="1"/>
          </p:cNvSpPr>
          <p:nvPr/>
        </p:nvSpPr>
        <p:spPr bwMode="auto">
          <a:xfrm flipH="1">
            <a:off x="5265651" y="241954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 name="Line 29"/>
          <p:cNvSpPr>
            <a:spLocks noChangeShapeType="1"/>
          </p:cNvSpPr>
          <p:nvPr/>
        </p:nvSpPr>
        <p:spPr bwMode="auto">
          <a:xfrm flipH="1">
            <a:off x="4387295" y="2419541"/>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 name="Line 29"/>
          <p:cNvSpPr>
            <a:spLocks noChangeShapeType="1"/>
          </p:cNvSpPr>
          <p:nvPr/>
        </p:nvSpPr>
        <p:spPr bwMode="auto">
          <a:xfrm flipH="1">
            <a:off x="2918643" y="241954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Line 29"/>
          <p:cNvSpPr>
            <a:spLocks noChangeShapeType="1"/>
          </p:cNvSpPr>
          <p:nvPr/>
        </p:nvSpPr>
        <p:spPr bwMode="auto">
          <a:xfrm>
            <a:off x="4387295" y="3094910"/>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Line 29"/>
          <p:cNvSpPr>
            <a:spLocks noChangeShapeType="1"/>
          </p:cNvSpPr>
          <p:nvPr/>
        </p:nvSpPr>
        <p:spPr bwMode="auto">
          <a:xfrm>
            <a:off x="7934977" y="3094910"/>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Line 29"/>
          <p:cNvSpPr>
            <a:spLocks noChangeShapeType="1"/>
          </p:cNvSpPr>
          <p:nvPr/>
        </p:nvSpPr>
        <p:spPr bwMode="auto">
          <a:xfrm flipH="1">
            <a:off x="7525568" y="2419541"/>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 name="Line 29"/>
          <p:cNvSpPr>
            <a:spLocks noChangeShapeType="1"/>
          </p:cNvSpPr>
          <p:nvPr/>
        </p:nvSpPr>
        <p:spPr bwMode="auto">
          <a:xfrm flipH="1">
            <a:off x="3990876" y="2419541"/>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 name="Line 29"/>
          <p:cNvSpPr>
            <a:spLocks noChangeShapeType="1"/>
          </p:cNvSpPr>
          <p:nvPr/>
        </p:nvSpPr>
        <p:spPr bwMode="auto">
          <a:xfrm>
            <a:off x="1135811" y="3071290"/>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Line 29"/>
          <p:cNvSpPr>
            <a:spLocks noChangeShapeType="1"/>
          </p:cNvSpPr>
          <p:nvPr/>
        </p:nvSpPr>
        <p:spPr bwMode="auto">
          <a:xfrm>
            <a:off x="1135811" y="3384798"/>
            <a:ext cx="7744082" cy="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Line 29"/>
          <p:cNvSpPr>
            <a:spLocks noChangeShapeType="1"/>
          </p:cNvSpPr>
          <p:nvPr/>
        </p:nvSpPr>
        <p:spPr bwMode="auto">
          <a:xfrm flipV="1">
            <a:off x="1128249" y="3071290"/>
            <a:ext cx="0" cy="313508"/>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Line 29"/>
          <p:cNvSpPr>
            <a:spLocks noChangeShapeType="1"/>
          </p:cNvSpPr>
          <p:nvPr/>
        </p:nvSpPr>
        <p:spPr bwMode="auto">
          <a:xfrm flipV="1">
            <a:off x="8879893" y="3071290"/>
            <a:ext cx="0" cy="313508"/>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5" name="Line 29"/>
          <p:cNvSpPr>
            <a:spLocks noChangeShapeType="1"/>
          </p:cNvSpPr>
          <p:nvPr/>
        </p:nvSpPr>
        <p:spPr bwMode="auto">
          <a:xfrm>
            <a:off x="8496717" y="3071290"/>
            <a:ext cx="383177" cy="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6" name="矩形 65"/>
          <p:cNvSpPr/>
          <p:nvPr/>
        </p:nvSpPr>
        <p:spPr>
          <a:xfrm>
            <a:off x="3150613" y="3513805"/>
            <a:ext cx="3714478" cy="400110"/>
          </a:xfrm>
          <a:prstGeom prst="rect">
            <a:avLst/>
          </a:prstGeom>
        </p:spPr>
        <p:txBody>
          <a:bodyPr wrap="none">
            <a:spAutoFit/>
          </a:bodyPr>
          <a:lstStyle/>
          <a:p>
            <a:pPr marL="193675" lvl="1">
              <a:spcBef>
                <a:spcPct val="20000"/>
              </a:spcBef>
            </a:pPr>
            <a:r>
              <a:rPr lang="zh-CN" altLang="en-US" sz="2000" dirty="0">
                <a:latin typeface="微软雅黑" pitchFamily="34" charset="-122"/>
                <a:ea typeface="微软雅黑" pitchFamily="34" charset="-122"/>
                <a:cs typeface="经典粗黑简" pitchFamily="49" charset="-122"/>
              </a:rPr>
              <a:t>带头结点的非空双向循环链表</a:t>
            </a:r>
          </a:p>
        </p:txBody>
      </p:sp>
      <p:cxnSp>
        <p:nvCxnSpPr>
          <p:cNvPr id="3" name="直接连接符 2">
            <a:extLst>
              <a:ext uri="{FF2B5EF4-FFF2-40B4-BE49-F238E27FC236}">
                <a16:creationId xmlns:a16="http://schemas.microsoft.com/office/drawing/2014/main" id="{EC2F1414-FE7D-64E9-7C58-798CA863B7EE}"/>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61F66339-F448-371A-6091-5A95CABBD1C3}"/>
              </a:ext>
            </a:extLst>
          </p:cNvPr>
          <p:cNvSpPr/>
          <p:nvPr/>
        </p:nvSpPr>
        <p:spPr>
          <a:xfrm>
            <a:off x="395536" y="843558"/>
            <a:ext cx="302433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2.3.4 </a:t>
            </a:r>
            <a:r>
              <a:rPr lang="zh-CN" altLang="en-US" sz="2800" b="1" dirty="0">
                <a:solidFill>
                  <a:schemeClr val="bg1"/>
                </a:solidFill>
                <a:latin typeface="经典粗黑简" pitchFamily="49" charset="-122"/>
                <a:ea typeface="经典粗黑简" pitchFamily="49" charset="-122"/>
                <a:cs typeface="经典粗黑简" pitchFamily="49" charset="-122"/>
              </a:rPr>
              <a:t>循环链表</a:t>
            </a:r>
          </a:p>
        </p:txBody>
      </p:sp>
      <p:sp>
        <p:nvSpPr>
          <p:cNvPr id="5" name="Rectangle 2">
            <a:extLst>
              <a:ext uri="{FF2B5EF4-FFF2-40B4-BE49-F238E27FC236}">
                <a16:creationId xmlns:a16="http://schemas.microsoft.com/office/drawing/2014/main" id="{4EDB2E6B-18F4-BA22-96D9-2128F9BC577E}"/>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Tree>
    <p:extLst>
      <p:ext uri="{BB962C8B-B14F-4D97-AF65-F5344CB8AC3E}">
        <p14:creationId xmlns:p14="http://schemas.microsoft.com/office/powerpoint/2010/main" val="189797867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581470" y="1722391"/>
            <a:ext cx="2355714" cy="34290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latin typeface="微软雅黑" pitchFamily="34" charset="-122"/>
                <a:ea typeface="微软雅黑" pitchFamily="34" charset="-122"/>
                <a:cs typeface="经典粗黑简" pitchFamily="49" charset="-122"/>
              </a:rPr>
              <a:t>双向循环链表</a:t>
            </a:r>
          </a:p>
        </p:txBody>
      </p:sp>
      <p:sp>
        <p:nvSpPr>
          <p:cNvPr id="7" name="Rectangle 25"/>
          <p:cNvSpPr>
            <a:spLocks noChangeArrowheads="1"/>
          </p:cNvSpPr>
          <p:nvPr/>
        </p:nvSpPr>
        <p:spPr bwMode="auto">
          <a:xfrm>
            <a:off x="7662932" y="259269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8" name="Rectangle 36"/>
          <p:cNvSpPr>
            <a:spLocks noChangeArrowheads="1"/>
          </p:cNvSpPr>
          <p:nvPr/>
        </p:nvSpPr>
        <p:spPr bwMode="auto">
          <a:xfrm>
            <a:off x="4057026" y="2581813"/>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9" name="Line 29"/>
          <p:cNvSpPr>
            <a:spLocks noChangeShapeType="1"/>
          </p:cNvSpPr>
          <p:nvPr/>
        </p:nvSpPr>
        <p:spPr bwMode="auto">
          <a:xfrm>
            <a:off x="674409" y="2425792"/>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Rectangle 228"/>
          <p:cNvSpPr>
            <a:spLocks noChangeArrowheads="1"/>
          </p:cNvSpPr>
          <p:nvPr/>
        </p:nvSpPr>
        <p:spPr bwMode="auto">
          <a:xfrm>
            <a:off x="408764" y="2227885"/>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13" name="组合 12"/>
          <p:cNvGrpSpPr/>
          <p:nvPr/>
        </p:nvGrpSpPr>
        <p:grpSpPr>
          <a:xfrm>
            <a:off x="2385242" y="2248983"/>
            <a:ext cx="533400" cy="984427"/>
            <a:chOff x="3344047" y="4287041"/>
            <a:chExt cx="533400" cy="1312569"/>
          </a:xfrm>
        </p:grpSpPr>
        <p:sp>
          <p:nvSpPr>
            <p:cNvPr id="14"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5"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 name="组合 16"/>
          <p:cNvGrpSpPr/>
          <p:nvPr/>
        </p:nvGrpSpPr>
        <p:grpSpPr>
          <a:xfrm>
            <a:off x="3444090" y="2248983"/>
            <a:ext cx="533400" cy="984427"/>
            <a:chOff x="3344047" y="4287041"/>
            <a:chExt cx="533400" cy="1312569"/>
          </a:xfrm>
        </p:grpSpPr>
        <p:sp>
          <p:nvSpPr>
            <p:cNvPr id="18"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9"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1" name="组合 20"/>
          <p:cNvGrpSpPr/>
          <p:nvPr/>
        </p:nvGrpSpPr>
        <p:grpSpPr>
          <a:xfrm>
            <a:off x="4590028" y="2248983"/>
            <a:ext cx="675622" cy="984427"/>
            <a:chOff x="3344047" y="4287041"/>
            <a:chExt cx="533400" cy="1312569"/>
          </a:xfrm>
        </p:grpSpPr>
        <p:sp>
          <p:nvSpPr>
            <p:cNvPr id="22"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23"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6" name="组合 25"/>
          <p:cNvGrpSpPr/>
          <p:nvPr/>
        </p:nvGrpSpPr>
        <p:grpSpPr>
          <a:xfrm>
            <a:off x="8138107" y="2248983"/>
            <a:ext cx="533400" cy="984427"/>
            <a:chOff x="3344047" y="4287041"/>
            <a:chExt cx="533400" cy="1312569"/>
          </a:xfrm>
        </p:grpSpPr>
        <p:sp>
          <p:nvSpPr>
            <p:cNvPr id="28"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29"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 name="组合 30"/>
          <p:cNvGrpSpPr/>
          <p:nvPr/>
        </p:nvGrpSpPr>
        <p:grpSpPr>
          <a:xfrm>
            <a:off x="5791098" y="2248983"/>
            <a:ext cx="533400" cy="984427"/>
            <a:chOff x="3344047" y="4287041"/>
            <a:chExt cx="533400" cy="1312569"/>
          </a:xfrm>
        </p:grpSpPr>
        <p:sp>
          <p:nvSpPr>
            <p:cNvPr id="32"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33"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5" name="组合 34"/>
          <p:cNvGrpSpPr/>
          <p:nvPr/>
        </p:nvGrpSpPr>
        <p:grpSpPr>
          <a:xfrm>
            <a:off x="6849946" y="2248983"/>
            <a:ext cx="675622" cy="984427"/>
            <a:chOff x="3344047" y="4287041"/>
            <a:chExt cx="533400" cy="1312569"/>
          </a:xfrm>
        </p:grpSpPr>
        <p:sp>
          <p:nvSpPr>
            <p:cNvPr id="36"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37"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0" name="组合 39"/>
          <p:cNvGrpSpPr/>
          <p:nvPr/>
        </p:nvGrpSpPr>
        <p:grpSpPr>
          <a:xfrm>
            <a:off x="1326394" y="2248983"/>
            <a:ext cx="533400" cy="984427"/>
            <a:chOff x="3344047" y="4287041"/>
            <a:chExt cx="533400" cy="1312569"/>
          </a:xfrm>
        </p:grpSpPr>
        <p:sp>
          <p:nvSpPr>
            <p:cNvPr id="42" name="Rectangle 5"/>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43"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5" name="Line 29"/>
          <p:cNvSpPr>
            <a:spLocks noChangeShapeType="1"/>
          </p:cNvSpPr>
          <p:nvPr/>
        </p:nvSpPr>
        <p:spPr bwMode="auto">
          <a:xfrm flipH="1">
            <a:off x="1870339" y="241954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Line 29"/>
          <p:cNvSpPr>
            <a:spLocks noChangeShapeType="1"/>
          </p:cNvSpPr>
          <p:nvPr/>
        </p:nvSpPr>
        <p:spPr bwMode="auto">
          <a:xfrm>
            <a:off x="1745671" y="3094910"/>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Line 29"/>
          <p:cNvSpPr>
            <a:spLocks noChangeShapeType="1"/>
          </p:cNvSpPr>
          <p:nvPr/>
        </p:nvSpPr>
        <p:spPr bwMode="auto">
          <a:xfrm>
            <a:off x="2804520" y="3094910"/>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Line 29"/>
          <p:cNvSpPr>
            <a:spLocks noChangeShapeType="1"/>
          </p:cNvSpPr>
          <p:nvPr/>
        </p:nvSpPr>
        <p:spPr bwMode="auto">
          <a:xfrm>
            <a:off x="3926554" y="3094910"/>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29"/>
          <p:cNvSpPr>
            <a:spLocks noChangeShapeType="1"/>
          </p:cNvSpPr>
          <p:nvPr/>
        </p:nvSpPr>
        <p:spPr bwMode="auto">
          <a:xfrm>
            <a:off x="5151528" y="3094910"/>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Line 29"/>
          <p:cNvSpPr>
            <a:spLocks noChangeShapeType="1"/>
          </p:cNvSpPr>
          <p:nvPr/>
        </p:nvSpPr>
        <p:spPr bwMode="auto">
          <a:xfrm>
            <a:off x="6210376" y="3094910"/>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Line 29"/>
          <p:cNvSpPr>
            <a:spLocks noChangeShapeType="1"/>
          </p:cNvSpPr>
          <p:nvPr/>
        </p:nvSpPr>
        <p:spPr bwMode="auto">
          <a:xfrm>
            <a:off x="7379155" y="3094910"/>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Line 29"/>
          <p:cNvSpPr>
            <a:spLocks noChangeShapeType="1"/>
          </p:cNvSpPr>
          <p:nvPr/>
        </p:nvSpPr>
        <p:spPr bwMode="auto">
          <a:xfrm flipH="1">
            <a:off x="7934976" y="2419541"/>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Line 29"/>
          <p:cNvSpPr>
            <a:spLocks noChangeShapeType="1"/>
          </p:cNvSpPr>
          <p:nvPr/>
        </p:nvSpPr>
        <p:spPr bwMode="auto">
          <a:xfrm flipH="1">
            <a:off x="6324499" y="241954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Line 29"/>
          <p:cNvSpPr>
            <a:spLocks noChangeShapeType="1"/>
          </p:cNvSpPr>
          <p:nvPr/>
        </p:nvSpPr>
        <p:spPr bwMode="auto">
          <a:xfrm flipH="1">
            <a:off x="5265651" y="241954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 name="Line 29"/>
          <p:cNvSpPr>
            <a:spLocks noChangeShapeType="1"/>
          </p:cNvSpPr>
          <p:nvPr/>
        </p:nvSpPr>
        <p:spPr bwMode="auto">
          <a:xfrm flipH="1">
            <a:off x="4387295" y="2419541"/>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 name="Line 29"/>
          <p:cNvSpPr>
            <a:spLocks noChangeShapeType="1"/>
          </p:cNvSpPr>
          <p:nvPr/>
        </p:nvSpPr>
        <p:spPr bwMode="auto">
          <a:xfrm flipH="1">
            <a:off x="2918643" y="2419541"/>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Line 29"/>
          <p:cNvSpPr>
            <a:spLocks noChangeShapeType="1"/>
          </p:cNvSpPr>
          <p:nvPr/>
        </p:nvSpPr>
        <p:spPr bwMode="auto">
          <a:xfrm>
            <a:off x="4387295" y="3094910"/>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Line 29"/>
          <p:cNvSpPr>
            <a:spLocks noChangeShapeType="1"/>
          </p:cNvSpPr>
          <p:nvPr/>
        </p:nvSpPr>
        <p:spPr bwMode="auto">
          <a:xfrm>
            <a:off x="7934977" y="3094910"/>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Line 29"/>
          <p:cNvSpPr>
            <a:spLocks noChangeShapeType="1"/>
          </p:cNvSpPr>
          <p:nvPr/>
        </p:nvSpPr>
        <p:spPr bwMode="auto">
          <a:xfrm flipH="1">
            <a:off x="7525568" y="2419541"/>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 name="Line 29"/>
          <p:cNvSpPr>
            <a:spLocks noChangeShapeType="1"/>
          </p:cNvSpPr>
          <p:nvPr/>
        </p:nvSpPr>
        <p:spPr bwMode="auto">
          <a:xfrm flipH="1">
            <a:off x="3990876" y="2419541"/>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 name="Line 29"/>
          <p:cNvSpPr>
            <a:spLocks noChangeShapeType="1"/>
          </p:cNvSpPr>
          <p:nvPr/>
        </p:nvSpPr>
        <p:spPr bwMode="auto">
          <a:xfrm>
            <a:off x="1135811" y="3071290"/>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Line 29"/>
          <p:cNvSpPr>
            <a:spLocks noChangeShapeType="1"/>
          </p:cNvSpPr>
          <p:nvPr/>
        </p:nvSpPr>
        <p:spPr bwMode="auto">
          <a:xfrm>
            <a:off x="1135811" y="3384798"/>
            <a:ext cx="7744082" cy="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Line 29"/>
          <p:cNvSpPr>
            <a:spLocks noChangeShapeType="1"/>
          </p:cNvSpPr>
          <p:nvPr/>
        </p:nvSpPr>
        <p:spPr bwMode="auto">
          <a:xfrm flipV="1">
            <a:off x="1128249" y="3071290"/>
            <a:ext cx="0" cy="313508"/>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Line 29"/>
          <p:cNvSpPr>
            <a:spLocks noChangeShapeType="1"/>
          </p:cNvSpPr>
          <p:nvPr/>
        </p:nvSpPr>
        <p:spPr bwMode="auto">
          <a:xfrm flipV="1">
            <a:off x="8879893" y="3071290"/>
            <a:ext cx="0" cy="313508"/>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5" name="Line 29"/>
          <p:cNvSpPr>
            <a:spLocks noChangeShapeType="1"/>
          </p:cNvSpPr>
          <p:nvPr/>
        </p:nvSpPr>
        <p:spPr bwMode="auto">
          <a:xfrm>
            <a:off x="8496717" y="3071290"/>
            <a:ext cx="383177" cy="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6" name="矩形 65"/>
          <p:cNvSpPr/>
          <p:nvPr/>
        </p:nvSpPr>
        <p:spPr>
          <a:xfrm>
            <a:off x="3150613" y="3513805"/>
            <a:ext cx="3714478" cy="400110"/>
          </a:xfrm>
          <a:prstGeom prst="rect">
            <a:avLst/>
          </a:prstGeom>
        </p:spPr>
        <p:txBody>
          <a:bodyPr wrap="none">
            <a:spAutoFit/>
          </a:bodyPr>
          <a:lstStyle/>
          <a:p>
            <a:pPr marL="193675" lvl="1">
              <a:spcBef>
                <a:spcPct val="20000"/>
              </a:spcBef>
            </a:pPr>
            <a:r>
              <a:rPr lang="zh-CN" altLang="en-US" sz="2000" dirty="0">
                <a:latin typeface="微软雅黑" pitchFamily="34" charset="-122"/>
                <a:ea typeface="微软雅黑" pitchFamily="34" charset="-122"/>
                <a:cs typeface="经典粗黑简" pitchFamily="49" charset="-122"/>
              </a:rPr>
              <a:t>带头结点的非空双向循环链表</a:t>
            </a:r>
          </a:p>
        </p:txBody>
      </p:sp>
      <p:sp>
        <p:nvSpPr>
          <p:cNvPr id="67" name="Line 29"/>
          <p:cNvSpPr>
            <a:spLocks noChangeShapeType="1"/>
          </p:cNvSpPr>
          <p:nvPr/>
        </p:nvSpPr>
        <p:spPr bwMode="auto">
          <a:xfrm>
            <a:off x="1148398" y="2071118"/>
            <a:ext cx="7744082" cy="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8" name="Line 29"/>
          <p:cNvSpPr>
            <a:spLocks noChangeShapeType="1"/>
          </p:cNvSpPr>
          <p:nvPr/>
        </p:nvSpPr>
        <p:spPr bwMode="auto">
          <a:xfrm>
            <a:off x="1136751" y="2342921"/>
            <a:ext cx="383177" cy="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9" name="Line 29"/>
          <p:cNvSpPr>
            <a:spLocks noChangeShapeType="1"/>
          </p:cNvSpPr>
          <p:nvPr/>
        </p:nvSpPr>
        <p:spPr bwMode="auto">
          <a:xfrm flipV="1">
            <a:off x="1139689" y="2071118"/>
            <a:ext cx="0" cy="271803"/>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70" name="Line 29"/>
          <p:cNvSpPr>
            <a:spLocks noChangeShapeType="1"/>
          </p:cNvSpPr>
          <p:nvPr/>
        </p:nvSpPr>
        <p:spPr bwMode="auto">
          <a:xfrm flipV="1">
            <a:off x="8892480" y="2071118"/>
            <a:ext cx="0" cy="271803"/>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71" name="Line 29"/>
          <p:cNvSpPr>
            <a:spLocks noChangeShapeType="1"/>
          </p:cNvSpPr>
          <p:nvPr/>
        </p:nvSpPr>
        <p:spPr bwMode="auto">
          <a:xfrm>
            <a:off x="8686414" y="2342921"/>
            <a:ext cx="206066" cy="0"/>
          </a:xfrm>
          <a:prstGeom prst="line">
            <a:avLst/>
          </a:prstGeom>
          <a:noFill/>
          <a:ln w="19050">
            <a:solidFill>
              <a:schemeClr val="tx1"/>
            </a:solidFill>
            <a:round/>
            <a:headEnd type="triangle"/>
            <a:tailEnd type="none" w="med" len="med"/>
          </a:ln>
          <a:extLst>
            <a:ext uri="{909E8E84-426E-40DD-AFC4-6F175D3DCCD1}">
              <a14:hiddenFill xmlns:a14="http://schemas.microsoft.com/office/drawing/2010/main">
                <a:noFill/>
              </a14:hiddenFill>
            </a:ext>
          </a:extLst>
        </p:spPr>
        <p:txBody>
          <a:bodyPr/>
          <a:lstStyle/>
          <a:p>
            <a:endParaRPr lang="zh-CN" altLang="en-US"/>
          </a:p>
        </p:txBody>
      </p:sp>
      <p:cxnSp>
        <p:nvCxnSpPr>
          <p:cNvPr id="3" name="直接连接符 2">
            <a:extLst>
              <a:ext uri="{FF2B5EF4-FFF2-40B4-BE49-F238E27FC236}">
                <a16:creationId xmlns:a16="http://schemas.microsoft.com/office/drawing/2014/main" id="{3A717AAD-423A-0DE9-76E8-52A12749BAF8}"/>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86E87D0C-7012-2D8F-C1FF-015755DAB547}"/>
              </a:ext>
            </a:extLst>
          </p:cNvPr>
          <p:cNvSpPr/>
          <p:nvPr/>
        </p:nvSpPr>
        <p:spPr>
          <a:xfrm>
            <a:off x="395536" y="843558"/>
            <a:ext cx="302433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2.3.4 </a:t>
            </a:r>
            <a:r>
              <a:rPr lang="zh-CN" altLang="en-US" sz="2800" b="1" dirty="0">
                <a:solidFill>
                  <a:schemeClr val="bg1"/>
                </a:solidFill>
                <a:latin typeface="经典粗黑简" pitchFamily="49" charset="-122"/>
                <a:ea typeface="经典粗黑简" pitchFamily="49" charset="-122"/>
                <a:cs typeface="经典粗黑简" pitchFamily="49" charset="-122"/>
              </a:rPr>
              <a:t>循环链表</a:t>
            </a:r>
          </a:p>
        </p:txBody>
      </p:sp>
      <p:sp>
        <p:nvSpPr>
          <p:cNvPr id="5" name="Rectangle 2">
            <a:extLst>
              <a:ext uri="{FF2B5EF4-FFF2-40B4-BE49-F238E27FC236}">
                <a16:creationId xmlns:a16="http://schemas.microsoft.com/office/drawing/2014/main" id="{DAFCB40B-975C-D272-A745-69C069E45666}"/>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Tree>
    <p:extLst>
      <p:ext uri="{BB962C8B-B14F-4D97-AF65-F5344CB8AC3E}">
        <p14:creationId xmlns:p14="http://schemas.microsoft.com/office/powerpoint/2010/main" val="12041522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581470" y="1436762"/>
            <a:ext cx="2355714" cy="34290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latin typeface="微软雅黑" pitchFamily="34" charset="-122"/>
                <a:ea typeface="微软雅黑" pitchFamily="34" charset="-122"/>
                <a:cs typeface="经典粗黑简" pitchFamily="49" charset="-122"/>
              </a:rPr>
              <a:t>双向循环链表</a:t>
            </a:r>
          </a:p>
        </p:txBody>
      </p:sp>
      <p:sp>
        <p:nvSpPr>
          <p:cNvPr id="7" name="Rectangle 25"/>
          <p:cNvSpPr>
            <a:spLocks noChangeArrowheads="1"/>
          </p:cNvSpPr>
          <p:nvPr/>
        </p:nvSpPr>
        <p:spPr bwMode="auto">
          <a:xfrm>
            <a:off x="7662932" y="2253925"/>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8" name="Rectangle 36"/>
          <p:cNvSpPr>
            <a:spLocks noChangeArrowheads="1"/>
          </p:cNvSpPr>
          <p:nvPr/>
        </p:nvSpPr>
        <p:spPr bwMode="auto">
          <a:xfrm>
            <a:off x="4057026" y="2243041"/>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9" name="Line 29"/>
          <p:cNvSpPr>
            <a:spLocks noChangeShapeType="1"/>
          </p:cNvSpPr>
          <p:nvPr/>
        </p:nvSpPr>
        <p:spPr bwMode="auto">
          <a:xfrm>
            <a:off x="674409" y="2087019"/>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Rectangle 228"/>
          <p:cNvSpPr>
            <a:spLocks noChangeArrowheads="1"/>
          </p:cNvSpPr>
          <p:nvPr/>
        </p:nvSpPr>
        <p:spPr bwMode="auto">
          <a:xfrm>
            <a:off x="408764" y="1889112"/>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13" name="组合 12"/>
          <p:cNvGrpSpPr/>
          <p:nvPr/>
        </p:nvGrpSpPr>
        <p:grpSpPr>
          <a:xfrm>
            <a:off x="2385242" y="1910210"/>
            <a:ext cx="533400" cy="984427"/>
            <a:chOff x="3344047" y="4287041"/>
            <a:chExt cx="533400" cy="1312569"/>
          </a:xfrm>
        </p:grpSpPr>
        <p:sp>
          <p:nvSpPr>
            <p:cNvPr id="14"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5"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 name="组合 16"/>
          <p:cNvGrpSpPr/>
          <p:nvPr/>
        </p:nvGrpSpPr>
        <p:grpSpPr>
          <a:xfrm>
            <a:off x="3444090" y="1910210"/>
            <a:ext cx="533400" cy="984427"/>
            <a:chOff x="3344047" y="4287041"/>
            <a:chExt cx="533400" cy="1312569"/>
          </a:xfrm>
        </p:grpSpPr>
        <p:sp>
          <p:nvSpPr>
            <p:cNvPr id="18"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9"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1" name="组合 20"/>
          <p:cNvGrpSpPr/>
          <p:nvPr/>
        </p:nvGrpSpPr>
        <p:grpSpPr>
          <a:xfrm>
            <a:off x="4590028" y="1910210"/>
            <a:ext cx="675622" cy="984427"/>
            <a:chOff x="3344047" y="4287041"/>
            <a:chExt cx="533400" cy="1312569"/>
          </a:xfrm>
        </p:grpSpPr>
        <p:sp>
          <p:nvSpPr>
            <p:cNvPr id="22"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23"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6" name="组合 25"/>
          <p:cNvGrpSpPr/>
          <p:nvPr/>
        </p:nvGrpSpPr>
        <p:grpSpPr>
          <a:xfrm>
            <a:off x="8138107" y="1910210"/>
            <a:ext cx="533400" cy="984427"/>
            <a:chOff x="3344047" y="4287041"/>
            <a:chExt cx="533400" cy="1312569"/>
          </a:xfrm>
        </p:grpSpPr>
        <p:sp>
          <p:nvSpPr>
            <p:cNvPr id="28"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600" baseline="-25000" dirty="0"/>
                <a:t>n</a:t>
              </a:r>
              <a:r>
                <a:rPr lang="en-US" altLang="zh-CN" sz="2400" dirty="0"/>
                <a:t>   </a:t>
              </a:r>
            </a:p>
          </p:txBody>
        </p:sp>
        <p:sp>
          <p:nvSpPr>
            <p:cNvPr id="29"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 name="组合 30"/>
          <p:cNvGrpSpPr/>
          <p:nvPr/>
        </p:nvGrpSpPr>
        <p:grpSpPr>
          <a:xfrm>
            <a:off x="5791098" y="1910210"/>
            <a:ext cx="533400" cy="984427"/>
            <a:chOff x="3344047" y="4287041"/>
            <a:chExt cx="533400" cy="1312569"/>
          </a:xfrm>
        </p:grpSpPr>
        <p:sp>
          <p:nvSpPr>
            <p:cNvPr id="32"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33"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5" name="组合 34"/>
          <p:cNvGrpSpPr/>
          <p:nvPr/>
        </p:nvGrpSpPr>
        <p:grpSpPr>
          <a:xfrm>
            <a:off x="6849946" y="1910210"/>
            <a:ext cx="675622" cy="984427"/>
            <a:chOff x="3344047" y="4287041"/>
            <a:chExt cx="533400" cy="1312569"/>
          </a:xfrm>
        </p:grpSpPr>
        <p:sp>
          <p:nvSpPr>
            <p:cNvPr id="36" name="Rectangle 5"/>
            <p:cNvSpPr>
              <a:spLocks noChangeArrowheads="1"/>
            </p:cNvSpPr>
            <p:nvPr/>
          </p:nvSpPr>
          <p:spPr bwMode="auto">
            <a:xfrm>
              <a:off x="3344047" y="4287041"/>
              <a:ext cx="533400" cy="1312569"/>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2400" baseline="-25000" dirty="0">
                  <a:latin typeface="微软雅黑" pitchFamily="34" charset="-122"/>
                  <a:ea typeface="微软雅黑" pitchFamily="34" charset="-122"/>
                </a:rPr>
                <a:t>i+1</a:t>
              </a:r>
              <a:r>
                <a:rPr lang="en-US" altLang="zh-CN" sz="3600" baseline="-25000" dirty="0"/>
                <a:t> </a:t>
              </a:r>
              <a:r>
                <a:rPr lang="en-US" altLang="zh-CN" sz="2400" dirty="0"/>
                <a:t>   </a:t>
              </a:r>
            </a:p>
          </p:txBody>
        </p:sp>
        <p:sp>
          <p:nvSpPr>
            <p:cNvPr id="37"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0" name="组合 39"/>
          <p:cNvGrpSpPr/>
          <p:nvPr/>
        </p:nvGrpSpPr>
        <p:grpSpPr>
          <a:xfrm>
            <a:off x="1326394" y="1910210"/>
            <a:ext cx="533400" cy="984427"/>
            <a:chOff x="3344047" y="4287041"/>
            <a:chExt cx="533400" cy="1312569"/>
          </a:xfrm>
        </p:grpSpPr>
        <p:sp>
          <p:nvSpPr>
            <p:cNvPr id="42" name="Rectangle 5"/>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43"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5" name="Line 29"/>
          <p:cNvSpPr>
            <a:spLocks noChangeShapeType="1"/>
          </p:cNvSpPr>
          <p:nvPr/>
        </p:nvSpPr>
        <p:spPr bwMode="auto">
          <a:xfrm flipH="1">
            <a:off x="1870339" y="2080769"/>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Line 29"/>
          <p:cNvSpPr>
            <a:spLocks noChangeShapeType="1"/>
          </p:cNvSpPr>
          <p:nvPr/>
        </p:nvSpPr>
        <p:spPr bwMode="auto">
          <a:xfrm>
            <a:off x="1745671" y="2756137"/>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Line 29"/>
          <p:cNvSpPr>
            <a:spLocks noChangeShapeType="1"/>
          </p:cNvSpPr>
          <p:nvPr/>
        </p:nvSpPr>
        <p:spPr bwMode="auto">
          <a:xfrm>
            <a:off x="2804520" y="2756137"/>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Line 29"/>
          <p:cNvSpPr>
            <a:spLocks noChangeShapeType="1"/>
          </p:cNvSpPr>
          <p:nvPr/>
        </p:nvSpPr>
        <p:spPr bwMode="auto">
          <a:xfrm>
            <a:off x="3926554" y="2756137"/>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29"/>
          <p:cNvSpPr>
            <a:spLocks noChangeShapeType="1"/>
          </p:cNvSpPr>
          <p:nvPr/>
        </p:nvSpPr>
        <p:spPr bwMode="auto">
          <a:xfrm>
            <a:off x="5151528" y="2756137"/>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Line 29"/>
          <p:cNvSpPr>
            <a:spLocks noChangeShapeType="1"/>
          </p:cNvSpPr>
          <p:nvPr/>
        </p:nvSpPr>
        <p:spPr bwMode="auto">
          <a:xfrm>
            <a:off x="6210376" y="2756137"/>
            <a:ext cx="63957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Line 29"/>
          <p:cNvSpPr>
            <a:spLocks noChangeShapeType="1"/>
          </p:cNvSpPr>
          <p:nvPr/>
        </p:nvSpPr>
        <p:spPr bwMode="auto">
          <a:xfrm>
            <a:off x="7379155" y="2756137"/>
            <a:ext cx="38636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Line 29"/>
          <p:cNvSpPr>
            <a:spLocks noChangeShapeType="1"/>
          </p:cNvSpPr>
          <p:nvPr/>
        </p:nvSpPr>
        <p:spPr bwMode="auto">
          <a:xfrm flipH="1">
            <a:off x="7934976" y="2080769"/>
            <a:ext cx="44994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Line 29"/>
          <p:cNvSpPr>
            <a:spLocks noChangeShapeType="1"/>
          </p:cNvSpPr>
          <p:nvPr/>
        </p:nvSpPr>
        <p:spPr bwMode="auto">
          <a:xfrm flipH="1">
            <a:off x="6324499" y="2080769"/>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Line 29"/>
          <p:cNvSpPr>
            <a:spLocks noChangeShapeType="1"/>
          </p:cNvSpPr>
          <p:nvPr/>
        </p:nvSpPr>
        <p:spPr bwMode="auto">
          <a:xfrm flipH="1">
            <a:off x="5265651" y="2080769"/>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 name="Line 29"/>
          <p:cNvSpPr>
            <a:spLocks noChangeShapeType="1"/>
          </p:cNvSpPr>
          <p:nvPr/>
        </p:nvSpPr>
        <p:spPr bwMode="auto">
          <a:xfrm flipH="1">
            <a:off x="4387295" y="2080769"/>
            <a:ext cx="47844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 name="Line 29"/>
          <p:cNvSpPr>
            <a:spLocks noChangeShapeType="1"/>
          </p:cNvSpPr>
          <p:nvPr/>
        </p:nvSpPr>
        <p:spPr bwMode="auto">
          <a:xfrm flipH="1">
            <a:off x="2918643" y="2080769"/>
            <a:ext cx="6193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Line 29"/>
          <p:cNvSpPr>
            <a:spLocks noChangeShapeType="1"/>
          </p:cNvSpPr>
          <p:nvPr/>
        </p:nvSpPr>
        <p:spPr bwMode="auto">
          <a:xfrm>
            <a:off x="4387295" y="2756137"/>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Line 29"/>
          <p:cNvSpPr>
            <a:spLocks noChangeShapeType="1"/>
          </p:cNvSpPr>
          <p:nvPr/>
        </p:nvSpPr>
        <p:spPr bwMode="auto">
          <a:xfrm>
            <a:off x="7934977" y="2756137"/>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Line 29"/>
          <p:cNvSpPr>
            <a:spLocks noChangeShapeType="1"/>
          </p:cNvSpPr>
          <p:nvPr/>
        </p:nvSpPr>
        <p:spPr bwMode="auto">
          <a:xfrm flipH="1">
            <a:off x="7525568" y="2080769"/>
            <a:ext cx="22497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 name="Line 29"/>
          <p:cNvSpPr>
            <a:spLocks noChangeShapeType="1"/>
          </p:cNvSpPr>
          <p:nvPr/>
        </p:nvSpPr>
        <p:spPr bwMode="auto">
          <a:xfrm flipH="1">
            <a:off x="3990876" y="2080769"/>
            <a:ext cx="2392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 name="Line 29"/>
          <p:cNvSpPr>
            <a:spLocks noChangeShapeType="1"/>
          </p:cNvSpPr>
          <p:nvPr/>
        </p:nvSpPr>
        <p:spPr bwMode="auto">
          <a:xfrm>
            <a:off x="1135811" y="2732517"/>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Line 29"/>
          <p:cNvSpPr>
            <a:spLocks noChangeShapeType="1"/>
          </p:cNvSpPr>
          <p:nvPr/>
        </p:nvSpPr>
        <p:spPr bwMode="auto">
          <a:xfrm>
            <a:off x="1135811" y="3046025"/>
            <a:ext cx="7744082" cy="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Line 29"/>
          <p:cNvSpPr>
            <a:spLocks noChangeShapeType="1"/>
          </p:cNvSpPr>
          <p:nvPr/>
        </p:nvSpPr>
        <p:spPr bwMode="auto">
          <a:xfrm flipV="1">
            <a:off x="1128249" y="2732518"/>
            <a:ext cx="0" cy="313508"/>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Line 29"/>
          <p:cNvSpPr>
            <a:spLocks noChangeShapeType="1"/>
          </p:cNvSpPr>
          <p:nvPr/>
        </p:nvSpPr>
        <p:spPr bwMode="auto">
          <a:xfrm flipV="1">
            <a:off x="8879893" y="2732518"/>
            <a:ext cx="0" cy="313508"/>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5" name="Line 29"/>
          <p:cNvSpPr>
            <a:spLocks noChangeShapeType="1"/>
          </p:cNvSpPr>
          <p:nvPr/>
        </p:nvSpPr>
        <p:spPr bwMode="auto">
          <a:xfrm>
            <a:off x="8496717" y="2732517"/>
            <a:ext cx="383177" cy="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6" name="矩形 65"/>
          <p:cNvSpPr/>
          <p:nvPr/>
        </p:nvSpPr>
        <p:spPr>
          <a:xfrm>
            <a:off x="3150613" y="3175033"/>
            <a:ext cx="3714478" cy="400110"/>
          </a:xfrm>
          <a:prstGeom prst="rect">
            <a:avLst/>
          </a:prstGeom>
        </p:spPr>
        <p:txBody>
          <a:bodyPr wrap="none">
            <a:spAutoFit/>
          </a:bodyPr>
          <a:lstStyle/>
          <a:p>
            <a:pPr marL="193675" lvl="1">
              <a:spcBef>
                <a:spcPct val="20000"/>
              </a:spcBef>
            </a:pPr>
            <a:r>
              <a:rPr lang="zh-CN" altLang="en-US" sz="2000" dirty="0">
                <a:latin typeface="微软雅黑" pitchFamily="34" charset="-122"/>
                <a:ea typeface="微软雅黑" pitchFamily="34" charset="-122"/>
                <a:cs typeface="经典粗黑简" pitchFamily="49" charset="-122"/>
              </a:rPr>
              <a:t>带头结点的非空双向循环链表</a:t>
            </a:r>
          </a:p>
        </p:txBody>
      </p:sp>
      <p:sp>
        <p:nvSpPr>
          <p:cNvPr id="67" name="Line 29"/>
          <p:cNvSpPr>
            <a:spLocks noChangeShapeType="1"/>
          </p:cNvSpPr>
          <p:nvPr/>
        </p:nvSpPr>
        <p:spPr bwMode="auto">
          <a:xfrm>
            <a:off x="1148398" y="1732345"/>
            <a:ext cx="7744082" cy="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8" name="Line 29"/>
          <p:cNvSpPr>
            <a:spLocks noChangeShapeType="1"/>
          </p:cNvSpPr>
          <p:nvPr/>
        </p:nvSpPr>
        <p:spPr bwMode="auto">
          <a:xfrm>
            <a:off x="1136751" y="2004148"/>
            <a:ext cx="383177" cy="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9" name="Line 29"/>
          <p:cNvSpPr>
            <a:spLocks noChangeShapeType="1"/>
          </p:cNvSpPr>
          <p:nvPr/>
        </p:nvSpPr>
        <p:spPr bwMode="auto">
          <a:xfrm flipV="1">
            <a:off x="1139689" y="1732345"/>
            <a:ext cx="0" cy="271803"/>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70" name="Line 29"/>
          <p:cNvSpPr>
            <a:spLocks noChangeShapeType="1"/>
          </p:cNvSpPr>
          <p:nvPr/>
        </p:nvSpPr>
        <p:spPr bwMode="auto">
          <a:xfrm flipV="1">
            <a:off x="8892480" y="1732345"/>
            <a:ext cx="0" cy="271803"/>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71" name="Line 29"/>
          <p:cNvSpPr>
            <a:spLocks noChangeShapeType="1"/>
          </p:cNvSpPr>
          <p:nvPr/>
        </p:nvSpPr>
        <p:spPr bwMode="auto">
          <a:xfrm>
            <a:off x="8686414" y="2004148"/>
            <a:ext cx="206066" cy="0"/>
          </a:xfrm>
          <a:prstGeom prst="line">
            <a:avLst/>
          </a:prstGeom>
          <a:noFill/>
          <a:ln w="19050">
            <a:solidFill>
              <a:schemeClr val="tx1"/>
            </a:solidFill>
            <a:round/>
            <a:headEnd type="triangle"/>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72" name="Line 29"/>
          <p:cNvSpPr>
            <a:spLocks noChangeShapeType="1"/>
          </p:cNvSpPr>
          <p:nvPr/>
        </p:nvSpPr>
        <p:spPr bwMode="auto">
          <a:xfrm>
            <a:off x="657972" y="3610980"/>
            <a:ext cx="6546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 name="Rectangle 228"/>
          <p:cNvSpPr>
            <a:spLocks noChangeArrowheads="1"/>
          </p:cNvSpPr>
          <p:nvPr/>
        </p:nvSpPr>
        <p:spPr bwMode="auto">
          <a:xfrm>
            <a:off x="392327" y="3413073"/>
            <a:ext cx="309191" cy="461665"/>
          </a:xfrm>
          <a:prstGeom prst="rect">
            <a:avLst/>
          </a:prstGeom>
          <a:noFill/>
          <a:ln>
            <a:noFill/>
          </a:ln>
        </p:spPr>
        <p:txBody>
          <a:bodyPr wrap="square">
            <a:spAutoFit/>
          </a:bodyPr>
          <a:lstStyle/>
          <a:p>
            <a:pPr algn="r"/>
            <a:r>
              <a:rPr lang="en-US" altLang="zh-CN" sz="2400" dirty="0">
                <a:latin typeface="微软雅黑" pitchFamily="34" charset="-122"/>
                <a:ea typeface="微软雅黑" pitchFamily="34" charset="-122"/>
              </a:rPr>
              <a:t>L</a:t>
            </a:r>
          </a:p>
        </p:txBody>
      </p:sp>
      <p:grpSp>
        <p:nvGrpSpPr>
          <p:cNvPr id="74" name="组合 73"/>
          <p:cNvGrpSpPr/>
          <p:nvPr/>
        </p:nvGrpSpPr>
        <p:grpSpPr>
          <a:xfrm>
            <a:off x="1309957" y="3434171"/>
            <a:ext cx="533400" cy="984427"/>
            <a:chOff x="3344047" y="4287041"/>
            <a:chExt cx="533400" cy="1312569"/>
          </a:xfrm>
        </p:grpSpPr>
        <p:sp>
          <p:nvSpPr>
            <p:cNvPr id="75" name="Rectangle 5"/>
            <p:cNvSpPr>
              <a:spLocks noChangeArrowheads="1"/>
            </p:cNvSpPr>
            <p:nvPr/>
          </p:nvSpPr>
          <p:spPr bwMode="auto">
            <a:xfrm>
              <a:off x="3344047" y="4287041"/>
              <a:ext cx="533400" cy="1312569"/>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76" name="Line 6"/>
            <p:cNvSpPr>
              <a:spLocks noChangeShapeType="1"/>
            </p:cNvSpPr>
            <p:nvPr/>
          </p:nvSpPr>
          <p:spPr bwMode="auto">
            <a:xfrm flipV="1">
              <a:off x="3346678" y="4655875"/>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6"/>
            <p:cNvSpPr>
              <a:spLocks noChangeShapeType="1"/>
            </p:cNvSpPr>
            <p:nvPr/>
          </p:nvSpPr>
          <p:spPr bwMode="auto">
            <a:xfrm flipV="1">
              <a:off x="3346678" y="5207870"/>
              <a:ext cx="530769"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8" name="Line 29"/>
          <p:cNvSpPr>
            <a:spLocks noChangeShapeType="1"/>
          </p:cNvSpPr>
          <p:nvPr/>
        </p:nvSpPr>
        <p:spPr bwMode="auto">
          <a:xfrm>
            <a:off x="1103891" y="4280098"/>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 name="Line 29"/>
          <p:cNvSpPr>
            <a:spLocks noChangeShapeType="1"/>
          </p:cNvSpPr>
          <p:nvPr/>
        </p:nvSpPr>
        <p:spPr bwMode="auto">
          <a:xfrm flipV="1">
            <a:off x="1103892" y="4593606"/>
            <a:ext cx="1032773" cy="1"/>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80" name="Line 29"/>
          <p:cNvSpPr>
            <a:spLocks noChangeShapeType="1"/>
          </p:cNvSpPr>
          <p:nvPr/>
        </p:nvSpPr>
        <p:spPr bwMode="auto">
          <a:xfrm flipV="1">
            <a:off x="1096329" y="4280098"/>
            <a:ext cx="0" cy="313508"/>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81" name="Line 29"/>
          <p:cNvSpPr>
            <a:spLocks noChangeShapeType="1"/>
          </p:cNvSpPr>
          <p:nvPr/>
        </p:nvSpPr>
        <p:spPr bwMode="auto">
          <a:xfrm flipV="1">
            <a:off x="2136664" y="4280098"/>
            <a:ext cx="0" cy="313508"/>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82" name="Line 29"/>
          <p:cNvSpPr>
            <a:spLocks noChangeShapeType="1"/>
          </p:cNvSpPr>
          <p:nvPr/>
        </p:nvSpPr>
        <p:spPr bwMode="auto">
          <a:xfrm>
            <a:off x="1753488" y="4280098"/>
            <a:ext cx="383177" cy="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83" name="Line 29"/>
          <p:cNvSpPr>
            <a:spLocks noChangeShapeType="1"/>
          </p:cNvSpPr>
          <p:nvPr/>
        </p:nvSpPr>
        <p:spPr bwMode="auto">
          <a:xfrm>
            <a:off x="1117054" y="3499592"/>
            <a:ext cx="2060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 name="Line 29"/>
          <p:cNvSpPr>
            <a:spLocks noChangeShapeType="1"/>
          </p:cNvSpPr>
          <p:nvPr/>
        </p:nvSpPr>
        <p:spPr bwMode="auto">
          <a:xfrm flipV="1">
            <a:off x="1117055" y="3186084"/>
            <a:ext cx="1032773" cy="1"/>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85" name="Line 29"/>
          <p:cNvSpPr>
            <a:spLocks noChangeShapeType="1"/>
          </p:cNvSpPr>
          <p:nvPr/>
        </p:nvSpPr>
        <p:spPr bwMode="auto">
          <a:xfrm flipV="1">
            <a:off x="1117054" y="3186085"/>
            <a:ext cx="0" cy="313508"/>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86" name="Line 29"/>
          <p:cNvSpPr>
            <a:spLocks noChangeShapeType="1"/>
          </p:cNvSpPr>
          <p:nvPr/>
        </p:nvSpPr>
        <p:spPr bwMode="auto">
          <a:xfrm flipV="1">
            <a:off x="2150905" y="3189519"/>
            <a:ext cx="0" cy="313508"/>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87" name="Line 29"/>
          <p:cNvSpPr>
            <a:spLocks noChangeShapeType="1"/>
          </p:cNvSpPr>
          <p:nvPr/>
        </p:nvSpPr>
        <p:spPr bwMode="auto">
          <a:xfrm>
            <a:off x="1766651" y="3499592"/>
            <a:ext cx="383177" cy="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88" name="矩形 87"/>
          <p:cNvSpPr/>
          <p:nvPr/>
        </p:nvSpPr>
        <p:spPr>
          <a:xfrm>
            <a:off x="3131840" y="4142058"/>
            <a:ext cx="3457998" cy="400110"/>
          </a:xfrm>
          <a:prstGeom prst="rect">
            <a:avLst/>
          </a:prstGeom>
        </p:spPr>
        <p:txBody>
          <a:bodyPr wrap="none">
            <a:spAutoFit/>
          </a:bodyPr>
          <a:lstStyle/>
          <a:p>
            <a:pPr marL="193675" lvl="1">
              <a:spcBef>
                <a:spcPct val="20000"/>
              </a:spcBef>
            </a:pPr>
            <a:r>
              <a:rPr lang="zh-CN" altLang="en-US" sz="2000" dirty="0">
                <a:latin typeface="微软雅黑" pitchFamily="34" charset="-122"/>
                <a:ea typeface="微软雅黑" pitchFamily="34" charset="-122"/>
                <a:cs typeface="经典粗黑简" pitchFamily="49" charset="-122"/>
              </a:rPr>
              <a:t>带头结点的空双向循环链表</a:t>
            </a:r>
          </a:p>
        </p:txBody>
      </p:sp>
      <p:cxnSp>
        <p:nvCxnSpPr>
          <p:cNvPr id="3" name="直接连接符 2">
            <a:extLst>
              <a:ext uri="{FF2B5EF4-FFF2-40B4-BE49-F238E27FC236}">
                <a16:creationId xmlns:a16="http://schemas.microsoft.com/office/drawing/2014/main" id="{FA7BAE51-C8C0-12A1-0B8E-5FC5F31B88E6}"/>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9BADF980-C000-4E5A-05D6-4E1FE1C34E9D}"/>
              </a:ext>
            </a:extLst>
          </p:cNvPr>
          <p:cNvSpPr/>
          <p:nvPr/>
        </p:nvSpPr>
        <p:spPr>
          <a:xfrm>
            <a:off x="395536" y="843558"/>
            <a:ext cx="302433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2.3.4 </a:t>
            </a:r>
            <a:r>
              <a:rPr lang="zh-CN" altLang="en-US" sz="2800" b="1" dirty="0">
                <a:solidFill>
                  <a:schemeClr val="bg1"/>
                </a:solidFill>
                <a:latin typeface="经典粗黑简" pitchFamily="49" charset="-122"/>
                <a:ea typeface="经典粗黑简" pitchFamily="49" charset="-122"/>
                <a:cs typeface="经典粗黑简" pitchFamily="49" charset="-122"/>
              </a:rPr>
              <a:t>循环链表</a:t>
            </a:r>
          </a:p>
        </p:txBody>
      </p:sp>
      <p:sp>
        <p:nvSpPr>
          <p:cNvPr id="5" name="Rectangle 2">
            <a:extLst>
              <a:ext uri="{FF2B5EF4-FFF2-40B4-BE49-F238E27FC236}">
                <a16:creationId xmlns:a16="http://schemas.microsoft.com/office/drawing/2014/main" id="{806852BD-A391-9F9F-D4C2-DAF221B00471}"/>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2.3 </a:t>
            </a:r>
            <a:r>
              <a:rPr lang="zh-CN" altLang="en-US" sz="3700" b="1" dirty="0">
                <a:latin typeface="黑体" pitchFamily="49" charset="-122"/>
                <a:ea typeface="黑体" pitchFamily="49" charset="-122"/>
                <a:cs typeface="+mn-cs"/>
              </a:rPr>
              <a:t>线性表的链式存储结构</a:t>
            </a:r>
          </a:p>
        </p:txBody>
      </p:sp>
    </p:spTree>
    <p:extLst>
      <p:ext uri="{BB962C8B-B14F-4D97-AF65-F5344CB8AC3E}">
        <p14:creationId xmlns:p14="http://schemas.microsoft.com/office/powerpoint/2010/main" val="264945610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95536" y="843558"/>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2.4.1 </a:t>
            </a:r>
            <a:r>
              <a:rPr lang="zh-CN" altLang="en-US" sz="2800" b="1" dirty="0">
                <a:solidFill>
                  <a:schemeClr val="bg1"/>
                </a:solidFill>
                <a:latin typeface="经典粗黑简" pitchFamily="49" charset="-122"/>
                <a:ea typeface="经典粗黑简" pitchFamily="49" charset="-122"/>
                <a:cs typeface="经典粗黑简" pitchFamily="49" charset="-122"/>
              </a:rPr>
              <a:t>求集合的并集</a:t>
            </a:r>
          </a:p>
        </p:txBody>
      </p:sp>
      <p:sp>
        <p:nvSpPr>
          <p:cNvPr id="4" name="矩形 3"/>
          <p:cNvSpPr/>
          <p:nvPr/>
        </p:nvSpPr>
        <p:spPr>
          <a:xfrm>
            <a:off x="4839617" y="760504"/>
            <a:ext cx="4304383" cy="584775"/>
          </a:xfrm>
          <a:prstGeom prst="rect">
            <a:avLst/>
          </a:prstGeom>
        </p:spPr>
        <p:txBody>
          <a:bodyPr wrap="none">
            <a:spAutoFit/>
          </a:bodyPr>
          <a:lstStyle/>
          <a:p>
            <a:r>
              <a:rPr lang="en-US" altLang="zh-CN" sz="3200" b="1" dirty="0">
                <a:latin typeface="黑体" pitchFamily="49" charset="-122"/>
                <a:ea typeface="黑体" pitchFamily="49" charset="-122"/>
              </a:rPr>
              <a:t>——</a:t>
            </a:r>
            <a:r>
              <a:rPr lang="zh-CN" altLang="en-US" sz="3200" b="1" dirty="0">
                <a:latin typeface="黑体" pitchFamily="49" charset="-122"/>
                <a:ea typeface="黑体" pitchFamily="49" charset="-122"/>
              </a:rPr>
              <a:t>顺序表的其他操作</a:t>
            </a:r>
          </a:p>
        </p:txBody>
      </p:sp>
      <p:sp>
        <p:nvSpPr>
          <p:cNvPr id="7" name="矩形 6"/>
          <p:cNvSpPr/>
          <p:nvPr/>
        </p:nvSpPr>
        <p:spPr>
          <a:xfrm>
            <a:off x="860704" y="1571191"/>
            <a:ext cx="8569234" cy="369332"/>
          </a:xfrm>
          <a:prstGeom prst="rect">
            <a:avLst/>
          </a:prstGeom>
        </p:spPr>
        <p:txBody>
          <a:bodyPr wrap="square">
            <a:spAutoFit/>
          </a:bodyPr>
          <a:lstStyle/>
          <a:p>
            <a:pPr marL="179388" indent="-179388">
              <a:buFont typeface="Wingdings" pitchFamily="2" charset="2"/>
              <a:buNone/>
            </a:pPr>
            <a:r>
              <a:rPr lang="zh-CN" altLang="en-US" b="1" dirty="0"/>
              <a:t>例1</a:t>
            </a:r>
            <a:r>
              <a:rPr lang="zh-CN" altLang="en-US" dirty="0"/>
              <a:t> 利用两个线性表</a:t>
            </a:r>
            <a:r>
              <a:rPr lang="en-US" altLang="zh-CN" dirty="0"/>
              <a:t>LA</a:t>
            </a:r>
            <a:r>
              <a:rPr lang="zh-CN" altLang="en-US" dirty="0"/>
              <a:t>和</a:t>
            </a:r>
            <a:r>
              <a:rPr lang="en-US" altLang="zh-CN" dirty="0"/>
              <a:t>LB</a:t>
            </a:r>
            <a:r>
              <a:rPr lang="zh-CN" altLang="en-US" dirty="0"/>
              <a:t>分别表示集合</a:t>
            </a:r>
            <a:r>
              <a:rPr lang="en-US" altLang="zh-CN" dirty="0"/>
              <a:t>A</a:t>
            </a:r>
            <a:r>
              <a:rPr lang="zh-CN" altLang="en-US" dirty="0"/>
              <a:t>和</a:t>
            </a:r>
            <a:r>
              <a:rPr lang="en-US" altLang="zh-CN" dirty="0"/>
              <a:t>B，</a:t>
            </a:r>
            <a:r>
              <a:rPr lang="zh-CN" altLang="en-US" dirty="0"/>
              <a:t>求一个新的集合</a:t>
            </a:r>
            <a:r>
              <a:rPr lang="en-US" altLang="zh-CN" dirty="0"/>
              <a:t>A=A∪B。</a:t>
            </a:r>
            <a:r>
              <a:rPr lang="zh-CN" altLang="en-US" dirty="0"/>
              <a:t>  </a:t>
            </a:r>
          </a:p>
        </p:txBody>
      </p:sp>
      <p:sp>
        <p:nvSpPr>
          <p:cNvPr id="11" name="Rectangle 6"/>
          <p:cNvSpPr>
            <a:spLocks noChangeArrowheads="1"/>
          </p:cNvSpPr>
          <p:nvPr/>
        </p:nvSpPr>
        <p:spPr bwMode="auto">
          <a:xfrm>
            <a:off x="860704" y="1848190"/>
            <a:ext cx="80641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dirty="0"/>
              <a:t>算法思路：集合中的元素间是松散的关系，只需将在线性表</a:t>
            </a:r>
            <a:r>
              <a:rPr lang="en-US" altLang="zh-CN" dirty="0"/>
              <a:t>LB</a:t>
            </a:r>
            <a:r>
              <a:rPr lang="zh-CN" altLang="en-US" dirty="0"/>
              <a:t>中而不在</a:t>
            </a:r>
            <a:r>
              <a:rPr lang="en-US" altLang="zh-CN" dirty="0"/>
              <a:t>LA</a:t>
            </a:r>
            <a:r>
              <a:rPr lang="zh-CN" altLang="en-US" dirty="0"/>
              <a:t>中的数据元素追加到</a:t>
            </a:r>
            <a:r>
              <a:rPr lang="en-US" altLang="zh-CN" dirty="0"/>
              <a:t>LA</a:t>
            </a:r>
            <a:r>
              <a:rPr lang="zh-CN" altLang="en-US" dirty="0"/>
              <a:t>的尾部即可。</a:t>
            </a:r>
            <a:endParaRPr lang="en-US" altLang="zh-CN" dirty="0"/>
          </a:p>
        </p:txBody>
      </p:sp>
      <p:sp>
        <p:nvSpPr>
          <p:cNvPr id="12" name="矩形 11"/>
          <p:cNvSpPr/>
          <p:nvPr/>
        </p:nvSpPr>
        <p:spPr>
          <a:xfrm>
            <a:off x="2206183" y="3258482"/>
            <a:ext cx="5638802" cy="369332"/>
          </a:xfrm>
          <a:prstGeom prst="rect">
            <a:avLst/>
          </a:prstGeom>
        </p:spPr>
        <p:txBody>
          <a:bodyPr wrap="square">
            <a:spAutoFit/>
          </a:bodyPr>
          <a:lstStyle/>
          <a:p>
            <a:r>
              <a:rPr lang="en-US" altLang="zh-CN" dirty="0"/>
              <a:t>1</a:t>
            </a:r>
            <a:r>
              <a:rPr lang="zh-CN" altLang="zh-CN" dirty="0"/>
              <a:t>、依次</a:t>
            </a:r>
            <a:r>
              <a:rPr lang="zh-CN" altLang="zh-CN" dirty="0">
                <a:solidFill>
                  <a:srgbClr val="FF0000"/>
                </a:solidFill>
              </a:rPr>
              <a:t>获取</a:t>
            </a:r>
            <a:r>
              <a:rPr lang="en-US" altLang="zh-CN" dirty="0"/>
              <a:t>LB</a:t>
            </a:r>
            <a:r>
              <a:rPr lang="zh-CN" altLang="zh-CN" dirty="0"/>
              <a:t>中的数据元素，并将它存放在变量</a:t>
            </a:r>
            <a:r>
              <a:rPr lang="en-US" altLang="zh-CN" dirty="0"/>
              <a:t>e</a:t>
            </a:r>
            <a:r>
              <a:rPr lang="zh-CN" altLang="zh-CN" dirty="0"/>
              <a:t>中；</a:t>
            </a:r>
          </a:p>
        </p:txBody>
      </p:sp>
      <p:sp>
        <p:nvSpPr>
          <p:cNvPr id="13" name="矩形 12"/>
          <p:cNvSpPr/>
          <p:nvPr/>
        </p:nvSpPr>
        <p:spPr>
          <a:xfrm>
            <a:off x="860705" y="2353452"/>
            <a:ext cx="9039497" cy="646331"/>
          </a:xfrm>
          <a:prstGeom prst="rect">
            <a:avLst/>
          </a:prstGeom>
        </p:spPr>
        <p:txBody>
          <a:bodyPr wrap="square">
            <a:spAutoFit/>
          </a:bodyPr>
          <a:lstStyle/>
          <a:p>
            <a:r>
              <a:rPr lang="zh-CN" altLang="zh-CN" dirty="0"/>
              <a:t>例如</a:t>
            </a:r>
            <a:r>
              <a:rPr lang="en-US" altLang="zh-CN" dirty="0"/>
              <a:t>:</a:t>
            </a:r>
            <a:endParaRPr lang="zh-CN" altLang="zh-CN" dirty="0"/>
          </a:p>
          <a:p>
            <a:r>
              <a:rPr lang="en-US" altLang="zh-CN" dirty="0"/>
              <a:t>LA=(2,4,6,9)</a:t>
            </a:r>
            <a:r>
              <a:rPr lang="zh-CN" altLang="en-US" dirty="0"/>
              <a:t>，</a:t>
            </a:r>
            <a:r>
              <a:rPr lang="en-US" altLang="zh-CN" dirty="0"/>
              <a:t>LB=(3,5,7,9,11,13,18)</a:t>
            </a:r>
            <a:r>
              <a:rPr lang="zh-CN" altLang="en-US" dirty="0"/>
              <a:t>，</a:t>
            </a:r>
            <a:r>
              <a:rPr lang="zh-CN" altLang="zh-CN" dirty="0"/>
              <a:t>则</a:t>
            </a:r>
            <a:r>
              <a:rPr lang="en-US" altLang="zh-CN" dirty="0"/>
              <a:t>LA=LA∪LB=(2,3,4,5,6,7,9,11,13,18)</a:t>
            </a:r>
            <a:endParaRPr lang="zh-CN" altLang="zh-CN" dirty="0"/>
          </a:p>
        </p:txBody>
      </p:sp>
      <p:sp>
        <p:nvSpPr>
          <p:cNvPr id="14" name="矩形 13"/>
          <p:cNvSpPr/>
          <p:nvPr/>
        </p:nvSpPr>
        <p:spPr>
          <a:xfrm>
            <a:off x="2206183" y="3559007"/>
            <a:ext cx="6096000" cy="369332"/>
          </a:xfrm>
          <a:prstGeom prst="rect">
            <a:avLst/>
          </a:prstGeom>
        </p:spPr>
        <p:txBody>
          <a:bodyPr>
            <a:spAutoFit/>
          </a:bodyPr>
          <a:lstStyle/>
          <a:p>
            <a:r>
              <a:rPr lang="en-US" altLang="zh-CN" dirty="0"/>
              <a:t>2</a:t>
            </a:r>
            <a:r>
              <a:rPr lang="zh-CN" altLang="zh-CN" dirty="0"/>
              <a:t>、在</a:t>
            </a:r>
            <a:r>
              <a:rPr lang="en-US" altLang="zh-CN" dirty="0"/>
              <a:t>LA</a:t>
            </a:r>
            <a:r>
              <a:rPr lang="zh-CN" altLang="zh-CN" dirty="0"/>
              <a:t>中去</a:t>
            </a:r>
            <a:r>
              <a:rPr lang="zh-CN" altLang="zh-CN" dirty="0">
                <a:solidFill>
                  <a:srgbClr val="FF0000"/>
                </a:solidFill>
              </a:rPr>
              <a:t>查找</a:t>
            </a:r>
            <a:r>
              <a:rPr lang="zh-CN" altLang="zh-CN" dirty="0"/>
              <a:t>是否有与</a:t>
            </a:r>
            <a:r>
              <a:rPr lang="en-US" altLang="zh-CN" dirty="0"/>
              <a:t>e</a:t>
            </a:r>
            <a:r>
              <a:rPr lang="zh-CN" altLang="zh-CN" dirty="0"/>
              <a:t>相同的数据元素：</a:t>
            </a:r>
          </a:p>
        </p:txBody>
      </p:sp>
      <p:sp>
        <p:nvSpPr>
          <p:cNvPr id="15" name="矩形 14"/>
          <p:cNvSpPr/>
          <p:nvPr/>
        </p:nvSpPr>
        <p:spPr>
          <a:xfrm>
            <a:off x="3011781" y="3901842"/>
            <a:ext cx="2873829" cy="646331"/>
          </a:xfrm>
          <a:prstGeom prst="rect">
            <a:avLst/>
          </a:prstGeom>
        </p:spPr>
        <p:txBody>
          <a:bodyPr wrap="square">
            <a:spAutoFit/>
          </a:bodyPr>
          <a:lstStyle/>
          <a:p>
            <a:r>
              <a:rPr lang="zh-CN" altLang="zh-CN" dirty="0">
                <a:solidFill>
                  <a:srgbClr val="FF0000"/>
                </a:solidFill>
              </a:rPr>
              <a:t>有</a:t>
            </a:r>
            <a:r>
              <a:rPr lang="zh-CN" altLang="zh-CN" dirty="0"/>
              <a:t>，不对</a:t>
            </a:r>
            <a:r>
              <a:rPr lang="en-US" altLang="zh-CN" dirty="0"/>
              <a:t>LA</a:t>
            </a:r>
            <a:r>
              <a:rPr lang="zh-CN" altLang="zh-CN" dirty="0"/>
              <a:t>做任何操作；</a:t>
            </a:r>
          </a:p>
          <a:p>
            <a:r>
              <a:rPr lang="zh-CN" altLang="zh-CN" dirty="0">
                <a:solidFill>
                  <a:srgbClr val="FF0000"/>
                </a:solidFill>
              </a:rPr>
              <a:t>否</a:t>
            </a:r>
            <a:r>
              <a:rPr lang="zh-CN" altLang="zh-CN" dirty="0"/>
              <a:t>，将</a:t>
            </a:r>
            <a:r>
              <a:rPr lang="en-US" altLang="zh-CN" dirty="0"/>
              <a:t>e</a:t>
            </a:r>
            <a:r>
              <a:rPr lang="zh-CN" altLang="zh-CN" dirty="0">
                <a:solidFill>
                  <a:srgbClr val="FF0000"/>
                </a:solidFill>
              </a:rPr>
              <a:t>插入</a:t>
            </a:r>
            <a:r>
              <a:rPr lang="zh-CN" altLang="zh-CN" dirty="0"/>
              <a:t>到</a:t>
            </a:r>
            <a:r>
              <a:rPr lang="en-US" altLang="zh-CN" dirty="0"/>
              <a:t>LA</a:t>
            </a:r>
            <a:r>
              <a:rPr lang="zh-CN" altLang="zh-CN" dirty="0">
                <a:solidFill>
                  <a:srgbClr val="FF0000"/>
                </a:solidFill>
              </a:rPr>
              <a:t>最后</a:t>
            </a:r>
            <a:r>
              <a:rPr lang="zh-CN" altLang="zh-CN" dirty="0"/>
              <a:t>；</a:t>
            </a:r>
          </a:p>
        </p:txBody>
      </p:sp>
      <p:grpSp>
        <p:nvGrpSpPr>
          <p:cNvPr id="16" name="组合 15"/>
          <p:cNvGrpSpPr/>
          <p:nvPr/>
        </p:nvGrpSpPr>
        <p:grpSpPr>
          <a:xfrm>
            <a:off x="147799" y="3833137"/>
            <a:ext cx="1898469" cy="409264"/>
            <a:chOff x="8516980" y="4563726"/>
            <a:chExt cx="1898469" cy="545685"/>
          </a:xfrm>
        </p:grpSpPr>
        <p:sp>
          <p:nvSpPr>
            <p:cNvPr id="17" name="矩形 16"/>
            <p:cNvSpPr/>
            <p:nvPr/>
          </p:nvSpPr>
          <p:spPr>
            <a:xfrm>
              <a:off x="8616462" y="4616969"/>
              <a:ext cx="1668149" cy="492442"/>
            </a:xfrm>
            <a:prstGeom prst="rect">
              <a:avLst/>
            </a:prstGeom>
          </p:spPr>
          <p:txBody>
            <a:bodyPr wrap="none">
              <a:spAutoFit/>
            </a:bodyPr>
            <a:lstStyle/>
            <a:p>
              <a:pPr marL="179388" indent="-179388">
                <a:buFont typeface="Wingdings" pitchFamily="2" charset="2"/>
                <a:buNone/>
              </a:pPr>
              <a:r>
                <a:rPr lang="en-US" altLang="zh-CN" dirty="0" err="1"/>
                <a:t>GetElem</a:t>
              </a:r>
              <a:r>
                <a:rPr lang="en-US" altLang="zh-CN" dirty="0"/>
                <a:t>(</a:t>
              </a:r>
              <a:r>
                <a:rPr lang="en-US" altLang="zh-CN" dirty="0" err="1"/>
                <a:t>L,i,&amp;e</a:t>
              </a:r>
              <a:r>
                <a:rPr lang="en-US" altLang="zh-CN" dirty="0"/>
                <a:t>)</a:t>
              </a:r>
            </a:p>
          </p:txBody>
        </p:sp>
        <p:sp>
          <p:nvSpPr>
            <p:cNvPr id="18" name="圆角矩形标注 17"/>
            <p:cNvSpPr/>
            <p:nvPr/>
          </p:nvSpPr>
          <p:spPr>
            <a:xfrm>
              <a:off x="8516980" y="4563726"/>
              <a:ext cx="1898469" cy="422574"/>
            </a:xfrm>
            <a:prstGeom prst="wedgeRoundRectCallout">
              <a:avLst>
                <a:gd name="adj1" fmla="val 109116"/>
                <a:gd name="adj2" fmla="val -169687"/>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5885609" y="4011570"/>
            <a:ext cx="2926206" cy="369332"/>
            <a:chOff x="5359371" y="4801634"/>
            <a:chExt cx="2687349" cy="492442"/>
          </a:xfrm>
        </p:grpSpPr>
        <p:sp>
          <p:nvSpPr>
            <p:cNvPr id="20" name="矩形 19"/>
            <p:cNvSpPr/>
            <p:nvPr/>
          </p:nvSpPr>
          <p:spPr>
            <a:xfrm>
              <a:off x="5359371" y="4801634"/>
              <a:ext cx="1540345" cy="492442"/>
            </a:xfrm>
            <a:prstGeom prst="rect">
              <a:avLst/>
            </a:prstGeom>
          </p:spPr>
          <p:txBody>
            <a:bodyPr wrap="none">
              <a:spAutoFit/>
            </a:bodyPr>
            <a:lstStyle/>
            <a:p>
              <a:pPr marL="179388" indent="-179388">
                <a:buFont typeface="Wingdings" pitchFamily="2" charset="2"/>
                <a:buNone/>
              </a:pPr>
              <a:r>
                <a:rPr lang="en-US" altLang="zh-CN" dirty="0" err="1"/>
                <a:t>LocateElem</a:t>
              </a:r>
              <a:r>
                <a:rPr lang="en-US" altLang="zh-CN" dirty="0"/>
                <a:t>(</a:t>
              </a:r>
              <a:r>
                <a:rPr lang="en-US" altLang="zh-CN" dirty="0" err="1"/>
                <a:t>L,e</a:t>
              </a:r>
              <a:r>
                <a:rPr lang="en-US" altLang="zh-CN" dirty="0"/>
                <a:t>)</a:t>
              </a:r>
            </a:p>
          </p:txBody>
        </p:sp>
        <p:sp>
          <p:nvSpPr>
            <p:cNvPr id="21" name="圆角矩形标注 20"/>
            <p:cNvSpPr/>
            <p:nvPr/>
          </p:nvSpPr>
          <p:spPr>
            <a:xfrm>
              <a:off x="5359371" y="4801634"/>
              <a:ext cx="2687349" cy="422574"/>
            </a:xfrm>
            <a:prstGeom prst="wedgeRoundRectCallout">
              <a:avLst>
                <a:gd name="adj1" fmla="val -123867"/>
                <a:gd name="adj2" fmla="val -124227"/>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21"/>
          <p:cNvSpPr/>
          <p:nvPr/>
        </p:nvSpPr>
        <p:spPr>
          <a:xfrm>
            <a:off x="3442997" y="4633211"/>
            <a:ext cx="1811187" cy="369332"/>
          </a:xfrm>
          <a:prstGeom prst="rect">
            <a:avLst/>
          </a:prstGeom>
        </p:spPr>
        <p:txBody>
          <a:bodyPr wrap="square">
            <a:spAutoFit/>
          </a:bodyPr>
          <a:lstStyle/>
          <a:p>
            <a:r>
              <a:rPr lang="en-US" altLang="zh-CN" dirty="0" err="1"/>
              <a:t>ListInsert</a:t>
            </a:r>
            <a:r>
              <a:rPr lang="en-US" altLang="zh-CN" dirty="0"/>
              <a:t>(&amp;</a:t>
            </a:r>
            <a:r>
              <a:rPr lang="en-US" altLang="zh-CN" dirty="0" err="1"/>
              <a:t>L,i,e</a:t>
            </a:r>
            <a:r>
              <a:rPr lang="zh-CN" altLang="en-US" dirty="0"/>
              <a:t>）</a:t>
            </a:r>
          </a:p>
        </p:txBody>
      </p:sp>
      <p:sp>
        <p:nvSpPr>
          <p:cNvPr id="23" name="圆角矩形标注 22"/>
          <p:cNvSpPr/>
          <p:nvPr/>
        </p:nvSpPr>
        <p:spPr>
          <a:xfrm>
            <a:off x="3355715" y="4613245"/>
            <a:ext cx="1898469" cy="316931"/>
          </a:xfrm>
          <a:prstGeom prst="wedgeRoundRectCallout">
            <a:avLst>
              <a:gd name="adj1" fmla="val -10419"/>
              <a:gd name="adj2" fmla="val -142776"/>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标注 23"/>
          <p:cNvSpPr/>
          <p:nvPr/>
        </p:nvSpPr>
        <p:spPr>
          <a:xfrm>
            <a:off x="5625059" y="4613245"/>
            <a:ext cx="1898469" cy="316931"/>
          </a:xfrm>
          <a:prstGeom prst="wedgeRoundRectCallout">
            <a:avLst>
              <a:gd name="adj1" fmla="val -74639"/>
              <a:gd name="adj2" fmla="val -140714"/>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5841365" y="4633211"/>
            <a:ext cx="1377685" cy="369332"/>
          </a:xfrm>
          <a:prstGeom prst="rect">
            <a:avLst/>
          </a:prstGeom>
        </p:spPr>
        <p:txBody>
          <a:bodyPr wrap="none">
            <a:spAutoFit/>
          </a:bodyPr>
          <a:lstStyle/>
          <a:p>
            <a:r>
              <a:rPr lang="en-US" altLang="zh-CN" dirty="0" err="1"/>
              <a:t>ListLength</a:t>
            </a:r>
            <a:r>
              <a:rPr lang="en-US" altLang="zh-CN" dirty="0"/>
              <a:t>(L)</a:t>
            </a:r>
            <a:endParaRPr lang="zh-CN" altLang="en-US" dirty="0"/>
          </a:p>
        </p:txBody>
      </p:sp>
      <p:sp>
        <p:nvSpPr>
          <p:cNvPr id="26" name="矩形 25"/>
          <p:cNvSpPr/>
          <p:nvPr/>
        </p:nvSpPr>
        <p:spPr>
          <a:xfrm>
            <a:off x="860704" y="2916037"/>
            <a:ext cx="5254965" cy="369332"/>
          </a:xfrm>
          <a:prstGeom prst="rect">
            <a:avLst/>
          </a:prstGeom>
        </p:spPr>
        <p:txBody>
          <a:bodyPr wrap="none">
            <a:spAutoFit/>
          </a:bodyPr>
          <a:lstStyle/>
          <a:p>
            <a:r>
              <a:rPr lang="zh-CN" altLang="zh-CN" dirty="0"/>
              <a:t>在</a:t>
            </a:r>
            <a:r>
              <a:rPr lang="en-US" altLang="zh-CN" dirty="0"/>
              <a:t>LB</a:t>
            </a:r>
            <a:r>
              <a:rPr lang="zh-CN" altLang="zh-CN" dirty="0"/>
              <a:t>中从第一个数据元素开始到最后一个数据元素</a:t>
            </a:r>
            <a:endParaRPr lang="zh-CN" altLang="en-US" dirty="0"/>
          </a:p>
        </p:txBody>
      </p:sp>
      <p:cxnSp>
        <p:nvCxnSpPr>
          <p:cNvPr id="3" name="直接连接符 2">
            <a:extLst>
              <a:ext uri="{FF2B5EF4-FFF2-40B4-BE49-F238E27FC236}">
                <a16:creationId xmlns:a16="http://schemas.microsoft.com/office/drawing/2014/main" id="{64633DAA-8DFF-EF9F-886E-9B08C4322401}"/>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Rectangle 2">
            <a:extLst>
              <a:ext uri="{FF2B5EF4-FFF2-40B4-BE49-F238E27FC236}">
                <a16:creationId xmlns:a16="http://schemas.microsoft.com/office/drawing/2014/main" id="{4E63F1E2-BAFD-EE5F-07F2-45CBC7D60682}"/>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2.4 </a:t>
            </a:r>
            <a:r>
              <a:rPr lang="zh-CN" altLang="en-US" sz="3700" b="1" dirty="0">
                <a:latin typeface="黑体" pitchFamily="49" charset="-122"/>
                <a:ea typeface="黑体" pitchFamily="49" charset="-122"/>
                <a:cs typeface="+mn-cs"/>
              </a:rPr>
              <a:t>线性表的应用</a:t>
            </a:r>
          </a:p>
        </p:txBody>
      </p:sp>
    </p:spTree>
    <p:extLst>
      <p:ext uri="{BB962C8B-B14F-4D97-AF65-F5344CB8AC3E}">
        <p14:creationId xmlns:p14="http://schemas.microsoft.com/office/powerpoint/2010/main" val="546939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3" grpId="0"/>
      <p:bldP spid="14" grpId="0"/>
      <p:bldP spid="15" grpId="0"/>
      <p:bldP spid="22" grpId="0"/>
      <p:bldP spid="23" grpId="0" animBg="1"/>
      <p:bldP spid="24" grpId="0" animBg="1"/>
      <p:bldP spid="25" grpId="0"/>
      <p:bldP spid="26"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95536" y="843558"/>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2.4.1 </a:t>
            </a:r>
            <a:r>
              <a:rPr lang="zh-CN" altLang="en-US" sz="2800" b="1" dirty="0">
                <a:solidFill>
                  <a:schemeClr val="bg1"/>
                </a:solidFill>
                <a:latin typeface="经典粗黑简" pitchFamily="49" charset="-122"/>
                <a:ea typeface="经典粗黑简" pitchFamily="49" charset="-122"/>
                <a:cs typeface="经典粗黑简" pitchFamily="49" charset="-122"/>
              </a:rPr>
              <a:t>求集合的并集</a:t>
            </a:r>
          </a:p>
        </p:txBody>
      </p:sp>
      <p:sp>
        <p:nvSpPr>
          <p:cNvPr id="4" name="矩形 3"/>
          <p:cNvSpPr/>
          <p:nvPr/>
        </p:nvSpPr>
        <p:spPr>
          <a:xfrm>
            <a:off x="4839617" y="760504"/>
            <a:ext cx="4304383" cy="584775"/>
          </a:xfrm>
          <a:prstGeom prst="rect">
            <a:avLst/>
          </a:prstGeom>
        </p:spPr>
        <p:txBody>
          <a:bodyPr wrap="none">
            <a:spAutoFit/>
          </a:bodyPr>
          <a:lstStyle/>
          <a:p>
            <a:r>
              <a:rPr lang="en-US" altLang="zh-CN" sz="3200" b="1" dirty="0">
                <a:latin typeface="黑体" pitchFamily="49" charset="-122"/>
                <a:ea typeface="黑体" pitchFamily="49" charset="-122"/>
              </a:rPr>
              <a:t>——</a:t>
            </a:r>
            <a:r>
              <a:rPr lang="zh-CN" altLang="en-US" sz="3200" b="1" dirty="0">
                <a:latin typeface="黑体" pitchFamily="49" charset="-122"/>
                <a:ea typeface="黑体" pitchFamily="49" charset="-122"/>
              </a:rPr>
              <a:t>顺序表的其他操作</a:t>
            </a:r>
          </a:p>
        </p:txBody>
      </p:sp>
      <p:sp>
        <p:nvSpPr>
          <p:cNvPr id="8" name="Text Box 2"/>
          <p:cNvSpPr txBox="1">
            <a:spLocks noChangeArrowheads="1"/>
          </p:cNvSpPr>
          <p:nvPr/>
        </p:nvSpPr>
        <p:spPr bwMode="auto">
          <a:xfrm>
            <a:off x="827584" y="1653648"/>
            <a:ext cx="765748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dirty="0">
                <a:latin typeface="Times New Roman" pitchFamily="18" charset="0"/>
                <a:ea typeface="宋体" pitchFamily="2" charset="-122"/>
              </a:rPr>
              <a:t>void Union(</a:t>
            </a:r>
            <a:r>
              <a:rPr lang="en-US" altLang="zh-CN" dirty="0" err="1">
                <a:latin typeface="Times New Roman" pitchFamily="18" charset="0"/>
                <a:ea typeface="宋体" pitchFamily="2" charset="-122"/>
              </a:rPr>
              <a:t>SqList</a:t>
            </a:r>
            <a:r>
              <a:rPr lang="en-US" altLang="zh-CN" dirty="0">
                <a:latin typeface="Times New Roman" pitchFamily="18" charset="0"/>
                <a:ea typeface="宋体" pitchFamily="2" charset="-122"/>
              </a:rPr>
              <a:t> &amp;La, </a:t>
            </a:r>
            <a:r>
              <a:rPr lang="en-US" altLang="zh-CN" dirty="0" err="1">
                <a:latin typeface="Times New Roman" pitchFamily="18" charset="0"/>
                <a:ea typeface="宋体" pitchFamily="2" charset="-122"/>
              </a:rPr>
              <a:t>SqList</a:t>
            </a:r>
            <a:r>
              <a:rPr lang="en-US" altLang="zh-CN" dirty="0">
                <a:latin typeface="Times New Roman" pitchFamily="18" charset="0"/>
                <a:ea typeface="宋体" pitchFamily="2" charset="-122"/>
              </a:rPr>
              <a:t> &amp;</a:t>
            </a:r>
            <a:r>
              <a:rPr lang="en-US" altLang="zh-CN" dirty="0" err="1">
                <a:latin typeface="Times New Roman" pitchFamily="18" charset="0"/>
                <a:ea typeface="宋体" pitchFamily="2" charset="-122"/>
              </a:rPr>
              <a:t>Lb</a:t>
            </a:r>
            <a:r>
              <a:rPr lang="en-US" altLang="zh-CN" dirty="0">
                <a:latin typeface="Times New Roman" pitchFamily="18" charset="0"/>
                <a:ea typeface="宋体" pitchFamily="2" charset="-122"/>
              </a:rPr>
              <a: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int </a:t>
            </a:r>
            <a:r>
              <a:rPr lang="en-US" altLang="zh-CN" dirty="0" err="1">
                <a:latin typeface="Times New Roman" pitchFamily="18" charset="0"/>
                <a:ea typeface="宋体" pitchFamily="2" charset="-122"/>
              </a:rPr>
              <a:t>La_len</a:t>
            </a:r>
            <a:r>
              <a:rPr lang="en-US" altLang="zh-CN" dirty="0">
                <a:latin typeface="Times New Roman" pitchFamily="18" charset="0"/>
                <a:ea typeface="宋体" pitchFamily="2" charset="-122"/>
              </a:rPr>
              <a:t> = </a:t>
            </a:r>
            <a:r>
              <a:rPr lang="en-US" altLang="zh-CN" dirty="0" err="1">
                <a:latin typeface="Times New Roman" pitchFamily="18" charset="0"/>
                <a:ea typeface="宋体" pitchFamily="2" charset="-122"/>
              </a:rPr>
              <a:t>ListLength</a:t>
            </a:r>
            <a:r>
              <a:rPr lang="en-US" altLang="zh-CN" dirty="0">
                <a:latin typeface="Times New Roman" pitchFamily="18" charset="0"/>
                <a:ea typeface="宋体" pitchFamily="2" charset="-122"/>
              </a:rPr>
              <a:t> (La); // </a:t>
            </a:r>
            <a:r>
              <a:rPr lang="zh-CN" altLang="zh-CN" dirty="0">
                <a:latin typeface="Times New Roman" pitchFamily="18" charset="0"/>
                <a:ea typeface="宋体" pitchFamily="2" charset="-122"/>
              </a:rPr>
              <a:t>求线性表</a:t>
            </a:r>
            <a:r>
              <a:rPr lang="en-US" altLang="zh-CN" dirty="0">
                <a:latin typeface="Times New Roman" pitchFamily="18" charset="0"/>
                <a:ea typeface="宋体" pitchFamily="2" charset="-122"/>
              </a:rPr>
              <a:t> La </a:t>
            </a:r>
            <a:r>
              <a:rPr lang="zh-CN" altLang="zh-CN" dirty="0">
                <a:latin typeface="Times New Roman" pitchFamily="18" charset="0"/>
                <a:ea typeface="宋体" pitchFamily="2" charset="-122"/>
              </a:rPr>
              <a:t>的长度</a:t>
            </a:r>
          </a:p>
          <a:p>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ElemType</a:t>
            </a:r>
            <a:r>
              <a:rPr lang="en-US" altLang="zh-CN" dirty="0">
                <a:latin typeface="Times New Roman" pitchFamily="18" charset="0"/>
                <a:ea typeface="宋体" pitchFamily="2" charset="-122"/>
              </a:rPr>
              <a:t> e;</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while (</a:t>
            </a:r>
            <a:r>
              <a:rPr lang="en-US" altLang="zh-CN" dirty="0" err="1">
                <a:latin typeface="Times New Roman" pitchFamily="18" charset="0"/>
                <a:ea typeface="宋体" pitchFamily="2" charset="-122"/>
              </a:rPr>
              <a:t>Lb.length</a:t>
            </a:r>
            <a:r>
              <a:rPr lang="en-US" altLang="zh-CN" dirty="0">
                <a:latin typeface="Times New Roman" pitchFamily="18" charset="0"/>
                <a:ea typeface="宋体" pitchFamily="2" charset="-122"/>
              </a:rPr>
              <a:t>!=0) // </a:t>
            </a:r>
            <a:r>
              <a:rPr lang="en-US" altLang="zh-CN" dirty="0" err="1">
                <a:latin typeface="Times New Roman" pitchFamily="18" charset="0"/>
                <a:ea typeface="宋体" pitchFamily="2" charset="-122"/>
              </a:rPr>
              <a:t>Lb</a:t>
            </a:r>
            <a:r>
              <a:rPr lang="en-US" altLang="zh-CN" dirty="0">
                <a:latin typeface="Times New Roman" pitchFamily="18" charset="0"/>
                <a:ea typeface="宋体" pitchFamily="2" charset="-122"/>
              </a:rPr>
              <a:t> </a:t>
            </a:r>
            <a:r>
              <a:rPr lang="zh-CN" altLang="zh-CN" dirty="0">
                <a:latin typeface="Times New Roman" pitchFamily="18" charset="0"/>
                <a:ea typeface="宋体" pitchFamily="2" charset="-122"/>
              </a:rPr>
              <a:t>表的元素尚未处理完</a:t>
            </a:r>
            <a:r>
              <a:rPr lang="en-US" altLang="zh-CN" dirty="0">
                <a:latin typeface="Times New Roman" pitchFamily="18" charset="0"/>
                <a:ea typeface="宋体" pitchFamily="2" charset="-122"/>
              </a:rPr>
              <a:t> </a:t>
            </a:r>
          </a:p>
          <a:p>
            <a:r>
              <a:rPr lang="en-US" altLang="zh-CN" dirty="0">
                <a:latin typeface="Times New Roman" pitchFamily="18" charset="0"/>
                <a:ea typeface="宋体" pitchFamily="2" charset="-122"/>
              </a:rPr>
              <a:t>       {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ListDelete</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Lb</a:t>
            </a:r>
            <a:r>
              <a:rPr lang="en-US" altLang="zh-CN" dirty="0">
                <a:latin typeface="Times New Roman" pitchFamily="18" charset="0"/>
                <a:ea typeface="宋体" pitchFamily="2" charset="-122"/>
              </a:rPr>
              <a:t>, 1, e);   // </a:t>
            </a:r>
            <a:r>
              <a:rPr lang="zh-CN" altLang="zh-CN" dirty="0">
                <a:latin typeface="Times New Roman" pitchFamily="18" charset="0"/>
                <a:ea typeface="宋体" pitchFamily="2" charset="-122"/>
              </a:rPr>
              <a:t>从</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Lb</a:t>
            </a:r>
            <a:r>
              <a:rPr lang="en-US" altLang="zh-CN" dirty="0">
                <a:latin typeface="Times New Roman" pitchFamily="18" charset="0"/>
                <a:ea typeface="宋体" pitchFamily="2" charset="-122"/>
              </a:rPr>
              <a:t> </a:t>
            </a:r>
            <a:r>
              <a:rPr lang="zh-CN" altLang="zh-CN" dirty="0">
                <a:latin typeface="Times New Roman" pitchFamily="18" charset="0"/>
                <a:ea typeface="宋体" pitchFamily="2" charset="-122"/>
              </a:rPr>
              <a:t>中删除第一个数据元素赋给</a:t>
            </a:r>
            <a:r>
              <a:rPr lang="en-US" altLang="zh-CN" dirty="0">
                <a:latin typeface="Times New Roman" pitchFamily="18" charset="0"/>
                <a:ea typeface="宋体" pitchFamily="2" charset="-122"/>
              </a:rPr>
              <a:t> e</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if (!</a:t>
            </a:r>
            <a:r>
              <a:rPr lang="en-US" altLang="zh-CN" dirty="0" err="1">
                <a:latin typeface="Times New Roman" pitchFamily="18" charset="0"/>
                <a:ea typeface="宋体" pitchFamily="2" charset="-122"/>
              </a:rPr>
              <a:t>LocateElem</a:t>
            </a:r>
            <a:r>
              <a:rPr lang="en-US" altLang="zh-CN" dirty="0">
                <a:latin typeface="Times New Roman" pitchFamily="18" charset="0"/>
                <a:ea typeface="宋体" pitchFamily="2" charset="-122"/>
              </a:rPr>
              <a:t> (La, e))  // </a:t>
            </a:r>
            <a:r>
              <a:rPr lang="zh-CN" altLang="zh-CN" dirty="0">
                <a:latin typeface="Times New Roman" pitchFamily="18" charset="0"/>
                <a:ea typeface="宋体" pitchFamily="2" charset="-122"/>
              </a:rPr>
              <a:t>若</a:t>
            </a:r>
            <a:r>
              <a:rPr lang="en-US" altLang="zh-CN" dirty="0">
                <a:latin typeface="Times New Roman" pitchFamily="18" charset="0"/>
                <a:ea typeface="宋体" pitchFamily="2" charset="-122"/>
              </a:rPr>
              <a:t>La</a:t>
            </a:r>
            <a:r>
              <a:rPr lang="zh-CN" altLang="zh-CN" dirty="0">
                <a:latin typeface="Times New Roman" pitchFamily="18" charset="0"/>
                <a:ea typeface="宋体" pitchFamily="2" charset="-122"/>
              </a:rPr>
              <a:t>中不存在值和</a:t>
            </a:r>
            <a:r>
              <a:rPr lang="en-US" altLang="zh-CN" dirty="0">
                <a:latin typeface="Times New Roman" pitchFamily="18" charset="0"/>
                <a:ea typeface="宋体" pitchFamily="2" charset="-122"/>
              </a:rPr>
              <a:t> e </a:t>
            </a:r>
            <a:r>
              <a:rPr lang="zh-CN" altLang="zh-CN" dirty="0">
                <a:latin typeface="Times New Roman" pitchFamily="18" charset="0"/>
                <a:ea typeface="宋体" pitchFamily="2" charset="-122"/>
              </a:rPr>
              <a:t>相等的元素，</a:t>
            </a:r>
          </a:p>
          <a:p>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ListInsert</a:t>
            </a:r>
            <a:r>
              <a:rPr lang="en-US" altLang="zh-CN" dirty="0">
                <a:latin typeface="Times New Roman" pitchFamily="18" charset="0"/>
                <a:ea typeface="宋体" pitchFamily="2" charset="-122"/>
              </a:rPr>
              <a:t> (La, ++</a:t>
            </a:r>
            <a:r>
              <a:rPr lang="en-US" altLang="zh-CN" dirty="0" err="1">
                <a:latin typeface="Times New Roman" pitchFamily="18" charset="0"/>
                <a:ea typeface="宋体" pitchFamily="2" charset="-122"/>
              </a:rPr>
              <a:t>La_len</a:t>
            </a:r>
            <a:r>
              <a:rPr lang="en-US" altLang="zh-CN" dirty="0">
                <a:latin typeface="Times New Roman" pitchFamily="18" charset="0"/>
                <a:ea typeface="宋体" pitchFamily="2" charset="-122"/>
              </a:rPr>
              <a:t>, e ); // </a:t>
            </a:r>
            <a:r>
              <a:rPr lang="zh-CN" altLang="zh-CN" dirty="0">
                <a:latin typeface="Times New Roman" pitchFamily="18" charset="0"/>
                <a:ea typeface="宋体" pitchFamily="2" charset="-122"/>
              </a:rPr>
              <a:t>则将它插入到</a:t>
            </a:r>
            <a:r>
              <a:rPr lang="en-US" altLang="zh-CN" dirty="0">
                <a:latin typeface="Times New Roman" pitchFamily="18" charset="0"/>
                <a:ea typeface="宋体" pitchFamily="2" charset="-122"/>
              </a:rPr>
              <a:t>La </a:t>
            </a:r>
            <a:r>
              <a:rPr lang="zh-CN" altLang="zh-CN" dirty="0">
                <a:latin typeface="Times New Roman" pitchFamily="18" charset="0"/>
                <a:ea typeface="宋体" pitchFamily="2" charset="-122"/>
              </a:rPr>
              <a:t>的最后 </a:t>
            </a:r>
          </a:p>
          <a:p>
            <a:r>
              <a:rPr lang="en-US" altLang="zh-CN" dirty="0">
                <a:latin typeface="Times New Roman" pitchFamily="18" charset="0"/>
                <a:ea typeface="宋体" pitchFamily="2" charset="-122"/>
              </a:rPr>
              <a:t>       }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a:t>
            </a:r>
            <a:endParaRPr lang="zh-CN" altLang="zh-CN" dirty="0">
              <a:latin typeface="Times New Roman" pitchFamily="18" charset="0"/>
              <a:ea typeface="宋体" pitchFamily="2" charset="-122"/>
            </a:endParaRPr>
          </a:p>
        </p:txBody>
      </p:sp>
      <p:cxnSp>
        <p:nvCxnSpPr>
          <p:cNvPr id="7" name="直接连接符 6">
            <a:extLst>
              <a:ext uri="{FF2B5EF4-FFF2-40B4-BE49-F238E27FC236}">
                <a16:creationId xmlns:a16="http://schemas.microsoft.com/office/drawing/2014/main" id="{D4736B11-A647-6B99-32CB-F049C06F237E}"/>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Rectangle 2">
            <a:extLst>
              <a:ext uri="{FF2B5EF4-FFF2-40B4-BE49-F238E27FC236}">
                <a16:creationId xmlns:a16="http://schemas.microsoft.com/office/drawing/2014/main" id="{F366BA03-6A3E-850E-D50A-AC8EADA3B2F9}"/>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2.4 </a:t>
            </a:r>
            <a:r>
              <a:rPr lang="zh-CN" altLang="en-US" sz="3700" b="1" dirty="0">
                <a:latin typeface="黑体" pitchFamily="49" charset="-122"/>
                <a:ea typeface="黑体" pitchFamily="49" charset="-122"/>
                <a:cs typeface="+mn-cs"/>
              </a:rPr>
              <a:t>线性表的应用</a:t>
            </a:r>
          </a:p>
        </p:txBody>
      </p:sp>
    </p:spTree>
    <p:extLst>
      <p:ext uri="{BB962C8B-B14F-4D97-AF65-F5344CB8AC3E}">
        <p14:creationId xmlns:p14="http://schemas.microsoft.com/office/powerpoint/2010/main" val="246024421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95536" y="843558"/>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2.4.2 </a:t>
            </a:r>
            <a:r>
              <a:rPr lang="zh-CN" altLang="en-US" sz="2800" b="1" dirty="0">
                <a:solidFill>
                  <a:schemeClr val="bg1"/>
                </a:solidFill>
                <a:latin typeface="经典粗黑简" pitchFamily="49" charset="-122"/>
                <a:ea typeface="经典粗黑简" pitchFamily="49" charset="-122"/>
                <a:cs typeface="经典粗黑简" pitchFamily="49" charset="-122"/>
              </a:rPr>
              <a:t>单链表的逆置</a:t>
            </a:r>
          </a:p>
        </p:txBody>
      </p:sp>
      <p:sp>
        <p:nvSpPr>
          <p:cNvPr id="4" name="矩形 3"/>
          <p:cNvSpPr/>
          <p:nvPr/>
        </p:nvSpPr>
        <p:spPr>
          <a:xfrm>
            <a:off x="4839617" y="760504"/>
            <a:ext cx="4304383" cy="584775"/>
          </a:xfrm>
          <a:prstGeom prst="rect">
            <a:avLst/>
          </a:prstGeom>
        </p:spPr>
        <p:txBody>
          <a:bodyPr wrap="none">
            <a:spAutoFit/>
          </a:bodyPr>
          <a:lstStyle/>
          <a:p>
            <a:r>
              <a:rPr lang="en-US" altLang="zh-CN" sz="3200" b="1" dirty="0">
                <a:latin typeface="黑体" pitchFamily="49" charset="-122"/>
                <a:ea typeface="黑体" pitchFamily="49" charset="-122"/>
              </a:rPr>
              <a:t>——</a:t>
            </a:r>
            <a:r>
              <a:rPr lang="zh-CN" altLang="en-US" sz="3200" b="1" dirty="0">
                <a:latin typeface="黑体" pitchFamily="49" charset="-122"/>
                <a:ea typeface="黑体" pitchFamily="49" charset="-122"/>
              </a:rPr>
              <a:t>单链表的其他操作</a:t>
            </a:r>
          </a:p>
        </p:txBody>
      </p:sp>
      <p:pic>
        <p:nvPicPr>
          <p:cNvPr id="8" name="Picture 5" descr="2X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148" y="1815667"/>
            <a:ext cx="8865705" cy="1782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a:extLst>
              <a:ext uri="{FF2B5EF4-FFF2-40B4-BE49-F238E27FC236}">
                <a16:creationId xmlns:a16="http://schemas.microsoft.com/office/drawing/2014/main" id="{C5C5C62A-DF95-82B3-D2FA-69DF9361E931}"/>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Rectangle 2">
            <a:extLst>
              <a:ext uri="{FF2B5EF4-FFF2-40B4-BE49-F238E27FC236}">
                <a16:creationId xmlns:a16="http://schemas.microsoft.com/office/drawing/2014/main" id="{04F880D5-DD68-95C2-7DD8-91E180E8A01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2.4 </a:t>
            </a:r>
            <a:r>
              <a:rPr lang="zh-CN" altLang="en-US" sz="3700" b="1" dirty="0">
                <a:latin typeface="黑体" pitchFamily="49" charset="-122"/>
                <a:ea typeface="黑体" pitchFamily="49" charset="-122"/>
                <a:cs typeface="+mn-cs"/>
              </a:rPr>
              <a:t>线性表的应用</a:t>
            </a:r>
          </a:p>
        </p:txBody>
      </p:sp>
    </p:spTree>
    <p:extLst>
      <p:ext uri="{BB962C8B-B14F-4D97-AF65-F5344CB8AC3E}">
        <p14:creationId xmlns:p14="http://schemas.microsoft.com/office/powerpoint/2010/main" val="293232616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787454" y="2283718"/>
            <a:ext cx="728087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dirty="0">
                <a:latin typeface="Times New Roman" pitchFamily="18" charset="0"/>
                <a:ea typeface="宋体" pitchFamily="2" charset="-122"/>
              </a:rPr>
              <a:t>void </a:t>
            </a:r>
            <a:r>
              <a:rPr lang="en-US" altLang="zh-CN" dirty="0" err="1">
                <a:latin typeface="Times New Roman" pitchFamily="18" charset="0"/>
                <a:ea typeface="宋体" pitchFamily="2" charset="-122"/>
              </a:rPr>
              <a:t>InvertLinkedList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&amp;L ) // </a:t>
            </a:r>
            <a:r>
              <a:rPr lang="zh-CN" altLang="zh-CN" dirty="0">
                <a:latin typeface="Times New Roman" pitchFamily="18" charset="0"/>
                <a:ea typeface="宋体" pitchFamily="2" charset="-122"/>
              </a:rPr>
              <a:t>逆置头指针</a:t>
            </a:r>
            <a:r>
              <a:rPr lang="en-US" altLang="zh-CN" dirty="0">
                <a:latin typeface="Times New Roman" pitchFamily="18" charset="0"/>
                <a:ea typeface="宋体" pitchFamily="2" charset="-122"/>
              </a:rPr>
              <a:t>L</a:t>
            </a:r>
            <a:r>
              <a:rPr lang="zh-CN" altLang="zh-CN" dirty="0">
                <a:latin typeface="Times New Roman" pitchFamily="18" charset="0"/>
                <a:ea typeface="宋体" pitchFamily="2" charset="-122"/>
              </a:rPr>
              <a:t>所指链表</a:t>
            </a: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s,p</a:t>
            </a:r>
            <a:r>
              <a:rPr lang="en-US" altLang="zh-CN" dirty="0">
                <a:latin typeface="Times New Roman" pitchFamily="18" charset="0"/>
                <a:ea typeface="宋体" pitchFamily="2" charset="-122"/>
              </a:rPr>
              <a:t> = L-&gt;next;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L-&gt;next = NULL;         // </a:t>
            </a:r>
            <a:r>
              <a:rPr lang="zh-CN" altLang="zh-CN" dirty="0">
                <a:latin typeface="Times New Roman" pitchFamily="18" charset="0"/>
                <a:ea typeface="宋体" pitchFamily="2" charset="-122"/>
              </a:rPr>
              <a:t>设逆置后的链表的初态为空表</a:t>
            </a:r>
          </a:p>
          <a:p>
            <a:r>
              <a:rPr lang="en-US" altLang="zh-CN" dirty="0">
                <a:latin typeface="Times New Roman" pitchFamily="18" charset="0"/>
                <a:ea typeface="宋体" pitchFamily="2" charset="-122"/>
              </a:rPr>
              <a:t>      while ( p ) {                //  p </a:t>
            </a:r>
            <a:r>
              <a:rPr lang="zh-CN" altLang="zh-CN" dirty="0">
                <a:latin typeface="Times New Roman" pitchFamily="18" charset="0"/>
                <a:ea typeface="宋体" pitchFamily="2" charset="-122"/>
              </a:rPr>
              <a:t>为待逆置链表的头指针</a:t>
            </a:r>
          </a:p>
          <a:p>
            <a:r>
              <a:rPr lang="en-US" altLang="zh-CN" dirty="0">
                <a:latin typeface="Times New Roman" pitchFamily="18" charset="0"/>
                <a:ea typeface="宋体" pitchFamily="2" charset="-122"/>
              </a:rPr>
              <a:t>        s = p;  p = p-&gt;next;    // </a:t>
            </a:r>
            <a:r>
              <a:rPr lang="zh-CN" altLang="zh-CN" dirty="0">
                <a:latin typeface="Times New Roman" pitchFamily="18" charset="0"/>
                <a:ea typeface="宋体" pitchFamily="2" charset="-122"/>
              </a:rPr>
              <a:t>从</a:t>
            </a:r>
            <a:r>
              <a:rPr lang="en-US" altLang="zh-CN" dirty="0">
                <a:latin typeface="Times New Roman" pitchFamily="18" charset="0"/>
                <a:ea typeface="宋体" pitchFamily="2" charset="-122"/>
              </a:rPr>
              <a:t> p </a:t>
            </a:r>
            <a:r>
              <a:rPr lang="zh-CN" altLang="zh-CN" dirty="0">
                <a:latin typeface="Times New Roman" pitchFamily="18" charset="0"/>
                <a:ea typeface="宋体" pitchFamily="2" charset="-122"/>
              </a:rPr>
              <a:t>所指链表中删除第一个结点</a:t>
            </a:r>
            <a:r>
              <a:rPr lang="en-US" altLang="zh-CN" dirty="0">
                <a:latin typeface="Times New Roman" pitchFamily="18" charset="0"/>
                <a:ea typeface="宋体" pitchFamily="2" charset="-122"/>
              </a:rPr>
              <a:t>(s </a:t>
            </a:r>
            <a:r>
              <a:rPr lang="zh-CN" altLang="zh-CN" dirty="0">
                <a:latin typeface="Times New Roman" pitchFamily="18" charset="0"/>
                <a:ea typeface="宋体" pitchFamily="2" charset="-122"/>
              </a:rPr>
              <a:t>结点</a:t>
            </a:r>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s-&gt;next = L-&gt;next;  L-&gt;next = s;  // </a:t>
            </a:r>
            <a:r>
              <a:rPr lang="zh-CN" altLang="zh-CN" dirty="0">
                <a:latin typeface="Times New Roman" pitchFamily="18" charset="0"/>
                <a:ea typeface="宋体" pitchFamily="2" charset="-122"/>
              </a:rPr>
              <a:t>将</a:t>
            </a:r>
            <a:r>
              <a:rPr lang="en-US" altLang="zh-CN" dirty="0">
                <a:latin typeface="Times New Roman" pitchFamily="18" charset="0"/>
                <a:ea typeface="宋体" pitchFamily="2" charset="-122"/>
              </a:rPr>
              <a:t> s </a:t>
            </a:r>
            <a:r>
              <a:rPr lang="zh-CN" altLang="zh-CN" dirty="0">
                <a:latin typeface="Times New Roman" pitchFamily="18" charset="0"/>
                <a:ea typeface="宋体" pitchFamily="2" charset="-122"/>
              </a:rPr>
              <a:t>结点插入到逆置表的表头</a:t>
            </a:r>
          </a:p>
          <a:p>
            <a:r>
              <a:rPr lang="en-US" altLang="zh-CN" dirty="0">
                <a:latin typeface="Times New Roman" pitchFamily="18" charset="0"/>
                <a:ea typeface="宋体" pitchFamily="2" charset="-122"/>
              </a:rPr>
              <a: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p:txBody>
      </p:sp>
      <p:sp>
        <p:nvSpPr>
          <p:cNvPr id="12" name="Rectangle 5"/>
          <p:cNvSpPr>
            <a:spLocks noChangeArrowheads="1"/>
          </p:cNvSpPr>
          <p:nvPr/>
        </p:nvSpPr>
        <p:spPr bwMode="auto">
          <a:xfrm>
            <a:off x="2149432" y="164827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3" name="Line 6"/>
          <p:cNvSpPr>
            <a:spLocks noChangeShapeType="1"/>
          </p:cNvSpPr>
          <p:nvPr/>
        </p:nvSpPr>
        <p:spPr bwMode="auto">
          <a:xfrm>
            <a:off x="2682832" y="1648273"/>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Rectangle 25"/>
          <p:cNvSpPr>
            <a:spLocks noChangeArrowheads="1"/>
          </p:cNvSpPr>
          <p:nvPr/>
        </p:nvSpPr>
        <p:spPr bwMode="auto">
          <a:xfrm>
            <a:off x="4313317" y="172223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5" name="Rectangle 36"/>
          <p:cNvSpPr>
            <a:spLocks noChangeArrowheads="1"/>
          </p:cNvSpPr>
          <p:nvPr/>
        </p:nvSpPr>
        <p:spPr bwMode="auto">
          <a:xfrm>
            <a:off x="7447466" y="174424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6" name="Line 29"/>
          <p:cNvSpPr>
            <a:spLocks noChangeShapeType="1"/>
          </p:cNvSpPr>
          <p:nvPr/>
        </p:nvSpPr>
        <p:spPr bwMode="auto">
          <a:xfrm>
            <a:off x="596954" y="189994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Rectangle 5"/>
          <p:cNvSpPr>
            <a:spLocks noChangeArrowheads="1"/>
          </p:cNvSpPr>
          <p:nvPr/>
        </p:nvSpPr>
        <p:spPr bwMode="auto">
          <a:xfrm>
            <a:off x="3325089" y="165364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8" name="Line 6"/>
          <p:cNvSpPr>
            <a:spLocks noChangeShapeType="1"/>
          </p:cNvSpPr>
          <p:nvPr/>
        </p:nvSpPr>
        <p:spPr bwMode="auto">
          <a:xfrm>
            <a:off x="3858489" y="165364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29"/>
          <p:cNvSpPr>
            <a:spLocks noChangeShapeType="1"/>
          </p:cNvSpPr>
          <p:nvPr/>
        </p:nvSpPr>
        <p:spPr bwMode="auto">
          <a:xfrm>
            <a:off x="2944089" y="190782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Rectangle 5"/>
          <p:cNvSpPr>
            <a:spLocks noChangeArrowheads="1"/>
          </p:cNvSpPr>
          <p:nvPr/>
        </p:nvSpPr>
        <p:spPr bwMode="auto">
          <a:xfrm>
            <a:off x="4926600" y="1670275"/>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21" name="Line 6"/>
          <p:cNvSpPr>
            <a:spLocks noChangeShapeType="1"/>
          </p:cNvSpPr>
          <p:nvPr/>
        </p:nvSpPr>
        <p:spPr bwMode="auto">
          <a:xfrm>
            <a:off x="5663173" y="1664900"/>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9"/>
          <p:cNvSpPr>
            <a:spLocks noChangeShapeType="1"/>
          </p:cNvSpPr>
          <p:nvPr/>
        </p:nvSpPr>
        <p:spPr bwMode="auto">
          <a:xfrm>
            <a:off x="4725608" y="1898602"/>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9"/>
          <p:cNvSpPr>
            <a:spLocks noChangeShapeType="1"/>
          </p:cNvSpPr>
          <p:nvPr/>
        </p:nvSpPr>
        <p:spPr bwMode="auto">
          <a:xfrm>
            <a:off x="4048989" y="1905134"/>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Rectangle 5"/>
          <p:cNvSpPr>
            <a:spLocks noChangeArrowheads="1"/>
          </p:cNvSpPr>
          <p:nvPr/>
        </p:nvSpPr>
        <p:spPr bwMode="auto">
          <a:xfrm>
            <a:off x="6319359" y="168210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5" name="Line 6"/>
          <p:cNvSpPr>
            <a:spLocks noChangeShapeType="1"/>
          </p:cNvSpPr>
          <p:nvPr/>
        </p:nvSpPr>
        <p:spPr bwMode="auto">
          <a:xfrm>
            <a:off x="6852759" y="168210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9"/>
          <p:cNvSpPr>
            <a:spLocks noChangeShapeType="1"/>
          </p:cNvSpPr>
          <p:nvPr/>
        </p:nvSpPr>
        <p:spPr bwMode="auto">
          <a:xfrm>
            <a:off x="5938359" y="193627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9"/>
          <p:cNvSpPr>
            <a:spLocks noChangeShapeType="1"/>
          </p:cNvSpPr>
          <p:nvPr/>
        </p:nvSpPr>
        <p:spPr bwMode="auto">
          <a:xfrm>
            <a:off x="7084067" y="1937177"/>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Rectangle 5"/>
          <p:cNvSpPr>
            <a:spLocks noChangeArrowheads="1"/>
          </p:cNvSpPr>
          <p:nvPr/>
        </p:nvSpPr>
        <p:spPr bwMode="auto">
          <a:xfrm>
            <a:off x="8163175" y="169724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29" name="Line 6"/>
          <p:cNvSpPr>
            <a:spLocks noChangeShapeType="1"/>
          </p:cNvSpPr>
          <p:nvPr/>
        </p:nvSpPr>
        <p:spPr bwMode="auto">
          <a:xfrm>
            <a:off x="8722702" y="169724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9"/>
          <p:cNvSpPr>
            <a:spLocks noChangeShapeType="1"/>
          </p:cNvSpPr>
          <p:nvPr/>
        </p:nvSpPr>
        <p:spPr bwMode="auto">
          <a:xfrm>
            <a:off x="7782175" y="194488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矩形 30"/>
          <p:cNvSpPr/>
          <p:nvPr/>
        </p:nvSpPr>
        <p:spPr>
          <a:xfrm>
            <a:off x="227943" y="1689946"/>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32" name="Rectangle 5"/>
          <p:cNvSpPr>
            <a:spLocks noChangeArrowheads="1"/>
          </p:cNvSpPr>
          <p:nvPr/>
        </p:nvSpPr>
        <p:spPr bwMode="auto">
          <a:xfrm>
            <a:off x="988240" y="1648273"/>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33" name="Line 29"/>
          <p:cNvSpPr>
            <a:spLocks noChangeShapeType="1"/>
          </p:cNvSpPr>
          <p:nvPr/>
        </p:nvSpPr>
        <p:spPr bwMode="auto">
          <a:xfrm>
            <a:off x="1782897" y="190782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Line 6"/>
          <p:cNvSpPr>
            <a:spLocks noChangeShapeType="1"/>
          </p:cNvSpPr>
          <p:nvPr/>
        </p:nvSpPr>
        <p:spPr bwMode="auto">
          <a:xfrm>
            <a:off x="1542010" y="166031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a:off x="1824039" y="1437919"/>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矩形 56"/>
          <p:cNvSpPr/>
          <p:nvPr/>
        </p:nvSpPr>
        <p:spPr>
          <a:xfrm>
            <a:off x="1155588" y="1207227"/>
            <a:ext cx="351378" cy="523220"/>
          </a:xfrm>
          <a:prstGeom prst="rect">
            <a:avLst/>
          </a:prstGeom>
        </p:spPr>
        <p:txBody>
          <a:bodyPr wrap="none">
            <a:spAutoFit/>
          </a:bodyPr>
          <a:lstStyle/>
          <a:p>
            <a:pPr algn="r"/>
            <a:r>
              <a:rPr lang="en-US" altLang="zh-CN" sz="2800" dirty="0">
                <a:latin typeface="微软雅黑" pitchFamily="34" charset="-122"/>
                <a:ea typeface="微软雅黑" pitchFamily="34" charset="-122"/>
              </a:rPr>
              <a:t>s</a:t>
            </a:r>
          </a:p>
        </p:txBody>
      </p:sp>
      <p:sp>
        <p:nvSpPr>
          <p:cNvPr id="64" name="Rectangle 55"/>
          <p:cNvSpPr>
            <a:spLocks noChangeArrowheads="1"/>
          </p:cNvSpPr>
          <p:nvPr/>
        </p:nvSpPr>
        <p:spPr bwMode="auto">
          <a:xfrm>
            <a:off x="1478376" y="122160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AAF72E5A-81F8-CF12-13CD-38550D3684EA}"/>
              </a:ext>
            </a:extLst>
          </p:cNvPr>
          <p:cNvSpPr/>
          <p:nvPr/>
        </p:nvSpPr>
        <p:spPr>
          <a:xfrm>
            <a:off x="395536" y="843558"/>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2.4.2 </a:t>
            </a:r>
            <a:r>
              <a:rPr lang="zh-CN" altLang="en-US" sz="2800" b="1" dirty="0">
                <a:solidFill>
                  <a:schemeClr val="bg1"/>
                </a:solidFill>
                <a:latin typeface="经典粗黑简" pitchFamily="49" charset="-122"/>
                <a:ea typeface="经典粗黑简" pitchFamily="49" charset="-122"/>
                <a:cs typeface="经典粗黑简" pitchFamily="49" charset="-122"/>
              </a:rPr>
              <a:t>单链表的逆置</a:t>
            </a:r>
          </a:p>
        </p:txBody>
      </p:sp>
      <p:sp>
        <p:nvSpPr>
          <p:cNvPr id="6" name="矩形 5">
            <a:extLst>
              <a:ext uri="{FF2B5EF4-FFF2-40B4-BE49-F238E27FC236}">
                <a16:creationId xmlns:a16="http://schemas.microsoft.com/office/drawing/2014/main" id="{A20D38A7-41DF-921B-1DC0-8665977910DC}"/>
              </a:ext>
            </a:extLst>
          </p:cNvPr>
          <p:cNvSpPr/>
          <p:nvPr/>
        </p:nvSpPr>
        <p:spPr>
          <a:xfrm>
            <a:off x="4839617" y="760504"/>
            <a:ext cx="4304383" cy="584775"/>
          </a:xfrm>
          <a:prstGeom prst="rect">
            <a:avLst/>
          </a:prstGeom>
        </p:spPr>
        <p:txBody>
          <a:bodyPr wrap="none">
            <a:spAutoFit/>
          </a:bodyPr>
          <a:lstStyle/>
          <a:p>
            <a:r>
              <a:rPr lang="en-US" altLang="zh-CN" sz="3200" b="1" dirty="0">
                <a:latin typeface="黑体" pitchFamily="49" charset="-122"/>
                <a:ea typeface="黑体" pitchFamily="49" charset="-122"/>
              </a:rPr>
              <a:t>——</a:t>
            </a:r>
            <a:r>
              <a:rPr lang="zh-CN" altLang="en-US" sz="3200" b="1" dirty="0">
                <a:latin typeface="黑体" pitchFamily="49" charset="-122"/>
                <a:ea typeface="黑体" pitchFamily="49" charset="-122"/>
              </a:rPr>
              <a:t>单链表的其他操作</a:t>
            </a:r>
          </a:p>
        </p:txBody>
      </p:sp>
      <p:cxnSp>
        <p:nvCxnSpPr>
          <p:cNvPr id="8" name="直接连接符 7">
            <a:extLst>
              <a:ext uri="{FF2B5EF4-FFF2-40B4-BE49-F238E27FC236}">
                <a16:creationId xmlns:a16="http://schemas.microsoft.com/office/drawing/2014/main" id="{24DAC0CD-754E-FAD6-2395-ECE6427512E5}"/>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Rectangle 2">
            <a:extLst>
              <a:ext uri="{FF2B5EF4-FFF2-40B4-BE49-F238E27FC236}">
                <a16:creationId xmlns:a16="http://schemas.microsoft.com/office/drawing/2014/main" id="{38C930FA-9A74-AF0F-79D5-A9127B128A71}"/>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2.4 </a:t>
            </a:r>
            <a:r>
              <a:rPr lang="zh-CN" altLang="en-US" sz="3700" b="1" dirty="0">
                <a:latin typeface="黑体" pitchFamily="49" charset="-122"/>
                <a:ea typeface="黑体" pitchFamily="49" charset="-122"/>
                <a:cs typeface="+mn-cs"/>
              </a:rPr>
              <a:t>线性表的应用</a:t>
            </a:r>
          </a:p>
        </p:txBody>
      </p:sp>
    </p:spTree>
    <p:extLst>
      <p:ext uri="{BB962C8B-B14F-4D97-AF65-F5344CB8AC3E}">
        <p14:creationId xmlns:p14="http://schemas.microsoft.com/office/powerpoint/2010/main" val="2969561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5" grpId="0"/>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p:bldP spid="32" grpId="0" animBg="1"/>
      <p:bldP spid="33" grpId="0" animBg="1"/>
      <p:bldP spid="34" grpId="0" animBg="1"/>
      <p:bldP spid="35" grpId="0" animBg="1"/>
      <p:bldP spid="57" grpId="0"/>
      <p:bldP spid="64"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5"/>
          <p:cNvSpPr>
            <a:spLocks noChangeArrowheads="1"/>
          </p:cNvSpPr>
          <p:nvPr/>
        </p:nvSpPr>
        <p:spPr bwMode="auto">
          <a:xfrm>
            <a:off x="2149432" y="164827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3" name="Line 6"/>
          <p:cNvSpPr>
            <a:spLocks noChangeShapeType="1"/>
          </p:cNvSpPr>
          <p:nvPr/>
        </p:nvSpPr>
        <p:spPr bwMode="auto">
          <a:xfrm>
            <a:off x="2682832" y="1648273"/>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Rectangle 25"/>
          <p:cNvSpPr>
            <a:spLocks noChangeArrowheads="1"/>
          </p:cNvSpPr>
          <p:nvPr/>
        </p:nvSpPr>
        <p:spPr bwMode="auto">
          <a:xfrm>
            <a:off x="4313317" y="172223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5" name="Rectangle 36"/>
          <p:cNvSpPr>
            <a:spLocks noChangeArrowheads="1"/>
          </p:cNvSpPr>
          <p:nvPr/>
        </p:nvSpPr>
        <p:spPr bwMode="auto">
          <a:xfrm>
            <a:off x="7447466" y="174424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6" name="Line 29"/>
          <p:cNvSpPr>
            <a:spLocks noChangeShapeType="1"/>
          </p:cNvSpPr>
          <p:nvPr/>
        </p:nvSpPr>
        <p:spPr bwMode="auto">
          <a:xfrm>
            <a:off x="596954" y="189994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Rectangle 5"/>
          <p:cNvSpPr>
            <a:spLocks noChangeArrowheads="1"/>
          </p:cNvSpPr>
          <p:nvPr/>
        </p:nvSpPr>
        <p:spPr bwMode="auto">
          <a:xfrm>
            <a:off x="3325089" y="165364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8" name="Line 6"/>
          <p:cNvSpPr>
            <a:spLocks noChangeShapeType="1"/>
          </p:cNvSpPr>
          <p:nvPr/>
        </p:nvSpPr>
        <p:spPr bwMode="auto">
          <a:xfrm>
            <a:off x="3858489" y="165364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29"/>
          <p:cNvSpPr>
            <a:spLocks noChangeShapeType="1"/>
          </p:cNvSpPr>
          <p:nvPr/>
        </p:nvSpPr>
        <p:spPr bwMode="auto">
          <a:xfrm>
            <a:off x="2944089" y="190782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Rectangle 5"/>
          <p:cNvSpPr>
            <a:spLocks noChangeArrowheads="1"/>
          </p:cNvSpPr>
          <p:nvPr/>
        </p:nvSpPr>
        <p:spPr bwMode="auto">
          <a:xfrm>
            <a:off x="4926600" y="1670275"/>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21" name="Line 6"/>
          <p:cNvSpPr>
            <a:spLocks noChangeShapeType="1"/>
          </p:cNvSpPr>
          <p:nvPr/>
        </p:nvSpPr>
        <p:spPr bwMode="auto">
          <a:xfrm>
            <a:off x="5663173" y="1664900"/>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9"/>
          <p:cNvSpPr>
            <a:spLocks noChangeShapeType="1"/>
          </p:cNvSpPr>
          <p:nvPr/>
        </p:nvSpPr>
        <p:spPr bwMode="auto">
          <a:xfrm>
            <a:off x="4725608" y="1898602"/>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9"/>
          <p:cNvSpPr>
            <a:spLocks noChangeShapeType="1"/>
          </p:cNvSpPr>
          <p:nvPr/>
        </p:nvSpPr>
        <p:spPr bwMode="auto">
          <a:xfrm>
            <a:off x="4048989" y="1905134"/>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Rectangle 5"/>
          <p:cNvSpPr>
            <a:spLocks noChangeArrowheads="1"/>
          </p:cNvSpPr>
          <p:nvPr/>
        </p:nvSpPr>
        <p:spPr bwMode="auto">
          <a:xfrm>
            <a:off x="6319359" y="168210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5" name="Line 6"/>
          <p:cNvSpPr>
            <a:spLocks noChangeShapeType="1"/>
          </p:cNvSpPr>
          <p:nvPr/>
        </p:nvSpPr>
        <p:spPr bwMode="auto">
          <a:xfrm>
            <a:off x="6852759" y="168210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9"/>
          <p:cNvSpPr>
            <a:spLocks noChangeShapeType="1"/>
          </p:cNvSpPr>
          <p:nvPr/>
        </p:nvSpPr>
        <p:spPr bwMode="auto">
          <a:xfrm>
            <a:off x="5938359" y="193627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9"/>
          <p:cNvSpPr>
            <a:spLocks noChangeShapeType="1"/>
          </p:cNvSpPr>
          <p:nvPr/>
        </p:nvSpPr>
        <p:spPr bwMode="auto">
          <a:xfrm>
            <a:off x="7084067" y="1937177"/>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Rectangle 5"/>
          <p:cNvSpPr>
            <a:spLocks noChangeArrowheads="1"/>
          </p:cNvSpPr>
          <p:nvPr/>
        </p:nvSpPr>
        <p:spPr bwMode="auto">
          <a:xfrm>
            <a:off x="8163175" y="169724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29" name="Line 6"/>
          <p:cNvSpPr>
            <a:spLocks noChangeShapeType="1"/>
          </p:cNvSpPr>
          <p:nvPr/>
        </p:nvSpPr>
        <p:spPr bwMode="auto">
          <a:xfrm>
            <a:off x="8722702" y="169724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9"/>
          <p:cNvSpPr>
            <a:spLocks noChangeShapeType="1"/>
          </p:cNvSpPr>
          <p:nvPr/>
        </p:nvSpPr>
        <p:spPr bwMode="auto">
          <a:xfrm>
            <a:off x="7782175" y="194488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矩形 30"/>
          <p:cNvSpPr/>
          <p:nvPr/>
        </p:nvSpPr>
        <p:spPr>
          <a:xfrm>
            <a:off x="227943" y="1689946"/>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32" name="Rectangle 5"/>
          <p:cNvSpPr>
            <a:spLocks noChangeArrowheads="1"/>
          </p:cNvSpPr>
          <p:nvPr/>
        </p:nvSpPr>
        <p:spPr bwMode="auto">
          <a:xfrm>
            <a:off x="988240" y="1648273"/>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34" name="Line 6"/>
          <p:cNvSpPr>
            <a:spLocks noChangeShapeType="1"/>
          </p:cNvSpPr>
          <p:nvPr/>
        </p:nvSpPr>
        <p:spPr bwMode="auto">
          <a:xfrm>
            <a:off x="1542010" y="166031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a:off x="1824039" y="1437919"/>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Rectangle 55"/>
          <p:cNvSpPr>
            <a:spLocks noChangeArrowheads="1"/>
          </p:cNvSpPr>
          <p:nvPr/>
        </p:nvSpPr>
        <p:spPr bwMode="auto">
          <a:xfrm>
            <a:off x="1478376" y="122160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2" name="矩形 1"/>
          <p:cNvSpPr/>
          <p:nvPr/>
        </p:nvSpPr>
        <p:spPr>
          <a:xfrm>
            <a:off x="1602558" y="1731026"/>
            <a:ext cx="300082" cy="369332"/>
          </a:xfrm>
          <a:prstGeom prst="rect">
            <a:avLst/>
          </a:prstGeom>
        </p:spPr>
        <p:txBody>
          <a:bodyPr wrap="none">
            <a:spAutoFit/>
          </a:bodyPr>
          <a:lstStyle/>
          <a:p>
            <a:r>
              <a:rPr lang="zh-CN" altLang="en-US" dirty="0"/>
              <a:t>^</a:t>
            </a:r>
          </a:p>
        </p:txBody>
      </p:sp>
      <p:sp>
        <p:nvSpPr>
          <p:cNvPr id="36" name="矩形 35"/>
          <p:cNvSpPr/>
          <p:nvPr/>
        </p:nvSpPr>
        <p:spPr>
          <a:xfrm>
            <a:off x="1155588" y="1207227"/>
            <a:ext cx="351378" cy="523220"/>
          </a:xfrm>
          <a:prstGeom prst="rect">
            <a:avLst/>
          </a:prstGeom>
        </p:spPr>
        <p:txBody>
          <a:bodyPr wrap="none">
            <a:spAutoFit/>
          </a:bodyPr>
          <a:lstStyle/>
          <a:p>
            <a:pPr algn="r"/>
            <a:r>
              <a:rPr lang="en-US" altLang="zh-CN" sz="2800" dirty="0">
                <a:latin typeface="微软雅黑" pitchFamily="34" charset="-122"/>
                <a:ea typeface="微软雅黑" pitchFamily="34" charset="-122"/>
              </a:rPr>
              <a:t>s</a:t>
            </a:r>
          </a:p>
        </p:txBody>
      </p:sp>
      <p:sp>
        <p:nvSpPr>
          <p:cNvPr id="33" name="Text Box 2"/>
          <p:cNvSpPr txBox="1">
            <a:spLocks noChangeArrowheads="1"/>
          </p:cNvSpPr>
          <p:nvPr/>
        </p:nvSpPr>
        <p:spPr bwMode="auto">
          <a:xfrm>
            <a:off x="882305" y="2244269"/>
            <a:ext cx="728087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dirty="0">
                <a:latin typeface="Times New Roman" pitchFamily="18" charset="0"/>
                <a:ea typeface="宋体" pitchFamily="2" charset="-122"/>
              </a:rPr>
              <a:t>void </a:t>
            </a:r>
            <a:r>
              <a:rPr lang="en-US" altLang="zh-CN" dirty="0" err="1">
                <a:latin typeface="Times New Roman" pitchFamily="18" charset="0"/>
                <a:ea typeface="宋体" pitchFamily="2" charset="-122"/>
              </a:rPr>
              <a:t>InvertLinkedList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&amp;L ) // </a:t>
            </a:r>
            <a:r>
              <a:rPr lang="zh-CN" altLang="zh-CN" dirty="0">
                <a:latin typeface="Times New Roman" pitchFamily="18" charset="0"/>
                <a:ea typeface="宋体" pitchFamily="2" charset="-122"/>
              </a:rPr>
              <a:t>逆置头指针</a:t>
            </a:r>
            <a:r>
              <a:rPr lang="en-US" altLang="zh-CN" dirty="0">
                <a:latin typeface="Times New Roman" pitchFamily="18" charset="0"/>
                <a:ea typeface="宋体" pitchFamily="2" charset="-122"/>
              </a:rPr>
              <a:t>L</a:t>
            </a:r>
            <a:r>
              <a:rPr lang="zh-CN" altLang="zh-CN" dirty="0">
                <a:latin typeface="Times New Roman" pitchFamily="18" charset="0"/>
                <a:ea typeface="宋体" pitchFamily="2" charset="-122"/>
              </a:rPr>
              <a:t>所指链表</a:t>
            </a: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s,p</a:t>
            </a:r>
            <a:r>
              <a:rPr lang="en-US" altLang="zh-CN" dirty="0">
                <a:latin typeface="Times New Roman" pitchFamily="18" charset="0"/>
                <a:ea typeface="宋体" pitchFamily="2" charset="-122"/>
              </a:rPr>
              <a:t> = L-&gt;next;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L-&gt;next = NULL;         // </a:t>
            </a:r>
            <a:r>
              <a:rPr lang="zh-CN" altLang="zh-CN" dirty="0">
                <a:latin typeface="Times New Roman" pitchFamily="18" charset="0"/>
                <a:ea typeface="宋体" pitchFamily="2" charset="-122"/>
              </a:rPr>
              <a:t>设逆置后的链表的初态为空表</a:t>
            </a:r>
          </a:p>
          <a:p>
            <a:r>
              <a:rPr lang="en-US" altLang="zh-CN" dirty="0">
                <a:latin typeface="Times New Roman" pitchFamily="18" charset="0"/>
                <a:ea typeface="宋体" pitchFamily="2" charset="-122"/>
              </a:rPr>
              <a:t>      while ( p ) {                //  p </a:t>
            </a:r>
            <a:r>
              <a:rPr lang="zh-CN" altLang="zh-CN" dirty="0">
                <a:latin typeface="Times New Roman" pitchFamily="18" charset="0"/>
                <a:ea typeface="宋体" pitchFamily="2" charset="-122"/>
              </a:rPr>
              <a:t>为待逆置链表的头指针</a:t>
            </a:r>
          </a:p>
          <a:p>
            <a:r>
              <a:rPr lang="en-US" altLang="zh-CN" dirty="0">
                <a:latin typeface="Times New Roman" pitchFamily="18" charset="0"/>
                <a:ea typeface="宋体" pitchFamily="2" charset="-122"/>
              </a:rPr>
              <a:t>        s = p;  p = p-&gt;next;    // </a:t>
            </a:r>
            <a:r>
              <a:rPr lang="zh-CN" altLang="zh-CN" dirty="0">
                <a:latin typeface="Times New Roman" pitchFamily="18" charset="0"/>
                <a:ea typeface="宋体" pitchFamily="2" charset="-122"/>
              </a:rPr>
              <a:t>从</a:t>
            </a:r>
            <a:r>
              <a:rPr lang="en-US" altLang="zh-CN" dirty="0">
                <a:latin typeface="Times New Roman" pitchFamily="18" charset="0"/>
                <a:ea typeface="宋体" pitchFamily="2" charset="-122"/>
              </a:rPr>
              <a:t> p </a:t>
            </a:r>
            <a:r>
              <a:rPr lang="zh-CN" altLang="zh-CN" dirty="0">
                <a:latin typeface="Times New Roman" pitchFamily="18" charset="0"/>
                <a:ea typeface="宋体" pitchFamily="2" charset="-122"/>
              </a:rPr>
              <a:t>所指链表中删除第一个结点</a:t>
            </a:r>
            <a:r>
              <a:rPr lang="en-US" altLang="zh-CN" dirty="0">
                <a:latin typeface="Times New Roman" pitchFamily="18" charset="0"/>
                <a:ea typeface="宋体" pitchFamily="2" charset="-122"/>
              </a:rPr>
              <a:t>(s </a:t>
            </a:r>
            <a:r>
              <a:rPr lang="zh-CN" altLang="zh-CN" dirty="0">
                <a:latin typeface="Times New Roman" pitchFamily="18" charset="0"/>
                <a:ea typeface="宋体" pitchFamily="2" charset="-122"/>
              </a:rPr>
              <a:t>结点</a:t>
            </a:r>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s-&gt;next = L-&gt;next;  L-&gt;next = s;  // </a:t>
            </a:r>
            <a:r>
              <a:rPr lang="zh-CN" altLang="zh-CN" dirty="0">
                <a:latin typeface="Times New Roman" pitchFamily="18" charset="0"/>
                <a:ea typeface="宋体" pitchFamily="2" charset="-122"/>
              </a:rPr>
              <a:t>将</a:t>
            </a:r>
            <a:r>
              <a:rPr lang="en-US" altLang="zh-CN" dirty="0">
                <a:latin typeface="Times New Roman" pitchFamily="18" charset="0"/>
                <a:ea typeface="宋体" pitchFamily="2" charset="-122"/>
              </a:rPr>
              <a:t> s </a:t>
            </a:r>
            <a:r>
              <a:rPr lang="zh-CN" altLang="zh-CN" dirty="0">
                <a:latin typeface="Times New Roman" pitchFamily="18" charset="0"/>
                <a:ea typeface="宋体" pitchFamily="2" charset="-122"/>
              </a:rPr>
              <a:t>结点插入到逆置表的表头</a:t>
            </a:r>
          </a:p>
          <a:p>
            <a:r>
              <a:rPr lang="en-US" altLang="zh-CN" dirty="0">
                <a:latin typeface="Times New Roman" pitchFamily="18" charset="0"/>
                <a:ea typeface="宋体" pitchFamily="2" charset="-122"/>
              </a:rPr>
              <a: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p:txBody>
      </p:sp>
      <p:sp>
        <p:nvSpPr>
          <p:cNvPr id="6" name="矩形 5">
            <a:extLst>
              <a:ext uri="{FF2B5EF4-FFF2-40B4-BE49-F238E27FC236}">
                <a16:creationId xmlns:a16="http://schemas.microsoft.com/office/drawing/2014/main" id="{4C465A15-B58B-0EE2-99A8-06BFADE67599}"/>
              </a:ext>
            </a:extLst>
          </p:cNvPr>
          <p:cNvSpPr/>
          <p:nvPr/>
        </p:nvSpPr>
        <p:spPr>
          <a:xfrm>
            <a:off x="395536" y="843558"/>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2.4.2 </a:t>
            </a:r>
            <a:r>
              <a:rPr lang="zh-CN" altLang="en-US" sz="2800" b="1" dirty="0">
                <a:solidFill>
                  <a:schemeClr val="bg1"/>
                </a:solidFill>
                <a:latin typeface="经典粗黑简" pitchFamily="49" charset="-122"/>
                <a:ea typeface="经典粗黑简" pitchFamily="49" charset="-122"/>
                <a:cs typeface="经典粗黑简" pitchFamily="49" charset="-122"/>
              </a:rPr>
              <a:t>单链表的逆置</a:t>
            </a:r>
          </a:p>
        </p:txBody>
      </p:sp>
      <p:sp>
        <p:nvSpPr>
          <p:cNvPr id="7" name="矩形 6">
            <a:extLst>
              <a:ext uri="{FF2B5EF4-FFF2-40B4-BE49-F238E27FC236}">
                <a16:creationId xmlns:a16="http://schemas.microsoft.com/office/drawing/2014/main" id="{C63172C2-0732-723D-AEF0-DCE52494A420}"/>
              </a:ext>
            </a:extLst>
          </p:cNvPr>
          <p:cNvSpPr/>
          <p:nvPr/>
        </p:nvSpPr>
        <p:spPr>
          <a:xfrm>
            <a:off x="4839617" y="760504"/>
            <a:ext cx="4304383" cy="584775"/>
          </a:xfrm>
          <a:prstGeom prst="rect">
            <a:avLst/>
          </a:prstGeom>
        </p:spPr>
        <p:txBody>
          <a:bodyPr wrap="none">
            <a:spAutoFit/>
          </a:bodyPr>
          <a:lstStyle/>
          <a:p>
            <a:r>
              <a:rPr lang="en-US" altLang="zh-CN" sz="3200" b="1" dirty="0">
                <a:latin typeface="黑体" pitchFamily="49" charset="-122"/>
                <a:ea typeface="黑体" pitchFamily="49" charset="-122"/>
              </a:rPr>
              <a:t>——</a:t>
            </a:r>
            <a:r>
              <a:rPr lang="zh-CN" altLang="en-US" sz="3200" b="1" dirty="0">
                <a:latin typeface="黑体" pitchFamily="49" charset="-122"/>
                <a:ea typeface="黑体" pitchFamily="49" charset="-122"/>
              </a:rPr>
              <a:t>单链表的其他操作</a:t>
            </a:r>
          </a:p>
        </p:txBody>
      </p:sp>
      <p:cxnSp>
        <p:nvCxnSpPr>
          <p:cNvPr id="8" name="直接连接符 7">
            <a:extLst>
              <a:ext uri="{FF2B5EF4-FFF2-40B4-BE49-F238E27FC236}">
                <a16:creationId xmlns:a16="http://schemas.microsoft.com/office/drawing/2014/main" id="{B05A4413-5395-9123-CE2F-0B07D072C01B}"/>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Rectangle 2">
            <a:extLst>
              <a:ext uri="{FF2B5EF4-FFF2-40B4-BE49-F238E27FC236}">
                <a16:creationId xmlns:a16="http://schemas.microsoft.com/office/drawing/2014/main" id="{8D7851FF-187F-3832-249F-40995196348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2.4 </a:t>
            </a:r>
            <a:r>
              <a:rPr lang="zh-CN" altLang="en-US" sz="3700" b="1" dirty="0">
                <a:latin typeface="黑体" pitchFamily="49" charset="-122"/>
                <a:ea typeface="黑体" pitchFamily="49" charset="-122"/>
                <a:cs typeface="+mn-cs"/>
              </a:rPr>
              <a:t>线性表的应用</a:t>
            </a:r>
          </a:p>
        </p:txBody>
      </p:sp>
    </p:spTree>
    <p:extLst>
      <p:ext uri="{BB962C8B-B14F-4D97-AF65-F5344CB8AC3E}">
        <p14:creationId xmlns:p14="http://schemas.microsoft.com/office/powerpoint/2010/main" val="997378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5" grpId="0"/>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p:bldP spid="32" grpId="0" animBg="1"/>
      <p:bldP spid="34" grpId="0" animBg="1"/>
      <p:bldP spid="35" grpId="0" animBg="1"/>
      <p:bldP spid="64" grpId="0"/>
      <p:bldP spid="36"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5"/>
          <p:cNvSpPr>
            <a:spLocks noChangeArrowheads="1"/>
          </p:cNvSpPr>
          <p:nvPr/>
        </p:nvSpPr>
        <p:spPr bwMode="auto">
          <a:xfrm>
            <a:off x="2149432" y="164827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3" name="Line 6"/>
          <p:cNvSpPr>
            <a:spLocks noChangeShapeType="1"/>
          </p:cNvSpPr>
          <p:nvPr/>
        </p:nvSpPr>
        <p:spPr bwMode="auto">
          <a:xfrm>
            <a:off x="2682832" y="1648273"/>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Rectangle 25"/>
          <p:cNvSpPr>
            <a:spLocks noChangeArrowheads="1"/>
          </p:cNvSpPr>
          <p:nvPr/>
        </p:nvSpPr>
        <p:spPr bwMode="auto">
          <a:xfrm>
            <a:off x="4313317" y="172223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5" name="Rectangle 36"/>
          <p:cNvSpPr>
            <a:spLocks noChangeArrowheads="1"/>
          </p:cNvSpPr>
          <p:nvPr/>
        </p:nvSpPr>
        <p:spPr bwMode="auto">
          <a:xfrm>
            <a:off x="7447466" y="174424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6" name="Line 29"/>
          <p:cNvSpPr>
            <a:spLocks noChangeShapeType="1"/>
          </p:cNvSpPr>
          <p:nvPr/>
        </p:nvSpPr>
        <p:spPr bwMode="auto">
          <a:xfrm>
            <a:off x="596954" y="189994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Rectangle 5"/>
          <p:cNvSpPr>
            <a:spLocks noChangeArrowheads="1"/>
          </p:cNvSpPr>
          <p:nvPr/>
        </p:nvSpPr>
        <p:spPr bwMode="auto">
          <a:xfrm>
            <a:off x="3325089" y="165364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8" name="Line 6"/>
          <p:cNvSpPr>
            <a:spLocks noChangeShapeType="1"/>
          </p:cNvSpPr>
          <p:nvPr/>
        </p:nvSpPr>
        <p:spPr bwMode="auto">
          <a:xfrm>
            <a:off x="3858489" y="165364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29"/>
          <p:cNvSpPr>
            <a:spLocks noChangeShapeType="1"/>
          </p:cNvSpPr>
          <p:nvPr/>
        </p:nvSpPr>
        <p:spPr bwMode="auto">
          <a:xfrm>
            <a:off x="2944089" y="190782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Rectangle 5"/>
          <p:cNvSpPr>
            <a:spLocks noChangeArrowheads="1"/>
          </p:cNvSpPr>
          <p:nvPr/>
        </p:nvSpPr>
        <p:spPr bwMode="auto">
          <a:xfrm>
            <a:off x="4926600" y="1670275"/>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21" name="Line 6"/>
          <p:cNvSpPr>
            <a:spLocks noChangeShapeType="1"/>
          </p:cNvSpPr>
          <p:nvPr/>
        </p:nvSpPr>
        <p:spPr bwMode="auto">
          <a:xfrm>
            <a:off x="5663173" y="1664900"/>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9"/>
          <p:cNvSpPr>
            <a:spLocks noChangeShapeType="1"/>
          </p:cNvSpPr>
          <p:nvPr/>
        </p:nvSpPr>
        <p:spPr bwMode="auto">
          <a:xfrm>
            <a:off x="4725608" y="1898602"/>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9"/>
          <p:cNvSpPr>
            <a:spLocks noChangeShapeType="1"/>
          </p:cNvSpPr>
          <p:nvPr/>
        </p:nvSpPr>
        <p:spPr bwMode="auto">
          <a:xfrm>
            <a:off x="4048989" y="1905134"/>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Rectangle 5"/>
          <p:cNvSpPr>
            <a:spLocks noChangeArrowheads="1"/>
          </p:cNvSpPr>
          <p:nvPr/>
        </p:nvSpPr>
        <p:spPr bwMode="auto">
          <a:xfrm>
            <a:off x="6319359" y="168210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5" name="Line 6"/>
          <p:cNvSpPr>
            <a:spLocks noChangeShapeType="1"/>
          </p:cNvSpPr>
          <p:nvPr/>
        </p:nvSpPr>
        <p:spPr bwMode="auto">
          <a:xfrm>
            <a:off x="6852759" y="168210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9"/>
          <p:cNvSpPr>
            <a:spLocks noChangeShapeType="1"/>
          </p:cNvSpPr>
          <p:nvPr/>
        </p:nvSpPr>
        <p:spPr bwMode="auto">
          <a:xfrm>
            <a:off x="5938359" y="193627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9"/>
          <p:cNvSpPr>
            <a:spLocks noChangeShapeType="1"/>
          </p:cNvSpPr>
          <p:nvPr/>
        </p:nvSpPr>
        <p:spPr bwMode="auto">
          <a:xfrm>
            <a:off x="7084067" y="1937177"/>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Rectangle 5"/>
          <p:cNvSpPr>
            <a:spLocks noChangeArrowheads="1"/>
          </p:cNvSpPr>
          <p:nvPr/>
        </p:nvSpPr>
        <p:spPr bwMode="auto">
          <a:xfrm>
            <a:off x="8163175" y="169724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29" name="Line 6"/>
          <p:cNvSpPr>
            <a:spLocks noChangeShapeType="1"/>
          </p:cNvSpPr>
          <p:nvPr/>
        </p:nvSpPr>
        <p:spPr bwMode="auto">
          <a:xfrm>
            <a:off x="8722702" y="169724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9"/>
          <p:cNvSpPr>
            <a:spLocks noChangeShapeType="1"/>
          </p:cNvSpPr>
          <p:nvPr/>
        </p:nvSpPr>
        <p:spPr bwMode="auto">
          <a:xfrm>
            <a:off x="7782175" y="194488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矩形 30"/>
          <p:cNvSpPr/>
          <p:nvPr/>
        </p:nvSpPr>
        <p:spPr>
          <a:xfrm>
            <a:off x="227943" y="1689946"/>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32" name="Rectangle 5"/>
          <p:cNvSpPr>
            <a:spLocks noChangeArrowheads="1"/>
          </p:cNvSpPr>
          <p:nvPr/>
        </p:nvSpPr>
        <p:spPr bwMode="auto">
          <a:xfrm>
            <a:off x="988240" y="1648273"/>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34" name="Line 6"/>
          <p:cNvSpPr>
            <a:spLocks noChangeShapeType="1"/>
          </p:cNvSpPr>
          <p:nvPr/>
        </p:nvSpPr>
        <p:spPr bwMode="auto">
          <a:xfrm>
            <a:off x="1542010" y="166031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a:off x="3004015" y="1416048"/>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Rectangle 55"/>
          <p:cNvSpPr>
            <a:spLocks noChangeArrowheads="1"/>
          </p:cNvSpPr>
          <p:nvPr/>
        </p:nvSpPr>
        <p:spPr bwMode="auto">
          <a:xfrm>
            <a:off x="2658352" y="119972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2" name="矩形 1"/>
          <p:cNvSpPr/>
          <p:nvPr/>
        </p:nvSpPr>
        <p:spPr>
          <a:xfrm>
            <a:off x="1602558" y="1731026"/>
            <a:ext cx="300082" cy="369332"/>
          </a:xfrm>
          <a:prstGeom prst="rect">
            <a:avLst/>
          </a:prstGeom>
        </p:spPr>
        <p:txBody>
          <a:bodyPr wrap="none">
            <a:spAutoFit/>
          </a:bodyPr>
          <a:lstStyle/>
          <a:p>
            <a:r>
              <a:rPr lang="zh-CN" altLang="en-US" dirty="0"/>
              <a:t>^</a:t>
            </a:r>
          </a:p>
        </p:txBody>
      </p:sp>
      <p:sp>
        <p:nvSpPr>
          <p:cNvPr id="33" name="矩形 32"/>
          <p:cNvSpPr/>
          <p:nvPr/>
        </p:nvSpPr>
        <p:spPr>
          <a:xfrm>
            <a:off x="1155588" y="1207227"/>
            <a:ext cx="351378" cy="523220"/>
          </a:xfrm>
          <a:prstGeom prst="rect">
            <a:avLst/>
          </a:prstGeom>
        </p:spPr>
        <p:txBody>
          <a:bodyPr wrap="none">
            <a:spAutoFit/>
          </a:bodyPr>
          <a:lstStyle/>
          <a:p>
            <a:pPr algn="r"/>
            <a:r>
              <a:rPr lang="en-US" altLang="zh-CN" sz="2800" dirty="0">
                <a:latin typeface="微软雅黑" pitchFamily="34" charset="-122"/>
                <a:ea typeface="微软雅黑" pitchFamily="34" charset="-122"/>
              </a:rPr>
              <a:t>s</a:t>
            </a:r>
          </a:p>
        </p:txBody>
      </p:sp>
      <p:sp>
        <p:nvSpPr>
          <p:cNvPr id="36" name="Line 29"/>
          <p:cNvSpPr>
            <a:spLocks noChangeShapeType="1"/>
          </p:cNvSpPr>
          <p:nvPr/>
        </p:nvSpPr>
        <p:spPr bwMode="auto">
          <a:xfrm>
            <a:off x="1440149" y="1521160"/>
            <a:ext cx="70496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Text Box 2"/>
          <p:cNvSpPr txBox="1">
            <a:spLocks noChangeArrowheads="1"/>
          </p:cNvSpPr>
          <p:nvPr/>
        </p:nvSpPr>
        <p:spPr bwMode="auto">
          <a:xfrm>
            <a:off x="820487" y="2355726"/>
            <a:ext cx="728087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dirty="0">
                <a:latin typeface="Times New Roman" pitchFamily="18" charset="0"/>
                <a:ea typeface="宋体" pitchFamily="2" charset="-122"/>
              </a:rPr>
              <a:t>void </a:t>
            </a:r>
            <a:r>
              <a:rPr lang="en-US" altLang="zh-CN" dirty="0" err="1">
                <a:latin typeface="Times New Roman" pitchFamily="18" charset="0"/>
                <a:ea typeface="宋体" pitchFamily="2" charset="-122"/>
              </a:rPr>
              <a:t>InvertLinkedList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&amp;L ) // </a:t>
            </a:r>
            <a:r>
              <a:rPr lang="zh-CN" altLang="zh-CN" dirty="0">
                <a:latin typeface="Times New Roman" pitchFamily="18" charset="0"/>
                <a:ea typeface="宋体" pitchFamily="2" charset="-122"/>
              </a:rPr>
              <a:t>逆置头指针</a:t>
            </a:r>
            <a:r>
              <a:rPr lang="en-US" altLang="zh-CN" dirty="0">
                <a:latin typeface="Times New Roman" pitchFamily="18" charset="0"/>
                <a:ea typeface="宋体" pitchFamily="2" charset="-122"/>
              </a:rPr>
              <a:t>L</a:t>
            </a:r>
            <a:r>
              <a:rPr lang="zh-CN" altLang="zh-CN" dirty="0">
                <a:latin typeface="Times New Roman" pitchFamily="18" charset="0"/>
                <a:ea typeface="宋体" pitchFamily="2" charset="-122"/>
              </a:rPr>
              <a:t>所指链表</a:t>
            </a: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s,p</a:t>
            </a:r>
            <a:r>
              <a:rPr lang="en-US" altLang="zh-CN" dirty="0">
                <a:latin typeface="Times New Roman" pitchFamily="18" charset="0"/>
                <a:ea typeface="宋体" pitchFamily="2" charset="-122"/>
              </a:rPr>
              <a:t> = L-&gt;next;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L-&gt;next = NULL;         // </a:t>
            </a:r>
            <a:r>
              <a:rPr lang="zh-CN" altLang="zh-CN" dirty="0">
                <a:latin typeface="Times New Roman" pitchFamily="18" charset="0"/>
                <a:ea typeface="宋体" pitchFamily="2" charset="-122"/>
              </a:rPr>
              <a:t>设逆置后的链表的初态为空表</a:t>
            </a:r>
          </a:p>
          <a:p>
            <a:r>
              <a:rPr lang="en-US" altLang="zh-CN" dirty="0">
                <a:latin typeface="Times New Roman" pitchFamily="18" charset="0"/>
                <a:ea typeface="宋体" pitchFamily="2" charset="-122"/>
              </a:rPr>
              <a:t>      while ( p ) {                //  p </a:t>
            </a:r>
            <a:r>
              <a:rPr lang="zh-CN" altLang="zh-CN" dirty="0">
                <a:latin typeface="Times New Roman" pitchFamily="18" charset="0"/>
                <a:ea typeface="宋体" pitchFamily="2" charset="-122"/>
              </a:rPr>
              <a:t>为待逆置链表的头指针</a:t>
            </a:r>
          </a:p>
          <a:p>
            <a:r>
              <a:rPr lang="en-US" altLang="zh-CN" dirty="0">
                <a:latin typeface="Times New Roman" pitchFamily="18" charset="0"/>
                <a:ea typeface="宋体" pitchFamily="2" charset="-122"/>
              </a:rPr>
              <a:t>        s = p;  p = p-&gt;next;    // </a:t>
            </a:r>
            <a:r>
              <a:rPr lang="zh-CN" altLang="zh-CN" dirty="0">
                <a:latin typeface="Times New Roman" pitchFamily="18" charset="0"/>
                <a:ea typeface="宋体" pitchFamily="2" charset="-122"/>
              </a:rPr>
              <a:t>从</a:t>
            </a:r>
            <a:r>
              <a:rPr lang="en-US" altLang="zh-CN" dirty="0">
                <a:latin typeface="Times New Roman" pitchFamily="18" charset="0"/>
                <a:ea typeface="宋体" pitchFamily="2" charset="-122"/>
              </a:rPr>
              <a:t> p </a:t>
            </a:r>
            <a:r>
              <a:rPr lang="zh-CN" altLang="zh-CN" dirty="0">
                <a:latin typeface="Times New Roman" pitchFamily="18" charset="0"/>
                <a:ea typeface="宋体" pitchFamily="2" charset="-122"/>
              </a:rPr>
              <a:t>所指链表中删除第一个结点</a:t>
            </a:r>
            <a:r>
              <a:rPr lang="en-US" altLang="zh-CN" dirty="0">
                <a:latin typeface="Times New Roman" pitchFamily="18" charset="0"/>
                <a:ea typeface="宋体" pitchFamily="2" charset="-122"/>
              </a:rPr>
              <a:t>(s </a:t>
            </a:r>
            <a:r>
              <a:rPr lang="zh-CN" altLang="zh-CN" dirty="0">
                <a:latin typeface="Times New Roman" pitchFamily="18" charset="0"/>
                <a:ea typeface="宋体" pitchFamily="2" charset="-122"/>
              </a:rPr>
              <a:t>结点</a:t>
            </a:r>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s-&gt;next = L-&gt;next;  L-&gt;next = s;  // </a:t>
            </a:r>
            <a:r>
              <a:rPr lang="zh-CN" altLang="zh-CN" dirty="0">
                <a:latin typeface="Times New Roman" pitchFamily="18" charset="0"/>
                <a:ea typeface="宋体" pitchFamily="2" charset="-122"/>
              </a:rPr>
              <a:t>将</a:t>
            </a:r>
            <a:r>
              <a:rPr lang="en-US" altLang="zh-CN" dirty="0">
                <a:latin typeface="Times New Roman" pitchFamily="18" charset="0"/>
                <a:ea typeface="宋体" pitchFamily="2" charset="-122"/>
              </a:rPr>
              <a:t> s </a:t>
            </a:r>
            <a:r>
              <a:rPr lang="zh-CN" altLang="zh-CN" dirty="0">
                <a:latin typeface="Times New Roman" pitchFamily="18" charset="0"/>
                <a:ea typeface="宋体" pitchFamily="2" charset="-122"/>
              </a:rPr>
              <a:t>结点插入到逆置表的表头</a:t>
            </a:r>
          </a:p>
          <a:p>
            <a:r>
              <a:rPr lang="en-US" altLang="zh-CN" dirty="0">
                <a:latin typeface="Times New Roman" pitchFamily="18" charset="0"/>
                <a:ea typeface="宋体" pitchFamily="2" charset="-122"/>
              </a:rPr>
              <a: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p:txBody>
      </p:sp>
      <p:sp>
        <p:nvSpPr>
          <p:cNvPr id="6" name="矩形 5">
            <a:extLst>
              <a:ext uri="{FF2B5EF4-FFF2-40B4-BE49-F238E27FC236}">
                <a16:creationId xmlns:a16="http://schemas.microsoft.com/office/drawing/2014/main" id="{7E2961B7-C385-F925-565C-FDC63C3A995F}"/>
              </a:ext>
            </a:extLst>
          </p:cNvPr>
          <p:cNvSpPr/>
          <p:nvPr/>
        </p:nvSpPr>
        <p:spPr>
          <a:xfrm>
            <a:off x="395536" y="843558"/>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2.4.2 </a:t>
            </a:r>
            <a:r>
              <a:rPr lang="zh-CN" altLang="en-US" sz="2800" b="1" dirty="0">
                <a:solidFill>
                  <a:schemeClr val="bg1"/>
                </a:solidFill>
                <a:latin typeface="经典粗黑简" pitchFamily="49" charset="-122"/>
                <a:ea typeface="经典粗黑简" pitchFamily="49" charset="-122"/>
                <a:cs typeface="经典粗黑简" pitchFamily="49" charset="-122"/>
              </a:rPr>
              <a:t>单链表的逆置</a:t>
            </a:r>
          </a:p>
        </p:txBody>
      </p:sp>
      <p:sp>
        <p:nvSpPr>
          <p:cNvPr id="7" name="矩形 6">
            <a:extLst>
              <a:ext uri="{FF2B5EF4-FFF2-40B4-BE49-F238E27FC236}">
                <a16:creationId xmlns:a16="http://schemas.microsoft.com/office/drawing/2014/main" id="{EDC64392-5596-8AE6-04E2-5131FA91B7B4}"/>
              </a:ext>
            </a:extLst>
          </p:cNvPr>
          <p:cNvSpPr/>
          <p:nvPr/>
        </p:nvSpPr>
        <p:spPr>
          <a:xfrm>
            <a:off x="4839617" y="760504"/>
            <a:ext cx="4304383" cy="584775"/>
          </a:xfrm>
          <a:prstGeom prst="rect">
            <a:avLst/>
          </a:prstGeom>
        </p:spPr>
        <p:txBody>
          <a:bodyPr wrap="none">
            <a:spAutoFit/>
          </a:bodyPr>
          <a:lstStyle/>
          <a:p>
            <a:r>
              <a:rPr lang="en-US" altLang="zh-CN" sz="3200" b="1" dirty="0">
                <a:latin typeface="黑体" pitchFamily="49" charset="-122"/>
                <a:ea typeface="黑体" pitchFamily="49" charset="-122"/>
              </a:rPr>
              <a:t>——</a:t>
            </a:r>
            <a:r>
              <a:rPr lang="zh-CN" altLang="en-US" sz="3200" b="1" dirty="0">
                <a:latin typeface="黑体" pitchFamily="49" charset="-122"/>
                <a:ea typeface="黑体" pitchFamily="49" charset="-122"/>
              </a:rPr>
              <a:t>单链表的其他操作</a:t>
            </a:r>
          </a:p>
        </p:txBody>
      </p:sp>
      <p:cxnSp>
        <p:nvCxnSpPr>
          <p:cNvPr id="8" name="直接连接符 7">
            <a:extLst>
              <a:ext uri="{FF2B5EF4-FFF2-40B4-BE49-F238E27FC236}">
                <a16:creationId xmlns:a16="http://schemas.microsoft.com/office/drawing/2014/main" id="{2EF7A923-8178-9558-D8A7-7FB444AAE2BC}"/>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Rectangle 2">
            <a:extLst>
              <a:ext uri="{FF2B5EF4-FFF2-40B4-BE49-F238E27FC236}">
                <a16:creationId xmlns:a16="http://schemas.microsoft.com/office/drawing/2014/main" id="{73619317-E6A9-D687-21E8-38408D2F069D}"/>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2.4 </a:t>
            </a:r>
            <a:r>
              <a:rPr lang="zh-CN" altLang="en-US" sz="3700" b="1" dirty="0">
                <a:latin typeface="黑体" pitchFamily="49" charset="-122"/>
                <a:ea typeface="黑体" pitchFamily="49" charset="-122"/>
                <a:cs typeface="+mn-cs"/>
              </a:rPr>
              <a:t>线性表的应用</a:t>
            </a:r>
          </a:p>
        </p:txBody>
      </p:sp>
    </p:spTree>
    <p:extLst>
      <p:ext uri="{BB962C8B-B14F-4D97-AF65-F5344CB8AC3E}">
        <p14:creationId xmlns:p14="http://schemas.microsoft.com/office/powerpoint/2010/main" val="3711537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5" grpId="0"/>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p:bldP spid="32" grpId="0" animBg="1"/>
      <p:bldP spid="34" grpId="0" animBg="1"/>
      <p:bldP spid="35" grpId="0" animBg="1"/>
      <p:bldP spid="64" grpId="0"/>
      <p:bldP spid="33" grpId="0"/>
      <p:bldP spid="36"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5"/>
          <p:cNvSpPr>
            <a:spLocks noChangeArrowheads="1"/>
          </p:cNvSpPr>
          <p:nvPr/>
        </p:nvSpPr>
        <p:spPr bwMode="auto">
          <a:xfrm>
            <a:off x="2149432" y="164827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3" name="Line 6"/>
          <p:cNvSpPr>
            <a:spLocks noChangeShapeType="1"/>
          </p:cNvSpPr>
          <p:nvPr/>
        </p:nvSpPr>
        <p:spPr bwMode="auto">
          <a:xfrm>
            <a:off x="2682832" y="1648273"/>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Rectangle 25"/>
          <p:cNvSpPr>
            <a:spLocks noChangeArrowheads="1"/>
          </p:cNvSpPr>
          <p:nvPr/>
        </p:nvSpPr>
        <p:spPr bwMode="auto">
          <a:xfrm>
            <a:off x="4313317" y="172223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5" name="Rectangle 36"/>
          <p:cNvSpPr>
            <a:spLocks noChangeArrowheads="1"/>
          </p:cNvSpPr>
          <p:nvPr/>
        </p:nvSpPr>
        <p:spPr bwMode="auto">
          <a:xfrm>
            <a:off x="7447466" y="174424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6" name="Line 29"/>
          <p:cNvSpPr>
            <a:spLocks noChangeShapeType="1"/>
          </p:cNvSpPr>
          <p:nvPr/>
        </p:nvSpPr>
        <p:spPr bwMode="auto">
          <a:xfrm>
            <a:off x="596954" y="189994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Rectangle 5"/>
          <p:cNvSpPr>
            <a:spLocks noChangeArrowheads="1"/>
          </p:cNvSpPr>
          <p:nvPr/>
        </p:nvSpPr>
        <p:spPr bwMode="auto">
          <a:xfrm>
            <a:off x="3325089" y="165364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8" name="Line 6"/>
          <p:cNvSpPr>
            <a:spLocks noChangeShapeType="1"/>
          </p:cNvSpPr>
          <p:nvPr/>
        </p:nvSpPr>
        <p:spPr bwMode="auto">
          <a:xfrm>
            <a:off x="3858489" y="165364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Rectangle 5"/>
          <p:cNvSpPr>
            <a:spLocks noChangeArrowheads="1"/>
          </p:cNvSpPr>
          <p:nvPr/>
        </p:nvSpPr>
        <p:spPr bwMode="auto">
          <a:xfrm>
            <a:off x="4926600" y="1670275"/>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21" name="Line 6"/>
          <p:cNvSpPr>
            <a:spLocks noChangeShapeType="1"/>
          </p:cNvSpPr>
          <p:nvPr/>
        </p:nvSpPr>
        <p:spPr bwMode="auto">
          <a:xfrm>
            <a:off x="5663173" y="1664900"/>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9"/>
          <p:cNvSpPr>
            <a:spLocks noChangeShapeType="1"/>
          </p:cNvSpPr>
          <p:nvPr/>
        </p:nvSpPr>
        <p:spPr bwMode="auto">
          <a:xfrm>
            <a:off x="4725608" y="1898602"/>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9"/>
          <p:cNvSpPr>
            <a:spLocks noChangeShapeType="1"/>
          </p:cNvSpPr>
          <p:nvPr/>
        </p:nvSpPr>
        <p:spPr bwMode="auto">
          <a:xfrm>
            <a:off x="4048989" y="1905134"/>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Rectangle 5"/>
          <p:cNvSpPr>
            <a:spLocks noChangeArrowheads="1"/>
          </p:cNvSpPr>
          <p:nvPr/>
        </p:nvSpPr>
        <p:spPr bwMode="auto">
          <a:xfrm>
            <a:off x="6319359" y="168210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5" name="Line 6"/>
          <p:cNvSpPr>
            <a:spLocks noChangeShapeType="1"/>
          </p:cNvSpPr>
          <p:nvPr/>
        </p:nvSpPr>
        <p:spPr bwMode="auto">
          <a:xfrm>
            <a:off x="6852759" y="168210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9"/>
          <p:cNvSpPr>
            <a:spLocks noChangeShapeType="1"/>
          </p:cNvSpPr>
          <p:nvPr/>
        </p:nvSpPr>
        <p:spPr bwMode="auto">
          <a:xfrm>
            <a:off x="5938359" y="193627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9"/>
          <p:cNvSpPr>
            <a:spLocks noChangeShapeType="1"/>
          </p:cNvSpPr>
          <p:nvPr/>
        </p:nvSpPr>
        <p:spPr bwMode="auto">
          <a:xfrm>
            <a:off x="7084067" y="1937177"/>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Rectangle 5"/>
          <p:cNvSpPr>
            <a:spLocks noChangeArrowheads="1"/>
          </p:cNvSpPr>
          <p:nvPr/>
        </p:nvSpPr>
        <p:spPr bwMode="auto">
          <a:xfrm>
            <a:off x="8163175" y="169724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29" name="Line 6"/>
          <p:cNvSpPr>
            <a:spLocks noChangeShapeType="1"/>
          </p:cNvSpPr>
          <p:nvPr/>
        </p:nvSpPr>
        <p:spPr bwMode="auto">
          <a:xfrm>
            <a:off x="8722702" y="169724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9"/>
          <p:cNvSpPr>
            <a:spLocks noChangeShapeType="1"/>
          </p:cNvSpPr>
          <p:nvPr/>
        </p:nvSpPr>
        <p:spPr bwMode="auto">
          <a:xfrm>
            <a:off x="7782175" y="194488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矩形 30"/>
          <p:cNvSpPr/>
          <p:nvPr/>
        </p:nvSpPr>
        <p:spPr>
          <a:xfrm>
            <a:off x="227943" y="1689946"/>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32" name="Rectangle 5"/>
          <p:cNvSpPr>
            <a:spLocks noChangeArrowheads="1"/>
          </p:cNvSpPr>
          <p:nvPr/>
        </p:nvSpPr>
        <p:spPr bwMode="auto">
          <a:xfrm>
            <a:off x="988240" y="1648273"/>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34" name="Line 6"/>
          <p:cNvSpPr>
            <a:spLocks noChangeShapeType="1"/>
          </p:cNvSpPr>
          <p:nvPr/>
        </p:nvSpPr>
        <p:spPr bwMode="auto">
          <a:xfrm>
            <a:off x="1542010" y="166031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a:off x="3004015" y="1416048"/>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Rectangle 55"/>
          <p:cNvSpPr>
            <a:spLocks noChangeArrowheads="1"/>
          </p:cNvSpPr>
          <p:nvPr/>
        </p:nvSpPr>
        <p:spPr bwMode="auto">
          <a:xfrm>
            <a:off x="2658352" y="1199729"/>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33" name="矩形 32"/>
          <p:cNvSpPr/>
          <p:nvPr/>
        </p:nvSpPr>
        <p:spPr>
          <a:xfrm>
            <a:off x="1155588" y="1207227"/>
            <a:ext cx="351378" cy="523220"/>
          </a:xfrm>
          <a:prstGeom prst="rect">
            <a:avLst/>
          </a:prstGeom>
        </p:spPr>
        <p:txBody>
          <a:bodyPr wrap="none">
            <a:spAutoFit/>
          </a:bodyPr>
          <a:lstStyle/>
          <a:p>
            <a:pPr algn="r"/>
            <a:r>
              <a:rPr lang="en-US" altLang="zh-CN" sz="2800" dirty="0">
                <a:latin typeface="微软雅黑" pitchFamily="34" charset="-122"/>
                <a:ea typeface="微软雅黑" pitchFamily="34" charset="-122"/>
              </a:rPr>
              <a:t>s</a:t>
            </a:r>
          </a:p>
        </p:txBody>
      </p:sp>
      <p:sp>
        <p:nvSpPr>
          <p:cNvPr id="36" name="Line 29"/>
          <p:cNvSpPr>
            <a:spLocks noChangeShapeType="1"/>
          </p:cNvSpPr>
          <p:nvPr/>
        </p:nvSpPr>
        <p:spPr bwMode="auto">
          <a:xfrm>
            <a:off x="1440149" y="1521160"/>
            <a:ext cx="70496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矩形 36"/>
          <p:cNvSpPr/>
          <p:nvPr/>
        </p:nvSpPr>
        <p:spPr>
          <a:xfrm>
            <a:off x="2719380" y="1747654"/>
            <a:ext cx="300082" cy="369332"/>
          </a:xfrm>
          <a:prstGeom prst="rect">
            <a:avLst/>
          </a:prstGeom>
        </p:spPr>
        <p:txBody>
          <a:bodyPr wrap="none">
            <a:spAutoFit/>
          </a:bodyPr>
          <a:lstStyle/>
          <a:p>
            <a:r>
              <a:rPr lang="zh-CN" altLang="en-US" dirty="0"/>
              <a:t>^</a:t>
            </a:r>
          </a:p>
        </p:txBody>
      </p:sp>
      <p:sp>
        <p:nvSpPr>
          <p:cNvPr id="38" name="Line 29"/>
          <p:cNvSpPr>
            <a:spLocks noChangeShapeType="1"/>
          </p:cNvSpPr>
          <p:nvPr/>
        </p:nvSpPr>
        <p:spPr bwMode="auto">
          <a:xfrm>
            <a:off x="1782897" y="190782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Text Box 2"/>
          <p:cNvSpPr txBox="1">
            <a:spLocks noChangeArrowheads="1"/>
          </p:cNvSpPr>
          <p:nvPr/>
        </p:nvSpPr>
        <p:spPr bwMode="auto">
          <a:xfrm>
            <a:off x="879028" y="2283718"/>
            <a:ext cx="728087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dirty="0">
                <a:latin typeface="Times New Roman" pitchFamily="18" charset="0"/>
                <a:ea typeface="宋体" pitchFamily="2" charset="-122"/>
              </a:rPr>
              <a:t>void </a:t>
            </a:r>
            <a:r>
              <a:rPr lang="en-US" altLang="zh-CN" dirty="0" err="1">
                <a:latin typeface="Times New Roman" pitchFamily="18" charset="0"/>
                <a:ea typeface="宋体" pitchFamily="2" charset="-122"/>
              </a:rPr>
              <a:t>InvertLinkedList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&amp;L ) // </a:t>
            </a:r>
            <a:r>
              <a:rPr lang="zh-CN" altLang="zh-CN" dirty="0">
                <a:latin typeface="Times New Roman" pitchFamily="18" charset="0"/>
                <a:ea typeface="宋体" pitchFamily="2" charset="-122"/>
              </a:rPr>
              <a:t>逆置头指针</a:t>
            </a:r>
            <a:r>
              <a:rPr lang="en-US" altLang="zh-CN" dirty="0">
                <a:latin typeface="Times New Roman" pitchFamily="18" charset="0"/>
                <a:ea typeface="宋体" pitchFamily="2" charset="-122"/>
              </a:rPr>
              <a:t>L</a:t>
            </a:r>
            <a:r>
              <a:rPr lang="zh-CN" altLang="zh-CN" dirty="0">
                <a:latin typeface="Times New Roman" pitchFamily="18" charset="0"/>
                <a:ea typeface="宋体" pitchFamily="2" charset="-122"/>
              </a:rPr>
              <a:t>所指链表</a:t>
            </a: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s,p</a:t>
            </a:r>
            <a:r>
              <a:rPr lang="en-US" altLang="zh-CN" dirty="0">
                <a:latin typeface="Times New Roman" pitchFamily="18" charset="0"/>
                <a:ea typeface="宋体" pitchFamily="2" charset="-122"/>
              </a:rPr>
              <a:t> = L-&gt;next;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L-&gt;next = NULL;         // </a:t>
            </a:r>
            <a:r>
              <a:rPr lang="zh-CN" altLang="zh-CN" dirty="0">
                <a:latin typeface="Times New Roman" pitchFamily="18" charset="0"/>
                <a:ea typeface="宋体" pitchFamily="2" charset="-122"/>
              </a:rPr>
              <a:t>设逆置后的链表的初态为空表</a:t>
            </a:r>
          </a:p>
          <a:p>
            <a:r>
              <a:rPr lang="en-US" altLang="zh-CN" dirty="0">
                <a:latin typeface="Times New Roman" pitchFamily="18" charset="0"/>
                <a:ea typeface="宋体" pitchFamily="2" charset="-122"/>
              </a:rPr>
              <a:t>      while ( p ) {                //  p </a:t>
            </a:r>
            <a:r>
              <a:rPr lang="zh-CN" altLang="zh-CN" dirty="0">
                <a:latin typeface="Times New Roman" pitchFamily="18" charset="0"/>
                <a:ea typeface="宋体" pitchFamily="2" charset="-122"/>
              </a:rPr>
              <a:t>为待逆置链表的头指针</a:t>
            </a:r>
          </a:p>
          <a:p>
            <a:r>
              <a:rPr lang="en-US" altLang="zh-CN" dirty="0">
                <a:latin typeface="Times New Roman" pitchFamily="18" charset="0"/>
                <a:ea typeface="宋体" pitchFamily="2" charset="-122"/>
              </a:rPr>
              <a:t>        s = p;  p = p-&gt;next;    // </a:t>
            </a:r>
            <a:r>
              <a:rPr lang="zh-CN" altLang="zh-CN" dirty="0">
                <a:latin typeface="Times New Roman" pitchFamily="18" charset="0"/>
                <a:ea typeface="宋体" pitchFamily="2" charset="-122"/>
              </a:rPr>
              <a:t>从</a:t>
            </a:r>
            <a:r>
              <a:rPr lang="en-US" altLang="zh-CN" dirty="0">
                <a:latin typeface="Times New Roman" pitchFamily="18" charset="0"/>
                <a:ea typeface="宋体" pitchFamily="2" charset="-122"/>
              </a:rPr>
              <a:t> p </a:t>
            </a:r>
            <a:r>
              <a:rPr lang="zh-CN" altLang="zh-CN" dirty="0">
                <a:latin typeface="Times New Roman" pitchFamily="18" charset="0"/>
                <a:ea typeface="宋体" pitchFamily="2" charset="-122"/>
              </a:rPr>
              <a:t>所指链表中删除第一个结点</a:t>
            </a:r>
            <a:r>
              <a:rPr lang="en-US" altLang="zh-CN" dirty="0">
                <a:latin typeface="Times New Roman" pitchFamily="18" charset="0"/>
                <a:ea typeface="宋体" pitchFamily="2" charset="-122"/>
              </a:rPr>
              <a:t>(s </a:t>
            </a:r>
            <a:r>
              <a:rPr lang="zh-CN" altLang="zh-CN" dirty="0">
                <a:latin typeface="Times New Roman" pitchFamily="18" charset="0"/>
                <a:ea typeface="宋体" pitchFamily="2" charset="-122"/>
              </a:rPr>
              <a:t>结点</a:t>
            </a:r>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s-&gt;next = L-&gt;next;  L-&gt;next = s;  // </a:t>
            </a:r>
            <a:r>
              <a:rPr lang="zh-CN" altLang="zh-CN" dirty="0">
                <a:latin typeface="Times New Roman" pitchFamily="18" charset="0"/>
                <a:ea typeface="宋体" pitchFamily="2" charset="-122"/>
              </a:rPr>
              <a:t>将</a:t>
            </a:r>
            <a:r>
              <a:rPr lang="en-US" altLang="zh-CN" dirty="0">
                <a:latin typeface="Times New Roman" pitchFamily="18" charset="0"/>
                <a:ea typeface="宋体" pitchFamily="2" charset="-122"/>
              </a:rPr>
              <a:t> s </a:t>
            </a:r>
            <a:r>
              <a:rPr lang="zh-CN" altLang="zh-CN" dirty="0">
                <a:latin typeface="Times New Roman" pitchFamily="18" charset="0"/>
                <a:ea typeface="宋体" pitchFamily="2" charset="-122"/>
              </a:rPr>
              <a:t>结点插入到逆置表的表头</a:t>
            </a:r>
          </a:p>
          <a:p>
            <a:r>
              <a:rPr lang="en-US" altLang="zh-CN" dirty="0">
                <a:latin typeface="Times New Roman" pitchFamily="18" charset="0"/>
                <a:ea typeface="宋体" pitchFamily="2" charset="-122"/>
              </a:rPr>
              <a: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p:txBody>
      </p:sp>
      <p:sp>
        <p:nvSpPr>
          <p:cNvPr id="3" name="矩形 2">
            <a:extLst>
              <a:ext uri="{FF2B5EF4-FFF2-40B4-BE49-F238E27FC236}">
                <a16:creationId xmlns:a16="http://schemas.microsoft.com/office/drawing/2014/main" id="{1B1D8348-822F-2194-3E6E-663798F6151F}"/>
              </a:ext>
            </a:extLst>
          </p:cNvPr>
          <p:cNvSpPr/>
          <p:nvPr/>
        </p:nvSpPr>
        <p:spPr>
          <a:xfrm>
            <a:off x="395536" y="843558"/>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2.4.2 </a:t>
            </a:r>
            <a:r>
              <a:rPr lang="zh-CN" altLang="en-US" sz="2800" b="1" dirty="0">
                <a:solidFill>
                  <a:schemeClr val="bg1"/>
                </a:solidFill>
                <a:latin typeface="经典粗黑简" pitchFamily="49" charset="-122"/>
                <a:ea typeface="经典粗黑简" pitchFamily="49" charset="-122"/>
                <a:cs typeface="经典粗黑简" pitchFamily="49" charset="-122"/>
              </a:rPr>
              <a:t>单链表的逆置</a:t>
            </a:r>
          </a:p>
        </p:txBody>
      </p:sp>
      <p:sp>
        <p:nvSpPr>
          <p:cNvPr id="6" name="矩形 5">
            <a:extLst>
              <a:ext uri="{FF2B5EF4-FFF2-40B4-BE49-F238E27FC236}">
                <a16:creationId xmlns:a16="http://schemas.microsoft.com/office/drawing/2014/main" id="{BFB4BB00-1DB4-05DC-7C48-13908605F6FD}"/>
              </a:ext>
            </a:extLst>
          </p:cNvPr>
          <p:cNvSpPr/>
          <p:nvPr/>
        </p:nvSpPr>
        <p:spPr>
          <a:xfrm>
            <a:off x="4839617" y="760504"/>
            <a:ext cx="4304383" cy="584775"/>
          </a:xfrm>
          <a:prstGeom prst="rect">
            <a:avLst/>
          </a:prstGeom>
        </p:spPr>
        <p:txBody>
          <a:bodyPr wrap="none">
            <a:spAutoFit/>
          </a:bodyPr>
          <a:lstStyle/>
          <a:p>
            <a:r>
              <a:rPr lang="en-US" altLang="zh-CN" sz="3200" b="1" dirty="0">
                <a:latin typeface="黑体" pitchFamily="49" charset="-122"/>
                <a:ea typeface="黑体" pitchFamily="49" charset="-122"/>
              </a:rPr>
              <a:t>——</a:t>
            </a:r>
            <a:r>
              <a:rPr lang="zh-CN" altLang="en-US" sz="3200" b="1" dirty="0">
                <a:latin typeface="黑体" pitchFamily="49" charset="-122"/>
                <a:ea typeface="黑体" pitchFamily="49" charset="-122"/>
              </a:rPr>
              <a:t>单链表的其他操作</a:t>
            </a:r>
          </a:p>
        </p:txBody>
      </p:sp>
      <p:cxnSp>
        <p:nvCxnSpPr>
          <p:cNvPr id="7" name="直接连接符 6">
            <a:extLst>
              <a:ext uri="{FF2B5EF4-FFF2-40B4-BE49-F238E27FC236}">
                <a16:creationId xmlns:a16="http://schemas.microsoft.com/office/drawing/2014/main" id="{E7BF9A62-6C9F-FC4C-EF81-03497681221B}"/>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Rectangle 2">
            <a:extLst>
              <a:ext uri="{FF2B5EF4-FFF2-40B4-BE49-F238E27FC236}">
                <a16:creationId xmlns:a16="http://schemas.microsoft.com/office/drawing/2014/main" id="{C49BDB68-05A8-BF23-1373-12A4F2281D91}"/>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2.4 </a:t>
            </a:r>
            <a:r>
              <a:rPr lang="zh-CN" altLang="en-US" sz="3700" b="1" dirty="0">
                <a:latin typeface="黑体" pitchFamily="49" charset="-122"/>
                <a:ea typeface="黑体" pitchFamily="49" charset="-122"/>
                <a:cs typeface="+mn-cs"/>
              </a:rPr>
              <a:t>线性表的应用</a:t>
            </a:r>
          </a:p>
        </p:txBody>
      </p:sp>
    </p:spTree>
    <p:extLst>
      <p:ext uri="{BB962C8B-B14F-4D97-AF65-F5344CB8AC3E}">
        <p14:creationId xmlns:p14="http://schemas.microsoft.com/office/powerpoint/2010/main" val="1383243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5" grpId="0"/>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p:bldP spid="32" grpId="0" animBg="1"/>
      <p:bldP spid="34" grpId="0" animBg="1"/>
      <p:bldP spid="35" grpId="0" animBg="1"/>
      <p:bldP spid="64" grpId="0"/>
      <p:bldP spid="33" grpId="0"/>
      <p:bldP spid="36" grpId="0" animBg="1"/>
      <p:bldP spid="38"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5"/>
          <p:cNvSpPr>
            <a:spLocks noChangeArrowheads="1"/>
          </p:cNvSpPr>
          <p:nvPr/>
        </p:nvSpPr>
        <p:spPr bwMode="auto">
          <a:xfrm>
            <a:off x="2149432" y="164827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3" name="Line 6"/>
          <p:cNvSpPr>
            <a:spLocks noChangeShapeType="1"/>
          </p:cNvSpPr>
          <p:nvPr/>
        </p:nvSpPr>
        <p:spPr bwMode="auto">
          <a:xfrm>
            <a:off x="2682832" y="1648273"/>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Rectangle 25"/>
          <p:cNvSpPr>
            <a:spLocks noChangeArrowheads="1"/>
          </p:cNvSpPr>
          <p:nvPr/>
        </p:nvSpPr>
        <p:spPr bwMode="auto">
          <a:xfrm>
            <a:off x="4313317" y="172223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5" name="Rectangle 36"/>
          <p:cNvSpPr>
            <a:spLocks noChangeArrowheads="1"/>
          </p:cNvSpPr>
          <p:nvPr/>
        </p:nvSpPr>
        <p:spPr bwMode="auto">
          <a:xfrm>
            <a:off x="7447466" y="174424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6" name="Line 29"/>
          <p:cNvSpPr>
            <a:spLocks noChangeShapeType="1"/>
          </p:cNvSpPr>
          <p:nvPr/>
        </p:nvSpPr>
        <p:spPr bwMode="auto">
          <a:xfrm>
            <a:off x="596954" y="189994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Rectangle 5"/>
          <p:cNvSpPr>
            <a:spLocks noChangeArrowheads="1"/>
          </p:cNvSpPr>
          <p:nvPr/>
        </p:nvSpPr>
        <p:spPr bwMode="auto">
          <a:xfrm>
            <a:off x="3325089" y="165364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8" name="Line 6"/>
          <p:cNvSpPr>
            <a:spLocks noChangeShapeType="1"/>
          </p:cNvSpPr>
          <p:nvPr/>
        </p:nvSpPr>
        <p:spPr bwMode="auto">
          <a:xfrm>
            <a:off x="3858489" y="165364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Rectangle 5"/>
          <p:cNvSpPr>
            <a:spLocks noChangeArrowheads="1"/>
          </p:cNvSpPr>
          <p:nvPr/>
        </p:nvSpPr>
        <p:spPr bwMode="auto">
          <a:xfrm>
            <a:off x="4926600" y="1670275"/>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21" name="Line 6"/>
          <p:cNvSpPr>
            <a:spLocks noChangeShapeType="1"/>
          </p:cNvSpPr>
          <p:nvPr/>
        </p:nvSpPr>
        <p:spPr bwMode="auto">
          <a:xfrm>
            <a:off x="5663173" y="1664900"/>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9"/>
          <p:cNvSpPr>
            <a:spLocks noChangeShapeType="1"/>
          </p:cNvSpPr>
          <p:nvPr/>
        </p:nvSpPr>
        <p:spPr bwMode="auto">
          <a:xfrm>
            <a:off x="4725608" y="1898602"/>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9"/>
          <p:cNvSpPr>
            <a:spLocks noChangeShapeType="1"/>
          </p:cNvSpPr>
          <p:nvPr/>
        </p:nvSpPr>
        <p:spPr bwMode="auto">
          <a:xfrm>
            <a:off x="4048989" y="1905134"/>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Rectangle 5"/>
          <p:cNvSpPr>
            <a:spLocks noChangeArrowheads="1"/>
          </p:cNvSpPr>
          <p:nvPr/>
        </p:nvSpPr>
        <p:spPr bwMode="auto">
          <a:xfrm>
            <a:off x="6319359" y="168210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5" name="Line 6"/>
          <p:cNvSpPr>
            <a:spLocks noChangeShapeType="1"/>
          </p:cNvSpPr>
          <p:nvPr/>
        </p:nvSpPr>
        <p:spPr bwMode="auto">
          <a:xfrm>
            <a:off x="6852759" y="168210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9"/>
          <p:cNvSpPr>
            <a:spLocks noChangeShapeType="1"/>
          </p:cNvSpPr>
          <p:nvPr/>
        </p:nvSpPr>
        <p:spPr bwMode="auto">
          <a:xfrm>
            <a:off x="5938359" y="193627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9"/>
          <p:cNvSpPr>
            <a:spLocks noChangeShapeType="1"/>
          </p:cNvSpPr>
          <p:nvPr/>
        </p:nvSpPr>
        <p:spPr bwMode="auto">
          <a:xfrm>
            <a:off x="7084067" y="1937177"/>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Rectangle 5"/>
          <p:cNvSpPr>
            <a:spLocks noChangeArrowheads="1"/>
          </p:cNvSpPr>
          <p:nvPr/>
        </p:nvSpPr>
        <p:spPr bwMode="auto">
          <a:xfrm>
            <a:off x="8163175" y="169724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29" name="Line 6"/>
          <p:cNvSpPr>
            <a:spLocks noChangeShapeType="1"/>
          </p:cNvSpPr>
          <p:nvPr/>
        </p:nvSpPr>
        <p:spPr bwMode="auto">
          <a:xfrm>
            <a:off x="8722702" y="169724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9"/>
          <p:cNvSpPr>
            <a:spLocks noChangeShapeType="1"/>
          </p:cNvSpPr>
          <p:nvPr/>
        </p:nvSpPr>
        <p:spPr bwMode="auto">
          <a:xfrm>
            <a:off x="7782175" y="194488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矩形 30"/>
          <p:cNvSpPr/>
          <p:nvPr/>
        </p:nvSpPr>
        <p:spPr>
          <a:xfrm>
            <a:off x="227943" y="1689946"/>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32" name="Rectangle 5"/>
          <p:cNvSpPr>
            <a:spLocks noChangeArrowheads="1"/>
          </p:cNvSpPr>
          <p:nvPr/>
        </p:nvSpPr>
        <p:spPr bwMode="auto">
          <a:xfrm>
            <a:off x="988240" y="1648273"/>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34" name="Line 6"/>
          <p:cNvSpPr>
            <a:spLocks noChangeShapeType="1"/>
          </p:cNvSpPr>
          <p:nvPr/>
        </p:nvSpPr>
        <p:spPr bwMode="auto">
          <a:xfrm>
            <a:off x="1542010" y="166031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a:off x="4181556" y="1399420"/>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Rectangle 55"/>
          <p:cNvSpPr>
            <a:spLocks noChangeArrowheads="1"/>
          </p:cNvSpPr>
          <p:nvPr/>
        </p:nvSpPr>
        <p:spPr bwMode="auto">
          <a:xfrm>
            <a:off x="3844089" y="11023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33" name="矩形 32"/>
          <p:cNvSpPr/>
          <p:nvPr/>
        </p:nvSpPr>
        <p:spPr>
          <a:xfrm>
            <a:off x="2336943" y="1212084"/>
            <a:ext cx="351378" cy="523220"/>
          </a:xfrm>
          <a:prstGeom prst="rect">
            <a:avLst/>
          </a:prstGeom>
        </p:spPr>
        <p:txBody>
          <a:bodyPr wrap="none">
            <a:spAutoFit/>
          </a:bodyPr>
          <a:lstStyle/>
          <a:p>
            <a:pPr algn="r"/>
            <a:r>
              <a:rPr lang="en-US" altLang="zh-CN" sz="2800" dirty="0">
                <a:latin typeface="微软雅黑" pitchFamily="34" charset="-122"/>
                <a:ea typeface="微软雅黑" pitchFamily="34" charset="-122"/>
              </a:rPr>
              <a:t>s</a:t>
            </a:r>
          </a:p>
        </p:txBody>
      </p:sp>
      <p:sp>
        <p:nvSpPr>
          <p:cNvPr id="36" name="Line 29"/>
          <p:cNvSpPr>
            <a:spLocks noChangeShapeType="1"/>
          </p:cNvSpPr>
          <p:nvPr/>
        </p:nvSpPr>
        <p:spPr bwMode="auto">
          <a:xfrm>
            <a:off x="2625886" y="1423767"/>
            <a:ext cx="70496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矩形 36"/>
          <p:cNvSpPr/>
          <p:nvPr/>
        </p:nvSpPr>
        <p:spPr>
          <a:xfrm>
            <a:off x="2719380" y="1747654"/>
            <a:ext cx="300082" cy="369332"/>
          </a:xfrm>
          <a:prstGeom prst="rect">
            <a:avLst/>
          </a:prstGeom>
        </p:spPr>
        <p:txBody>
          <a:bodyPr wrap="none">
            <a:spAutoFit/>
          </a:bodyPr>
          <a:lstStyle/>
          <a:p>
            <a:r>
              <a:rPr lang="zh-CN" altLang="en-US" dirty="0"/>
              <a:t>^</a:t>
            </a:r>
          </a:p>
        </p:txBody>
      </p:sp>
      <p:sp>
        <p:nvSpPr>
          <p:cNvPr id="38" name="Line 29"/>
          <p:cNvSpPr>
            <a:spLocks noChangeShapeType="1"/>
          </p:cNvSpPr>
          <p:nvPr/>
        </p:nvSpPr>
        <p:spPr bwMode="auto">
          <a:xfrm>
            <a:off x="1782897" y="190782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Text Box 2"/>
          <p:cNvSpPr txBox="1">
            <a:spLocks noChangeArrowheads="1"/>
          </p:cNvSpPr>
          <p:nvPr/>
        </p:nvSpPr>
        <p:spPr bwMode="auto">
          <a:xfrm>
            <a:off x="897302" y="2355726"/>
            <a:ext cx="728087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dirty="0">
                <a:latin typeface="Times New Roman" pitchFamily="18" charset="0"/>
                <a:ea typeface="宋体" pitchFamily="2" charset="-122"/>
              </a:rPr>
              <a:t>void </a:t>
            </a:r>
            <a:r>
              <a:rPr lang="en-US" altLang="zh-CN" dirty="0" err="1">
                <a:latin typeface="Times New Roman" pitchFamily="18" charset="0"/>
                <a:ea typeface="宋体" pitchFamily="2" charset="-122"/>
              </a:rPr>
              <a:t>InvertLinkedList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&amp;L ) // </a:t>
            </a:r>
            <a:r>
              <a:rPr lang="zh-CN" altLang="zh-CN" dirty="0">
                <a:latin typeface="Times New Roman" pitchFamily="18" charset="0"/>
                <a:ea typeface="宋体" pitchFamily="2" charset="-122"/>
              </a:rPr>
              <a:t>逆置头指针</a:t>
            </a:r>
            <a:r>
              <a:rPr lang="en-US" altLang="zh-CN" dirty="0">
                <a:latin typeface="Times New Roman" pitchFamily="18" charset="0"/>
                <a:ea typeface="宋体" pitchFamily="2" charset="-122"/>
              </a:rPr>
              <a:t>L</a:t>
            </a:r>
            <a:r>
              <a:rPr lang="zh-CN" altLang="zh-CN" dirty="0">
                <a:latin typeface="Times New Roman" pitchFamily="18" charset="0"/>
                <a:ea typeface="宋体" pitchFamily="2" charset="-122"/>
              </a:rPr>
              <a:t>所指链表</a:t>
            </a: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s,p</a:t>
            </a:r>
            <a:r>
              <a:rPr lang="en-US" altLang="zh-CN" dirty="0">
                <a:latin typeface="Times New Roman" pitchFamily="18" charset="0"/>
                <a:ea typeface="宋体" pitchFamily="2" charset="-122"/>
              </a:rPr>
              <a:t> = L-&gt;next;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L-&gt;next = NULL;         // </a:t>
            </a:r>
            <a:r>
              <a:rPr lang="zh-CN" altLang="zh-CN" dirty="0">
                <a:latin typeface="Times New Roman" pitchFamily="18" charset="0"/>
                <a:ea typeface="宋体" pitchFamily="2" charset="-122"/>
              </a:rPr>
              <a:t>设逆置后的链表的初态为空表</a:t>
            </a:r>
          </a:p>
          <a:p>
            <a:r>
              <a:rPr lang="en-US" altLang="zh-CN" dirty="0">
                <a:latin typeface="Times New Roman" pitchFamily="18" charset="0"/>
                <a:ea typeface="宋体" pitchFamily="2" charset="-122"/>
              </a:rPr>
              <a:t>      while ( p ) {                //  p </a:t>
            </a:r>
            <a:r>
              <a:rPr lang="zh-CN" altLang="zh-CN" dirty="0">
                <a:latin typeface="Times New Roman" pitchFamily="18" charset="0"/>
                <a:ea typeface="宋体" pitchFamily="2" charset="-122"/>
              </a:rPr>
              <a:t>为待逆置链表的头指针</a:t>
            </a:r>
          </a:p>
          <a:p>
            <a:r>
              <a:rPr lang="en-US" altLang="zh-CN" dirty="0">
                <a:latin typeface="Times New Roman" pitchFamily="18" charset="0"/>
                <a:ea typeface="宋体" pitchFamily="2" charset="-122"/>
              </a:rPr>
              <a:t>        s = p;  p = p-&gt;next;    // </a:t>
            </a:r>
            <a:r>
              <a:rPr lang="zh-CN" altLang="zh-CN" dirty="0">
                <a:latin typeface="Times New Roman" pitchFamily="18" charset="0"/>
                <a:ea typeface="宋体" pitchFamily="2" charset="-122"/>
              </a:rPr>
              <a:t>从</a:t>
            </a:r>
            <a:r>
              <a:rPr lang="en-US" altLang="zh-CN" dirty="0">
                <a:latin typeface="Times New Roman" pitchFamily="18" charset="0"/>
                <a:ea typeface="宋体" pitchFamily="2" charset="-122"/>
              </a:rPr>
              <a:t> p </a:t>
            </a:r>
            <a:r>
              <a:rPr lang="zh-CN" altLang="zh-CN" dirty="0">
                <a:latin typeface="Times New Roman" pitchFamily="18" charset="0"/>
                <a:ea typeface="宋体" pitchFamily="2" charset="-122"/>
              </a:rPr>
              <a:t>所指链表中删除第一个结点</a:t>
            </a:r>
            <a:r>
              <a:rPr lang="en-US" altLang="zh-CN" dirty="0">
                <a:latin typeface="Times New Roman" pitchFamily="18" charset="0"/>
                <a:ea typeface="宋体" pitchFamily="2" charset="-122"/>
              </a:rPr>
              <a:t>(s </a:t>
            </a:r>
            <a:r>
              <a:rPr lang="zh-CN" altLang="zh-CN" dirty="0">
                <a:latin typeface="Times New Roman" pitchFamily="18" charset="0"/>
                <a:ea typeface="宋体" pitchFamily="2" charset="-122"/>
              </a:rPr>
              <a:t>结点</a:t>
            </a:r>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s-&gt;next = L-&gt;next;  L-&gt;next = s;  // </a:t>
            </a:r>
            <a:r>
              <a:rPr lang="zh-CN" altLang="zh-CN" dirty="0">
                <a:latin typeface="Times New Roman" pitchFamily="18" charset="0"/>
                <a:ea typeface="宋体" pitchFamily="2" charset="-122"/>
              </a:rPr>
              <a:t>将</a:t>
            </a:r>
            <a:r>
              <a:rPr lang="en-US" altLang="zh-CN" dirty="0">
                <a:latin typeface="Times New Roman" pitchFamily="18" charset="0"/>
                <a:ea typeface="宋体" pitchFamily="2" charset="-122"/>
              </a:rPr>
              <a:t> s </a:t>
            </a:r>
            <a:r>
              <a:rPr lang="zh-CN" altLang="zh-CN" dirty="0">
                <a:latin typeface="Times New Roman" pitchFamily="18" charset="0"/>
                <a:ea typeface="宋体" pitchFamily="2" charset="-122"/>
              </a:rPr>
              <a:t>结点插入到逆置表的表头</a:t>
            </a:r>
          </a:p>
          <a:p>
            <a:r>
              <a:rPr lang="en-US" altLang="zh-CN" dirty="0">
                <a:latin typeface="Times New Roman" pitchFamily="18" charset="0"/>
                <a:ea typeface="宋体" pitchFamily="2" charset="-122"/>
              </a:rPr>
              <a: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p:txBody>
      </p:sp>
      <p:sp>
        <p:nvSpPr>
          <p:cNvPr id="3" name="矩形 2">
            <a:extLst>
              <a:ext uri="{FF2B5EF4-FFF2-40B4-BE49-F238E27FC236}">
                <a16:creationId xmlns:a16="http://schemas.microsoft.com/office/drawing/2014/main" id="{F534E7B5-555B-DBFF-7C74-04B43AC85535}"/>
              </a:ext>
            </a:extLst>
          </p:cNvPr>
          <p:cNvSpPr/>
          <p:nvPr/>
        </p:nvSpPr>
        <p:spPr>
          <a:xfrm>
            <a:off x="395536" y="843558"/>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2.4.2 </a:t>
            </a:r>
            <a:r>
              <a:rPr lang="zh-CN" altLang="en-US" sz="2800" b="1" dirty="0">
                <a:solidFill>
                  <a:schemeClr val="bg1"/>
                </a:solidFill>
                <a:latin typeface="经典粗黑简" pitchFamily="49" charset="-122"/>
                <a:ea typeface="经典粗黑简" pitchFamily="49" charset="-122"/>
                <a:cs typeface="经典粗黑简" pitchFamily="49" charset="-122"/>
              </a:rPr>
              <a:t>单链表的逆置</a:t>
            </a:r>
          </a:p>
        </p:txBody>
      </p:sp>
      <p:sp>
        <p:nvSpPr>
          <p:cNvPr id="6" name="矩形 5">
            <a:extLst>
              <a:ext uri="{FF2B5EF4-FFF2-40B4-BE49-F238E27FC236}">
                <a16:creationId xmlns:a16="http://schemas.microsoft.com/office/drawing/2014/main" id="{91677869-F102-3AFD-D73C-ADDAAC38ACA7}"/>
              </a:ext>
            </a:extLst>
          </p:cNvPr>
          <p:cNvSpPr/>
          <p:nvPr/>
        </p:nvSpPr>
        <p:spPr>
          <a:xfrm>
            <a:off x="4839617" y="760504"/>
            <a:ext cx="4304383" cy="584775"/>
          </a:xfrm>
          <a:prstGeom prst="rect">
            <a:avLst/>
          </a:prstGeom>
        </p:spPr>
        <p:txBody>
          <a:bodyPr wrap="none">
            <a:spAutoFit/>
          </a:bodyPr>
          <a:lstStyle/>
          <a:p>
            <a:r>
              <a:rPr lang="en-US" altLang="zh-CN" sz="3200" b="1" dirty="0">
                <a:latin typeface="黑体" pitchFamily="49" charset="-122"/>
                <a:ea typeface="黑体" pitchFamily="49" charset="-122"/>
              </a:rPr>
              <a:t>——</a:t>
            </a:r>
            <a:r>
              <a:rPr lang="zh-CN" altLang="en-US" sz="3200" b="1" dirty="0">
                <a:latin typeface="黑体" pitchFamily="49" charset="-122"/>
                <a:ea typeface="黑体" pitchFamily="49" charset="-122"/>
              </a:rPr>
              <a:t>单链表的其他操作</a:t>
            </a:r>
          </a:p>
        </p:txBody>
      </p:sp>
      <p:cxnSp>
        <p:nvCxnSpPr>
          <p:cNvPr id="7" name="直接连接符 6">
            <a:extLst>
              <a:ext uri="{FF2B5EF4-FFF2-40B4-BE49-F238E27FC236}">
                <a16:creationId xmlns:a16="http://schemas.microsoft.com/office/drawing/2014/main" id="{DBB5C4EA-C897-2A68-ABB8-C9CCFA872D59}"/>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Rectangle 2">
            <a:extLst>
              <a:ext uri="{FF2B5EF4-FFF2-40B4-BE49-F238E27FC236}">
                <a16:creationId xmlns:a16="http://schemas.microsoft.com/office/drawing/2014/main" id="{FE02EAB9-987A-7248-3E24-788EC0F21948}"/>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2.4 </a:t>
            </a:r>
            <a:r>
              <a:rPr lang="zh-CN" altLang="en-US" sz="3700" b="1" dirty="0">
                <a:latin typeface="黑体" pitchFamily="49" charset="-122"/>
                <a:ea typeface="黑体" pitchFamily="49" charset="-122"/>
                <a:cs typeface="+mn-cs"/>
              </a:rPr>
              <a:t>线性表的应用</a:t>
            </a:r>
          </a:p>
        </p:txBody>
      </p:sp>
    </p:spTree>
    <p:extLst>
      <p:ext uri="{BB962C8B-B14F-4D97-AF65-F5344CB8AC3E}">
        <p14:creationId xmlns:p14="http://schemas.microsoft.com/office/powerpoint/2010/main" val="4290925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5" grpId="0"/>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p:bldP spid="32" grpId="0" animBg="1"/>
      <p:bldP spid="34" grpId="0" animBg="1"/>
      <p:bldP spid="35" grpId="0" animBg="1"/>
      <p:bldP spid="64" grpId="0"/>
      <p:bldP spid="33" grpId="0"/>
      <p:bldP spid="36" grpId="0" animBg="1"/>
      <p:bldP spid="38"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5"/>
          <p:cNvSpPr>
            <a:spLocks noChangeArrowheads="1"/>
          </p:cNvSpPr>
          <p:nvPr/>
        </p:nvSpPr>
        <p:spPr bwMode="auto">
          <a:xfrm>
            <a:off x="2149432" y="164827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3" name="Line 6"/>
          <p:cNvSpPr>
            <a:spLocks noChangeShapeType="1"/>
          </p:cNvSpPr>
          <p:nvPr/>
        </p:nvSpPr>
        <p:spPr bwMode="auto">
          <a:xfrm>
            <a:off x="2682832" y="1648273"/>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Rectangle 25"/>
          <p:cNvSpPr>
            <a:spLocks noChangeArrowheads="1"/>
          </p:cNvSpPr>
          <p:nvPr/>
        </p:nvSpPr>
        <p:spPr bwMode="auto">
          <a:xfrm>
            <a:off x="4313317" y="172223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5" name="Rectangle 36"/>
          <p:cNvSpPr>
            <a:spLocks noChangeArrowheads="1"/>
          </p:cNvSpPr>
          <p:nvPr/>
        </p:nvSpPr>
        <p:spPr bwMode="auto">
          <a:xfrm>
            <a:off x="7447466" y="174424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6" name="Line 29"/>
          <p:cNvSpPr>
            <a:spLocks noChangeShapeType="1"/>
          </p:cNvSpPr>
          <p:nvPr/>
        </p:nvSpPr>
        <p:spPr bwMode="auto">
          <a:xfrm>
            <a:off x="596954" y="189994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Rectangle 5"/>
          <p:cNvSpPr>
            <a:spLocks noChangeArrowheads="1"/>
          </p:cNvSpPr>
          <p:nvPr/>
        </p:nvSpPr>
        <p:spPr bwMode="auto">
          <a:xfrm>
            <a:off x="3325089" y="165364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8" name="Line 6"/>
          <p:cNvSpPr>
            <a:spLocks noChangeShapeType="1"/>
          </p:cNvSpPr>
          <p:nvPr/>
        </p:nvSpPr>
        <p:spPr bwMode="auto">
          <a:xfrm>
            <a:off x="3858489" y="165364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Rectangle 5"/>
          <p:cNvSpPr>
            <a:spLocks noChangeArrowheads="1"/>
          </p:cNvSpPr>
          <p:nvPr/>
        </p:nvSpPr>
        <p:spPr bwMode="auto">
          <a:xfrm>
            <a:off x="4926600" y="1670275"/>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21" name="Line 6"/>
          <p:cNvSpPr>
            <a:spLocks noChangeShapeType="1"/>
          </p:cNvSpPr>
          <p:nvPr/>
        </p:nvSpPr>
        <p:spPr bwMode="auto">
          <a:xfrm>
            <a:off x="5663173" y="1664900"/>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9"/>
          <p:cNvSpPr>
            <a:spLocks noChangeShapeType="1"/>
          </p:cNvSpPr>
          <p:nvPr/>
        </p:nvSpPr>
        <p:spPr bwMode="auto">
          <a:xfrm>
            <a:off x="4725608" y="1898602"/>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9"/>
          <p:cNvSpPr>
            <a:spLocks noChangeShapeType="1"/>
          </p:cNvSpPr>
          <p:nvPr/>
        </p:nvSpPr>
        <p:spPr bwMode="auto">
          <a:xfrm>
            <a:off x="4048989" y="1905134"/>
            <a:ext cx="3124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Rectangle 5"/>
          <p:cNvSpPr>
            <a:spLocks noChangeArrowheads="1"/>
          </p:cNvSpPr>
          <p:nvPr/>
        </p:nvSpPr>
        <p:spPr bwMode="auto">
          <a:xfrm>
            <a:off x="6319359" y="168210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5" name="Line 6"/>
          <p:cNvSpPr>
            <a:spLocks noChangeShapeType="1"/>
          </p:cNvSpPr>
          <p:nvPr/>
        </p:nvSpPr>
        <p:spPr bwMode="auto">
          <a:xfrm>
            <a:off x="6852759" y="168210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9"/>
          <p:cNvSpPr>
            <a:spLocks noChangeShapeType="1"/>
          </p:cNvSpPr>
          <p:nvPr/>
        </p:nvSpPr>
        <p:spPr bwMode="auto">
          <a:xfrm>
            <a:off x="5938359" y="193627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9"/>
          <p:cNvSpPr>
            <a:spLocks noChangeShapeType="1"/>
          </p:cNvSpPr>
          <p:nvPr/>
        </p:nvSpPr>
        <p:spPr bwMode="auto">
          <a:xfrm>
            <a:off x="7084067" y="1937177"/>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Rectangle 5"/>
          <p:cNvSpPr>
            <a:spLocks noChangeArrowheads="1"/>
          </p:cNvSpPr>
          <p:nvPr/>
        </p:nvSpPr>
        <p:spPr bwMode="auto">
          <a:xfrm>
            <a:off x="8163175" y="169724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29" name="Line 6"/>
          <p:cNvSpPr>
            <a:spLocks noChangeShapeType="1"/>
          </p:cNvSpPr>
          <p:nvPr/>
        </p:nvSpPr>
        <p:spPr bwMode="auto">
          <a:xfrm>
            <a:off x="8722702" y="169724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9"/>
          <p:cNvSpPr>
            <a:spLocks noChangeShapeType="1"/>
          </p:cNvSpPr>
          <p:nvPr/>
        </p:nvSpPr>
        <p:spPr bwMode="auto">
          <a:xfrm>
            <a:off x="7782175" y="194488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矩形 30"/>
          <p:cNvSpPr/>
          <p:nvPr/>
        </p:nvSpPr>
        <p:spPr>
          <a:xfrm>
            <a:off x="227943" y="1689946"/>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32" name="Rectangle 5"/>
          <p:cNvSpPr>
            <a:spLocks noChangeArrowheads="1"/>
          </p:cNvSpPr>
          <p:nvPr/>
        </p:nvSpPr>
        <p:spPr bwMode="auto">
          <a:xfrm>
            <a:off x="988240" y="1648273"/>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34" name="Line 6"/>
          <p:cNvSpPr>
            <a:spLocks noChangeShapeType="1"/>
          </p:cNvSpPr>
          <p:nvPr/>
        </p:nvSpPr>
        <p:spPr bwMode="auto">
          <a:xfrm>
            <a:off x="1542010" y="166031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a:off x="4181556" y="1399420"/>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Rectangle 55"/>
          <p:cNvSpPr>
            <a:spLocks noChangeArrowheads="1"/>
          </p:cNvSpPr>
          <p:nvPr/>
        </p:nvSpPr>
        <p:spPr bwMode="auto">
          <a:xfrm>
            <a:off x="3844089" y="11023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36" name="Line 29"/>
          <p:cNvSpPr>
            <a:spLocks noChangeShapeType="1"/>
          </p:cNvSpPr>
          <p:nvPr/>
        </p:nvSpPr>
        <p:spPr bwMode="auto">
          <a:xfrm>
            <a:off x="2625886" y="1423767"/>
            <a:ext cx="70496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矩形 36"/>
          <p:cNvSpPr/>
          <p:nvPr/>
        </p:nvSpPr>
        <p:spPr>
          <a:xfrm>
            <a:off x="2719380" y="1747654"/>
            <a:ext cx="300082" cy="369332"/>
          </a:xfrm>
          <a:prstGeom prst="rect">
            <a:avLst/>
          </a:prstGeom>
        </p:spPr>
        <p:txBody>
          <a:bodyPr wrap="none">
            <a:spAutoFit/>
          </a:bodyPr>
          <a:lstStyle/>
          <a:p>
            <a:r>
              <a:rPr lang="zh-CN" altLang="en-US" dirty="0"/>
              <a:t>^</a:t>
            </a:r>
          </a:p>
        </p:txBody>
      </p:sp>
      <p:sp>
        <p:nvSpPr>
          <p:cNvPr id="38" name="Line 29"/>
          <p:cNvSpPr>
            <a:spLocks noChangeShapeType="1"/>
          </p:cNvSpPr>
          <p:nvPr/>
        </p:nvSpPr>
        <p:spPr bwMode="auto">
          <a:xfrm>
            <a:off x="1782897" y="190782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Line 6"/>
          <p:cNvSpPr>
            <a:spLocks noChangeShapeType="1"/>
          </p:cNvSpPr>
          <p:nvPr/>
        </p:nvSpPr>
        <p:spPr bwMode="auto">
          <a:xfrm>
            <a:off x="4048989" y="194488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6"/>
          <p:cNvSpPr>
            <a:spLocks noChangeShapeType="1"/>
          </p:cNvSpPr>
          <p:nvPr/>
        </p:nvSpPr>
        <p:spPr bwMode="auto">
          <a:xfrm>
            <a:off x="2004301" y="2031983"/>
            <a:ext cx="0" cy="3446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6"/>
          <p:cNvSpPr>
            <a:spLocks noChangeShapeType="1"/>
          </p:cNvSpPr>
          <p:nvPr/>
        </p:nvSpPr>
        <p:spPr bwMode="auto">
          <a:xfrm>
            <a:off x="2004301" y="2376637"/>
            <a:ext cx="20446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9"/>
          <p:cNvSpPr>
            <a:spLocks noChangeShapeType="1"/>
          </p:cNvSpPr>
          <p:nvPr/>
        </p:nvSpPr>
        <p:spPr bwMode="auto">
          <a:xfrm>
            <a:off x="2007687" y="2031690"/>
            <a:ext cx="156210" cy="29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55"/>
          <p:cNvSpPr>
            <a:spLocks noChangeArrowheads="1"/>
          </p:cNvSpPr>
          <p:nvPr/>
        </p:nvSpPr>
        <p:spPr bwMode="auto">
          <a:xfrm>
            <a:off x="4099098" y="1739882"/>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Ⅹ</a:t>
            </a:r>
            <a:endParaRPr kumimoji="0" lang="zh-CN" altLang="en-US" sz="2400" dirty="0">
              <a:solidFill>
                <a:srgbClr val="FF0000"/>
              </a:solidFill>
              <a:ea typeface="CFNEOP+TimesNewRoman" charset="-122"/>
            </a:endParaRPr>
          </a:p>
        </p:txBody>
      </p:sp>
      <p:sp>
        <p:nvSpPr>
          <p:cNvPr id="44" name="Text Box 2"/>
          <p:cNvSpPr txBox="1">
            <a:spLocks noChangeArrowheads="1"/>
          </p:cNvSpPr>
          <p:nvPr/>
        </p:nvSpPr>
        <p:spPr bwMode="auto">
          <a:xfrm>
            <a:off x="819774" y="2499742"/>
            <a:ext cx="728087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dirty="0">
                <a:latin typeface="Times New Roman" pitchFamily="18" charset="0"/>
                <a:ea typeface="宋体" pitchFamily="2" charset="-122"/>
              </a:rPr>
              <a:t>void </a:t>
            </a:r>
            <a:r>
              <a:rPr lang="en-US" altLang="zh-CN" dirty="0" err="1">
                <a:latin typeface="Times New Roman" pitchFamily="18" charset="0"/>
                <a:ea typeface="宋体" pitchFamily="2" charset="-122"/>
              </a:rPr>
              <a:t>InvertLinkedList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&amp;L ) // </a:t>
            </a:r>
            <a:r>
              <a:rPr lang="zh-CN" altLang="zh-CN" dirty="0">
                <a:latin typeface="Times New Roman" pitchFamily="18" charset="0"/>
                <a:ea typeface="宋体" pitchFamily="2" charset="-122"/>
              </a:rPr>
              <a:t>逆置头指针</a:t>
            </a:r>
            <a:r>
              <a:rPr lang="en-US" altLang="zh-CN" dirty="0">
                <a:latin typeface="Times New Roman" pitchFamily="18" charset="0"/>
                <a:ea typeface="宋体" pitchFamily="2" charset="-122"/>
              </a:rPr>
              <a:t>L</a:t>
            </a:r>
            <a:r>
              <a:rPr lang="zh-CN" altLang="zh-CN" dirty="0">
                <a:latin typeface="Times New Roman" pitchFamily="18" charset="0"/>
                <a:ea typeface="宋体" pitchFamily="2" charset="-122"/>
              </a:rPr>
              <a:t>所指链表</a:t>
            </a: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s,p</a:t>
            </a:r>
            <a:r>
              <a:rPr lang="en-US" altLang="zh-CN" dirty="0">
                <a:latin typeface="Times New Roman" pitchFamily="18" charset="0"/>
                <a:ea typeface="宋体" pitchFamily="2" charset="-122"/>
              </a:rPr>
              <a:t> = L-&gt;next;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L-&gt;next = NULL;         // </a:t>
            </a:r>
            <a:r>
              <a:rPr lang="zh-CN" altLang="zh-CN" dirty="0">
                <a:latin typeface="Times New Roman" pitchFamily="18" charset="0"/>
                <a:ea typeface="宋体" pitchFamily="2" charset="-122"/>
              </a:rPr>
              <a:t>设逆置后的链表的初态为空表</a:t>
            </a:r>
          </a:p>
          <a:p>
            <a:r>
              <a:rPr lang="en-US" altLang="zh-CN" dirty="0">
                <a:latin typeface="Times New Roman" pitchFamily="18" charset="0"/>
                <a:ea typeface="宋体" pitchFamily="2" charset="-122"/>
              </a:rPr>
              <a:t>      while ( p ) {                //  p </a:t>
            </a:r>
            <a:r>
              <a:rPr lang="zh-CN" altLang="zh-CN" dirty="0">
                <a:latin typeface="Times New Roman" pitchFamily="18" charset="0"/>
                <a:ea typeface="宋体" pitchFamily="2" charset="-122"/>
              </a:rPr>
              <a:t>为待逆置链表的头指针</a:t>
            </a:r>
          </a:p>
          <a:p>
            <a:r>
              <a:rPr lang="en-US" altLang="zh-CN" dirty="0">
                <a:latin typeface="Times New Roman" pitchFamily="18" charset="0"/>
                <a:ea typeface="宋体" pitchFamily="2" charset="-122"/>
              </a:rPr>
              <a:t>        s = p;  p = p-&gt;next;    // </a:t>
            </a:r>
            <a:r>
              <a:rPr lang="zh-CN" altLang="zh-CN" dirty="0">
                <a:latin typeface="Times New Roman" pitchFamily="18" charset="0"/>
                <a:ea typeface="宋体" pitchFamily="2" charset="-122"/>
              </a:rPr>
              <a:t>从</a:t>
            </a:r>
            <a:r>
              <a:rPr lang="en-US" altLang="zh-CN" dirty="0">
                <a:latin typeface="Times New Roman" pitchFamily="18" charset="0"/>
                <a:ea typeface="宋体" pitchFamily="2" charset="-122"/>
              </a:rPr>
              <a:t> p </a:t>
            </a:r>
            <a:r>
              <a:rPr lang="zh-CN" altLang="zh-CN" dirty="0">
                <a:latin typeface="Times New Roman" pitchFamily="18" charset="0"/>
                <a:ea typeface="宋体" pitchFamily="2" charset="-122"/>
              </a:rPr>
              <a:t>所指链表中删除第一个结点</a:t>
            </a:r>
            <a:r>
              <a:rPr lang="en-US" altLang="zh-CN" dirty="0">
                <a:latin typeface="Times New Roman" pitchFamily="18" charset="0"/>
                <a:ea typeface="宋体" pitchFamily="2" charset="-122"/>
              </a:rPr>
              <a:t>(s </a:t>
            </a:r>
            <a:r>
              <a:rPr lang="zh-CN" altLang="zh-CN" dirty="0">
                <a:latin typeface="Times New Roman" pitchFamily="18" charset="0"/>
                <a:ea typeface="宋体" pitchFamily="2" charset="-122"/>
              </a:rPr>
              <a:t>结点</a:t>
            </a:r>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s-&gt;next = L-&gt;next;  L-&gt;next = s;  // </a:t>
            </a:r>
            <a:r>
              <a:rPr lang="zh-CN" altLang="zh-CN" dirty="0">
                <a:latin typeface="Times New Roman" pitchFamily="18" charset="0"/>
                <a:ea typeface="宋体" pitchFamily="2" charset="-122"/>
              </a:rPr>
              <a:t>将</a:t>
            </a:r>
            <a:r>
              <a:rPr lang="en-US" altLang="zh-CN" dirty="0">
                <a:latin typeface="Times New Roman" pitchFamily="18" charset="0"/>
                <a:ea typeface="宋体" pitchFamily="2" charset="-122"/>
              </a:rPr>
              <a:t> s </a:t>
            </a:r>
            <a:r>
              <a:rPr lang="zh-CN" altLang="zh-CN" dirty="0">
                <a:latin typeface="Times New Roman" pitchFamily="18" charset="0"/>
                <a:ea typeface="宋体" pitchFamily="2" charset="-122"/>
              </a:rPr>
              <a:t>结点插入到逆置表的表头</a:t>
            </a:r>
          </a:p>
          <a:p>
            <a:r>
              <a:rPr lang="en-US" altLang="zh-CN" dirty="0">
                <a:latin typeface="Times New Roman" pitchFamily="18" charset="0"/>
                <a:ea typeface="宋体" pitchFamily="2" charset="-122"/>
              </a:rPr>
              <a: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p:txBody>
      </p:sp>
      <p:sp>
        <p:nvSpPr>
          <p:cNvPr id="3" name="矩形 2">
            <a:extLst>
              <a:ext uri="{FF2B5EF4-FFF2-40B4-BE49-F238E27FC236}">
                <a16:creationId xmlns:a16="http://schemas.microsoft.com/office/drawing/2014/main" id="{F3625F92-DD09-A74F-4C83-6655EFBAD31F}"/>
              </a:ext>
            </a:extLst>
          </p:cNvPr>
          <p:cNvSpPr/>
          <p:nvPr/>
        </p:nvSpPr>
        <p:spPr>
          <a:xfrm>
            <a:off x="395536" y="843558"/>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2.4.2 </a:t>
            </a:r>
            <a:r>
              <a:rPr lang="zh-CN" altLang="en-US" sz="2800" b="1" dirty="0">
                <a:solidFill>
                  <a:schemeClr val="bg1"/>
                </a:solidFill>
                <a:latin typeface="经典粗黑简" pitchFamily="49" charset="-122"/>
                <a:ea typeface="经典粗黑简" pitchFamily="49" charset="-122"/>
                <a:cs typeface="经典粗黑简" pitchFamily="49" charset="-122"/>
              </a:rPr>
              <a:t>单链表的逆置</a:t>
            </a:r>
          </a:p>
        </p:txBody>
      </p:sp>
      <p:sp>
        <p:nvSpPr>
          <p:cNvPr id="6" name="矩形 5">
            <a:extLst>
              <a:ext uri="{FF2B5EF4-FFF2-40B4-BE49-F238E27FC236}">
                <a16:creationId xmlns:a16="http://schemas.microsoft.com/office/drawing/2014/main" id="{FE3F4983-7FAA-7585-3600-3935B67C5313}"/>
              </a:ext>
            </a:extLst>
          </p:cNvPr>
          <p:cNvSpPr/>
          <p:nvPr/>
        </p:nvSpPr>
        <p:spPr>
          <a:xfrm>
            <a:off x="4839617" y="760504"/>
            <a:ext cx="4304383" cy="584775"/>
          </a:xfrm>
          <a:prstGeom prst="rect">
            <a:avLst/>
          </a:prstGeom>
        </p:spPr>
        <p:txBody>
          <a:bodyPr wrap="none">
            <a:spAutoFit/>
          </a:bodyPr>
          <a:lstStyle/>
          <a:p>
            <a:r>
              <a:rPr lang="en-US" altLang="zh-CN" sz="3200" b="1" dirty="0">
                <a:latin typeface="黑体" pitchFamily="49" charset="-122"/>
                <a:ea typeface="黑体" pitchFamily="49" charset="-122"/>
              </a:rPr>
              <a:t>——</a:t>
            </a:r>
            <a:r>
              <a:rPr lang="zh-CN" altLang="en-US" sz="3200" b="1" dirty="0">
                <a:latin typeface="黑体" pitchFamily="49" charset="-122"/>
                <a:ea typeface="黑体" pitchFamily="49" charset="-122"/>
              </a:rPr>
              <a:t>单链表的其他操作</a:t>
            </a:r>
          </a:p>
        </p:txBody>
      </p:sp>
      <p:cxnSp>
        <p:nvCxnSpPr>
          <p:cNvPr id="7" name="直接连接符 6">
            <a:extLst>
              <a:ext uri="{FF2B5EF4-FFF2-40B4-BE49-F238E27FC236}">
                <a16:creationId xmlns:a16="http://schemas.microsoft.com/office/drawing/2014/main" id="{D494865C-275F-5527-21AD-2AFE9FD08ABE}"/>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Rectangle 2">
            <a:extLst>
              <a:ext uri="{FF2B5EF4-FFF2-40B4-BE49-F238E27FC236}">
                <a16:creationId xmlns:a16="http://schemas.microsoft.com/office/drawing/2014/main" id="{694D9D75-0E4B-C63E-CE6A-6BA0327F79F5}"/>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2.4 </a:t>
            </a:r>
            <a:r>
              <a:rPr lang="zh-CN" altLang="en-US" sz="3700" b="1" dirty="0">
                <a:latin typeface="黑体" pitchFamily="49" charset="-122"/>
                <a:ea typeface="黑体" pitchFamily="49" charset="-122"/>
                <a:cs typeface="+mn-cs"/>
              </a:rPr>
              <a:t>线性表的应用</a:t>
            </a:r>
          </a:p>
        </p:txBody>
      </p:sp>
      <p:sp>
        <p:nvSpPr>
          <p:cNvPr id="2" name="矩形 1">
            <a:extLst>
              <a:ext uri="{FF2B5EF4-FFF2-40B4-BE49-F238E27FC236}">
                <a16:creationId xmlns:a16="http://schemas.microsoft.com/office/drawing/2014/main" id="{35F55277-51B8-C236-AE61-62C58C66903A}"/>
              </a:ext>
            </a:extLst>
          </p:cNvPr>
          <p:cNvSpPr/>
          <p:nvPr/>
        </p:nvSpPr>
        <p:spPr>
          <a:xfrm>
            <a:off x="2336943" y="1212084"/>
            <a:ext cx="351378" cy="523220"/>
          </a:xfrm>
          <a:prstGeom prst="rect">
            <a:avLst/>
          </a:prstGeom>
        </p:spPr>
        <p:txBody>
          <a:bodyPr wrap="none">
            <a:spAutoFit/>
          </a:bodyPr>
          <a:lstStyle/>
          <a:p>
            <a:pPr algn="r"/>
            <a:r>
              <a:rPr lang="en-US" altLang="zh-CN" sz="2800" dirty="0">
                <a:latin typeface="微软雅黑" pitchFamily="34" charset="-122"/>
                <a:ea typeface="微软雅黑" pitchFamily="34" charset="-122"/>
              </a:rPr>
              <a:t>s</a:t>
            </a:r>
          </a:p>
        </p:txBody>
      </p:sp>
    </p:spTree>
    <p:extLst>
      <p:ext uri="{BB962C8B-B14F-4D97-AF65-F5344CB8AC3E}">
        <p14:creationId xmlns:p14="http://schemas.microsoft.com/office/powerpoint/2010/main" val="3663686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5" grpId="0"/>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p:bldP spid="32" grpId="0" animBg="1"/>
      <p:bldP spid="34" grpId="0" animBg="1"/>
      <p:bldP spid="35" grpId="0" animBg="1"/>
      <p:bldP spid="64" grpId="0"/>
      <p:bldP spid="36" grpId="0" animBg="1"/>
      <p:bldP spid="38" grpId="0" animBg="1"/>
      <p:bldP spid="39" grpId="0" animBg="1"/>
      <p:bldP spid="40" grpId="0" animBg="1"/>
      <p:bldP spid="41" grpId="0" animBg="1"/>
      <p:bldP spid="42" grpId="0" animBg="1"/>
      <p:bldP spid="43" grpId="0"/>
      <p:bldP spid="2"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5"/>
          <p:cNvSpPr>
            <a:spLocks noChangeArrowheads="1"/>
          </p:cNvSpPr>
          <p:nvPr/>
        </p:nvSpPr>
        <p:spPr bwMode="auto">
          <a:xfrm>
            <a:off x="2149432" y="164827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3" name="Line 6"/>
          <p:cNvSpPr>
            <a:spLocks noChangeShapeType="1"/>
          </p:cNvSpPr>
          <p:nvPr/>
        </p:nvSpPr>
        <p:spPr bwMode="auto">
          <a:xfrm>
            <a:off x="2682832" y="1648273"/>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Rectangle 25"/>
          <p:cNvSpPr>
            <a:spLocks noChangeArrowheads="1"/>
          </p:cNvSpPr>
          <p:nvPr/>
        </p:nvSpPr>
        <p:spPr bwMode="auto">
          <a:xfrm>
            <a:off x="4313317" y="172223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5" name="Rectangle 36"/>
          <p:cNvSpPr>
            <a:spLocks noChangeArrowheads="1"/>
          </p:cNvSpPr>
          <p:nvPr/>
        </p:nvSpPr>
        <p:spPr bwMode="auto">
          <a:xfrm>
            <a:off x="7447466" y="174424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6" name="Line 29"/>
          <p:cNvSpPr>
            <a:spLocks noChangeShapeType="1"/>
          </p:cNvSpPr>
          <p:nvPr/>
        </p:nvSpPr>
        <p:spPr bwMode="auto">
          <a:xfrm>
            <a:off x="596954" y="189994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Rectangle 5"/>
          <p:cNvSpPr>
            <a:spLocks noChangeArrowheads="1"/>
          </p:cNvSpPr>
          <p:nvPr/>
        </p:nvSpPr>
        <p:spPr bwMode="auto">
          <a:xfrm>
            <a:off x="3325089" y="165364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8" name="Line 6"/>
          <p:cNvSpPr>
            <a:spLocks noChangeShapeType="1"/>
          </p:cNvSpPr>
          <p:nvPr/>
        </p:nvSpPr>
        <p:spPr bwMode="auto">
          <a:xfrm>
            <a:off x="3858489" y="165364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Rectangle 5"/>
          <p:cNvSpPr>
            <a:spLocks noChangeArrowheads="1"/>
          </p:cNvSpPr>
          <p:nvPr/>
        </p:nvSpPr>
        <p:spPr bwMode="auto">
          <a:xfrm>
            <a:off x="4926600" y="1670275"/>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21" name="Line 6"/>
          <p:cNvSpPr>
            <a:spLocks noChangeShapeType="1"/>
          </p:cNvSpPr>
          <p:nvPr/>
        </p:nvSpPr>
        <p:spPr bwMode="auto">
          <a:xfrm>
            <a:off x="5663173" y="1664900"/>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9"/>
          <p:cNvSpPr>
            <a:spLocks noChangeShapeType="1"/>
          </p:cNvSpPr>
          <p:nvPr/>
        </p:nvSpPr>
        <p:spPr bwMode="auto">
          <a:xfrm>
            <a:off x="4725608" y="1898602"/>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Rectangle 5"/>
          <p:cNvSpPr>
            <a:spLocks noChangeArrowheads="1"/>
          </p:cNvSpPr>
          <p:nvPr/>
        </p:nvSpPr>
        <p:spPr bwMode="auto">
          <a:xfrm>
            <a:off x="6319359" y="168210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5" name="Line 6"/>
          <p:cNvSpPr>
            <a:spLocks noChangeShapeType="1"/>
          </p:cNvSpPr>
          <p:nvPr/>
        </p:nvSpPr>
        <p:spPr bwMode="auto">
          <a:xfrm>
            <a:off x="6852759" y="168210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9"/>
          <p:cNvSpPr>
            <a:spLocks noChangeShapeType="1"/>
          </p:cNvSpPr>
          <p:nvPr/>
        </p:nvSpPr>
        <p:spPr bwMode="auto">
          <a:xfrm>
            <a:off x="5938359" y="193627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9"/>
          <p:cNvSpPr>
            <a:spLocks noChangeShapeType="1"/>
          </p:cNvSpPr>
          <p:nvPr/>
        </p:nvSpPr>
        <p:spPr bwMode="auto">
          <a:xfrm>
            <a:off x="7084067" y="1937177"/>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Rectangle 5"/>
          <p:cNvSpPr>
            <a:spLocks noChangeArrowheads="1"/>
          </p:cNvSpPr>
          <p:nvPr/>
        </p:nvSpPr>
        <p:spPr bwMode="auto">
          <a:xfrm>
            <a:off x="8163175" y="169724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29" name="Line 6"/>
          <p:cNvSpPr>
            <a:spLocks noChangeShapeType="1"/>
          </p:cNvSpPr>
          <p:nvPr/>
        </p:nvSpPr>
        <p:spPr bwMode="auto">
          <a:xfrm>
            <a:off x="8722702" y="169724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9"/>
          <p:cNvSpPr>
            <a:spLocks noChangeShapeType="1"/>
          </p:cNvSpPr>
          <p:nvPr/>
        </p:nvSpPr>
        <p:spPr bwMode="auto">
          <a:xfrm>
            <a:off x="7782175" y="194488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矩形 30"/>
          <p:cNvSpPr/>
          <p:nvPr/>
        </p:nvSpPr>
        <p:spPr>
          <a:xfrm>
            <a:off x="227943" y="1689946"/>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32" name="Rectangle 5"/>
          <p:cNvSpPr>
            <a:spLocks noChangeArrowheads="1"/>
          </p:cNvSpPr>
          <p:nvPr/>
        </p:nvSpPr>
        <p:spPr bwMode="auto">
          <a:xfrm>
            <a:off x="988240" y="1648273"/>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34" name="Line 6"/>
          <p:cNvSpPr>
            <a:spLocks noChangeShapeType="1"/>
          </p:cNvSpPr>
          <p:nvPr/>
        </p:nvSpPr>
        <p:spPr bwMode="auto">
          <a:xfrm>
            <a:off x="1542010" y="166031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a:off x="4181556" y="1399420"/>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Rectangle 55"/>
          <p:cNvSpPr>
            <a:spLocks noChangeArrowheads="1"/>
          </p:cNvSpPr>
          <p:nvPr/>
        </p:nvSpPr>
        <p:spPr bwMode="auto">
          <a:xfrm>
            <a:off x="3844089" y="11023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36" name="Line 29"/>
          <p:cNvSpPr>
            <a:spLocks noChangeShapeType="1"/>
          </p:cNvSpPr>
          <p:nvPr/>
        </p:nvSpPr>
        <p:spPr bwMode="auto">
          <a:xfrm>
            <a:off x="2625886" y="1423767"/>
            <a:ext cx="70496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矩形 36"/>
          <p:cNvSpPr/>
          <p:nvPr/>
        </p:nvSpPr>
        <p:spPr>
          <a:xfrm>
            <a:off x="2719380" y="1747654"/>
            <a:ext cx="300082" cy="369332"/>
          </a:xfrm>
          <a:prstGeom prst="rect">
            <a:avLst/>
          </a:prstGeom>
        </p:spPr>
        <p:txBody>
          <a:bodyPr wrap="none">
            <a:spAutoFit/>
          </a:bodyPr>
          <a:lstStyle/>
          <a:p>
            <a:r>
              <a:rPr lang="zh-CN" altLang="en-US" dirty="0"/>
              <a:t>^</a:t>
            </a:r>
          </a:p>
        </p:txBody>
      </p:sp>
      <p:sp>
        <p:nvSpPr>
          <p:cNvPr id="38" name="Line 29"/>
          <p:cNvSpPr>
            <a:spLocks noChangeShapeType="1"/>
          </p:cNvSpPr>
          <p:nvPr/>
        </p:nvSpPr>
        <p:spPr bwMode="auto">
          <a:xfrm>
            <a:off x="1782897" y="190782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Line 6"/>
          <p:cNvSpPr>
            <a:spLocks noChangeShapeType="1"/>
          </p:cNvSpPr>
          <p:nvPr/>
        </p:nvSpPr>
        <p:spPr bwMode="auto">
          <a:xfrm>
            <a:off x="4048989" y="194488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6"/>
          <p:cNvSpPr>
            <a:spLocks noChangeShapeType="1"/>
          </p:cNvSpPr>
          <p:nvPr/>
        </p:nvSpPr>
        <p:spPr bwMode="auto">
          <a:xfrm>
            <a:off x="2004301" y="2031983"/>
            <a:ext cx="0" cy="3446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6"/>
          <p:cNvSpPr>
            <a:spLocks noChangeShapeType="1"/>
          </p:cNvSpPr>
          <p:nvPr/>
        </p:nvSpPr>
        <p:spPr bwMode="auto">
          <a:xfrm>
            <a:off x="2004301" y="2376637"/>
            <a:ext cx="20446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9"/>
          <p:cNvSpPr>
            <a:spLocks noChangeShapeType="1"/>
          </p:cNvSpPr>
          <p:nvPr/>
        </p:nvSpPr>
        <p:spPr bwMode="auto">
          <a:xfrm>
            <a:off x="2007687" y="2031690"/>
            <a:ext cx="156210" cy="29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 name="Line 6"/>
          <p:cNvSpPr>
            <a:spLocks noChangeShapeType="1"/>
          </p:cNvSpPr>
          <p:nvPr/>
        </p:nvSpPr>
        <p:spPr bwMode="auto">
          <a:xfrm>
            <a:off x="3166577" y="149138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6"/>
          <p:cNvSpPr>
            <a:spLocks noChangeShapeType="1"/>
          </p:cNvSpPr>
          <p:nvPr/>
        </p:nvSpPr>
        <p:spPr bwMode="auto">
          <a:xfrm>
            <a:off x="1750768" y="1504522"/>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29"/>
          <p:cNvSpPr>
            <a:spLocks noChangeShapeType="1"/>
          </p:cNvSpPr>
          <p:nvPr/>
        </p:nvSpPr>
        <p:spPr bwMode="auto">
          <a:xfrm>
            <a:off x="3168880" y="1912519"/>
            <a:ext cx="161971" cy="1061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Rectangle 55"/>
          <p:cNvSpPr>
            <a:spLocks noChangeArrowheads="1"/>
          </p:cNvSpPr>
          <p:nvPr/>
        </p:nvSpPr>
        <p:spPr bwMode="auto">
          <a:xfrm>
            <a:off x="1802787" y="1720400"/>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kumimoji="0" lang="en-US" altLang="zh-CN" sz="2400" dirty="0">
                <a:solidFill>
                  <a:srgbClr val="FF0000"/>
                </a:solidFill>
                <a:ea typeface="CFNEOP+TimesNewRoman" charset="-122"/>
              </a:rPr>
              <a:t>Ⅹ</a:t>
            </a:r>
            <a:endParaRPr kumimoji="0" lang="zh-CN" altLang="en-US" sz="2400" dirty="0">
              <a:solidFill>
                <a:srgbClr val="FF0000"/>
              </a:solidFill>
              <a:ea typeface="CFNEOP+TimesNewRoman" charset="-122"/>
            </a:endParaRPr>
          </a:p>
        </p:txBody>
      </p:sp>
      <p:sp>
        <p:nvSpPr>
          <p:cNvPr id="47" name="Text Box 2"/>
          <p:cNvSpPr txBox="1">
            <a:spLocks noChangeArrowheads="1"/>
          </p:cNvSpPr>
          <p:nvPr/>
        </p:nvSpPr>
        <p:spPr bwMode="auto">
          <a:xfrm>
            <a:off x="804844" y="2558177"/>
            <a:ext cx="728087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dirty="0">
                <a:latin typeface="Times New Roman" pitchFamily="18" charset="0"/>
                <a:ea typeface="宋体" pitchFamily="2" charset="-122"/>
              </a:rPr>
              <a:t>void </a:t>
            </a:r>
            <a:r>
              <a:rPr lang="en-US" altLang="zh-CN" dirty="0" err="1">
                <a:latin typeface="Times New Roman" pitchFamily="18" charset="0"/>
                <a:ea typeface="宋体" pitchFamily="2" charset="-122"/>
              </a:rPr>
              <a:t>InvertLinkedList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&amp;L ) // </a:t>
            </a:r>
            <a:r>
              <a:rPr lang="zh-CN" altLang="zh-CN" dirty="0">
                <a:latin typeface="Times New Roman" pitchFamily="18" charset="0"/>
                <a:ea typeface="宋体" pitchFamily="2" charset="-122"/>
              </a:rPr>
              <a:t>逆置头指针</a:t>
            </a:r>
            <a:r>
              <a:rPr lang="en-US" altLang="zh-CN" dirty="0">
                <a:latin typeface="Times New Roman" pitchFamily="18" charset="0"/>
                <a:ea typeface="宋体" pitchFamily="2" charset="-122"/>
              </a:rPr>
              <a:t>L</a:t>
            </a:r>
            <a:r>
              <a:rPr lang="zh-CN" altLang="zh-CN" dirty="0">
                <a:latin typeface="Times New Roman" pitchFamily="18" charset="0"/>
                <a:ea typeface="宋体" pitchFamily="2" charset="-122"/>
              </a:rPr>
              <a:t>所指链表</a:t>
            </a: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s,p</a:t>
            </a:r>
            <a:r>
              <a:rPr lang="en-US" altLang="zh-CN" dirty="0">
                <a:latin typeface="Times New Roman" pitchFamily="18" charset="0"/>
                <a:ea typeface="宋体" pitchFamily="2" charset="-122"/>
              </a:rPr>
              <a:t> = L-&gt;next;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L-&gt;next = NULL;         // </a:t>
            </a:r>
            <a:r>
              <a:rPr lang="zh-CN" altLang="zh-CN" dirty="0">
                <a:latin typeface="Times New Roman" pitchFamily="18" charset="0"/>
                <a:ea typeface="宋体" pitchFamily="2" charset="-122"/>
              </a:rPr>
              <a:t>设逆置后的链表的初态为空表</a:t>
            </a:r>
          </a:p>
          <a:p>
            <a:r>
              <a:rPr lang="en-US" altLang="zh-CN" dirty="0">
                <a:latin typeface="Times New Roman" pitchFamily="18" charset="0"/>
                <a:ea typeface="宋体" pitchFamily="2" charset="-122"/>
              </a:rPr>
              <a:t>      while ( p ) {                //  p </a:t>
            </a:r>
            <a:r>
              <a:rPr lang="zh-CN" altLang="zh-CN" dirty="0">
                <a:latin typeface="Times New Roman" pitchFamily="18" charset="0"/>
                <a:ea typeface="宋体" pitchFamily="2" charset="-122"/>
              </a:rPr>
              <a:t>为待逆置链表的头指针</a:t>
            </a:r>
          </a:p>
          <a:p>
            <a:r>
              <a:rPr lang="en-US" altLang="zh-CN" dirty="0">
                <a:latin typeface="Times New Roman" pitchFamily="18" charset="0"/>
                <a:ea typeface="宋体" pitchFamily="2" charset="-122"/>
              </a:rPr>
              <a:t>        s = p;  p = p-&gt;next;    // </a:t>
            </a:r>
            <a:r>
              <a:rPr lang="zh-CN" altLang="zh-CN" dirty="0">
                <a:latin typeface="Times New Roman" pitchFamily="18" charset="0"/>
                <a:ea typeface="宋体" pitchFamily="2" charset="-122"/>
              </a:rPr>
              <a:t>从</a:t>
            </a:r>
            <a:r>
              <a:rPr lang="en-US" altLang="zh-CN" dirty="0">
                <a:latin typeface="Times New Roman" pitchFamily="18" charset="0"/>
                <a:ea typeface="宋体" pitchFamily="2" charset="-122"/>
              </a:rPr>
              <a:t> p </a:t>
            </a:r>
            <a:r>
              <a:rPr lang="zh-CN" altLang="zh-CN" dirty="0">
                <a:latin typeface="Times New Roman" pitchFamily="18" charset="0"/>
                <a:ea typeface="宋体" pitchFamily="2" charset="-122"/>
              </a:rPr>
              <a:t>所指链表中删除第一个结点</a:t>
            </a:r>
            <a:r>
              <a:rPr lang="en-US" altLang="zh-CN" dirty="0">
                <a:latin typeface="Times New Roman" pitchFamily="18" charset="0"/>
                <a:ea typeface="宋体" pitchFamily="2" charset="-122"/>
              </a:rPr>
              <a:t>(s </a:t>
            </a:r>
            <a:r>
              <a:rPr lang="zh-CN" altLang="zh-CN" dirty="0">
                <a:latin typeface="Times New Roman" pitchFamily="18" charset="0"/>
                <a:ea typeface="宋体" pitchFamily="2" charset="-122"/>
              </a:rPr>
              <a:t>结点</a:t>
            </a:r>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s-&gt;next = L-&gt;next;  L-&gt;next = s;  // </a:t>
            </a:r>
            <a:r>
              <a:rPr lang="zh-CN" altLang="zh-CN" dirty="0">
                <a:latin typeface="Times New Roman" pitchFamily="18" charset="0"/>
                <a:ea typeface="宋体" pitchFamily="2" charset="-122"/>
              </a:rPr>
              <a:t>将</a:t>
            </a:r>
            <a:r>
              <a:rPr lang="en-US" altLang="zh-CN" dirty="0">
                <a:latin typeface="Times New Roman" pitchFamily="18" charset="0"/>
                <a:ea typeface="宋体" pitchFamily="2" charset="-122"/>
              </a:rPr>
              <a:t> s </a:t>
            </a:r>
            <a:r>
              <a:rPr lang="zh-CN" altLang="zh-CN" dirty="0">
                <a:latin typeface="Times New Roman" pitchFamily="18" charset="0"/>
                <a:ea typeface="宋体" pitchFamily="2" charset="-122"/>
              </a:rPr>
              <a:t>结点插入到逆置表的表头</a:t>
            </a:r>
          </a:p>
          <a:p>
            <a:r>
              <a:rPr lang="en-US" altLang="zh-CN" dirty="0">
                <a:latin typeface="Times New Roman" pitchFamily="18" charset="0"/>
                <a:ea typeface="宋体" pitchFamily="2" charset="-122"/>
              </a:rPr>
              <a: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p:txBody>
      </p:sp>
      <p:sp>
        <p:nvSpPr>
          <p:cNvPr id="3" name="矩形 2">
            <a:extLst>
              <a:ext uri="{FF2B5EF4-FFF2-40B4-BE49-F238E27FC236}">
                <a16:creationId xmlns:a16="http://schemas.microsoft.com/office/drawing/2014/main" id="{39F99356-C7C8-99FA-6621-98DB760B21C0}"/>
              </a:ext>
            </a:extLst>
          </p:cNvPr>
          <p:cNvSpPr/>
          <p:nvPr/>
        </p:nvSpPr>
        <p:spPr>
          <a:xfrm>
            <a:off x="395536" y="843558"/>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2.4.2 </a:t>
            </a:r>
            <a:r>
              <a:rPr lang="zh-CN" altLang="en-US" sz="2800" b="1" dirty="0">
                <a:solidFill>
                  <a:schemeClr val="bg1"/>
                </a:solidFill>
                <a:latin typeface="经典粗黑简" pitchFamily="49" charset="-122"/>
                <a:ea typeface="经典粗黑简" pitchFamily="49" charset="-122"/>
                <a:cs typeface="经典粗黑简" pitchFamily="49" charset="-122"/>
              </a:rPr>
              <a:t>单链表的逆置</a:t>
            </a:r>
          </a:p>
        </p:txBody>
      </p:sp>
      <p:sp>
        <p:nvSpPr>
          <p:cNvPr id="6" name="矩形 5">
            <a:extLst>
              <a:ext uri="{FF2B5EF4-FFF2-40B4-BE49-F238E27FC236}">
                <a16:creationId xmlns:a16="http://schemas.microsoft.com/office/drawing/2014/main" id="{D974A56D-0411-5BD1-86BB-3BE7E834362D}"/>
              </a:ext>
            </a:extLst>
          </p:cNvPr>
          <p:cNvSpPr/>
          <p:nvPr/>
        </p:nvSpPr>
        <p:spPr>
          <a:xfrm>
            <a:off x="4839617" y="760504"/>
            <a:ext cx="4304383" cy="584775"/>
          </a:xfrm>
          <a:prstGeom prst="rect">
            <a:avLst/>
          </a:prstGeom>
        </p:spPr>
        <p:txBody>
          <a:bodyPr wrap="none">
            <a:spAutoFit/>
          </a:bodyPr>
          <a:lstStyle/>
          <a:p>
            <a:r>
              <a:rPr lang="en-US" altLang="zh-CN" sz="3200" b="1" dirty="0">
                <a:latin typeface="黑体" pitchFamily="49" charset="-122"/>
                <a:ea typeface="黑体" pitchFamily="49" charset="-122"/>
              </a:rPr>
              <a:t>——</a:t>
            </a:r>
            <a:r>
              <a:rPr lang="zh-CN" altLang="en-US" sz="3200" b="1" dirty="0">
                <a:latin typeface="黑体" pitchFamily="49" charset="-122"/>
                <a:ea typeface="黑体" pitchFamily="49" charset="-122"/>
              </a:rPr>
              <a:t>单链表的其他操作</a:t>
            </a:r>
          </a:p>
        </p:txBody>
      </p:sp>
      <p:cxnSp>
        <p:nvCxnSpPr>
          <p:cNvPr id="7" name="直接连接符 6">
            <a:extLst>
              <a:ext uri="{FF2B5EF4-FFF2-40B4-BE49-F238E27FC236}">
                <a16:creationId xmlns:a16="http://schemas.microsoft.com/office/drawing/2014/main" id="{7E5BDA83-C502-E40C-2427-6A083F34C59A}"/>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Rectangle 2">
            <a:extLst>
              <a:ext uri="{FF2B5EF4-FFF2-40B4-BE49-F238E27FC236}">
                <a16:creationId xmlns:a16="http://schemas.microsoft.com/office/drawing/2014/main" id="{9EB32F98-1806-72A2-2B70-6E9CAC40369F}"/>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2.4 </a:t>
            </a:r>
            <a:r>
              <a:rPr lang="zh-CN" altLang="en-US" sz="3700" b="1" dirty="0">
                <a:latin typeface="黑体" pitchFamily="49" charset="-122"/>
                <a:ea typeface="黑体" pitchFamily="49" charset="-122"/>
                <a:cs typeface="+mn-cs"/>
              </a:rPr>
              <a:t>线性表的应用</a:t>
            </a:r>
          </a:p>
        </p:txBody>
      </p:sp>
      <p:sp>
        <p:nvSpPr>
          <p:cNvPr id="2" name="矩形 1">
            <a:extLst>
              <a:ext uri="{FF2B5EF4-FFF2-40B4-BE49-F238E27FC236}">
                <a16:creationId xmlns:a16="http://schemas.microsoft.com/office/drawing/2014/main" id="{2C7E6EFE-B151-CF04-B99B-4E76D87DEE52}"/>
              </a:ext>
            </a:extLst>
          </p:cNvPr>
          <p:cNvSpPr/>
          <p:nvPr/>
        </p:nvSpPr>
        <p:spPr>
          <a:xfrm>
            <a:off x="2336943" y="1212084"/>
            <a:ext cx="351378" cy="523220"/>
          </a:xfrm>
          <a:prstGeom prst="rect">
            <a:avLst/>
          </a:prstGeom>
        </p:spPr>
        <p:txBody>
          <a:bodyPr wrap="none">
            <a:spAutoFit/>
          </a:bodyPr>
          <a:lstStyle/>
          <a:p>
            <a:pPr algn="r"/>
            <a:r>
              <a:rPr lang="en-US" altLang="zh-CN" sz="2800" dirty="0">
                <a:latin typeface="微软雅黑" pitchFamily="34" charset="-122"/>
                <a:ea typeface="微软雅黑" pitchFamily="34" charset="-122"/>
              </a:rPr>
              <a:t>s</a:t>
            </a:r>
          </a:p>
        </p:txBody>
      </p:sp>
      <p:sp>
        <p:nvSpPr>
          <p:cNvPr id="4" name="Line 6">
            <a:extLst>
              <a:ext uri="{FF2B5EF4-FFF2-40B4-BE49-F238E27FC236}">
                <a16:creationId xmlns:a16="http://schemas.microsoft.com/office/drawing/2014/main" id="{20FA2434-3077-69E1-9193-EBB3A7A7311B}"/>
              </a:ext>
            </a:extLst>
          </p:cNvPr>
          <p:cNvSpPr>
            <a:spLocks noChangeShapeType="1"/>
          </p:cNvSpPr>
          <p:nvPr/>
        </p:nvSpPr>
        <p:spPr bwMode="auto">
          <a:xfrm>
            <a:off x="1750769" y="1499605"/>
            <a:ext cx="141580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717791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5" grpId="0"/>
      <p:bldP spid="16" grpId="0" animBg="1"/>
      <p:bldP spid="17" grpId="0" animBg="1"/>
      <p:bldP spid="18" grpId="0" animBg="1"/>
      <p:bldP spid="20" grpId="0" animBg="1"/>
      <p:bldP spid="21" grpId="0" animBg="1"/>
      <p:bldP spid="22" grpId="0" animBg="1"/>
      <p:bldP spid="24" grpId="0" animBg="1"/>
      <p:bldP spid="25" grpId="0" animBg="1"/>
      <p:bldP spid="26" grpId="0" animBg="1"/>
      <p:bldP spid="27" grpId="0" animBg="1"/>
      <p:bldP spid="28" grpId="0" animBg="1"/>
      <p:bldP spid="29" grpId="0" animBg="1"/>
      <p:bldP spid="30" grpId="0" animBg="1"/>
      <p:bldP spid="31" grpId="0"/>
      <p:bldP spid="32" grpId="0" animBg="1"/>
      <p:bldP spid="34" grpId="0" animBg="1"/>
      <p:bldP spid="35" grpId="0" animBg="1"/>
      <p:bldP spid="64" grpId="0"/>
      <p:bldP spid="36" grpId="0" animBg="1"/>
      <p:bldP spid="38" grpId="0" animBg="1"/>
      <p:bldP spid="39" grpId="0" animBg="1"/>
      <p:bldP spid="40" grpId="0" animBg="1"/>
      <p:bldP spid="41" grpId="0" animBg="1"/>
      <p:bldP spid="42" grpId="0" animBg="1"/>
      <p:bldP spid="44" grpId="0" animBg="1"/>
      <p:bldP spid="45" grpId="0" animBg="1"/>
      <p:bldP spid="46" grpId="0" animBg="1"/>
      <p:bldP spid="48" grpId="0"/>
      <p:bldP spid="2" grpId="0"/>
      <p:bldP spid="4"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5"/>
          <p:cNvSpPr>
            <a:spLocks noChangeArrowheads="1"/>
          </p:cNvSpPr>
          <p:nvPr/>
        </p:nvSpPr>
        <p:spPr bwMode="auto">
          <a:xfrm>
            <a:off x="2149432" y="164827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3" name="Line 6"/>
          <p:cNvSpPr>
            <a:spLocks noChangeShapeType="1"/>
          </p:cNvSpPr>
          <p:nvPr/>
        </p:nvSpPr>
        <p:spPr bwMode="auto">
          <a:xfrm>
            <a:off x="2682832" y="1648273"/>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Rectangle 25"/>
          <p:cNvSpPr>
            <a:spLocks noChangeArrowheads="1"/>
          </p:cNvSpPr>
          <p:nvPr/>
        </p:nvSpPr>
        <p:spPr bwMode="auto">
          <a:xfrm>
            <a:off x="4313317" y="172223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5" name="Rectangle 36"/>
          <p:cNvSpPr>
            <a:spLocks noChangeArrowheads="1"/>
          </p:cNvSpPr>
          <p:nvPr/>
        </p:nvSpPr>
        <p:spPr bwMode="auto">
          <a:xfrm>
            <a:off x="7447466" y="174424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6" name="Line 29"/>
          <p:cNvSpPr>
            <a:spLocks noChangeShapeType="1"/>
          </p:cNvSpPr>
          <p:nvPr/>
        </p:nvSpPr>
        <p:spPr bwMode="auto">
          <a:xfrm>
            <a:off x="596954" y="189994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Rectangle 5"/>
          <p:cNvSpPr>
            <a:spLocks noChangeArrowheads="1"/>
          </p:cNvSpPr>
          <p:nvPr/>
        </p:nvSpPr>
        <p:spPr bwMode="auto">
          <a:xfrm>
            <a:off x="3325089" y="165364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8" name="Line 6"/>
          <p:cNvSpPr>
            <a:spLocks noChangeShapeType="1"/>
          </p:cNvSpPr>
          <p:nvPr/>
        </p:nvSpPr>
        <p:spPr bwMode="auto">
          <a:xfrm>
            <a:off x="3858489" y="165364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Rectangle 5"/>
          <p:cNvSpPr>
            <a:spLocks noChangeArrowheads="1"/>
          </p:cNvSpPr>
          <p:nvPr/>
        </p:nvSpPr>
        <p:spPr bwMode="auto">
          <a:xfrm>
            <a:off x="4926600" y="1670275"/>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21" name="Line 6"/>
          <p:cNvSpPr>
            <a:spLocks noChangeShapeType="1"/>
          </p:cNvSpPr>
          <p:nvPr/>
        </p:nvSpPr>
        <p:spPr bwMode="auto">
          <a:xfrm>
            <a:off x="5663173" y="1664900"/>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9"/>
          <p:cNvSpPr>
            <a:spLocks noChangeShapeType="1"/>
          </p:cNvSpPr>
          <p:nvPr/>
        </p:nvSpPr>
        <p:spPr bwMode="auto">
          <a:xfrm>
            <a:off x="4725608" y="1898602"/>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Rectangle 5"/>
          <p:cNvSpPr>
            <a:spLocks noChangeArrowheads="1"/>
          </p:cNvSpPr>
          <p:nvPr/>
        </p:nvSpPr>
        <p:spPr bwMode="auto">
          <a:xfrm>
            <a:off x="6319359" y="168210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5" name="Line 6"/>
          <p:cNvSpPr>
            <a:spLocks noChangeShapeType="1"/>
          </p:cNvSpPr>
          <p:nvPr/>
        </p:nvSpPr>
        <p:spPr bwMode="auto">
          <a:xfrm>
            <a:off x="6852759" y="168210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9"/>
          <p:cNvSpPr>
            <a:spLocks noChangeShapeType="1"/>
          </p:cNvSpPr>
          <p:nvPr/>
        </p:nvSpPr>
        <p:spPr bwMode="auto">
          <a:xfrm>
            <a:off x="5938359" y="193627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9"/>
          <p:cNvSpPr>
            <a:spLocks noChangeShapeType="1"/>
          </p:cNvSpPr>
          <p:nvPr/>
        </p:nvSpPr>
        <p:spPr bwMode="auto">
          <a:xfrm>
            <a:off x="7084067" y="1937177"/>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Rectangle 5"/>
          <p:cNvSpPr>
            <a:spLocks noChangeArrowheads="1"/>
          </p:cNvSpPr>
          <p:nvPr/>
        </p:nvSpPr>
        <p:spPr bwMode="auto">
          <a:xfrm>
            <a:off x="8163175" y="169724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29" name="Line 6"/>
          <p:cNvSpPr>
            <a:spLocks noChangeShapeType="1"/>
          </p:cNvSpPr>
          <p:nvPr/>
        </p:nvSpPr>
        <p:spPr bwMode="auto">
          <a:xfrm>
            <a:off x="8722702" y="169724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9"/>
          <p:cNvSpPr>
            <a:spLocks noChangeShapeType="1"/>
          </p:cNvSpPr>
          <p:nvPr/>
        </p:nvSpPr>
        <p:spPr bwMode="auto">
          <a:xfrm>
            <a:off x="7782175" y="194488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矩形 30"/>
          <p:cNvSpPr/>
          <p:nvPr/>
        </p:nvSpPr>
        <p:spPr>
          <a:xfrm>
            <a:off x="227943" y="1689946"/>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32" name="Rectangle 5"/>
          <p:cNvSpPr>
            <a:spLocks noChangeArrowheads="1"/>
          </p:cNvSpPr>
          <p:nvPr/>
        </p:nvSpPr>
        <p:spPr bwMode="auto">
          <a:xfrm>
            <a:off x="988240" y="1648273"/>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34" name="Line 6"/>
          <p:cNvSpPr>
            <a:spLocks noChangeShapeType="1"/>
          </p:cNvSpPr>
          <p:nvPr/>
        </p:nvSpPr>
        <p:spPr bwMode="auto">
          <a:xfrm>
            <a:off x="1542010" y="166031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a:off x="4181556" y="1399420"/>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Rectangle 55"/>
          <p:cNvSpPr>
            <a:spLocks noChangeArrowheads="1"/>
          </p:cNvSpPr>
          <p:nvPr/>
        </p:nvSpPr>
        <p:spPr bwMode="auto">
          <a:xfrm>
            <a:off x="3844089" y="11023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36" name="Line 29"/>
          <p:cNvSpPr>
            <a:spLocks noChangeShapeType="1"/>
          </p:cNvSpPr>
          <p:nvPr/>
        </p:nvSpPr>
        <p:spPr bwMode="auto">
          <a:xfrm>
            <a:off x="2625886" y="1423767"/>
            <a:ext cx="70496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矩形 36"/>
          <p:cNvSpPr/>
          <p:nvPr/>
        </p:nvSpPr>
        <p:spPr>
          <a:xfrm>
            <a:off x="2719380" y="1747654"/>
            <a:ext cx="300082" cy="369332"/>
          </a:xfrm>
          <a:prstGeom prst="rect">
            <a:avLst/>
          </a:prstGeom>
        </p:spPr>
        <p:txBody>
          <a:bodyPr wrap="none">
            <a:spAutoFit/>
          </a:bodyPr>
          <a:lstStyle/>
          <a:p>
            <a:r>
              <a:rPr lang="zh-CN" altLang="en-US" dirty="0"/>
              <a:t>^</a:t>
            </a:r>
          </a:p>
        </p:txBody>
      </p:sp>
      <p:sp>
        <p:nvSpPr>
          <p:cNvPr id="39" name="Line 6"/>
          <p:cNvSpPr>
            <a:spLocks noChangeShapeType="1"/>
          </p:cNvSpPr>
          <p:nvPr/>
        </p:nvSpPr>
        <p:spPr bwMode="auto">
          <a:xfrm>
            <a:off x="4048989" y="1944881"/>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6"/>
          <p:cNvSpPr>
            <a:spLocks noChangeShapeType="1"/>
          </p:cNvSpPr>
          <p:nvPr/>
        </p:nvSpPr>
        <p:spPr bwMode="auto">
          <a:xfrm>
            <a:off x="2004301" y="2031983"/>
            <a:ext cx="0" cy="3446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6"/>
          <p:cNvSpPr>
            <a:spLocks noChangeShapeType="1"/>
          </p:cNvSpPr>
          <p:nvPr/>
        </p:nvSpPr>
        <p:spPr bwMode="auto">
          <a:xfrm>
            <a:off x="2004301" y="2376637"/>
            <a:ext cx="20446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9"/>
          <p:cNvSpPr>
            <a:spLocks noChangeShapeType="1"/>
          </p:cNvSpPr>
          <p:nvPr/>
        </p:nvSpPr>
        <p:spPr bwMode="auto">
          <a:xfrm>
            <a:off x="2007687" y="2031690"/>
            <a:ext cx="156210" cy="29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Line 6"/>
          <p:cNvSpPr>
            <a:spLocks noChangeShapeType="1"/>
          </p:cNvSpPr>
          <p:nvPr/>
        </p:nvSpPr>
        <p:spPr bwMode="auto">
          <a:xfrm>
            <a:off x="1750769" y="1499605"/>
            <a:ext cx="141580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6"/>
          <p:cNvSpPr>
            <a:spLocks noChangeShapeType="1"/>
          </p:cNvSpPr>
          <p:nvPr/>
        </p:nvSpPr>
        <p:spPr bwMode="auto">
          <a:xfrm>
            <a:off x="3166577" y="149138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6"/>
          <p:cNvSpPr>
            <a:spLocks noChangeShapeType="1"/>
          </p:cNvSpPr>
          <p:nvPr/>
        </p:nvSpPr>
        <p:spPr bwMode="auto">
          <a:xfrm>
            <a:off x="1750768" y="1504522"/>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29"/>
          <p:cNvSpPr>
            <a:spLocks noChangeShapeType="1"/>
          </p:cNvSpPr>
          <p:nvPr/>
        </p:nvSpPr>
        <p:spPr bwMode="auto">
          <a:xfrm>
            <a:off x="3168880" y="1912519"/>
            <a:ext cx="161971" cy="1061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Text Box 2"/>
          <p:cNvSpPr txBox="1">
            <a:spLocks noChangeArrowheads="1"/>
          </p:cNvSpPr>
          <p:nvPr/>
        </p:nvSpPr>
        <p:spPr bwMode="auto">
          <a:xfrm>
            <a:off x="862195" y="2558177"/>
            <a:ext cx="728087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dirty="0">
                <a:latin typeface="Times New Roman" pitchFamily="18" charset="0"/>
                <a:ea typeface="宋体" pitchFamily="2" charset="-122"/>
              </a:rPr>
              <a:t>void </a:t>
            </a:r>
            <a:r>
              <a:rPr lang="en-US" altLang="zh-CN" dirty="0" err="1">
                <a:latin typeface="Times New Roman" pitchFamily="18" charset="0"/>
                <a:ea typeface="宋体" pitchFamily="2" charset="-122"/>
              </a:rPr>
              <a:t>InvertLinkedList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&amp;L ) // </a:t>
            </a:r>
            <a:r>
              <a:rPr lang="zh-CN" altLang="zh-CN" dirty="0">
                <a:latin typeface="Times New Roman" pitchFamily="18" charset="0"/>
                <a:ea typeface="宋体" pitchFamily="2" charset="-122"/>
              </a:rPr>
              <a:t>逆置头指针</a:t>
            </a:r>
            <a:r>
              <a:rPr lang="en-US" altLang="zh-CN" dirty="0">
                <a:latin typeface="Times New Roman" pitchFamily="18" charset="0"/>
                <a:ea typeface="宋体" pitchFamily="2" charset="-122"/>
              </a:rPr>
              <a:t>L</a:t>
            </a:r>
            <a:r>
              <a:rPr lang="zh-CN" altLang="zh-CN" dirty="0">
                <a:latin typeface="Times New Roman" pitchFamily="18" charset="0"/>
                <a:ea typeface="宋体" pitchFamily="2" charset="-122"/>
              </a:rPr>
              <a:t>所指链表</a:t>
            </a: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s,p</a:t>
            </a:r>
            <a:r>
              <a:rPr lang="en-US" altLang="zh-CN" dirty="0">
                <a:latin typeface="Times New Roman" pitchFamily="18" charset="0"/>
                <a:ea typeface="宋体" pitchFamily="2" charset="-122"/>
              </a:rPr>
              <a:t> = L-&gt;next;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L-&gt;next = NULL;         // </a:t>
            </a:r>
            <a:r>
              <a:rPr lang="zh-CN" altLang="zh-CN" dirty="0">
                <a:latin typeface="Times New Roman" pitchFamily="18" charset="0"/>
                <a:ea typeface="宋体" pitchFamily="2" charset="-122"/>
              </a:rPr>
              <a:t>设逆置后的链表的初态为空表</a:t>
            </a:r>
          </a:p>
          <a:p>
            <a:r>
              <a:rPr lang="en-US" altLang="zh-CN" dirty="0">
                <a:latin typeface="Times New Roman" pitchFamily="18" charset="0"/>
                <a:ea typeface="宋体" pitchFamily="2" charset="-122"/>
              </a:rPr>
              <a:t>      while ( p ) {                //  p </a:t>
            </a:r>
            <a:r>
              <a:rPr lang="zh-CN" altLang="zh-CN" dirty="0">
                <a:latin typeface="Times New Roman" pitchFamily="18" charset="0"/>
                <a:ea typeface="宋体" pitchFamily="2" charset="-122"/>
              </a:rPr>
              <a:t>为待逆置链表的头指针</a:t>
            </a:r>
          </a:p>
          <a:p>
            <a:r>
              <a:rPr lang="en-US" altLang="zh-CN" dirty="0">
                <a:latin typeface="Times New Roman" pitchFamily="18" charset="0"/>
                <a:ea typeface="宋体" pitchFamily="2" charset="-122"/>
              </a:rPr>
              <a:t>        s = p;  p = p-&gt;next;    // </a:t>
            </a:r>
            <a:r>
              <a:rPr lang="zh-CN" altLang="zh-CN" dirty="0">
                <a:latin typeface="Times New Roman" pitchFamily="18" charset="0"/>
                <a:ea typeface="宋体" pitchFamily="2" charset="-122"/>
              </a:rPr>
              <a:t>从</a:t>
            </a:r>
            <a:r>
              <a:rPr lang="en-US" altLang="zh-CN" dirty="0">
                <a:latin typeface="Times New Roman" pitchFamily="18" charset="0"/>
                <a:ea typeface="宋体" pitchFamily="2" charset="-122"/>
              </a:rPr>
              <a:t> p </a:t>
            </a:r>
            <a:r>
              <a:rPr lang="zh-CN" altLang="zh-CN" dirty="0">
                <a:latin typeface="Times New Roman" pitchFamily="18" charset="0"/>
                <a:ea typeface="宋体" pitchFamily="2" charset="-122"/>
              </a:rPr>
              <a:t>所指链表中删除第一个结点</a:t>
            </a:r>
            <a:r>
              <a:rPr lang="en-US" altLang="zh-CN" dirty="0">
                <a:latin typeface="Times New Roman" pitchFamily="18" charset="0"/>
                <a:ea typeface="宋体" pitchFamily="2" charset="-122"/>
              </a:rPr>
              <a:t>(s </a:t>
            </a:r>
            <a:r>
              <a:rPr lang="zh-CN" altLang="zh-CN" dirty="0">
                <a:latin typeface="Times New Roman" pitchFamily="18" charset="0"/>
                <a:ea typeface="宋体" pitchFamily="2" charset="-122"/>
              </a:rPr>
              <a:t>结点</a:t>
            </a:r>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s-&gt;next = L-&gt;next;  L-&gt;next = s;  // </a:t>
            </a:r>
            <a:r>
              <a:rPr lang="zh-CN" altLang="zh-CN" dirty="0">
                <a:latin typeface="Times New Roman" pitchFamily="18" charset="0"/>
                <a:ea typeface="宋体" pitchFamily="2" charset="-122"/>
              </a:rPr>
              <a:t>将</a:t>
            </a:r>
            <a:r>
              <a:rPr lang="en-US" altLang="zh-CN" dirty="0">
                <a:latin typeface="Times New Roman" pitchFamily="18" charset="0"/>
                <a:ea typeface="宋体" pitchFamily="2" charset="-122"/>
              </a:rPr>
              <a:t> s </a:t>
            </a:r>
            <a:r>
              <a:rPr lang="zh-CN" altLang="zh-CN" dirty="0">
                <a:latin typeface="Times New Roman" pitchFamily="18" charset="0"/>
                <a:ea typeface="宋体" pitchFamily="2" charset="-122"/>
              </a:rPr>
              <a:t>结点插入到逆置表的表头</a:t>
            </a:r>
          </a:p>
          <a:p>
            <a:r>
              <a:rPr lang="en-US" altLang="zh-CN" dirty="0">
                <a:latin typeface="Times New Roman" pitchFamily="18" charset="0"/>
                <a:ea typeface="宋体" pitchFamily="2" charset="-122"/>
              </a:rPr>
              <a: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p:txBody>
      </p:sp>
      <p:sp>
        <p:nvSpPr>
          <p:cNvPr id="3" name="矩形 2">
            <a:extLst>
              <a:ext uri="{FF2B5EF4-FFF2-40B4-BE49-F238E27FC236}">
                <a16:creationId xmlns:a16="http://schemas.microsoft.com/office/drawing/2014/main" id="{7540A197-F6E5-8E0A-2336-9977699490DC}"/>
              </a:ext>
            </a:extLst>
          </p:cNvPr>
          <p:cNvSpPr/>
          <p:nvPr/>
        </p:nvSpPr>
        <p:spPr>
          <a:xfrm>
            <a:off x="395536" y="843558"/>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2.4.2 </a:t>
            </a:r>
            <a:r>
              <a:rPr lang="zh-CN" altLang="en-US" sz="2800" b="1" dirty="0">
                <a:solidFill>
                  <a:schemeClr val="bg1"/>
                </a:solidFill>
                <a:latin typeface="经典粗黑简" pitchFamily="49" charset="-122"/>
                <a:ea typeface="经典粗黑简" pitchFamily="49" charset="-122"/>
                <a:cs typeface="经典粗黑简" pitchFamily="49" charset="-122"/>
              </a:rPr>
              <a:t>单链表的逆置</a:t>
            </a:r>
          </a:p>
        </p:txBody>
      </p:sp>
      <p:sp>
        <p:nvSpPr>
          <p:cNvPr id="6" name="矩形 5">
            <a:extLst>
              <a:ext uri="{FF2B5EF4-FFF2-40B4-BE49-F238E27FC236}">
                <a16:creationId xmlns:a16="http://schemas.microsoft.com/office/drawing/2014/main" id="{95D726EC-9CD5-AC7D-A4CC-BE727716EFA6}"/>
              </a:ext>
            </a:extLst>
          </p:cNvPr>
          <p:cNvSpPr/>
          <p:nvPr/>
        </p:nvSpPr>
        <p:spPr>
          <a:xfrm>
            <a:off x="4839617" y="760504"/>
            <a:ext cx="4304383" cy="584775"/>
          </a:xfrm>
          <a:prstGeom prst="rect">
            <a:avLst/>
          </a:prstGeom>
        </p:spPr>
        <p:txBody>
          <a:bodyPr wrap="none">
            <a:spAutoFit/>
          </a:bodyPr>
          <a:lstStyle/>
          <a:p>
            <a:r>
              <a:rPr lang="en-US" altLang="zh-CN" sz="3200" b="1" dirty="0">
                <a:latin typeface="黑体" pitchFamily="49" charset="-122"/>
                <a:ea typeface="黑体" pitchFamily="49" charset="-122"/>
              </a:rPr>
              <a:t>——</a:t>
            </a:r>
            <a:r>
              <a:rPr lang="zh-CN" altLang="en-US" sz="3200" b="1" dirty="0">
                <a:latin typeface="黑体" pitchFamily="49" charset="-122"/>
                <a:ea typeface="黑体" pitchFamily="49" charset="-122"/>
              </a:rPr>
              <a:t>单链表的其他操作</a:t>
            </a:r>
          </a:p>
        </p:txBody>
      </p:sp>
      <p:cxnSp>
        <p:nvCxnSpPr>
          <p:cNvPr id="7" name="直接连接符 6">
            <a:extLst>
              <a:ext uri="{FF2B5EF4-FFF2-40B4-BE49-F238E27FC236}">
                <a16:creationId xmlns:a16="http://schemas.microsoft.com/office/drawing/2014/main" id="{E2C77BA4-C7BE-DD75-057E-C7D8FF36EE22}"/>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Rectangle 2">
            <a:extLst>
              <a:ext uri="{FF2B5EF4-FFF2-40B4-BE49-F238E27FC236}">
                <a16:creationId xmlns:a16="http://schemas.microsoft.com/office/drawing/2014/main" id="{70ADA94E-A3E7-1E32-0260-0A409342FF53}"/>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2.4 </a:t>
            </a:r>
            <a:r>
              <a:rPr lang="zh-CN" altLang="en-US" sz="3700" b="1" dirty="0">
                <a:latin typeface="黑体" pitchFamily="49" charset="-122"/>
                <a:ea typeface="黑体" pitchFamily="49" charset="-122"/>
                <a:cs typeface="+mn-cs"/>
              </a:rPr>
              <a:t>线性表的应用</a:t>
            </a:r>
          </a:p>
        </p:txBody>
      </p:sp>
      <p:sp>
        <p:nvSpPr>
          <p:cNvPr id="2" name="矩形 1">
            <a:extLst>
              <a:ext uri="{FF2B5EF4-FFF2-40B4-BE49-F238E27FC236}">
                <a16:creationId xmlns:a16="http://schemas.microsoft.com/office/drawing/2014/main" id="{457A595F-90E1-1C5A-9313-495F6FA21FF6}"/>
              </a:ext>
            </a:extLst>
          </p:cNvPr>
          <p:cNvSpPr/>
          <p:nvPr/>
        </p:nvSpPr>
        <p:spPr>
          <a:xfrm>
            <a:off x="2336943" y="1212084"/>
            <a:ext cx="351378" cy="523220"/>
          </a:xfrm>
          <a:prstGeom prst="rect">
            <a:avLst/>
          </a:prstGeom>
        </p:spPr>
        <p:txBody>
          <a:bodyPr wrap="none">
            <a:spAutoFit/>
          </a:bodyPr>
          <a:lstStyle/>
          <a:p>
            <a:pPr algn="r"/>
            <a:r>
              <a:rPr lang="en-US" altLang="zh-CN" sz="2800" dirty="0">
                <a:latin typeface="微软雅黑" pitchFamily="34" charset="-122"/>
                <a:ea typeface="微软雅黑" pitchFamily="34" charset="-122"/>
              </a:rPr>
              <a:t>s</a:t>
            </a:r>
          </a:p>
        </p:txBody>
      </p:sp>
    </p:spTree>
    <p:extLst>
      <p:ext uri="{BB962C8B-B14F-4D97-AF65-F5344CB8AC3E}">
        <p14:creationId xmlns:p14="http://schemas.microsoft.com/office/powerpoint/2010/main" val="3639233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5" grpId="0"/>
      <p:bldP spid="16" grpId="0" animBg="1"/>
      <p:bldP spid="17" grpId="0" animBg="1"/>
      <p:bldP spid="18" grpId="0" animBg="1"/>
      <p:bldP spid="20" grpId="0" animBg="1"/>
      <p:bldP spid="21" grpId="0" animBg="1"/>
      <p:bldP spid="22" grpId="0" animBg="1"/>
      <p:bldP spid="24" grpId="0" animBg="1"/>
      <p:bldP spid="25" grpId="0" animBg="1"/>
      <p:bldP spid="26" grpId="0" animBg="1"/>
      <p:bldP spid="27" grpId="0" animBg="1"/>
      <p:bldP spid="28" grpId="0" animBg="1"/>
      <p:bldP spid="29" grpId="0" animBg="1"/>
      <p:bldP spid="30" grpId="0" animBg="1"/>
      <p:bldP spid="31" grpId="0"/>
      <p:bldP spid="32" grpId="0" animBg="1"/>
      <p:bldP spid="34" grpId="0" animBg="1"/>
      <p:bldP spid="35" grpId="0" animBg="1"/>
      <p:bldP spid="64" grpId="0"/>
      <p:bldP spid="36" grpId="0" animBg="1"/>
      <p:bldP spid="39" grpId="0" animBg="1"/>
      <p:bldP spid="40" grpId="0" animBg="1"/>
      <p:bldP spid="41" grpId="0" animBg="1"/>
      <p:bldP spid="42" grpId="0" animBg="1"/>
      <p:bldP spid="43" grpId="0" animBg="1"/>
      <p:bldP spid="44" grpId="0" animBg="1"/>
      <p:bldP spid="45" grpId="0" animBg="1"/>
      <p:bldP spid="46" grpId="0" animBg="1"/>
      <p:bldP spid="2"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5"/>
          <p:cNvSpPr>
            <a:spLocks noChangeArrowheads="1"/>
          </p:cNvSpPr>
          <p:nvPr/>
        </p:nvSpPr>
        <p:spPr bwMode="auto">
          <a:xfrm>
            <a:off x="2149432" y="1648273"/>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2</a:t>
            </a:r>
            <a:r>
              <a:rPr lang="en-US" altLang="zh-CN" sz="3600" baseline="-25000" dirty="0"/>
              <a:t> </a:t>
            </a:r>
            <a:r>
              <a:rPr lang="en-US" altLang="zh-CN" sz="2400" dirty="0"/>
              <a:t>   </a:t>
            </a:r>
          </a:p>
        </p:txBody>
      </p:sp>
      <p:sp>
        <p:nvSpPr>
          <p:cNvPr id="13" name="Line 6"/>
          <p:cNvSpPr>
            <a:spLocks noChangeShapeType="1"/>
          </p:cNvSpPr>
          <p:nvPr/>
        </p:nvSpPr>
        <p:spPr bwMode="auto">
          <a:xfrm>
            <a:off x="2682832" y="1648273"/>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Rectangle 25"/>
          <p:cNvSpPr>
            <a:spLocks noChangeArrowheads="1"/>
          </p:cNvSpPr>
          <p:nvPr/>
        </p:nvSpPr>
        <p:spPr bwMode="auto">
          <a:xfrm>
            <a:off x="4313317" y="1722238"/>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5" name="Rectangle 36"/>
          <p:cNvSpPr>
            <a:spLocks noChangeArrowheads="1"/>
          </p:cNvSpPr>
          <p:nvPr/>
        </p:nvSpPr>
        <p:spPr bwMode="auto">
          <a:xfrm>
            <a:off x="7447466" y="1744240"/>
            <a:ext cx="412292" cy="477054"/>
          </a:xfrm>
          <a:prstGeom prst="rect">
            <a:avLst/>
          </a:prstGeom>
          <a:noFill/>
          <a:ln>
            <a:noFill/>
          </a:ln>
        </p:spPr>
        <p:txBody>
          <a:bodyPr wrap="none">
            <a:spAutoFit/>
          </a:bodyPr>
          <a:lstStyle/>
          <a:p>
            <a:pPr algn="r"/>
            <a:r>
              <a:rPr kumimoji="0" lang="en-US" altLang="zh-CN" sz="2500" b="1" dirty="0"/>
              <a:t>…</a:t>
            </a:r>
            <a:endParaRPr kumimoji="0" lang="zh-CN" altLang="en-US" sz="2500" b="1" dirty="0"/>
          </a:p>
        </p:txBody>
      </p:sp>
      <p:sp>
        <p:nvSpPr>
          <p:cNvPr id="16" name="Line 29"/>
          <p:cNvSpPr>
            <a:spLocks noChangeShapeType="1"/>
          </p:cNvSpPr>
          <p:nvPr/>
        </p:nvSpPr>
        <p:spPr bwMode="auto">
          <a:xfrm>
            <a:off x="596954" y="1899944"/>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Rectangle 5"/>
          <p:cNvSpPr>
            <a:spLocks noChangeArrowheads="1"/>
          </p:cNvSpPr>
          <p:nvPr/>
        </p:nvSpPr>
        <p:spPr bwMode="auto">
          <a:xfrm>
            <a:off x="3325089" y="1653648"/>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1</a:t>
            </a:r>
            <a:r>
              <a:rPr lang="en-US" altLang="zh-CN" sz="3600" baseline="-25000" dirty="0"/>
              <a:t> </a:t>
            </a:r>
            <a:r>
              <a:rPr lang="en-US" altLang="zh-CN" sz="2400" dirty="0"/>
              <a:t>   </a:t>
            </a:r>
          </a:p>
        </p:txBody>
      </p:sp>
      <p:sp>
        <p:nvSpPr>
          <p:cNvPr id="18" name="Line 6"/>
          <p:cNvSpPr>
            <a:spLocks noChangeShapeType="1"/>
          </p:cNvSpPr>
          <p:nvPr/>
        </p:nvSpPr>
        <p:spPr bwMode="auto">
          <a:xfrm>
            <a:off x="3858489" y="1653648"/>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Rectangle 5"/>
          <p:cNvSpPr>
            <a:spLocks noChangeArrowheads="1"/>
          </p:cNvSpPr>
          <p:nvPr/>
        </p:nvSpPr>
        <p:spPr bwMode="auto">
          <a:xfrm>
            <a:off x="4926600" y="1670275"/>
            <a:ext cx="116625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i-1</a:t>
            </a:r>
            <a:r>
              <a:rPr lang="en-US" altLang="zh-CN" sz="3200" baseline="-25000" dirty="0"/>
              <a:t> </a:t>
            </a:r>
            <a:r>
              <a:rPr lang="en-US" altLang="zh-CN" sz="3200" dirty="0"/>
              <a:t>  </a:t>
            </a:r>
            <a:r>
              <a:rPr lang="en-US" altLang="zh-CN" sz="2400" dirty="0"/>
              <a:t> </a:t>
            </a:r>
          </a:p>
        </p:txBody>
      </p:sp>
      <p:sp>
        <p:nvSpPr>
          <p:cNvPr id="21" name="Line 6"/>
          <p:cNvSpPr>
            <a:spLocks noChangeShapeType="1"/>
          </p:cNvSpPr>
          <p:nvPr/>
        </p:nvSpPr>
        <p:spPr bwMode="auto">
          <a:xfrm>
            <a:off x="5663173" y="1664900"/>
            <a:ext cx="0" cy="437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9"/>
          <p:cNvSpPr>
            <a:spLocks noChangeShapeType="1"/>
          </p:cNvSpPr>
          <p:nvPr/>
        </p:nvSpPr>
        <p:spPr bwMode="auto">
          <a:xfrm>
            <a:off x="4725608" y="1898602"/>
            <a:ext cx="200992" cy="26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Rectangle 5"/>
          <p:cNvSpPr>
            <a:spLocks noChangeArrowheads="1"/>
          </p:cNvSpPr>
          <p:nvPr/>
        </p:nvSpPr>
        <p:spPr bwMode="auto">
          <a:xfrm>
            <a:off x="6319359" y="1682104"/>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err="1">
                <a:latin typeface="微软雅黑" pitchFamily="34" charset="-122"/>
                <a:ea typeface="微软雅黑" pitchFamily="34" charset="-122"/>
              </a:rPr>
              <a:t>a</a:t>
            </a:r>
            <a:r>
              <a:rPr lang="en-US" altLang="zh-CN" sz="3200" baseline="-25000" dirty="0" err="1">
                <a:latin typeface="微软雅黑" pitchFamily="34" charset="-122"/>
                <a:ea typeface="微软雅黑" pitchFamily="34" charset="-122"/>
              </a:rPr>
              <a:t>i</a:t>
            </a:r>
            <a:r>
              <a:rPr lang="en-US" altLang="zh-CN" sz="3600" baseline="-25000" dirty="0"/>
              <a:t> </a:t>
            </a:r>
            <a:r>
              <a:rPr lang="en-US" altLang="zh-CN" sz="2400" dirty="0"/>
              <a:t>   </a:t>
            </a:r>
          </a:p>
        </p:txBody>
      </p:sp>
      <p:sp>
        <p:nvSpPr>
          <p:cNvPr id="25" name="Line 6"/>
          <p:cNvSpPr>
            <a:spLocks noChangeShapeType="1"/>
          </p:cNvSpPr>
          <p:nvPr/>
        </p:nvSpPr>
        <p:spPr bwMode="auto">
          <a:xfrm>
            <a:off x="6852759" y="1682104"/>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9"/>
          <p:cNvSpPr>
            <a:spLocks noChangeShapeType="1"/>
          </p:cNvSpPr>
          <p:nvPr/>
        </p:nvSpPr>
        <p:spPr bwMode="auto">
          <a:xfrm>
            <a:off x="5938359" y="1936277"/>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9"/>
          <p:cNvSpPr>
            <a:spLocks noChangeShapeType="1"/>
          </p:cNvSpPr>
          <p:nvPr/>
        </p:nvSpPr>
        <p:spPr bwMode="auto">
          <a:xfrm>
            <a:off x="7084067" y="1937177"/>
            <a:ext cx="298351" cy="53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Rectangle 5"/>
          <p:cNvSpPr>
            <a:spLocks noChangeArrowheads="1"/>
          </p:cNvSpPr>
          <p:nvPr/>
        </p:nvSpPr>
        <p:spPr bwMode="auto">
          <a:xfrm>
            <a:off x="8163175" y="1697240"/>
            <a:ext cx="914400" cy="431756"/>
          </a:xfrm>
          <a:prstGeom prst="rect">
            <a:avLst/>
          </a:prstGeom>
          <a:noFill/>
          <a:ln w="9525">
            <a:solidFill>
              <a:schemeClr val="tx1"/>
            </a:solidFill>
            <a:miter lim="800000"/>
            <a:headEnd/>
            <a:tailEnd/>
          </a:ln>
        </p:spPr>
        <p:txBody>
          <a:bodyPr wrap="none" anchor="ctr"/>
          <a:lstStyle/>
          <a:p>
            <a:pPr>
              <a:spcBef>
                <a:spcPct val="20000"/>
              </a:spcBef>
            </a:pPr>
            <a:r>
              <a:rPr lang="en-US" altLang="zh-CN" sz="3200" dirty="0">
                <a:latin typeface="微软雅黑" pitchFamily="34" charset="-122"/>
                <a:ea typeface="微软雅黑" pitchFamily="34" charset="-122"/>
              </a:rPr>
              <a:t>a</a:t>
            </a:r>
            <a:r>
              <a:rPr lang="en-US" altLang="zh-CN" sz="3200" baseline="-25000" dirty="0">
                <a:latin typeface="微软雅黑" pitchFamily="34" charset="-122"/>
                <a:ea typeface="微软雅黑" pitchFamily="34" charset="-122"/>
              </a:rPr>
              <a:t>n</a:t>
            </a:r>
            <a:r>
              <a:rPr lang="en-US" altLang="zh-CN" sz="3200" baseline="-25000" dirty="0"/>
              <a:t>  </a:t>
            </a:r>
            <a:r>
              <a:rPr lang="zh-CN" altLang="en-US" sz="2400" dirty="0"/>
              <a:t>^</a:t>
            </a:r>
            <a:r>
              <a:rPr lang="en-US" altLang="zh-CN" sz="2400" dirty="0"/>
              <a:t>  </a:t>
            </a:r>
          </a:p>
        </p:txBody>
      </p:sp>
      <p:sp>
        <p:nvSpPr>
          <p:cNvPr id="29" name="Line 6"/>
          <p:cNvSpPr>
            <a:spLocks noChangeShapeType="1"/>
          </p:cNvSpPr>
          <p:nvPr/>
        </p:nvSpPr>
        <p:spPr bwMode="auto">
          <a:xfrm>
            <a:off x="8722702" y="1697240"/>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9"/>
          <p:cNvSpPr>
            <a:spLocks noChangeShapeType="1"/>
          </p:cNvSpPr>
          <p:nvPr/>
        </p:nvSpPr>
        <p:spPr bwMode="auto">
          <a:xfrm>
            <a:off x="7782175" y="1944881"/>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矩形 30"/>
          <p:cNvSpPr/>
          <p:nvPr/>
        </p:nvSpPr>
        <p:spPr>
          <a:xfrm>
            <a:off x="227943" y="1689946"/>
            <a:ext cx="369011" cy="523220"/>
          </a:xfrm>
          <a:prstGeom prst="rect">
            <a:avLst/>
          </a:prstGeom>
        </p:spPr>
        <p:txBody>
          <a:bodyPr wrap="none">
            <a:spAutoFit/>
          </a:bodyPr>
          <a:lstStyle/>
          <a:p>
            <a:pPr algn="r"/>
            <a:r>
              <a:rPr lang="en-US" altLang="zh-CN" sz="2800" dirty="0">
                <a:latin typeface="微软雅黑" pitchFamily="34" charset="-122"/>
                <a:ea typeface="微软雅黑" pitchFamily="34" charset="-122"/>
              </a:rPr>
              <a:t>L</a:t>
            </a:r>
          </a:p>
        </p:txBody>
      </p:sp>
      <p:sp>
        <p:nvSpPr>
          <p:cNvPr id="32" name="Rectangle 5"/>
          <p:cNvSpPr>
            <a:spLocks noChangeArrowheads="1"/>
          </p:cNvSpPr>
          <p:nvPr/>
        </p:nvSpPr>
        <p:spPr bwMode="auto">
          <a:xfrm>
            <a:off x="988240" y="1648273"/>
            <a:ext cx="914400" cy="431756"/>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3600" baseline="-25000" dirty="0"/>
              <a:t> </a:t>
            </a:r>
            <a:r>
              <a:rPr lang="en-US" altLang="zh-CN" sz="2400" dirty="0"/>
              <a:t>   </a:t>
            </a:r>
          </a:p>
        </p:txBody>
      </p:sp>
      <p:sp>
        <p:nvSpPr>
          <p:cNvPr id="34" name="Line 6"/>
          <p:cNvSpPr>
            <a:spLocks noChangeShapeType="1"/>
          </p:cNvSpPr>
          <p:nvPr/>
        </p:nvSpPr>
        <p:spPr bwMode="auto">
          <a:xfrm>
            <a:off x="1542010" y="1660319"/>
            <a:ext cx="0" cy="4317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a:off x="4181556" y="1399420"/>
            <a:ext cx="32107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Rectangle 55"/>
          <p:cNvSpPr>
            <a:spLocks noChangeArrowheads="1"/>
          </p:cNvSpPr>
          <p:nvPr/>
        </p:nvSpPr>
        <p:spPr bwMode="auto">
          <a:xfrm>
            <a:off x="3844089" y="1102336"/>
            <a:ext cx="36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r"/>
            <a:r>
              <a:rPr lang="en-US" altLang="zh-CN" sz="2400" dirty="0">
                <a:latin typeface="微软雅黑" pitchFamily="34" charset="-122"/>
                <a:ea typeface="微软雅黑" pitchFamily="34" charset="-122"/>
              </a:rPr>
              <a:t>p</a:t>
            </a:r>
            <a:endParaRPr lang="zh-CN" altLang="en-US" sz="2400" dirty="0">
              <a:latin typeface="微软雅黑" pitchFamily="34" charset="-122"/>
              <a:ea typeface="微软雅黑" pitchFamily="34" charset="-122"/>
            </a:endParaRPr>
          </a:p>
        </p:txBody>
      </p:sp>
      <p:sp>
        <p:nvSpPr>
          <p:cNvPr id="36" name="Line 29"/>
          <p:cNvSpPr>
            <a:spLocks noChangeShapeType="1"/>
          </p:cNvSpPr>
          <p:nvPr/>
        </p:nvSpPr>
        <p:spPr bwMode="auto">
          <a:xfrm>
            <a:off x="1444468" y="1423767"/>
            <a:ext cx="704964" cy="2542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矩形 46"/>
          <p:cNvSpPr/>
          <p:nvPr/>
        </p:nvSpPr>
        <p:spPr>
          <a:xfrm>
            <a:off x="3905117" y="1762789"/>
            <a:ext cx="300082" cy="369332"/>
          </a:xfrm>
          <a:prstGeom prst="rect">
            <a:avLst/>
          </a:prstGeom>
        </p:spPr>
        <p:txBody>
          <a:bodyPr wrap="none">
            <a:spAutoFit/>
          </a:bodyPr>
          <a:lstStyle/>
          <a:p>
            <a:r>
              <a:rPr lang="zh-CN" altLang="en-US" dirty="0"/>
              <a:t>^</a:t>
            </a:r>
          </a:p>
        </p:txBody>
      </p:sp>
      <p:sp>
        <p:nvSpPr>
          <p:cNvPr id="48" name="Line 29"/>
          <p:cNvSpPr>
            <a:spLocks noChangeShapeType="1"/>
          </p:cNvSpPr>
          <p:nvPr/>
        </p:nvSpPr>
        <p:spPr bwMode="auto">
          <a:xfrm>
            <a:off x="1768432" y="190128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29"/>
          <p:cNvSpPr>
            <a:spLocks noChangeShapeType="1"/>
          </p:cNvSpPr>
          <p:nvPr/>
        </p:nvSpPr>
        <p:spPr bwMode="auto">
          <a:xfrm>
            <a:off x="2944089" y="1897982"/>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Text Box 2"/>
          <p:cNvSpPr txBox="1">
            <a:spLocks noChangeArrowheads="1"/>
          </p:cNvSpPr>
          <p:nvPr/>
        </p:nvSpPr>
        <p:spPr bwMode="auto">
          <a:xfrm>
            <a:off x="897237" y="2355726"/>
            <a:ext cx="728087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dirty="0">
                <a:latin typeface="Times New Roman" pitchFamily="18" charset="0"/>
                <a:ea typeface="宋体" pitchFamily="2" charset="-122"/>
              </a:rPr>
              <a:t>void </a:t>
            </a:r>
            <a:r>
              <a:rPr lang="en-US" altLang="zh-CN" dirty="0" err="1">
                <a:latin typeface="Times New Roman" pitchFamily="18" charset="0"/>
                <a:ea typeface="宋体" pitchFamily="2" charset="-122"/>
              </a:rPr>
              <a:t>InvertLinkedList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&amp;L ) // </a:t>
            </a:r>
            <a:r>
              <a:rPr lang="zh-CN" altLang="zh-CN" dirty="0">
                <a:latin typeface="Times New Roman" pitchFamily="18" charset="0"/>
                <a:ea typeface="宋体" pitchFamily="2" charset="-122"/>
              </a:rPr>
              <a:t>逆置头指针</a:t>
            </a:r>
            <a:r>
              <a:rPr lang="en-US" altLang="zh-CN" dirty="0">
                <a:latin typeface="Times New Roman" pitchFamily="18" charset="0"/>
                <a:ea typeface="宋体" pitchFamily="2" charset="-122"/>
              </a:rPr>
              <a:t>L</a:t>
            </a:r>
            <a:r>
              <a:rPr lang="zh-CN" altLang="zh-CN" dirty="0">
                <a:latin typeface="Times New Roman" pitchFamily="18" charset="0"/>
                <a:ea typeface="宋体" pitchFamily="2" charset="-122"/>
              </a:rPr>
              <a:t>所指链表</a:t>
            </a: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LinkList</a:t>
            </a:r>
            <a:r>
              <a:rPr lang="en-US" altLang="zh-CN" dirty="0">
                <a:latin typeface="Times New Roman" pitchFamily="18" charset="0"/>
                <a:ea typeface="宋体" pitchFamily="2" charset="-122"/>
              </a:rPr>
              <a:t> </a:t>
            </a:r>
            <a:r>
              <a:rPr lang="en-US" altLang="zh-CN" dirty="0" err="1">
                <a:latin typeface="Times New Roman" pitchFamily="18" charset="0"/>
                <a:ea typeface="宋体" pitchFamily="2" charset="-122"/>
              </a:rPr>
              <a:t>s,p</a:t>
            </a:r>
            <a:r>
              <a:rPr lang="en-US" altLang="zh-CN" dirty="0">
                <a:latin typeface="Times New Roman" pitchFamily="18" charset="0"/>
                <a:ea typeface="宋体" pitchFamily="2" charset="-122"/>
              </a:rPr>
              <a:t> = L-&gt;next;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L-&gt;next = NULL;         // </a:t>
            </a:r>
            <a:r>
              <a:rPr lang="zh-CN" altLang="zh-CN" dirty="0">
                <a:latin typeface="Times New Roman" pitchFamily="18" charset="0"/>
                <a:ea typeface="宋体" pitchFamily="2" charset="-122"/>
              </a:rPr>
              <a:t>设逆置后的链表的初态为空表</a:t>
            </a:r>
          </a:p>
          <a:p>
            <a:r>
              <a:rPr lang="en-US" altLang="zh-CN" dirty="0">
                <a:latin typeface="Times New Roman" pitchFamily="18" charset="0"/>
                <a:ea typeface="宋体" pitchFamily="2" charset="-122"/>
              </a:rPr>
              <a:t>      while ( p ) {                //  p </a:t>
            </a:r>
            <a:r>
              <a:rPr lang="zh-CN" altLang="zh-CN" dirty="0">
                <a:latin typeface="Times New Roman" pitchFamily="18" charset="0"/>
                <a:ea typeface="宋体" pitchFamily="2" charset="-122"/>
              </a:rPr>
              <a:t>为待逆置链表的头指针</a:t>
            </a:r>
          </a:p>
          <a:p>
            <a:r>
              <a:rPr lang="en-US" altLang="zh-CN" dirty="0">
                <a:latin typeface="Times New Roman" pitchFamily="18" charset="0"/>
                <a:ea typeface="宋体" pitchFamily="2" charset="-122"/>
              </a:rPr>
              <a:t>        s = p;  p = p-&gt;next;    // </a:t>
            </a:r>
            <a:r>
              <a:rPr lang="zh-CN" altLang="zh-CN" dirty="0">
                <a:latin typeface="Times New Roman" pitchFamily="18" charset="0"/>
                <a:ea typeface="宋体" pitchFamily="2" charset="-122"/>
              </a:rPr>
              <a:t>从</a:t>
            </a:r>
            <a:r>
              <a:rPr lang="en-US" altLang="zh-CN" dirty="0">
                <a:latin typeface="Times New Roman" pitchFamily="18" charset="0"/>
                <a:ea typeface="宋体" pitchFamily="2" charset="-122"/>
              </a:rPr>
              <a:t> p </a:t>
            </a:r>
            <a:r>
              <a:rPr lang="zh-CN" altLang="zh-CN" dirty="0">
                <a:latin typeface="Times New Roman" pitchFamily="18" charset="0"/>
                <a:ea typeface="宋体" pitchFamily="2" charset="-122"/>
              </a:rPr>
              <a:t>所指链表中删除第一个结点</a:t>
            </a:r>
            <a:r>
              <a:rPr lang="en-US" altLang="zh-CN" dirty="0">
                <a:latin typeface="Times New Roman" pitchFamily="18" charset="0"/>
                <a:ea typeface="宋体" pitchFamily="2" charset="-122"/>
              </a:rPr>
              <a:t>(s </a:t>
            </a:r>
            <a:r>
              <a:rPr lang="zh-CN" altLang="zh-CN" dirty="0">
                <a:latin typeface="Times New Roman" pitchFamily="18" charset="0"/>
                <a:ea typeface="宋体" pitchFamily="2" charset="-122"/>
              </a:rPr>
              <a:t>结点</a:t>
            </a:r>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        s-&gt;next = L-&gt;next;  L-&gt;next = s;  // </a:t>
            </a:r>
            <a:r>
              <a:rPr lang="zh-CN" altLang="zh-CN" dirty="0">
                <a:latin typeface="Times New Roman" pitchFamily="18" charset="0"/>
                <a:ea typeface="宋体" pitchFamily="2" charset="-122"/>
              </a:rPr>
              <a:t>将</a:t>
            </a:r>
            <a:r>
              <a:rPr lang="en-US" altLang="zh-CN" dirty="0">
                <a:latin typeface="Times New Roman" pitchFamily="18" charset="0"/>
                <a:ea typeface="宋体" pitchFamily="2" charset="-122"/>
              </a:rPr>
              <a:t> s </a:t>
            </a:r>
            <a:r>
              <a:rPr lang="zh-CN" altLang="zh-CN" dirty="0">
                <a:latin typeface="Times New Roman" pitchFamily="18" charset="0"/>
                <a:ea typeface="宋体" pitchFamily="2" charset="-122"/>
              </a:rPr>
              <a:t>结点插入到逆置表的表头</a:t>
            </a:r>
          </a:p>
          <a:p>
            <a:r>
              <a:rPr lang="en-US" altLang="zh-CN" dirty="0">
                <a:latin typeface="Times New Roman" pitchFamily="18" charset="0"/>
                <a:ea typeface="宋体" pitchFamily="2" charset="-122"/>
              </a:rPr>
              <a:t>      }</a:t>
            </a:r>
            <a:endParaRPr lang="zh-CN" altLang="zh-CN" dirty="0">
              <a:latin typeface="Times New Roman" pitchFamily="18" charset="0"/>
              <a:ea typeface="宋体" pitchFamily="2" charset="-122"/>
            </a:endParaRPr>
          </a:p>
          <a:p>
            <a:r>
              <a:rPr lang="en-US" altLang="zh-CN" dirty="0">
                <a:latin typeface="Times New Roman" pitchFamily="18" charset="0"/>
                <a:ea typeface="宋体" pitchFamily="2" charset="-122"/>
              </a:rPr>
              <a:t>}</a:t>
            </a:r>
            <a:endParaRPr lang="zh-CN" altLang="zh-CN" dirty="0">
              <a:latin typeface="Times New Roman" pitchFamily="18" charset="0"/>
              <a:ea typeface="宋体" pitchFamily="2" charset="-122"/>
            </a:endParaRPr>
          </a:p>
        </p:txBody>
      </p:sp>
      <p:sp>
        <p:nvSpPr>
          <p:cNvPr id="3" name="矩形 2">
            <a:extLst>
              <a:ext uri="{FF2B5EF4-FFF2-40B4-BE49-F238E27FC236}">
                <a16:creationId xmlns:a16="http://schemas.microsoft.com/office/drawing/2014/main" id="{84D0E2A1-FB19-F6E7-FBE9-CF51B92156EF}"/>
              </a:ext>
            </a:extLst>
          </p:cNvPr>
          <p:cNvSpPr/>
          <p:nvPr/>
        </p:nvSpPr>
        <p:spPr>
          <a:xfrm>
            <a:off x="395536" y="843558"/>
            <a:ext cx="352839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2.4.2 </a:t>
            </a:r>
            <a:r>
              <a:rPr lang="zh-CN" altLang="en-US" sz="2800" b="1" dirty="0">
                <a:solidFill>
                  <a:schemeClr val="bg1"/>
                </a:solidFill>
                <a:latin typeface="经典粗黑简" pitchFamily="49" charset="-122"/>
                <a:ea typeface="经典粗黑简" pitchFamily="49" charset="-122"/>
                <a:cs typeface="经典粗黑简" pitchFamily="49" charset="-122"/>
              </a:rPr>
              <a:t>单链表的逆置</a:t>
            </a:r>
          </a:p>
        </p:txBody>
      </p:sp>
      <p:sp>
        <p:nvSpPr>
          <p:cNvPr id="6" name="矩形 5">
            <a:extLst>
              <a:ext uri="{FF2B5EF4-FFF2-40B4-BE49-F238E27FC236}">
                <a16:creationId xmlns:a16="http://schemas.microsoft.com/office/drawing/2014/main" id="{A88D8C26-EEAE-9CB5-389A-0A60B7162C35}"/>
              </a:ext>
            </a:extLst>
          </p:cNvPr>
          <p:cNvSpPr/>
          <p:nvPr/>
        </p:nvSpPr>
        <p:spPr>
          <a:xfrm>
            <a:off x="4839617" y="760504"/>
            <a:ext cx="4304383" cy="584775"/>
          </a:xfrm>
          <a:prstGeom prst="rect">
            <a:avLst/>
          </a:prstGeom>
        </p:spPr>
        <p:txBody>
          <a:bodyPr wrap="none">
            <a:spAutoFit/>
          </a:bodyPr>
          <a:lstStyle/>
          <a:p>
            <a:r>
              <a:rPr lang="en-US" altLang="zh-CN" sz="3200" b="1" dirty="0">
                <a:latin typeface="黑体" pitchFamily="49" charset="-122"/>
                <a:ea typeface="黑体" pitchFamily="49" charset="-122"/>
              </a:rPr>
              <a:t>——</a:t>
            </a:r>
            <a:r>
              <a:rPr lang="zh-CN" altLang="en-US" sz="3200" b="1" dirty="0">
                <a:latin typeface="黑体" pitchFamily="49" charset="-122"/>
                <a:ea typeface="黑体" pitchFamily="49" charset="-122"/>
              </a:rPr>
              <a:t>单链表的其他操作</a:t>
            </a:r>
          </a:p>
        </p:txBody>
      </p:sp>
      <p:cxnSp>
        <p:nvCxnSpPr>
          <p:cNvPr id="7" name="直接连接符 6">
            <a:extLst>
              <a:ext uri="{FF2B5EF4-FFF2-40B4-BE49-F238E27FC236}">
                <a16:creationId xmlns:a16="http://schemas.microsoft.com/office/drawing/2014/main" id="{2F393607-2DEA-43D7-850D-68A0589861B6}"/>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Rectangle 2">
            <a:extLst>
              <a:ext uri="{FF2B5EF4-FFF2-40B4-BE49-F238E27FC236}">
                <a16:creationId xmlns:a16="http://schemas.microsoft.com/office/drawing/2014/main" id="{FE4FF22A-0B0B-141E-4711-EB70CE625FFE}"/>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2.4 </a:t>
            </a:r>
            <a:r>
              <a:rPr lang="zh-CN" altLang="en-US" sz="3700" b="1" dirty="0">
                <a:latin typeface="黑体" pitchFamily="49" charset="-122"/>
                <a:ea typeface="黑体" pitchFamily="49" charset="-122"/>
                <a:cs typeface="+mn-cs"/>
              </a:rPr>
              <a:t>线性表的应用</a:t>
            </a:r>
          </a:p>
        </p:txBody>
      </p:sp>
      <p:sp>
        <p:nvSpPr>
          <p:cNvPr id="2" name="矩形 1">
            <a:extLst>
              <a:ext uri="{FF2B5EF4-FFF2-40B4-BE49-F238E27FC236}">
                <a16:creationId xmlns:a16="http://schemas.microsoft.com/office/drawing/2014/main" id="{BDB39E3C-D8BD-7EE2-DCB6-FDC92EEBF3EE}"/>
              </a:ext>
            </a:extLst>
          </p:cNvPr>
          <p:cNvSpPr/>
          <p:nvPr/>
        </p:nvSpPr>
        <p:spPr>
          <a:xfrm>
            <a:off x="1121798" y="1174020"/>
            <a:ext cx="351378" cy="523220"/>
          </a:xfrm>
          <a:prstGeom prst="rect">
            <a:avLst/>
          </a:prstGeom>
        </p:spPr>
        <p:txBody>
          <a:bodyPr wrap="none">
            <a:spAutoFit/>
          </a:bodyPr>
          <a:lstStyle/>
          <a:p>
            <a:pPr algn="r"/>
            <a:r>
              <a:rPr lang="en-US" altLang="zh-CN" sz="2800" dirty="0">
                <a:latin typeface="微软雅黑" pitchFamily="34" charset="-122"/>
                <a:ea typeface="微软雅黑" pitchFamily="34" charset="-122"/>
              </a:rPr>
              <a:t>s</a:t>
            </a:r>
          </a:p>
        </p:txBody>
      </p:sp>
    </p:spTree>
    <p:extLst>
      <p:ext uri="{BB962C8B-B14F-4D97-AF65-F5344CB8AC3E}">
        <p14:creationId xmlns:p14="http://schemas.microsoft.com/office/powerpoint/2010/main" val="15801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5" grpId="0"/>
      <p:bldP spid="16" grpId="0" animBg="1"/>
      <p:bldP spid="17" grpId="0" animBg="1"/>
      <p:bldP spid="18" grpId="0" animBg="1"/>
      <p:bldP spid="20" grpId="0" animBg="1"/>
      <p:bldP spid="21" grpId="0" animBg="1"/>
      <p:bldP spid="22" grpId="0" animBg="1"/>
      <p:bldP spid="24" grpId="0" animBg="1"/>
      <p:bldP spid="25" grpId="0" animBg="1"/>
      <p:bldP spid="26" grpId="0" animBg="1"/>
      <p:bldP spid="27" grpId="0" animBg="1"/>
      <p:bldP spid="28" grpId="0" animBg="1"/>
      <p:bldP spid="29" grpId="0" animBg="1"/>
      <p:bldP spid="30" grpId="0" animBg="1"/>
      <p:bldP spid="31" grpId="0"/>
      <p:bldP spid="32" grpId="0" animBg="1"/>
      <p:bldP spid="34" grpId="0" animBg="1"/>
      <p:bldP spid="35" grpId="0" animBg="1"/>
      <p:bldP spid="64" grpId="0"/>
      <p:bldP spid="36" grpId="0" animBg="1"/>
      <p:bldP spid="48" grpId="0" animBg="1"/>
      <p:bldP spid="49" grpId="0" animBg="1"/>
      <p:bldP spid="2"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1262480" y="1397895"/>
            <a:ext cx="5000087"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两个有序单链表的合并(</a:t>
            </a:r>
            <a:r>
              <a:rPr lang="en-US" altLang="zh-CN" sz="2400" dirty="0" err="1">
                <a:latin typeface="微软雅黑" pitchFamily="34" charset="-122"/>
                <a:ea typeface="微软雅黑" pitchFamily="34" charset="-122"/>
                <a:cs typeface="经典粗黑简" pitchFamily="49" charset="-122"/>
              </a:rPr>
              <a:t>Lc</a:t>
            </a:r>
            <a:r>
              <a:rPr lang="en-US" altLang="zh-CN" sz="2400" dirty="0">
                <a:latin typeface="微软雅黑" pitchFamily="34" charset="-122"/>
                <a:ea typeface="微软雅黑" pitchFamily="34" charset="-122"/>
                <a:cs typeface="经典粗黑简" pitchFamily="49" charset="-122"/>
              </a:rPr>
              <a:t>=</a:t>
            </a:r>
            <a:r>
              <a:rPr lang="en-US" altLang="zh-CN" sz="2400" dirty="0" err="1">
                <a:latin typeface="微软雅黑" pitchFamily="34" charset="-122"/>
                <a:ea typeface="微软雅黑" pitchFamily="34" charset="-122"/>
                <a:cs typeface="经典粗黑简" pitchFamily="49" charset="-122"/>
              </a:rPr>
              <a:t>La∪Lb</a:t>
            </a:r>
            <a:r>
              <a:rPr lang="en-US" altLang="zh-CN" sz="2400" dirty="0">
                <a:latin typeface="微软雅黑" pitchFamily="34" charset="-122"/>
                <a:ea typeface="微软雅黑" pitchFamily="34" charset="-122"/>
                <a:cs typeface="经典粗黑简" pitchFamily="49" charset="-122"/>
              </a:rPr>
              <a:t>)</a:t>
            </a:r>
          </a:p>
        </p:txBody>
      </p:sp>
      <p:grpSp>
        <p:nvGrpSpPr>
          <p:cNvPr id="38" name="Group 147"/>
          <p:cNvGrpSpPr>
            <a:grpSpLocks/>
          </p:cNvGrpSpPr>
          <p:nvPr/>
        </p:nvGrpSpPr>
        <p:grpSpPr bwMode="auto">
          <a:xfrm>
            <a:off x="1315560" y="1858443"/>
            <a:ext cx="7010400" cy="342900"/>
            <a:chOff x="672" y="960"/>
            <a:chExt cx="4416" cy="288"/>
          </a:xfrm>
          <a:noFill/>
        </p:grpSpPr>
        <p:sp>
          <p:nvSpPr>
            <p:cNvPr id="39" name="Rectangle 21"/>
            <p:cNvSpPr>
              <a:spLocks noChangeArrowheads="1"/>
            </p:cNvSpPr>
            <p:nvPr/>
          </p:nvSpPr>
          <p:spPr bwMode="auto">
            <a:xfrm>
              <a:off x="672" y="975"/>
              <a:ext cx="336" cy="25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spcBef>
                  <a:spcPct val="20000"/>
                </a:spcBef>
                <a:buFont typeface="Wingdings" pitchFamily="2" charset="2"/>
                <a:buNone/>
              </a:pPr>
              <a:r>
                <a:rPr lang="en-US" altLang="zh-CN" sz="2000" dirty="0"/>
                <a:t>La</a:t>
              </a:r>
            </a:p>
          </p:txBody>
        </p:sp>
        <p:grpSp>
          <p:nvGrpSpPr>
            <p:cNvPr id="40" name="Group 121"/>
            <p:cNvGrpSpPr>
              <a:grpSpLocks/>
            </p:cNvGrpSpPr>
            <p:nvPr/>
          </p:nvGrpSpPr>
          <p:grpSpPr bwMode="auto">
            <a:xfrm>
              <a:off x="960" y="960"/>
              <a:ext cx="768" cy="288"/>
              <a:chOff x="960" y="960"/>
              <a:chExt cx="768" cy="288"/>
            </a:xfrm>
            <a:grpFill/>
          </p:grpSpPr>
          <p:sp>
            <p:nvSpPr>
              <p:cNvPr id="65" name="Rectangle 117"/>
              <p:cNvSpPr>
                <a:spLocks noChangeArrowheads="1"/>
              </p:cNvSpPr>
              <p:nvPr/>
            </p:nvSpPr>
            <p:spPr bwMode="auto">
              <a:xfrm>
                <a:off x="1200" y="960"/>
                <a:ext cx="336" cy="288"/>
              </a:xfrm>
              <a:prstGeom prst="rect">
                <a:avLst/>
              </a:prstGeom>
              <a:solidFill>
                <a:srgbClr val="92D050"/>
              </a:solidFill>
              <a:ln w="9525">
                <a:solidFill>
                  <a:schemeClr val="tx1"/>
                </a:solidFill>
                <a:miter lim="800000"/>
                <a:headEnd/>
                <a:tailEnd/>
              </a:ln>
            </p:spPr>
            <p:txBody>
              <a:bodyPr wrap="none" anchor="ctr"/>
              <a:lstStyle/>
              <a:p>
                <a:pPr algn="l">
                  <a:spcBef>
                    <a:spcPct val="20000"/>
                  </a:spcBef>
                </a:pPr>
                <a:r>
                  <a:rPr lang="en-US" altLang="zh-CN" sz="2400" dirty="0"/>
                  <a:t>   </a:t>
                </a:r>
                <a:r>
                  <a:rPr lang="en-US" altLang="zh-CN" sz="2400" baseline="-25000" dirty="0"/>
                  <a:t>  </a:t>
                </a:r>
                <a:r>
                  <a:rPr lang="en-US" altLang="zh-CN" sz="2400" dirty="0"/>
                  <a:t> </a:t>
                </a:r>
              </a:p>
            </p:txBody>
          </p:sp>
          <p:sp>
            <p:nvSpPr>
              <p:cNvPr id="66" name="Rectangle 119"/>
              <p:cNvSpPr>
                <a:spLocks noChangeArrowheads="1"/>
              </p:cNvSpPr>
              <p:nvPr/>
            </p:nvSpPr>
            <p:spPr bwMode="auto">
              <a:xfrm>
                <a:off x="1536" y="960"/>
                <a:ext cx="192"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   </a:t>
                </a:r>
                <a:r>
                  <a:rPr lang="en-US" altLang="zh-CN" sz="2400" baseline="-25000"/>
                  <a:t>  </a:t>
                </a:r>
                <a:r>
                  <a:rPr lang="en-US" altLang="zh-CN" sz="2400"/>
                  <a:t> </a:t>
                </a:r>
              </a:p>
            </p:txBody>
          </p:sp>
          <p:sp>
            <p:nvSpPr>
              <p:cNvPr id="67" name="Line 116"/>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grpSp>
        <p:grpSp>
          <p:nvGrpSpPr>
            <p:cNvPr id="41" name="Group 75"/>
            <p:cNvGrpSpPr>
              <a:grpSpLocks/>
            </p:cNvGrpSpPr>
            <p:nvPr/>
          </p:nvGrpSpPr>
          <p:grpSpPr bwMode="auto">
            <a:xfrm>
              <a:off x="1632" y="960"/>
              <a:ext cx="768" cy="288"/>
              <a:chOff x="960" y="960"/>
              <a:chExt cx="768" cy="288"/>
            </a:xfrm>
            <a:grpFill/>
          </p:grpSpPr>
          <p:sp>
            <p:nvSpPr>
              <p:cNvPr id="61" name="Line 14"/>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sp>
            <p:nvSpPr>
              <p:cNvPr id="62" name="Rectangle 69"/>
              <p:cNvSpPr>
                <a:spLocks noChangeArrowheads="1"/>
              </p:cNvSpPr>
              <p:nvPr/>
            </p:nvSpPr>
            <p:spPr bwMode="auto">
              <a:xfrm>
                <a:off x="1200" y="960"/>
                <a:ext cx="528"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  9</a:t>
                </a:r>
                <a:r>
                  <a:rPr lang="en-US" altLang="zh-CN" sz="2400" baseline="-25000"/>
                  <a:t>  </a:t>
                </a:r>
                <a:r>
                  <a:rPr lang="en-US" altLang="zh-CN" sz="2400"/>
                  <a:t> </a:t>
                </a:r>
              </a:p>
            </p:txBody>
          </p:sp>
          <p:sp>
            <p:nvSpPr>
              <p:cNvPr id="63" name="Line 70"/>
              <p:cNvSpPr>
                <a:spLocks noChangeShapeType="1"/>
              </p:cNvSpPr>
              <p:nvPr/>
            </p:nvSpPr>
            <p:spPr bwMode="auto">
              <a:xfrm>
                <a:off x="1536" y="960"/>
                <a:ext cx="0" cy="288"/>
              </a:xfrm>
              <a:prstGeom prst="line">
                <a:avLst/>
              </a:prstGeom>
              <a:grpFill/>
              <a:ln w="19050">
                <a:solidFill>
                  <a:schemeClr val="tx1"/>
                </a:solidFill>
                <a:round/>
                <a:headEnd/>
                <a:tailEnd/>
              </a:ln>
            </p:spPr>
            <p:txBody>
              <a:bodyPr/>
              <a:lstStyle/>
              <a:p>
                <a:endParaRPr lang="zh-CN" altLang="en-US"/>
              </a:p>
            </p:txBody>
          </p:sp>
        </p:grpSp>
        <p:grpSp>
          <p:nvGrpSpPr>
            <p:cNvPr id="42" name="Group 76"/>
            <p:cNvGrpSpPr>
              <a:grpSpLocks/>
            </p:cNvGrpSpPr>
            <p:nvPr/>
          </p:nvGrpSpPr>
          <p:grpSpPr bwMode="auto">
            <a:xfrm>
              <a:off x="2304" y="960"/>
              <a:ext cx="768" cy="288"/>
              <a:chOff x="960" y="960"/>
              <a:chExt cx="768" cy="288"/>
            </a:xfrm>
            <a:grpFill/>
          </p:grpSpPr>
          <p:sp>
            <p:nvSpPr>
              <p:cNvPr id="58" name="Line 77"/>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sp>
            <p:nvSpPr>
              <p:cNvPr id="59" name="Rectangle 78"/>
              <p:cNvSpPr>
                <a:spLocks noChangeArrowheads="1"/>
              </p:cNvSpPr>
              <p:nvPr/>
            </p:nvSpPr>
            <p:spPr bwMode="auto">
              <a:xfrm>
                <a:off x="1200" y="960"/>
                <a:ext cx="528"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14</a:t>
                </a:r>
                <a:r>
                  <a:rPr lang="en-US" altLang="zh-CN" sz="2400" baseline="-25000"/>
                  <a:t>   </a:t>
                </a:r>
                <a:r>
                  <a:rPr lang="en-US" altLang="zh-CN" sz="2400"/>
                  <a:t> </a:t>
                </a:r>
              </a:p>
            </p:txBody>
          </p:sp>
          <p:sp>
            <p:nvSpPr>
              <p:cNvPr id="60" name="Line 79"/>
              <p:cNvSpPr>
                <a:spLocks noChangeShapeType="1"/>
              </p:cNvSpPr>
              <p:nvPr/>
            </p:nvSpPr>
            <p:spPr bwMode="auto">
              <a:xfrm>
                <a:off x="1536" y="960"/>
                <a:ext cx="0" cy="288"/>
              </a:xfrm>
              <a:prstGeom prst="line">
                <a:avLst/>
              </a:prstGeom>
              <a:grpFill/>
              <a:ln w="19050">
                <a:solidFill>
                  <a:schemeClr val="tx1"/>
                </a:solidFill>
                <a:round/>
                <a:headEnd/>
                <a:tailEnd/>
              </a:ln>
            </p:spPr>
            <p:txBody>
              <a:bodyPr/>
              <a:lstStyle/>
              <a:p>
                <a:endParaRPr lang="zh-CN" altLang="en-US"/>
              </a:p>
            </p:txBody>
          </p:sp>
        </p:grpSp>
        <p:grpSp>
          <p:nvGrpSpPr>
            <p:cNvPr id="43" name="Group 80"/>
            <p:cNvGrpSpPr>
              <a:grpSpLocks/>
            </p:cNvGrpSpPr>
            <p:nvPr/>
          </p:nvGrpSpPr>
          <p:grpSpPr bwMode="auto">
            <a:xfrm>
              <a:off x="2976" y="960"/>
              <a:ext cx="768" cy="288"/>
              <a:chOff x="960" y="960"/>
              <a:chExt cx="768" cy="288"/>
            </a:xfrm>
            <a:grpFill/>
          </p:grpSpPr>
          <p:sp>
            <p:nvSpPr>
              <p:cNvPr id="55" name="Line 81"/>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sp>
            <p:nvSpPr>
              <p:cNvPr id="56" name="Rectangle 82"/>
              <p:cNvSpPr>
                <a:spLocks noChangeArrowheads="1"/>
              </p:cNvSpPr>
              <p:nvPr/>
            </p:nvSpPr>
            <p:spPr bwMode="auto">
              <a:xfrm>
                <a:off x="1200" y="960"/>
                <a:ext cx="528"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 15</a:t>
                </a:r>
                <a:r>
                  <a:rPr lang="en-US" altLang="zh-CN" sz="2400" baseline="-25000"/>
                  <a:t>   </a:t>
                </a:r>
                <a:r>
                  <a:rPr lang="en-US" altLang="zh-CN" sz="2400"/>
                  <a:t> </a:t>
                </a:r>
              </a:p>
            </p:txBody>
          </p:sp>
          <p:sp>
            <p:nvSpPr>
              <p:cNvPr id="57" name="Line 83"/>
              <p:cNvSpPr>
                <a:spLocks noChangeShapeType="1"/>
              </p:cNvSpPr>
              <p:nvPr/>
            </p:nvSpPr>
            <p:spPr bwMode="auto">
              <a:xfrm>
                <a:off x="1536" y="960"/>
                <a:ext cx="0" cy="288"/>
              </a:xfrm>
              <a:prstGeom prst="line">
                <a:avLst/>
              </a:prstGeom>
              <a:grpFill/>
              <a:ln w="19050">
                <a:solidFill>
                  <a:schemeClr val="tx1"/>
                </a:solidFill>
                <a:round/>
                <a:headEnd/>
                <a:tailEnd/>
              </a:ln>
            </p:spPr>
            <p:txBody>
              <a:bodyPr/>
              <a:lstStyle/>
              <a:p>
                <a:endParaRPr lang="zh-CN" altLang="en-US"/>
              </a:p>
            </p:txBody>
          </p:sp>
        </p:grpSp>
        <p:grpSp>
          <p:nvGrpSpPr>
            <p:cNvPr id="44" name="Group 84"/>
            <p:cNvGrpSpPr>
              <a:grpSpLocks/>
            </p:cNvGrpSpPr>
            <p:nvPr/>
          </p:nvGrpSpPr>
          <p:grpSpPr bwMode="auto">
            <a:xfrm>
              <a:off x="3648" y="960"/>
              <a:ext cx="768" cy="288"/>
              <a:chOff x="960" y="960"/>
              <a:chExt cx="768" cy="288"/>
            </a:xfrm>
            <a:grpFill/>
          </p:grpSpPr>
          <p:sp>
            <p:nvSpPr>
              <p:cNvPr id="52" name="Line 85"/>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sp>
            <p:nvSpPr>
              <p:cNvPr id="53" name="Rectangle 86"/>
              <p:cNvSpPr>
                <a:spLocks noChangeArrowheads="1"/>
              </p:cNvSpPr>
              <p:nvPr/>
            </p:nvSpPr>
            <p:spPr bwMode="auto">
              <a:xfrm>
                <a:off x="1200" y="960"/>
                <a:ext cx="528"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27</a:t>
                </a:r>
              </a:p>
            </p:txBody>
          </p:sp>
          <p:sp>
            <p:nvSpPr>
              <p:cNvPr id="54" name="Line 87"/>
              <p:cNvSpPr>
                <a:spLocks noChangeShapeType="1"/>
              </p:cNvSpPr>
              <p:nvPr/>
            </p:nvSpPr>
            <p:spPr bwMode="auto">
              <a:xfrm>
                <a:off x="1536" y="960"/>
                <a:ext cx="0" cy="288"/>
              </a:xfrm>
              <a:prstGeom prst="line">
                <a:avLst/>
              </a:prstGeom>
              <a:grpFill/>
              <a:ln w="19050">
                <a:solidFill>
                  <a:schemeClr val="tx1"/>
                </a:solidFill>
                <a:round/>
                <a:headEnd/>
                <a:tailEnd/>
              </a:ln>
            </p:spPr>
            <p:txBody>
              <a:bodyPr/>
              <a:lstStyle/>
              <a:p>
                <a:endParaRPr lang="zh-CN" altLang="en-US"/>
              </a:p>
            </p:txBody>
          </p:sp>
        </p:grpSp>
        <p:grpSp>
          <p:nvGrpSpPr>
            <p:cNvPr id="45" name="Group 88"/>
            <p:cNvGrpSpPr>
              <a:grpSpLocks/>
            </p:cNvGrpSpPr>
            <p:nvPr/>
          </p:nvGrpSpPr>
          <p:grpSpPr bwMode="auto">
            <a:xfrm>
              <a:off x="4320" y="960"/>
              <a:ext cx="768" cy="288"/>
              <a:chOff x="960" y="960"/>
              <a:chExt cx="768" cy="288"/>
            </a:xfrm>
            <a:grpFill/>
          </p:grpSpPr>
          <p:sp>
            <p:nvSpPr>
              <p:cNvPr id="46" name="Line 89"/>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sp>
            <p:nvSpPr>
              <p:cNvPr id="50" name="Rectangle 90"/>
              <p:cNvSpPr>
                <a:spLocks noChangeArrowheads="1"/>
              </p:cNvSpPr>
              <p:nvPr/>
            </p:nvSpPr>
            <p:spPr bwMode="auto">
              <a:xfrm>
                <a:off x="1200" y="960"/>
                <a:ext cx="528"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40   ^</a:t>
                </a:r>
              </a:p>
            </p:txBody>
          </p:sp>
          <p:sp>
            <p:nvSpPr>
              <p:cNvPr id="51" name="Line 91"/>
              <p:cNvSpPr>
                <a:spLocks noChangeShapeType="1"/>
              </p:cNvSpPr>
              <p:nvPr/>
            </p:nvSpPr>
            <p:spPr bwMode="auto">
              <a:xfrm>
                <a:off x="1536" y="960"/>
                <a:ext cx="0" cy="288"/>
              </a:xfrm>
              <a:prstGeom prst="line">
                <a:avLst/>
              </a:prstGeom>
              <a:grpFill/>
              <a:ln w="19050">
                <a:solidFill>
                  <a:schemeClr val="tx1"/>
                </a:solidFill>
                <a:round/>
                <a:headEnd/>
                <a:tailEnd/>
              </a:ln>
            </p:spPr>
            <p:txBody>
              <a:bodyPr/>
              <a:lstStyle/>
              <a:p>
                <a:endParaRPr lang="zh-CN" altLang="en-US"/>
              </a:p>
            </p:txBody>
          </p:sp>
        </p:grpSp>
      </p:grpSp>
      <p:grpSp>
        <p:nvGrpSpPr>
          <p:cNvPr id="68" name="Group 148"/>
          <p:cNvGrpSpPr>
            <a:grpSpLocks/>
          </p:cNvGrpSpPr>
          <p:nvPr/>
        </p:nvGrpSpPr>
        <p:grpSpPr bwMode="auto">
          <a:xfrm>
            <a:off x="1315560" y="2372793"/>
            <a:ext cx="4876800" cy="342900"/>
            <a:chOff x="672" y="1392"/>
            <a:chExt cx="3072" cy="288"/>
          </a:xfrm>
          <a:noFill/>
        </p:grpSpPr>
        <p:sp>
          <p:nvSpPr>
            <p:cNvPr id="69" name="Rectangle 122"/>
            <p:cNvSpPr>
              <a:spLocks noChangeArrowheads="1"/>
            </p:cNvSpPr>
            <p:nvPr/>
          </p:nvSpPr>
          <p:spPr bwMode="auto">
            <a:xfrm>
              <a:off x="672" y="1407"/>
              <a:ext cx="336" cy="25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spcBef>
                  <a:spcPct val="20000"/>
                </a:spcBef>
                <a:buFont typeface="Wingdings" pitchFamily="2" charset="2"/>
                <a:buNone/>
              </a:pPr>
              <a:r>
                <a:rPr lang="en-US" altLang="zh-CN" sz="2000"/>
                <a:t>Lb</a:t>
              </a:r>
            </a:p>
          </p:txBody>
        </p:sp>
        <p:grpSp>
          <p:nvGrpSpPr>
            <p:cNvPr id="70" name="Group 123"/>
            <p:cNvGrpSpPr>
              <a:grpSpLocks/>
            </p:cNvGrpSpPr>
            <p:nvPr/>
          </p:nvGrpSpPr>
          <p:grpSpPr bwMode="auto">
            <a:xfrm>
              <a:off x="960" y="1392"/>
              <a:ext cx="768" cy="288"/>
              <a:chOff x="960" y="960"/>
              <a:chExt cx="768" cy="288"/>
            </a:xfrm>
            <a:grpFill/>
          </p:grpSpPr>
          <p:sp>
            <p:nvSpPr>
              <p:cNvPr id="83" name="Rectangle 124"/>
              <p:cNvSpPr>
                <a:spLocks noChangeArrowheads="1"/>
              </p:cNvSpPr>
              <p:nvPr/>
            </p:nvSpPr>
            <p:spPr bwMode="auto">
              <a:xfrm>
                <a:off x="1200" y="960"/>
                <a:ext cx="336" cy="288"/>
              </a:xfrm>
              <a:prstGeom prst="rect">
                <a:avLst/>
              </a:prstGeom>
              <a:solidFill>
                <a:srgbClr val="92D050"/>
              </a:solidFill>
              <a:ln w="9525">
                <a:solidFill>
                  <a:schemeClr val="tx1"/>
                </a:solidFill>
                <a:miter lim="800000"/>
                <a:headEnd/>
                <a:tailEnd/>
              </a:ln>
            </p:spPr>
            <p:txBody>
              <a:bodyPr wrap="none" anchor="ctr"/>
              <a:lstStyle/>
              <a:p>
                <a:pPr algn="l">
                  <a:spcBef>
                    <a:spcPct val="20000"/>
                  </a:spcBef>
                </a:pPr>
                <a:r>
                  <a:rPr lang="en-US" altLang="zh-CN" sz="2400" dirty="0"/>
                  <a:t>   </a:t>
                </a:r>
                <a:r>
                  <a:rPr lang="en-US" altLang="zh-CN" sz="2400" baseline="-25000" dirty="0"/>
                  <a:t>  </a:t>
                </a:r>
                <a:r>
                  <a:rPr lang="en-US" altLang="zh-CN" sz="2400" dirty="0"/>
                  <a:t> </a:t>
                </a:r>
              </a:p>
            </p:txBody>
          </p:sp>
          <p:sp>
            <p:nvSpPr>
              <p:cNvPr id="84" name="Rectangle 125"/>
              <p:cNvSpPr>
                <a:spLocks noChangeArrowheads="1"/>
              </p:cNvSpPr>
              <p:nvPr/>
            </p:nvSpPr>
            <p:spPr bwMode="auto">
              <a:xfrm>
                <a:off x="1536" y="960"/>
                <a:ext cx="192"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   </a:t>
                </a:r>
                <a:r>
                  <a:rPr lang="en-US" altLang="zh-CN" sz="2400" baseline="-25000"/>
                  <a:t>  </a:t>
                </a:r>
                <a:r>
                  <a:rPr lang="en-US" altLang="zh-CN" sz="2400"/>
                  <a:t> </a:t>
                </a:r>
              </a:p>
            </p:txBody>
          </p:sp>
          <p:sp>
            <p:nvSpPr>
              <p:cNvPr id="85" name="Line 126"/>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grpSp>
        <p:grpSp>
          <p:nvGrpSpPr>
            <p:cNvPr id="71" name="Group 127"/>
            <p:cNvGrpSpPr>
              <a:grpSpLocks/>
            </p:cNvGrpSpPr>
            <p:nvPr/>
          </p:nvGrpSpPr>
          <p:grpSpPr bwMode="auto">
            <a:xfrm>
              <a:off x="1632" y="1392"/>
              <a:ext cx="768" cy="288"/>
              <a:chOff x="960" y="960"/>
              <a:chExt cx="768" cy="288"/>
            </a:xfrm>
            <a:grpFill/>
          </p:grpSpPr>
          <p:sp>
            <p:nvSpPr>
              <p:cNvPr id="80" name="Line 128"/>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sp>
            <p:nvSpPr>
              <p:cNvPr id="81" name="Rectangle 129"/>
              <p:cNvSpPr>
                <a:spLocks noChangeArrowheads="1"/>
              </p:cNvSpPr>
              <p:nvPr/>
            </p:nvSpPr>
            <p:spPr bwMode="auto">
              <a:xfrm>
                <a:off x="1200" y="960"/>
                <a:ext cx="528"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  7</a:t>
                </a:r>
                <a:r>
                  <a:rPr lang="en-US" altLang="zh-CN" sz="2400" baseline="-25000"/>
                  <a:t> </a:t>
                </a:r>
                <a:r>
                  <a:rPr lang="en-US" altLang="zh-CN" sz="2400"/>
                  <a:t> </a:t>
                </a:r>
              </a:p>
            </p:txBody>
          </p:sp>
          <p:sp>
            <p:nvSpPr>
              <p:cNvPr id="82" name="Line 130"/>
              <p:cNvSpPr>
                <a:spLocks noChangeShapeType="1"/>
              </p:cNvSpPr>
              <p:nvPr/>
            </p:nvSpPr>
            <p:spPr bwMode="auto">
              <a:xfrm>
                <a:off x="1536" y="960"/>
                <a:ext cx="0" cy="288"/>
              </a:xfrm>
              <a:prstGeom prst="line">
                <a:avLst/>
              </a:prstGeom>
              <a:grpFill/>
              <a:ln w="19050">
                <a:solidFill>
                  <a:schemeClr val="tx1"/>
                </a:solidFill>
                <a:round/>
                <a:headEnd/>
                <a:tailEnd/>
              </a:ln>
            </p:spPr>
            <p:txBody>
              <a:bodyPr/>
              <a:lstStyle/>
              <a:p>
                <a:endParaRPr lang="zh-CN" altLang="en-US"/>
              </a:p>
            </p:txBody>
          </p:sp>
        </p:grpSp>
        <p:grpSp>
          <p:nvGrpSpPr>
            <p:cNvPr id="72" name="Group 131"/>
            <p:cNvGrpSpPr>
              <a:grpSpLocks/>
            </p:cNvGrpSpPr>
            <p:nvPr/>
          </p:nvGrpSpPr>
          <p:grpSpPr bwMode="auto">
            <a:xfrm>
              <a:off x="2304" y="1392"/>
              <a:ext cx="768" cy="288"/>
              <a:chOff x="960" y="960"/>
              <a:chExt cx="768" cy="288"/>
            </a:xfrm>
            <a:grpFill/>
          </p:grpSpPr>
          <p:sp>
            <p:nvSpPr>
              <p:cNvPr id="77" name="Line 132"/>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sp>
            <p:nvSpPr>
              <p:cNvPr id="78" name="Rectangle 133"/>
              <p:cNvSpPr>
                <a:spLocks noChangeArrowheads="1"/>
              </p:cNvSpPr>
              <p:nvPr/>
            </p:nvSpPr>
            <p:spPr bwMode="auto">
              <a:xfrm>
                <a:off x="1200" y="960"/>
                <a:ext cx="528"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14</a:t>
                </a:r>
                <a:r>
                  <a:rPr lang="en-US" altLang="zh-CN" sz="2400" baseline="-25000"/>
                  <a:t>   </a:t>
                </a:r>
                <a:r>
                  <a:rPr lang="en-US" altLang="zh-CN" sz="2400"/>
                  <a:t> </a:t>
                </a:r>
              </a:p>
            </p:txBody>
          </p:sp>
          <p:sp>
            <p:nvSpPr>
              <p:cNvPr id="79" name="Line 134"/>
              <p:cNvSpPr>
                <a:spLocks noChangeShapeType="1"/>
              </p:cNvSpPr>
              <p:nvPr/>
            </p:nvSpPr>
            <p:spPr bwMode="auto">
              <a:xfrm>
                <a:off x="1536" y="960"/>
                <a:ext cx="0" cy="288"/>
              </a:xfrm>
              <a:prstGeom prst="line">
                <a:avLst/>
              </a:prstGeom>
              <a:grpFill/>
              <a:ln w="19050">
                <a:solidFill>
                  <a:schemeClr val="tx1"/>
                </a:solidFill>
                <a:round/>
                <a:headEnd/>
                <a:tailEnd/>
              </a:ln>
            </p:spPr>
            <p:txBody>
              <a:bodyPr/>
              <a:lstStyle/>
              <a:p>
                <a:endParaRPr lang="zh-CN" altLang="en-US"/>
              </a:p>
            </p:txBody>
          </p:sp>
        </p:grpSp>
        <p:grpSp>
          <p:nvGrpSpPr>
            <p:cNvPr id="73" name="Group 135"/>
            <p:cNvGrpSpPr>
              <a:grpSpLocks/>
            </p:cNvGrpSpPr>
            <p:nvPr/>
          </p:nvGrpSpPr>
          <p:grpSpPr bwMode="auto">
            <a:xfrm>
              <a:off x="2976" y="1392"/>
              <a:ext cx="768" cy="288"/>
              <a:chOff x="960" y="960"/>
              <a:chExt cx="768" cy="288"/>
            </a:xfrm>
            <a:grpFill/>
          </p:grpSpPr>
          <p:sp>
            <p:nvSpPr>
              <p:cNvPr id="74" name="Line 136"/>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sp>
            <p:nvSpPr>
              <p:cNvPr id="75" name="Rectangle 137"/>
              <p:cNvSpPr>
                <a:spLocks noChangeArrowheads="1"/>
              </p:cNvSpPr>
              <p:nvPr/>
            </p:nvSpPr>
            <p:spPr bwMode="auto">
              <a:xfrm>
                <a:off x="1200" y="960"/>
                <a:ext cx="528"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 20 </a:t>
                </a:r>
                <a:r>
                  <a:rPr lang="en-US" altLang="zh-CN" sz="2400" baseline="-25000"/>
                  <a:t> </a:t>
                </a:r>
                <a:r>
                  <a:rPr lang="en-US" altLang="zh-CN" sz="2400"/>
                  <a:t>^ </a:t>
                </a:r>
              </a:p>
            </p:txBody>
          </p:sp>
          <p:sp>
            <p:nvSpPr>
              <p:cNvPr id="76" name="Line 138"/>
              <p:cNvSpPr>
                <a:spLocks noChangeShapeType="1"/>
              </p:cNvSpPr>
              <p:nvPr/>
            </p:nvSpPr>
            <p:spPr bwMode="auto">
              <a:xfrm>
                <a:off x="1536" y="960"/>
                <a:ext cx="0" cy="288"/>
              </a:xfrm>
              <a:prstGeom prst="line">
                <a:avLst/>
              </a:prstGeom>
              <a:grpFill/>
              <a:ln w="19050">
                <a:solidFill>
                  <a:schemeClr val="tx1"/>
                </a:solidFill>
                <a:round/>
                <a:headEnd/>
                <a:tailEnd/>
              </a:ln>
            </p:spPr>
            <p:txBody>
              <a:bodyPr/>
              <a:lstStyle/>
              <a:p>
                <a:endParaRPr lang="zh-CN" altLang="en-US"/>
              </a:p>
            </p:txBody>
          </p:sp>
        </p:grpSp>
      </p:grpSp>
      <p:sp>
        <p:nvSpPr>
          <p:cNvPr id="86" name="AutoShape 67"/>
          <p:cNvSpPr>
            <a:spLocks noChangeArrowheads="1"/>
          </p:cNvSpPr>
          <p:nvPr/>
        </p:nvSpPr>
        <p:spPr bwMode="auto">
          <a:xfrm>
            <a:off x="4726059" y="2769581"/>
            <a:ext cx="381000" cy="228600"/>
          </a:xfrm>
          <a:prstGeom prst="downArrow">
            <a:avLst>
              <a:gd name="adj1" fmla="val 50000"/>
              <a:gd name="adj2" fmla="val 25000"/>
            </a:avLst>
          </a:prstGeom>
          <a:noFill/>
          <a:ln w="9525">
            <a:solidFill>
              <a:schemeClr val="tx1"/>
            </a:solidFill>
            <a:miter lim="800000"/>
            <a:headEnd/>
            <a:tailEnd/>
          </a:ln>
        </p:spPr>
        <p:txBody>
          <a:bodyPr wrap="none" anchor="ctr"/>
          <a:lstStyle/>
          <a:p>
            <a:endParaRPr lang="zh-CN" altLang="en-US"/>
          </a:p>
        </p:txBody>
      </p:sp>
      <p:grpSp>
        <p:nvGrpSpPr>
          <p:cNvPr id="87" name="Group 206"/>
          <p:cNvGrpSpPr>
            <a:grpSpLocks/>
          </p:cNvGrpSpPr>
          <p:nvPr/>
        </p:nvGrpSpPr>
        <p:grpSpPr bwMode="auto">
          <a:xfrm>
            <a:off x="1297059" y="3029204"/>
            <a:ext cx="7010400" cy="914400"/>
            <a:chOff x="672" y="2304"/>
            <a:chExt cx="4416" cy="768"/>
          </a:xfrm>
          <a:noFill/>
        </p:grpSpPr>
        <p:grpSp>
          <p:nvGrpSpPr>
            <p:cNvPr id="88" name="Group 149"/>
            <p:cNvGrpSpPr>
              <a:grpSpLocks/>
            </p:cNvGrpSpPr>
            <p:nvPr/>
          </p:nvGrpSpPr>
          <p:grpSpPr bwMode="auto">
            <a:xfrm>
              <a:off x="672" y="2304"/>
              <a:ext cx="4416" cy="288"/>
              <a:chOff x="672" y="960"/>
              <a:chExt cx="4416" cy="288"/>
            </a:xfrm>
            <a:grpFill/>
          </p:grpSpPr>
          <p:sp>
            <p:nvSpPr>
              <p:cNvPr id="102" name="Rectangle 150"/>
              <p:cNvSpPr>
                <a:spLocks noChangeArrowheads="1"/>
              </p:cNvSpPr>
              <p:nvPr/>
            </p:nvSpPr>
            <p:spPr bwMode="auto">
              <a:xfrm>
                <a:off x="672" y="975"/>
                <a:ext cx="336" cy="25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spcBef>
                    <a:spcPct val="20000"/>
                  </a:spcBef>
                  <a:buFont typeface="Wingdings" pitchFamily="2" charset="2"/>
                  <a:buNone/>
                </a:pPr>
                <a:r>
                  <a:rPr lang="en-US" altLang="zh-CN" sz="2000"/>
                  <a:t>Lc</a:t>
                </a:r>
              </a:p>
            </p:txBody>
          </p:sp>
          <p:grpSp>
            <p:nvGrpSpPr>
              <p:cNvPr id="103" name="Group 151"/>
              <p:cNvGrpSpPr>
                <a:grpSpLocks/>
              </p:cNvGrpSpPr>
              <p:nvPr/>
            </p:nvGrpSpPr>
            <p:grpSpPr bwMode="auto">
              <a:xfrm>
                <a:off x="960" y="960"/>
                <a:ext cx="768" cy="288"/>
                <a:chOff x="960" y="960"/>
                <a:chExt cx="768" cy="288"/>
              </a:xfrm>
              <a:grpFill/>
            </p:grpSpPr>
            <p:sp>
              <p:nvSpPr>
                <p:cNvPr id="124" name="Rectangle 152"/>
                <p:cNvSpPr>
                  <a:spLocks noChangeArrowheads="1"/>
                </p:cNvSpPr>
                <p:nvPr/>
              </p:nvSpPr>
              <p:spPr bwMode="auto">
                <a:xfrm>
                  <a:off x="1200" y="960"/>
                  <a:ext cx="336" cy="288"/>
                </a:xfrm>
                <a:prstGeom prst="rect">
                  <a:avLst/>
                </a:prstGeom>
                <a:solidFill>
                  <a:srgbClr val="92D050"/>
                </a:solidFill>
                <a:ln w="9525">
                  <a:solidFill>
                    <a:schemeClr val="tx1"/>
                  </a:solidFill>
                  <a:miter lim="800000"/>
                  <a:headEnd/>
                  <a:tailEnd/>
                </a:ln>
              </p:spPr>
              <p:txBody>
                <a:bodyPr wrap="none" anchor="ctr"/>
                <a:lstStyle/>
                <a:p>
                  <a:pPr algn="l">
                    <a:spcBef>
                      <a:spcPct val="20000"/>
                    </a:spcBef>
                  </a:pPr>
                  <a:r>
                    <a:rPr lang="en-US" altLang="zh-CN" sz="2400" dirty="0"/>
                    <a:t>   </a:t>
                  </a:r>
                  <a:r>
                    <a:rPr lang="en-US" altLang="zh-CN" sz="2400" baseline="-25000" dirty="0"/>
                    <a:t>  </a:t>
                  </a:r>
                  <a:r>
                    <a:rPr lang="en-US" altLang="zh-CN" sz="2400" dirty="0"/>
                    <a:t> </a:t>
                  </a:r>
                </a:p>
              </p:txBody>
            </p:sp>
            <p:sp>
              <p:nvSpPr>
                <p:cNvPr id="125" name="Rectangle 153"/>
                <p:cNvSpPr>
                  <a:spLocks noChangeArrowheads="1"/>
                </p:cNvSpPr>
                <p:nvPr/>
              </p:nvSpPr>
              <p:spPr bwMode="auto">
                <a:xfrm>
                  <a:off x="1536" y="960"/>
                  <a:ext cx="192"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   </a:t>
                  </a:r>
                  <a:r>
                    <a:rPr lang="en-US" altLang="zh-CN" sz="2400" baseline="-25000"/>
                    <a:t>  </a:t>
                  </a:r>
                  <a:r>
                    <a:rPr lang="en-US" altLang="zh-CN" sz="2400"/>
                    <a:t> </a:t>
                  </a:r>
                </a:p>
              </p:txBody>
            </p:sp>
            <p:sp>
              <p:nvSpPr>
                <p:cNvPr id="126" name="Line 154"/>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grpSp>
          <p:grpSp>
            <p:nvGrpSpPr>
              <p:cNvPr id="104" name="Group 155"/>
              <p:cNvGrpSpPr>
                <a:grpSpLocks/>
              </p:cNvGrpSpPr>
              <p:nvPr/>
            </p:nvGrpSpPr>
            <p:grpSpPr bwMode="auto">
              <a:xfrm>
                <a:off x="1632" y="960"/>
                <a:ext cx="768" cy="288"/>
                <a:chOff x="960" y="960"/>
                <a:chExt cx="768" cy="288"/>
              </a:xfrm>
              <a:grpFill/>
            </p:grpSpPr>
            <p:sp>
              <p:nvSpPr>
                <p:cNvPr id="121" name="Line 156"/>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sp>
              <p:nvSpPr>
                <p:cNvPr id="122" name="Rectangle 157"/>
                <p:cNvSpPr>
                  <a:spLocks noChangeArrowheads="1"/>
                </p:cNvSpPr>
                <p:nvPr/>
              </p:nvSpPr>
              <p:spPr bwMode="auto">
                <a:xfrm>
                  <a:off x="1200" y="960"/>
                  <a:ext cx="528"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  7</a:t>
                  </a:r>
                  <a:r>
                    <a:rPr lang="en-US" altLang="zh-CN" sz="2400" baseline="-25000"/>
                    <a:t>  </a:t>
                  </a:r>
                  <a:r>
                    <a:rPr lang="en-US" altLang="zh-CN" sz="2400"/>
                    <a:t> </a:t>
                  </a:r>
                </a:p>
              </p:txBody>
            </p:sp>
            <p:sp>
              <p:nvSpPr>
                <p:cNvPr id="123" name="Line 158"/>
                <p:cNvSpPr>
                  <a:spLocks noChangeShapeType="1"/>
                </p:cNvSpPr>
                <p:nvPr/>
              </p:nvSpPr>
              <p:spPr bwMode="auto">
                <a:xfrm>
                  <a:off x="1536" y="960"/>
                  <a:ext cx="0" cy="288"/>
                </a:xfrm>
                <a:prstGeom prst="line">
                  <a:avLst/>
                </a:prstGeom>
                <a:grpFill/>
                <a:ln w="19050">
                  <a:solidFill>
                    <a:schemeClr val="tx1"/>
                  </a:solidFill>
                  <a:round/>
                  <a:headEnd/>
                  <a:tailEnd/>
                </a:ln>
              </p:spPr>
              <p:txBody>
                <a:bodyPr/>
                <a:lstStyle/>
                <a:p>
                  <a:endParaRPr lang="zh-CN" altLang="en-US"/>
                </a:p>
              </p:txBody>
            </p:sp>
          </p:grpSp>
          <p:grpSp>
            <p:nvGrpSpPr>
              <p:cNvPr id="105" name="Group 159"/>
              <p:cNvGrpSpPr>
                <a:grpSpLocks/>
              </p:cNvGrpSpPr>
              <p:nvPr/>
            </p:nvGrpSpPr>
            <p:grpSpPr bwMode="auto">
              <a:xfrm>
                <a:off x="2304" y="960"/>
                <a:ext cx="768" cy="288"/>
                <a:chOff x="960" y="960"/>
                <a:chExt cx="768" cy="288"/>
              </a:xfrm>
              <a:grpFill/>
            </p:grpSpPr>
            <p:sp>
              <p:nvSpPr>
                <p:cNvPr id="118" name="Line 160"/>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sp>
              <p:nvSpPr>
                <p:cNvPr id="119" name="Rectangle 161"/>
                <p:cNvSpPr>
                  <a:spLocks noChangeArrowheads="1"/>
                </p:cNvSpPr>
                <p:nvPr/>
              </p:nvSpPr>
              <p:spPr bwMode="auto">
                <a:xfrm>
                  <a:off x="1200" y="960"/>
                  <a:ext cx="528"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  9</a:t>
                  </a:r>
                  <a:r>
                    <a:rPr lang="en-US" altLang="zh-CN" sz="2400" baseline="-25000"/>
                    <a:t>   </a:t>
                  </a:r>
                  <a:r>
                    <a:rPr lang="en-US" altLang="zh-CN" sz="2400"/>
                    <a:t> </a:t>
                  </a:r>
                </a:p>
              </p:txBody>
            </p:sp>
            <p:sp>
              <p:nvSpPr>
                <p:cNvPr id="120" name="Line 162"/>
                <p:cNvSpPr>
                  <a:spLocks noChangeShapeType="1"/>
                </p:cNvSpPr>
                <p:nvPr/>
              </p:nvSpPr>
              <p:spPr bwMode="auto">
                <a:xfrm>
                  <a:off x="1536" y="960"/>
                  <a:ext cx="0" cy="288"/>
                </a:xfrm>
                <a:prstGeom prst="line">
                  <a:avLst/>
                </a:prstGeom>
                <a:grpFill/>
                <a:ln w="19050">
                  <a:solidFill>
                    <a:schemeClr val="tx1"/>
                  </a:solidFill>
                  <a:round/>
                  <a:headEnd/>
                  <a:tailEnd/>
                </a:ln>
              </p:spPr>
              <p:txBody>
                <a:bodyPr/>
                <a:lstStyle/>
                <a:p>
                  <a:endParaRPr lang="zh-CN" altLang="en-US"/>
                </a:p>
              </p:txBody>
            </p:sp>
          </p:grpSp>
          <p:grpSp>
            <p:nvGrpSpPr>
              <p:cNvPr id="106" name="Group 163"/>
              <p:cNvGrpSpPr>
                <a:grpSpLocks/>
              </p:cNvGrpSpPr>
              <p:nvPr/>
            </p:nvGrpSpPr>
            <p:grpSpPr bwMode="auto">
              <a:xfrm>
                <a:off x="2976" y="960"/>
                <a:ext cx="768" cy="288"/>
                <a:chOff x="960" y="960"/>
                <a:chExt cx="768" cy="288"/>
              </a:xfrm>
              <a:grpFill/>
            </p:grpSpPr>
            <p:sp>
              <p:nvSpPr>
                <p:cNvPr id="115" name="Line 164"/>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sp>
              <p:nvSpPr>
                <p:cNvPr id="116" name="Rectangle 165"/>
                <p:cNvSpPr>
                  <a:spLocks noChangeArrowheads="1"/>
                </p:cNvSpPr>
                <p:nvPr/>
              </p:nvSpPr>
              <p:spPr bwMode="auto">
                <a:xfrm>
                  <a:off x="1200" y="960"/>
                  <a:ext cx="528"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 14</a:t>
                  </a:r>
                  <a:r>
                    <a:rPr lang="en-US" altLang="zh-CN" sz="2400" baseline="-25000"/>
                    <a:t>   </a:t>
                  </a:r>
                  <a:r>
                    <a:rPr lang="en-US" altLang="zh-CN" sz="2400"/>
                    <a:t> </a:t>
                  </a:r>
                </a:p>
              </p:txBody>
            </p:sp>
            <p:sp>
              <p:nvSpPr>
                <p:cNvPr id="117" name="Line 166"/>
                <p:cNvSpPr>
                  <a:spLocks noChangeShapeType="1"/>
                </p:cNvSpPr>
                <p:nvPr/>
              </p:nvSpPr>
              <p:spPr bwMode="auto">
                <a:xfrm>
                  <a:off x="1536" y="960"/>
                  <a:ext cx="0" cy="288"/>
                </a:xfrm>
                <a:prstGeom prst="line">
                  <a:avLst/>
                </a:prstGeom>
                <a:grpFill/>
                <a:ln w="19050">
                  <a:solidFill>
                    <a:schemeClr val="tx1"/>
                  </a:solidFill>
                  <a:round/>
                  <a:headEnd/>
                  <a:tailEnd/>
                </a:ln>
              </p:spPr>
              <p:txBody>
                <a:bodyPr/>
                <a:lstStyle/>
                <a:p>
                  <a:endParaRPr lang="zh-CN" altLang="en-US"/>
                </a:p>
              </p:txBody>
            </p:sp>
          </p:grpSp>
          <p:grpSp>
            <p:nvGrpSpPr>
              <p:cNvPr id="107" name="Group 167"/>
              <p:cNvGrpSpPr>
                <a:grpSpLocks/>
              </p:cNvGrpSpPr>
              <p:nvPr/>
            </p:nvGrpSpPr>
            <p:grpSpPr bwMode="auto">
              <a:xfrm>
                <a:off x="3648" y="960"/>
                <a:ext cx="768" cy="288"/>
                <a:chOff x="960" y="960"/>
                <a:chExt cx="768" cy="288"/>
              </a:xfrm>
              <a:grpFill/>
            </p:grpSpPr>
            <p:sp>
              <p:nvSpPr>
                <p:cNvPr id="112" name="Line 168"/>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sp>
              <p:nvSpPr>
                <p:cNvPr id="113" name="Rectangle 169"/>
                <p:cNvSpPr>
                  <a:spLocks noChangeArrowheads="1"/>
                </p:cNvSpPr>
                <p:nvPr/>
              </p:nvSpPr>
              <p:spPr bwMode="auto">
                <a:xfrm>
                  <a:off x="1200" y="960"/>
                  <a:ext cx="528"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14</a:t>
                  </a:r>
                </a:p>
              </p:txBody>
            </p:sp>
            <p:sp>
              <p:nvSpPr>
                <p:cNvPr id="114" name="Line 170"/>
                <p:cNvSpPr>
                  <a:spLocks noChangeShapeType="1"/>
                </p:cNvSpPr>
                <p:nvPr/>
              </p:nvSpPr>
              <p:spPr bwMode="auto">
                <a:xfrm>
                  <a:off x="1536" y="960"/>
                  <a:ext cx="0" cy="288"/>
                </a:xfrm>
                <a:prstGeom prst="line">
                  <a:avLst/>
                </a:prstGeom>
                <a:grpFill/>
                <a:ln w="19050">
                  <a:solidFill>
                    <a:schemeClr val="tx1"/>
                  </a:solidFill>
                  <a:round/>
                  <a:headEnd/>
                  <a:tailEnd/>
                </a:ln>
              </p:spPr>
              <p:txBody>
                <a:bodyPr/>
                <a:lstStyle/>
                <a:p>
                  <a:endParaRPr lang="zh-CN" altLang="en-US"/>
                </a:p>
              </p:txBody>
            </p:sp>
          </p:grpSp>
          <p:grpSp>
            <p:nvGrpSpPr>
              <p:cNvPr id="108" name="Group 171"/>
              <p:cNvGrpSpPr>
                <a:grpSpLocks/>
              </p:cNvGrpSpPr>
              <p:nvPr/>
            </p:nvGrpSpPr>
            <p:grpSpPr bwMode="auto">
              <a:xfrm>
                <a:off x="4320" y="960"/>
                <a:ext cx="768" cy="288"/>
                <a:chOff x="960" y="960"/>
                <a:chExt cx="768" cy="288"/>
              </a:xfrm>
              <a:grpFill/>
            </p:grpSpPr>
            <p:sp>
              <p:nvSpPr>
                <p:cNvPr id="109" name="Line 172"/>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sp>
              <p:nvSpPr>
                <p:cNvPr id="110" name="Rectangle 173"/>
                <p:cNvSpPr>
                  <a:spLocks noChangeArrowheads="1"/>
                </p:cNvSpPr>
                <p:nvPr/>
              </p:nvSpPr>
              <p:spPr bwMode="auto">
                <a:xfrm>
                  <a:off x="1200" y="960"/>
                  <a:ext cx="528"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15</a:t>
                  </a:r>
                </a:p>
              </p:txBody>
            </p:sp>
            <p:sp>
              <p:nvSpPr>
                <p:cNvPr id="111" name="Line 174"/>
                <p:cNvSpPr>
                  <a:spLocks noChangeShapeType="1"/>
                </p:cNvSpPr>
                <p:nvPr/>
              </p:nvSpPr>
              <p:spPr bwMode="auto">
                <a:xfrm>
                  <a:off x="1536" y="960"/>
                  <a:ext cx="0" cy="288"/>
                </a:xfrm>
                <a:prstGeom prst="line">
                  <a:avLst/>
                </a:prstGeom>
                <a:grpFill/>
                <a:ln w="19050">
                  <a:solidFill>
                    <a:schemeClr val="tx1"/>
                  </a:solidFill>
                  <a:round/>
                  <a:headEnd/>
                  <a:tailEnd/>
                </a:ln>
              </p:spPr>
              <p:txBody>
                <a:bodyPr/>
                <a:lstStyle/>
                <a:p>
                  <a:endParaRPr lang="zh-CN" altLang="en-US"/>
                </a:p>
              </p:txBody>
            </p:sp>
          </p:grpSp>
        </p:grpSp>
        <p:grpSp>
          <p:nvGrpSpPr>
            <p:cNvPr id="89" name="Group 204"/>
            <p:cNvGrpSpPr>
              <a:grpSpLocks/>
            </p:cNvGrpSpPr>
            <p:nvPr/>
          </p:nvGrpSpPr>
          <p:grpSpPr bwMode="auto">
            <a:xfrm>
              <a:off x="2736" y="2448"/>
              <a:ext cx="2256" cy="624"/>
              <a:chOff x="2736" y="2448"/>
              <a:chExt cx="2256" cy="624"/>
            </a:xfrm>
            <a:grpFill/>
          </p:grpSpPr>
          <p:grpSp>
            <p:nvGrpSpPr>
              <p:cNvPr id="98" name="Group 203"/>
              <p:cNvGrpSpPr>
                <a:grpSpLocks/>
              </p:cNvGrpSpPr>
              <p:nvPr/>
            </p:nvGrpSpPr>
            <p:grpSpPr bwMode="auto">
              <a:xfrm>
                <a:off x="2736" y="2448"/>
                <a:ext cx="2256" cy="624"/>
                <a:chOff x="2736" y="2448"/>
                <a:chExt cx="2256" cy="624"/>
              </a:xfrm>
              <a:grpFill/>
            </p:grpSpPr>
            <p:sp>
              <p:nvSpPr>
                <p:cNvPr id="100" name="Rectangle 191"/>
                <p:cNvSpPr>
                  <a:spLocks noChangeArrowheads="1"/>
                </p:cNvSpPr>
                <p:nvPr/>
              </p:nvSpPr>
              <p:spPr bwMode="auto">
                <a:xfrm>
                  <a:off x="2736" y="2784"/>
                  <a:ext cx="528"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 20</a:t>
                  </a:r>
                  <a:r>
                    <a:rPr lang="en-US" altLang="zh-CN" sz="2400" baseline="-25000"/>
                    <a:t>   </a:t>
                  </a:r>
                  <a:r>
                    <a:rPr lang="en-US" altLang="zh-CN" sz="2400"/>
                    <a:t> </a:t>
                  </a:r>
                </a:p>
              </p:txBody>
            </p:sp>
            <p:cxnSp>
              <p:nvCxnSpPr>
                <p:cNvPr id="101" name="AutoShape 202"/>
                <p:cNvCxnSpPr>
                  <a:cxnSpLocks noChangeShapeType="1"/>
                  <a:stCxn id="110" idx="3"/>
                  <a:endCxn id="100" idx="1"/>
                </p:cNvCxnSpPr>
                <p:nvPr/>
              </p:nvCxnSpPr>
              <p:spPr bwMode="auto">
                <a:xfrm flipH="1">
                  <a:off x="2736" y="2448"/>
                  <a:ext cx="2256" cy="480"/>
                </a:xfrm>
                <a:prstGeom prst="curvedConnector5">
                  <a:avLst>
                    <a:gd name="adj1" fmla="val -6384"/>
                    <a:gd name="adj2" fmla="val 50000"/>
                    <a:gd name="adj3" fmla="val 106028"/>
                  </a:avLst>
                </a:prstGeom>
                <a:grpFill/>
                <a:ln>
                  <a:headEnd/>
                  <a:tailEnd type="triangle" w="med" len="med"/>
                </a:ln>
              </p:spPr>
              <p:style>
                <a:lnRef idx="1">
                  <a:schemeClr val="accent1"/>
                </a:lnRef>
                <a:fillRef idx="0">
                  <a:schemeClr val="accent1"/>
                </a:fillRef>
                <a:effectRef idx="0">
                  <a:schemeClr val="accent1"/>
                </a:effectRef>
                <a:fontRef idx="minor">
                  <a:schemeClr val="tx1"/>
                </a:fontRef>
              </p:style>
            </p:cxnSp>
          </p:grpSp>
          <p:sp>
            <p:nvSpPr>
              <p:cNvPr id="99" name="Line 192"/>
              <p:cNvSpPr>
                <a:spLocks noChangeShapeType="1"/>
              </p:cNvSpPr>
              <p:nvPr/>
            </p:nvSpPr>
            <p:spPr bwMode="auto">
              <a:xfrm>
                <a:off x="3072" y="2784"/>
                <a:ext cx="0" cy="288"/>
              </a:xfrm>
              <a:prstGeom prst="line">
                <a:avLst/>
              </a:prstGeom>
              <a:grpFill/>
              <a:ln w="19050">
                <a:solidFill>
                  <a:schemeClr val="tx1"/>
                </a:solidFill>
                <a:round/>
                <a:headEnd/>
                <a:tailEnd/>
              </a:ln>
            </p:spPr>
            <p:txBody>
              <a:bodyPr/>
              <a:lstStyle/>
              <a:p>
                <a:endParaRPr lang="zh-CN" altLang="en-US"/>
              </a:p>
            </p:txBody>
          </p:sp>
        </p:grpSp>
        <p:grpSp>
          <p:nvGrpSpPr>
            <p:cNvPr id="90" name="Group 193"/>
            <p:cNvGrpSpPr>
              <a:grpSpLocks/>
            </p:cNvGrpSpPr>
            <p:nvPr/>
          </p:nvGrpSpPr>
          <p:grpSpPr bwMode="auto">
            <a:xfrm>
              <a:off x="3168" y="2784"/>
              <a:ext cx="768" cy="288"/>
              <a:chOff x="960" y="960"/>
              <a:chExt cx="768" cy="288"/>
            </a:xfrm>
            <a:grpFill/>
          </p:grpSpPr>
          <p:sp>
            <p:nvSpPr>
              <p:cNvPr id="95" name="Line 194"/>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sp>
            <p:nvSpPr>
              <p:cNvPr id="96" name="Rectangle 195"/>
              <p:cNvSpPr>
                <a:spLocks noChangeArrowheads="1"/>
              </p:cNvSpPr>
              <p:nvPr/>
            </p:nvSpPr>
            <p:spPr bwMode="auto">
              <a:xfrm>
                <a:off x="1200" y="960"/>
                <a:ext cx="528"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27</a:t>
                </a:r>
              </a:p>
            </p:txBody>
          </p:sp>
          <p:sp>
            <p:nvSpPr>
              <p:cNvPr id="97" name="Line 196"/>
              <p:cNvSpPr>
                <a:spLocks noChangeShapeType="1"/>
              </p:cNvSpPr>
              <p:nvPr/>
            </p:nvSpPr>
            <p:spPr bwMode="auto">
              <a:xfrm>
                <a:off x="1536" y="960"/>
                <a:ext cx="0" cy="288"/>
              </a:xfrm>
              <a:prstGeom prst="line">
                <a:avLst/>
              </a:prstGeom>
              <a:grpFill/>
              <a:ln w="19050">
                <a:solidFill>
                  <a:schemeClr val="tx1"/>
                </a:solidFill>
                <a:round/>
                <a:headEnd/>
                <a:tailEnd/>
              </a:ln>
            </p:spPr>
            <p:txBody>
              <a:bodyPr/>
              <a:lstStyle/>
              <a:p>
                <a:endParaRPr lang="zh-CN" altLang="en-US"/>
              </a:p>
            </p:txBody>
          </p:sp>
        </p:grpSp>
        <p:grpSp>
          <p:nvGrpSpPr>
            <p:cNvPr id="91" name="Group 197"/>
            <p:cNvGrpSpPr>
              <a:grpSpLocks/>
            </p:cNvGrpSpPr>
            <p:nvPr/>
          </p:nvGrpSpPr>
          <p:grpSpPr bwMode="auto">
            <a:xfrm>
              <a:off x="3840" y="2784"/>
              <a:ext cx="768" cy="288"/>
              <a:chOff x="960" y="960"/>
              <a:chExt cx="768" cy="288"/>
            </a:xfrm>
            <a:grpFill/>
          </p:grpSpPr>
          <p:sp>
            <p:nvSpPr>
              <p:cNvPr id="92" name="Line 198"/>
              <p:cNvSpPr>
                <a:spLocks noChangeShapeType="1"/>
              </p:cNvSpPr>
              <p:nvPr/>
            </p:nvSpPr>
            <p:spPr bwMode="auto">
              <a:xfrm>
                <a:off x="960" y="1104"/>
                <a:ext cx="240" cy="0"/>
              </a:xfrm>
              <a:prstGeom prst="line">
                <a:avLst/>
              </a:prstGeom>
              <a:grpFill/>
              <a:ln>
                <a:headEnd/>
                <a:tailEnd type="arrow" w="med" len="med"/>
              </a:ln>
            </p:spPr>
            <p:style>
              <a:lnRef idx="1">
                <a:schemeClr val="accent1"/>
              </a:lnRef>
              <a:fillRef idx="0">
                <a:schemeClr val="accent1"/>
              </a:fillRef>
              <a:effectRef idx="0">
                <a:schemeClr val="accent1"/>
              </a:effectRef>
              <a:fontRef idx="minor">
                <a:schemeClr val="tx1"/>
              </a:fontRef>
            </p:style>
            <p:txBody>
              <a:bodyPr wrap="none"/>
              <a:lstStyle/>
              <a:p>
                <a:pPr>
                  <a:defRPr/>
                </a:pPr>
                <a:endParaRPr lang="zh-CN" altLang="en-US"/>
              </a:p>
            </p:txBody>
          </p:sp>
          <p:sp>
            <p:nvSpPr>
              <p:cNvPr id="93" name="Rectangle 199"/>
              <p:cNvSpPr>
                <a:spLocks noChangeArrowheads="1"/>
              </p:cNvSpPr>
              <p:nvPr/>
            </p:nvSpPr>
            <p:spPr bwMode="auto">
              <a:xfrm>
                <a:off x="1200" y="960"/>
                <a:ext cx="528" cy="288"/>
              </a:xfrm>
              <a:prstGeom prst="rect">
                <a:avLst/>
              </a:prstGeom>
              <a:grpFill/>
              <a:ln w="9525">
                <a:solidFill>
                  <a:schemeClr val="tx1"/>
                </a:solidFill>
                <a:miter lim="800000"/>
                <a:headEnd/>
                <a:tailEnd/>
              </a:ln>
            </p:spPr>
            <p:txBody>
              <a:bodyPr wrap="none" anchor="ctr"/>
              <a:lstStyle/>
              <a:p>
                <a:pPr algn="l">
                  <a:spcBef>
                    <a:spcPct val="20000"/>
                  </a:spcBef>
                </a:pPr>
                <a:r>
                  <a:rPr lang="en-US" altLang="zh-CN" sz="2400"/>
                  <a:t>40   ^</a:t>
                </a:r>
              </a:p>
            </p:txBody>
          </p:sp>
          <p:sp>
            <p:nvSpPr>
              <p:cNvPr id="94" name="Line 200"/>
              <p:cNvSpPr>
                <a:spLocks noChangeShapeType="1"/>
              </p:cNvSpPr>
              <p:nvPr/>
            </p:nvSpPr>
            <p:spPr bwMode="auto">
              <a:xfrm>
                <a:off x="1536" y="960"/>
                <a:ext cx="0" cy="288"/>
              </a:xfrm>
              <a:prstGeom prst="line">
                <a:avLst/>
              </a:prstGeom>
              <a:grpFill/>
              <a:ln w="19050">
                <a:solidFill>
                  <a:schemeClr val="tx1"/>
                </a:solidFill>
                <a:round/>
                <a:headEnd/>
                <a:tailEnd/>
              </a:ln>
            </p:spPr>
            <p:txBody>
              <a:bodyPr/>
              <a:lstStyle/>
              <a:p>
                <a:endParaRPr lang="zh-CN" altLang="en-US"/>
              </a:p>
            </p:txBody>
          </p:sp>
        </p:grpSp>
      </p:grpSp>
      <p:cxnSp>
        <p:nvCxnSpPr>
          <p:cNvPr id="3" name="直接连接符 2">
            <a:extLst>
              <a:ext uri="{FF2B5EF4-FFF2-40B4-BE49-F238E27FC236}">
                <a16:creationId xmlns:a16="http://schemas.microsoft.com/office/drawing/2014/main" id="{0BAB8A9A-D7A8-3222-593E-2BA42523E319}"/>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Rectangle 2">
            <a:extLst>
              <a:ext uri="{FF2B5EF4-FFF2-40B4-BE49-F238E27FC236}">
                <a16:creationId xmlns:a16="http://schemas.microsoft.com/office/drawing/2014/main" id="{25B3246C-157D-E1ED-9EBB-D0DE6B3141A3}"/>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2.5 </a:t>
            </a:r>
            <a:r>
              <a:rPr lang="zh-CN" altLang="en-US" sz="3700" b="1" dirty="0">
                <a:latin typeface="黑体" pitchFamily="49" charset="-122"/>
                <a:ea typeface="黑体" pitchFamily="49" charset="-122"/>
                <a:cs typeface="+mn-cs"/>
              </a:rPr>
              <a:t>有序表</a:t>
            </a:r>
          </a:p>
        </p:txBody>
      </p:sp>
      <p:sp>
        <p:nvSpPr>
          <p:cNvPr id="8" name="矩形 7">
            <a:extLst>
              <a:ext uri="{FF2B5EF4-FFF2-40B4-BE49-F238E27FC236}">
                <a16:creationId xmlns:a16="http://schemas.microsoft.com/office/drawing/2014/main" id="{167E981A-F46C-4AF7-7A4B-C222B2185BC7}"/>
              </a:ext>
            </a:extLst>
          </p:cNvPr>
          <p:cNvSpPr/>
          <p:nvPr/>
        </p:nvSpPr>
        <p:spPr>
          <a:xfrm>
            <a:off x="395536" y="843558"/>
            <a:ext cx="468052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2.5.2 </a:t>
            </a:r>
            <a:r>
              <a:rPr lang="zh-CN" altLang="en-US" sz="2800" b="1" dirty="0">
                <a:solidFill>
                  <a:schemeClr val="bg1"/>
                </a:solidFill>
                <a:latin typeface="经典粗黑简" pitchFamily="49" charset="-122"/>
                <a:ea typeface="经典粗黑简" pitchFamily="49" charset="-122"/>
                <a:cs typeface="经典粗黑简" pitchFamily="49" charset="-122"/>
              </a:rPr>
              <a:t>合并两个有序单链表</a:t>
            </a:r>
          </a:p>
        </p:txBody>
      </p:sp>
    </p:spTree>
    <p:extLst>
      <p:ext uri="{BB962C8B-B14F-4D97-AF65-F5344CB8AC3E}">
        <p14:creationId xmlns:p14="http://schemas.microsoft.com/office/powerpoint/2010/main" val="3424795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left)">
                                      <p:cBhvr>
                                        <p:cTn id="11" dur="500"/>
                                        <p:tgtEl>
                                          <p:spTgt spid="38"/>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wipe(left)">
                                      <p:cBhvr>
                                        <p:cTn id="15" dur="500"/>
                                        <p:tgtEl>
                                          <p:spTgt spid="6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86"/>
                                        </p:tgtEl>
                                        <p:attrNameLst>
                                          <p:attrName>style.visibility</p:attrName>
                                        </p:attrNameLst>
                                      </p:cBhvr>
                                      <p:to>
                                        <p:strVal val="visible"/>
                                      </p:to>
                                    </p:set>
                                    <p:animEffect transition="in" filter="wipe(up)">
                                      <p:cBhvr>
                                        <p:cTn id="20" dur="500"/>
                                        <p:tgtEl>
                                          <p:spTgt spid="86"/>
                                        </p:tgtEl>
                                      </p:cBhvr>
                                    </p:animEffect>
                                  </p:childTnLst>
                                </p:cTn>
                              </p:par>
                            </p:childTnLst>
                          </p:cTn>
                        </p:par>
                        <p:par>
                          <p:cTn id="21" fill="hold">
                            <p:stCondLst>
                              <p:cond delay="500"/>
                            </p:stCondLst>
                            <p:childTnLst>
                              <p:par>
                                <p:cTn id="22" presetID="22" presetClass="entr" presetSubtype="1" fill="hold" nodeType="afterEffect">
                                  <p:stCondLst>
                                    <p:cond delay="0"/>
                                  </p:stCondLst>
                                  <p:childTnLst>
                                    <p:set>
                                      <p:cBhvr>
                                        <p:cTn id="23" dur="1" fill="hold">
                                          <p:stCondLst>
                                            <p:cond delay="0"/>
                                          </p:stCondLst>
                                        </p:cTn>
                                        <p:tgtEl>
                                          <p:spTgt spid="87"/>
                                        </p:tgtEl>
                                        <p:attrNameLst>
                                          <p:attrName>style.visibility</p:attrName>
                                        </p:attrNameLst>
                                      </p:cBhvr>
                                      <p:to>
                                        <p:strVal val="visible"/>
                                      </p:to>
                                    </p:set>
                                    <p:animEffect transition="in" filter="wipe(up)">
                                      <p:cBhvr>
                                        <p:cTn id="24"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86"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Rectangle 4"/>
          <p:cNvSpPr>
            <a:spLocks noChangeArrowheads="1"/>
          </p:cNvSpPr>
          <p:nvPr/>
        </p:nvSpPr>
        <p:spPr bwMode="auto">
          <a:xfrm>
            <a:off x="4324831" y="4008769"/>
            <a:ext cx="4737463" cy="830997"/>
          </a:xfrm>
          <a:prstGeom prst="rect">
            <a:avLst/>
          </a:prstGeom>
          <a:solidFill>
            <a:srgbClr val="99CCFF"/>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gn="l"/>
            <a:r>
              <a:rPr lang="zh-CN" altLang="en-US" sz="2400" dirty="0"/>
              <a:t>算法复杂度：</a:t>
            </a:r>
            <a:endParaRPr lang="en-US" altLang="zh-CN" sz="2400" dirty="0"/>
          </a:p>
          <a:p>
            <a:pPr algn="l"/>
            <a:r>
              <a:rPr lang="en-US" altLang="zh-CN" sz="2400" dirty="0"/>
              <a:t>　T(n)=O(</a:t>
            </a:r>
            <a:r>
              <a:rPr lang="en-US" altLang="zh-CN" sz="2400" dirty="0" err="1"/>
              <a:t>n</a:t>
            </a:r>
            <a:r>
              <a:rPr lang="en-US" altLang="zh-CN" sz="2400" baseline="-25000" dirty="0" err="1"/>
              <a:t>a</a:t>
            </a:r>
            <a:r>
              <a:rPr lang="en-US" altLang="zh-CN" sz="2400" dirty="0"/>
              <a:t>)+O(</a:t>
            </a:r>
            <a:r>
              <a:rPr lang="en-US" altLang="zh-CN" sz="2400" dirty="0" err="1"/>
              <a:t>n</a:t>
            </a:r>
            <a:r>
              <a:rPr lang="en-US" altLang="zh-CN" sz="2400" baseline="-25000" dirty="0" err="1"/>
              <a:t>b</a:t>
            </a:r>
            <a:r>
              <a:rPr lang="en-US" altLang="zh-CN" sz="2400" dirty="0"/>
              <a:t>)＝O(</a:t>
            </a:r>
            <a:r>
              <a:rPr lang="en-US" altLang="zh-CN" sz="2400" dirty="0" err="1"/>
              <a:t>n</a:t>
            </a:r>
            <a:r>
              <a:rPr lang="en-US" altLang="zh-CN" sz="2400" baseline="-25000" dirty="0" err="1"/>
              <a:t>La</a:t>
            </a:r>
            <a:r>
              <a:rPr lang="en-US" altLang="zh-CN" sz="2400" dirty="0" err="1"/>
              <a:t>+n</a:t>
            </a:r>
            <a:r>
              <a:rPr lang="en-US" altLang="zh-CN" sz="2400" baseline="-25000" dirty="0" err="1"/>
              <a:t>Lb</a:t>
            </a:r>
            <a:r>
              <a:rPr lang="en-US" altLang="zh-CN" sz="2400" dirty="0"/>
              <a:t>)</a:t>
            </a:r>
            <a:endParaRPr lang="zh-CN" altLang="en-US" sz="2400" baseline="-25000" dirty="0"/>
          </a:p>
        </p:txBody>
      </p:sp>
      <p:sp>
        <p:nvSpPr>
          <p:cNvPr id="13" name="Text Box 2"/>
          <p:cNvSpPr txBox="1">
            <a:spLocks noChangeArrowheads="1"/>
          </p:cNvSpPr>
          <p:nvPr/>
        </p:nvSpPr>
        <p:spPr bwMode="auto">
          <a:xfrm>
            <a:off x="339267" y="1491630"/>
            <a:ext cx="725706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400" dirty="0">
                <a:latin typeface="Times New Roman" pitchFamily="18" charset="0"/>
                <a:ea typeface="宋体" pitchFamily="2" charset="-122"/>
              </a:rPr>
              <a:t>void </a:t>
            </a:r>
            <a:r>
              <a:rPr lang="en-US" altLang="zh-CN" sz="1400" dirty="0" err="1">
                <a:latin typeface="Times New Roman" pitchFamily="18" charset="0"/>
                <a:ea typeface="宋体" pitchFamily="2" charset="-122"/>
              </a:rPr>
              <a:t>MergeLinkList</a:t>
            </a:r>
            <a:r>
              <a:rPr lang="en-US" altLang="zh-CN" sz="1400" dirty="0">
                <a:latin typeface="Times New Roman" pitchFamily="18" charset="0"/>
                <a:ea typeface="宋体" pitchFamily="2" charset="-122"/>
              </a:rPr>
              <a:t>( </a:t>
            </a:r>
            <a:r>
              <a:rPr lang="en-US" altLang="zh-CN" sz="1400" dirty="0" err="1">
                <a:latin typeface="Times New Roman" pitchFamily="18" charset="0"/>
                <a:ea typeface="宋体" pitchFamily="2" charset="-122"/>
              </a:rPr>
              <a:t>LinkList</a:t>
            </a:r>
            <a:r>
              <a:rPr lang="en-US" altLang="zh-CN" sz="1400" dirty="0">
                <a:latin typeface="Times New Roman" pitchFamily="18" charset="0"/>
                <a:ea typeface="宋体" pitchFamily="2" charset="-122"/>
              </a:rPr>
              <a:t> &amp;</a:t>
            </a:r>
            <a:r>
              <a:rPr lang="en-US" altLang="zh-CN" sz="1400" dirty="0" err="1">
                <a:latin typeface="Times New Roman" pitchFamily="18" charset="0"/>
                <a:ea typeface="宋体" pitchFamily="2" charset="-122"/>
              </a:rPr>
              <a:t>La,LinkList</a:t>
            </a:r>
            <a:r>
              <a:rPr lang="en-US" altLang="zh-CN" sz="1400" dirty="0">
                <a:latin typeface="Times New Roman" pitchFamily="18" charset="0"/>
                <a:ea typeface="宋体" pitchFamily="2" charset="-122"/>
              </a:rPr>
              <a:t> &amp;</a:t>
            </a:r>
            <a:r>
              <a:rPr lang="en-US" altLang="zh-CN" sz="1400" dirty="0" err="1">
                <a:latin typeface="Times New Roman" pitchFamily="18" charset="0"/>
                <a:ea typeface="宋体" pitchFamily="2" charset="-122"/>
              </a:rPr>
              <a:t>Lb</a:t>
            </a:r>
            <a:r>
              <a:rPr lang="en-US" altLang="zh-CN" sz="1400" dirty="0">
                <a:latin typeface="Times New Roman" pitchFamily="18" charset="0"/>
                <a:ea typeface="宋体" pitchFamily="2" charset="-122"/>
              </a:rPr>
              <a:t> ) </a:t>
            </a:r>
            <a:endParaRPr lang="zh-CN" altLang="zh-CN" sz="1400" dirty="0">
              <a:latin typeface="Times New Roman" pitchFamily="18" charset="0"/>
              <a:ea typeface="宋体" pitchFamily="2" charset="-122"/>
            </a:endParaRPr>
          </a:p>
          <a:p>
            <a:r>
              <a:rPr lang="en-US" altLang="zh-CN" sz="1400" dirty="0">
                <a:latin typeface="Times New Roman" pitchFamily="18" charset="0"/>
                <a:ea typeface="宋体" pitchFamily="2" charset="-122"/>
              </a:rPr>
              <a:t>{</a:t>
            </a:r>
            <a:endParaRPr lang="zh-CN" altLang="zh-CN" sz="1400" dirty="0">
              <a:latin typeface="Times New Roman" pitchFamily="18" charset="0"/>
              <a:ea typeface="宋体" pitchFamily="2" charset="-122"/>
            </a:endParaRPr>
          </a:p>
          <a:p>
            <a:r>
              <a:rPr lang="en-US" altLang="zh-CN" sz="1400" dirty="0">
                <a:latin typeface="Times New Roman" pitchFamily="18" charset="0"/>
                <a:ea typeface="宋体" pitchFamily="2" charset="-122"/>
              </a:rPr>
              <a:t>        </a:t>
            </a:r>
            <a:r>
              <a:rPr lang="en-US" altLang="zh-CN" sz="1400" dirty="0" err="1">
                <a:latin typeface="Times New Roman" pitchFamily="18" charset="0"/>
                <a:ea typeface="宋体" pitchFamily="2" charset="-122"/>
              </a:rPr>
              <a:t>LinkList</a:t>
            </a:r>
            <a:r>
              <a:rPr lang="en-US" altLang="zh-CN" sz="1400" dirty="0">
                <a:latin typeface="Times New Roman" pitchFamily="18" charset="0"/>
                <a:ea typeface="宋体" pitchFamily="2" charset="-122"/>
              </a:rPr>
              <a:t> pa = La-&gt;next;     // pa </a:t>
            </a:r>
            <a:r>
              <a:rPr lang="zh-CN" altLang="zh-CN" sz="1400" dirty="0">
                <a:latin typeface="Times New Roman" pitchFamily="18" charset="0"/>
                <a:ea typeface="宋体" pitchFamily="2" charset="-122"/>
              </a:rPr>
              <a:t>指向 </a:t>
            </a:r>
            <a:r>
              <a:rPr lang="en-US" altLang="zh-CN" sz="1400" dirty="0">
                <a:latin typeface="Times New Roman" pitchFamily="18" charset="0"/>
                <a:ea typeface="宋体" pitchFamily="2" charset="-122"/>
              </a:rPr>
              <a:t>La</a:t>
            </a:r>
            <a:r>
              <a:rPr lang="zh-CN" altLang="zh-CN" sz="1400" dirty="0">
                <a:latin typeface="Times New Roman" pitchFamily="18" charset="0"/>
                <a:ea typeface="宋体" pitchFamily="2" charset="-122"/>
              </a:rPr>
              <a:t>中当前考察的结点</a:t>
            </a:r>
          </a:p>
          <a:p>
            <a:r>
              <a:rPr lang="en-US" altLang="zh-CN" sz="1400" dirty="0">
                <a:latin typeface="Times New Roman" pitchFamily="18" charset="0"/>
                <a:ea typeface="宋体" pitchFamily="2" charset="-122"/>
              </a:rPr>
              <a:t>        </a:t>
            </a:r>
            <a:r>
              <a:rPr lang="en-US" altLang="zh-CN" sz="1400" dirty="0" err="1">
                <a:latin typeface="Times New Roman" pitchFamily="18" charset="0"/>
                <a:ea typeface="宋体" pitchFamily="2" charset="-122"/>
              </a:rPr>
              <a:t>LinkList</a:t>
            </a:r>
            <a:r>
              <a:rPr lang="en-US" altLang="zh-CN" sz="1400" dirty="0">
                <a:latin typeface="Times New Roman" pitchFamily="18" charset="0"/>
                <a:ea typeface="宋体" pitchFamily="2" charset="-122"/>
              </a:rPr>
              <a:t> </a:t>
            </a:r>
            <a:r>
              <a:rPr lang="en-US" altLang="zh-CN" sz="1400" dirty="0" err="1">
                <a:latin typeface="Times New Roman" pitchFamily="18" charset="0"/>
                <a:ea typeface="宋体" pitchFamily="2" charset="-122"/>
              </a:rPr>
              <a:t>pb</a:t>
            </a:r>
            <a:r>
              <a:rPr lang="en-US" altLang="zh-CN" sz="1400" dirty="0">
                <a:latin typeface="Times New Roman" pitchFamily="18" charset="0"/>
                <a:ea typeface="宋体" pitchFamily="2" charset="-122"/>
              </a:rPr>
              <a:t> = </a:t>
            </a:r>
            <a:r>
              <a:rPr lang="en-US" altLang="zh-CN" sz="1400" dirty="0" err="1">
                <a:latin typeface="Times New Roman" pitchFamily="18" charset="0"/>
                <a:ea typeface="宋体" pitchFamily="2" charset="-122"/>
              </a:rPr>
              <a:t>Lb</a:t>
            </a:r>
            <a:r>
              <a:rPr lang="en-US" altLang="zh-CN" sz="1400" dirty="0">
                <a:latin typeface="Times New Roman" pitchFamily="18" charset="0"/>
                <a:ea typeface="宋体" pitchFamily="2" charset="-122"/>
              </a:rPr>
              <a:t>-&gt;next;     // </a:t>
            </a:r>
            <a:r>
              <a:rPr lang="en-US" altLang="zh-CN" sz="1400" dirty="0" err="1">
                <a:latin typeface="Times New Roman" pitchFamily="18" charset="0"/>
                <a:ea typeface="宋体" pitchFamily="2" charset="-122"/>
              </a:rPr>
              <a:t>pb</a:t>
            </a:r>
            <a:r>
              <a:rPr lang="en-US" altLang="zh-CN" sz="1400" dirty="0">
                <a:latin typeface="Times New Roman" pitchFamily="18" charset="0"/>
                <a:ea typeface="宋体" pitchFamily="2" charset="-122"/>
              </a:rPr>
              <a:t> </a:t>
            </a:r>
            <a:r>
              <a:rPr lang="zh-CN" altLang="zh-CN" sz="1400" dirty="0">
                <a:latin typeface="Times New Roman" pitchFamily="18" charset="0"/>
                <a:ea typeface="宋体" pitchFamily="2" charset="-122"/>
              </a:rPr>
              <a:t>指向 </a:t>
            </a:r>
            <a:r>
              <a:rPr lang="en-US" altLang="zh-CN" sz="1400" dirty="0" err="1">
                <a:latin typeface="Times New Roman" pitchFamily="18" charset="0"/>
                <a:ea typeface="宋体" pitchFamily="2" charset="-122"/>
              </a:rPr>
              <a:t>Lb</a:t>
            </a:r>
            <a:r>
              <a:rPr lang="zh-CN" altLang="zh-CN" sz="1400" dirty="0">
                <a:latin typeface="Times New Roman" pitchFamily="18" charset="0"/>
                <a:ea typeface="宋体" pitchFamily="2" charset="-122"/>
              </a:rPr>
              <a:t>中当前考察的结点</a:t>
            </a:r>
          </a:p>
          <a:p>
            <a:r>
              <a:rPr lang="en-US" altLang="zh-CN" sz="1400" dirty="0">
                <a:latin typeface="Times New Roman" pitchFamily="18" charset="0"/>
                <a:ea typeface="宋体" pitchFamily="2" charset="-122"/>
              </a:rPr>
              <a:t>        </a:t>
            </a:r>
            <a:r>
              <a:rPr lang="en-US" altLang="zh-CN" sz="1400" dirty="0" err="1">
                <a:latin typeface="Times New Roman" pitchFamily="18" charset="0"/>
                <a:ea typeface="宋体" pitchFamily="2" charset="-122"/>
              </a:rPr>
              <a:t>LinkList</a:t>
            </a:r>
            <a:r>
              <a:rPr lang="en-US" altLang="zh-CN" sz="1400" dirty="0">
                <a:latin typeface="Times New Roman" pitchFamily="18" charset="0"/>
                <a:ea typeface="宋体" pitchFamily="2" charset="-122"/>
              </a:rPr>
              <a:t> pc = La;           // pc </a:t>
            </a:r>
            <a:r>
              <a:rPr lang="zh-CN" altLang="zh-CN" sz="1400" dirty="0">
                <a:latin typeface="Times New Roman" pitchFamily="18" charset="0"/>
                <a:ea typeface="宋体" pitchFamily="2" charset="-122"/>
              </a:rPr>
              <a:t>指向</a:t>
            </a:r>
            <a:r>
              <a:rPr lang="en-US" altLang="zh-CN" sz="1400" dirty="0" err="1">
                <a:latin typeface="Times New Roman" pitchFamily="18" charset="0"/>
                <a:ea typeface="宋体" pitchFamily="2" charset="-122"/>
              </a:rPr>
              <a:t>Lc</a:t>
            </a:r>
            <a:r>
              <a:rPr lang="zh-CN" altLang="zh-CN" sz="1400" dirty="0">
                <a:latin typeface="Times New Roman" pitchFamily="18" charset="0"/>
                <a:ea typeface="宋体" pitchFamily="2" charset="-122"/>
              </a:rPr>
              <a:t>中当前的表尾结点</a:t>
            </a:r>
          </a:p>
          <a:p>
            <a:r>
              <a:rPr lang="en-US" altLang="zh-CN" sz="1400" dirty="0">
                <a:latin typeface="Times New Roman" pitchFamily="18" charset="0"/>
                <a:ea typeface="宋体" pitchFamily="2" charset="-122"/>
              </a:rPr>
              <a:t>        while ( pa!=NULL &amp;&amp; </a:t>
            </a:r>
            <a:r>
              <a:rPr lang="en-US" altLang="zh-CN" sz="1400" dirty="0" err="1">
                <a:latin typeface="Times New Roman" pitchFamily="18" charset="0"/>
                <a:ea typeface="宋体" pitchFamily="2" charset="-122"/>
              </a:rPr>
              <a:t>pb</a:t>
            </a:r>
            <a:r>
              <a:rPr lang="en-US" altLang="zh-CN" sz="1400" dirty="0">
                <a:latin typeface="Times New Roman" pitchFamily="18" charset="0"/>
                <a:ea typeface="宋体" pitchFamily="2" charset="-122"/>
              </a:rPr>
              <a:t>!=NULL ) </a:t>
            </a:r>
            <a:endParaRPr lang="zh-CN" altLang="zh-CN" sz="1400" dirty="0">
              <a:latin typeface="Times New Roman" pitchFamily="18" charset="0"/>
              <a:ea typeface="宋体" pitchFamily="2" charset="-122"/>
            </a:endParaRPr>
          </a:p>
          <a:p>
            <a:r>
              <a:rPr lang="en-US" altLang="zh-CN" sz="1400" dirty="0">
                <a:latin typeface="Times New Roman" pitchFamily="18" charset="0"/>
                <a:ea typeface="宋体" pitchFamily="2" charset="-122"/>
              </a:rPr>
              <a:t>       {</a:t>
            </a:r>
            <a:endParaRPr lang="zh-CN" altLang="zh-CN" sz="1400" dirty="0">
              <a:latin typeface="Times New Roman" pitchFamily="18" charset="0"/>
              <a:ea typeface="宋体" pitchFamily="2" charset="-122"/>
            </a:endParaRPr>
          </a:p>
          <a:p>
            <a:r>
              <a:rPr lang="en-US" altLang="zh-CN" sz="1400" dirty="0">
                <a:latin typeface="Times New Roman" pitchFamily="18" charset="0"/>
                <a:ea typeface="宋体" pitchFamily="2" charset="-122"/>
              </a:rPr>
              <a:t>             if ( pa-&gt;data &lt; </a:t>
            </a:r>
            <a:r>
              <a:rPr lang="en-US" altLang="zh-CN" sz="1400" dirty="0" err="1">
                <a:latin typeface="Times New Roman" pitchFamily="18" charset="0"/>
                <a:ea typeface="宋体" pitchFamily="2" charset="-122"/>
              </a:rPr>
              <a:t>pb</a:t>
            </a:r>
            <a:r>
              <a:rPr lang="en-US" altLang="zh-CN" sz="1400" dirty="0">
                <a:latin typeface="Times New Roman" pitchFamily="18" charset="0"/>
                <a:ea typeface="宋体" pitchFamily="2" charset="-122"/>
              </a:rPr>
              <a:t>-&gt;data ) </a:t>
            </a:r>
            <a:endParaRPr lang="zh-CN" altLang="zh-CN" sz="1400" dirty="0">
              <a:latin typeface="Times New Roman" pitchFamily="18" charset="0"/>
              <a:ea typeface="宋体" pitchFamily="2" charset="-122"/>
            </a:endParaRPr>
          </a:p>
          <a:p>
            <a:r>
              <a:rPr lang="en-US" altLang="zh-CN" sz="1400" dirty="0">
                <a:latin typeface="Times New Roman" pitchFamily="18" charset="0"/>
                <a:ea typeface="宋体" pitchFamily="2" charset="-122"/>
              </a:rPr>
              <a:t>	      {pc-&gt;next = pa;  pc = pa;  pa = pa-&gt;next;}</a:t>
            </a:r>
            <a:endParaRPr lang="zh-CN" altLang="zh-CN" sz="1400" dirty="0">
              <a:latin typeface="Times New Roman" pitchFamily="18" charset="0"/>
              <a:ea typeface="宋体" pitchFamily="2" charset="-122"/>
            </a:endParaRPr>
          </a:p>
          <a:p>
            <a:r>
              <a:rPr lang="en-US" altLang="zh-CN" sz="1400" dirty="0">
                <a:latin typeface="Times New Roman" pitchFamily="18" charset="0"/>
                <a:ea typeface="宋体" pitchFamily="2" charset="-122"/>
              </a:rPr>
              <a:t>             else </a:t>
            </a:r>
            <a:endParaRPr lang="zh-CN" altLang="zh-CN" sz="1400" dirty="0">
              <a:latin typeface="Times New Roman" pitchFamily="18" charset="0"/>
              <a:ea typeface="宋体" pitchFamily="2" charset="-122"/>
            </a:endParaRPr>
          </a:p>
          <a:p>
            <a:r>
              <a:rPr lang="en-US" altLang="zh-CN" sz="1400" dirty="0">
                <a:latin typeface="Times New Roman" pitchFamily="18" charset="0"/>
                <a:ea typeface="宋体" pitchFamily="2" charset="-122"/>
              </a:rPr>
              <a:t>	      { pc-&gt;next = </a:t>
            </a:r>
            <a:r>
              <a:rPr lang="en-US" altLang="zh-CN" sz="1400" dirty="0" err="1">
                <a:latin typeface="Times New Roman" pitchFamily="18" charset="0"/>
                <a:ea typeface="宋体" pitchFamily="2" charset="-122"/>
              </a:rPr>
              <a:t>pb</a:t>
            </a:r>
            <a:r>
              <a:rPr lang="en-US" altLang="zh-CN" sz="1400" dirty="0">
                <a:latin typeface="Times New Roman" pitchFamily="18" charset="0"/>
                <a:ea typeface="宋体" pitchFamily="2" charset="-122"/>
              </a:rPr>
              <a:t>;  pc = </a:t>
            </a:r>
            <a:r>
              <a:rPr lang="en-US" altLang="zh-CN" sz="1400" dirty="0" err="1">
                <a:latin typeface="Times New Roman" pitchFamily="18" charset="0"/>
                <a:ea typeface="宋体" pitchFamily="2" charset="-122"/>
              </a:rPr>
              <a:t>pb</a:t>
            </a:r>
            <a:r>
              <a:rPr lang="en-US" altLang="zh-CN" sz="1400" dirty="0">
                <a:latin typeface="Times New Roman" pitchFamily="18" charset="0"/>
                <a:ea typeface="宋体" pitchFamily="2" charset="-122"/>
              </a:rPr>
              <a:t>;  </a:t>
            </a:r>
            <a:r>
              <a:rPr lang="en-US" altLang="zh-CN" sz="1400" dirty="0" err="1">
                <a:latin typeface="Times New Roman" pitchFamily="18" charset="0"/>
                <a:ea typeface="宋体" pitchFamily="2" charset="-122"/>
              </a:rPr>
              <a:t>pb</a:t>
            </a:r>
            <a:r>
              <a:rPr lang="en-US" altLang="zh-CN" sz="1400" dirty="0">
                <a:latin typeface="Times New Roman" pitchFamily="18" charset="0"/>
                <a:ea typeface="宋体" pitchFamily="2" charset="-122"/>
              </a:rPr>
              <a:t> = </a:t>
            </a:r>
            <a:r>
              <a:rPr lang="en-US" altLang="zh-CN" sz="1400" dirty="0" err="1">
                <a:latin typeface="Times New Roman" pitchFamily="18" charset="0"/>
                <a:ea typeface="宋体" pitchFamily="2" charset="-122"/>
              </a:rPr>
              <a:t>pb</a:t>
            </a:r>
            <a:r>
              <a:rPr lang="en-US" altLang="zh-CN" sz="1400" dirty="0">
                <a:latin typeface="Times New Roman" pitchFamily="18" charset="0"/>
                <a:ea typeface="宋体" pitchFamily="2" charset="-122"/>
              </a:rPr>
              <a:t>-&gt;next;}     </a:t>
            </a:r>
            <a:endParaRPr lang="zh-CN" altLang="zh-CN" sz="1400" dirty="0">
              <a:latin typeface="Times New Roman" pitchFamily="18" charset="0"/>
              <a:ea typeface="宋体" pitchFamily="2" charset="-122"/>
            </a:endParaRPr>
          </a:p>
          <a:p>
            <a:r>
              <a:rPr lang="en-US" altLang="zh-CN" sz="1400" dirty="0">
                <a:latin typeface="Times New Roman" pitchFamily="18" charset="0"/>
                <a:ea typeface="宋体" pitchFamily="2" charset="-122"/>
              </a:rPr>
              <a:t>        }</a:t>
            </a:r>
            <a:endParaRPr lang="zh-CN" altLang="zh-CN" sz="1400" dirty="0">
              <a:latin typeface="Times New Roman" pitchFamily="18" charset="0"/>
              <a:ea typeface="宋体" pitchFamily="2" charset="-122"/>
            </a:endParaRPr>
          </a:p>
          <a:p>
            <a:r>
              <a:rPr lang="en-US" altLang="zh-CN" sz="1400" dirty="0">
                <a:latin typeface="Times New Roman" pitchFamily="18" charset="0"/>
                <a:ea typeface="宋体" pitchFamily="2" charset="-122"/>
              </a:rPr>
              <a:t>        if ( pa )   pc-&gt;next = pa;    </a:t>
            </a:r>
            <a:endParaRPr lang="zh-CN" altLang="zh-CN" sz="1400" dirty="0">
              <a:latin typeface="Times New Roman" pitchFamily="18" charset="0"/>
              <a:ea typeface="宋体" pitchFamily="2" charset="-122"/>
            </a:endParaRPr>
          </a:p>
          <a:p>
            <a:r>
              <a:rPr lang="en-US" altLang="zh-CN" sz="1400" dirty="0">
                <a:latin typeface="Times New Roman" pitchFamily="18" charset="0"/>
                <a:ea typeface="宋体" pitchFamily="2" charset="-122"/>
              </a:rPr>
              <a:t>        else         pc-&gt;next = </a:t>
            </a:r>
            <a:r>
              <a:rPr lang="en-US" altLang="zh-CN" sz="1400" dirty="0" err="1">
                <a:latin typeface="Times New Roman" pitchFamily="18" charset="0"/>
                <a:ea typeface="宋体" pitchFamily="2" charset="-122"/>
              </a:rPr>
              <a:t>pb</a:t>
            </a:r>
            <a:r>
              <a:rPr lang="en-US" altLang="zh-CN" sz="1400" dirty="0">
                <a:latin typeface="Times New Roman" pitchFamily="18" charset="0"/>
                <a:ea typeface="宋体" pitchFamily="2" charset="-122"/>
              </a:rPr>
              <a:t>; </a:t>
            </a:r>
            <a:endParaRPr lang="zh-CN" altLang="zh-CN" sz="1400" dirty="0">
              <a:latin typeface="Times New Roman" pitchFamily="18" charset="0"/>
              <a:ea typeface="宋体" pitchFamily="2" charset="-122"/>
            </a:endParaRPr>
          </a:p>
          <a:p>
            <a:r>
              <a:rPr lang="en-US" altLang="zh-CN" sz="1400" dirty="0">
                <a:latin typeface="Times New Roman" pitchFamily="18" charset="0"/>
                <a:ea typeface="宋体" pitchFamily="2" charset="-122"/>
              </a:rPr>
              <a:t>        delete </a:t>
            </a:r>
            <a:r>
              <a:rPr lang="en-US" altLang="zh-CN" sz="1400" dirty="0" err="1">
                <a:latin typeface="Times New Roman" pitchFamily="18" charset="0"/>
                <a:ea typeface="宋体" pitchFamily="2" charset="-122"/>
              </a:rPr>
              <a:t>Lb</a:t>
            </a:r>
            <a:r>
              <a:rPr lang="en-US" altLang="zh-CN" sz="1400" dirty="0">
                <a:latin typeface="Times New Roman" pitchFamily="18" charset="0"/>
                <a:ea typeface="宋体" pitchFamily="2" charset="-122"/>
              </a:rPr>
              <a:t>; </a:t>
            </a:r>
            <a:endParaRPr lang="zh-CN" altLang="zh-CN" sz="1400" dirty="0">
              <a:latin typeface="Times New Roman" pitchFamily="18" charset="0"/>
              <a:ea typeface="宋体" pitchFamily="2" charset="-122"/>
            </a:endParaRPr>
          </a:p>
          <a:p>
            <a:r>
              <a:rPr lang="en-US" altLang="zh-CN" sz="1400" dirty="0">
                <a:latin typeface="Times New Roman" pitchFamily="18" charset="0"/>
                <a:ea typeface="宋体" pitchFamily="2" charset="-122"/>
              </a:rPr>
              <a:t>}  </a:t>
            </a:r>
            <a:endParaRPr lang="zh-CN" altLang="zh-CN" sz="1400" dirty="0">
              <a:latin typeface="Times New Roman" pitchFamily="18" charset="0"/>
              <a:ea typeface="宋体" pitchFamily="2" charset="-122"/>
            </a:endParaRPr>
          </a:p>
        </p:txBody>
      </p:sp>
      <p:cxnSp>
        <p:nvCxnSpPr>
          <p:cNvPr id="3" name="直接连接符 2">
            <a:extLst>
              <a:ext uri="{FF2B5EF4-FFF2-40B4-BE49-F238E27FC236}">
                <a16:creationId xmlns:a16="http://schemas.microsoft.com/office/drawing/2014/main" id="{5E3D7BB2-421C-2B3D-F16C-6CF42CA4A23E}"/>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2">
            <a:extLst>
              <a:ext uri="{FF2B5EF4-FFF2-40B4-BE49-F238E27FC236}">
                <a16:creationId xmlns:a16="http://schemas.microsoft.com/office/drawing/2014/main" id="{5E6EE1C4-EB1A-0566-A2CD-3930C5114723}"/>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2.5 </a:t>
            </a:r>
            <a:r>
              <a:rPr lang="zh-CN" altLang="en-US" sz="3700" b="1" dirty="0">
                <a:latin typeface="黑体" pitchFamily="49" charset="-122"/>
                <a:ea typeface="黑体" pitchFamily="49" charset="-122"/>
                <a:cs typeface="+mn-cs"/>
              </a:rPr>
              <a:t>有序表</a:t>
            </a:r>
          </a:p>
        </p:txBody>
      </p:sp>
      <p:sp>
        <p:nvSpPr>
          <p:cNvPr id="5" name="矩形 4">
            <a:extLst>
              <a:ext uri="{FF2B5EF4-FFF2-40B4-BE49-F238E27FC236}">
                <a16:creationId xmlns:a16="http://schemas.microsoft.com/office/drawing/2014/main" id="{09D8B3D0-B842-0A16-59FF-5BBA758CDB9D}"/>
              </a:ext>
            </a:extLst>
          </p:cNvPr>
          <p:cNvSpPr/>
          <p:nvPr/>
        </p:nvSpPr>
        <p:spPr>
          <a:xfrm>
            <a:off x="395536" y="843558"/>
            <a:ext cx="468052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2.5.2 </a:t>
            </a:r>
            <a:r>
              <a:rPr lang="zh-CN" altLang="en-US" sz="2800" b="1" dirty="0">
                <a:solidFill>
                  <a:schemeClr val="bg1"/>
                </a:solidFill>
                <a:latin typeface="经典粗黑简" pitchFamily="49" charset="-122"/>
                <a:ea typeface="经典粗黑简" pitchFamily="49" charset="-122"/>
                <a:cs typeface="经典粗黑简" pitchFamily="49" charset="-122"/>
              </a:rPr>
              <a:t>合并两个有序单链表</a:t>
            </a:r>
          </a:p>
        </p:txBody>
      </p:sp>
    </p:spTree>
    <p:extLst>
      <p:ext uri="{BB962C8B-B14F-4D97-AF65-F5344CB8AC3E}">
        <p14:creationId xmlns:p14="http://schemas.microsoft.com/office/powerpoint/2010/main" val="2420460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animBg="1"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34609" y="2216046"/>
            <a:ext cx="4235971" cy="461665"/>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单链表结点类型的</a:t>
            </a:r>
            <a:r>
              <a:rPr lang="en-US" altLang="zh-CN" sz="2400" dirty="0">
                <a:latin typeface="微软雅黑" pitchFamily="34" charset="-122"/>
                <a:ea typeface="微软雅黑" pitchFamily="34" charset="-122"/>
                <a:cs typeface="经典粗黑简" pitchFamily="49" charset="-122"/>
              </a:rPr>
              <a:t>C</a:t>
            </a:r>
            <a:r>
              <a:rPr lang="zh-CN" altLang="en-US" sz="2400" dirty="0">
                <a:latin typeface="微软雅黑" pitchFamily="34" charset="-122"/>
                <a:ea typeface="微软雅黑" pitchFamily="34" charset="-122"/>
                <a:cs typeface="经典粗黑简" pitchFamily="49" charset="-122"/>
              </a:rPr>
              <a:t>语言实现</a:t>
            </a:r>
            <a:endParaRPr lang="en-US" altLang="zh-CN" sz="2400" dirty="0">
              <a:latin typeface="微软雅黑" pitchFamily="34" charset="-122"/>
              <a:ea typeface="微软雅黑" pitchFamily="34" charset="-122"/>
              <a:cs typeface="经典粗黑简" pitchFamily="49" charset="-122"/>
            </a:endParaRPr>
          </a:p>
        </p:txBody>
      </p:sp>
      <p:grpSp>
        <p:nvGrpSpPr>
          <p:cNvPr id="9" name="Group 36"/>
          <p:cNvGrpSpPr>
            <a:grpSpLocks/>
          </p:cNvGrpSpPr>
          <p:nvPr/>
        </p:nvGrpSpPr>
        <p:grpSpPr bwMode="auto">
          <a:xfrm>
            <a:off x="1974106" y="1204952"/>
            <a:ext cx="4992947" cy="742951"/>
            <a:chOff x="884" y="2462"/>
            <a:chExt cx="3273" cy="624"/>
          </a:xfrm>
        </p:grpSpPr>
        <p:sp>
          <p:nvSpPr>
            <p:cNvPr id="11" name="Rectangle 8"/>
            <p:cNvSpPr>
              <a:spLocks noChangeArrowheads="1"/>
            </p:cNvSpPr>
            <p:nvPr/>
          </p:nvSpPr>
          <p:spPr bwMode="auto">
            <a:xfrm>
              <a:off x="2488" y="2462"/>
              <a:ext cx="71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ctr"/>
              <a:r>
                <a:rPr kumimoji="0" lang="zh-CN" altLang="en-US" sz="2000" dirty="0"/>
                <a:t>数据域</a:t>
              </a:r>
            </a:p>
          </p:txBody>
        </p:sp>
        <p:sp>
          <p:nvSpPr>
            <p:cNvPr id="13" name="Rectangle 10"/>
            <p:cNvSpPr>
              <a:spLocks noChangeArrowheads="1"/>
            </p:cNvSpPr>
            <p:nvPr/>
          </p:nvSpPr>
          <p:spPr bwMode="auto">
            <a:xfrm>
              <a:off x="2480" y="2750"/>
              <a:ext cx="71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ctr"/>
              <a:r>
                <a:rPr kumimoji="0" lang="zh-CN" altLang="en-US" sz="2000" dirty="0"/>
                <a:t>指针域</a:t>
              </a:r>
            </a:p>
          </p:txBody>
        </p:sp>
        <p:grpSp>
          <p:nvGrpSpPr>
            <p:cNvPr id="14" name="Group 20"/>
            <p:cNvGrpSpPr>
              <a:grpSpLocks/>
            </p:cNvGrpSpPr>
            <p:nvPr/>
          </p:nvGrpSpPr>
          <p:grpSpPr bwMode="auto">
            <a:xfrm>
              <a:off x="884" y="2704"/>
              <a:ext cx="1152" cy="240"/>
              <a:chOff x="1008" y="2784"/>
              <a:chExt cx="1392" cy="240"/>
            </a:xfrm>
          </p:grpSpPr>
          <p:sp>
            <p:nvSpPr>
              <p:cNvPr id="23" name="Rectangle 4"/>
              <p:cNvSpPr>
                <a:spLocks noChangeArrowheads="1"/>
              </p:cNvSpPr>
              <p:nvPr/>
            </p:nvSpPr>
            <p:spPr bwMode="auto">
              <a:xfrm>
                <a:off x="1008" y="2784"/>
                <a:ext cx="720" cy="240"/>
              </a:xfrm>
              <a:prstGeom prst="rect">
                <a:avLst/>
              </a:prstGeom>
              <a:noFill/>
              <a:ln w="9525">
                <a:solidFill>
                  <a:schemeClr val="tx1"/>
                </a:solidFill>
                <a:miter lim="800000"/>
                <a:headEnd/>
                <a:tailEnd/>
              </a:ln>
            </p:spPr>
            <p:txBody>
              <a:bodyPr wrap="none" anchor="ctr"/>
              <a:lstStyle/>
              <a:p>
                <a:pPr algn="ctr"/>
                <a:r>
                  <a:rPr lang="en-US" altLang="zh-CN" sz="2400" dirty="0">
                    <a:latin typeface="微软雅黑" pitchFamily="34" charset="-122"/>
                    <a:ea typeface="微软雅黑" pitchFamily="34" charset="-122"/>
                  </a:rPr>
                  <a:t>data</a:t>
                </a:r>
              </a:p>
            </p:txBody>
          </p:sp>
          <p:sp>
            <p:nvSpPr>
              <p:cNvPr id="24" name="Rectangle 5"/>
              <p:cNvSpPr>
                <a:spLocks noChangeArrowheads="1"/>
              </p:cNvSpPr>
              <p:nvPr/>
            </p:nvSpPr>
            <p:spPr bwMode="auto">
              <a:xfrm>
                <a:off x="1728" y="2784"/>
                <a:ext cx="672" cy="240"/>
              </a:xfrm>
              <a:prstGeom prst="rect">
                <a:avLst/>
              </a:prstGeom>
              <a:noFill/>
              <a:ln w="9525">
                <a:solidFill>
                  <a:schemeClr val="tx1"/>
                </a:solidFill>
                <a:miter lim="800000"/>
                <a:headEnd/>
                <a:tailEnd/>
              </a:ln>
            </p:spPr>
            <p:txBody>
              <a:bodyPr wrap="none" anchor="ctr"/>
              <a:lstStyle/>
              <a:p>
                <a:pPr algn="ctr"/>
                <a:r>
                  <a:rPr lang="en-US" altLang="zh-CN" sz="2400" dirty="0">
                    <a:latin typeface="微软雅黑" pitchFamily="34" charset="-122"/>
                    <a:ea typeface="微软雅黑" pitchFamily="34" charset="-122"/>
                  </a:rPr>
                  <a:t>next</a:t>
                </a:r>
              </a:p>
            </p:txBody>
          </p:sp>
        </p:grpSp>
        <p:grpSp>
          <p:nvGrpSpPr>
            <p:cNvPr id="15" name="Group 31"/>
            <p:cNvGrpSpPr>
              <a:grpSpLocks/>
            </p:cNvGrpSpPr>
            <p:nvPr/>
          </p:nvGrpSpPr>
          <p:grpSpPr bwMode="auto">
            <a:xfrm>
              <a:off x="3560" y="2523"/>
              <a:ext cx="597" cy="477"/>
              <a:chOff x="3560" y="2296"/>
              <a:chExt cx="597" cy="477"/>
            </a:xfrm>
          </p:grpSpPr>
          <p:sp>
            <p:nvSpPr>
              <p:cNvPr id="21" name="Rectangle 14"/>
              <p:cNvSpPr>
                <a:spLocks noChangeArrowheads="1"/>
              </p:cNvSpPr>
              <p:nvPr/>
            </p:nvSpPr>
            <p:spPr bwMode="auto">
              <a:xfrm>
                <a:off x="3560" y="2533"/>
                <a:ext cx="597" cy="240"/>
              </a:xfrm>
              <a:prstGeom prst="rect">
                <a:avLst/>
              </a:prstGeom>
              <a:noFill/>
              <a:ln w="9525">
                <a:solidFill>
                  <a:schemeClr val="tx1"/>
                </a:solidFill>
                <a:miter lim="800000"/>
                <a:headEnd/>
                <a:tailEnd/>
              </a:ln>
            </p:spPr>
            <p:txBody>
              <a:bodyPr wrap="none" anchor="ctr"/>
              <a:lstStyle/>
              <a:p>
                <a:pPr algn="ctr"/>
                <a:r>
                  <a:rPr lang="en-US" altLang="zh-CN" sz="2400" dirty="0">
                    <a:latin typeface="微软雅黑" pitchFamily="34" charset="-122"/>
                    <a:ea typeface="微软雅黑" pitchFamily="34" charset="-122"/>
                  </a:rPr>
                  <a:t>next</a:t>
                </a:r>
              </a:p>
            </p:txBody>
          </p:sp>
          <p:sp>
            <p:nvSpPr>
              <p:cNvPr id="22" name="Rectangle 15"/>
              <p:cNvSpPr>
                <a:spLocks noChangeArrowheads="1"/>
              </p:cNvSpPr>
              <p:nvPr/>
            </p:nvSpPr>
            <p:spPr bwMode="auto">
              <a:xfrm>
                <a:off x="3560" y="2296"/>
                <a:ext cx="597" cy="240"/>
              </a:xfrm>
              <a:prstGeom prst="rect">
                <a:avLst/>
              </a:prstGeom>
              <a:noFill/>
              <a:ln w="9525">
                <a:solidFill>
                  <a:schemeClr val="tx1"/>
                </a:solidFill>
                <a:miter lim="800000"/>
                <a:headEnd/>
                <a:tailEnd/>
              </a:ln>
            </p:spPr>
            <p:txBody>
              <a:bodyPr wrap="none" anchor="ctr"/>
              <a:lstStyle/>
              <a:p>
                <a:pPr algn="ctr"/>
                <a:r>
                  <a:rPr lang="en-US" altLang="zh-CN" sz="2400" dirty="0">
                    <a:latin typeface="微软雅黑" pitchFamily="34" charset="-122"/>
                    <a:ea typeface="微软雅黑" pitchFamily="34" charset="-122"/>
                  </a:rPr>
                  <a:t>data</a:t>
                </a:r>
              </a:p>
            </p:txBody>
          </p:sp>
        </p:grpSp>
        <p:sp>
          <p:nvSpPr>
            <p:cNvPr id="16" name="Line 30"/>
            <p:cNvSpPr>
              <a:spLocks noChangeShapeType="1"/>
            </p:cNvSpPr>
            <p:nvPr/>
          </p:nvSpPr>
          <p:spPr bwMode="auto">
            <a:xfrm>
              <a:off x="3152" y="2886"/>
              <a:ext cx="40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7" name="Line 32"/>
            <p:cNvSpPr>
              <a:spLocks noChangeShapeType="1"/>
            </p:cNvSpPr>
            <p:nvPr/>
          </p:nvSpPr>
          <p:spPr bwMode="auto">
            <a:xfrm flipH="1">
              <a:off x="2064" y="2886"/>
              <a:ext cx="40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8" name="Line 33"/>
            <p:cNvSpPr>
              <a:spLocks noChangeShapeType="1"/>
            </p:cNvSpPr>
            <p:nvPr/>
          </p:nvSpPr>
          <p:spPr bwMode="auto">
            <a:xfrm>
              <a:off x="3152" y="2614"/>
              <a:ext cx="40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9" name="Line 34"/>
            <p:cNvSpPr>
              <a:spLocks noChangeShapeType="1"/>
            </p:cNvSpPr>
            <p:nvPr/>
          </p:nvSpPr>
          <p:spPr bwMode="auto">
            <a:xfrm>
              <a:off x="1383" y="2588"/>
              <a:ext cx="0" cy="11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20" name="Line 35"/>
            <p:cNvSpPr>
              <a:spLocks noChangeShapeType="1"/>
            </p:cNvSpPr>
            <p:nvPr/>
          </p:nvSpPr>
          <p:spPr bwMode="auto">
            <a:xfrm>
              <a:off x="1383" y="2588"/>
              <a:ext cx="104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a:p>
          </p:txBody>
        </p:sp>
      </p:grpSp>
      <p:sp>
        <p:nvSpPr>
          <p:cNvPr id="25" name="矩形 24"/>
          <p:cNvSpPr/>
          <p:nvPr/>
        </p:nvSpPr>
        <p:spPr>
          <a:xfrm>
            <a:off x="360688" y="2663351"/>
            <a:ext cx="4283320" cy="1631216"/>
          </a:xfrm>
          <a:prstGeom prst="rect">
            <a:avLst/>
          </a:prstGeom>
        </p:spPr>
        <p:txBody>
          <a:bodyPr wrap="square">
            <a:spAutoFit/>
          </a:bodyPr>
          <a:lstStyle/>
          <a:p>
            <a:r>
              <a:rPr lang="en-US" altLang="zh-CN" sz="2000" dirty="0" err="1">
                <a:latin typeface="Times New Roman" pitchFamily="18" charset="0"/>
                <a:ea typeface="宋体" pitchFamily="2" charset="-122"/>
              </a:rPr>
              <a:t>typedef</a:t>
            </a:r>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struct</a:t>
            </a:r>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LNode</a:t>
            </a:r>
            <a:endParaRPr lang="zh-CN" altLang="zh-CN" sz="2000" dirty="0">
              <a:latin typeface="Times New Roman" pitchFamily="18" charset="0"/>
              <a:ea typeface="宋体" pitchFamily="2" charset="-122"/>
            </a:endParaRPr>
          </a:p>
          <a:p>
            <a:r>
              <a:rPr lang="en-US" altLang="zh-CN" sz="2000" dirty="0">
                <a:latin typeface="Times New Roman" pitchFamily="18" charset="0"/>
                <a:ea typeface="宋体" pitchFamily="2" charset="-122"/>
              </a:rPr>
              <a:t>{</a:t>
            </a:r>
          </a:p>
          <a:p>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ElemType</a:t>
            </a:r>
            <a:r>
              <a:rPr lang="en-US" altLang="zh-CN" sz="2000" dirty="0">
                <a:latin typeface="Times New Roman" pitchFamily="18" charset="0"/>
                <a:ea typeface="宋体" pitchFamily="2" charset="-122"/>
              </a:rPr>
              <a:t>         data;     //</a:t>
            </a:r>
            <a:r>
              <a:rPr lang="zh-CN" altLang="en-US" sz="2000" dirty="0">
                <a:latin typeface="Times New Roman" pitchFamily="18" charset="0"/>
                <a:ea typeface="宋体" pitchFamily="2" charset="-122"/>
              </a:rPr>
              <a:t>数据域</a:t>
            </a:r>
            <a:endParaRPr lang="en-US" altLang="zh-CN" sz="2000" dirty="0">
              <a:latin typeface="Times New Roman" pitchFamily="18" charset="0"/>
              <a:ea typeface="宋体" pitchFamily="2" charset="-122"/>
            </a:endParaRPr>
          </a:p>
          <a:p>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struct</a:t>
            </a:r>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LNode</a:t>
            </a:r>
            <a:r>
              <a:rPr lang="en-US" altLang="zh-CN" sz="2000" dirty="0">
                <a:latin typeface="Times New Roman" pitchFamily="18" charset="0"/>
                <a:ea typeface="宋体" pitchFamily="2" charset="-122"/>
              </a:rPr>
              <a:t>    *next;   //</a:t>
            </a:r>
            <a:r>
              <a:rPr lang="zh-CN" altLang="en-US" sz="2000" dirty="0">
                <a:latin typeface="Times New Roman" pitchFamily="18" charset="0"/>
                <a:ea typeface="宋体" pitchFamily="2" charset="-122"/>
              </a:rPr>
              <a:t>指针域</a:t>
            </a:r>
            <a:r>
              <a:rPr lang="en-US" altLang="zh-CN" sz="2000" dirty="0">
                <a:latin typeface="Times New Roman" pitchFamily="18" charset="0"/>
                <a:ea typeface="宋体" pitchFamily="2" charset="-122"/>
              </a:rPr>
              <a:t>        </a:t>
            </a:r>
            <a:endParaRPr lang="zh-CN" altLang="zh-CN" sz="2000" dirty="0">
              <a:latin typeface="Times New Roman" pitchFamily="18" charset="0"/>
              <a:ea typeface="宋体" pitchFamily="2" charset="-122"/>
            </a:endParaRPr>
          </a:p>
          <a:p>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LNode</a:t>
            </a:r>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LinkList</a:t>
            </a:r>
            <a:r>
              <a:rPr lang="en-US" altLang="zh-CN" sz="2000" dirty="0">
                <a:latin typeface="Times New Roman" pitchFamily="18" charset="0"/>
                <a:ea typeface="宋体" pitchFamily="2" charset="-122"/>
              </a:rPr>
              <a:t>;</a:t>
            </a:r>
            <a:endParaRPr lang="zh-CN" altLang="zh-CN" sz="2000" dirty="0">
              <a:latin typeface="Times New Roman" pitchFamily="18" charset="0"/>
              <a:ea typeface="宋体" pitchFamily="2" charset="-122"/>
            </a:endParaRPr>
          </a:p>
        </p:txBody>
      </p:sp>
      <p:sp>
        <p:nvSpPr>
          <p:cNvPr id="26" name="矩形 25"/>
          <p:cNvSpPr/>
          <p:nvPr/>
        </p:nvSpPr>
        <p:spPr>
          <a:xfrm>
            <a:off x="4644008" y="2663351"/>
            <a:ext cx="4546208" cy="1631216"/>
          </a:xfrm>
          <a:prstGeom prst="rect">
            <a:avLst/>
          </a:prstGeom>
        </p:spPr>
        <p:txBody>
          <a:bodyPr wrap="square">
            <a:spAutoFit/>
          </a:bodyPr>
          <a:lstStyle/>
          <a:p>
            <a:r>
              <a:rPr lang="en-US" altLang="zh-CN" sz="2000" dirty="0">
                <a:latin typeface="Times New Roman" pitchFamily="18" charset="0"/>
                <a:ea typeface="宋体" pitchFamily="2" charset="-122"/>
              </a:rPr>
              <a:t>#define MAXSIZE 1000</a:t>
            </a:r>
          </a:p>
          <a:p>
            <a:r>
              <a:rPr lang="en-US" altLang="zh-CN" sz="2000" dirty="0" err="1">
                <a:latin typeface="Times New Roman" pitchFamily="18" charset="0"/>
                <a:ea typeface="宋体" pitchFamily="2" charset="-122"/>
              </a:rPr>
              <a:t>typedef</a:t>
            </a:r>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struct</a:t>
            </a:r>
            <a:r>
              <a:rPr lang="en-US" altLang="zh-CN" sz="2000" dirty="0">
                <a:latin typeface="Times New Roman" pitchFamily="18" charset="0"/>
                <a:ea typeface="宋体" pitchFamily="2" charset="-122"/>
              </a:rPr>
              <a:t> {</a:t>
            </a:r>
          </a:p>
          <a:p>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ElemType</a:t>
            </a:r>
            <a:r>
              <a:rPr lang="en-US" altLang="zh-CN" sz="2000" dirty="0">
                <a:latin typeface="Times New Roman" pitchFamily="18" charset="0"/>
                <a:ea typeface="宋体" pitchFamily="2" charset="-122"/>
              </a:rPr>
              <a:t>      data;    //</a:t>
            </a:r>
            <a:r>
              <a:rPr lang="zh-CN" altLang="en-US" sz="2000" dirty="0">
                <a:latin typeface="Times New Roman" pitchFamily="18" charset="0"/>
                <a:ea typeface="宋体" pitchFamily="2" charset="-122"/>
              </a:rPr>
              <a:t>数据域</a:t>
            </a:r>
            <a:endParaRPr lang="en-US" altLang="zh-CN" sz="2000" dirty="0">
              <a:latin typeface="Times New Roman" pitchFamily="18" charset="0"/>
              <a:ea typeface="宋体" pitchFamily="2" charset="-122"/>
            </a:endParaRPr>
          </a:p>
          <a:p>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int</a:t>
            </a:r>
            <a:r>
              <a:rPr lang="en-US" altLang="zh-CN" sz="2000" dirty="0">
                <a:latin typeface="Times New Roman" pitchFamily="18" charset="0"/>
                <a:ea typeface="宋体" pitchFamily="2" charset="-122"/>
              </a:rPr>
              <a:t>                  cur;     //</a:t>
            </a:r>
            <a:r>
              <a:rPr lang="zh-CN" altLang="en-US" sz="2000" dirty="0">
                <a:latin typeface="Times New Roman" pitchFamily="18" charset="0"/>
                <a:ea typeface="宋体" pitchFamily="2" charset="-122"/>
              </a:rPr>
              <a:t>“指针”域</a:t>
            </a:r>
            <a:r>
              <a:rPr lang="en-US" altLang="zh-CN" sz="2000" dirty="0">
                <a:latin typeface="Times New Roman" pitchFamily="18" charset="0"/>
                <a:ea typeface="宋体" pitchFamily="2" charset="-122"/>
              </a:rPr>
              <a:t>        </a:t>
            </a:r>
            <a:endParaRPr lang="zh-CN" altLang="zh-CN" sz="2000" dirty="0">
              <a:latin typeface="Times New Roman" pitchFamily="18" charset="0"/>
              <a:ea typeface="宋体" pitchFamily="2" charset="-122"/>
            </a:endParaRPr>
          </a:p>
          <a:p>
            <a:r>
              <a:rPr lang="en-US" altLang="zh-CN" sz="2000" dirty="0">
                <a:latin typeface="Times New Roman" pitchFamily="18" charset="0"/>
                <a:ea typeface="宋体" pitchFamily="2" charset="-122"/>
              </a:rPr>
              <a:t>} component, </a:t>
            </a:r>
            <a:r>
              <a:rPr lang="en-US" altLang="zh-CN" sz="2000" dirty="0" err="1">
                <a:latin typeface="Times New Roman" pitchFamily="18" charset="0"/>
                <a:ea typeface="宋体" pitchFamily="2" charset="-122"/>
              </a:rPr>
              <a:t>SLinkList</a:t>
            </a:r>
            <a:r>
              <a:rPr lang="en-US" altLang="zh-CN" sz="2000" dirty="0">
                <a:latin typeface="Times New Roman" pitchFamily="18" charset="0"/>
                <a:ea typeface="宋体" pitchFamily="2" charset="-122"/>
              </a:rPr>
              <a:t>[MAXSIZE];</a:t>
            </a:r>
            <a:endParaRPr lang="zh-CN" altLang="zh-CN" sz="2000" dirty="0">
              <a:latin typeface="Times New Roman" pitchFamily="18" charset="0"/>
              <a:ea typeface="宋体" pitchFamily="2" charset="-122"/>
            </a:endParaRPr>
          </a:p>
        </p:txBody>
      </p:sp>
      <p:sp>
        <p:nvSpPr>
          <p:cNvPr id="27" name="矩形 26"/>
          <p:cNvSpPr/>
          <p:nvPr/>
        </p:nvSpPr>
        <p:spPr>
          <a:xfrm>
            <a:off x="1310802" y="4248223"/>
            <a:ext cx="1415772"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动态链表</a:t>
            </a:r>
            <a:endParaRPr lang="en-US" altLang="zh-CN" sz="2400" dirty="0">
              <a:latin typeface="微软雅黑" pitchFamily="34" charset="-122"/>
              <a:ea typeface="微软雅黑" pitchFamily="34" charset="-122"/>
              <a:cs typeface="经典粗黑简" pitchFamily="49" charset="-122"/>
            </a:endParaRPr>
          </a:p>
        </p:txBody>
      </p:sp>
      <p:sp>
        <p:nvSpPr>
          <p:cNvPr id="28" name="矩形 27"/>
          <p:cNvSpPr/>
          <p:nvPr/>
        </p:nvSpPr>
        <p:spPr>
          <a:xfrm>
            <a:off x="5747315" y="4248223"/>
            <a:ext cx="1415772"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静态链表</a:t>
            </a:r>
            <a:endParaRPr lang="en-US" altLang="zh-CN" sz="2400" dirty="0">
              <a:latin typeface="微软雅黑" pitchFamily="34" charset="-122"/>
              <a:ea typeface="微软雅黑" pitchFamily="34" charset="-122"/>
              <a:cs typeface="经典粗黑简" pitchFamily="49" charset="-122"/>
            </a:endParaRPr>
          </a:p>
        </p:txBody>
      </p:sp>
      <p:cxnSp>
        <p:nvCxnSpPr>
          <p:cNvPr id="30" name="直接连接符 2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DD4D7F27-F3C8-C213-6B3A-FE7FFBA31D7F}"/>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2.6 </a:t>
            </a:r>
            <a:r>
              <a:rPr lang="zh-CN" altLang="en-US" sz="3700" b="1" dirty="0">
                <a:latin typeface="黑体" pitchFamily="49" charset="-122"/>
                <a:ea typeface="黑体" pitchFamily="49" charset="-122"/>
                <a:cs typeface="+mn-cs"/>
              </a:rPr>
              <a:t>静态链表</a:t>
            </a:r>
          </a:p>
        </p:txBody>
      </p:sp>
    </p:spTree>
    <p:extLst>
      <p:ext uri="{BB962C8B-B14F-4D97-AF65-F5344CB8AC3E}">
        <p14:creationId xmlns:p14="http://schemas.microsoft.com/office/powerpoint/2010/main" val="3847616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5" grpId="0"/>
      <p:bldP spid="26" grpId="0"/>
      <p:bldP spid="27" grpId="0"/>
      <p:bldP spid="28"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420826" y="1646501"/>
            <a:ext cx="5562664" cy="1631216"/>
          </a:xfrm>
          <a:prstGeom prst="rect">
            <a:avLst/>
          </a:prstGeom>
        </p:spPr>
        <p:txBody>
          <a:bodyPr wrap="square">
            <a:spAutoFit/>
          </a:bodyPr>
          <a:lstStyle/>
          <a:p>
            <a:r>
              <a:rPr lang="en-US" altLang="zh-CN" sz="2000" dirty="0">
                <a:latin typeface="Times New Roman" pitchFamily="18" charset="0"/>
                <a:ea typeface="宋体" pitchFamily="2" charset="-122"/>
              </a:rPr>
              <a:t>#define MAXSIZE 1000</a:t>
            </a:r>
          </a:p>
          <a:p>
            <a:r>
              <a:rPr lang="en-US" altLang="zh-CN" sz="2000" dirty="0" err="1">
                <a:latin typeface="Times New Roman" pitchFamily="18" charset="0"/>
                <a:ea typeface="宋体" pitchFamily="2" charset="-122"/>
              </a:rPr>
              <a:t>typedef</a:t>
            </a:r>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struct</a:t>
            </a:r>
            <a:r>
              <a:rPr lang="en-US" altLang="zh-CN" sz="2000" dirty="0">
                <a:latin typeface="Times New Roman" pitchFamily="18" charset="0"/>
                <a:ea typeface="宋体" pitchFamily="2" charset="-122"/>
              </a:rPr>
              <a:t> {</a:t>
            </a:r>
          </a:p>
          <a:p>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ElemType</a:t>
            </a:r>
            <a:r>
              <a:rPr lang="en-US" altLang="zh-CN" sz="2000" dirty="0">
                <a:latin typeface="Times New Roman" pitchFamily="18" charset="0"/>
                <a:ea typeface="宋体" pitchFamily="2" charset="-122"/>
              </a:rPr>
              <a:t>         data;     //</a:t>
            </a:r>
            <a:r>
              <a:rPr lang="zh-CN" altLang="en-US" sz="2000" dirty="0">
                <a:latin typeface="Times New Roman" pitchFamily="18" charset="0"/>
                <a:ea typeface="宋体" pitchFamily="2" charset="-122"/>
              </a:rPr>
              <a:t>数据域</a:t>
            </a:r>
            <a:endParaRPr lang="en-US" altLang="zh-CN" sz="2000" dirty="0">
              <a:latin typeface="Times New Roman" pitchFamily="18" charset="0"/>
              <a:ea typeface="宋体" pitchFamily="2" charset="-122"/>
            </a:endParaRPr>
          </a:p>
          <a:p>
            <a:r>
              <a:rPr lang="en-US" altLang="zh-CN" sz="2000" dirty="0">
                <a:latin typeface="Times New Roman" pitchFamily="18" charset="0"/>
                <a:ea typeface="宋体" pitchFamily="2" charset="-122"/>
              </a:rPr>
              <a:t>          </a:t>
            </a:r>
            <a:r>
              <a:rPr lang="en-US" altLang="zh-CN" sz="2000" dirty="0" err="1">
                <a:latin typeface="Times New Roman" pitchFamily="18" charset="0"/>
                <a:ea typeface="宋体" pitchFamily="2" charset="-122"/>
              </a:rPr>
              <a:t>int</a:t>
            </a:r>
            <a:r>
              <a:rPr lang="en-US" altLang="zh-CN" sz="2000" dirty="0">
                <a:latin typeface="Times New Roman" pitchFamily="18" charset="0"/>
                <a:ea typeface="宋体" pitchFamily="2" charset="-122"/>
              </a:rPr>
              <a:t>                     cur;      //</a:t>
            </a:r>
            <a:r>
              <a:rPr lang="zh-CN" altLang="en-US" sz="2000" dirty="0">
                <a:latin typeface="Times New Roman" pitchFamily="18" charset="0"/>
                <a:ea typeface="宋体" pitchFamily="2" charset="-122"/>
              </a:rPr>
              <a:t>“指针”域</a:t>
            </a:r>
            <a:r>
              <a:rPr lang="en-US" altLang="zh-CN" sz="2000" dirty="0">
                <a:latin typeface="Times New Roman" pitchFamily="18" charset="0"/>
                <a:ea typeface="宋体" pitchFamily="2" charset="-122"/>
              </a:rPr>
              <a:t>        </a:t>
            </a:r>
            <a:endParaRPr lang="zh-CN" altLang="zh-CN" sz="2000" dirty="0">
              <a:latin typeface="Times New Roman" pitchFamily="18" charset="0"/>
              <a:ea typeface="宋体" pitchFamily="2" charset="-122"/>
            </a:endParaRPr>
          </a:p>
          <a:p>
            <a:r>
              <a:rPr lang="en-US" altLang="zh-CN" sz="2000" dirty="0">
                <a:latin typeface="Times New Roman" pitchFamily="18" charset="0"/>
                <a:ea typeface="宋体" pitchFamily="2" charset="-122"/>
              </a:rPr>
              <a:t>} component, </a:t>
            </a:r>
            <a:r>
              <a:rPr lang="en-US" altLang="zh-CN" sz="2000" dirty="0" err="1">
                <a:latin typeface="Times New Roman" pitchFamily="18" charset="0"/>
                <a:ea typeface="宋体" pitchFamily="2" charset="-122"/>
              </a:rPr>
              <a:t>SLinkList</a:t>
            </a:r>
            <a:r>
              <a:rPr lang="en-US" altLang="zh-CN" sz="2000" dirty="0">
                <a:latin typeface="Times New Roman" pitchFamily="18" charset="0"/>
                <a:ea typeface="宋体" pitchFamily="2" charset="-122"/>
              </a:rPr>
              <a:t>[MAXSIZE];</a:t>
            </a:r>
            <a:endParaRPr lang="zh-CN" altLang="zh-CN" sz="2000" dirty="0">
              <a:latin typeface="Times New Roman" pitchFamily="18" charset="0"/>
              <a:ea typeface="宋体" pitchFamily="2" charset="-122"/>
            </a:endParaRPr>
          </a:p>
        </p:txBody>
      </p:sp>
      <p:sp>
        <p:nvSpPr>
          <p:cNvPr id="30" name="矩形 29"/>
          <p:cNvSpPr/>
          <p:nvPr/>
        </p:nvSpPr>
        <p:spPr>
          <a:xfrm>
            <a:off x="3548677" y="1518945"/>
            <a:ext cx="1557422"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游标 </a:t>
            </a:r>
            <a:r>
              <a:rPr lang="en-US" altLang="zh-CN" sz="2000" dirty="0"/>
              <a:t>Cursor</a:t>
            </a:r>
            <a:endParaRPr lang="en-US" altLang="zh-CN" sz="2000" dirty="0">
              <a:latin typeface="微软雅黑" pitchFamily="34" charset="-122"/>
              <a:ea typeface="微软雅黑" pitchFamily="34" charset="-122"/>
              <a:cs typeface="经典粗黑简" pitchFamily="49" charset="-122"/>
            </a:endParaRPr>
          </a:p>
        </p:txBody>
      </p:sp>
      <p:sp>
        <p:nvSpPr>
          <p:cNvPr id="31" name="矩形标注 30"/>
          <p:cNvSpPr/>
          <p:nvPr/>
        </p:nvSpPr>
        <p:spPr>
          <a:xfrm rot="10800000">
            <a:off x="3509415" y="1496458"/>
            <a:ext cx="1596684" cy="422596"/>
          </a:xfrm>
          <a:prstGeom prst="wedgeRectCallout">
            <a:avLst>
              <a:gd name="adj1" fmla="val 71605"/>
              <a:gd name="adj2" fmla="val -24740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Rectangle 5"/>
          <p:cNvSpPr>
            <a:spLocks noChangeArrowheads="1"/>
          </p:cNvSpPr>
          <p:nvPr/>
        </p:nvSpPr>
        <p:spPr bwMode="auto">
          <a:xfrm>
            <a:off x="1466087" y="3434420"/>
            <a:ext cx="591750" cy="340520"/>
          </a:xfrm>
          <a:prstGeom prst="rect">
            <a:avLst/>
          </a:prstGeom>
          <a:noFill/>
          <a:ln w="9525">
            <a:solidFill>
              <a:schemeClr val="tx1"/>
            </a:solidFill>
            <a:miter lim="800000"/>
            <a:headEnd/>
            <a:tailEnd/>
          </a:ln>
        </p:spPr>
        <p:txBody>
          <a:bodyPr wrap="none" anchor="ctr"/>
          <a:lstStyle/>
          <a:p>
            <a:pPr>
              <a:spcBef>
                <a:spcPct val="20000"/>
              </a:spcBef>
            </a:pPr>
            <a:r>
              <a:rPr lang="en-US" altLang="zh-CN" sz="2000" dirty="0">
                <a:latin typeface="微软雅黑" pitchFamily="34" charset="-122"/>
                <a:ea typeface="微软雅黑" pitchFamily="34" charset="-122"/>
              </a:rPr>
              <a:t>a</a:t>
            </a:r>
            <a:r>
              <a:rPr lang="en-US" altLang="zh-CN" sz="2000" baseline="-25000" dirty="0">
                <a:latin typeface="微软雅黑" pitchFamily="34" charset="-122"/>
                <a:ea typeface="微软雅黑" pitchFamily="34" charset="-122"/>
              </a:rPr>
              <a:t>1</a:t>
            </a:r>
            <a:r>
              <a:rPr lang="en-US" altLang="zh-CN" sz="3600" baseline="-25000" dirty="0"/>
              <a:t> </a:t>
            </a:r>
            <a:r>
              <a:rPr lang="en-US" altLang="zh-CN" sz="1600" dirty="0">
                <a:solidFill>
                  <a:srgbClr val="FF0000"/>
                </a:solidFill>
                <a:latin typeface="微软雅黑" pitchFamily="34" charset="-122"/>
                <a:ea typeface="微软雅黑" pitchFamily="34" charset="-122"/>
              </a:rPr>
              <a:t>1</a:t>
            </a:r>
            <a:r>
              <a:rPr lang="en-US" altLang="zh-CN" sz="1600" dirty="0">
                <a:latin typeface="微软雅黑" pitchFamily="34" charset="-122"/>
                <a:ea typeface="微软雅黑" pitchFamily="34" charset="-122"/>
              </a:rPr>
              <a:t> </a:t>
            </a:r>
            <a:r>
              <a:rPr lang="en-US" altLang="zh-CN" sz="2400" dirty="0"/>
              <a:t> </a:t>
            </a:r>
          </a:p>
        </p:txBody>
      </p:sp>
      <p:sp>
        <p:nvSpPr>
          <p:cNvPr id="33" name="Line 6"/>
          <p:cNvSpPr>
            <a:spLocks noChangeShapeType="1"/>
          </p:cNvSpPr>
          <p:nvPr/>
        </p:nvSpPr>
        <p:spPr bwMode="auto">
          <a:xfrm>
            <a:off x="1834024" y="3434420"/>
            <a:ext cx="0" cy="3405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29"/>
          <p:cNvSpPr>
            <a:spLocks noChangeShapeType="1"/>
          </p:cNvSpPr>
          <p:nvPr/>
        </p:nvSpPr>
        <p:spPr bwMode="auto">
          <a:xfrm>
            <a:off x="331629" y="3641698"/>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a:off x="2062322" y="3641698"/>
            <a:ext cx="190500" cy="2689"/>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 name="矩形 35"/>
          <p:cNvSpPr/>
          <p:nvPr/>
        </p:nvSpPr>
        <p:spPr>
          <a:xfrm>
            <a:off x="35496" y="3391071"/>
            <a:ext cx="351378" cy="523220"/>
          </a:xfrm>
          <a:prstGeom prst="rect">
            <a:avLst/>
          </a:prstGeom>
        </p:spPr>
        <p:txBody>
          <a:bodyPr wrap="none">
            <a:spAutoFit/>
          </a:bodyPr>
          <a:lstStyle/>
          <a:p>
            <a:pPr algn="r"/>
            <a:r>
              <a:rPr lang="en-US" altLang="zh-CN" sz="2800" dirty="0">
                <a:latin typeface="微软雅黑" pitchFamily="34" charset="-122"/>
                <a:ea typeface="微软雅黑" pitchFamily="34" charset="-122"/>
              </a:rPr>
              <a:t>s</a:t>
            </a:r>
          </a:p>
        </p:txBody>
      </p:sp>
      <p:sp>
        <p:nvSpPr>
          <p:cNvPr id="37" name="Rectangle 5"/>
          <p:cNvSpPr>
            <a:spLocks noChangeArrowheads="1"/>
          </p:cNvSpPr>
          <p:nvPr/>
        </p:nvSpPr>
        <p:spPr bwMode="auto">
          <a:xfrm>
            <a:off x="712629" y="3431274"/>
            <a:ext cx="591750" cy="340520"/>
          </a:xfrm>
          <a:prstGeom prst="rect">
            <a:avLst/>
          </a:prstGeom>
          <a:solidFill>
            <a:srgbClr val="92D050"/>
          </a:solidFill>
          <a:ln w="9525">
            <a:solidFill>
              <a:schemeClr val="tx1"/>
            </a:solidFill>
            <a:miter lim="800000"/>
            <a:headEnd/>
            <a:tailEnd/>
          </a:ln>
        </p:spPr>
        <p:txBody>
          <a:bodyPr wrap="none" anchor="ctr"/>
          <a:lstStyle/>
          <a:p>
            <a:pPr>
              <a:spcBef>
                <a:spcPct val="20000"/>
              </a:spcBef>
            </a:pPr>
            <a:r>
              <a:rPr lang="en-US" altLang="zh-CN" sz="1600" dirty="0">
                <a:latin typeface="微软雅黑" pitchFamily="34" charset="-122"/>
                <a:ea typeface="微软雅黑" pitchFamily="34" charset="-122"/>
              </a:rPr>
              <a:t>      </a:t>
            </a:r>
            <a:r>
              <a:rPr lang="en-US" altLang="zh-CN" sz="1600" dirty="0">
                <a:solidFill>
                  <a:srgbClr val="FF0000"/>
                </a:solidFill>
                <a:latin typeface="微软雅黑" pitchFamily="34" charset="-122"/>
                <a:ea typeface="微软雅黑" pitchFamily="34" charset="-122"/>
              </a:rPr>
              <a:t>3</a:t>
            </a:r>
            <a:r>
              <a:rPr lang="en-US" altLang="zh-CN" sz="1600" dirty="0">
                <a:latin typeface="微软雅黑" pitchFamily="34" charset="-122"/>
                <a:ea typeface="微软雅黑" pitchFamily="34" charset="-122"/>
              </a:rPr>
              <a:t> </a:t>
            </a:r>
            <a:r>
              <a:rPr lang="en-US" altLang="zh-CN" sz="2400" dirty="0"/>
              <a:t> </a:t>
            </a:r>
          </a:p>
        </p:txBody>
      </p:sp>
      <p:sp>
        <p:nvSpPr>
          <p:cNvPr id="38" name="Line 6"/>
          <p:cNvSpPr>
            <a:spLocks noChangeShapeType="1"/>
          </p:cNvSpPr>
          <p:nvPr/>
        </p:nvSpPr>
        <p:spPr bwMode="auto">
          <a:xfrm>
            <a:off x="1080566" y="3431274"/>
            <a:ext cx="0" cy="3405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29"/>
          <p:cNvSpPr>
            <a:spLocks noChangeShapeType="1"/>
          </p:cNvSpPr>
          <p:nvPr/>
        </p:nvSpPr>
        <p:spPr bwMode="auto">
          <a:xfrm>
            <a:off x="1300155" y="3651615"/>
            <a:ext cx="190500" cy="2689"/>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Rectangle 5"/>
          <p:cNvSpPr>
            <a:spLocks noChangeArrowheads="1"/>
          </p:cNvSpPr>
          <p:nvPr/>
        </p:nvSpPr>
        <p:spPr bwMode="auto">
          <a:xfrm>
            <a:off x="2239634" y="3437362"/>
            <a:ext cx="591750" cy="340520"/>
          </a:xfrm>
          <a:prstGeom prst="rect">
            <a:avLst/>
          </a:prstGeom>
          <a:noFill/>
          <a:ln w="9525">
            <a:solidFill>
              <a:schemeClr val="tx1"/>
            </a:solidFill>
            <a:miter lim="800000"/>
            <a:headEnd/>
            <a:tailEnd/>
          </a:ln>
        </p:spPr>
        <p:txBody>
          <a:bodyPr wrap="none" anchor="ctr"/>
          <a:lstStyle/>
          <a:p>
            <a:pPr>
              <a:spcBef>
                <a:spcPct val="20000"/>
              </a:spcBef>
            </a:pPr>
            <a:r>
              <a:rPr lang="en-US" altLang="zh-CN" sz="2000" dirty="0">
                <a:latin typeface="微软雅黑" pitchFamily="34" charset="-122"/>
                <a:ea typeface="微软雅黑" pitchFamily="34" charset="-122"/>
              </a:rPr>
              <a:t>a</a:t>
            </a:r>
            <a:r>
              <a:rPr lang="en-US" altLang="zh-CN" sz="2000" baseline="-25000" dirty="0">
                <a:latin typeface="微软雅黑" pitchFamily="34" charset="-122"/>
                <a:ea typeface="微软雅黑" pitchFamily="34" charset="-122"/>
              </a:rPr>
              <a:t>2</a:t>
            </a:r>
            <a:r>
              <a:rPr lang="en-US" altLang="zh-CN" sz="3600" baseline="-25000" dirty="0"/>
              <a:t> </a:t>
            </a:r>
            <a:r>
              <a:rPr lang="en-US" altLang="zh-CN" sz="1600" dirty="0">
                <a:solidFill>
                  <a:srgbClr val="FF0000"/>
                </a:solidFill>
                <a:latin typeface="微软雅黑" pitchFamily="34" charset="-122"/>
                <a:ea typeface="微软雅黑" pitchFamily="34" charset="-122"/>
              </a:rPr>
              <a:t>6</a:t>
            </a:r>
            <a:r>
              <a:rPr lang="en-US" altLang="zh-CN" sz="1600" dirty="0">
                <a:latin typeface="微软雅黑" pitchFamily="34" charset="-122"/>
                <a:ea typeface="微软雅黑" pitchFamily="34" charset="-122"/>
              </a:rPr>
              <a:t> </a:t>
            </a:r>
            <a:r>
              <a:rPr lang="en-US" altLang="zh-CN" sz="2400" dirty="0"/>
              <a:t> </a:t>
            </a:r>
          </a:p>
        </p:txBody>
      </p:sp>
      <p:sp>
        <p:nvSpPr>
          <p:cNvPr id="41" name="Line 6"/>
          <p:cNvSpPr>
            <a:spLocks noChangeShapeType="1"/>
          </p:cNvSpPr>
          <p:nvPr/>
        </p:nvSpPr>
        <p:spPr bwMode="auto">
          <a:xfrm>
            <a:off x="2607571" y="3437362"/>
            <a:ext cx="0" cy="3405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9"/>
          <p:cNvSpPr>
            <a:spLocks noChangeShapeType="1"/>
          </p:cNvSpPr>
          <p:nvPr/>
        </p:nvSpPr>
        <p:spPr bwMode="auto">
          <a:xfrm>
            <a:off x="2835869" y="3644640"/>
            <a:ext cx="190500" cy="2689"/>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5"/>
          <p:cNvSpPr>
            <a:spLocks noChangeArrowheads="1"/>
          </p:cNvSpPr>
          <p:nvPr/>
        </p:nvSpPr>
        <p:spPr bwMode="auto">
          <a:xfrm>
            <a:off x="2993911" y="3450040"/>
            <a:ext cx="591750" cy="340520"/>
          </a:xfrm>
          <a:prstGeom prst="rect">
            <a:avLst/>
          </a:prstGeom>
          <a:noFill/>
          <a:ln w="9525">
            <a:solidFill>
              <a:schemeClr val="tx1"/>
            </a:solidFill>
            <a:miter lim="800000"/>
            <a:headEnd/>
            <a:tailEnd/>
          </a:ln>
        </p:spPr>
        <p:txBody>
          <a:bodyPr wrap="none" anchor="ctr"/>
          <a:lstStyle/>
          <a:p>
            <a:pPr>
              <a:spcBef>
                <a:spcPct val="20000"/>
              </a:spcBef>
            </a:pPr>
            <a:r>
              <a:rPr lang="en-US" altLang="zh-CN" sz="2000" dirty="0">
                <a:latin typeface="微软雅黑" pitchFamily="34" charset="-122"/>
                <a:ea typeface="微软雅黑" pitchFamily="34" charset="-122"/>
              </a:rPr>
              <a:t>a</a:t>
            </a:r>
            <a:r>
              <a:rPr lang="en-US" altLang="zh-CN" sz="2000" baseline="-25000" dirty="0">
                <a:latin typeface="微软雅黑" pitchFamily="34" charset="-122"/>
                <a:ea typeface="微软雅黑" pitchFamily="34" charset="-122"/>
              </a:rPr>
              <a:t>3</a:t>
            </a:r>
            <a:r>
              <a:rPr lang="en-US" altLang="zh-CN" sz="3600" baseline="-25000" dirty="0"/>
              <a:t> </a:t>
            </a:r>
            <a:r>
              <a:rPr lang="en-US" altLang="zh-CN" sz="1600" dirty="0">
                <a:solidFill>
                  <a:srgbClr val="FF0000"/>
                </a:solidFill>
                <a:latin typeface="微软雅黑" pitchFamily="34" charset="-122"/>
                <a:ea typeface="微软雅黑" pitchFamily="34" charset="-122"/>
              </a:rPr>
              <a:t>5</a:t>
            </a:r>
            <a:r>
              <a:rPr lang="en-US" altLang="zh-CN" sz="1600" dirty="0">
                <a:latin typeface="微软雅黑" pitchFamily="34" charset="-122"/>
                <a:ea typeface="微软雅黑" pitchFamily="34" charset="-122"/>
              </a:rPr>
              <a:t> </a:t>
            </a:r>
            <a:r>
              <a:rPr lang="en-US" altLang="zh-CN" sz="2400" dirty="0"/>
              <a:t> </a:t>
            </a:r>
          </a:p>
        </p:txBody>
      </p:sp>
      <p:sp>
        <p:nvSpPr>
          <p:cNvPr id="44" name="Line 6"/>
          <p:cNvSpPr>
            <a:spLocks noChangeShapeType="1"/>
          </p:cNvSpPr>
          <p:nvPr/>
        </p:nvSpPr>
        <p:spPr bwMode="auto">
          <a:xfrm>
            <a:off x="3361848" y="3450040"/>
            <a:ext cx="0" cy="3405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9"/>
          <p:cNvSpPr>
            <a:spLocks noChangeShapeType="1"/>
          </p:cNvSpPr>
          <p:nvPr/>
        </p:nvSpPr>
        <p:spPr bwMode="auto">
          <a:xfrm>
            <a:off x="3590146" y="3657318"/>
            <a:ext cx="190500" cy="2689"/>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Rectangle 5"/>
          <p:cNvSpPr>
            <a:spLocks noChangeArrowheads="1"/>
          </p:cNvSpPr>
          <p:nvPr/>
        </p:nvSpPr>
        <p:spPr bwMode="auto">
          <a:xfrm>
            <a:off x="3768646" y="3456598"/>
            <a:ext cx="591750" cy="340520"/>
          </a:xfrm>
          <a:prstGeom prst="rect">
            <a:avLst/>
          </a:prstGeom>
          <a:noFill/>
          <a:ln w="9525">
            <a:solidFill>
              <a:schemeClr val="tx1"/>
            </a:solidFill>
            <a:miter lim="800000"/>
            <a:headEnd/>
            <a:tailEnd/>
          </a:ln>
        </p:spPr>
        <p:txBody>
          <a:bodyPr wrap="none" anchor="ctr"/>
          <a:lstStyle/>
          <a:p>
            <a:pPr>
              <a:spcBef>
                <a:spcPct val="20000"/>
              </a:spcBef>
            </a:pPr>
            <a:r>
              <a:rPr lang="en-US" altLang="zh-CN" sz="2000" dirty="0">
                <a:latin typeface="微软雅黑" pitchFamily="34" charset="-122"/>
                <a:ea typeface="微软雅黑" pitchFamily="34" charset="-122"/>
              </a:rPr>
              <a:t>a</a:t>
            </a:r>
            <a:r>
              <a:rPr lang="en-US" altLang="zh-CN" sz="2000" baseline="-25000" dirty="0">
                <a:latin typeface="微软雅黑" pitchFamily="34" charset="-122"/>
                <a:ea typeface="微软雅黑" pitchFamily="34" charset="-122"/>
              </a:rPr>
              <a:t>4</a:t>
            </a:r>
            <a:r>
              <a:rPr lang="en-US" altLang="zh-CN" sz="3600" baseline="-25000" dirty="0"/>
              <a:t> </a:t>
            </a:r>
            <a:r>
              <a:rPr lang="en-US" altLang="zh-CN" sz="1600" dirty="0">
                <a:solidFill>
                  <a:srgbClr val="FF0000"/>
                </a:solidFill>
                <a:latin typeface="微软雅黑" pitchFamily="34" charset="-122"/>
                <a:ea typeface="微软雅黑" pitchFamily="34" charset="-122"/>
              </a:rPr>
              <a:t>9</a:t>
            </a:r>
            <a:r>
              <a:rPr lang="en-US" altLang="zh-CN" sz="1600" dirty="0">
                <a:latin typeface="微软雅黑" pitchFamily="34" charset="-122"/>
                <a:ea typeface="微软雅黑" pitchFamily="34" charset="-122"/>
              </a:rPr>
              <a:t> </a:t>
            </a:r>
            <a:r>
              <a:rPr lang="en-US" altLang="zh-CN" sz="2400" dirty="0"/>
              <a:t> </a:t>
            </a:r>
          </a:p>
        </p:txBody>
      </p:sp>
      <p:sp>
        <p:nvSpPr>
          <p:cNvPr id="47" name="Line 6"/>
          <p:cNvSpPr>
            <a:spLocks noChangeShapeType="1"/>
          </p:cNvSpPr>
          <p:nvPr/>
        </p:nvSpPr>
        <p:spPr bwMode="auto">
          <a:xfrm>
            <a:off x="4136583" y="3456598"/>
            <a:ext cx="0" cy="3405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29"/>
          <p:cNvSpPr>
            <a:spLocks noChangeShapeType="1"/>
          </p:cNvSpPr>
          <p:nvPr/>
        </p:nvSpPr>
        <p:spPr bwMode="auto">
          <a:xfrm>
            <a:off x="4364881" y="3663876"/>
            <a:ext cx="190500" cy="2689"/>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Rectangle 5"/>
          <p:cNvSpPr>
            <a:spLocks noChangeArrowheads="1"/>
          </p:cNvSpPr>
          <p:nvPr/>
        </p:nvSpPr>
        <p:spPr bwMode="auto">
          <a:xfrm>
            <a:off x="4551442" y="3468153"/>
            <a:ext cx="591750" cy="340520"/>
          </a:xfrm>
          <a:prstGeom prst="rect">
            <a:avLst/>
          </a:prstGeom>
          <a:noFill/>
          <a:ln w="9525">
            <a:solidFill>
              <a:schemeClr val="tx1"/>
            </a:solidFill>
            <a:miter lim="800000"/>
            <a:headEnd/>
            <a:tailEnd/>
          </a:ln>
        </p:spPr>
        <p:txBody>
          <a:bodyPr wrap="none" anchor="ctr"/>
          <a:lstStyle/>
          <a:p>
            <a:pPr>
              <a:spcBef>
                <a:spcPct val="20000"/>
              </a:spcBef>
            </a:pPr>
            <a:r>
              <a:rPr lang="en-US" altLang="zh-CN" sz="2000" dirty="0">
                <a:latin typeface="微软雅黑" pitchFamily="34" charset="-122"/>
                <a:ea typeface="微软雅黑" pitchFamily="34" charset="-122"/>
              </a:rPr>
              <a:t>a</a:t>
            </a:r>
            <a:r>
              <a:rPr lang="en-US" altLang="zh-CN" sz="2000" baseline="-25000" dirty="0">
                <a:latin typeface="微软雅黑" pitchFamily="34" charset="-122"/>
                <a:ea typeface="微软雅黑" pitchFamily="34" charset="-122"/>
              </a:rPr>
              <a:t>5</a:t>
            </a:r>
            <a:r>
              <a:rPr lang="en-US" altLang="zh-CN" sz="3600" baseline="-25000" dirty="0"/>
              <a:t> </a:t>
            </a:r>
            <a:r>
              <a:rPr lang="en-US" altLang="zh-CN" sz="1600" dirty="0">
                <a:solidFill>
                  <a:srgbClr val="FF0000"/>
                </a:solidFill>
                <a:latin typeface="微软雅黑" pitchFamily="34" charset="-122"/>
                <a:ea typeface="微软雅黑" pitchFamily="34" charset="-122"/>
              </a:rPr>
              <a:t>7</a:t>
            </a:r>
            <a:r>
              <a:rPr lang="en-US" altLang="zh-CN" sz="1600" dirty="0">
                <a:latin typeface="微软雅黑" pitchFamily="34" charset="-122"/>
                <a:ea typeface="微软雅黑" pitchFamily="34" charset="-122"/>
              </a:rPr>
              <a:t> </a:t>
            </a:r>
            <a:r>
              <a:rPr lang="en-US" altLang="zh-CN" sz="2400" dirty="0"/>
              <a:t> </a:t>
            </a:r>
          </a:p>
        </p:txBody>
      </p:sp>
      <p:sp>
        <p:nvSpPr>
          <p:cNvPr id="50" name="Line 6"/>
          <p:cNvSpPr>
            <a:spLocks noChangeShapeType="1"/>
          </p:cNvSpPr>
          <p:nvPr/>
        </p:nvSpPr>
        <p:spPr bwMode="auto">
          <a:xfrm>
            <a:off x="4919379" y="3468153"/>
            <a:ext cx="0" cy="3405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29"/>
          <p:cNvSpPr>
            <a:spLocks noChangeShapeType="1"/>
          </p:cNvSpPr>
          <p:nvPr/>
        </p:nvSpPr>
        <p:spPr bwMode="auto">
          <a:xfrm>
            <a:off x="5147677" y="3675431"/>
            <a:ext cx="190500" cy="2689"/>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Rectangle 5"/>
          <p:cNvSpPr>
            <a:spLocks noChangeArrowheads="1"/>
          </p:cNvSpPr>
          <p:nvPr/>
        </p:nvSpPr>
        <p:spPr bwMode="auto">
          <a:xfrm>
            <a:off x="5322375" y="3476349"/>
            <a:ext cx="591750" cy="340520"/>
          </a:xfrm>
          <a:prstGeom prst="rect">
            <a:avLst/>
          </a:prstGeom>
          <a:noFill/>
          <a:ln w="9525">
            <a:solidFill>
              <a:schemeClr val="tx1"/>
            </a:solidFill>
            <a:miter lim="800000"/>
            <a:headEnd/>
            <a:tailEnd/>
          </a:ln>
        </p:spPr>
        <p:txBody>
          <a:bodyPr wrap="none" anchor="ctr"/>
          <a:lstStyle/>
          <a:p>
            <a:pPr>
              <a:spcBef>
                <a:spcPct val="20000"/>
              </a:spcBef>
            </a:pPr>
            <a:r>
              <a:rPr lang="en-US" altLang="zh-CN" sz="2000" dirty="0">
                <a:latin typeface="微软雅黑" pitchFamily="34" charset="-122"/>
                <a:ea typeface="微软雅黑" pitchFamily="34" charset="-122"/>
              </a:rPr>
              <a:t>a</a:t>
            </a:r>
            <a:r>
              <a:rPr lang="en-US" altLang="zh-CN" sz="2000" baseline="-25000" dirty="0">
                <a:latin typeface="微软雅黑" pitchFamily="34" charset="-122"/>
                <a:ea typeface="微软雅黑" pitchFamily="34" charset="-122"/>
              </a:rPr>
              <a:t>6</a:t>
            </a:r>
            <a:r>
              <a:rPr lang="en-US" altLang="zh-CN" sz="3600" baseline="-25000" dirty="0"/>
              <a:t> </a:t>
            </a:r>
            <a:r>
              <a:rPr lang="en-US" altLang="zh-CN" sz="1600" dirty="0">
                <a:solidFill>
                  <a:srgbClr val="FF0000"/>
                </a:solidFill>
                <a:latin typeface="微软雅黑" pitchFamily="34" charset="-122"/>
                <a:ea typeface="微软雅黑" pitchFamily="34" charset="-122"/>
              </a:rPr>
              <a:t>2</a:t>
            </a:r>
            <a:r>
              <a:rPr lang="en-US" altLang="zh-CN" sz="1600" dirty="0">
                <a:latin typeface="微软雅黑" pitchFamily="34" charset="-122"/>
                <a:ea typeface="微软雅黑" pitchFamily="34" charset="-122"/>
              </a:rPr>
              <a:t> </a:t>
            </a:r>
            <a:r>
              <a:rPr lang="en-US" altLang="zh-CN" sz="2400" dirty="0"/>
              <a:t> </a:t>
            </a:r>
          </a:p>
        </p:txBody>
      </p:sp>
      <p:sp>
        <p:nvSpPr>
          <p:cNvPr id="53" name="Line 6"/>
          <p:cNvSpPr>
            <a:spLocks noChangeShapeType="1"/>
          </p:cNvSpPr>
          <p:nvPr/>
        </p:nvSpPr>
        <p:spPr bwMode="auto">
          <a:xfrm>
            <a:off x="5690312" y="3476349"/>
            <a:ext cx="0" cy="3405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Rectangle 5"/>
          <p:cNvSpPr>
            <a:spLocks noChangeArrowheads="1"/>
          </p:cNvSpPr>
          <p:nvPr/>
        </p:nvSpPr>
        <p:spPr bwMode="auto">
          <a:xfrm>
            <a:off x="4136583" y="4012400"/>
            <a:ext cx="591750" cy="340520"/>
          </a:xfrm>
          <a:prstGeom prst="rect">
            <a:avLst/>
          </a:prstGeom>
          <a:noFill/>
          <a:ln w="9525">
            <a:solidFill>
              <a:schemeClr val="tx1"/>
            </a:solidFill>
            <a:miter lim="800000"/>
            <a:headEnd/>
            <a:tailEnd/>
          </a:ln>
        </p:spPr>
        <p:txBody>
          <a:bodyPr wrap="none" anchor="ctr"/>
          <a:lstStyle/>
          <a:p>
            <a:pPr>
              <a:spcBef>
                <a:spcPct val="20000"/>
              </a:spcBef>
            </a:pPr>
            <a:r>
              <a:rPr lang="en-US" altLang="zh-CN" sz="2000" dirty="0">
                <a:latin typeface="微软雅黑" pitchFamily="34" charset="-122"/>
                <a:ea typeface="微软雅黑" pitchFamily="34" charset="-122"/>
              </a:rPr>
              <a:t>a</a:t>
            </a:r>
            <a:r>
              <a:rPr lang="en-US" altLang="zh-CN" sz="2000" baseline="-25000" dirty="0">
                <a:latin typeface="微软雅黑" pitchFamily="34" charset="-122"/>
                <a:ea typeface="微软雅黑" pitchFamily="34" charset="-122"/>
              </a:rPr>
              <a:t>7</a:t>
            </a:r>
            <a:r>
              <a:rPr lang="en-US" altLang="zh-CN" sz="3600" baseline="-25000" dirty="0"/>
              <a:t> </a:t>
            </a:r>
            <a:r>
              <a:rPr lang="en-US" altLang="zh-CN" sz="1600" dirty="0">
                <a:solidFill>
                  <a:srgbClr val="FF0000"/>
                </a:solidFill>
                <a:latin typeface="微软雅黑" pitchFamily="34" charset="-122"/>
                <a:ea typeface="微软雅黑" pitchFamily="34" charset="-122"/>
              </a:rPr>
              <a:t>8</a:t>
            </a:r>
            <a:r>
              <a:rPr lang="en-US" altLang="zh-CN" sz="1600" dirty="0">
                <a:latin typeface="微软雅黑" pitchFamily="34" charset="-122"/>
                <a:ea typeface="微软雅黑" pitchFamily="34" charset="-122"/>
              </a:rPr>
              <a:t> </a:t>
            </a:r>
            <a:r>
              <a:rPr lang="en-US" altLang="zh-CN" sz="2400" dirty="0"/>
              <a:t> </a:t>
            </a:r>
          </a:p>
        </p:txBody>
      </p:sp>
      <p:sp>
        <p:nvSpPr>
          <p:cNvPr id="57" name="Line 29"/>
          <p:cNvSpPr>
            <a:spLocks noChangeShapeType="1"/>
          </p:cNvSpPr>
          <p:nvPr/>
        </p:nvSpPr>
        <p:spPr bwMode="auto">
          <a:xfrm>
            <a:off x="4732818" y="4219678"/>
            <a:ext cx="190500" cy="2689"/>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Rectangle 5"/>
          <p:cNvSpPr>
            <a:spLocks noChangeArrowheads="1"/>
          </p:cNvSpPr>
          <p:nvPr/>
        </p:nvSpPr>
        <p:spPr bwMode="auto">
          <a:xfrm>
            <a:off x="4925607" y="4012400"/>
            <a:ext cx="591750" cy="340520"/>
          </a:xfrm>
          <a:prstGeom prst="rect">
            <a:avLst/>
          </a:prstGeom>
          <a:noFill/>
          <a:ln w="9525">
            <a:solidFill>
              <a:schemeClr val="tx1"/>
            </a:solidFill>
            <a:miter lim="800000"/>
            <a:headEnd/>
            <a:tailEnd/>
          </a:ln>
        </p:spPr>
        <p:txBody>
          <a:bodyPr wrap="none" anchor="ctr"/>
          <a:lstStyle/>
          <a:p>
            <a:pPr>
              <a:spcBef>
                <a:spcPct val="20000"/>
              </a:spcBef>
            </a:pPr>
            <a:r>
              <a:rPr lang="en-US" altLang="zh-CN" sz="2000" dirty="0">
                <a:latin typeface="微软雅黑" pitchFamily="34" charset="-122"/>
                <a:ea typeface="微软雅黑" pitchFamily="34" charset="-122"/>
              </a:rPr>
              <a:t>a</a:t>
            </a:r>
            <a:r>
              <a:rPr lang="en-US" altLang="zh-CN" sz="2000" baseline="-25000" dirty="0">
                <a:latin typeface="微软雅黑" pitchFamily="34" charset="-122"/>
                <a:ea typeface="微软雅黑" pitchFamily="34" charset="-122"/>
              </a:rPr>
              <a:t>8</a:t>
            </a:r>
            <a:r>
              <a:rPr lang="en-US" altLang="zh-CN" sz="3600" baseline="-25000" dirty="0"/>
              <a:t> </a:t>
            </a:r>
            <a:r>
              <a:rPr lang="en-US" altLang="zh-CN" sz="1600" dirty="0">
                <a:solidFill>
                  <a:srgbClr val="FF0000"/>
                </a:solidFill>
                <a:latin typeface="微软雅黑" pitchFamily="34" charset="-122"/>
                <a:ea typeface="微软雅黑" pitchFamily="34" charset="-122"/>
              </a:rPr>
              <a:t>4</a:t>
            </a:r>
            <a:r>
              <a:rPr lang="en-US" altLang="zh-CN" sz="1600" dirty="0">
                <a:latin typeface="微软雅黑" pitchFamily="34" charset="-122"/>
                <a:ea typeface="微软雅黑" pitchFamily="34" charset="-122"/>
              </a:rPr>
              <a:t> </a:t>
            </a:r>
            <a:r>
              <a:rPr lang="en-US" altLang="zh-CN" sz="2400" dirty="0"/>
              <a:t> </a:t>
            </a:r>
          </a:p>
        </p:txBody>
      </p:sp>
      <p:sp>
        <p:nvSpPr>
          <p:cNvPr id="59" name="Line 6"/>
          <p:cNvSpPr>
            <a:spLocks noChangeShapeType="1"/>
          </p:cNvSpPr>
          <p:nvPr/>
        </p:nvSpPr>
        <p:spPr bwMode="auto">
          <a:xfrm>
            <a:off x="5293544" y="4012400"/>
            <a:ext cx="0" cy="3405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29"/>
          <p:cNvSpPr>
            <a:spLocks noChangeShapeType="1"/>
          </p:cNvSpPr>
          <p:nvPr/>
        </p:nvSpPr>
        <p:spPr bwMode="auto">
          <a:xfrm>
            <a:off x="5521842" y="4219678"/>
            <a:ext cx="190500" cy="2689"/>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 name="Rectangle 5"/>
          <p:cNvSpPr>
            <a:spLocks noChangeArrowheads="1"/>
          </p:cNvSpPr>
          <p:nvPr/>
        </p:nvSpPr>
        <p:spPr bwMode="auto">
          <a:xfrm>
            <a:off x="5709336" y="4031430"/>
            <a:ext cx="591750" cy="340520"/>
          </a:xfrm>
          <a:prstGeom prst="rect">
            <a:avLst/>
          </a:prstGeom>
          <a:noFill/>
          <a:ln w="9525">
            <a:solidFill>
              <a:schemeClr val="tx1"/>
            </a:solidFill>
            <a:miter lim="800000"/>
            <a:headEnd/>
            <a:tailEnd/>
          </a:ln>
        </p:spPr>
        <p:txBody>
          <a:bodyPr wrap="none" anchor="ctr"/>
          <a:lstStyle/>
          <a:p>
            <a:pPr>
              <a:spcBef>
                <a:spcPct val="20000"/>
              </a:spcBef>
            </a:pPr>
            <a:r>
              <a:rPr lang="en-US" altLang="zh-CN" sz="2000" dirty="0">
                <a:latin typeface="微软雅黑" pitchFamily="34" charset="-122"/>
                <a:ea typeface="微软雅黑" pitchFamily="34" charset="-122"/>
              </a:rPr>
              <a:t>a</a:t>
            </a:r>
            <a:r>
              <a:rPr lang="en-US" altLang="zh-CN" sz="2000" baseline="-25000" dirty="0">
                <a:latin typeface="微软雅黑" pitchFamily="34" charset="-122"/>
                <a:ea typeface="微软雅黑" pitchFamily="34" charset="-122"/>
              </a:rPr>
              <a:t>9</a:t>
            </a:r>
            <a:r>
              <a:rPr lang="en-US" altLang="zh-CN" sz="3600" baseline="-25000" dirty="0"/>
              <a:t> </a:t>
            </a:r>
            <a:r>
              <a:rPr lang="en-US" altLang="zh-CN" sz="1600" dirty="0">
                <a:solidFill>
                  <a:srgbClr val="FF0000"/>
                </a:solidFill>
                <a:latin typeface="微软雅黑" pitchFamily="34" charset="-122"/>
                <a:ea typeface="微软雅黑" pitchFamily="34" charset="-122"/>
              </a:rPr>
              <a:t>0</a:t>
            </a:r>
            <a:r>
              <a:rPr lang="en-US" altLang="zh-CN" sz="1600" dirty="0">
                <a:latin typeface="微软雅黑" pitchFamily="34" charset="-122"/>
                <a:ea typeface="微软雅黑" pitchFamily="34" charset="-122"/>
              </a:rPr>
              <a:t> </a:t>
            </a:r>
            <a:r>
              <a:rPr lang="en-US" altLang="zh-CN" sz="2400" dirty="0"/>
              <a:t> </a:t>
            </a:r>
          </a:p>
        </p:txBody>
      </p:sp>
      <p:sp>
        <p:nvSpPr>
          <p:cNvPr id="62" name="Line 6"/>
          <p:cNvSpPr>
            <a:spLocks noChangeShapeType="1"/>
          </p:cNvSpPr>
          <p:nvPr/>
        </p:nvSpPr>
        <p:spPr bwMode="auto">
          <a:xfrm>
            <a:off x="6077273" y="4031430"/>
            <a:ext cx="0" cy="3405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7" name="表格 66"/>
          <p:cNvGraphicFramePr>
            <a:graphicFrameLocks noGrp="1"/>
          </p:cNvGraphicFramePr>
          <p:nvPr>
            <p:extLst>
              <p:ext uri="{D42A27DB-BD31-4B8C-83A1-F6EECF244321}">
                <p14:modId xmlns:p14="http://schemas.microsoft.com/office/powerpoint/2010/main" val="3102732786"/>
              </p:ext>
            </p:extLst>
          </p:nvPr>
        </p:nvGraphicFramePr>
        <p:xfrm>
          <a:off x="7451006" y="1442304"/>
          <a:ext cx="1181463" cy="3101340"/>
        </p:xfrm>
        <a:graphic>
          <a:graphicData uri="http://schemas.openxmlformats.org/drawingml/2006/table">
            <a:tbl>
              <a:tblPr firstRow="1" bandRow="1">
                <a:tableStyleId>{5940675A-B579-460E-94D1-54222C63F5DA}</a:tableStyleId>
              </a:tblPr>
              <a:tblGrid>
                <a:gridCol w="763451">
                  <a:extLst>
                    <a:ext uri="{9D8B030D-6E8A-4147-A177-3AD203B41FA5}">
                      <a16:colId xmlns:a16="http://schemas.microsoft.com/office/drawing/2014/main" val="20000"/>
                    </a:ext>
                  </a:extLst>
                </a:gridCol>
                <a:gridCol w="418012">
                  <a:extLst>
                    <a:ext uri="{9D8B030D-6E8A-4147-A177-3AD203B41FA5}">
                      <a16:colId xmlns:a16="http://schemas.microsoft.com/office/drawing/2014/main" val="20001"/>
                    </a:ext>
                  </a:extLst>
                </a:gridCol>
              </a:tblGrid>
              <a:tr h="278130">
                <a:tc>
                  <a:txBody>
                    <a:bodyPr/>
                    <a:lstStyle/>
                    <a:p>
                      <a:endParaRPr lang="zh-CN" altLang="en-US" sz="1400" dirty="0"/>
                    </a:p>
                  </a:txBody>
                  <a:tcPr marT="34290" marB="34290"/>
                </a:tc>
                <a:tc>
                  <a:txBody>
                    <a:bodyPr/>
                    <a:lstStyle/>
                    <a:p>
                      <a:r>
                        <a:rPr lang="en-US" altLang="zh-CN" sz="1400" dirty="0"/>
                        <a:t>3</a:t>
                      </a:r>
                      <a:endParaRPr lang="zh-CN" altLang="en-US" sz="1400" dirty="0"/>
                    </a:p>
                  </a:txBody>
                  <a:tcPr marT="34290" marB="34290"/>
                </a:tc>
                <a:extLst>
                  <a:ext uri="{0D108BD9-81ED-4DB2-BD59-A6C34878D82A}">
                    <a16:rowId xmlns:a16="http://schemas.microsoft.com/office/drawing/2014/main" val="10000"/>
                  </a:ext>
                </a:extLst>
              </a:tr>
              <a:tr h="278130">
                <a:tc>
                  <a:txBody>
                    <a:bodyPr/>
                    <a:lstStyle/>
                    <a:p>
                      <a:r>
                        <a:rPr lang="en-US" altLang="zh-CN" sz="1400" dirty="0"/>
                        <a:t>a</a:t>
                      </a:r>
                      <a:r>
                        <a:rPr lang="en-US" altLang="zh-CN" sz="1400" baseline="-25000" dirty="0"/>
                        <a:t>2</a:t>
                      </a:r>
                      <a:endParaRPr lang="zh-CN" altLang="en-US" sz="1400" baseline="-25000" dirty="0"/>
                    </a:p>
                  </a:txBody>
                  <a:tcPr marT="34290" marB="34290"/>
                </a:tc>
                <a:tc>
                  <a:txBody>
                    <a:bodyPr/>
                    <a:lstStyle/>
                    <a:p>
                      <a:r>
                        <a:rPr lang="en-US" altLang="zh-CN" sz="1400" dirty="0"/>
                        <a:t>6</a:t>
                      </a:r>
                      <a:endParaRPr lang="zh-CN" altLang="en-US" sz="1400" dirty="0"/>
                    </a:p>
                  </a:txBody>
                  <a:tcPr marT="34290" marB="34290"/>
                </a:tc>
                <a:extLst>
                  <a:ext uri="{0D108BD9-81ED-4DB2-BD59-A6C34878D82A}">
                    <a16:rowId xmlns:a16="http://schemas.microsoft.com/office/drawing/2014/main" val="10001"/>
                  </a:ext>
                </a:extLst>
              </a:tr>
              <a:tr h="278130">
                <a:tc>
                  <a:txBody>
                    <a:bodyPr/>
                    <a:lstStyle/>
                    <a:p>
                      <a:r>
                        <a:rPr lang="en-US" altLang="zh-CN" sz="1400" dirty="0"/>
                        <a:t>a</a:t>
                      </a:r>
                      <a:r>
                        <a:rPr lang="en-US" altLang="zh-CN" sz="1400" kern="1200" baseline="-25000" dirty="0">
                          <a:solidFill>
                            <a:schemeClr val="tx1"/>
                          </a:solidFill>
                          <a:latin typeface="+mn-lt"/>
                          <a:ea typeface="+mn-ea"/>
                          <a:cs typeface="+mn-cs"/>
                        </a:rPr>
                        <a:t>7</a:t>
                      </a:r>
                      <a:endParaRPr lang="zh-CN" altLang="en-US" sz="1400" kern="1200" baseline="-25000" dirty="0">
                        <a:solidFill>
                          <a:schemeClr val="tx1"/>
                        </a:solidFill>
                        <a:latin typeface="+mn-lt"/>
                        <a:ea typeface="+mn-ea"/>
                        <a:cs typeface="+mn-cs"/>
                      </a:endParaRPr>
                    </a:p>
                  </a:txBody>
                  <a:tcPr marT="34290" marB="34290"/>
                </a:tc>
                <a:tc>
                  <a:txBody>
                    <a:bodyPr/>
                    <a:lstStyle/>
                    <a:p>
                      <a:r>
                        <a:rPr lang="en-US" altLang="zh-CN" sz="1400" dirty="0"/>
                        <a:t>8</a:t>
                      </a:r>
                      <a:endParaRPr lang="zh-CN" altLang="en-US" sz="1400" dirty="0"/>
                    </a:p>
                  </a:txBody>
                  <a:tcPr marT="34290" marB="34290"/>
                </a:tc>
                <a:extLst>
                  <a:ext uri="{0D108BD9-81ED-4DB2-BD59-A6C34878D82A}">
                    <a16:rowId xmlns:a16="http://schemas.microsoft.com/office/drawing/2014/main" val="10002"/>
                  </a:ext>
                </a:extLst>
              </a:tr>
              <a:tr h="278130">
                <a:tc>
                  <a:txBody>
                    <a:bodyPr/>
                    <a:lstStyle/>
                    <a:p>
                      <a:r>
                        <a:rPr lang="en-US" altLang="zh-CN" sz="1400" dirty="0"/>
                        <a:t>a</a:t>
                      </a:r>
                      <a:r>
                        <a:rPr lang="en-US" altLang="zh-CN" sz="1400" kern="1200" baseline="-25000" dirty="0">
                          <a:solidFill>
                            <a:schemeClr val="tx1"/>
                          </a:solidFill>
                          <a:latin typeface="+mn-lt"/>
                          <a:ea typeface="+mn-ea"/>
                          <a:cs typeface="+mn-cs"/>
                        </a:rPr>
                        <a:t>1</a:t>
                      </a:r>
                      <a:endParaRPr lang="zh-CN" altLang="en-US" sz="1400" kern="1200" baseline="-25000" dirty="0">
                        <a:solidFill>
                          <a:schemeClr val="tx1"/>
                        </a:solidFill>
                        <a:latin typeface="+mn-lt"/>
                        <a:ea typeface="+mn-ea"/>
                        <a:cs typeface="+mn-cs"/>
                      </a:endParaRPr>
                    </a:p>
                  </a:txBody>
                  <a:tcPr marT="34290" marB="34290"/>
                </a:tc>
                <a:tc>
                  <a:txBody>
                    <a:bodyPr/>
                    <a:lstStyle/>
                    <a:p>
                      <a:r>
                        <a:rPr lang="en-US" altLang="zh-CN" sz="1400" dirty="0"/>
                        <a:t>1</a:t>
                      </a:r>
                      <a:endParaRPr lang="zh-CN" altLang="en-US" sz="1400" dirty="0"/>
                    </a:p>
                  </a:txBody>
                  <a:tcPr marT="34290" marB="34290"/>
                </a:tc>
                <a:extLst>
                  <a:ext uri="{0D108BD9-81ED-4DB2-BD59-A6C34878D82A}">
                    <a16:rowId xmlns:a16="http://schemas.microsoft.com/office/drawing/2014/main" val="10003"/>
                  </a:ext>
                </a:extLst>
              </a:tr>
              <a:tr h="278130">
                <a:tc>
                  <a:txBody>
                    <a:bodyPr/>
                    <a:lstStyle/>
                    <a:p>
                      <a:r>
                        <a:rPr lang="en-US" altLang="zh-CN" sz="1400" dirty="0"/>
                        <a:t>a</a:t>
                      </a:r>
                      <a:r>
                        <a:rPr lang="en-US" altLang="zh-CN" sz="1400" kern="1200" baseline="-25000" dirty="0">
                          <a:solidFill>
                            <a:schemeClr val="tx1"/>
                          </a:solidFill>
                          <a:latin typeface="+mn-lt"/>
                          <a:ea typeface="+mn-ea"/>
                          <a:cs typeface="+mn-cs"/>
                        </a:rPr>
                        <a:t>9</a:t>
                      </a:r>
                      <a:endParaRPr lang="zh-CN" altLang="en-US" sz="1400" kern="1200" baseline="-25000" dirty="0">
                        <a:solidFill>
                          <a:schemeClr val="tx1"/>
                        </a:solidFill>
                        <a:latin typeface="+mn-lt"/>
                        <a:ea typeface="+mn-ea"/>
                        <a:cs typeface="+mn-cs"/>
                      </a:endParaRPr>
                    </a:p>
                  </a:txBody>
                  <a:tcPr marT="34290" marB="34290"/>
                </a:tc>
                <a:tc>
                  <a:txBody>
                    <a:bodyPr/>
                    <a:lstStyle/>
                    <a:p>
                      <a:r>
                        <a:rPr lang="en-US" altLang="zh-CN" sz="1400" dirty="0"/>
                        <a:t>0</a:t>
                      </a:r>
                      <a:endParaRPr lang="zh-CN" altLang="en-US" sz="1400" dirty="0"/>
                    </a:p>
                  </a:txBody>
                  <a:tcPr marT="34290" marB="34290"/>
                </a:tc>
                <a:extLst>
                  <a:ext uri="{0D108BD9-81ED-4DB2-BD59-A6C34878D82A}">
                    <a16:rowId xmlns:a16="http://schemas.microsoft.com/office/drawing/2014/main" val="10004"/>
                  </a:ext>
                </a:extLst>
              </a:tr>
              <a:tr h="278130">
                <a:tc>
                  <a:txBody>
                    <a:bodyPr/>
                    <a:lstStyle/>
                    <a:p>
                      <a:r>
                        <a:rPr lang="en-US" altLang="zh-CN" sz="1400" dirty="0"/>
                        <a:t>a</a:t>
                      </a:r>
                      <a:r>
                        <a:rPr lang="en-US" altLang="zh-CN" sz="1400" kern="1200" baseline="-25000" dirty="0">
                          <a:solidFill>
                            <a:schemeClr val="tx1"/>
                          </a:solidFill>
                          <a:latin typeface="+mn-lt"/>
                          <a:ea typeface="+mn-ea"/>
                          <a:cs typeface="+mn-cs"/>
                        </a:rPr>
                        <a:t>4</a:t>
                      </a:r>
                      <a:endParaRPr lang="zh-CN" altLang="en-US" sz="1400" kern="1200" baseline="-25000" dirty="0">
                        <a:solidFill>
                          <a:schemeClr val="tx1"/>
                        </a:solidFill>
                        <a:latin typeface="+mn-lt"/>
                        <a:ea typeface="+mn-ea"/>
                        <a:cs typeface="+mn-cs"/>
                      </a:endParaRPr>
                    </a:p>
                  </a:txBody>
                  <a:tcPr marT="34290" marB="34290"/>
                </a:tc>
                <a:tc>
                  <a:txBody>
                    <a:bodyPr/>
                    <a:lstStyle/>
                    <a:p>
                      <a:r>
                        <a:rPr lang="en-US" altLang="zh-CN" sz="1400" dirty="0"/>
                        <a:t>9</a:t>
                      </a:r>
                      <a:endParaRPr lang="zh-CN" altLang="en-US" sz="1400" dirty="0"/>
                    </a:p>
                  </a:txBody>
                  <a:tcPr marT="34290" marB="34290"/>
                </a:tc>
                <a:extLst>
                  <a:ext uri="{0D108BD9-81ED-4DB2-BD59-A6C34878D82A}">
                    <a16:rowId xmlns:a16="http://schemas.microsoft.com/office/drawing/2014/main" val="10005"/>
                  </a:ext>
                </a:extLst>
              </a:tr>
              <a:tr h="278130">
                <a:tc>
                  <a:txBody>
                    <a:bodyPr/>
                    <a:lstStyle/>
                    <a:p>
                      <a:r>
                        <a:rPr lang="en-US" altLang="zh-CN" sz="1400" dirty="0"/>
                        <a:t>a</a:t>
                      </a:r>
                      <a:r>
                        <a:rPr lang="en-US" altLang="zh-CN" sz="1400" kern="1200" baseline="-25000" dirty="0">
                          <a:solidFill>
                            <a:schemeClr val="tx1"/>
                          </a:solidFill>
                          <a:latin typeface="+mn-lt"/>
                          <a:ea typeface="+mn-ea"/>
                          <a:cs typeface="+mn-cs"/>
                        </a:rPr>
                        <a:t>3</a:t>
                      </a:r>
                      <a:endParaRPr lang="zh-CN" altLang="en-US" sz="1400" kern="1200" baseline="-25000" dirty="0">
                        <a:solidFill>
                          <a:schemeClr val="tx1"/>
                        </a:solidFill>
                        <a:latin typeface="+mn-lt"/>
                        <a:ea typeface="+mn-ea"/>
                        <a:cs typeface="+mn-cs"/>
                      </a:endParaRPr>
                    </a:p>
                  </a:txBody>
                  <a:tcPr marT="34290" marB="34290"/>
                </a:tc>
                <a:tc>
                  <a:txBody>
                    <a:bodyPr/>
                    <a:lstStyle/>
                    <a:p>
                      <a:r>
                        <a:rPr lang="en-US" altLang="zh-CN" sz="1400" dirty="0"/>
                        <a:t>5</a:t>
                      </a:r>
                      <a:endParaRPr lang="zh-CN" altLang="en-US" sz="1400" dirty="0"/>
                    </a:p>
                  </a:txBody>
                  <a:tcPr marT="34290" marB="34290"/>
                </a:tc>
                <a:extLst>
                  <a:ext uri="{0D108BD9-81ED-4DB2-BD59-A6C34878D82A}">
                    <a16:rowId xmlns:a16="http://schemas.microsoft.com/office/drawing/2014/main" val="10006"/>
                  </a:ext>
                </a:extLst>
              </a:tr>
              <a:tr h="278130">
                <a:tc>
                  <a:txBody>
                    <a:bodyPr/>
                    <a:lstStyle/>
                    <a:p>
                      <a:r>
                        <a:rPr lang="en-US" altLang="zh-CN" sz="1400" dirty="0"/>
                        <a:t>a</a:t>
                      </a:r>
                      <a:r>
                        <a:rPr lang="en-US" altLang="zh-CN" sz="1400" kern="1200" baseline="-25000" dirty="0">
                          <a:solidFill>
                            <a:schemeClr val="tx1"/>
                          </a:solidFill>
                          <a:latin typeface="+mn-lt"/>
                          <a:ea typeface="+mn-ea"/>
                          <a:cs typeface="+mn-cs"/>
                        </a:rPr>
                        <a:t>6</a:t>
                      </a:r>
                      <a:endParaRPr lang="zh-CN" altLang="en-US" sz="1400" kern="1200" baseline="-25000" dirty="0">
                        <a:solidFill>
                          <a:schemeClr val="tx1"/>
                        </a:solidFill>
                        <a:latin typeface="+mn-lt"/>
                        <a:ea typeface="+mn-ea"/>
                        <a:cs typeface="+mn-cs"/>
                      </a:endParaRPr>
                    </a:p>
                  </a:txBody>
                  <a:tcPr marT="34290" marB="34290"/>
                </a:tc>
                <a:tc>
                  <a:txBody>
                    <a:bodyPr/>
                    <a:lstStyle/>
                    <a:p>
                      <a:r>
                        <a:rPr lang="en-US" altLang="zh-CN" sz="1400" dirty="0"/>
                        <a:t>2</a:t>
                      </a:r>
                      <a:endParaRPr lang="zh-CN" altLang="en-US" sz="1400" dirty="0"/>
                    </a:p>
                  </a:txBody>
                  <a:tcPr marT="34290" marB="34290"/>
                </a:tc>
                <a:extLst>
                  <a:ext uri="{0D108BD9-81ED-4DB2-BD59-A6C34878D82A}">
                    <a16:rowId xmlns:a16="http://schemas.microsoft.com/office/drawing/2014/main" val="10007"/>
                  </a:ext>
                </a:extLst>
              </a:tr>
              <a:tr h="278130">
                <a:tc>
                  <a:txBody>
                    <a:bodyPr/>
                    <a:lstStyle/>
                    <a:p>
                      <a:r>
                        <a:rPr lang="en-US" altLang="zh-CN" sz="1400" dirty="0"/>
                        <a:t>a</a:t>
                      </a:r>
                      <a:r>
                        <a:rPr lang="en-US" altLang="zh-CN" sz="1400" kern="1200" baseline="-25000" dirty="0">
                          <a:solidFill>
                            <a:schemeClr val="tx1"/>
                          </a:solidFill>
                          <a:latin typeface="+mn-lt"/>
                          <a:ea typeface="+mn-ea"/>
                          <a:cs typeface="+mn-cs"/>
                        </a:rPr>
                        <a:t>8</a:t>
                      </a:r>
                      <a:endParaRPr lang="zh-CN" altLang="en-US" sz="1400" kern="1200" baseline="-25000" dirty="0">
                        <a:solidFill>
                          <a:schemeClr val="tx1"/>
                        </a:solidFill>
                        <a:latin typeface="+mn-lt"/>
                        <a:ea typeface="+mn-ea"/>
                        <a:cs typeface="+mn-cs"/>
                      </a:endParaRPr>
                    </a:p>
                  </a:txBody>
                  <a:tcPr marT="34290" marB="34290"/>
                </a:tc>
                <a:tc>
                  <a:txBody>
                    <a:bodyPr/>
                    <a:lstStyle/>
                    <a:p>
                      <a:r>
                        <a:rPr lang="en-US" altLang="zh-CN" sz="1400" dirty="0"/>
                        <a:t>4</a:t>
                      </a:r>
                      <a:endParaRPr lang="zh-CN" altLang="en-US" sz="1400" dirty="0"/>
                    </a:p>
                  </a:txBody>
                  <a:tcPr marT="34290" marB="34290"/>
                </a:tc>
                <a:extLst>
                  <a:ext uri="{0D108BD9-81ED-4DB2-BD59-A6C34878D82A}">
                    <a16:rowId xmlns:a16="http://schemas.microsoft.com/office/drawing/2014/main" val="10008"/>
                  </a:ext>
                </a:extLst>
              </a:tr>
              <a:tr h="278130">
                <a:tc>
                  <a:txBody>
                    <a:bodyPr/>
                    <a:lstStyle/>
                    <a:p>
                      <a:r>
                        <a:rPr lang="en-US" altLang="zh-CN" sz="1400" dirty="0"/>
                        <a:t>a</a:t>
                      </a:r>
                      <a:r>
                        <a:rPr lang="en-US" altLang="zh-CN" sz="1400" kern="1200" baseline="-25000" dirty="0">
                          <a:solidFill>
                            <a:schemeClr val="tx1"/>
                          </a:solidFill>
                          <a:latin typeface="+mn-lt"/>
                          <a:ea typeface="+mn-ea"/>
                          <a:cs typeface="+mn-cs"/>
                        </a:rPr>
                        <a:t>5</a:t>
                      </a:r>
                      <a:endParaRPr lang="zh-CN" altLang="en-US" sz="1400" kern="1200" baseline="-25000" dirty="0">
                        <a:solidFill>
                          <a:schemeClr val="tx1"/>
                        </a:solidFill>
                        <a:latin typeface="+mn-lt"/>
                        <a:ea typeface="+mn-ea"/>
                        <a:cs typeface="+mn-cs"/>
                      </a:endParaRPr>
                    </a:p>
                  </a:txBody>
                  <a:tcPr marT="34290" marB="34290"/>
                </a:tc>
                <a:tc>
                  <a:txBody>
                    <a:bodyPr/>
                    <a:lstStyle/>
                    <a:p>
                      <a:r>
                        <a:rPr lang="en-US" altLang="zh-CN" sz="1400" dirty="0"/>
                        <a:t>7</a:t>
                      </a:r>
                      <a:endParaRPr lang="zh-CN" altLang="en-US" sz="1400" dirty="0"/>
                    </a:p>
                  </a:txBody>
                  <a:tcPr marT="34290" marB="34290"/>
                </a:tc>
                <a:extLst>
                  <a:ext uri="{0D108BD9-81ED-4DB2-BD59-A6C34878D82A}">
                    <a16:rowId xmlns:a16="http://schemas.microsoft.com/office/drawing/2014/main" val="10009"/>
                  </a:ext>
                </a:extLst>
              </a:tr>
              <a:tr h="278130">
                <a:tc>
                  <a:txBody>
                    <a:bodyPr/>
                    <a:lstStyle/>
                    <a:p>
                      <a:endParaRPr lang="zh-CN" altLang="en-US" sz="1400" dirty="0"/>
                    </a:p>
                  </a:txBody>
                  <a:tcPr marT="34290" marB="34290"/>
                </a:tc>
                <a:tc>
                  <a:txBody>
                    <a:bodyPr/>
                    <a:lstStyle/>
                    <a:p>
                      <a:endParaRPr lang="zh-CN" altLang="en-US" sz="1400" dirty="0"/>
                    </a:p>
                  </a:txBody>
                  <a:tcPr marT="34290" marB="34290"/>
                </a:tc>
                <a:extLst>
                  <a:ext uri="{0D108BD9-81ED-4DB2-BD59-A6C34878D82A}">
                    <a16:rowId xmlns:a16="http://schemas.microsoft.com/office/drawing/2014/main" val="10010"/>
                  </a:ext>
                </a:extLst>
              </a:tr>
            </a:tbl>
          </a:graphicData>
        </a:graphic>
      </p:graphicFrame>
      <p:graphicFrame>
        <p:nvGraphicFramePr>
          <p:cNvPr id="68" name="表格 67"/>
          <p:cNvGraphicFramePr>
            <a:graphicFrameLocks noGrp="1"/>
          </p:cNvGraphicFramePr>
          <p:nvPr>
            <p:extLst>
              <p:ext uri="{D42A27DB-BD31-4B8C-83A1-F6EECF244321}">
                <p14:modId xmlns:p14="http://schemas.microsoft.com/office/powerpoint/2010/main" val="2927952917"/>
              </p:ext>
            </p:extLst>
          </p:nvPr>
        </p:nvGraphicFramePr>
        <p:xfrm>
          <a:off x="6890754" y="1428653"/>
          <a:ext cx="505097" cy="3101340"/>
        </p:xfrm>
        <a:graphic>
          <a:graphicData uri="http://schemas.openxmlformats.org/drawingml/2006/table">
            <a:tbl>
              <a:tblPr firstRow="1" bandRow="1">
                <a:tableStyleId>{5940675A-B579-460E-94D1-54222C63F5DA}</a:tableStyleId>
              </a:tblPr>
              <a:tblGrid>
                <a:gridCol w="505097">
                  <a:extLst>
                    <a:ext uri="{9D8B030D-6E8A-4147-A177-3AD203B41FA5}">
                      <a16:colId xmlns:a16="http://schemas.microsoft.com/office/drawing/2014/main" val="20000"/>
                    </a:ext>
                  </a:extLst>
                </a:gridCol>
              </a:tblGrid>
              <a:tr h="278130">
                <a:tc>
                  <a:txBody>
                    <a:bodyPr/>
                    <a:lstStyle/>
                    <a:p>
                      <a:r>
                        <a:rPr lang="en-US" altLang="zh-CN" sz="1400" dirty="0"/>
                        <a:t>0</a:t>
                      </a:r>
                      <a:endParaRPr lang="zh-CN" altLang="en-US" sz="1400" dirty="0"/>
                    </a:p>
                  </a:txBody>
                  <a:tcPr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78130">
                <a:tc>
                  <a:txBody>
                    <a:bodyPr/>
                    <a:lstStyle/>
                    <a:p>
                      <a:r>
                        <a:rPr lang="en-US" altLang="zh-CN" sz="1400" dirty="0"/>
                        <a:t>1</a:t>
                      </a:r>
                      <a:endParaRPr lang="zh-CN" altLang="en-US" sz="1400" dirty="0"/>
                    </a:p>
                  </a:txBody>
                  <a:tcPr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78130">
                <a:tc>
                  <a:txBody>
                    <a:bodyPr/>
                    <a:lstStyle/>
                    <a:p>
                      <a:r>
                        <a:rPr lang="en-US" altLang="zh-CN" sz="1400" dirty="0"/>
                        <a:t>2</a:t>
                      </a:r>
                      <a:endParaRPr lang="zh-CN" altLang="en-US" sz="1400" dirty="0"/>
                    </a:p>
                  </a:txBody>
                  <a:tcPr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78130">
                <a:tc>
                  <a:txBody>
                    <a:bodyPr/>
                    <a:lstStyle/>
                    <a:p>
                      <a:r>
                        <a:rPr lang="en-US" altLang="zh-CN" sz="1400" dirty="0"/>
                        <a:t>3</a:t>
                      </a:r>
                      <a:endParaRPr lang="zh-CN" altLang="en-US" sz="1400" dirty="0"/>
                    </a:p>
                  </a:txBody>
                  <a:tcPr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8130">
                <a:tc>
                  <a:txBody>
                    <a:bodyPr/>
                    <a:lstStyle/>
                    <a:p>
                      <a:r>
                        <a:rPr lang="en-US" altLang="zh-CN" sz="1400" dirty="0"/>
                        <a:t>4</a:t>
                      </a:r>
                      <a:endParaRPr lang="zh-CN" altLang="en-US" sz="1400" dirty="0"/>
                    </a:p>
                  </a:txBody>
                  <a:tcPr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78130">
                <a:tc>
                  <a:txBody>
                    <a:bodyPr/>
                    <a:lstStyle/>
                    <a:p>
                      <a:r>
                        <a:rPr lang="en-US" altLang="zh-CN" sz="1400" dirty="0"/>
                        <a:t>5</a:t>
                      </a:r>
                      <a:endParaRPr lang="zh-CN" altLang="en-US" sz="1400" dirty="0"/>
                    </a:p>
                  </a:txBody>
                  <a:tcPr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78130">
                <a:tc>
                  <a:txBody>
                    <a:bodyPr/>
                    <a:lstStyle/>
                    <a:p>
                      <a:r>
                        <a:rPr lang="en-US" altLang="zh-CN" sz="1400" dirty="0"/>
                        <a:t>6</a:t>
                      </a:r>
                      <a:endParaRPr lang="zh-CN" altLang="en-US" sz="1400" dirty="0"/>
                    </a:p>
                  </a:txBody>
                  <a:tcPr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78130">
                <a:tc>
                  <a:txBody>
                    <a:bodyPr/>
                    <a:lstStyle/>
                    <a:p>
                      <a:r>
                        <a:rPr lang="en-US" altLang="zh-CN" sz="1400" dirty="0"/>
                        <a:t>7</a:t>
                      </a:r>
                      <a:endParaRPr lang="zh-CN" altLang="en-US" sz="1400" dirty="0"/>
                    </a:p>
                  </a:txBody>
                  <a:tcPr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78130">
                <a:tc>
                  <a:txBody>
                    <a:bodyPr/>
                    <a:lstStyle/>
                    <a:p>
                      <a:r>
                        <a:rPr lang="en-US" altLang="zh-CN" sz="1400" dirty="0"/>
                        <a:t>8</a:t>
                      </a:r>
                      <a:endParaRPr lang="zh-CN" altLang="en-US" sz="1400" dirty="0"/>
                    </a:p>
                  </a:txBody>
                  <a:tcPr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78130">
                <a:tc>
                  <a:txBody>
                    <a:bodyPr/>
                    <a:lstStyle/>
                    <a:p>
                      <a:r>
                        <a:rPr lang="en-US" altLang="zh-CN" sz="1400" dirty="0"/>
                        <a:t>9</a:t>
                      </a:r>
                      <a:endParaRPr lang="zh-CN" altLang="en-US" sz="1400" dirty="0"/>
                    </a:p>
                  </a:txBody>
                  <a:tcPr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278130">
                <a:tc>
                  <a:txBody>
                    <a:bodyPr/>
                    <a:lstStyle/>
                    <a:p>
                      <a:r>
                        <a:rPr lang="en-US" altLang="zh-CN" sz="1400" dirty="0"/>
                        <a:t>10</a:t>
                      </a:r>
                      <a:endParaRPr lang="zh-CN" altLang="en-US" sz="1400" dirty="0"/>
                    </a:p>
                  </a:txBody>
                  <a:tcPr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0"/>
                  </a:ext>
                </a:extLst>
              </a:tr>
            </a:tbl>
          </a:graphicData>
        </a:graphic>
      </p:graphicFrame>
      <p:graphicFrame>
        <p:nvGraphicFramePr>
          <p:cNvPr id="69" name="表格 68"/>
          <p:cNvGraphicFramePr>
            <a:graphicFrameLocks noGrp="1"/>
          </p:cNvGraphicFramePr>
          <p:nvPr>
            <p:extLst>
              <p:ext uri="{D42A27DB-BD31-4B8C-83A1-F6EECF244321}">
                <p14:modId xmlns:p14="http://schemas.microsoft.com/office/powerpoint/2010/main" val="400191993"/>
              </p:ext>
            </p:extLst>
          </p:nvPr>
        </p:nvGraphicFramePr>
        <p:xfrm>
          <a:off x="7441570" y="1113588"/>
          <a:ext cx="1591491" cy="281940"/>
        </p:xfrm>
        <a:graphic>
          <a:graphicData uri="http://schemas.openxmlformats.org/drawingml/2006/table">
            <a:tbl>
              <a:tblPr firstRow="1" bandRow="1">
                <a:tableStyleId>{5940675A-B579-460E-94D1-54222C63F5DA}</a:tableStyleId>
              </a:tblPr>
              <a:tblGrid>
                <a:gridCol w="755469">
                  <a:extLst>
                    <a:ext uri="{9D8B030D-6E8A-4147-A177-3AD203B41FA5}">
                      <a16:colId xmlns:a16="http://schemas.microsoft.com/office/drawing/2014/main" val="20000"/>
                    </a:ext>
                  </a:extLst>
                </a:gridCol>
                <a:gridCol w="836022">
                  <a:extLst>
                    <a:ext uri="{9D8B030D-6E8A-4147-A177-3AD203B41FA5}">
                      <a16:colId xmlns:a16="http://schemas.microsoft.com/office/drawing/2014/main" val="20001"/>
                    </a:ext>
                  </a:extLst>
                </a:gridCol>
              </a:tblGrid>
              <a:tr h="278130">
                <a:tc>
                  <a:txBody>
                    <a:bodyPr/>
                    <a:lstStyle/>
                    <a:p>
                      <a:r>
                        <a:rPr lang="en-US" altLang="zh-CN" sz="1400" dirty="0"/>
                        <a:t>data</a:t>
                      </a:r>
                      <a:endParaRPr lang="zh-CN" altLang="en-US" sz="1400" dirty="0"/>
                    </a:p>
                  </a:txBody>
                  <a:tcPr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sz="1400" dirty="0"/>
                        <a:t>cur</a:t>
                      </a:r>
                      <a:endParaRPr lang="zh-CN" altLang="en-US" sz="1400" dirty="0"/>
                    </a:p>
                  </a:txBody>
                  <a:tcPr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0" name="Line 29"/>
          <p:cNvSpPr>
            <a:spLocks noChangeShapeType="1"/>
          </p:cNvSpPr>
          <p:nvPr/>
        </p:nvSpPr>
        <p:spPr bwMode="auto">
          <a:xfrm>
            <a:off x="5914125" y="3674669"/>
            <a:ext cx="246472" cy="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71" name="Line 29"/>
          <p:cNvSpPr>
            <a:spLocks noChangeShapeType="1"/>
          </p:cNvSpPr>
          <p:nvPr/>
        </p:nvSpPr>
        <p:spPr bwMode="auto">
          <a:xfrm>
            <a:off x="6160597" y="3668540"/>
            <a:ext cx="0" cy="289854"/>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72" name="Line 29"/>
          <p:cNvSpPr>
            <a:spLocks noChangeShapeType="1"/>
          </p:cNvSpPr>
          <p:nvPr/>
        </p:nvSpPr>
        <p:spPr bwMode="auto">
          <a:xfrm>
            <a:off x="3982577" y="3958394"/>
            <a:ext cx="2178020" cy="0"/>
          </a:xfrm>
          <a:prstGeom prst="line">
            <a:avLst/>
          </a:prstGeom>
          <a:noFill/>
          <a:ln w="19050">
            <a:solidFill>
              <a:schemeClr val="tx1"/>
            </a:solidFill>
            <a:round/>
            <a:headEnd/>
            <a:tailEnd type="none" w="med" len="med"/>
          </a:ln>
          <a:extLst>
            <a:ext uri="{909E8E84-426E-40DD-AFC4-6F175D3DCCD1}">
              <a14:hiddenFill xmlns:a14="http://schemas.microsoft.com/office/drawing/2010/main">
                <a:noFill/>
              </a14:hiddenFill>
            </a:ext>
          </a:extLst>
        </p:spPr>
        <p:txBody>
          <a:bodyPr/>
          <a:lstStyle/>
          <a:p>
            <a:endParaRPr lang="zh-CN" altLang="en-US"/>
          </a:p>
        </p:txBody>
      </p:sp>
      <p:cxnSp>
        <p:nvCxnSpPr>
          <p:cNvPr id="3" name="直接连接符 2">
            <a:extLst>
              <a:ext uri="{FF2B5EF4-FFF2-40B4-BE49-F238E27FC236}">
                <a16:creationId xmlns:a16="http://schemas.microsoft.com/office/drawing/2014/main" id="{87CA8B58-B902-DECD-9535-431BAE3C1380}"/>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2">
            <a:extLst>
              <a:ext uri="{FF2B5EF4-FFF2-40B4-BE49-F238E27FC236}">
                <a16:creationId xmlns:a16="http://schemas.microsoft.com/office/drawing/2014/main" id="{502A7210-B15A-DBDB-9577-154995FE1281}"/>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2.6 </a:t>
            </a:r>
            <a:r>
              <a:rPr lang="zh-CN" altLang="en-US" sz="3700" b="1" dirty="0">
                <a:latin typeface="黑体" pitchFamily="49" charset="-122"/>
                <a:ea typeface="黑体" pitchFamily="49" charset="-122"/>
                <a:cs typeface="+mn-cs"/>
              </a:rPr>
              <a:t>静态链表</a:t>
            </a:r>
          </a:p>
        </p:txBody>
      </p:sp>
    </p:spTree>
    <p:extLst>
      <p:ext uri="{BB962C8B-B14F-4D97-AF65-F5344CB8AC3E}">
        <p14:creationId xmlns:p14="http://schemas.microsoft.com/office/powerpoint/2010/main" val="38262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6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animBg="1"/>
      <p:bldP spid="32" grpId="0" animBg="1"/>
      <p:bldP spid="33" grpId="0" animBg="1"/>
      <p:bldP spid="34" grpId="0" animBg="1"/>
      <p:bldP spid="35" grpId="0" animBg="1"/>
      <p:bldP spid="36" grpId="0"/>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5" grpId="0" animBg="1"/>
      <p:bldP spid="57" grpId="0" animBg="1"/>
      <p:bldP spid="58" grpId="0" animBg="1"/>
      <p:bldP spid="59" grpId="0" animBg="1"/>
      <p:bldP spid="60" grpId="0" animBg="1"/>
      <p:bldP spid="61" grpId="0" animBg="1"/>
      <p:bldP spid="62" grpId="0" animBg="1"/>
      <p:bldP spid="70" grpId="0" animBg="1"/>
      <p:bldP spid="71" grpId="0" animBg="1"/>
      <p:bldP spid="72"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b="1" dirty="0">
                <a:latin typeface="黑体" pitchFamily="49" charset="-122"/>
                <a:ea typeface="黑体" pitchFamily="49" charset="-122"/>
                <a:cs typeface="+mn-cs"/>
              </a:rPr>
              <a:t>顺序表和单链表的比较</a:t>
            </a:r>
            <a:endParaRPr lang="en-US" altLang="zh-CN" sz="3600" dirty="0"/>
          </a:p>
        </p:txBody>
      </p:sp>
      <p:cxnSp>
        <p:nvCxnSpPr>
          <p:cNvPr id="17" name="直接连接符 16"/>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9" name="Rectangle 3"/>
          <p:cNvSpPr txBox="1">
            <a:spLocks noChangeArrowheads="1"/>
          </p:cNvSpPr>
          <p:nvPr/>
        </p:nvSpPr>
        <p:spPr>
          <a:xfrm>
            <a:off x="685800" y="1167594"/>
            <a:ext cx="7772400" cy="1998222"/>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zh-CN" altLang="en-US" sz="2400" b="1" dirty="0">
                <a:solidFill>
                  <a:schemeClr val="tx1"/>
                </a:solidFill>
                <a:latin typeface="黑体" pitchFamily="49" charset="-122"/>
                <a:ea typeface="黑体" pitchFamily="49" charset="-122"/>
              </a:rPr>
              <a:t>存储分配方式比较</a:t>
            </a:r>
          </a:p>
          <a:p>
            <a:pPr lvl="1" algn="l">
              <a:defRPr/>
            </a:pPr>
            <a:r>
              <a:rPr lang="zh-CN" altLang="en-US" sz="2400" b="1" dirty="0">
                <a:solidFill>
                  <a:schemeClr val="tx1"/>
                </a:solidFill>
                <a:latin typeface="黑体" pitchFamily="49" charset="-122"/>
                <a:ea typeface="黑体" pitchFamily="49" charset="-122"/>
              </a:rPr>
              <a:t>（</a:t>
            </a:r>
            <a:r>
              <a:rPr lang="en-US" altLang="zh-CN" sz="2400" b="1" dirty="0">
                <a:solidFill>
                  <a:schemeClr val="tx1"/>
                </a:solidFill>
                <a:latin typeface="黑体" pitchFamily="49" charset="-122"/>
                <a:ea typeface="黑体" pitchFamily="49" charset="-122"/>
              </a:rPr>
              <a:t>1</a:t>
            </a:r>
            <a:r>
              <a:rPr lang="zh-CN" altLang="en-US" sz="2400" b="1" dirty="0">
                <a:solidFill>
                  <a:schemeClr val="tx1"/>
                </a:solidFill>
                <a:latin typeface="黑体" pitchFamily="49" charset="-122"/>
                <a:ea typeface="黑体" pitchFamily="49" charset="-122"/>
              </a:rPr>
              <a:t>）顺序表采用</a:t>
            </a:r>
            <a:r>
              <a:rPr lang="zh-CN" altLang="en-US" sz="2400" b="1" dirty="0">
                <a:solidFill>
                  <a:srgbClr val="FF0000"/>
                </a:solidFill>
                <a:latin typeface="黑体" pitchFamily="49" charset="-122"/>
                <a:ea typeface="黑体" pitchFamily="49" charset="-122"/>
              </a:rPr>
              <a:t>顺序存储结构</a:t>
            </a:r>
            <a:r>
              <a:rPr lang="zh-CN" altLang="en-US" sz="2400" b="1" dirty="0">
                <a:solidFill>
                  <a:schemeClr val="tx1"/>
                </a:solidFill>
                <a:latin typeface="黑体" pitchFamily="49" charset="-122"/>
                <a:ea typeface="黑体" pitchFamily="49" charset="-122"/>
              </a:rPr>
              <a:t>，即用一段地址连续的存储单元依次存储线性表的数据元素，数据元素之间的</a:t>
            </a:r>
            <a:r>
              <a:rPr lang="zh-CN" altLang="en-US" sz="2400" b="1" dirty="0">
                <a:solidFill>
                  <a:srgbClr val="FF0000"/>
                </a:solidFill>
                <a:latin typeface="黑体" pitchFamily="49" charset="-122"/>
                <a:ea typeface="黑体" pitchFamily="49" charset="-122"/>
              </a:rPr>
              <a:t>逻辑关系通过存储位置来实现</a:t>
            </a:r>
            <a:r>
              <a:rPr lang="zh-CN" altLang="en-US" sz="2400" b="1" dirty="0">
                <a:solidFill>
                  <a:schemeClr val="tx1"/>
                </a:solidFill>
                <a:latin typeface="黑体" pitchFamily="49" charset="-122"/>
                <a:ea typeface="黑体" pitchFamily="49" charset="-122"/>
              </a:rPr>
              <a:t>。</a:t>
            </a:r>
          </a:p>
        </p:txBody>
      </p:sp>
      <p:sp>
        <p:nvSpPr>
          <p:cNvPr id="2" name="矩形 1"/>
          <p:cNvSpPr/>
          <p:nvPr/>
        </p:nvSpPr>
        <p:spPr>
          <a:xfrm>
            <a:off x="683568" y="3219823"/>
            <a:ext cx="7630616" cy="1200329"/>
          </a:xfrm>
          <a:prstGeom prst="rect">
            <a:avLst/>
          </a:prstGeom>
        </p:spPr>
        <p:txBody>
          <a:bodyPr wrap="square">
            <a:spAutoFit/>
          </a:bodyPr>
          <a:lstStyle/>
          <a:p>
            <a:pPr lvl="1">
              <a:defRPr/>
            </a:pPr>
            <a:r>
              <a:rPr lang="zh-CN" altLang="en-US" sz="2400" b="1" dirty="0">
                <a:latin typeface="黑体" pitchFamily="49" charset="-122"/>
                <a:ea typeface="黑体" pitchFamily="49" charset="-122"/>
              </a:rPr>
              <a:t>（</a:t>
            </a:r>
            <a:r>
              <a:rPr lang="en-US" altLang="zh-CN" sz="2400" b="1" dirty="0">
                <a:latin typeface="黑体" pitchFamily="49" charset="-122"/>
                <a:ea typeface="黑体" pitchFamily="49" charset="-122"/>
              </a:rPr>
              <a:t>2</a:t>
            </a:r>
            <a:r>
              <a:rPr lang="zh-CN" altLang="en-US" sz="2400" b="1" dirty="0">
                <a:latin typeface="黑体" pitchFamily="49" charset="-122"/>
                <a:ea typeface="黑体" pitchFamily="49" charset="-122"/>
              </a:rPr>
              <a:t>）单链表采用</a:t>
            </a:r>
            <a:r>
              <a:rPr lang="zh-CN" altLang="en-US" sz="2400" b="1" dirty="0">
                <a:solidFill>
                  <a:srgbClr val="FF0000"/>
                </a:solidFill>
                <a:latin typeface="黑体" pitchFamily="49" charset="-122"/>
                <a:ea typeface="黑体" pitchFamily="49" charset="-122"/>
              </a:rPr>
              <a:t>链接存储结构</a:t>
            </a:r>
            <a:r>
              <a:rPr lang="zh-CN" altLang="en-US" sz="2400" b="1" dirty="0">
                <a:latin typeface="黑体" pitchFamily="49" charset="-122"/>
                <a:ea typeface="黑体" pitchFamily="49" charset="-122"/>
              </a:rPr>
              <a:t>，即用一组任意的存储单元存放线性表的元素。</a:t>
            </a:r>
            <a:r>
              <a:rPr lang="zh-CN" altLang="en-US" sz="2400" b="1" dirty="0">
                <a:solidFill>
                  <a:srgbClr val="FF0000"/>
                </a:solidFill>
                <a:latin typeface="黑体" pitchFamily="49" charset="-122"/>
                <a:ea typeface="黑体" pitchFamily="49" charset="-122"/>
              </a:rPr>
              <a:t>用指针来反映数据元素之间的逻辑关系</a:t>
            </a:r>
            <a:r>
              <a:rPr lang="zh-CN" altLang="en-US" sz="2400" b="1" dirty="0">
                <a:latin typeface="黑体" pitchFamily="49" charset="-122"/>
                <a:ea typeface="黑体" pitchFamily="49" charset="-122"/>
              </a:rPr>
              <a:t>。</a:t>
            </a:r>
          </a:p>
        </p:txBody>
      </p:sp>
    </p:spTree>
    <p:extLst>
      <p:ext uri="{BB962C8B-B14F-4D97-AF65-F5344CB8AC3E}">
        <p14:creationId xmlns:p14="http://schemas.microsoft.com/office/powerpoint/2010/main" val="1289941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b="1" dirty="0">
                <a:latin typeface="黑体" pitchFamily="49" charset="-122"/>
                <a:ea typeface="黑体" pitchFamily="49" charset="-122"/>
                <a:cs typeface="+mn-cs"/>
              </a:rPr>
              <a:t>顺序表和单链表的比较</a:t>
            </a:r>
            <a:endParaRPr lang="en-US" altLang="zh-CN" sz="3600" dirty="0"/>
          </a:p>
        </p:txBody>
      </p:sp>
      <p:cxnSp>
        <p:nvCxnSpPr>
          <p:cNvPr id="17" name="直接连接符 16"/>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685799" y="1005576"/>
            <a:ext cx="7772400" cy="108012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zh-CN" altLang="en-US" sz="2000" b="1" dirty="0">
                <a:solidFill>
                  <a:schemeClr val="tx1"/>
                </a:solidFill>
                <a:latin typeface="黑体" pitchFamily="49" charset="-122"/>
                <a:ea typeface="黑体" pitchFamily="49" charset="-122"/>
              </a:rPr>
              <a:t>时间性能比较 </a:t>
            </a:r>
          </a:p>
          <a:p>
            <a:pPr algn="l">
              <a:defRPr/>
            </a:pPr>
            <a:r>
              <a:rPr lang="zh-CN" altLang="en-US" sz="2000" b="1" dirty="0">
                <a:solidFill>
                  <a:schemeClr val="tx1"/>
                </a:solidFill>
                <a:latin typeface="黑体" pitchFamily="49" charset="-122"/>
                <a:ea typeface="黑体" pitchFamily="49" charset="-122"/>
              </a:rPr>
              <a:t>时间性能是指实现基于某种存储结构的基本操作（即算法）的时间复杂度。 </a:t>
            </a:r>
          </a:p>
        </p:txBody>
      </p:sp>
      <p:sp>
        <p:nvSpPr>
          <p:cNvPr id="3" name="矩形 2"/>
          <p:cNvSpPr/>
          <p:nvPr/>
        </p:nvSpPr>
        <p:spPr>
          <a:xfrm>
            <a:off x="1187624" y="2086957"/>
            <a:ext cx="6048672" cy="1015663"/>
          </a:xfrm>
          <a:prstGeom prst="rect">
            <a:avLst/>
          </a:prstGeom>
        </p:spPr>
        <p:txBody>
          <a:bodyPr wrap="square">
            <a:spAutoFit/>
          </a:bodyPr>
          <a:lstStyle/>
          <a:p>
            <a:pPr lvl="1">
              <a:defRPr/>
            </a:pPr>
            <a:r>
              <a:rPr lang="zh-CN" altLang="en-US" sz="2000" b="1" dirty="0">
                <a:latin typeface="黑体" pitchFamily="49" charset="-122"/>
                <a:ea typeface="黑体" pitchFamily="49" charset="-122"/>
              </a:rPr>
              <a:t>按位查找：</a:t>
            </a:r>
          </a:p>
          <a:p>
            <a:pPr lvl="2">
              <a:defRPr/>
            </a:pPr>
            <a:r>
              <a:rPr lang="zh-CN" altLang="en-US" sz="2000" b="1" dirty="0">
                <a:latin typeface="黑体" pitchFamily="49" charset="-122"/>
                <a:ea typeface="黑体" pitchFamily="49" charset="-122"/>
              </a:rPr>
              <a:t>顺序表的时间为Ｏ</a:t>
            </a:r>
            <a:r>
              <a:rPr lang="en-US" altLang="zh-CN" sz="2000" b="1" dirty="0">
                <a:latin typeface="黑体" pitchFamily="49" charset="-122"/>
                <a:ea typeface="黑体" pitchFamily="49" charset="-122"/>
              </a:rPr>
              <a:t>(1)</a:t>
            </a:r>
            <a:r>
              <a:rPr lang="zh-CN" altLang="en-US" sz="2000" b="1" dirty="0">
                <a:latin typeface="黑体" pitchFamily="49" charset="-122"/>
                <a:ea typeface="黑体" pitchFamily="49" charset="-122"/>
              </a:rPr>
              <a:t>，是</a:t>
            </a:r>
            <a:r>
              <a:rPr lang="zh-CN" altLang="en-US" sz="2000" b="1" dirty="0">
                <a:solidFill>
                  <a:srgbClr val="FF0000"/>
                </a:solidFill>
                <a:latin typeface="黑体" pitchFamily="49" charset="-122"/>
                <a:ea typeface="黑体" pitchFamily="49" charset="-122"/>
              </a:rPr>
              <a:t>随机存取</a:t>
            </a:r>
            <a:r>
              <a:rPr lang="zh-CN" altLang="en-US" sz="2000" b="1" dirty="0">
                <a:latin typeface="黑体" pitchFamily="49" charset="-122"/>
                <a:ea typeface="黑体" pitchFamily="49" charset="-122"/>
              </a:rPr>
              <a:t>；</a:t>
            </a:r>
          </a:p>
          <a:p>
            <a:pPr lvl="2">
              <a:defRPr/>
            </a:pPr>
            <a:r>
              <a:rPr lang="zh-CN" altLang="en-US" sz="2000" b="1" dirty="0">
                <a:latin typeface="黑体" pitchFamily="49" charset="-122"/>
                <a:ea typeface="黑体" pitchFamily="49" charset="-122"/>
              </a:rPr>
              <a:t>单链表的时间为Ｏ</a:t>
            </a:r>
            <a:r>
              <a:rPr lang="en-US" altLang="zh-CN" sz="2000" b="1" dirty="0">
                <a:latin typeface="黑体" pitchFamily="49" charset="-122"/>
                <a:ea typeface="黑体" pitchFamily="49" charset="-122"/>
              </a:rPr>
              <a:t>(n)</a:t>
            </a:r>
            <a:r>
              <a:rPr lang="zh-CN" altLang="en-US" sz="2000" b="1" dirty="0">
                <a:latin typeface="黑体" pitchFamily="49" charset="-122"/>
                <a:ea typeface="黑体" pitchFamily="49" charset="-122"/>
              </a:rPr>
              <a:t>，是</a:t>
            </a:r>
            <a:r>
              <a:rPr lang="zh-CN" altLang="en-US" sz="2000" b="1" dirty="0">
                <a:solidFill>
                  <a:srgbClr val="FF0000"/>
                </a:solidFill>
                <a:latin typeface="黑体" pitchFamily="49" charset="-122"/>
                <a:ea typeface="黑体" pitchFamily="49" charset="-122"/>
              </a:rPr>
              <a:t>顺序存取</a:t>
            </a:r>
            <a:r>
              <a:rPr lang="zh-CN" altLang="en-US" sz="2000" b="1" dirty="0">
                <a:latin typeface="黑体" pitchFamily="49" charset="-122"/>
                <a:ea typeface="黑体" pitchFamily="49" charset="-122"/>
              </a:rPr>
              <a:t>。</a:t>
            </a:r>
          </a:p>
        </p:txBody>
      </p:sp>
      <p:sp>
        <p:nvSpPr>
          <p:cNvPr id="4" name="矩形 3"/>
          <p:cNvSpPr/>
          <p:nvPr/>
        </p:nvSpPr>
        <p:spPr>
          <a:xfrm>
            <a:off x="1187624" y="3059065"/>
            <a:ext cx="7200800" cy="1323439"/>
          </a:xfrm>
          <a:prstGeom prst="rect">
            <a:avLst/>
          </a:prstGeom>
        </p:spPr>
        <p:txBody>
          <a:bodyPr wrap="square">
            <a:spAutoFit/>
          </a:bodyPr>
          <a:lstStyle/>
          <a:p>
            <a:pPr lvl="1">
              <a:defRPr/>
            </a:pPr>
            <a:r>
              <a:rPr lang="zh-CN" altLang="en-US" sz="2000" b="1" dirty="0">
                <a:latin typeface="黑体" pitchFamily="49" charset="-122"/>
                <a:ea typeface="黑体" pitchFamily="49" charset="-122"/>
              </a:rPr>
              <a:t>插入和删除：</a:t>
            </a:r>
          </a:p>
          <a:p>
            <a:pPr lvl="2">
              <a:defRPr/>
            </a:pPr>
            <a:r>
              <a:rPr lang="zh-CN" altLang="en-US" sz="2000" b="1" dirty="0">
                <a:latin typeface="黑体" pitchFamily="49" charset="-122"/>
                <a:ea typeface="黑体" pitchFamily="49" charset="-122"/>
              </a:rPr>
              <a:t>顺序表需移动表长一半的元素，时间为</a:t>
            </a:r>
            <a:r>
              <a:rPr lang="zh-CN" altLang="en-US" sz="2000" b="1" dirty="0">
                <a:solidFill>
                  <a:srgbClr val="FF0000"/>
                </a:solidFill>
                <a:latin typeface="黑体" pitchFamily="49" charset="-122"/>
                <a:ea typeface="黑体" pitchFamily="49" charset="-122"/>
              </a:rPr>
              <a:t>Ｏ</a:t>
            </a:r>
            <a:r>
              <a:rPr lang="en-US" altLang="zh-CN" sz="2000" b="1" dirty="0">
                <a:solidFill>
                  <a:srgbClr val="FF0000"/>
                </a:solidFill>
                <a:latin typeface="黑体" pitchFamily="49" charset="-122"/>
                <a:ea typeface="黑体" pitchFamily="49" charset="-122"/>
              </a:rPr>
              <a:t>(n)</a:t>
            </a:r>
            <a:r>
              <a:rPr lang="zh-CN" altLang="en-US" sz="2000" b="1" dirty="0">
                <a:latin typeface="黑体" pitchFamily="49" charset="-122"/>
                <a:ea typeface="黑体" pitchFamily="49" charset="-122"/>
              </a:rPr>
              <a:t>；</a:t>
            </a:r>
          </a:p>
          <a:p>
            <a:pPr lvl="2">
              <a:defRPr/>
            </a:pPr>
            <a:r>
              <a:rPr lang="zh-CN" altLang="en-US" sz="2000" b="1" dirty="0">
                <a:latin typeface="黑体" pitchFamily="49" charset="-122"/>
                <a:ea typeface="黑体" pitchFamily="49" charset="-122"/>
              </a:rPr>
              <a:t>单链表不需要移动元素，在给出某个合适位置的指针后，插入和删除操作所需的时间仅为</a:t>
            </a:r>
            <a:r>
              <a:rPr lang="zh-CN" altLang="en-US" sz="2000" b="1" dirty="0">
                <a:solidFill>
                  <a:srgbClr val="FF0000"/>
                </a:solidFill>
                <a:latin typeface="黑体" pitchFamily="49" charset="-122"/>
                <a:ea typeface="黑体" pitchFamily="49" charset="-122"/>
              </a:rPr>
              <a:t>Ｏ</a:t>
            </a:r>
            <a:r>
              <a:rPr lang="en-US" altLang="zh-CN" sz="2000" b="1" dirty="0">
                <a:solidFill>
                  <a:srgbClr val="FF0000"/>
                </a:solidFill>
                <a:latin typeface="黑体" pitchFamily="49" charset="-122"/>
                <a:ea typeface="黑体" pitchFamily="49" charset="-122"/>
              </a:rPr>
              <a:t>(1)</a:t>
            </a:r>
            <a:r>
              <a:rPr lang="zh-CN" altLang="en-US" sz="2000" b="1" dirty="0">
                <a:latin typeface="黑体" pitchFamily="49" charset="-122"/>
                <a:ea typeface="黑体" pitchFamily="49" charset="-122"/>
              </a:rPr>
              <a:t>。</a:t>
            </a:r>
          </a:p>
        </p:txBody>
      </p:sp>
    </p:spTree>
    <p:extLst>
      <p:ext uri="{BB962C8B-B14F-4D97-AF65-F5344CB8AC3E}">
        <p14:creationId xmlns:p14="http://schemas.microsoft.com/office/powerpoint/2010/main" val="1543669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b="1" dirty="0">
                <a:latin typeface="黑体" pitchFamily="49" charset="-122"/>
                <a:ea typeface="黑体" pitchFamily="49" charset="-122"/>
                <a:cs typeface="+mn-cs"/>
              </a:rPr>
              <a:t>顺序表和单链表的比较</a:t>
            </a:r>
            <a:endParaRPr lang="en-US" altLang="zh-CN" sz="3600" dirty="0"/>
          </a:p>
        </p:txBody>
      </p:sp>
      <p:cxnSp>
        <p:nvCxnSpPr>
          <p:cNvPr id="17" name="直接连接符 16"/>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Rectangle 3"/>
          <p:cNvSpPr txBox="1">
            <a:spLocks noChangeArrowheads="1"/>
          </p:cNvSpPr>
          <p:nvPr/>
        </p:nvSpPr>
        <p:spPr>
          <a:xfrm>
            <a:off x="395536" y="1113588"/>
            <a:ext cx="8204448" cy="1188132"/>
          </a:xfrm>
          <a:prstGeom prst="rect">
            <a:avLst/>
          </a:prstGeom>
        </p:spPr>
        <p:txBody>
          <a:bodyPr vert="horz" lIns="91440" tIns="45720" rIns="91440" bIns="45720" rtlCol="0">
            <a:normAutofit fontScale="850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zh-CN" altLang="en-US" b="1" dirty="0">
                <a:solidFill>
                  <a:schemeClr val="tx1"/>
                </a:solidFill>
                <a:latin typeface="黑体" pitchFamily="49" charset="-122"/>
                <a:ea typeface="黑体" pitchFamily="49" charset="-122"/>
              </a:rPr>
              <a:t>空间性能比较 </a:t>
            </a:r>
          </a:p>
          <a:p>
            <a:pPr algn="l">
              <a:defRPr/>
            </a:pPr>
            <a:r>
              <a:rPr lang="zh-CN" altLang="en-US" b="1" dirty="0">
                <a:solidFill>
                  <a:schemeClr val="tx1"/>
                </a:solidFill>
                <a:latin typeface="黑体" pitchFamily="49" charset="-122"/>
                <a:ea typeface="黑体" pitchFamily="49" charset="-122"/>
              </a:rPr>
              <a:t>空间性能是指某种存储结构所占用的存储空间的大小。 </a:t>
            </a:r>
          </a:p>
        </p:txBody>
      </p:sp>
      <p:grpSp>
        <p:nvGrpSpPr>
          <p:cNvPr id="7" name="Group 4"/>
          <p:cNvGrpSpPr>
            <a:grpSpLocks/>
          </p:cNvGrpSpPr>
          <p:nvPr/>
        </p:nvGrpSpPr>
        <p:grpSpPr bwMode="auto">
          <a:xfrm>
            <a:off x="1840409" y="2992170"/>
            <a:ext cx="5746750" cy="598884"/>
            <a:chOff x="1271" y="2330"/>
            <a:chExt cx="3620" cy="503"/>
          </a:xfrm>
        </p:grpSpPr>
        <p:sp>
          <p:nvSpPr>
            <p:cNvPr id="8" name="Text Box 5"/>
            <p:cNvSpPr txBox="1">
              <a:spLocks noChangeArrowheads="1"/>
            </p:cNvSpPr>
            <p:nvPr/>
          </p:nvSpPr>
          <p:spPr bwMode="auto">
            <a:xfrm>
              <a:off x="2393" y="2330"/>
              <a:ext cx="2498"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lnSpc>
                  <a:spcPct val="120000"/>
                </a:lnSpc>
                <a:defRPr/>
              </a:pPr>
              <a:r>
                <a:rPr lang="zh-CN" altLang="en-US" sz="2400" b="1" dirty="0">
                  <a:effectLst>
                    <a:outerShdw blurRad="38100" dist="38100" dir="2700000" algn="tl">
                      <a:srgbClr val="C0C0C0"/>
                    </a:outerShdw>
                  </a:effectLst>
                  <a:latin typeface="宋体" pitchFamily="2" charset="-122"/>
                  <a:cs typeface="Times New Roman" pitchFamily="18" charset="0"/>
                </a:rPr>
                <a:t> 数据域占用的存储量</a:t>
              </a:r>
              <a:endParaRPr lang="zh-CN" altLang="en-US" sz="2400" b="1" dirty="0">
                <a:effectLst>
                  <a:outerShdw blurRad="38100" dist="38100" dir="2700000" algn="tl">
                    <a:srgbClr val="C0C0C0"/>
                  </a:outerShdw>
                </a:effectLst>
                <a:latin typeface="Arial" charset="0"/>
                <a:ea typeface="华文行楷" pitchFamily="2" charset="-122"/>
                <a:cs typeface="Times New Roman" pitchFamily="18" charset="0"/>
              </a:endParaRPr>
            </a:p>
            <a:p>
              <a:pPr eaLnBrk="1" hangingPunct="1">
                <a:lnSpc>
                  <a:spcPct val="120000"/>
                </a:lnSpc>
                <a:defRPr/>
              </a:pPr>
              <a:r>
                <a:rPr lang="zh-CN" altLang="en-US" sz="2400" b="1" dirty="0">
                  <a:effectLst>
                    <a:outerShdw blurRad="38100" dist="38100" dir="2700000" algn="tl">
                      <a:srgbClr val="C0C0C0"/>
                    </a:outerShdw>
                  </a:effectLst>
                  <a:latin typeface="宋体" pitchFamily="2" charset="-122"/>
                  <a:cs typeface="Times New Roman" pitchFamily="18" charset="0"/>
                </a:rPr>
                <a:t>整个结点占用的存储量</a:t>
              </a:r>
              <a:endParaRPr lang="zh-CN" altLang="en-US" sz="2400" b="1" dirty="0">
                <a:effectLst>
                  <a:outerShdw blurRad="38100" dist="38100" dir="2700000" algn="tl">
                    <a:srgbClr val="C0C0C0"/>
                  </a:outerShdw>
                </a:effectLst>
                <a:latin typeface="Arial" charset="0"/>
              </a:endParaRPr>
            </a:p>
          </p:txBody>
        </p:sp>
        <p:sp>
          <p:nvSpPr>
            <p:cNvPr id="9" name="Freeform 6"/>
            <p:cNvSpPr>
              <a:spLocks/>
            </p:cNvSpPr>
            <p:nvPr/>
          </p:nvSpPr>
          <p:spPr bwMode="auto">
            <a:xfrm>
              <a:off x="2322" y="2618"/>
              <a:ext cx="2267" cy="1"/>
            </a:xfrm>
            <a:custGeom>
              <a:avLst/>
              <a:gdLst>
                <a:gd name="T0" fmla="*/ 0 w 2631"/>
                <a:gd name="T1" fmla="*/ 0 h 2"/>
                <a:gd name="T2" fmla="*/ 688 w 2631"/>
                <a:gd name="T3" fmla="*/ 1 h 2"/>
                <a:gd name="T4" fmla="*/ 0 60000 65536"/>
                <a:gd name="T5" fmla="*/ 0 60000 65536"/>
              </a:gdLst>
              <a:ahLst/>
              <a:cxnLst>
                <a:cxn ang="T4">
                  <a:pos x="T0" y="T1"/>
                </a:cxn>
                <a:cxn ang="T5">
                  <a:pos x="T2" y="T3"/>
                </a:cxn>
              </a:cxnLst>
              <a:rect l="0" t="0" r="r" b="b"/>
              <a:pathLst>
                <a:path w="2631" h="2">
                  <a:moveTo>
                    <a:pt x="0" y="0"/>
                  </a:moveTo>
                  <a:lnTo>
                    <a:pt x="2631" y="2"/>
                  </a:lnTo>
                </a:path>
              </a:pathLst>
            </a:custGeom>
            <a:noFill/>
            <a:ln w="254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 name="Text Box 7"/>
            <p:cNvSpPr txBox="1">
              <a:spLocks noChangeArrowheads="1"/>
            </p:cNvSpPr>
            <p:nvPr/>
          </p:nvSpPr>
          <p:spPr bwMode="auto">
            <a:xfrm>
              <a:off x="1271" y="2497"/>
              <a:ext cx="97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defRPr/>
              </a:pPr>
              <a:r>
                <a:rPr lang="zh-CN" altLang="en-US" sz="2400" b="1">
                  <a:effectLst>
                    <a:outerShdw blurRad="38100" dist="38100" dir="2700000" algn="tl">
                      <a:srgbClr val="C0C0C0"/>
                    </a:outerShdw>
                  </a:effectLst>
                  <a:latin typeface="宋体" pitchFamily="2" charset="-122"/>
                  <a:cs typeface="Times New Roman" pitchFamily="18" charset="0"/>
                </a:rPr>
                <a:t>存储密度＝</a:t>
              </a:r>
              <a:endParaRPr lang="zh-CN" altLang="en-US" sz="2400" b="1">
                <a:effectLst>
                  <a:outerShdw blurRad="38100" dist="38100" dir="2700000" algn="tl">
                    <a:srgbClr val="C0C0C0"/>
                  </a:outerShdw>
                </a:effectLst>
                <a:latin typeface="Arial" charset="0"/>
                <a:cs typeface="Times New Roman" pitchFamily="18" charset="0"/>
              </a:endParaRPr>
            </a:p>
          </p:txBody>
        </p:sp>
      </p:grpSp>
      <p:sp>
        <p:nvSpPr>
          <p:cNvPr id="2" name="矩形 1"/>
          <p:cNvSpPr/>
          <p:nvPr/>
        </p:nvSpPr>
        <p:spPr>
          <a:xfrm>
            <a:off x="1809577" y="2565156"/>
            <a:ext cx="3278462" cy="461665"/>
          </a:xfrm>
          <a:prstGeom prst="rect">
            <a:avLst/>
          </a:prstGeom>
        </p:spPr>
        <p:txBody>
          <a:bodyPr wrap="none">
            <a:spAutoFit/>
          </a:bodyPr>
          <a:lstStyle/>
          <a:p>
            <a:pPr>
              <a:defRPr/>
            </a:pPr>
            <a:r>
              <a:rPr lang="zh-CN" altLang="en-US" sz="2400" b="1" dirty="0">
                <a:latin typeface="黑体" pitchFamily="49" charset="-122"/>
                <a:ea typeface="黑体" pitchFamily="49" charset="-122"/>
              </a:rPr>
              <a:t>定义结点的存储密度：</a:t>
            </a:r>
          </a:p>
        </p:txBody>
      </p:sp>
    </p:spTree>
    <p:extLst>
      <p:ext uri="{BB962C8B-B14F-4D97-AF65-F5344CB8AC3E}">
        <p14:creationId xmlns:p14="http://schemas.microsoft.com/office/powerpoint/2010/main" val="1613870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b="1" dirty="0">
                <a:latin typeface="黑体" pitchFamily="49" charset="-122"/>
                <a:ea typeface="黑体" pitchFamily="49" charset="-122"/>
                <a:cs typeface="+mn-cs"/>
              </a:rPr>
              <a:t>顺序表和单链表的比较</a:t>
            </a:r>
            <a:endParaRPr lang="en-US" altLang="zh-CN" sz="3600" dirty="0"/>
          </a:p>
        </p:txBody>
      </p:sp>
      <p:cxnSp>
        <p:nvCxnSpPr>
          <p:cNvPr id="17" name="直接连接符 16"/>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Rectangle 3"/>
          <p:cNvSpPr txBox="1">
            <a:spLocks noChangeArrowheads="1"/>
          </p:cNvSpPr>
          <p:nvPr/>
        </p:nvSpPr>
        <p:spPr>
          <a:xfrm>
            <a:off x="685799" y="1005576"/>
            <a:ext cx="7772400" cy="1944216"/>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zh-CN" altLang="en-US" sz="2000" b="1" dirty="0">
                <a:solidFill>
                  <a:schemeClr val="tx1"/>
                </a:solidFill>
                <a:latin typeface="黑体" pitchFamily="49" charset="-122"/>
                <a:ea typeface="黑体" pitchFamily="49" charset="-122"/>
              </a:rPr>
              <a:t>空间性能比较 </a:t>
            </a:r>
          </a:p>
          <a:p>
            <a:pPr lvl="1" algn="l">
              <a:defRPr/>
            </a:pPr>
            <a:r>
              <a:rPr lang="zh-CN" altLang="en-US" sz="2000" b="1" dirty="0">
                <a:solidFill>
                  <a:schemeClr val="tx1"/>
                </a:solidFill>
                <a:latin typeface="黑体" pitchFamily="49" charset="-122"/>
                <a:ea typeface="黑体" pitchFamily="49" charset="-122"/>
              </a:rPr>
              <a:t>结点的存储密度：</a:t>
            </a:r>
          </a:p>
          <a:p>
            <a:pPr lvl="2" algn="l">
              <a:defRPr/>
            </a:pPr>
            <a:r>
              <a:rPr lang="zh-CN" altLang="en-US" sz="2000" b="1" dirty="0">
                <a:solidFill>
                  <a:srgbClr val="FF0000"/>
                </a:solidFill>
                <a:latin typeface="黑体" pitchFamily="49" charset="-122"/>
                <a:ea typeface="黑体" pitchFamily="49" charset="-122"/>
              </a:rPr>
              <a:t>顺序表</a:t>
            </a:r>
            <a:r>
              <a:rPr lang="zh-CN" altLang="en-US" sz="2000" b="1" dirty="0">
                <a:solidFill>
                  <a:schemeClr val="tx1"/>
                </a:solidFill>
                <a:latin typeface="黑体" pitchFamily="49" charset="-122"/>
                <a:ea typeface="黑体" pitchFamily="49" charset="-122"/>
              </a:rPr>
              <a:t>中每个结点的</a:t>
            </a:r>
            <a:r>
              <a:rPr lang="zh-CN" altLang="en-US" sz="2000" b="1" dirty="0">
                <a:solidFill>
                  <a:srgbClr val="FF0000"/>
                </a:solidFill>
                <a:latin typeface="黑体" pitchFamily="49" charset="-122"/>
                <a:ea typeface="黑体" pitchFamily="49" charset="-122"/>
              </a:rPr>
              <a:t>存储密度为</a:t>
            </a:r>
            <a:r>
              <a:rPr lang="en-US" altLang="zh-CN" sz="2000" b="1" dirty="0">
                <a:solidFill>
                  <a:srgbClr val="FF0000"/>
                </a:solidFill>
                <a:latin typeface="黑体" pitchFamily="49" charset="-122"/>
                <a:ea typeface="黑体" pitchFamily="49" charset="-122"/>
              </a:rPr>
              <a:t>1</a:t>
            </a:r>
            <a:r>
              <a:rPr lang="zh-CN" altLang="en-US" sz="2000" b="1" dirty="0">
                <a:solidFill>
                  <a:schemeClr val="tx1"/>
                </a:solidFill>
                <a:latin typeface="黑体" pitchFamily="49" charset="-122"/>
                <a:ea typeface="黑体" pitchFamily="49" charset="-122"/>
              </a:rPr>
              <a:t>（只存储数据元素），没有浪费空间；</a:t>
            </a:r>
          </a:p>
          <a:p>
            <a:pPr lvl="2" algn="l">
              <a:defRPr/>
            </a:pPr>
            <a:r>
              <a:rPr lang="zh-CN" altLang="en-US" sz="2000" b="1" dirty="0">
                <a:solidFill>
                  <a:srgbClr val="FF0000"/>
                </a:solidFill>
                <a:latin typeface="黑体" pitchFamily="49" charset="-122"/>
                <a:ea typeface="黑体" pitchFamily="49" charset="-122"/>
              </a:rPr>
              <a:t>单链表</a:t>
            </a:r>
            <a:r>
              <a:rPr lang="zh-CN" altLang="en-US" sz="2000" b="1" dirty="0">
                <a:solidFill>
                  <a:schemeClr val="tx1"/>
                </a:solidFill>
                <a:latin typeface="黑体" pitchFamily="49" charset="-122"/>
                <a:ea typeface="黑体" pitchFamily="49" charset="-122"/>
              </a:rPr>
              <a:t>的每个结点的</a:t>
            </a:r>
            <a:r>
              <a:rPr lang="zh-CN" altLang="en-US" sz="2000" b="1" dirty="0">
                <a:solidFill>
                  <a:srgbClr val="FF0000"/>
                </a:solidFill>
                <a:latin typeface="黑体" pitchFamily="49" charset="-122"/>
                <a:ea typeface="黑体" pitchFamily="49" charset="-122"/>
              </a:rPr>
              <a:t>存储密度</a:t>
            </a:r>
            <a:r>
              <a:rPr lang="en-US" altLang="zh-CN" sz="2000" b="1" dirty="0">
                <a:solidFill>
                  <a:srgbClr val="FF0000"/>
                </a:solidFill>
                <a:latin typeface="黑体" pitchFamily="49" charset="-122"/>
                <a:ea typeface="黑体" pitchFamily="49" charset="-122"/>
              </a:rPr>
              <a:t>&lt;1</a:t>
            </a:r>
            <a:r>
              <a:rPr lang="zh-CN" altLang="en-US" sz="2000" b="1" dirty="0">
                <a:solidFill>
                  <a:schemeClr val="tx1"/>
                </a:solidFill>
                <a:latin typeface="黑体" pitchFamily="49" charset="-122"/>
                <a:ea typeface="黑体" pitchFamily="49" charset="-122"/>
              </a:rPr>
              <a:t>（包括数据域和指针域），有指针的结构性开销。</a:t>
            </a:r>
          </a:p>
        </p:txBody>
      </p:sp>
      <p:sp>
        <p:nvSpPr>
          <p:cNvPr id="2" name="矩形 1"/>
          <p:cNvSpPr/>
          <p:nvPr/>
        </p:nvSpPr>
        <p:spPr>
          <a:xfrm>
            <a:off x="755576" y="3057804"/>
            <a:ext cx="7702623" cy="1631216"/>
          </a:xfrm>
          <a:prstGeom prst="rect">
            <a:avLst/>
          </a:prstGeom>
        </p:spPr>
        <p:txBody>
          <a:bodyPr wrap="square">
            <a:spAutoFit/>
          </a:bodyPr>
          <a:lstStyle/>
          <a:p>
            <a:pPr lvl="1">
              <a:defRPr/>
            </a:pPr>
            <a:r>
              <a:rPr lang="zh-CN" altLang="en-US" sz="2000" b="1" dirty="0">
                <a:latin typeface="黑体" pitchFamily="49" charset="-122"/>
                <a:ea typeface="黑体" pitchFamily="49" charset="-122"/>
              </a:rPr>
              <a:t>整体结构：</a:t>
            </a:r>
          </a:p>
          <a:p>
            <a:pPr lvl="2">
              <a:defRPr/>
            </a:pPr>
            <a:r>
              <a:rPr lang="zh-CN" altLang="en-US" sz="2000" b="1" dirty="0">
                <a:solidFill>
                  <a:srgbClr val="FF0000"/>
                </a:solidFill>
                <a:latin typeface="黑体" pitchFamily="49" charset="-122"/>
                <a:ea typeface="黑体" pitchFamily="49" charset="-122"/>
              </a:rPr>
              <a:t>顺序表</a:t>
            </a:r>
            <a:r>
              <a:rPr lang="zh-CN" altLang="en-US" sz="2000" b="1" dirty="0">
                <a:latin typeface="黑体" pitchFamily="49" charset="-122"/>
                <a:ea typeface="黑体" pitchFamily="49" charset="-122"/>
              </a:rPr>
              <a:t>需要</a:t>
            </a:r>
            <a:r>
              <a:rPr lang="zh-CN" altLang="en-US" sz="2000" b="1" dirty="0">
                <a:solidFill>
                  <a:srgbClr val="FF0000"/>
                </a:solidFill>
                <a:latin typeface="黑体" pitchFamily="49" charset="-122"/>
                <a:ea typeface="黑体" pitchFamily="49" charset="-122"/>
              </a:rPr>
              <a:t>预分配存储空间</a:t>
            </a:r>
            <a:r>
              <a:rPr lang="zh-CN" altLang="en-US" sz="2000" b="1" dirty="0">
                <a:latin typeface="黑体" pitchFamily="49" charset="-122"/>
                <a:ea typeface="黑体" pitchFamily="49" charset="-122"/>
              </a:rPr>
              <a:t>，如果预分配得过大，造成浪费，若估计得过小，又将发生上溢；</a:t>
            </a:r>
          </a:p>
          <a:p>
            <a:pPr lvl="2">
              <a:defRPr/>
            </a:pPr>
            <a:r>
              <a:rPr lang="zh-CN" altLang="en-US" sz="2000" b="1" dirty="0">
                <a:solidFill>
                  <a:srgbClr val="FF0000"/>
                </a:solidFill>
                <a:latin typeface="黑体" pitchFamily="49" charset="-122"/>
                <a:ea typeface="黑体" pitchFamily="49" charset="-122"/>
              </a:rPr>
              <a:t>单链表不需要预分配空间</a:t>
            </a:r>
            <a:r>
              <a:rPr lang="zh-CN" altLang="en-US" sz="2000" b="1" dirty="0">
                <a:latin typeface="黑体" pitchFamily="49" charset="-122"/>
                <a:ea typeface="黑体" pitchFamily="49" charset="-122"/>
              </a:rPr>
              <a:t>，只要有内存空间可以分配，单链表中的元素个数就没有限制。</a:t>
            </a:r>
          </a:p>
        </p:txBody>
      </p:sp>
    </p:spTree>
    <p:extLst>
      <p:ext uri="{BB962C8B-B14F-4D97-AF65-F5344CB8AC3E}">
        <p14:creationId xmlns:p14="http://schemas.microsoft.com/office/powerpoint/2010/main" val="3717325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b="1" dirty="0">
                <a:latin typeface="黑体" pitchFamily="49" charset="-122"/>
                <a:ea typeface="黑体" pitchFamily="49" charset="-122"/>
                <a:cs typeface="+mn-cs"/>
              </a:rPr>
              <a:t>顺序表和单链表的比较</a:t>
            </a:r>
            <a:endParaRPr lang="en-US" altLang="zh-CN" sz="3600" dirty="0"/>
          </a:p>
        </p:txBody>
      </p:sp>
      <p:cxnSp>
        <p:nvCxnSpPr>
          <p:cNvPr id="17" name="直接连接符 16"/>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Rectangle 3"/>
          <p:cNvSpPr txBox="1">
            <a:spLocks noChangeArrowheads="1"/>
          </p:cNvSpPr>
          <p:nvPr/>
        </p:nvSpPr>
        <p:spPr>
          <a:xfrm>
            <a:off x="971600" y="1167594"/>
            <a:ext cx="7772400" cy="108012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lnSpc>
                <a:spcPct val="90000"/>
              </a:lnSpc>
              <a:defRPr/>
            </a:pPr>
            <a:r>
              <a:rPr lang="zh-CN" altLang="en-US" sz="2000" b="1" dirty="0">
                <a:solidFill>
                  <a:schemeClr val="tx1"/>
                </a:solidFill>
                <a:latin typeface="黑体" pitchFamily="49" charset="-122"/>
                <a:ea typeface="黑体" pitchFamily="49" charset="-122"/>
              </a:rPr>
              <a:t>⑴若线性表需频繁查找却很少进行插入和删除操作，或其操作和元素在表中的位置密切相关时，宜采用顺序表作为存储结构；若线性表需频繁插入和删除时，则宜采用单链表做存储结构。</a:t>
            </a:r>
          </a:p>
        </p:txBody>
      </p:sp>
      <p:sp>
        <p:nvSpPr>
          <p:cNvPr id="2" name="矩形 1"/>
          <p:cNvSpPr/>
          <p:nvPr/>
        </p:nvSpPr>
        <p:spPr>
          <a:xfrm>
            <a:off x="971600" y="2247714"/>
            <a:ext cx="7772400" cy="923330"/>
          </a:xfrm>
          <a:prstGeom prst="rect">
            <a:avLst/>
          </a:prstGeom>
        </p:spPr>
        <p:txBody>
          <a:bodyPr wrap="square">
            <a:spAutoFit/>
          </a:bodyPr>
          <a:lstStyle/>
          <a:p>
            <a:pPr>
              <a:lnSpc>
                <a:spcPct val="90000"/>
              </a:lnSpc>
              <a:defRPr/>
            </a:pPr>
            <a:r>
              <a:rPr lang="zh-CN" altLang="en-US" sz="2000" b="1" dirty="0">
                <a:latin typeface="黑体" pitchFamily="49" charset="-122"/>
                <a:ea typeface="黑体" pitchFamily="49" charset="-122"/>
              </a:rPr>
              <a:t>⑵当线性表中元素个数变化较大或者未知时，最好使用单链表实现；而如果用户事先知道线性表的大致长度，使用顺序表的空间效率会更高。</a:t>
            </a:r>
          </a:p>
        </p:txBody>
      </p:sp>
      <p:sp>
        <p:nvSpPr>
          <p:cNvPr id="3" name="矩形 2"/>
          <p:cNvSpPr/>
          <p:nvPr/>
        </p:nvSpPr>
        <p:spPr>
          <a:xfrm>
            <a:off x="971600" y="3219822"/>
            <a:ext cx="7560840" cy="923330"/>
          </a:xfrm>
          <a:prstGeom prst="rect">
            <a:avLst/>
          </a:prstGeom>
        </p:spPr>
        <p:txBody>
          <a:bodyPr wrap="square">
            <a:spAutoFit/>
          </a:bodyPr>
          <a:lstStyle/>
          <a:p>
            <a:pPr>
              <a:lnSpc>
                <a:spcPct val="90000"/>
              </a:lnSpc>
              <a:defRPr/>
            </a:pPr>
            <a:r>
              <a:rPr lang="zh-CN" altLang="en-US" sz="2000" b="1" dirty="0">
                <a:latin typeface="黑体" pitchFamily="49" charset="-122"/>
                <a:ea typeface="黑体" pitchFamily="49" charset="-122"/>
              </a:rPr>
              <a:t>总之，线性表的顺序实现和链表实现各有其优缺点，不能笼统地说哪种实现更好，只能根据实际问题的具体需要，并对各方面的优缺点加以综合平衡，才能最终选定比较适宜的实现方法。</a:t>
            </a:r>
          </a:p>
        </p:txBody>
      </p:sp>
    </p:spTree>
    <p:extLst>
      <p:ext uri="{BB962C8B-B14F-4D97-AF65-F5344CB8AC3E}">
        <p14:creationId xmlns:p14="http://schemas.microsoft.com/office/powerpoint/2010/main" val="4168581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solidFill>
            <a:schemeClr val="tx1"/>
          </a:solidFill>
          <a:round/>
          <a:headEnd/>
          <a:tailEnd type="triangle" w="med" len="med"/>
        </a:ln>
        <a:extLst>
          <a:ext uri="{909E8E84-426E-40DD-AFC4-6F175D3DCCD1}">
            <a14:hiddenFill xmlns:a14="http://schemas.microsoft.com/office/drawing/2010/main">
              <a:noFill/>
            </a14:hiddenFill>
          </a:ext>
        </a:extLst>
      </a:spPr>
      <a:bodyPr/>
      <a:lstStyle>
        <a:defPPr algn="l">
          <a:defRPr/>
        </a:defPPr>
      </a:lst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1961</TotalTime>
  <Words>12672</Words>
  <Application>Microsoft Office PowerPoint</Application>
  <PresentationFormat>全屏显示(16:9)</PresentationFormat>
  <Paragraphs>2459</Paragraphs>
  <Slides>119</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2</vt:i4>
      </vt:variant>
      <vt:variant>
        <vt:lpstr>幻灯片标题</vt:lpstr>
      </vt:variant>
      <vt:variant>
        <vt:i4>119</vt:i4>
      </vt:variant>
    </vt:vector>
  </HeadingPairs>
  <TitlesOfParts>
    <vt:vector size="138" baseType="lpstr">
      <vt:lpstr>CFNEOP+TimesNewRoman</vt:lpstr>
      <vt:lpstr>Chaparral Pro Light</vt:lpstr>
      <vt:lpstr>Li Super</vt:lpstr>
      <vt:lpstr>Sim Sun</vt:lpstr>
      <vt:lpstr>方正特雅宋_GBK</vt:lpstr>
      <vt:lpstr>黑体</vt:lpstr>
      <vt:lpstr>经典粗黑简</vt:lpstr>
      <vt:lpstr>宋体</vt:lpstr>
      <vt:lpstr>微软雅黑</vt:lpstr>
      <vt:lpstr>Arial</vt:lpstr>
      <vt:lpstr>Calibri</vt:lpstr>
      <vt:lpstr>Consolas</vt:lpstr>
      <vt:lpstr>Tahoma</vt:lpstr>
      <vt:lpstr>Times New Roman</vt:lpstr>
      <vt:lpstr>Vivaldi</vt:lpstr>
      <vt:lpstr>Wingdings</vt:lpstr>
      <vt:lpstr>Office 主题​​</vt:lpstr>
      <vt:lpstr>Clip</vt:lpstr>
      <vt:lpstr>公式</vt:lpstr>
      <vt:lpstr>第2章 线性表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 Data Structure</dc:title>
  <dc:creator>Fenghc</dc:creator>
  <cp:lastModifiedBy>User</cp:lastModifiedBy>
  <cp:revision>177</cp:revision>
  <dcterms:created xsi:type="dcterms:W3CDTF">2021-02-25T03:49:55Z</dcterms:created>
  <dcterms:modified xsi:type="dcterms:W3CDTF">2025-09-18T10:18:52Z</dcterms:modified>
</cp:coreProperties>
</file>