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603" r:id="rId2"/>
    <p:sldId id="604" r:id="rId3"/>
    <p:sldId id="777" r:id="rId4"/>
    <p:sldId id="606" r:id="rId5"/>
    <p:sldId id="607" r:id="rId6"/>
    <p:sldId id="608" r:id="rId7"/>
    <p:sldId id="609" r:id="rId8"/>
    <p:sldId id="610" r:id="rId9"/>
    <p:sldId id="611" r:id="rId10"/>
    <p:sldId id="612" r:id="rId11"/>
    <p:sldId id="613" r:id="rId12"/>
    <p:sldId id="614" r:id="rId13"/>
    <p:sldId id="615" r:id="rId14"/>
    <p:sldId id="616" r:id="rId15"/>
    <p:sldId id="617" r:id="rId16"/>
    <p:sldId id="618" r:id="rId17"/>
    <p:sldId id="619" r:id="rId18"/>
    <p:sldId id="620" r:id="rId19"/>
    <p:sldId id="621" r:id="rId20"/>
    <p:sldId id="622" r:id="rId21"/>
    <p:sldId id="623" r:id="rId22"/>
    <p:sldId id="624" r:id="rId23"/>
    <p:sldId id="625" r:id="rId24"/>
    <p:sldId id="626" r:id="rId25"/>
    <p:sldId id="627" r:id="rId26"/>
    <p:sldId id="628" r:id="rId27"/>
    <p:sldId id="629" r:id="rId28"/>
    <p:sldId id="630" r:id="rId29"/>
    <p:sldId id="631" r:id="rId30"/>
    <p:sldId id="632" r:id="rId31"/>
    <p:sldId id="633" r:id="rId32"/>
    <p:sldId id="634" r:id="rId33"/>
    <p:sldId id="635" r:id="rId34"/>
    <p:sldId id="636" r:id="rId35"/>
    <p:sldId id="637" r:id="rId36"/>
    <p:sldId id="638" r:id="rId37"/>
    <p:sldId id="639" r:id="rId38"/>
    <p:sldId id="640" r:id="rId39"/>
    <p:sldId id="641" r:id="rId40"/>
    <p:sldId id="642" r:id="rId41"/>
    <p:sldId id="643" r:id="rId42"/>
    <p:sldId id="644" r:id="rId43"/>
    <p:sldId id="645" r:id="rId44"/>
    <p:sldId id="646" r:id="rId45"/>
    <p:sldId id="710" r:id="rId46"/>
    <p:sldId id="778" r:id="rId47"/>
    <p:sldId id="779" r:id="rId48"/>
    <p:sldId id="780" r:id="rId49"/>
    <p:sldId id="781" r:id="rId50"/>
    <p:sldId id="782" r:id="rId51"/>
    <p:sldId id="783" r:id="rId52"/>
    <p:sldId id="784" r:id="rId53"/>
    <p:sldId id="785" r:id="rId54"/>
    <p:sldId id="786" r:id="rId55"/>
    <p:sldId id="787" r:id="rId56"/>
    <p:sldId id="788" r:id="rId57"/>
    <p:sldId id="789" r:id="rId58"/>
    <p:sldId id="790" r:id="rId59"/>
    <p:sldId id="791" r:id="rId60"/>
    <p:sldId id="792" r:id="rId61"/>
    <p:sldId id="793" r:id="rId62"/>
    <p:sldId id="837" r:id="rId63"/>
    <p:sldId id="838" r:id="rId64"/>
    <p:sldId id="839" r:id="rId65"/>
    <p:sldId id="840" r:id="rId66"/>
    <p:sldId id="842" r:id="rId67"/>
    <p:sldId id="843" r:id="rId68"/>
    <p:sldId id="844" r:id="rId69"/>
    <p:sldId id="845" r:id="rId70"/>
    <p:sldId id="476" r:id="rId71"/>
    <p:sldId id="477" r:id="rId7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47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34CBF-F2A7-4204-8063-9BFDC9C0A20E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859C8-35D3-4E84-A3D2-815F7F7E38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183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4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85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2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12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00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866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344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3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14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602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05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B11C4-7618-49BA-A742-440409CFAB34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5A0BF-9B99-4B1A-8F42-46B3DEFA90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3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11624" y="2335339"/>
            <a:ext cx="7523098" cy="941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表达式求值是编译程序要处理的一个基本问题。它的实现是栈应用的一个典型例子。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739984" y="3357149"/>
            <a:ext cx="7350722" cy="413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任何表达式都是由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操作数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运算符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界限符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组成。</a:t>
            </a:r>
          </a:p>
        </p:txBody>
      </p:sp>
      <p:sp>
        <p:nvSpPr>
          <p:cNvPr id="12" name="矩形 11"/>
          <p:cNvSpPr/>
          <p:nvPr/>
        </p:nvSpPr>
        <p:spPr>
          <a:xfrm>
            <a:off x="3462796" y="3969536"/>
            <a:ext cx="45683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操作数可以是常量、变量、常数；</a:t>
            </a:r>
          </a:p>
        </p:txBody>
      </p:sp>
      <p:sp>
        <p:nvSpPr>
          <p:cNvPr id="13" name="矩形 12"/>
          <p:cNvSpPr/>
          <p:nvPr/>
        </p:nvSpPr>
        <p:spPr>
          <a:xfrm>
            <a:off x="3462796" y="4472124"/>
            <a:ext cx="6392779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运算符有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算术运算符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、关系运算符、逻辑运算符等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算术表达式的操作符有＋、－、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×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4" name="矩形 13"/>
          <p:cNvSpPr/>
          <p:nvPr/>
        </p:nvSpPr>
        <p:spPr>
          <a:xfrm>
            <a:off x="3462795" y="529787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界符包括左右括号和算式结束符，包括（、）、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</a:p>
        </p:txBody>
      </p:sp>
      <p:sp>
        <p:nvSpPr>
          <p:cNvPr id="15" name="矩形 14"/>
          <p:cNvSpPr/>
          <p:nvPr/>
        </p:nvSpPr>
        <p:spPr>
          <a:xfrm>
            <a:off x="3462796" y="5800463"/>
            <a:ext cx="4031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运算符和界限符统称为“算符”。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5C48299-9A61-CCD2-2284-1E13FD2A29F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02EB26-6836-0672-FC23-3FBABBC5C85C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3D73854-BA8E-A217-744B-32538A1171A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1D4074B-D7DC-7276-4584-F6E6B1853FAD}"/>
              </a:ext>
            </a:extLst>
          </p:cNvPr>
          <p:cNvSpPr txBox="1"/>
          <p:nvPr/>
        </p:nvSpPr>
        <p:spPr>
          <a:xfrm>
            <a:off x="1559496" y="1844824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82694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70358" y="2555687"/>
            <a:ext cx="7523098" cy="941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表达式求值是编译程序要处理的一个基本问题。它的实现是栈应用的一个典型例子。</a:t>
            </a:r>
          </a:p>
        </p:txBody>
      </p:sp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2770358" y="3609464"/>
            <a:ext cx="7739122" cy="21552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表达式求值的算法，采用“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算符优先法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”，在表达式中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优先级的顺序是：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）先乘除、再加减；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）同级运算，从左至右；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）先括号内，后括号外，多层括号，由内向外；</a:t>
            </a:r>
          </a:p>
        </p:txBody>
      </p:sp>
      <p:sp>
        <p:nvSpPr>
          <p:cNvPr id="17" name="矩形 16"/>
          <p:cNvSpPr/>
          <p:nvPr/>
        </p:nvSpPr>
        <p:spPr>
          <a:xfrm>
            <a:off x="2888268" y="5877272"/>
            <a:ext cx="4085007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447928" y="5877272"/>
            <a:ext cx="1528701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=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9+2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Ⅹ3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779994" y="5877272"/>
            <a:ext cx="2086047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=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9+6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682018" y="5877272"/>
            <a:ext cx="1219200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=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15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79E5ACD-D41D-6ECE-ECC5-CCCA111342A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C7C029-3E52-3E61-C7C4-75EF968CC138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B4585D7-BADB-84CA-02A2-EEFA73E4CF49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04D7F93-D432-93E7-3DD1-8697FC82AC2A}"/>
              </a:ext>
            </a:extLst>
          </p:cNvPr>
          <p:cNvSpPr txBox="1"/>
          <p:nvPr/>
        </p:nvSpPr>
        <p:spPr>
          <a:xfrm>
            <a:off x="1559496" y="1844824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63978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A79D-DCC3-B8EB-263F-713919EF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75534C1-2857-B342-ABF0-DC505D11854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B94C1E-CB2C-B59F-AF37-2F763DBD78BC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EA98775-A835-2F9B-94FD-E8FA29C1AB0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0BE9DE9-667B-63DC-6AE2-316EC7DB4A17}"/>
              </a:ext>
            </a:extLst>
          </p:cNvPr>
          <p:cNvSpPr txBox="1"/>
          <p:nvPr/>
        </p:nvSpPr>
        <p:spPr>
          <a:xfrm>
            <a:off x="1559496" y="1844824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749366" y="2821716"/>
            <a:ext cx="7523098" cy="21354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表达式求值的算法，采用“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算符优先法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”，在表达式中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优先级的顺序是：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）先乘除、再加减；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）同级运算，从左至右；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（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3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）先括号内，后括号外，多层括号，由内向外；</a:t>
            </a:r>
          </a:p>
        </p:txBody>
      </p:sp>
      <p:sp>
        <p:nvSpPr>
          <p:cNvPr id="16" name="矩形 15"/>
          <p:cNvSpPr/>
          <p:nvPr/>
        </p:nvSpPr>
        <p:spPr>
          <a:xfrm>
            <a:off x="2497242" y="5050665"/>
            <a:ext cx="79208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在算符集中，在每一个运算步，相邻的算符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之间的关系是如下三种情况（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出现在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之前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）：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6528048" y="5472356"/>
            <a:ext cx="3892742" cy="100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c1&lt;c2,c1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的优先级低于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c1=c2,c1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的优先级等于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c1&gt;c2,c1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的优先级大于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31111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4299897" y="1882822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905868" y="2525487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3" name="直接连接符 12"/>
          <p:cNvCxnSpPr/>
          <p:nvPr/>
        </p:nvCxnSpPr>
        <p:spPr>
          <a:xfrm>
            <a:off x="1919536" y="2542820"/>
            <a:ext cx="1152129" cy="4541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2">
            <a:extLst>
              <a:ext uri="{FF2B5EF4-FFF2-40B4-BE49-F238E27FC236}">
                <a16:creationId xmlns:a16="http://schemas.microsoft.com/office/drawing/2014/main" id="{603D6086-646F-8C3D-75DD-0C74CE4C62B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4EA369-A86A-3C37-15D0-CBCBB53DB181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617103B-863E-BFC7-D59B-ABF91735D07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8FEEE63-7A95-04C7-CF1B-A61A06F65408}"/>
              </a:ext>
            </a:extLst>
          </p:cNvPr>
          <p:cNvSpPr txBox="1"/>
          <p:nvPr/>
        </p:nvSpPr>
        <p:spPr>
          <a:xfrm>
            <a:off x="1559496" y="1844824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4142217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844363" y="1907993"/>
            <a:ext cx="84281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为实现算符优先法，在这里用了两个工作栈，一个存放算符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，另一个存放数据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graphicFrame>
        <p:nvGraphicFramePr>
          <p:cNvPr id="9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375903"/>
              </p:ext>
            </p:extLst>
          </p:nvPr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813197"/>
              </p:ext>
            </p:extLst>
          </p:nvPr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696962" y="4658473"/>
            <a:ext cx="2055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(OPTR);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(OPND);</a:t>
            </a:r>
          </a:p>
        </p:txBody>
      </p:sp>
      <p:sp>
        <p:nvSpPr>
          <p:cNvPr id="18" name="矩形 17"/>
          <p:cNvSpPr/>
          <p:nvPr/>
        </p:nvSpPr>
        <p:spPr>
          <a:xfrm>
            <a:off x="1844363" y="2564904"/>
            <a:ext cx="8217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第一步：置数据栈为空栈，表达式起始符“＃”为算符栈的栈底元素；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6D2B35F-C54E-A550-0FFA-951519BE172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55C7D7-226E-FEE3-E1A1-6B68A23D436F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789E89F-144C-C699-65FB-6ED20E934E1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8A04B85-2270-9706-A552-82EC03B254E3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36810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844363" y="1907993"/>
            <a:ext cx="84281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为实现算符优先法，在这里用了两个工作栈，一个存放算符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，另一个存放数据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graphicFrame>
        <p:nvGraphicFramePr>
          <p:cNvPr id="9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75634"/>
              </p:ext>
            </p:extLst>
          </p:nvPr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019406"/>
              </p:ext>
            </p:extLst>
          </p:nvPr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696962" y="4658473"/>
            <a:ext cx="2055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(OPTR);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(OPND);</a:t>
            </a:r>
          </a:p>
        </p:txBody>
      </p:sp>
      <p:sp>
        <p:nvSpPr>
          <p:cNvPr id="18" name="矩形 17"/>
          <p:cNvSpPr/>
          <p:nvPr/>
        </p:nvSpPr>
        <p:spPr>
          <a:xfrm>
            <a:off x="1844363" y="2564904"/>
            <a:ext cx="8217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第一步：置数据栈为空栈，表达式起始符“＃”为算符栈的栈底元素；</a:t>
            </a:r>
          </a:p>
        </p:txBody>
      </p:sp>
      <p:sp>
        <p:nvSpPr>
          <p:cNvPr id="12" name="矩形 11"/>
          <p:cNvSpPr/>
          <p:nvPr/>
        </p:nvSpPr>
        <p:spPr>
          <a:xfrm>
            <a:off x="5696962" y="5229200"/>
            <a:ext cx="1883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 ( OPTR,’#’);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FAA015D-EE84-8A09-2A80-903DF9C657E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AE7886-E790-86B7-B05F-0D46391AB230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52C4771-0E66-B435-1AC9-BE0DC498893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394E83A-B133-FFCC-E373-A9F94C45BA20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771353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696962" y="4658473"/>
            <a:ext cx="2055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(OPTR);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(OPND);</a:t>
            </a:r>
          </a:p>
        </p:txBody>
      </p:sp>
      <p:sp>
        <p:nvSpPr>
          <p:cNvPr id="12" name="矩形 11"/>
          <p:cNvSpPr/>
          <p:nvPr/>
        </p:nvSpPr>
        <p:spPr>
          <a:xfrm>
            <a:off x="5696962" y="5229200"/>
            <a:ext cx="1883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 ( OPTR,’#’);</a:t>
            </a:r>
          </a:p>
        </p:txBody>
      </p:sp>
      <p:sp>
        <p:nvSpPr>
          <p:cNvPr id="26" name="矩形 25"/>
          <p:cNvSpPr/>
          <p:nvPr/>
        </p:nvSpPr>
        <p:spPr>
          <a:xfrm>
            <a:off x="1780188" y="2363761"/>
            <a:ext cx="78290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1805829" y="3002971"/>
            <a:ext cx="399723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char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</a:t>
            </a:r>
            <a:endParaRPr lang="zh-CN" altLang="zh-CN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GetTop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OPTR,e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  <a:endParaRPr lang="zh-CN" altLang="zh-CN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while(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!='#'||e!='#')</a:t>
            </a:r>
            <a:endParaRPr lang="zh-CN" altLang="zh-CN" dirty="0">
              <a:latin typeface="Times New Roman" pitchFamily="18" charset="0"/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if(c&gt;=‘0’&amp;&amp;c&lt;=‘9’)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{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        Push(OPND,c-’0’);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       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}</a:t>
            </a: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2755584" y="2196535"/>
            <a:ext cx="24384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7A3B831-E70C-559C-680C-B3C3B61415D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522B4E-FA0A-B30F-ADA7-4F9029447FFE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EF54BCF-5749-0E85-4A37-3A66D37E125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58BC194-5B8B-03F6-0D73-6FE56A09B99A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46154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696962" y="4658473"/>
            <a:ext cx="20552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(OPTR);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InitStack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(OPND);</a:t>
            </a:r>
          </a:p>
        </p:txBody>
      </p:sp>
      <p:sp>
        <p:nvSpPr>
          <p:cNvPr id="12" name="矩形 11"/>
          <p:cNvSpPr/>
          <p:nvPr/>
        </p:nvSpPr>
        <p:spPr>
          <a:xfrm>
            <a:off x="5696962" y="5229200"/>
            <a:ext cx="1883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 ( OPTR,’#’);</a:t>
            </a:r>
          </a:p>
        </p:txBody>
      </p:sp>
      <p:sp>
        <p:nvSpPr>
          <p:cNvPr id="26" name="矩形 25"/>
          <p:cNvSpPr/>
          <p:nvPr/>
        </p:nvSpPr>
        <p:spPr>
          <a:xfrm>
            <a:off x="1780188" y="2363761"/>
            <a:ext cx="78290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24384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FBDA392-902F-00D3-5298-0CE7DA279AA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730266-2441-9ACE-6C13-62623520822B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98FE270-1D2C-A361-F6AF-925A9E13C2E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0F38BF0-1100-F704-35B2-3B2EB86895CF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5CD04D-6291-A6FD-1F19-6D426184A67A}"/>
              </a:ext>
            </a:extLst>
          </p:cNvPr>
          <p:cNvSpPr/>
          <p:nvPr/>
        </p:nvSpPr>
        <p:spPr>
          <a:xfrm>
            <a:off x="1805829" y="3002971"/>
            <a:ext cx="399723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char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</a:t>
            </a:r>
            <a:endParaRPr lang="zh-CN" altLang="zh-CN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GetTop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OPTR,e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  <a:endParaRPr lang="zh-CN" altLang="zh-CN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while(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!='#'||e!='#')</a:t>
            </a:r>
            <a:endParaRPr lang="zh-CN" altLang="zh-CN" dirty="0">
              <a:latin typeface="Times New Roman" pitchFamily="18" charset="0"/>
              <a:ea typeface="宋体" pitchFamily="2" charset="-122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if(c&gt;=‘0’&amp;&amp;c&lt;=‘9’)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{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        Push(OPND,c-’0’);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       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}</a:t>
            </a:r>
          </a:p>
        </p:txBody>
      </p:sp>
    </p:spTree>
    <p:extLst>
      <p:ext uri="{BB962C8B-B14F-4D97-AF65-F5344CB8AC3E}">
        <p14:creationId xmlns:p14="http://schemas.microsoft.com/office/powerpoint/2010/main" val="44428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46009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6" y="1794338"/>
            <a:ext cx="51167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 #  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7" y="1794338"/>
            <a:ext cx="562975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+  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93527FD-BDA3-4F44-99BE-3CAE608CE97B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F91CB5-635E-938B-F86B-693E71DA7841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714BDC9-5611-7CC8-B92A-00CAADF5369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85E9489-AF9A-7145-8BBB-517B5508498F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19697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1835571" y="1916832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1895756" y="2525487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1904465" y="2525486"/>
            <a:ext cx="1254031" cy="487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1904464" y="6074225"/>
            <a:ext cx="8447314" cy="0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3837752" y="2525486"/>
            <a:ext cx="0" cy="3574866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/>
        </p:nvSpPr>
        <p:spPr>
          <a:xfrm>
            <a:off x="3376212" y="5799909"/>
            <a:ext cx="461540" cy="27431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7CBF2C0-6933-EAAE-CC72-EC43F1961C4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3B4A2F-2A9D-1972-CD07-9A60CD868660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AA65C8B-D589-B1B8-CF60-B71913056F9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54ADADE-F7BD-FCF0-71B6-1846109ECC6A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674385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46009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6" y="1794338"/>
            <a:ext cx="51167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 #  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7" y="1794338"/>
            <a:ext cx="562975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+  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737C0D1-CE86-C9A6-68AD-693BA9B463E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8021DB-99E0-71DF-0295-CF4107B06A8F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DB1965F-F29A-BB36-9BB8-89CCC9829EC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3CA13C7-B36A-21BB-ACBA-2B5466919C19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384983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62148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3000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7" y="1794338"/>
            <a:ext cx="55335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DDB2728-71AB-94AF-6FF9-19A2A1B86C8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8F2B24-FCD8-18AC-E6F7-913DB96C3C5E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6D23DCA-C51E-41D3-42A6-5BDFB0AFBD0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51DE7C7-BC05-AEB1-7663-38CE989D9C56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020200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832706" y="1824450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895756" y="2390869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904465" y="2390868"/>
            <a:ext cx="1254031" cy="487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904464" y="3231241"/>
            <a:ext cx="8447314" cy="0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8000449" y="2390869"/>
            <a:ext cx="0" cy="3622765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7500710" y="2956925"/>
            <a:ext cx="461540" cy="27431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125A271-4696-C3A2-27B7-D0327212665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9E66BC-BB54-29C8-68A9-14C747E7D414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981C9F9-D5EC-08C6-2699-99031DDBE42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E861FE0-A84B-546F-B03A-4A88BC56E5A2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26405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62148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3000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7" y="1794338"/>
            <a:ext cx="55335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63C4AB7-2837-5391-3721-10234A8A500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DBB7D4-F7B9-7096-CE8E-80555049AE6D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2D35B46-60A2-5835-C69E-27FEEFF9BD0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0BC1F17-9DD8-3349-DB03-556F1B019D09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4086685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4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748128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33C8826-AAC3-8B3A-DB07-E1695D034749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374257-FDFB-AF2D-7BC8-FB86AE80F12D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C627456-76E1-04DD-0CBF-64D7A7CDD0B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0F11AB7-BFF4-F4B5-394D-7EE5D5F6117A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970807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4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892144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(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529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-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644A51D-EA67-6F29-7C71-FC3A8D7D4460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CBBC2F-705F-2E7A-FCE9-E019DB37B0E3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B373B13-DB28-A1EB-99F5-078255300A3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94CAA2C-1D55-FE32-A655-C5C0B8AC47FB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1801512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60698" y="1824450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844363" y="2390869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853072" y="2390868"/>
            <a:ext cx="1254031" cy="487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853071" y="5042623"/>
            <a:ext cx="8447314" cy="0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4831386" y="2390869"/>
            <a:ext cx="0" cy="3622765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4369846" y="4742180"/>
            <a:ext cx="461540" cy="27431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FA8E18A-AA73-F88D-706F-81D270AF8738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5145D4-4B2C-DDFD-7FFA-1683AF775D75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79ED94D-02D1-7BD2-C302-7721FDC3145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CC053CE-F426-DDE3-37ED-0B4F07871D81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322874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4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03616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4C1E380-BCC8-8AE4-E1DE-73D7901A849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6672FF-1C06-85F9-8D47-0E3736899846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27A2864-70E6-2452-95F6-B492C64D9EB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AB6D13DC-F738-B179-464D-9B153211EE62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479819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4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18017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3054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)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2" name="矩形 21"/>
          <p:cNvSpPr/>
          <p:nvPr/>
        </p:nvSpPr>
        <p:spPr>
          <a:xfrm>
            <a:off x="2724380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3C12CBD-1C9C-3C06-0F59-5FA24EF0DC7B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22E630-E3B1-E422-1A1A-839277C2C90B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870FA4E-20C3-F958-CE97-CAB3D8413A74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01D5263-D244-E215-6A9A-107A3BE6BA1B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69612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60698" y="1824450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895756" y="2390869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904465" y="2390868"/>
            <a:ext cx="1254031" cy="487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904464" y="3701503"/>
            <a:ext cx="8447314" cy="0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9001934" y="2390869"/>
            <a:ext cx="0" cy="3622765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8526327" y="3366225"/>
            <a:ext cx="461540" cy="27431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F071C07-E670-88F3-7286-9549DA700B3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09D12-A10A-A831-B6FF-51DD3269308C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F940DB1-F74E-A400-67BF-5E6D2B09B42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9155027-FEE3-5E55-C055-B62E06CE6487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8252780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-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4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18017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3054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)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9" name="矩形 38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40" name="矩形 39"/>
          <p:cNvSpPr/>
          <p:nvPr/>
        </p:nvSpPr>
        <p:spPr>
          <a:xfrm>
            <a:off x="5688935" y="4437112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6985079" y="4437112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5688934" y="4883388"/>
            <a:ext cx="5132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 4  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7165597" y="4883388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2 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6268106" y="443711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6504548" y="4883388"/>
            <a:ext cx="3529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-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61EFE93-FA34-C2F3-8E7C-19AC211F850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952991-449D-ED65-A2E8-1AF34BE15234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989BB8E-EC30-7129-9E02-3291E1696EF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CA40F84-DEC3-F9FE-DBB9-6F36F521AFCC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961842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18017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3054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)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44" name="矩形 43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45" name="矩形 44"/>
          <p:cNvSpPr/>
          <p:nvPr/>
        </p:nvSpPr>
        <p:spPr>
          <a:xfrm>
            <a:off x="5688935" y="4437112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6985079" y="4437112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688934" y="4883388"/>
            <a:ext cx="5132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 4  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7165597" y="4883388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2 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6268106" y="443711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6504548" y="4883388"/>
            <a:ext cx="3529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-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06B9575-E768-EB1F-6B04-3A81A7E3BA9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F8C370-5286-A8E0-91A3-DF23A163C66D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8E7CD66-1021-814A-F990-B67AF1DDF89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43B2595-7653-D15A-22D5-119D686830AA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866424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18017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3054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)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44" name="矩形 43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45" name="矩形 44"/>
          <p:cNvSpPr/>
          <p:nvPr/>
        </p:nvSpPr>
        <p:spPr>
          <a:xfrm>
            <a:off x="5688935" y="4437112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6985079" y="4437112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688934" y="4883388"/>
            <a:ext cx="5132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 4  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7165597" y="4883388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2 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6268106" y="443711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6504548" y="4883388"/>
            <a:ext cx="3529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-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DCA21DF-E3CF-F1DF-CED1-6D9E92110419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9D3FB9-914C-2057-0201-7779A469CB10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A8AC90B-2558-E9AF-0D38-6D5D5EC59D78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EE92063-030D-26FC-08DB-B23C59FB7676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282199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18017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(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3054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)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44" name="矩形 43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45" name="矩形 44"/>
          <p:cNvSpPr/>
          <p:nvPr/>
        </p:nvSpPr>
        <p:spPr>
          <a:xfrm>
            <a:off x="5688935" y="4437112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6985079" y="4437112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5688934" y="4883388"/>
            <a:ext cx="5132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 4  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7165597" y="4883388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2 </a:t>
            </a:r>
            <a:endParaRPr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6268106" y="443711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6504548" y="4883388"/>
            <a:ext cx="3529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-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F7F970B-FC81-73AF-AF1D-459712BB45D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65B960-E982-9112-DFA1-25A4ECA9E872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D930D97-70FE-5D89-F55F-7137E6770FD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CD26D30-6418-A6AA-7042-94BC0A349D7D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13722766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904714" y="1985781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888450" y="2552200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5" name="直接连接符 14"/>
          <p:cNvCxnSpPr/>
          <p:nvPr/>
        </p:nvCxnSpPr>
        <p:spPr>
          <a:xfrm>
            <a:off x="1897159" y="2552199"/>
            <a:ext cx="1254031" cy="487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1897158" y="5203954"/>
            <a:ext cx="8447314" cy="0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8968502" y="2552200"/>
            <a:ext cx="0" cy="3622765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8492895" y="4929638"/>
            <a:ext cx="461540" cy="27431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220BA68-4FB5-6B57-7FE5-70B461DAF0BB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9A45F4-6C5D-214D-C78B-2FC025F7582A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585B293-2B0B-CE8A-61ED-FFD47DEAFED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DBA4A1F-59D8-5975-67A6-96B1D9719DF3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797505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18017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(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3054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)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827996" y="5548276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39" name="矩形 38"/>
          <p:cNvSpPr/>
          <p:nvPr/>
        </p:nvSpPr>
        <p:spPr>
          <a:xfrm>
            <a:off x="5688935" y="4437112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6985079" y="4437112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5688934" y="4883388"/>
            <a:ext cx="5132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 4  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7165597" y="4883388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2 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268106" y="443711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6504548" y="4883388"/>
            <a:ext cx="3529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-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4695940-0752-3698-7287-C661B427834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15AF7-71AE-D036-FB25-3B0353B5C2E6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808A9C8-1CD4-3635-C83A-EE85CEF2998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563C2D7-40A0-ACD2-490B-4C20482C2730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532941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(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18017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(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3054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)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742052" y="5532669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32" name="矩形 31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CDB74A4-DEC9-6783-5612-C8A4134B6052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B9BDB5-EAE4-661D-6656-0C7922113B50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49C7B4D-C5AA-B469-1F0E-31A4B6D50C8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FA11967-4FF8-45F3-F5B4-C73C159C126F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1971251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18017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2551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(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33054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)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32" name="矩形 31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AD4B21D-E0FB-F92D-D8D3-C7D762E2497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9E48D6-FCB3-AD4F-8CC6-8960C1738736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F323333-A5E2-26F1-22C7-D918076E67A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02778544-E11F-30E7-FBE3-104E9DC6637D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4538474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480132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3000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48442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Ⅹ 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32" name="矩形 31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6F5E267-A915-AD66-B128-068763B3C93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3D81C5-660B-DEF4-FB79-30E72BC3E59F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3B73CBC-4E56-DDA3-58A2-1CBAA1E5433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B4314849-8AAB-1A05-9B1B-09B64ACB6AB8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146109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832706" y="1824450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895756" y="2390869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904465" y="2390868"/>
            <a:ext cx="1254031" cy="487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904464" y="3283492"/>
            <a:ext cx="8447314" cy="0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897321" y="2390869"/>
            <a:ext cx="0" cy="3622765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5409671" y="2974340"/>
            <a:ext cx="461540" cy="27431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199062-0226-2BFC-B0DE-C1DFF72B807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52B241-A31B-2265-9FFE-87AF649D081D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FDFA42F-54ED-DD0C-449C-76568A8E306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42415B4-192F-E3C1-BDDE-4443E14FB323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3194870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Ⅹ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480132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30008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48442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Ⅹ 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32" name="矩形 31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3023B76-6862-75BE-33C1-6BCDB64510F9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ABF3AF-1342-FCFF-A860-CB1F30AA9270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1B92F58-96EC-58E7-45C2-22B51B3882D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D72A291-B304-C9AC-84FC-7A3B0EE852BD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9823554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Ⅹ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3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612224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0" name="矩形 19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68403B6-1238-5CDA-39BC-6815A445C2D0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514D10-B15E-47A8-492A-549CF73EAF09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814B960-835E-E3D1-4235-0AD7A5E010B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666A9D5-C0B8-5B9E-D42D-4E10404E3CCE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574673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Ⅹ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3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83433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4154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Ⅹ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40107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 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FD51239-8542-9AF0-63AD-66C336E4846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B68E4C-CCF8-471F-F4DC-1DE95B2F3D56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0FEFF49-3BC4-77FD-2ED7-B38AEC46D5AA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CEDFBAD4-E68E-81CD-BEA4-960E89E88D7E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4100353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760698" y="1905102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876698" y="2471521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885407" y="2471520"/>
            <a:ext cx="1254031" cy="487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885406" y="4282902"/>
            <a:ext cx="8447314" cy="0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0023543" y="2471521"/>
            <a:ext cx="0" cy="3622765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9562003" y="3962862"/>
            <a:ext cx="461540" cy="27431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F02CE2D-9077-BBBF-3841-F5E72336C4D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5845C6-4B50-F9B4-4AC5-A03BF0B8465C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E0F5E2D-273B-01BA-691F-89B986F3E8E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9348E4F7-F582-5069-A193-4081DE0F4952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819608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Ⅹ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3</a:t>
                      </a: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2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83433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41549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Ⅹ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40107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547774" y="4365104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7078985" y="4395600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5602321" y="4811380"/>
            <a:ext cx="35458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2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7078984" y="4811380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3 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6253118" y="4370110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6352213" y="4811380"/>
            <a:ext cx="48442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Ⅹ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09DD6AB-D9A4-1DF2-21F0-5780FB85C72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4260C3-4BA4-6245-0E6D-E9BF6831B62B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EED1B3-968C-6FD1-AC31-207DB898C34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F2FED9C-FF2E-2E87-DE93-811D3F09D87D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41963023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6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83433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35618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+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40107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 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5547774" y="4365104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7078985" y="4395600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5602321" y="4811380"/>
            <a:ext cx="35458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2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7078984" y="4811380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3 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253118" y="4370110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6352213" y="4811380"/>
            <a:ext cx="48442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Ⅹ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728A4B8-2CA3-38DD-3D26-22D53300C73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36CF0E-B7BE-24C6-BBF8-4D07B0E7E937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CA66781-65AC-C59D-0EAA-F29E92A0988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AF42FD3-8C14-BFBD-6D88-AF2FEDE241EB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14747357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832706" y="1854470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算符间优先级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895756" y="2420889"/>
          <a:ext cx="8438605" cy="362272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22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8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c2</a:t>
                      </a:r>
                      <a:endParaRPr lang="en-US" sz="14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c1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+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-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*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/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(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)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effectLst/>
                        </a:rPr>
                        <a:t>#</a:t>
                      </a:r>
                      <a:endParaRPr lang="zh-CN" sz="18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&gt;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 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&gt;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86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zh-CN" sz="18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>
                          <a:effectLst/>
                        </a:rPr>
                        <a:t>&lt; </a:t>
                      </a:r>
                      <a:endParaRPr lang="zh-CN" sz="1400" b="1" kern="10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&lt; 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&lt;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 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</a:rPr>
                        <a:t>=</a:t>
                      </a:r>
                      <a:endParaRPr lang="zh-CN" sz="1400" b="1" kern="100" dirty="0">
                        <a:effectLst/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8" name="直接连接符 7"/>
          <p:cNvCxnSpPr/>
          <p:nvPr/>
        </p:nvCxnSpPr>
        <p:spPr>
          <a:xfrm>
            <a:off x="1904465" y="2420888"/>
            <a:ext cx="1254031" cy="4876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904464" y="3274327"/>
            <a:ext cx="8447314" cy="0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10042601" y="2420889"/>
            <a:ext cx="0" cy="3622765"/>
          </a:xfrm>
          <a:prstGeom prst="straightConnector1">
            <a:avLst/>
          </a:prstGeom>
          <a:ln w="6032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9524447" y="2967353"/>
            <a:ext cx="461540" cy="274316"/>
          </a:xfrm>
          <a:prstGeom prst="ellipse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1FF3196-D832-8700-12FA-6EDEB1C24D9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04CFDA-C308-C93C-FA84-741BC265BA2B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F504728-7E76-FA57-EA0B-38CDA6B020D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6F551D63-48A6-4117-3C42-CA0DF28797C6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561366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6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9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83433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35618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+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40107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 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551558" y="4370110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7053950" y="4374229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5602321" y="4811380"/>
            <a:ext cx="35458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9</a:t>
            </a:r>
            <a:endParaRPr lang="zh-CN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7078984" y="4811380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6 </a:t>
            </a:r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6253118" y="437456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34" name="矩形 33"/>
          <p:cNvSpPr/>
          <p:nvPr/>
        </p:nvSpPr>
        <p:spPr>
          <a:xfrm>
            <a:off x="6381867" y="4811380"/>
            <a:ext cx="42511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+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87237A1-0726-EB54-B9E0-DA19FC374BA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479DC7-BD08-EE1C-B1B3-5E841E61D1D7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3E90764-320B-3977-96F7-40132415D6A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D515096-9522-5D14-E047-316636AB1FB2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5057679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+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15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83433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545747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3167723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7233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33214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40107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 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5551558" y="4370110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7053950" y="4374229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5602321" y="4811380"/>
            <a:ext cx="35458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9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7078984" y="4811380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6 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6253118" y="437456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6381867" y="4811380"/>
            <a:ext cx="42511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+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755584" y="4149080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E0D6200-9E87-AD7E-A796-954C1C2D55EB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8B3921-A5F6-F786-73B6-35D0F77A1E8A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338FAA-7788-9184-38F3-85AE6FEDDD2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20C5F7E-D258-AECB-5954-18EA6A822DED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1904732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oup 34"/>
          <p:cNvGraphicFramePr>
            <a:graphicFrameLocks noGrp="1"/>
          </p:cNvGraphicFramePr>
          <p:nvPr/>
        </p:nvGraphicFramePr>
        <p:xfrm>
          <a:off x="7898544" y="3518599"/>
          <a:ext cx="1077777" cy="2337236"/>
        </p:xfrm>
        <a:graphic>
          <a:graphicData uri="http://schemas.openxmlformats.org/drawingml/2006/table">
            <a:tbl>
              <a:tblPr/>
              <a:tblGrid>
                <a:gridCol w="1077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dirty="0">
                          <a:latin typeface="Times New Roman" pitchFamily="18" charset="0"/>
                          <a:ea typeface="宋体" pitchFamily="2" charset="-122"/>
                        </a:rPr>
                        <a:t>#</a:t>
                      </a: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Group 34"/>
          <p:cNvGraphicFramePr>
            <a:graphicFrameLocks noGrp="1"/>
          </p:cNvGraphicFramePr>
          <p:nvPr/>
        </p:nvGraphicFramePr>
        <p:xfrm>
          <a:off x="9408368" y="3518599"/>
          <a:ext cx="1055183" cy="2337236"/>
        </p:xfrm>
        <a:graphic>
          <a:graphicData uri="http://schemas.openxmlformats.org/drawingml/2006/table">
            <a:tbl>
              <a:tblPr/>
              <a:tblGrid>
                <a:gridCol w="105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32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zh-CN" altLang="en-US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zh-CN" sz="2400" kern="1200" dirty="0">
                        <a:solidFill>
                          <a:schemeClr val="tx1"/>
                        </a:solidFill>
                        <a:latin typeface="微软雅黑" pitchFamily="34" charset="-122"/>
                        <a:ea typeface="微软雅黑" pitchFamily="34" charset="-122"/>
                        <a:cs typeface="经典粗黑简" pitchFamily="49" charset="-122"/>
                      </a:endParaRP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7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en-US" altLang="zh-CN" sz="24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15</a:t>
                      </a:r>
                    </a:p>
                  </a:txBody>
                  <a:tcPr marT="45730" marB="4573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矩形 14"/>
          <p:cNvSpPr/>
          <p:nvPr/>
        </p:nvSpPr>
        <p:spPr>
          <a:xfrm>
            <a:off x="8086815" y="3118004"/>
            <a:ext cx="797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9539318" y="311800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endParaRPr lang="zh-CN" altLang="en-US" dirty="0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2755585" y="2283620"/>
            <a:ext cx="1924595" cy="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55584" y="2196535"/>
            <a:ext cx="1834336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1775521" y="1748090"/>
            <a:ext cx="3061413" cy="49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例如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9+(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4-2)Ⅹ3#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8798" y="3356993"/>
            <a:ext cx="4014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 ‘&lt;‘: 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栈顶元素优先权低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	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Push(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OPTR,c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24" name="矩形 23"/>
          <p:cNvSpPr/>
          <p:nvPr/>
        </p:nvSpPr>
        <p:spPr>
          <a:xfrm>
            <a:off x="2436581" y="2996952"/>
            <a:ext cx="4972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5" name="矩形 24"/>
          <p:cNvSpPr/>
          <p:nvPr/>
        </p:nvSpPr>
        <p:spPr>
          <a:xfrm>
            <a:off x="1775520" y="2348881"/>
            <a:ext cx="8640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35" name="矩形 34"/>
          <p:cNvSpPr/>
          <p:nvPr/>
        </p:nvSpPr>
        <p:spPr>
          <a:xfrm>
            <a:off x="2651794" y="5518974"/>
            <a:ext cx="38762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‘=‘://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脱括号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OPTR,x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c=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getchar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(); </a:t>
            </a:r>
          </a:p>
        </p:txBody>
      </p:sp>
      <p:sp>
        <p:nvSpPr>
          <p:cNvPr id="18" name="矩形 17"/>
          <p:cNvSpPr/>
          <p:nvPr/>
        </p:nvSpPr>
        <p:spPr>
          <a:xfrm>
            <a:off x="8356085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9500606" y="1348062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8356085" y="1794338"/>
            <a:ext cx="33214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9500606" y="1794338"/>
            <a:ext cx="401072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 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6281689" y="5980892"/>
            <a:ext cx="2111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while(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ch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!='#'||e!='#’)</a:t>
            </a:r>
          </a:p>
          <a:p>
            <a:r>
              <a:rPr lang="en-US" altLang="zh-CN" dirty="0" err="1">
                <a:latin typeface="Times New Roman" pitchFamily="18" charset="0"/>
              </a:rPr>
              <a:t>GetTop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dirty="0" err="1">
                <a:latin typeface="Times New Roman" pitchFamily="18" charset="0"/>
              </a:rPr>
              <a:t>OPTR,e</a:t>
            </a:r>
            <a:r>
              <a:rPr lang="en-US" altLang="zh-CN" dirty="0">
                <a:latin typeface="Times New Roman" pitchFamily="18" charset="0"/>
              </a:rPr>
              <a:t>);</a:t>
            </a:r>
            <a:endParaRPr lang="zh-CN" altLang="zh-CN" dirty="0">
              <a:latin typeface="Times New Roman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709341" y="6207979"/>
            <a:ext cx="18805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GetTop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OPND,e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  <a:endParaRPr lang="zh-CN" altLang="zh-CN" dirty="0"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dirty="0">
                <a:latin typeface="Times New Roman" pitchFamily="18" charset="0"/>
                <a:ea typeface="宋体" pitchFamily="2" charset="-122"/>
              </a:rPr>
              <a:t>return e;</a:t>
            </a:r>
            <a:endParaRPr lang="zh-CN" altLang="zh-CN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551558" y="4370110"/>
            <a:ext cx="54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left</a:t>
            </a:r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7053950" y="4374229"/>
            <a:ext cx="710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right</a:t>
            </a:r>
            <a:endParaRPr lang="zh-CN" altLang="en-US" dirty="0"/>
          </a:p>
        </p:txBody>
      </p:sp>
      <p:sp>
        <p:nvSpPr>
          <p:cNvPr id="43" name="矩形 42"/>
          <p:cNvSpPr/>
          <p:nvPr/>
        </p:nvSpPr>
        <p:spPr>
          <a:xfrm>
            <a:off x="5602321" y="4811380"/>
            <a:ext cx="35458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/>
              <a:t> 9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7078984" y="4811380"/>
            <a:ext cx="45717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6 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6253118" y="437456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6381867" y="4811380"/>
            <a:ext cx="42511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lvl="0" algn="ctr" fontAlgn="base">
              <a:spcBef>
                <a:spcPct val="15000"/>
              </a:spcBef>
              <a:spcAft>
                <a:spcPct val="0"/>
              </a:spcAft>
              <a:buClr>
                <a:schemeClr val="bg1"/>
              </a:buClr>
              <a:buSzPct val="95000"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+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755584" y="4111912"/>
            <a:ext cx="4811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case ‘&gt;’://</a:t>
            </a: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退栈并计算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  <a:ea typeface="宋体" pitchFamily="2" charset="-122"/>
              </a:rPr>
              <a:t>             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OPTR,pre_op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 Pop(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OPND,left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);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            Push(OPND, Operate(left, </a:t>
            </a:r>
            <a:r>
              <a:rPr lang="en-US" altLang="zh-CN" dirty="0" err="1">
                <a:latin typeface="Times New Roman" pitchFamily="18" charset="0"/>
                <a:ea typeface="宋体" pitchFamily="2" charset="-122"/>
              </a:rPr>
              <a:t>pre_op,right</a:t>
            </a:r>
            <a:r>
              <a:rPr lang="en-US" altLang="zh-CN" dirty="0">
                <a:latin typeface="Times New Roman" pitchFamily="18" charset="0"/>
                <a:ea typeface="宋体" pitchFamily="2" charset="-122"/>
              </a:rPr>
              <a:t>));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93741AD-FDC6-E956-DC82-E24DA723B58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189A18-7090-DB68-4AEE-C7811D197A85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D1125165-4899-0EF7-5977-7508B0CC6EF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BD5113E-A4EF-79F9-97E3-FC6F57AA6688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14166755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1868735" y="1889256"/>
            <a:ext cx="2031047" cy="431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算法思想：</a:t>
            </a:r>
          </a:p>
        </p:txBody>
      </p:sp>
      <p:sp>
        <p:nvSpPr>
          <p:cNvPr id="19" name="矩形 18"/>
          <p:cNvSpPr/>
          <p:nvPr/>
        </p:nvSpPr>
        <p:spPr>
          <a:xfrm>
            <a:off x="1868735" y="2314643"/>
            <a:ext cx="85477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为实现算符优先法，在这里用了两个工作栈，一个存放算符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，另一个存放数据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20" name="矩形 19"/>
          <p:cNvSpPr/>
          <p:nvPr/>
        </p:nvSpPr>
        <p:spPr>
          <a:xfrm>
            <a:off x="1868735" y="2996952"/>
            <a:ext cx="8547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第一步：置数据栈为空栈，表达式起始符“＃”为算符栈的栈底元素；</a:t>
            </a:r>
          </a:p>
        </p:txBody>
      </p:sp>
      <p:sp>
        <p:nvSpPr>
          <p:cNvPr id="21" name="矩形 20"/>
          <p:cNvSpPr/>
          <p:nvPr/>
        </p:nvSpPr>
        <p:spPr>
          <a:xfrm>
            <a:off x="1868735" y="3415273"/>
            <a:ext cx="85477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第二步：自左向右扫描表达式，读到操作数进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栈，读到运算符，则和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OPTR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栈顶元素比较（栈顶元素为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，读到的算符为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c2);</a:t>
            </a:r>
          </a:p>
        </p:txBody>
      </p:sp>
      <p:sp>
        <p:nvSpPr>
          <p:cNvPr id="22" name="矩形 21"/>
          <p:cNvSpPr/>
          <p:nvPr/>
        </p:nvSpPr>
        <p:spPr>
          <a:xfrm>
            <a:off x="2591581" y="417735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c1&lt;c2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进栈继续扫描后面表达式；</a:t>
            </a:r>
          </a:p>
        </p:txBody>
      </p:sp>
      <p:sp>
        <p:nvSpPr>
          <p:cNvPr id="23" name="矩形 22"/>
          <p:cNvSpPr/>
          <p:nvPr/>
        </p:nvSpPr>
        <p:spPr>
          <a:xfrm>
            <a:off x="2591581" y="4566129"/>
            <a:ext cx="7824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＝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，则（“＝”），即括号内运算结束，将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出栈，并且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放弃，继续扫描后面表达式；</a:t>
            </a:r>
          </a:p>
        </p:txBody>
      </p:sp>
      <p:sp>
        <p:nvSpPr>
          <p:cNvPr id="24" name="矩形 23"/>
          <p:cNvSpPr/>
          <p:nvPr/>
        </p:nvSpPr>
        <p:spPr>
          <a:xfrm>
            <a:off x="2591581" y="5231905"/>
            <a:ext cx="77528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若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c1&gt;c2,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则将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出栈，并在操作数栈取出两个元素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a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b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做运算，运算结果进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OPND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；</a:t>
            </a:r>
            <a:endParaRPr lang="en-US" altLang="zh-CN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868734" y="5907963"/>
            <a:ext cx="8130752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重复第二步直到表达式求值完毕，即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均为“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#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”。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4222A03-76B6-912E-C416-377A84A2DF8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D50AF2-E3EC-1CAC-87CC-68B52E485B23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A813F7A-32E3-03E2-36E2-1124F5E2B67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D96BA410-4BC0-037F-174B-4596AB8B0268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36338377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EF46460A-1C84-513C-5DAF-B63B0023BABD}"/>
              </a:ext>
            </a:extLst>
          </p:cNvPr>
          <p:cNvSpPr txBox="1"/>
          <p:nvPr/>
        </p:nvSpPr>
        <p:spPr>
          <a:xfrm>
            <a:off x="51235" y="188640"/>
            <a:ext cx="48965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Expression_Eval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e,right,left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*OPTR;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SqStack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*OPND;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(OPTR);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InitStack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(OPND);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Push(OPTR,'#');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ElemType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pre_op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char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getchar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GetTop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OPTR,e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while(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!='#'||e!='#')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{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if(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&gt;='0' &amp;&amp;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&lt;='9'){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Push(OPND,ch-'0');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getchar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9C40FDF-C492-ECA0-47C6-1F74319DCCB5}"/>
              </a:ext>
            </a:extLst>
          </p:cNvPr>
          <p:cNvSpPr txBox="1"/>
          <p:nvPr/>
        </p:nvSpPr>
        <p:spPr>
          <a:xfrm>
            <a:off x="4920175" y="371063"/>
            <a:ext cx="7272808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else{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GetTop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OPTR,pre_op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switch(</a:t>
            </a:r>
            <a:r>
              <a:rPr lang="en-US" altLang="zh-CN" sz="16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Precede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pre_op,ch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{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case '&lt;':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Push(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OPTR,ch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getchar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break;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case '=':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Pop(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OPTR,ch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getchar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break;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case '&gt;':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Pop(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OPND,right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Pop(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OPND,left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Pop(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OPTR,pre_op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Push(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OPND,</a:t>
            </a:r>
            <a:r>
              <a:rPr lang="en-US" altLang="zh-CN" sz="1600" kern="10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Operate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left,pre_op,right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	break;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	}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}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GetTop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OPTR,e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GetTop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OPND,e</a:t>
            </a: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return e;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01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775520" y="1988840"/>
            <a:ext cx="8640960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为使两个算符比较方便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,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给算符设置优先级，如下表，其中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为栈内元素，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c2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为栈外元素。</a:t>
            </a:r>
          </a:p>
        </p:txBody>
      </p:sp>
      <p:graphicFrame>
        <p:nvGraphicFramePr>
          <p:cNvPr id="8" name="Group 3"/>
          <p:cNvGraphicFramePr>
            <a:graphicFrameLocks/>
          </p:cNvGraphicFramePr>
          <p:nvPr/>
        </p:nvGraphicFramePr>
        <p:xfrm>
          <a:off x="2855641" y="2972435"/>
          <a:ext cx="6613525" cy="3204754"/>
        </p:xfrm>
        <a:graphic>
          <a:graphicData uri="http://schemas.openxmlformats.org/drawingml/2006/table">
            <a:tbl>
              <a:tblPr/>
              <a:tblGrid>
                <a:gridCol w="117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18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算符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栈内优先级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lang="zh-CN" altLang="en-US" sz="2000" kern="1200" dirty="0">
                          <a:solidFill>
                            <a:schemeClr val="tx1"/>
                          </a:solidFill>
                          <a:latin typeface="微软雅黑" pitchFamily="34" charset="-122"/>
                          <a:ea typeface="微软雅黑" pitchFamily="34" charset="-122"/>
                          <a:cs typeface="经典粗黑简" pitchFamily="49" charset="-122"/>
                        </a:rPr>
                        <a:t>栈外优先级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8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*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/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22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+  -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(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38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0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#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9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-1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Rectangle 2">
            <a:extLst>
              <a:ext uri="{FF2B5EF4-FFF2-40B4-BE49-F238E27FC236}">
                <a16:creationId xmlns:a16="http://schemas.microsoft.com/office/drawing/2014/main" id="{A750E91D-72AE-6CB7-44FF-C9DF07DBC1D2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8CEB41-2085-3DFF-E72E-B7753F81D099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CABC82D-E13C-59E6-A38B-46AEDEF76099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E57CAC23-0D86-10BB-AD44-0019715D2069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4037585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844362" y="1753436"/>
            <a:ext cx="2063968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算符比较算法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095998" y="2148176"/>
            <a:ext cx="4104457" cy="453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switch(c2)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{  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        case  ‘*’: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        case  ‘/’: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                c_temp2=3;break;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        case  ‘+’: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        case  ‘-’:c_temp2=1;break;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        case  ‘(’:c_temp2=5;break;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        case  ‘)’:c_temp2=0;break;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        case  ‘#’:c_temp2=-1;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 }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if(c_temp1&lt;c_temp2)   return(‘&lt;‘);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if(c_temp1==c_temp2)   return(‘=‘);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       if(c_temp1&gt;c_temp2)   return(‘&gt;‘);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15000"/>
              </a:spcBef>
              <a:buClr>
                <a:schemeClr val="bg1"/>
              </a:buClr>
              <a:buSzPct val="95000"/>
            </a:pPr>
            <a:r>
              <a:rPr lang="en-US" altLang="zh-CN" dirty="0">
                <a:latin typeface="Times New Roman" pitchFamily="18" charset="0"/>
              </a:rPr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2363374" y="2276872"/>
            <a:ext cx="373262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itchFamily="18" charset="0"/>
              </a:rPr>
              <a:t>char Precede(char c1,char c2){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</a:t>
            </a:r>
            <a:r>
              <a:rPr lang="en-US" altLang="zh-CN" sz="1600" dirty="0" err="1">
                <a:latin typeface="Times New Roman" pitchFamily="18" charset="0"/>
              </a:rPr>
              <a:t>int</a:t>
            </a:r>
            <a:r>
              <a:rPr lang="en-US" altLang="zh-CN" sz="1600" dirty="0">
                <a:latin typeface="Times New Roman" pitchFamily="18" charset="0"/>
              </a:rPr>
              <a:t> c_temp1,c_temp2;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switch(c1)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{  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case  ‘*’: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case  ‘/’: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     c_temp1=4;break;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case  ‘+’: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case  ‘-’: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     c_temp1=2;break;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case  ‘(’: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     c_temp1=0;break;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case  ‘)’: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     c_temp1=5;break;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case  ‘#’: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         c_temp1=-1;</a:t>
            </a:r>
            <a:endParaRPr lang="zh-CN" altLang="zh-CN" sz="1600" dirty="0">
              <a:latin typeface="Times New Roman" pitchFamily="18" charset="0"/>
            </a:endParaRPr>
          </a:p>
          <a:p>
            <a:r>
              <a:rPr lang="en-US" altLang="zh-CN" sz="1600" dirty="0">
                <a:latin typeface="Times New Roman" pitchFamily="18" charset="0"/>
              </a:rPr>
              <a:t>         }</a:t>
            </a:r>
            <a:endParaRPr lang="zh-CN" altLang="zh-CN" sz="1600" dirty="0">
              <a:latin typeface="Times New Roman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BFAB77D-D5DA-BCC8-CE7E-335ED5588E7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924A9D-B3D6-FBB3-DA77-281F5B713F58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2162A48-50B7-9A8D-85C7-E750D5457B98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3A57DD-4085-3726-B8CD-1249B56DE25C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简单表达式求值</a:t>
            </a:r>
          </a:p>
        </p:txBody>
      </p:sp>
    </p:spTree>
    <p:extLst>
      <p:ext uri="{BB962C8B-B14F-4D97-AF65-F5344CB8AC3E}">
        <p14:creationId xmlns:p14="http://schemas.microsoft.com/office/powerpoint/2010/main" val="278897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AB7FFED-1700-F4B7-6FDB-84223721D109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45B429-8128-6C3D-0E9F-1AAF47A56165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B073A9E-965F-7CE3-6534-4E17C7AB34FC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A47972D-1D12-1198-57D0-30214E2E13A8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10" name="Text Box 2">
            <a:extLst>
              <a:ext uri="{FF2B5EF4-FFF2-40B4-BE49-F238E27FC236}">
                <a16:creationId xmlns:a16="http://schemas.microsoft.com/office/drawing/2014/main" id="{B1F776F1-D4E0-D84C-F7FF-F6B556A68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7179" y="1930379"/>
            <a:ext cx="13304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kumimoji="1" lang="zh-CN" altLang="en-US" sz="20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  <a:latin typeface="黑体" pitchFamily="49" charset="-122"/>
                <a:ea typeface="黑体" pitchFamily="49" charset="-122"/>
              </a:rPr>
              <a:t>问题描述       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9ABB7732-D0F1-3389-160D-381A6086F23A}"/>
              </a:ext>
            </a:extLst>
          </p:cNvPr>
          <p:cNvSpPr txBox="1"/>
          <p:nvPr/>
        </p:nvSpPr>
        <p:spPr>
          <a:xfrm>
            <a:off x="1597179" y="2420888"/>
            <a:ext cx="3922757" cy="234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给定一个</a:t>
            </a:r>
            <a:r>
              <a:rPr lang="en-US" sz="2000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</a:t>
            </a:r>
            <a:r>
              <a:rPr lang="en-US" sz="20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×</a:t>
            </a:r>
            <a:r>
              <a:rPr lang="en-US" sz="2000" i="1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迷宫图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入口与出口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、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行走规则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。求一条从指定入口到出口的路径。</a:t>
            </a:r>
            <a:endParaRPr lang="en-US" altLang="zh-CN" sz="20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所求路径必须是</a:t>
            </a:r>
            <a:r>
              <a:rPr lang="zh-CN" altLang="en-US" sz="2000" dirty="0">
                <a:solidFill>
                  <a:srgbClr val="FF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简单路径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，即路径不重复。</a:t>
            </a:r>
          </a:p>
        </p:txBody>
      </p:sp>
      <p:sp>
        <p:nvSpPr>
          <p:cNvPr id="12" name="TextBox 107">
            <a:extLst>
              <a:ext uri="{FF2B5EF4-FFF2-40B4-BE49-F238E27FC236}">
                <a16:creationId xmlns:a16="http://schemas.microsoft.com/office/drawing/2014/main" id="{98445EEB-BF05-0F02-F195-18ACB491C917}"/>
              </a:ext>
            </a:extLst>
          </p:cNvPr>
          <p:cNvSpPr txBox="1"/>
          <p:nvPr/>
        </p:nvSpPr>
        <p:spPr>
          <a:xfrm>
            <a:off x="1487488" y="4896341"/>
            <a:ext cx="4032448" cy="1500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例如，</a:t>
            </a:r>
            <a:r>
              <a:rPr lang="en-US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M</a:t>
            </a:r>
            <a:r>
              <a:rPr 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=8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</a:t>
            </a:r>
            <a:r>
              <a:rPr lang="en-US" sz="2000" i="1" dirty="0">
                <a:latin typeface="Consolas" pitchFamily="49" charset="0"/>
                <a:ea typeface="楷体" pitchFamily="49" charset="-122"/>
                <a:cs typeface="Consolas" pitchFamily="49" charset="0"/>
              </a:rPr>
              <a:t>N</a:t>
            </a:r>
            <a:r>
              <a:rPr 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=8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，图中的每个方块，用空白表示通道，用阴影表示障碍物。为了算法方便，一般在迷宫外围加上了一条围墙。</a:t>
            </a:r>
            <a:endParaRPr lang="zh-CN" altLang="en-US" sz="20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F5BC9F6-696A-411A-20AD-88AAE0541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CC9FD431-3064-05BF-FE2E-B856BED62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364B5BBE-A6C3-50BC-C8DB-3309AE75B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2398260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B6E570BD-A2D8-88E6-5248-E94DACDDC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1A4AFFC1-977F-243C-C3A7-3FD918E4A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89DFACEC-526D-AA1B-F304-52AE50D5A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DC9A29C1-61B5-3FE3-E644-7F025DEB9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7C887402-93BD-EF24-1A6D-47B9C57B2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F2083902-A59F-E013-C2F6-5076C3B05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2398260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940ED88B-99AC-6AC2-474D-46E1C6F35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85FC147B-33D8-A93B-B842-BE66EA03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275703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46AB671B-4783-F9AA-5924-4155516C8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3D11D9D5-150F-C478-F758-A3E3D6567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275703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0E7D6B3C-5BE8-B9DD-5DC1-624F718FB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275703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E8AAF916-3081-7B74-B8E0-F5241762D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91594DCB-3678-A11E-2571-CF8072D50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2EC848D8-9641-6158-2495-7E121E69D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A2FD9A27-45F6-ACA6-2344-C26DAD3FE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F387EFB4-D542-C7E1-BE24-4409005EF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2757035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B12B07A0-24A4-7CC7-49DF-4DBEDBF1A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275703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5721A2FA-39B3-6C91-6E26-AE353E4E4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311739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D89670EF-B93C-5B07-1446-1150C302A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9A0DAFF5-1CB2-F491-28BF-C2C8BCFB5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3117398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E8859ADD-5FF0-ED92-2B6A-444FEBB57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311739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1DD4B362-0949-4D3E-88AD-561B07D10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EC4686EE-1DE3-FC69-431F-EE8FC7DB7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D23A0B79-3002-1403-AEC3-6E5FD7DC1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4F116D73-B32D-D323-DF3D-36D4B5867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1" name="Rectangle 30">
            <a:extLst>
              <a:ext uri="{FF2B5EF4-FFF2-40B4-BE49-F238E27FC236}">
                <a16:creationId xmlns:a16="http://schemas.microsoft.com/office/drawing/2014/main" id="{0BD1FA8A-E295-264A-72A6-D6AE42CC2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3117398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3ADB5E8D-4A9E-8E4F-DFE4-587078F67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311739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3" name="Rectangle 32">
            <a:extLst>
              <a:ext uri="{FF2B5EF4-FFF2-40B4-BE49-F238E27FC236}">
                <a16:creationId xmlns:a16="http://schemas.microsoft.com/office/drawing/2014/main" id="{02F6EA12-391C-12A7-E7B7-DE9321419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34777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4" name="Rectangle 33">
            <a:extLst>
              <a:ext uri="{FF2B5EF4-FFF2-40B4-BE49-F238E27FC236}">
                <a16:creationId xmlns:a16="http://schemas.microsoft.com/office/drawing/2014/main" id="{B2767ADE-E5B9-8B74-DE6E-9C14BC5D0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347776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5" name="Rectangle 34">
            <a:extLst>
              <a:ext uri="{FF2B5EF4-FFF2-40B4-BE49-F238E27FC236}">
                <a16:creationId xmlns:a16="http://schemas.microsoft.com/office/drawing/2014/main" id="{1C58420A-FD7B-7FAF-8F86-E9B261457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3477760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6" name="Rectangle 35">
            <a:extLst>
              <a:ext uri="{FF2B5EF4-FFF2-40B4-BE49-F238E27FC236}">
                <a16:creationId xmlns:a16="http://schemas.microsoft.com/office/drawing/2014/main" id="{16C9EED9-3192-57A1-7894-4BE647E45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347776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7" name="Rectangle 36">
            <a:extLst>
              <a:ext uri="{FF2B5EF4-FFF2-40B4-BE49-F238E27FC236}">
                <a16:creationId xmlns:a16="http://schemas.microsoft.com/office/drawing/2014/main" id="{FACC35B7-7807-DD83-976A-224EAC4B4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347776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8" name="Rectangle 37">
            <a:extLst>
              <a:ext uri="{FF2B5EF4-FFF2-40B4-BE49-F238E27FC236}">
                <a16:creationId xmlns:a16="http://schemas.microsoft.com/office/drawing/2014/main" id="{A592EFDA-8FF5-56D6-90E0-DFFC6BA98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34777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9" name="Rectangle 38">
            <a:extLst>
              <a:ext uri="{FF2B5EF4-FFF2-40B4-BE49-F238E27FC236}">
                <a16:creationId xmlns:a16="http://schemas.microsoft.com/office/drawing/2014/main" id="{6029B16A-1192-9C0B-682B-D979AF89D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34777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67585F71-A4BE-4E12-73A0-BE6E8720B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347776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1" name="Rectangle 40">
            <a:extLst>
              <a:ext uri="{FF2B5EF4-FFF2-40B4-BE49-F238E27FC236}">
                <a16:creationId xmlns:a16="http://schemas.microsoft.com/office/drawing/2014/main" id="{693F7EC5-6BFB-0DCF-D540-E77CF7D19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3477760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2" name="Rectangle 41">
            <a:extLst>
              <a:ext uri="{FF2B5EF4-FFF2-40B4-BE49-F238E27FC236}">
                <a16:creationId xmlns:a16="http://schemas.microsoft.com/office/drawing/2014/main" id="{A5F19BFF-142E-6C7F-397E-D6BBB566A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34777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3" name="Rectangle 42">
            <a:extLst>
              <a:ext uri="{FF2B5EF4-FFF2-40B4-BE49-F238E27FC236}">
                <a16:creationId xmlns:a16="http://schemas.microsoft.com/office/drawing/2014/main" id="{0945C671-AC9B-E53F-86F6-65ACCE256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38254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4" name="Rectangle 43">
            <a:extLst>
              <a:ext uri="{FF2B5EF4-FFF2-40B4-BE49-F238E27FC236}">
                <a16:creationId xmlns:a16="http://schemas.microsoft.com/office/drawing/2014/main" id="{62EF5FBF-39A0-5E39-C434-C41BE1341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3830757"/>
            <a:ext cx="358775" cy="39154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5" name="Rectangle 44">
            <a:extLst>
              <a:ext uri="{FF2B5EF4-FFF2-40B4-BE49-F238E27FC236}">
                <a16:creationId xmlns:a16="http://schemas.microsoft.com/office/drawing/2014/main" id="{8F43E01A-FAA9-06E0-00F8-243A7F89D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3825423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6" name="Rectangle 45">
            <a:extLst>
              <a:ext uri="{FF2B5EF4-FFF2-40B4-BE49-F238E27FC236}">
                <a16:creationId xmlns:a16="http://schemas.microsoft.com/office/drawing/2014/main" id="{F0F029D3-D6D4-BAF1-C949-59DBF9313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38254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7" name="Rectangle 46">
            <a:extLst>
              <a:ext uri="{FF2B5EF4-FFF2-40B4-BE49-F238E27FC236}">
                <a16:creationId xmlns:a16="http://schemas.microsoft.com/office/drawing/2014/main" id="{D4C66134-6BD4-F2BC-7590-7145C459F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38254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8" name="Rectangle 47">
            <a:extLst>
              <a:ext uri="{FF2B5EF4-FFF2-40B4-BE49-F238E27FC236}">
                <a16:creationId xmlns:a16="http://schemas.microsoft.com/office/drawing/2014/main" id="{AD75C9F0-F4E2-5672-8B85-C5EBFB19F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38254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9" name="Rectangle 48">
            <a:extLst>
              <a:ext uri="{FF2B5EF4-FFF2-40B4-BE49-F238E27FC236}">
                <a16:creationId xmlns:a16="http://schemas.microsoft.com/office/drawing/2014/main" id="{47A2F597-C974-8808-ACB5-593712342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38254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0" name="Rectangle 49">
            <a:extLst>
              <a:ext uri="{FF2B5EF4-FFF2-40B4-BE49-F238E27FC236}">
                <a16:creationId xmlns:a16="http://schemas.microsoft.com/office/drawing/2014/main" id="{17B5D516-639C-7134-1180-00036998A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38254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1" name="Rectangle 50">
            <a:extLst>
              <a:ext uri="{FF2B5EF4-FFF2-40B4-BE49-F238E27FC236}">
                <a16:creationId xmlns:a16="http://schemas.microsoft.com/office/drawing/2014/main" id="{E4B57B48-A923-D5FE-E200-315187F44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3825423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2" name="Rectangle 51">
            <a:extLst>
              <a:ext uri="{FF2B5EF4-FFF2-40B4-BE49-F238E27FC236}">
                <a16:creationId xmlns:a16="http://schemas.microsoft.com/office/drawing/2014/main" id="{98F6A66C-1FED-249D-B03E-C85C81B25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38254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3" name="Rectangle 52">
            <a:extLst>
              <a:ext uri="{FF2B5EF4-FFF2-40B4-BE49-F238E27FC236}">
                <a16:creationId xmlns:a16="http://schemas.microsoft.com/office/drawing/2014/main" id="{E24699DE-BEBE-F696-27C7-766AE49BF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41857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4" name="Rectangle 53">
            <a:extLst>
              <a:ext uri="{FF2B5EF4-FFF2-40B4-BE49-F238E27FC236}">
                <a16:creationId xmlns:a16="http://schemas.microsoft.com/office/drawing/2014/main" id="{93398FB8-7374-1762-A337-8E2ABDB03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5" name="Rectangle 54">
            <a:extLst>
              <a:ext uri="{FF2B5EF4-FFF2-40B4-BE49-F238E27FC236}">
                <a16:creationId xmlns:a16="http://schemas.microsoft.com/office/drawing/2014/main" id="{3FD66205-443F-A0BA-BD23-49190F067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418578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6" name="Rectangle 55">
            <a:extLst>
              <a:ext uri="{FF2B5EF4-FFF2-40B4-BE49-F238E27FC236}">
                <a16:creationId xmlns:a16="http://schemas.microsoft.com/office/drawing/2014/main" id="{ABA4A41D-96C4-D784-2B31-6C274B8E0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7" name="Rectangle 56">
            <a:extLst>
              <a:ext uri="{FF2B5EF4-FFF2-40B4-BE49-F238E27FC236}">
                <a16:creationId xmlns:a16="http://schemas.microsoft.com/office/drawing/2014/main" id="{C18FD42B-55A3-5EAE-3047-E4F6BC33C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41857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8" name="Rectangle 57">
            <a:extLst>
              <a:ext uri="{FF2B5EF4-FFF2-40B4-BE49-F238E27FC236}">
                <a16:creationId xmlns:a16="http://schemas.microsoft.com/office/drawing/2014/main" id="{06C44FDE-731B-C3C8-956E-84AD1C0FF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9" name="Rectangle 58">
            <a:extLst>
              <a:ext uri="{FF2B5EF4-FFF2-40B4-BE49-F238E27FC236}">
                <a16:creationId xmlns:a16="http://schemas.microsoft.com/office/drawing/2014/main" id="{8972CD63-4E7B-002C-476B-D5C66A2D2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0" name="Rectangle 59">
            <a:extLst>
              <a:ext uri="{FF2B5EF4-FFF2-40B4-BE49-F238E27FC236}">
                <a16:creationId xmlns:a16="http://schemas.microsoft.com/office/drawing/2014/main" id="{E8AAAB70-5E14-BEDD-1B61-688B86BD6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1" name="Rectangle 60">
            <a:extLst>
              <a:ext uri="{FF2B5EF4-FFF2-40B4-BE49-F238E27FC236}">
                <a16:creationId xmlns:a16="http://schemas.microsoft.com/office/drawing/2014/main" id="{1B45E73E-A6A6-B089-2ABC-FBD2CD465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418578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2" name="Rectangle 61">
            <a:extLst>
              <a:ext uri="{FF2B5EF4-FFF2-40B4-BE49-F238E27FC236}">
                <a16:creationId xmlns:a16="http://schemas.microsoft.com/office/drawing/2014/main" id="{18DCA2CD-479B-706F-ED5B-700B55FB4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41857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3" name="Rectangle 62">
            <a:extLst>
              <a:ext uri="{FF2B5EF4-FFF2-40B4-BE49-F238E27FC236}">
                <a16:creationId xmlns:a16="http://schemas.microsoft.com/office/drawing/2014/main" id="{C1D3574A-1D49-A4F6-C561-1C904692C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45461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4" name="Rectangle 63">
            <a:extLst>
              <a:ext uri="{FF2B5EF4-FFF2-40B4-BE49-F238E27FC236}">
                <a16:creationId xmlns:a16="http://schemas.microsoft.com/office/drawing/2014/main" id="{A1E94E0A-046D-9D35-458C-AC69F6F89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5" name="Rectangle 64">
            <a:extLst>
              <a:ext uri="{FF2B5EF4-FFF2-40B4-BE49-F238E27FC236}">
                <a16:creationId xmlns:a16="http://schemas.microsoft.com/office/drawing/2014/main" id="{4BB8C9A4-121A-8664-DD17-E53A7BA75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4546148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6" name="Rectangle 65">
            <a:extLst>
              <a:ext uri="{FF2B5EF4-FFF2-40B4-BE49-F238E27FC236}">
                <a16:creationId xmlns:a16="http://schemas.microsoft.com/office/drawing/2014/main" id="{D9C8C05C-B83B-EFA5-B8FD-437DD086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7" name="Rectangle 66">
            <a:extLst>
              <a:ext uri="{FF2B5EF4-FFF2-40B4-BE49-F238E27FC236}">
                <a16:creationId xmlns:a16="http://schemas.microsoft.com/office/drawing/2014/main" id="{C664877D-7016-0335-8C5E-81471498D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8" name="Rectangle 67">
            <a:extLst>
              <a:ext uri="{FF2B5EF4-FFF2-40B4-BE49-F238E27FC236}">
                <a16:creationId xmlns:a16="http://schemas.microsoft.com/office/drawing/2014/main" id="{67D1A373-A445-254B-2463-C6051150C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9" name="Rectangle 68">
            <a:extLst>
              <a:ext uri="{FF2B5EF4-FFF2-40B4-BE49-F238E27FC236}">
                <a16:creationId xmlns:a16="http://schemas.microsoft.com/office/drawing/2014/main" id="{7D84D1FA-FE42-42C6-9857-68F49422F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45461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0" name="Rectangle 69">
            <a:extLst>
              <a:ext uri="{FF2B5EF4-FFF2-40B4-BE49-F238E27FC236}">
                <a16:creationId xmlns:a16="http://schemas.microsoft.com/office/drawing/2014/main" id="{F3717CC8-C2EC-FAFA-B513-60CD036E7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1" name="Rectangle 70">
            <a:extLst>
              <a:ext uri="{FF2B5EF4-FFF2-40B4-BE49-F238E27FC236}">
                <a16:creationId xmlns:a16="http://schemas.microsoft.com/office/drawing/2014/main" id="{C0C569AC-8DDF-930F-ED95-00209AD4C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4546148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2" name="Rectangle 71">
            <a:extLst>
              <a:ext uri="{FF2B5EF4-FFF2-40B4-BE49-F238E27FC236}">
                <a16:creationId xmlns:a16="http://schemas.microsoft.com/office/drawing/2014/main" id="{3128AE70-EB7B-B158-C5A1-6E54F1A88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45461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3" name="Rectangle 72">
            <a:extLst>
              <a:ext uri="{FF2B5EF4-FFF2-40B4-BE49-F238E27FC236}">
                <a16:creationId xmlns:a16="http://schemas.microsoft.com/office/drawing/2014/main" id="{C4EFA3B1-F5B2-D364-275E-45F593410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4" name="Rectangle 73">
            <a:extLst>
              <a:ext uri="{FF2B5EF4-FFF2-40B4-BE49-F238E27FC236}">
                <a16:creationId xmlns:a16="http://schemas.microsoft.com/office/drawing/2014/main" id="{48DA465D-5045-42B5-8B51-0D3F6DB0A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49049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5" name="Rectangle 74">
            <a:extLst>
              <a:ext uri="{FF2B5EF4-FFF2-40B4-BE49-F238E27FC236}">
                <a16:creationId xmlns:a16="http://schemas.microsoft.com/office/drawing/2014/main" id="{C1FA93C6-27F5-49C9-90FC-1617FAD53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4904923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6" name="Rectangle 75">
            <a:extLst>
              <a:ext uri="{FF2B5EF4-FFF2-40B4-BE49-F238E27FC236}">
                <a16:creationId xmlns:a16="http://schemas.microsoft.com/office/drawing/2014/main" id="{AC1BCA83-1CDA-6680-6904-D5B7245F9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7" name="Rectangle 76">
            <a:extLst>
              <a:ext uri="{FF2B5EF4-FFF2-40B4-BE49-F238E27FC236}">
                <a16:creationId xmlns:a16="http://schemas.microsoft.com/office/drawing/2014/main" id="{038077C7-26BA-21A6-1547-4C751989E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8" name="Rectangle 77">
            <a:extLst>
              <a:ext uri="{FF2B5EF4-FFF2-40B4-BE49-F238E27FC236}">
                <a16:creationId xmlns:a16="http://schemas.microsoft.com/office/drawing/2014/main" id="{E541C419-2B6D-731F-372E-0CFBA8EDA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9" name="Rectangle 78">
            <a:extLst>
              <a:ext uri="{FF2B5EF4-FFF2-40B4-BE49-F238E27FC236}">
                <a16:creationId xmlns:a16="http://schemas.microsoft.com/office/drawing/2014/main" id="{7310CA24-AB58-BFEF-9A86-8D4EC3991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0" name="Rectangle 79">
            <a:extLst>
              <a:ext uri="{FF2B5EF4-FFF2-40B4-BE49-F238E27FC236}">
                <a16:creationId xmlns:a16="http://schemas.microsoft.com/office/drawing/2014/main" id="{F2851C54-DA19-1C8A-F887-E9DEBD0DB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49049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1" name="Rectangle 80">
            <a:extLst>
              <a:ext uri="{FF2B5EF4-FFF2-40B4-BE49-F238E27FC236}">
                <a16:creationId xmlns:a16="http://schemas.microsoft.com/office/drawing/2014/main" id="{AA436DC0-0D44-6AF0-6BBF-3989E61C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4904923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2" name="Rectangle 81">
            <a:extLst>
              <a:ext uri="{FF2B5EF4-FFF2-40B4-BE49-F238E27FC236}">
                <a16:creationId xmlns:a16="http://schemas.microsoft.com/office/drawing/2014/main" id="{C2A62D26-2067-8411-6D71-6D793D7D4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3" name="Rectangle 82">
            <a:extLst>
              <a:ext uri="{FF2B5EF4-FFF2-40B4-BE49-F238E27FC236}">
                <a16:creationId xmlns:a16="http://schemas.microsoft.com/office/drawing/2014/main" id="{6F059E5B-25AF-FE00-91AB-D14E072D4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52652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4" name="Rectangle 83">
            <a:extLst>
              <a:ext uri="{FF2B5EF4-FFF2-40B4-BE49-F238E27FC236}">
                <a16:creationId xmlns:a16="http://schemas.microsoft.com/office/drawing/2014/main" id="{98CD8E3F-BA19-917E-FFAC-05D69E899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5265285"/>
            <a:ext cx="358775" cy="358775"/>
          </a:xfrm>
          <a:prstGeom prst="rect">
            <a:avLst/>
          </a:prstGeom>
          <a:solidFill>
            <a:srgbClr val="F8BFBE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5" name="Rectangle 84">
            <a:extLst>
              <a:ext uri="{FF2B5EF4-FFF2-40B4-BE49-F238E27FC236}">
                <a16:creationId xmlns:a16="http://schemas.microsoft.com/office/drawing/2014/main" id="{0E353491-2E72-3FE9-DE5F-9D783B663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526528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6" name="Rectangle 85">
            <a:extLst>
              <a:ext uri="{FF2B5EF4-FFF2-40B4-BE49-F238E27FC236}">
                <a16:creationId xmlns:a16="http://schemas.microsoft.com/office/drawing/2014/main" id="{D0C04F4E-FBFD-EDE6-952E-6F97AD069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7" name="Rectangle 86">
            <a:extLst>
              <a:ext uri="{FF2B5EF4-FFF2-40B4-BE49-F238E27FC236}">
                <a16:creationId xmlns:a16="http://schemas.microsoft.com/office/drawing/2014/main" id="{D5A57826-F36C-4A05-A6BF-0816F82C5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8" name="Rectangle 87">
            <a:extLst>
              <a:ext uri="{FF2B5EF4-FFF2-40B4-BE49-F238E27FC236}">
                <a16:creationId xmlns:a16="http://schemas.microsoft.com/office/drawing/2014/main" id="{EDC5FA18-1D40-4FFD-049C-6F15B7D4B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9" name="Rectangle 88">
            <a:extLst>
              <a:ext uri="{FF2B5EF4-FFF2-40B4-BE49-F238E27FC236}">
                <a16:creationId xmlns:a16="http://schemas.microsoft.com/office/drawing/2014/main" id="{8091E177-BD07-CD53-3170-6831CCACA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0" name="Rectangle 89">
            <a:extLst>
              <a:ext uri="{FF2B5EF4-FFF2-40B4-BE49-F238E27FC236}">
                <a16:creationId xmlns:a16="http://schemas.microsoft.com/office/drawing/2014/main" id="{64C3022B-9FF3-D81B-6186-FDD7DBCB4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1" name="Rectangle 90">
            <a:extLst>
              <a:ext uri="{FF2B5EF4-FFF2-40B4-BE49-F238E27FC236}">
                <a16:creationId xmlns:a16="http://schemas.microsoft.com/office/drawing/2014/main" id="{252F7E27-D2E5-1AA4-446F-7F21A3ABB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526528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2" name="Rectangle 91">
            <a:extLst>
              <a:ext uri="{FF2B5EF4-FFF2-40B4-BE49-F238E27FC236}">
                <a16:creationId xmlns:a16="http://schemas.microsoft.com/office/drawing/2014/main" id="{9BA5B837-E542-E247-BF41-47897A06F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52652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3" name="Rectangle 92">
            <a:extLst>
              <a:ext uri="{FF2B5EF4-FFF2-40B4-BE49-F238E27FC236}">
                <a16:creationId xmlns:a16="http://schemas.microsoft.com/office/drawing/2014/main" id="{16F0AC47-AA75-5580-601E-E43A6A16F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4" name="Rectangle 93">
            <a:extLst>
              <a:ext uri="{FF2B5EF4-FFF2-40B4-BE49-F238E27FC236}">
                <a16:creationId xmlns:a16="http://schemas.microsoft.com/office/drawing/2014/main" id="{EA0AB8D4-0AA1-407E-A6B3-BE53EB5C7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5" name="Rectangle 94">
            <a:extLst>
              <a:ext uri="{FF2B5EF4-FFF2-40B4-BE49-F238E27FC236}">
                <a16:creationId xmlns:a16="http://schemas.microsoft.com/office/drawing/2014/main" id="{BD3D43D2-8E71-3484-5A24-C781F1B39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5625648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6" name="Rectangle 95">
            <a:extLst>
              <a:ext uri="{FF2B5EF4-FFF2-40B4-BE49-F238E27FC236}">
                <a16:creationId xmlns:a16="http://schemas.microsoft.com/office/drawing/2014/main" id="{67DF8EFD-5590-E3FB-B90C-01E00149A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7" name="Rectangle 96">
            <a:extLst>
              <a:ext uri="{FF2B5EF4-FFF2-40B4-BE49-F238E27FC236}">
                <a16:creationId xmlns:a16="http://schemas.microsoft.com/office/drawing/2014/main" id="{A47A4FD9-35B4-DFF4-7223-AB79AFD18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8" name="Rectangle 97">
            <a:extLst>
              <a:ext uri="{FF2B5EF4-FFF2-40B4-BE49-F238E27FC236}">
                <a16:creationId xmlns:a16="http://schemas.microsoft.com/office/drawing/2014/main" id="{4A96E94A-4988-5C95-75BC-F8BF0332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9" name="Rectangle 98">
            <a:extLst>
              <a:ext uri="{FF2B5EF4-FFF2-40B4-BE49-F238E27FC236}">
                <a16:creationId xmlns:a16="http://schemas.microsoft.com/office/drawing/2014/main" id="{AE004C80-288E-4FA4-5AE9-4ABE918E2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0" name="Rectangle 99">
            <a:extLst>
              <a:ext uri="{FF2B5EF4-FFF2-40B4-BE49-F238E27FC236}">
                <a16:creationId xmlns:a16="http://schemas.microsoft.com/office/drawing/2014/main" id="{CFDD58F5-FF26-EA9C-7162-9438476A5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1" name="Rectangle 100">
            <a:extLst>
              <a:ext uri="{FF2B5EF4-FFF2-40B4-BE49-F238E27FC236}">
                <a16:creationId xmlns:a16="http://schemas.microsoft.com/office/drawing/2014/main" id="{3ED836B5-F39D-3A96-2330-3DD0BAABA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5625648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2" name="Rectangle 101">
            <a:extLst>
              <a:ext uri="{FF2B5EF4-FFF2-40B4-BE49-F238E27FC236}">
                <a16:creationId xmlns:a16="http://schemas.microsoft.com/office/drawing/2014/main" id="{D5D2DEF2-FBFB-DFD4-10EA-07D6A0FD1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3" name="Line 102">
            <a:extLst>
              <a:ext uri="{FF2B5EF4-FFF2-40B4-BE49-F238E27FC236}">
                <a16:creationId xmlns:a16="http://schemas.microsoft.com/office/drawing/2014/main" id="{0C2D64C5-5C7C-C737-F49B-CC8BDF774D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6982" y="2889362"/>
            <a:ext cx="1223963" cy="0"/>
          </a:xfrm>
          <a:prstGeom prst="line">
            <a:avLst/>
          </a:prstGeom>
          <a:noFill/>
          <a:ln w="38100">
            <a:solidFill>
              <a:srgbClr val="FF00FF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4" name="Text Box 104">
            <a:extLst>
              <a:ext uri="{FF2B5EF4-FFF2-40B4-BE49-F238E27FC236}">
                <a16:creationId xmlns:a16="http://schemas.microsoft.com/office/drawing/2014/main" id="{38E1600C-086F-E116-82A6-B22DEDE2A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791" y="2393526"/>
            <a:ext cx="433388" cy="36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0   1    2    3    4   5    6    7   8    9</a:t>
            </a:r>
          </a:p>
        </p:txBody>
      </p:sp>
      <p:sp>
        <p:nvSpPr>
          <p:cNvPr id="115" name="Text Box 116">
            <a:extLst>
              <a:ext uri="{FF2B5EF4-FFF2-40B4-BE49-F238E27FC236}">
                <a16:creationId xmlns:a16="http://schemas.microsoft.com/office/drawing/2014/main" id="{DF9C9288-04AB-0447-F03E-BFC68C693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1999" y="2544877"/>
            <a:ext cx="431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入口</a:t>
            </a:r>
          </a:p>
        </p:txBody>
      </p:sp>
      <p:sp>
        <p:nvSpPr>
          <p:cNvPr id="116" name="Line 117">
            <a:extLst>
              <a:ext uri="{FF2B5EF4-FFF2-40B4-BE49-F238E27FC236}">
                <a16:creationId xmlns:a16="http://schemas.microsoft.com/office/drawing/2014/main" id="{DAC3F555-4947-EE43-8BF6-1DB15CEC47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34623" y="5435730"/>
            <a:ext cx="1008063" cy="0"/>
          </a:xfrm>
          <a:prstGeom prst="line">
            <a:avLst/>
          </a:prstGeom>
          <a:noFill/>
          <a:ln w="38100">
            <a:solidFill>
              <a:srgbClr val="FF00FF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7" name="Text Box 118">
            <a:extLst>
              <a:ext uri="{FF2B5EF4-FFF2-40B4-BE49-F238E27FC236}">
                <a16:creationId xmlns:a16="http://schemas.microsoft.com/office/drawing/2014/main" id="{0898AE76-45BF-AB7E-B74C-DF945AF49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6638" y="5078540"/>
            <a:ext cx="5032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出口</a:t>
            </a:r>
          </a:p>
        </p:txBody>
      </p:sp>
      <p:grpSp>
        <p:nvGrpSpPr>
          <p:cNvPr id="118" name="组合 122">
            <a:extLst>
              <a:ext uri="{FF2B5EF4-FFF2-40B4-BE49-F238E27FC236}">
                <a16:creationId xmlns:a16="http://schemas.microsoft.com/office/drawing/2014/main" id="{07ADC4B5-D095-09B6-0750-416BD657A9B4}"/>
              </a:ext>
            </a:extLst>
          </p:cNvPr>
          <p:cNvGrpSpPr/>
          <p:nvPr/>
        </p:nvGrpSpPr>
        <p:grpSpPr>
          <a:xfrm>
            <a:off x="9194770" y="5435730"/>
            <a:ext cx="2143140" cy="1226588"/>
            <a:chOff x="3929058" y="4857760"/>
            <a:chExt cx="2143140" cy="1226588"/>
          </a:xfrm>
        </p:grpSpPr>
        <p:sp>
          <p:nvSpPr>
            <p:cNvPr id="119" name="TextBox 119">
              <a:extLst>
                <a:ext uri="{FF2B5EF4-FFF2-40B4-BE49-F238E27FC236}">
                  <a16:creationId xmlns:a16="http://schemas.microsoft.com/office/drawing/2014/main" id="{5B674374-561E-89D3-B26E-424EF6CF7B76}"/>
                </a:ext>
              </a:extLst>
            </p:cNvPr>
            <p:cNvSpPr txBox="1"/>
            <p:nvPr/>
          </p:nvSpPr>
          <p:spPr>
            <a:xfrm>
              <a:off x="3929058" y="5715016"/>
              <a:ext cx="2143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  <a:cs typeface="Consolas" pitchFamily="49" charset="0"/>
                </a:rPr>
                <a:t>一条迷宫路径</a:t>
              </a: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0202EC0F-BDEB-A529-F1D9-0C75FB6A070B}"/>
                </a:ext>
              </a:extLst>
            </p:cNvPr>
            <p:cNvCxnSpPr>
              <a:stCxn id="119" idx="0"/>
            </p:cNvCxnSpPr>
            <p:nvPr/>
          </p:nvCxnSpPr>
          <p:spPr>
            <a:xfrm rot="5400000" flipH="1" flipV="1">
              <a:off x="4607719" y="5250669"/>
              <a:ext cx="857256" cy="7143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任意多边形 120">
            <a:extLst>
              <a:ext uri="{FF2B5EF4-FFF2-40B4-BE49-F238E27FC236}">
                <a16:creationId xmlns:a16="http://schemas.microsoft.com/office/drawing/2014/main" id="{735FED09-F132-CF9F-D2BD-F233A32EC380}"/>
              </a:ext>
            </a:extLst>
          </p:cNvPr>
          <p:cNvSpPr/>
          <p:nvPr/>
        </p:nvSpPr>
        <p:spPr>
          <a:xfrm>
            <a:off x="7671299" y="2816875"/>
            <a:ext cx="2861733" cy="2633133"/>
          </a:xfrm>
          <a:custGeom>
            <a:avLst/>
            <a:gdLst>
              <a:gd name="connsiteX0" fmla="*/ 207433 w 2861733"/>
              <a:gd name="connsiteY0" fmla="*/ 118533 h 2633133"/>
              <a:gd name="connsiteX1" fmla="*/ 474133 w 2861733"/>
              <a:gd name="connsiteY1" fmla="*/ 118533 h 2633133"/>
              <a:gd name="connsiteX2" fmla="*/ 537633 w 2861733"/>
              <a:gd name="connsiteY2" fmla="*/ 829733 h 2633133"/>
              <a:gd name="connsiteX3" fmla="*/ 118533 w 2861733"/>
              <a:gd name="connsiteY3" fmla="*/ 829733 h 2633133"/>
              <a:gd name="connsiteX4" fmla="*/ 131233 w 2861733"/>
              <a:gd name="connsiteY4" fmla="*/ 1540933 h 2633133"/>
              <a:gd name="connsiteX5" fmla="*/ 905933 w 2861733"/>
              <a:gd name="connsiteY5" fmla="*/ 1579033 h 2633133"/>
              <a:gd name="connsiteX6" fmla="*/ 931333 w 2861733"/>
              <a:gd name="connsiteY6" fmla="*/ 1960033 h 2633133"/>
              <a:gd name="connsiteX7" fmla="*/ 1566333 w 2861733"/>
              <a:gd name="connsiteY7" fmla="*/ 1947333 h 2633133"/>
              <a:gd name="connsiteX8" fmla="*/ 1604433 w 2861733"/>
              <a:gd name="connsiteY8" fmla="*/ 1223433 h 2633133"/>
              <a:gd name="connsiteX9" fmla="*/ 2683933 w 2861733"/>
              <a:gd name="connsiteY9" fmla="*/ 1185333 h 2633133"/>
              <a:gd name="connsiteX10" fmla="*/ 2671233 w 2861733"/>
              <a:gd name="connsiteY10" fmla="*/ 2633133 h 263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61733" h="2633133">
                <a:moveTo>
                  <a:pt x="207433" y="118533"/>
                </a:moveTo>
                <a:cubicBezTo>
                  <a:pt x="313266" y="59266"/>
                  <a:pt x="419100" y="0"/>
                  <a:pt x="474133" y="118533"/>
                </a:cubicBezTo>
                <a:cubicBezTo>
                  <a:pt x="529166" y="237066"/>
                  <a:pt x="596900" y="711200"/>
                  <a:pt x="537633" y="829733"/>
                </a:cubicBezTo>
                <a:cubicBezTo>
                  <a:pt x="478366" y="948266"/>
                  <a:pt x="186266" y="711200"/>
                  <a:pt x="118533" y="829733"/>
                </a:cubicBezTo>
                <a:cubicBezTo>
                  <a:pt x="50800" y="948266"/>
                  <a:pt x="0" y="1416050"/>
                  <a:pt x="131233" y="1540933"/>
                </a:cubicBezTo>
                <a:cubicBezTo>
                  <a:pt x="262466" y="1665816"/>
                  <a:pt x="772583" y="1509183"/>
                  <a:pt x="905933" y="1579033"/>
                </a:cubicBezTo>
                <a:cubicBezTo>
                  <a:pt x="1039283" y="1648883"/>
                  <a:pt x="821266" y="1898650"/>
                  <a:pt x="931333" y="1960033"/>
                </a:cubicBezTo>
                <a:cubicBezTo>
                  <a:pt x="1041400" y="2021416"/>
                  <a:pt x="1454150" y="2070100"/>
                  <a:pt x="1566333" y="1947333"/>
                </a:cubicBezTo>
                <a:cubicBezTo>
                  <a:pt x="1678516" y="1824566"/>
                  <a:pt x="1418166" y="1350433"/>
                  <a:pt x="1604433" y="1223433"/>
                </a:cubicBezTo>
                <a:cubicBezTo>
                  <a:pt x="1790700" y="1096433"/>
                  <a:pt x="2506133" y="950383"/>
                  <a:pt x="2683933" y="1185333"/>
                </a:cubicBezTo>
                <a:cubicBezTo>
                  <a:pt x="2861733" y="1420283"/>
                  <a:pt x="2766483" y="2026708"/>
                  <a:pt x="2671233" y="2633133"/>
                </a:cubicBezTo>
              </a:path>
            </a:pathLst>
          </a:custGeom>
          <a:ln w="28575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2" name="Text Box 103">
            <a:extLst>
              <a:ext uri="{FF2B5EF4-FFF2-40B4-BE49-F238E27FC236}">
                <a16:creationId xmlns:a16="http://schemas.microsoft.com/office/drawing/2014/main" id="{1F8BD2EA-1C34-EC86-6B39-A45BB4A14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20" y="1935268"/>
            <a:ext cx="3714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0  1  2 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 </a:t>
            </a: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4  5 </a:t>
            </a:r>
            <a:r>
              <a:rPr lang="en-US" altLang="zh-CN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6  7  8  9</a:t>
            </a:r>
            <a:endParaRPr lang="en-US" altLang="zh-CN" sz="1600" dirty="0">
              <a:solidFill>
                <a:srgbClr val="00B0F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94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5D2D-4292-6CB3-806A-06E9F2E3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1B0E6B-4732-5B46-6382-FA22249B6C94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A0464E-DB40-3F5A-344D-D8AA48A455E4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DB9331F-8D38-9395-AF6C-4B1D8A2165A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F796CEB-2A5D-B621-4CAF-6B2C1333DD17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42A96C7-FB70-8837-9152-168C6FDDC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F48272A-FFA9-2177-1887-D5322D002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49B5D098-C65D-10EE-7B54-9D9422BFF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2398260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9BE041D4-99DF-8543-6436-291545BD0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79737998-19A7-ED4B-B71A-34DDDB824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DD0D5A35-BC34-95AE-522B-112215E9F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9082F111-3002-C8FB-2C03-D9B8BAD6F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64D4775C-954C-29E6-2557-4272CB67B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D2B3A57A-47E6-FE21-0707-BCBC8EE42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2398260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6475CBD7-8DFE-E430-FA4C-18BE717D2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23982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433DA656-E3B9-1787-3A44-8494A8252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275703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FC29B4A8-64BA-34DD-3246-6213711C3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F5DC30A3-E661-0B59-B05D-22EED1464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275703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9085A420-109B-1D6B-574C-2806DEC63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275703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7" name="Rectangle 16">
            <a:extLst>
              <a:ext uri="{FF2B5EF4-FFF2-40B4-BE49-F238E27FC236}">
                <a16:creationId xmlns:a16="http://schemas.microsoft.com/office/drawing/2014/main" id="{400785C3-5F6E-8156-7F64-02B6BE967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8" name="Rectangle 17">
            <a:extLst>
              <a:ext uri="{FF2B5EF4-FFF2-40B4-BE49-F238E27FC236}">
                <a16:creationId xmlns:a16="http://schemas.microsoft.com/office/drawing/2014/main" id="{E6A1088C-350B-1AC3-E559-5BDC1AE69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27241137-8863-E21F-85AF-3F5579CF6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5B818218-70DB-66F6-2AB2-44156A87E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275703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798F83A1-853A-8520-27DA-3C604317A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2757035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621EC4E2-2A3F-3427-DE85-AB73B32B6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275703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3" name="Rectangle 22">
            <a:extLst>
              <a:ext uri="{FF2B5EF4-FFF2-40B4-BE49-F238E27FC236}">
                <a16:creationId xmlns:a16="http://schemas.microsoft.com/office/drawing/2014/main" id="{A5ED9342-EE73-27CE-B137-E2CFC9E5F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311739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4" name="Rectangle 23">
            <a:extLst>
              <a:ext uri="{FF2B5EF4-FFF2-40B4-BE49-F238E27FC236}">
                <a16:creationId xmlns:a16="http://schemas.microsoft.com/office/drawing/2014/main" id="{58547574-9EA4-0CC7-24F0-A5AA61D10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5" name="Rectangle 24">
            <a:extLst>
              <a:ext uri="{FF2B5EF4-FFF2-40B4-BE49-F238E27FC236}">
                <a16:creationId xmlns:a16="http://schemas.microsoft.com/office/drawing/2014/main" id="{CAD9BA79-1966-C537-614F-E41CAED5A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3117398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6" name="Rectangle 25">
            <a:extLst>
              <a:ext uri="{FF2B5EF4-FFF2-40B4-BE49-F238E27FC236}">
                <a16:creationId xmlns:a16="http://schemas.microsoft.com/office/drawing/2014/main" id="{B6D8E30E-2532-0D5B-5F1F-3A0AF3A11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311739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7" name="Rectangle 26">
            <a:extLst>
              <a:ext uri="{FF2B5EF4-FFF2-40B4-BE49-F238E27FC236}">
                <a16:creationId xmlns:a16="http://schemas.microsoft.com/office/drawing/2014/main" id="{C7EA48F6-6A64-5C4C-1393-33EE05C28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A4133F08-105D-7AE5-23AE-0CD0B12C3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7BE8FB7F-5615-17BA-6088-AA411318B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D2235F4A-31D8-C476-B13E-FEDB51AFE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311739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1" name="Rectangle 30">
            <a:extLst>
              <a:ext uri="{FF2B5EF4-FFF2-40B4-BE49-F238E27FC236}">
                <a16:creationId xmlns:a16="http://schemas.microsoft.com/office/drawing/2014/main" id="{6B5C95D8-571E-279C-7AC9-25EF64EBE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3117398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9F05D6D5-FD31-3A2D-3FD4-1429C9EC7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311739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3" name="Rectangle 32">
            <a:extLst>
              <a:ext uri="{FF2B5EF4-FFF2-40B4-BE49-F238E27FC236}">
                <a16:creationId xmlns:a16="http://schemas.microsoft.com/office/drawing/2014/main" id="{DD10AC0F-A4E9-5191-3696-619BC781C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34777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4" name="Rectangle 33">
            <a:extLst>
              <a:ext uri="{FF2B5EF4-FFF2-40B4-BE49-F238E27FC236}">
                <a16:creationId xmlns:a16="http://schemas.microsoft.com/office/drawing/2014/main" id="{BB977B37-8214-219C-FABF-A4E530F74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347776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5" name="Rectangle 34">
            <a:extLst>
              <a:ext uri="{FF2B5EF4-FFF2-40B4-BE49-F238E27FC236}">
                <a16:creationId xmlns:a16="http://schemas.microsoft.com/office/drawing/2014/main" id="{78CDE1E3-5C5F-8064-DA77-FB660114C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3477760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6" name="Rectangle 35">
            <a:extLst>
              <a:ext uri="{FF2B5EF4-FFF2-40B4-BE49-F238E27FC236}">
                <a16:creationId xmlns:a16="http://schemas.microsoft.com/office/drawing/2014/main" id="{47A2A0F6-8ED6-38D8-C300-31F0F35BE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347776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7" name="Rectangle 36">
            <a:extLst>
              <a:ext uri="{FF2B5EF4-FFF2-40B4-BE49-F238E27FC236}">
                <a16:creationId xmlns:a16="http://schemas.microsoft.com/office/drawing/2014/main" id="{5B2262EB-67FC-ABEC-1406-9D766C8AD0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347776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8" name="Rectangle 37">
            <a:extLst>
              <a:ext uri="{FF2B5EF4-FFF2-40B4-BE49-F238E27FC236}">
                <a16:creationId xmlns:a16="http://schemas.microsoft.com/office/drawing/2014/main" id="{D7D9EE86-DD4E-8AAE-10DA-ED77AC65B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34777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49" name="Rectangle 38">
            <a:extLst>
              <a:ext uri="{FF2B5EF4-FFF2-40B4-BE49-F238E27FC236}">
                <a16:creationId xmlns:a16="http://schemas.microsoft.com/office/drawing/2014/main" id="{C4842D9F-5BCA-CE83-AF2D-AA98EA0B1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34777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0" name="Rectangle 39">
            <a:extLst>
              <a:ext uri="{FF2B5EF4-FFF2-40B4-BE49-F238E27FC236}">
                <a16:creationId xmlns:a16="http://schemas.microsoft.com/office/drawing/2014/main" id="{B80369D5-1D28-0A8D-38B2-AEE1582DA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3477760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1" name="Rectangle 40">
            <a:extLst>
              <a:ext uri="{FF2B5EF4-FFF2-40B4-BE49-F238E27FC236}">
                <a16:creationId xmlns:a16="http://schemas.microsoft.com/office/drawing/2014/main" id="{C463E171-B919-36DC-D298-6BC770F3E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3477760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2" name="Rectangle 41">
            <a:extLst>
              <a:ext uri="{FF2B5EF4-FFF2-40B4-BE49-F238E27FC236}">
                <a16:creationId xmlns:a16="http://schemas.microsoft.com/office/drawing/2014/main" id="{85D175EE-79C5-80BF-4FEC-ACA30B9E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3477760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3" name="Rectangle 42">
            <a:extLst>
              <a:ext uri="{FF2B5EF4-FFF2-40B4-BE49-F238E27FC236}">
                <a16:creationId xmlns:a16="http://schemas.microsoft.com/office/drawing/2014/main" id="{54920B02-5F32-AC41-6429-11A74357E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38254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4" name="Rectangle 43">
            <a:extLst>
              <a:ext uri="{FF2B5EF4-FFF2-40B4-BE49-F238E27FC236}">
                <a16:creationId xmlns:a16="http://schemas.microsoft.com/office/drawing/2014/main" id="{CA8ECD27-64F2-8822-42F8-FDBEEF005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3830757"/>
            <a:ext cx="358775" cy="39154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5" name="Rectangle 44">
            <a:extLst>
              <a:ext uri="{FF2B5EF4-FFF2-40B4-BE49-F238E27FC236}">
                <a16:creationId xmlns:a16="http://schemas.microsoft.com/office/drawing/2014/main" id="{95307A7E-D0EC-0C9A-AE80-7000E1944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3825423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6" name="Rectangle 45">
            <a:extLst>
              <a:ext uri="{FF2B5EF4-FFF2-40B4-BE49-F238E27FC236}">
                <a16:creationId xmlns:a16="http://schemas.microsoft.com/office/drawing/2014/main" id="{F75C7E66-8A2B-58CB-9B2A-3C5AFADA8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38254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7" name="Rectangle 46">
            <a:extLst>
              <a:ext uri="{FF2B5EF4-FFF2-40B4-BE49-F238E27FC236}">
                <a16:creationId xmlns:a16="http://schemas.microsoft.com/office/drawing/2014/main" id="{0C8A4F0C-26EE-9504-4CB3-AB6B4432A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38254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8" name="Rectangle 47">
            <a:extLst>
              <a:ext uri="{FF2B5EF4-FFF2-40B4-BE49-F238E27FC236}">
                <a16:creationId xmlns:a16="http://schemas.microsoft.com/office/drawing/2014/main" id="{D3617099-0F9F-7B6B-78A2-7204F6CD2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38254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59" name="Rectangle 48">
            <a:extLst>
              <a:ext uri="{FF2B5EF4-FFF2-40B4-BE49-F238E27FC236}">
                <a16:creationId xmlns:a16="http://schemas.microsoft.com/office/drawing/2014/main" id="{7DD613EC-7919-3B03-CC45-3BFCCE93C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38254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0" name="Rectangle 49">
            <a:extLst>
              <a:ext uri="{FF2B5EF4-FFF2-40B4-BE49-F238E27FC236}">
                <a16:creationId xmlns:a16="http://schemas.microsoft.com/office/drawing/2014/main" id="{4AF63431-8A62-0BC3-03E7-4808C607A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38254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1" name="Rectangle 50">
            <a:extLst>
              <a:ext uri="{FF2B5EF4-FFF2-40B4-BE49-F238E27FC236}">
                <a16:creationId xmlns:a16="http://schemas.microsoft.com/office/drawing/2014/main" id="{2AFBC905-7114-5915-2157-047DF15FE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3825423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2" name="Rectangle 51">
            <a:extLst>
              <a:ext uri="{FF2B5EF4-FFF2-40B4-BE49-F238E27FC236}">
                <a16:creationId xmlns:a16="http://schemas.microsoft.com/office/drawing/2014/main" id="{1DA23557-1CD5-D8B6-3A05-3AFA2F375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38254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3" name="Rectangle 52">
            <a:extLst>
              <a:ext uri="{FF2B5EF4-FFF2-40B4-BE49-F238E27FC236}">
                <a16:creationId xmlns:a16="http://schemas.microsoft.com/office/drawing/2014/main" id="{174EA9B7-F4EB-DF8F-D131-F4BB1CD6E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41857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4" name="Rectangle 53">
            <a:extLst>
              <a:ext uri="{FF2B5EF4-FFF2-40B4-BE49-F238E27FC236}">
                <a16:creationId xmlns:a16="http://schemas.microsoft.com/office/drawing/2014/main" id="{A3B6BEA7-BD54-5313-781E-F550D4C4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5" name="Rectangle 54">
            <a:extLst>
              <a:ext uri="{FF2B5EF4-FFF2-40B4-BE49-F238E27FC236}">
                <a16:creationId xmlns:a16="http://schemas.microsoft.com/office/drawing/2014/main" id="{D5C2D79B-D983-F196-D72E-8B454B4CE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418578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6" name="Rectangle 55">
            <a:extLst>
              <a:ext uri="{FF2B5EF4-FFF2-40B4-BE49-F238E27FC236}">
                <a16:creationId xmlns:a16="http://schemas.microsoft.com/office/drawing/2014/main" id="{F026511E-2768-B896-6AC5-33A01A62D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7" name="Rectangle 56">
            <a:extLst>
              <a:ext uri="{FF2B5EF4-FFF2-40B4-BE49-F238E27FC236}">
                <a16:creationId xmlns:a16="http://schemas.microsoft.com/office/drawing/2014/main" id="{F34A4D30-60F0-AEDB-8960-F3FE8491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41857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8" name="Rectangle 57">
            <a:extLst>
              <a:ext uri="{FF2B5EF4-FFF2-40B4-BE49-F238E27FC236}">
                <a16:creationId xmlns:a16="http://schemas.microsoft.com/office/drawing/2014/main" id="{1800DD9D-A957-1C56-02B7-852CD4CEE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69" name="Rectangle 58">
            <a:extLst>
              <a:ext uri="{FF2B5EF4-FFF2-40B4-BE49-F238E27FC236}">
                <a16:creationId xmlns:a16="http://schemas.microsoft.com/office/drawing/2014/main" id="{F37DC80E-74E2-1049-859F-B8BD17528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0" name="Rectangle 59">
            <a:extLst>
              <a:ext uri="{FF2B5EF4-FFF2-40B4-BE49-F238E27FC236}">
                <a16:creationId xmlns:a16="http://schemas.microsoft.com/office/drawing/2014/main" id="{08223E9A-5BCA-D01D-435E-BFD1FD2BE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41857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1" name="Rectangle 60">
            <a:extLst>
              <a:ext uri="{FF2B5EF4-FFF2-40B4-BE49-F238E27FC236}">
                <a16:creationId xmlns:a16="http://schemas.microsoft.com/office/drawing/2014/main" id="{73DD7C86-BA98-ECF7-3CF6-5E8A77910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418578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2" name="Rectangle 61">
            <a:extLst>
              <a:ext uri="{FF2B5EF4-FFF2-40B4-BE49-F238E27FC236}">
                <a16:creationId xmlns:a16="http://schemas.microsoft.com/office/drawing/2014/main" id="{DE1AAB8C-6883-D1E4-ED56-788DAFC53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41857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3" name="Rectangle 62">
            <a:extLst>
              <a:ext uri="{FF2B5EF4-FFF2-40B4-BE49-F238E27FC236}">
                <a16:creationId xmlns:a16="http://schemas.microsoft.com/office/drawing/2014/main" id="{9889746D-324F-0760-1D06-0BFDAC2DA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45461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4" name="Rectangle 63">
            <a:extLst>
              <a:ext uri="{FF2B5EF4-FFF2-40B4-BE49-F238E27FC236}">
                <a16:creationId xmlns:a16="http://schemas.microsoft.com/office/drawing/2014/main" id="{13C05B4F-055D-EFF9-B016-E245CBFC5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5" name="Rectangle 64">
            <a:extLst>
              <a:ext uri="{FF2B5EF4-FFF2-40B4-BE49-F238E27FC236}">
                <a16:creationId xmlns:a16="http://schemas.microsoft.com/office/drawing/2014/main" id="{6E38DD3B-ED9D-E06B-684E-5F9B53FC0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4546148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6" name="Rectangle 65">
            <a:extLst>
              <a:ext uri="{FF2B5EF4-FFF2-40B4-BE49-F238E27FC236}">
                <a16:creationId xmlns:a16="http://schemas.microsoft.com/office/drawing/2014/main" id="{EFBA10CB-8A01-AEE4-CFF6-9FDFEF67C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7" name="Rectangle 66">
            <a:extLst>
              <a:ext uri="{FF2B5EF4-FFF2-40B4-BE49-F238E27FC236}">
                <a16:creationId xmlns:a16="http://schemas.microsoft.com/office/drawing/2014/main" id="{B1D3565A-437D-266F-FEAD-076C71170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8" name="Rectangle 67">
            <a:extLst>
              <a:ext uri="{FF2B5EF4-FFF2-40B4-BE49-F238E27FC236}">
                <a16:creationId xmlns:a16="http://schemas.microsoft.com/office/drawing/2014/main" id="{D06B7036-2B21-EA86-7984-C8E2837AC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79" name="Rectangle 68">
            <a:extLst>
              <a:ext uri="{FF2B5EF4-FFF2-40B4-BE49-F238E27FC236}">
                <a16:creationId xmlns:a16="http://schemas.microsoft.com/office/drawing/2014/main" id="{EE6F5B99-89E2-D984-3A1E-B6DA10A64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45461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0" name="Rectangle 69">
            <a:extLst>
              <a:ext uri="{FF2B5EF4-FFF2-40B4-BE49-F238E27FC236}">
                <a16:creationId xmlns:a16="http://schemas.microsoft.com/office/drawing/2014/main" id="{625F006C-FFC9-F757-152A-233FBAC7D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4546148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1" name="Rectangle 70">
            <a:extLst>
              <a:ext uri="{FF2B5EF4-FFF2-40B4-BE49-F238E27FC236}">
                <a16:creationId xmlns:a16="http://schemas.microsoft.com/office/drawing/2014/main" id="{C3A85914-FBE1-C34C-9DCC-357011268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4546148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2" name="Rectangle 71">
            <a:extLst>
              <a:ext uri="{FF2B5EF4-FFF2-40B4-BE49-F238E27FC236}">
                <a16:creationId xmlns:a16="http://schemas.microsoft.com/office/drawing/2014/main" id="{40F4E617-B0BD-B886-157A-39605FA39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45461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3" name="Rectangle 72">
            <a:extLst>
              <a:ext uri="{FF2B5EF4-FFF2-40B4-BE49-F238E27FC236}">
                <a16:creationId xmlns:a16="http://schemas.microsoft.com/office/drawing/2014/main" id="{75EE7100-BF34-1630-2E7C-2DD194067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4" name="Rectangle 73">
            <a:extLst>
              <a:ext uri="{FF2B5EF4-FFF2-40B4-BE49-F238E27FC236}">
                <a16:creationId xmlns:a16="http://schemas.microsoft.com/office/drawing/2014/main" id="{4E75C83C-7B50-CD93-0ECB-673D4BAC3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49049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5" name="Rectangle 74">
            <a:extLst>
              <a:ext uri="{FF2B5EF4-FFF2-40B4-BE49-F238E27FC236}">
                <a16:creationId xmlns:a16="http://schemas.microsoft.com/office/drawing/2014/main" id="{773478CD-9FD7-DF60-71F4-0731ED460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4904923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6" name="Rectangle 75">
            <a:extLst>
              <a:ext uri="{FF2B5EF4-FFF2-40B4-BE49-F238E27FC236}">
                <a16:creationId xmlns:a16="http://schemas.microsoft.com/office/drawing/2014/main" id="{57289A62-373A-6A4E-9080-4444CA956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7" name="Rectangle 76">
            <a:extLst>
              <a:ext uri="{FF2B5EF4-FFF2-40B4-BE49-F238E27FC236}">
                <a16:creationId xmlns:a16="http://schemas.microsoft.com/office/drawing/2014/main" id="{3448B817-8E0F-9AFA-8142-C0E7E7FC3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8" name="Rectangle 77">
            <a:extLst>
              <a:ext uri="{FF2B5EF4-FFF2-40B4-BE49-F238E27FC236}">
                <a16:creationId xmlns:a16="http://schemas.microsoft.com/office/drawing/2014/main" id="{40C53941-762C-4622-CC69-0BF999095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89" name="Rectangle 78">
            <a:extLst>
              <a:ext uri="{FF2B5EF4-FFF2-40B4-BE49-F238E27FC236}">
                <a16:creationId xmlns:a16="http://schemas.microsoft.com/office/drawing/2014/main" id="{CD62874A-3B3F-CEE8-6632-3F9989C03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0" name="Rectangle 79">
            <a:extLst>
              <a:ext uri="{FF2B5EF4-FFF2-40B4-BE49-F238E27FC236}">
                <a16:creationId xmlns:a16="http://schemas.microsoft.com/office/drawing/2014/main" id="{B35C3A16-6F41-5BE7-684A-DFB0D3048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4904923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1" name="Rectangle 80">
            <a:extLst>
              <a:ext uri="{FF2B5EF4-FFF2-40B4-BE49-F238E27FC236}">
                <a16:creationId xmlns:a16="http://schemas.microsoft.com/office/drawing/2014/main" id="{CB5BB185-3175-D21A-3879-546E5E71E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4904923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2" name="Rectangle 81">
            <a:extLst>
              <a:ext uri="{FF2B5EF4-FFF2-40B4-BE49-F238E27FC236}">
                <a16:creationId xmlns:a16="http://schemas.microsoft.com/office/drawing/2014/main" id="{BD96E7FD-D582-AF13-6865-CAD2F5B22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4904923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3" name="Rectangle 82">
            <a:extLst>
              <a:ext uri="{FF2B5EF4-FFF2-40B4-BE49-F238E27FC236}">
                <a16:creationId xmlns:a16="http://schemas.microsoft.com/office/drawing/2014/main" id="{8990157C-186A-F324-ADF8-7A180AC8A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52652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4" name="Rectangle 83">
            <a:extLst>
              <a:ext uri="{FF2B5EF4-FFF2-40B4-BE49-F238E27FC236}">
                <a16:creationId xmlns:a16="http://schemas.microsoft.com/office/drawing/2014/main" id="{75D1A281-906A-448C-C4D0-7D13E9F15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5265285"/>
            <a:ext cx="358775" cy="358775"/>
          </a:xfrm>
          <a:prstGeom prst="rect">
            <a:avLst/>
          </a:prstGeom>
          <a:solidFill>
            <a:srgbClr val="F8BFBE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5" name="Rectangle 84">
            <a:extLst>
              <a:ext uri="{FF2B5EF4-FFF2-40B4-BE49-F238E27FC236}">
                <a16:creationId xmlns:a16="http://schemas.microsoft.com/office/drawing/2014/main" id="{F73BE306-1178-8C23-54B0-DEC4D11A0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526528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6" name="Rectangle 85">
            <a:extLst>
              <a:ext uri="{FF2B5EF4-FFF2-40B4-BE49-F238E27FC236}">
                <a16:creationId xmlns:a16="http://schemas.microsoft.com/office/drawing/2014/main" id="{EF3F3014-068D-5C86-AA30-4A7BF5087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7" name="Rectangle 86">
            <a:extLst>
              <a:ext uri="{FF2B5EF4-FFF2-40B4-BE49-F238E27FC236}">
                <a16:creationId xmlns:a16="http://schemas.microsoft.com/office/drawing/2014/main" id="{5D197EAA-1CDB-9CCE-2FEA-B505CA932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8" name="Rectangle 87">
            <a:extLst>
              <a:ext uri="{FF2B5EF4-FFF2-40B4-BE49-F238E27FC236}">
                <a16:creationId xmlns:a16="http://schemas.microsoft.com/office/drawing/2014/main" id="{C3D6369C-8657-E4A6-5D14-9CAB4C990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99" name="Rectangle 88">
            <a:extLst>
              <a:ext uri="{FF2B5EF4-FFF2-40B4-BE49-F238E27FC236}">
                <a16:creationId xmlns:a16="http://schemas.microsoft.com/office/drawing/2014/main" id="{24C6F13E-22DC-008F-097F-F7D02A086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0" name="Rectangle 89">
            <a:extLst>
              <a:ext uri="{FF2B5EF4-FFF2-40B4-BE49-F238E27FC236}">
                <a16:creationId xmlns:a16="http://schemas.microsoft.com/office/drawing/2014/main" id="{115B5512-B3C7-8F7C-1305-FDE7E3257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5265285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1" name="Rectangle 90">
            <a:extLst>
              <a:ext uri="{FF2B5EF4-FFF2-40B4-BE49-F238E27FC236}">
                <a16:creationId xmlns:a16="http://schemas.microsoft.com/office/drawing/2014/main" id="{1ACDB0CD-FF19-5C4B-10A3-8660D4A15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5265285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2" name="Rectangle 91">
            <a:extLst>
              <a:ext uri="{FF2B5EF4-FFF2-40B4-BE49-F238E27FC236}">
                <a16:creationId xmlns:a16="http://schemas.microsoft.com/office/drawing/2014/main" id="{A4413668-83F2-A1B3-5565-1019685FE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5265285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3" name="Rectangle 92">
            <a:extLst>
              <a:ext uri="{FF2B5EF4-FFF2-40B4-BE49-F238E27FC236}">
                <a16:creationId xmlns:a16="http://schemas.microsoft.com/office/drawing/2014/main" id="{77DE1632-E471-1FF4-6D35-54094C1C6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6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4" name="Rectangle 93">
            <a:extLst>
              <a:ext uri="{FF2B5EF4-FFF2-40B4-BE49-F238E27FC236}">
                <a16:creationId xmlns:a16="http://schemas.microsoft.com/office/drawing/2014/main" id="{917BC93A-82EE-1700-EF4B-C4CFEDA57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1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5" name="Rectangle 94">
            <a:extLst>
              <a:ext uri="{FF2B5EF4-FFF2-40B4-BE49-F238E27FC236}">
                <a16:creationId xmlns:a16="http://schemas.microsoft.com/office/drawing/2014/main" id="{DA8C5754-3BE7-9BDE-6CE8-66B5F9E32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74" y="5625648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6" name="Rectangle 95">
            <a:extLst>
              <a:ext uri="{FF2B5EF4-FFF2-40B4-BE49-F238E27FC236}">
                <a16:creationId xmlns:a16="http://schemas.microsoft.com/office/drawing/2014/main" id="{1982D171-24D7-45AB-74F5-AD4E77D90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824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7" name="Rectangle 96">
            <a:extLst>
              <a:ext uri="{FF2B5EF4-FFF2-40B4-BE49-F238E27FC236}">
                <a16:creationId xmlns:a16="http://schemas.microsoft.com/office/drawing/2014/main" id="{28BE7D24-1D1D-D499-F7EA-78A6BE4F9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7599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8" name="Rectangle 97">
            <a:extLst>
              <a:ext uri="{FF2B5EF4-FFF2-40B4-BE49-F238E27FC236}">
                <a16:creationId xmlns:a16="http://schemas.microsoft.com/office/drawing/2014/main" id="{747BFE88-6F38-B8CF-9667-CC43401BA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5261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09" name="Rectangle 98">
            <a:extLst>
              <a:ext uri="{FF2B5EF4-FFF2-40B4-BE49-F238E27FC236}">
                <a16:creationId xmlns:a16="http://schemas.microsoft.com/office/drawing/2014/main" id="{3A456711-DBE6-5CCF-ABB3-DBF364028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6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0" name="Rectangle 99">
            <a:extLst>
              <a:ext uri="{FF2B5EF4-FFF2-40B4-BE49-F238E27FC236}">
                <a16:creationId xmlns:a16="http://schemas.microsoft.com/office/drawing/2014/main" id="{61974D0B-51F4-493A-6C4A-485333614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6349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1" name="Rectangle 100">
            <a:extLst>
              <a:ext uri="{FF2B5EF4-FFF2-40B4-BE49-F238E27FC236}">
                <a16:creationId xmlns:a16="http://schemas.microsoft.com/office/drawing/2014/main" id="{7F9C29CF-22C5-6737-2B9D-5B2CAA96C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4399" y="5625648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2" name="Rectangle 101">
            <a:extLst>
              <a:ext uri="{FF2B5EF4-FFF2-40B4-BE49-F238E27FC236}">
                <a16:creationId xmlns:a16="http://schemas.microsoft.com/office/drawing/2014/main" id="{4B76C097-8AAA-C216-08EF-528FF9A64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24" y="5625648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3" name="Line 102">
            <a:extLst>
              <a:ext uri="{FF2B5EF4-FFF2-40B4-BE49-F238E27FC236}">
                <a16:creationId xmlns:a16="http://schemas.microsoft.com/office/drawing/2014/main" id="{4CBF580F-3CF2-B049-3AF3-5D588E64E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6982" y="2889362"/>
            <a:ext cx="1223963" cy="0"/>
          </a:xfrm>
          <a:prstGeom prst="line">
            <a:avLst/>
          </a:prstGeom>
          <a:noFill/>
          <a:ln w="38100">
            <a:solidFill>
              <a:srgbClr val="FF00FF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4" name="Text Box 104">
            <a:extLst>
              <a:ext uri="{FF2B5EF4-FFF2-40B4-BE49-F238E27FC236}">
                <a16:creationId xmlns:a16="http://schemas.microsoft.com/office/drawing/2014/main" id="{03513669-8DB1-27C9-A26A-AD9B9F1E2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791" y="2393526"/>
            <a:ext cx="433388" cy="36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altLang="zh-CN" sz="1600" dirty="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0   1    2    3    4   5    6    7   8    9</a:t>
            </a:r>
          </a:p>
        </p:txBody>
      </p:sp>
      <p:sp>
        <p:nvSpPr>
          <p:cNvPr id="115" name="Text Box 116">
            <a:extLst>
              <a:ext uri="{FF2B5EF4-FFF2-40B4-BE49-F238E27FC236}">
                <a16:creationId xmlns:a16="http://schemas.microsoft.com/office/drawing/2014/main" id="{45B069DD-2585-030E-BBD6-569E82C6F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1999" y="2544877"/>
            <a:ext cx="431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入口</a:t>
            </a:r>
          </a:p>
        </p:txBody>
      </p:sp>
      <p:sp>
        <p:nvSpPr>
          <p:cNvPr id="116" name="Line 117">
            <a:extLst>
              <a:ext uri="{FF2B5EF4-FFF2-40B4-BE49-F238E27FC236}">
                <a16:creationId xmlns:a16="http://schemas.microsoft.com/office/drawing/2014/main" id="{859F9449-6D72-4A72-1FD2-6BE868A3C4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434623" y="5435730"/>
            <a:ext cx="1008063" cy="0"/>
          </a:xfrm>
          <a:prstGeom prst="line">
            <a:avLst/>
          </a:prstGeom>
          <a:noFill/>
          <a:ln w="38100">
            <a:solidFill>
              <a:srgbClr val="FF00FF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7" name="Text Box 118">
            <a:extLst>
              <a:ext uri="{FF2B5EF4-FFF2-40B4-BE49-F238E27FC236}">
                <a16:creationId xmlns:a16="http://schemas.microsoft.com/office/drawing/2014/main" id="{75018716-1545-669E-BC90-AAC982535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6638" y="5078540"/>
            <a:ext cx="5032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出口</a:t>
            </a:r>
          </a:p>
        </p:txBody>
      </p:sp>
      <p:grpSp>
        <p:nvGrpSpPr>
          <p:cNvPr id="118" name="组合 122">
            <a:extLst>
              <a:ext uri="{FF2B5EF4-FFF2-40B4-BE49-F238E27FC236}">
                <a16:creationId xmlns:a16="http://schemas.microsoft.com/office/drawing/2014/main" id="{DAEF25BB-D827-10F7-692C-CACDBB086DDD}"/>
              </a:ext>
            </a:extLst>
          </p:cNvPr>
          <p:cNvGrpSpPr/>
          <p:nvPr/>
        </p:nvGrpSpPr>
        <p:grpSpPr>
          <a:xfrm>
            <a:off x="9194770" y="5435730"/>
            <a:ext cx="2143140" cy="1226588"/>
            <a:chOff x="3929058" y="4857760"/>
            <a:chExt cx="2143140" cy="1226588"/>
          </a:xfrm>
        </p:grpSpPr>
        <p:sp>
          <p:nvSpPr>
            <p:cNvPr id="119" name="TextBox 119">
              <a:extLst>
                <a:ext uri="{FF2B5EF4-FFF2-40B4-BE49-F238E27FC236}">
                  <a16:creationId xmlns:a16="http://schemas.microsoft.com/office/drawing/2014/main" id="{F81BFAD5-746D-D33F-79F1-778E04A8A366}"/>
                </a:ext>
              </a:extLst>
            </p:cNvPr>
            <p:cNvSpPr txBox="1"/>
            <p:nvPr/>
          </p:nvSpPr>
          <p:spPr>
            <a:xfrm>
              <a:off x="3929058" y="5715016"/>
              <a:ext cx="2143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>
                  <a:solidFill>
                    <a:srgbClr val="0000FF"/>
                  </a:solidFill>
                  <a:latin typeface="仿宋" pitchFamily="49" charset="-122"/>
                  <a:ea typeface="仿宋" pitchFamily="49" charset="-122"/>
                  <a:cs typeface="Consolas" pitchFamily="49" charset="0"/>
                </a:rPr>
                <a:t>一条迷宫路径</a:t>
              </a: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F417BA38-3637-62BC-C105-DC2EB6E9EC7A}"/>
                </a:ext>
              </a:extLst>
            </p:cNvPr>
            <p:cNvCxnSpPr>
              <a:stCxn id="119" idx="0"/>
            </p:cNvCxnSpPr>
            <p:nvPr/>
          </p:nvCxnSpPr>
          <p:spPr>
            <a:xfrm rot="5400000" flipH="1" flipV="1">
              <a:off x="4607719" y="5250669"/>
              <a:ext cx="857256" cy="71438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任意多边形 120">
            <a:extLst>
              <a:ext uri="{FF2B5EF4-FFF2-40B4-BE49-F238E27FC236}">
                <a16:creationId xmlns:a16="http://schemas.microsoft.com/office/drawing/2014/main" id="{75C1991D-43B1-B89B-C3DA-FE572EA13B14}"/>
              </a:ext>
            </a:extLst>
          </p:cNvPr>
          <p:cNvSpPr/>
          <p:nvPr/>
        </p:nvSpPr>
        <p:spPr>
          <a:xfrm>
            <a:off x="7671299" y="2816875"/>
            <a:ext cx="2861733" cy="2633133"/>
          </a:xfrm>
          <a:custGeom>
            <a:avLst/>
            <a:gdLst>
              <a:gd name="connsiteX0" fmla="*/ 207433 w 2861733"/>
              <a:gd name="connsiteY0" fmla="*/ 118533 h 2633133"/>
              <a:gd name="connsiteX1" fmla="*/ 474133 w 2861733"/>
              <a:gd name="connsiteY1" fmla="*/ 118533 h 2633133"/>
              <a:gd name="connsiteX2" fmla="*/ 537633 w 2861733"/>
              <a:gd name="connsiteY2" fmla="*/ 829733 h 2633133"/>
              <a:gd name="connsiteX3" fmla="*/ 118533 w 2861733"/>
              <a:gd name="connsiteY3" fmla="*/ 829733 h 2633133"/>
              <a:gd name="connsiteX4" fmla="*/ 131233 w 2861733"/>
              <a:gd name="connsiteY4" fmla="*/ 1540933 h 2633133"/>
              <a:gd name="connsiteX5" fmla="*/ 905933 w 2861733"/>
              <a:gd name="connsiteY5" fmla="*/ 1579033 h 2633133"/>
              <a:gd name="connsiteX6" fmla="*/ 931333 w 2861733"/>
              <a:gd name="connsiteY6" fmla="*/ 1960033 h 2633133"/>
              <a:gd name="connsiteX7" fmla="*/ 1566333 w 2861733"/>
              <a:gd name="connsiteY7" fmla="*/ 1947333 h 2633133"/>
              <a:gd name="connsiteX8" fmla="*/ 1604433 w 2861733"/>
              <a:gd name="connsiteY8" fmla="*/ 1223433 h 2633133"/>
              <a:gd name="connsiteX9" fmla="*/ 2683933 w 2861733"/>
              <a:gd name="connsiteY9" fmla="*/ 1185333 h 2633133"/>
              <a:gd name="connsiteX10" fmla="*/ 2671233 w 2861733"/>
              <a:gd name="connsiteY10" fmla="*/ 2633133 h 263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61733" h="2633133">
                <a:moveTo>
                  <a:pt x="207433" y="118533"/>
                </a:moveTo>
                <a:cubicBezTo>
                  <a:pt x="313266" y="59266"/>
                  <a:pt x="419100" y="0"/>
                  <a:pt x="474133" y="118533"/>
                </a:cubicBezTo>
                <a:cubicBezTo>
                  <a:pt x="529166" y="237066"/>
                  <a:pt x="596900" y="711200"/>
                  <a:pt x="537633" y="829733"/>
                </a:cubicBezTo>
                <a:cubicBezTo>
                  <a:pt x="478366" y="948266"/>
                  <a:pt x="186266" y="711200"/>
                  <a:pt x="118533" y="829733"/>
                </a:cubicBezTo>
                <a:cubicBezTo>
                  <a:pt x="50800" y="948266"/>
                  <a:pt x="0" y="1416050"/>
                  <a:pt x="131233" y="1540933"/>
                </a:cubicBezTo>
                <a:cubicBezTo>
                  <a:pt x="262466" y="1665816"/>
                  <a:pt x="772583" y="1509183"/>
                  <a:pt x="905933" y="1579033"/>
                </a:cubicBezTo>
                <a:cubicBezTo>
                  <a:pt x="1039283" y="1648883"/>
                  <a:pt x="821266" y="1898650"/>
                  <a:pt x="931333" y="1960033"/>
                </a:cubicBezTo>
                <a:cubicBezTo>
                  <a:pt x="1041400" y="2021416"/>
                  <a:pt x="1454150" y="2070100"/>
                  <a:pt x="1566333" y="1947333"/>
                </a:cubicBezTo>
                <a:cubicBezTo>
                  <a:pt x="1678516" y="1824566"/>
                  <a:pt x="1418166" y="1350433"/>
                  <a:pt x="1604433" y="1223433"/>
                </a:cubicBezTo>
                <a:cubicBezTo>
                  <a:pt x="1790700" y="1096433"/>
                  <a:pt x="2506133" y="950383"/>
                  <a:pt x="2683933" y="1185333"/>
                </a:cubicBezTo>
                <a:cubicBezTo>
                  <a:pt x="2861733" y="1420283"/>
                  <a:pt x="2766483" y="2026708"/>
                  <a:pt x="2671233" y="2633133"/>
                </a:cubicBezTo>
              </a:path>
            </a:pathLst>
          </a:custGeom>
          <a:ln w="28575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2" name="Text Box 103">
            <a:extLst>
              <a:ext uri="{FF2B5EF4-FFF2-40B4-BE49-F238E27FC236}">
                <a16:creationId xmlns:a16="http://schemas.microsoft.com/office/drawing/2014/main" id="{F8D8B6DC-CE22-4ABE-2ABC-8FB784459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0720" y="1935268"/>
            <a:ext cx="3714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0  1  2 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3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 </a:t>
            </a: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4  5 </a:t>
            </a:r>
            <a:r>
              <a:rPr lang="en-US" altLang="zh-CN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 </a:t>
            </a: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6  7  8  9</a:t>
            </a:r>
            <a:endParaRPr lang="en-US" altLang="zh-CN" sz="1600" dirty="0">
              <a:solidFill>
                <a:srgbClr val="00B0F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6F53D6-FCC1-27EB-A3A8-283A9C0746DC}"/>
              </a:ext>
            </a:extLst>
          </p:cNvPr>
          <p:cNvSpPr txBox="1"/>
          <p:nvPr/>
        </p:nvSpPr>
        <p:spPr>
          <a:xfrm>
            <a:off x="1635215" y="1795746"/>
            <a:ext cx="4355923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行走规则：上、下、左、右相邻方块行走。其中（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j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）表示一个方块</a:t>
            </a:r>
          </a:p>
        </p:txBody>
      </p:sp>
      <p:sp>
        <p:nvSpPr>
          <p:cNvPr id="6" name="Text Box 110">
            <a:extLst>
              <a:ext uri="{FF2B5EF4-FFF2-40B4-BE49-F238E27FC236}">
                <a16:creationId xmlns:a16="http://schemas.microsoft.com/office/drawing/2014/main" id="{F4F157EF-2411-5099-CD76-91643B327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2" y="2924944"/>
            <a:ext cx="8572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</a:p>
        </p:txBody>
      </p:sp>
      <p:sp>
        <p:nvSpPr>
          <p:cNvPr id="7" name="Text Box 111">
            <a:extLst>
              <a:ext uri="{FF2B5EF4-FFF2-40B4-BE49-F238E27FC236}">
                <a16:creationId xmlns:a16="http://schemas.microsoft.com/office/drawing/2014/main" id="{611DE724-19A1-70B4-78ED-5AC25E768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266" y="6270562"/>
            <a:ext cx="9286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</a:p>
        </p:txBody>
      </p:sp>
      <p:sp>
        <p:nvSpPr>
          <p:cNvPr id="9" name="Text Box 112">
            <a:extLst>
              <a:ext uri="{FF2B5EF4-FFF2-40B4-BE49-F238E27FC236}">
                <a16:creationId xmlns:a16="http://schemas.microsoft.com/office/drawing/2014/main" id="{63F18716-38E0-7C13-7E64-E5C04DF47C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836" y="4603520"/>
            <a:ext cx="8572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</a:p>
        </p:txBody>
      </p:sp>
      <p:sp>
        <p:nvSpPr>
          <p:cNvPr id="123" name="Text Box 113">
            <a:extLst>
              <a:ext uri="{FF2B5EF4-FFF2-40B4-BE49-F238E27FC236}">
                <a16:creationId xmlns:a16="http://schemas.microsoft.com/office/drawing/2014/main" id="{014937B2-55F7-9706-A87D-E57F55CC2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300" y="4603520"/>
            <a:ext cx="9286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</a:p>
        </p:txBody>
      </p:sp>
      <p:sp>
        <p:nvSpPr>
          <p:cNvPr id="124" name="Rectangle 36">
            <a:extLst>
              <a:ext uri="{FF2B5EF4-FFF2-40B4-BE49-F238E27FC236}">
                <a16:creationId xmlns:a16="http://schemas.microsoft.com/office/drawing/2014/main" id="{A2C093FA-33CE-8595-FABC-89A3FED7E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6506" y="4527310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6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41FBC703-3FC9-D0C2-9A06-9DAB4B245A0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486871" y="3942348"/>
            <a:ext cx="0" cy="584963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00922F78-32CE-446A-0F81-A7BAA40E651D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864709" y="4770199"/>
            <a:ext cx="939800" cy="7937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6925E808-E07F-35C5-7B61-80049D53FB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488459" y="5074998"/>
            <a:ext cx="0" cy="595542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2E0A9396-45C5-7AAF-B56F-E88060109EDC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2190752" y="4770199"/>
            <a:ext cx="915988" cy="7937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9" name="Rectangle 36">
            <a:extLst>
              <a:ext uri="{FF2B5EF4-FFF2-40B4-BE49-F238E27FC236}">
                <a16:creationId xmlns:a16="http://schemas.microsoft.com/office/drawing/2014/main" id="{9F416C59-E1EC-D7F9-92F5-218B64A56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6740" y="3402348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-1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6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0" name="Rectangle 36">
            <a:extLst>
              <a:ext uri="{FF2B5EF4-FFF2-40B4-BE49-F238E27FC236}">
                <a16:creationId xmlns:a16="http://schemas.microsoft.com/office/drawing/2014/main" id="{502D34F7-81BE-5646-C2CB-1D148F099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968" y="4517785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+1</a:t>
            </a:r>
            <a:endParaRPr lang="en-US" altLang="zh-CN" sz="1600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1" name="Rectangle 36">
            <a:extLst>
              <a:ext uri="{FF2B5EF4-FFF2-40B4-BE49-F238E27FC236}">
                <a16:creationId xmlns:a16="http://schemas.microsoft.com/office/drawing/2014/main" id="{ECC6D0CA-5FC6-BB24-E1A1-26F199CC3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812" y="4527310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j-</a:t>
            </a:r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endParaRPr lang="en-US" altLang="zh-CN" sz="1600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32" name="Rectangle 36">
            <a:extLst>
              <a:ext uri="{FF2B5EF4-FFF2-40B4-BE49-F238E27FC236}">
                <a16:creationId xmlns:a16="http://schemas.microsoft.com/office/drawing/2014/main" id="{D5F5890C-A806-EA83-C862-C630A039A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3704" y="5670540"/>
            <a:ext cx="756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+1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600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4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99C1-2F3A-04B1-7CD6-99E004BE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FE35D9-EA99-9714-15DD-FA609502404F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1982DB-970F-41DA-C6D8-8B5D5CDD8322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45BE767-8C64-25FD-A6F5-CD61EC5D637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CE4201C-8D63-4816-B161-87F1C41C5448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080D4D3F-D0EF-A1C7-2378-694E85CB114E}"/>
              </a:ext>
            </a:extLst>
          </p:cNvPr>
          <p:cNvSpPr txBox="1"/>
          <p:nvPr/>
        </p:nvSpPr>
        <p:spPr>
          <a:xfrm>
            <a:off x="1631504" y="1902755"/>
            <a:ext cx="10080549" cy="827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000"/>
              </a:lnSpc>
              <a:spcBef>
                <a:spcPts val="6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数据组织：设置一个迷宫二维数组</a:t>
            </a:r>
            <a:r>
              <a:rPr 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mg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，其中每个元素表示一个方块的状态，为</a:t>
            </a:r>
            <a:r>
              <a:rPr 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时表示对应方块是通道，为</a:t>
            </a:r>
            <a:r>
              <a:rPr 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时表示对应方块不可走。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     </a:t>
            </a:r>
            <a:endParaRPr lang="zh-CN" altLang="en-US" sz="20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5B53E769-81E2-3D60-C948-1433DE4894C6}"/>
              </a:ext>
            </a:extLst>
          </p:cNvPr>
          <p:cNvSpPr txBox="1"/>
          <p:nvPr/>
        </p:nvSpPr>
        <p:spPr>
          <a:xfrm>
            <a:off x="6279727" y="2913949"/>
            <a:ext cx="371477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 mg[</a:t>
            </a:r>
            <a:r>
              <a:rPr lang="en-US" sz="1600" i="1" dirty="0" err="1">
                <a:latin typeface="Consolas" pitchFamily="49" charset="0"/>
                <a:cs typeface="Consolas" pitchFamily="49" charset="0"/>
              </a:rPr>
              <a:t>M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+2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][</a:t>
            </a:r>
            <a:r>
              <a:rPr lang="en-US" sz="1600" i="1" dirty="0" err="1">
                <a:latin typeface="Consolas" pitchFamily="49" charset="0"/>
                <a:cs typeface="Consolas" pitchFamily="49" charset="0"/>
              </a:rPr>
              <a:t>N</a:t>
            </a:r>
            <a:r>
              <a:rPr lang="en-US" sz="1600" dirty="0" err="1">
                <a:latin typeface="Consolas" pitchFamily="49" charset="0"/>
                <a:cs typeface="Consolas" pitchFamily="49" charset="0"/>
              </a:rPr>
              <a:t>+2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]=</a:t>
            </a:r>
            <a:endParaRPr lang="zh-CN" alt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1,1,1,1,1,1,1,1,1,1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0,0,1,0,0,0,1,0,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zh-CN" alt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0,0,1,0,0,0,1,0,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0,0,0,0,1,1,0,0,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zh-CN" alt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0,1,1,1,0,0,0,0,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0,0,0,1,0,0,0,0,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zh-CN" alt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0,1,0,0,0,1,0,0,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0,1,1,1,0,1,1,0,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zh-CN" alt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1,0,0,0,0,0,0,0,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},</a:t>
            </a:r>
            <a:endParaRPr lang="en-US" sz="1600" dirty="0">
              <a:latin typeface="Consolas" pitchFamily="49" charset="0"/>
              <a:cs typeface="Consolas" pitchFamily="49" charset="0"/>
            </a:endParaRP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600">
                <a:latin typeface="Consolas" pitchFamily="49" charset="0"/>
                <a:cs typeface="Consolas" pitchFamily="49" charset="0"/>
              </a:rPr>
              <a:t>{</a:t>
            </a:r>
            <a:r>
              <a:rPr lang="en-US" sz="16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1,1,1,1,1,1,1,1,1,1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algn="l"/>
            <a:r>
              <a:rPr lang="en-US" sz="1600" dirty="0">
                <a:latin typeface="Consolas" pitchFamily="49" charset="0"/>
                <a:cs typeface="Consolas" pitchFamily="49" charset="0"/>
              </a:rPr>
              <a:t>};</a:t>
            </a:r>
            <a:endParaRPr lang="zh-CN" altLang="en-US" sz="1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3" name="Rectangle 2">
            <a:extLst>
              <a:ext uri="{FF2B5EF4-FFF2-40B4-BE49-F238E27FC236}">
                <a16:creationId xmlns:a16="http://schemas.microsoft.com/office/drawing/2014/main" id="{5369F689-AAE7-5579-883F-214D225D8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30911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34" name="Rectangle 3">
            <a:extLst>
              <a:ext uri="{FF2B5EF4-FFF2-40B4-BE49-F238E27FC236}">
                <a16:creationId xmlns:a16="http://schemas.microsoft.com/office/drawing/2014/main" id="{2EEC892F-9127-E784-4068-37A741221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30911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35" name="Rectangle 4">
            <a:extLst>
              <a:ext uri="{FF2B5EF4-FFF2-40B4-BE49-F238E27FC236}">
                <a16:creationId xmlns:a16="http://schemas.microsoft.com/office/drawing/2014/main" id="{0EE83ECD-A99F-1A27-8FEF-C9DAEDDDA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3091189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36" name="Rectangle 5">
            <a:extLst>
              <a:ext uri="{FF2B5EF4-FFF2-40B4-BE49-F238E27FC236}">
                <a16:creationId xmlns:a16="http://schemas.microsoft.com/office/drawing/2014/main" id="{353C54AC-8CF3-3BD9-3B1B-24806D9AB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30911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37" name="Rectangle 6">
            <a:extLst>
              <a:ext uri="{FF2B5EF4-FFF2-40B4-BE49-F238E27FC236}">
                <a16:creationId xmlns:a16="http://schemas.microsoft.com/office/drawing/2014/main" id="{309A396A-3550-1E21-ADD0-90159AFC6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30911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38" name="Rectangle 7">
            <a:extLst>
              <a:ext uri="{FF2B5EF4-FFF2-40B4-BE49-F238E27FC236}">
                <a16:creationId xmlns:a16="http://schemas.microsoft.com/office/drawing/2014/main" id="{A86CFF03-26DA-07F5-7DD6-774128F4A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30911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39" name="Rectangle 8">
            <a:extLst>
              <a:ext uri="{FF2B5EF4-FFF2-40B4-BE49-F238E27FC236}">
                <a16:creationId xmlns:a16="http://schemas.microsoft.com/office/drawing/2014/main" id="{ECF745A6-3ED4-DB95-0D91-22D222391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30911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0" name="Rectangle 9">
            <a:extLst>
              <a:ext uri="{FF2B5EF4-FFF2-40B4-BE49-F238E27FC236}">
                <a16:creationId xmlns:a16="http://schemas.microsoft.com/office/drawing/2014/main" id="{775E0526-5B25-160E-A0C5-33697C880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30911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1" name="Rectangle 10">
            <a:extLst>
              <a:ext uri="{FF2B5EF4-FFF2-40B4-BE49-F238E27FC236}">
                <a16:creationId xmlns:a16="http://schemas.microsoft.com/office/drawing/2014/main" id="{F92F6ADF-F733-DD19-DDF1-19F0F9CCE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3091189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2" name="Rectangle 11">
            <a:extLst>
              <a:ext uri="{FF2B5EF4-FFF2-40B4-BE49-F238E27FC236}">
                <a16:creationId xmlns:a16="http://schemas.microsoft.com/office/drawing/2014/main" id="{B51CA4E3-5876-34E1-75B0-64FE34B6C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30911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3" name="Rectangle 12">
            <a:extLst>
              <a:ext uri="{FF2B5EF4-FFF2-40B4-BE49-F238E27FC236}">
                <a16:creationId xmlns:a16="http://schemas.microsoft.com/office/drawing/2014/main" id="{FE07629B-DAC9-6297-6297-0479C3ED4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344996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4" name="Rectangle 13">
            <a:extLst>
              <a:ext uri="{FF2B5EF4-FFF2-40B4-BE49-F238E27FC236}">
                <a16:creationId xmlns:a16="http://schemas.microsoft.com/office/drawing/2014/main" id="{E67D592B-19BA-11F2-FFE5-3EA73E163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344996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5" name="Rectangle 14">
            <a:extLst>
              <a:ext uri="{FF2B5EF4-FFF2-40B4-BE49-F238E27FC236}">
                <a16:creationId xmlns:a16="http://schemas.microsoft.com/office/drawing/2014/main" id="{A1459673-448B-04DE-5259-3077ADC38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3449964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6" name="Rectangle 15">
            <a:extLst>
              <a:ext uri="{FF2B5EF4-FFF2-40B4-BE49-F238E27FC236}">
                <a16:creationId xmlns:a16="http://schemas.microsoft.com/office/drawing/2014/main" id="{E8EDC83C-842E-B9A1-A982-D51ECA457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344996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7" name="Rectangle 16">
            <a:extLst>
              <a:ext uri="{FF2B5EF4-FFF2-40B4-BE49-F238E27FC236}">
                <a16:creationId xmlns:a16="http://schemas.microsoft.com/office/drawing/2014/main" id="{05201F4A-BAB2-F0D2-DC05-7E234ED1D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344996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8" name="Rectangle 17">
            <a:extLst>
              <a:ext uri="{FF2B5EF4-FFF2-40B4-BE49-F238E27FC236}">
                <a16:creationId xmlns:a16="http://schemas.microsoft.com/office/drawing/2014/main" id="{1EF5E022-332E-6695-96AF-43DCF478C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344996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49" name="Rectangle 18">
            <a:extLst>
              <a:ext uri="{FF2B5EF4-FFF2-40B4-BE49-F238E27FC236}">
                <a16:creationId xmlns:a16="http://schemas.microsoft.com/office/drawing/2014/main" id="{879B5CF5-E9E2-0248-D2F9-A008C90AE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344996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0" name="Rectangle 19">
            <a:extLst>
              <a:ext uri="{FF2B5EF4-FFF2-40B4-BE49-F238E27FC236}">
                <a16:creationId xmlns:a16="http://schemas.microsoft.com/office/drawing/2014/main" id="{914B8C0D-139B-7231-0678-33CBE7CB9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344996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1" name="Rectangle 20">
            <a:extLst>
              <a:ext uri="{FF2B5EF4-FFF2-40B4-BE49-F238E27FC236}">
                <a16:creationId xmlns:a16="http://schemas.microsoft.com/office/drawing/2014/main" id="{C2AB0D60-9403-5332-8B40-94B6C8519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3449964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2" name="Rectangle 21">
            <a:extLst>
              <a:ext uri="{FF2B5EF4-FFF2-40B4-BE49-F238E27FC236}">
                <a16:creationId xmlns:a16="http://schemas.microsoft.com/office/drawing/2014/main" id="{57D21759-7F4A-64C7-8EFE-D521966A1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344996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3" name="Rectangle 22">
            <a:extLst>
              <a:ext uri="{FF2B5EF4-FFF2-40B4-BE49-F238E27FC236}">
                <a16:creationId xmlns:a16="http://schemas.microsoft.com/office/drawing/2014/main" id="{53DA948F-C529-D480-5C1E-23B6F07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381032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4" name="Rectangle 23">
            <a:extLst>
              <a:ext uri="{FF2B5EF4-FFF2-40B4-BE49-F238E27FC236}">
                <a16:creationId xmlns:a16="http://schemas.microsoft.com/office/drawing/2014/main" id="{2030B805-CB83-BA39-600F-13D024E5C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381032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5" name="Rectangle 24">
            <a:extLst>
              <a:ext uri="{FF2B5EF4-FFF2-40B4-BE49-F238E27FC236}">
                <a16:creationId xmlns:a16="http://schemas.microsoft.com/office/drawing/2014/main" id="{97B2FD20-AF6B-0D65-3154-E618AC229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3810327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6" name="Rectangle 25">
            <a:extLst>
              <a:ext uri="{FF2B5EF4-FFF2-40B4-BE49-F238E27FC236}">
                <a16:creationId xmlns:a16="http://schemas.microsoft.com/office/drawing/2014/main" id="{444C7902-A6E0-0DFE-F163-F8EAF3E5E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381032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7" name="Rectangle 26">
            <a:extLst>
              <a:ext uri="{FF2B5EF4-FFF2-40B4-BE49-F238E27FC236}">
                <a16:creationId xmlns:a16="http://schemas.microsoft.com/office/drawing/2014/main" id="{77FA0E76-03B6-173C-9309-ED754A7C8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381032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8" name="Rectangle 27">
            <a:extLst>
              <a:ext uri="{FF2B5EF4-FFF2-40B4-BE49-F238E27FC236}">
                <a16:creationId xmlns:a16="http://schemas.microsoft.com/office/drawing/2014/main" id="{8916106C-3BF2-5226-E1ED-D94D40EEA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381032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59" name="Rectangle 28">
            <a:extLst>
              <a:ext uri="{FF2B5EF4-FFF2-40B4-BE49-F238E27FC236}">
                <a16:creationId xmlns:a16="http://schemas.microsoft.com/office/drawing/2014/main" id="{DD7CAAA5-F8FA-378F-D04A-BE626917D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381032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0" name="Rectangle 29">
            <a:extLst>
              <a:ext uri="{FF2B5EF4-FFF2-40B4-BE49-F238E27FC236}">
                <a16:creationId xmlns:a16="http://schemas.microsoft.com/office/drawing/2014/main" id="{AA455130-C4AA-83AF-FAAF-25E9E4780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381032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1" name="Rectangle 30">
            <a:extLst>
              <a:ext uri="{FF2B5EF4-FFF2-40B4-BE49-F238E27FC236}">
                <a16:creationId xmlns:a16="http://schemas.microsoft.com/office/drawing/2014/main" id="{C8950A7E-F68A-881A-1ABD-0E4404F706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3810327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2" name="Rectangle 31">
            <a:extLst>
              <a:ext uri="{FF2B5EF4-FFF2-40B4-BE49-F238E27FC236}">
                <a16:creationId xmlns:a16="http://schemas.microsoft.com/office/drawing/2014/main" id="{BA47B9DA-1494-6EFA-243A-22679080B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381032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3" name="Rectangle 32">
            <a:extLst>
              <a:ext uri="{FF2B5EF4-FFF2-40B4-BE49-F238E27FC236}">
                <a16:creationId xmlns:a16="http://schemas.microsoft.com/office/drawing/2014/main" id="{9D27592A-12C6-AC51-9567-E52665164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41706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4" name="Rectangle 33">
            <a:extLst>
              <a:ext uri="{FF2B5EF4-FFF2-40B4-BE49-F238E27FC236}">
                <a16:creationId xmlns:a16="http://schemas.microsoft.com/office/drawing/2014/main" id="{25B6AA8D-0FA1-6663-49BB-973792B83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41706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5" name="Rectangle 34">
            <a:extLst>
              <a:ext uri="{FF2B5EF4-FFF2-40B4-BE49-F238E27FC236}">
                <a16:creationId xmlns:a16="http://schemas.microsoft.com/office/drawing/2014/main" id="{4E809870-4310-4D58-2DAA-30506E90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4170689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6" name="Rectangle 35">
            <a:extLst>
              <a:ext uri="{FF2B5EF4-FFF2-40B4-BE49-F238E27FC236}">
                <a16:creationId xmlns:a16="http://schemas.microsoft.com/office/drawing/2014/main" id="{03663430-C1EE-03E9-5566-27917D463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41706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7" name="Rectangle 36">
            <a:extLst>
              <a:ext uri="{FF2B5EF4-FFF2-40B4-BE49-F238E27FC236}">
                <a16:creationId xmlns:a16="http://schemas.microsoft.com/office/drawing/2014/main" id="{400CCAFF-9CBB-BC80-AA6B-FE6EB8FD3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41706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8" name="Rectangle 37">
            <a:extLst>
              <a:ext uri="{FF2B5EF4-FFF2-40B4-BE49-F238E27FC236}">
                <a16:creationId xmlns:a16="http://schemas.microsoft.com/office/drawing/2014/main" id="{630E3136-5AAF-3EAD-44B1-9021E9657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41706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69" name="Rectangle 38">
            <a:extLst>
              <a:ext uri="{FF2B5EF4-FFF2-40B4-BE49-F238E27FC236}">
                <a16:creationId xmlns:a16="http://schemas.microsoft.com/office/drawing/2014/main" id="{EF0D48B4-7B99-6F60-1721-21449F0B8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41706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0" name="Rectangle 39">
            <a:extLst>
              <a:ext uri="{FF2B5EF4-FFF2-40B4-BE49-F238E27FC236}">
                <a16:creationId xmlns:a16="http://schemas.microsoft.com/office/drawing/2014/main" id="{A97D20D7-D467-CC45-D203-3F61B9A74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4170689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1" name="Rectangle 40">
            <a:extLst>
              <a:ext uri="{FF2B5EF4-FFF2-40B4-BE49-F238E27FC236}">
                <a16:creationId xmlns:a16="http://schemas.microsoft.com/office/drawing/2014/main" id="{31C441E2-CBE7-CC8E-9BA1-A2F610051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4170689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2" name="Rectangle 41">
            <a:extLst>
              <a:ext uri="{FF2B5EF4-FFF2-40B4-BE49-F238E27FC236}">
                <a16:creationId xmlns:a16="http://schemas.microsoft.com/office/drawing/2014/main" id="{0EAF2F8D-FBBC-8D8C-35D2-1070C5BA0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4170689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3" name="Rectangle 42">
            <a:extLst>
              <a:ext uri="{FF2B5EF4-FFF2-40B4-BE49-F238E27FC236}">
                <a16:creationId xmlns:a16="http://schemas.microsoft.com/office/drawing/2014/main" id="{52389B1F-00B3-9503-466C-FA332B241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45183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4" name="Rectangle 43">
            <a:extLst>
              <a:ext uri="{FF2B5EF4-FFF2-40B4-BE49-F238E27FC236}">
                <a16:creationId xmlns:a16="http://schemas.microsoft.com/office/drawing/2014/main" id="{ADD85DC6-01E9-F71D-64EB-77A83146B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4523686"/>
            <a:ext cx="358775" cy="391542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5" name="Rectangle 44">
            <a:extLst>
              <a:ext uri="{FF2B5EF4-FFF2-40B4-BE49-F238E27FC236}">
                <a16:creationId xmlns:a16="http://schemas.microsoft.com/office/drawing/2014/main" id="{75D37445-8433-FE35-7D44-48B423947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4518352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6" name="Rectangle 45">
            <a:extLst>
              <a:ext uri="{FF2B5EF4-FFF2-40B4-BE49-F238E27FC236}">
                <a16:creationId xmlns:a16="http://schemas.microsoft.com/office/drawing/2014/main" id="{053101B3-212D-0878-E5B0-7BCCFE0B3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45183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7" name="Rectangle 46">
            <a:extLst>
              <a:ext uri="{FF2B5EF4-FFF2-40B4-BE49-F238E27FC236}">
                <a16:creationId xmlns:a16="http://schemas.microsoft.com/office/drawing/2014/main" id="{9B866ACD-BF78-D357-8245-072B81459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45183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8" name="Rectangle 47">
            <a:extLst>
              <a:ext uri="{FF2B5EF4-FFF2-40B4-BE49-F238E27FC236}">
                <a16:creationId xmlns:a16="http://schemas.microsoft.com/office/drawing/2014/main" id="{A9F83018-7736-FFB9-CB95-F6A00EF17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451835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79" name="Rectangle 48">
            <a:extLst>
              <a:ext uri="{FF2B5EF4-FFF2-40B4-BE49-F238E27FC236}">
                <a16:creationId xmlns:a16="http://schemas.microsoft.com/office/drawing/2014/main" id="{FD0B3E9D-CB48-2929-BE94-E15C83BB4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451835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0" name="Rectangle 49">
            <a:extLst>
              <a:ext uri="{FF2B5EF4-FFF2-40B4-BE49-F238E27FC236}">
                <a16:creationId xmlns:a16="http://schemas.microsoft.com/office/drawing/2014/main" id="{9B850EAF-6A33-79B6-B127-CAD6D936C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451835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1" name="Rectangle 50">
            <a:extLst>
              <a:ext uri="{FF2B5EF4-FFF2-40B4-BE49-F238E27FC236}">
                <a16:creationId xmlns:a16="http://schemas.microsoft.com/office/drawing/2014/main" id="{3A75E4D1-7E7E-2BF4-7C0C-8E5429A1B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4518352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2" name="Rectangle 51">
            <a:extLst>
              <a:ext uri="{FF2B5EF4-FFF2-40B4-BE49-F238E27FC236}">
                <a16:creationId xmlns:a16="http://schemas.microsoft.com/office/drawing/2014/main" id="{C7A5E18B-B5C3-E6EE-029A-973C961A4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45183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3" name="Rectangle 52">
            <a:extLst>
              <a:ext uri="{FF2B5EF4-FFF2-40B4-BE49-F238E27FC236}">
                <a16:creationId xmlns:a16="http://schemas.microsoft.com/office/drawing/2014/main" id="{DDBD9C47-A0AE-25CD-F031-355C95065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487871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4" name="Rectangle 53">
            <a:extLst>
              <a:ext uri="{FF2B5EF4-FFF2-40B4-BE49-F238E27FC236}">
                <a16:creationId xmlns:a16="http://schemas.microsoft.com/office/drawing/2014/main" id="{1C66A026-2AB3-3945-6605-D89BA233E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48787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5" name="Rectangle 54">
            <a:extLst>
              <a:ext uri="{FF2B5EF4-FFF2-40B4-BE49-F238E27FC236}">
                <a16:creationId xmlns:a16="http://schemas.microsoft.com/office/drawing/2014/main" id="{5235BA61-27B2-D2F8-C45A-F9F2673E2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4878714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6" name="Rectangle 55">
            <a:extLst>
              <a:ext uri="{FF2B5EF4-FFF2-40B4-BE49-F238E27FC236}">
                <a16:creationId xmlns:a16="http://schemas.microsoft.com/office/drawing/2014/main" id="{27F027C9-5851-6117-B83E-55B90A120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48787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7" name="Rectangle 56">
            <a:extLst>
              <a:ext uri="{FF2B5EF4-FFF2-40B4-BE49-F238E27FC236}">
                <a16:creationId xmlns:a16="http://schemas.microsoft.com/office/drawing/2014/main" id="{F909FDC5-6506-62E2-2A2B-32E4F0CA2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487871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8" name="Rectangle 57">
            <a:extLst>
              <a:ext uri="{FF2B5EF4-FFF2-40B4-BE49-F238E27FC236}">
                <a16:creationId xmlns:a16="http://schemas.microsoft.com/office/drawing/2014/main" id="{DAC474BC-9F24-9FCD-359F-88F7FE142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48787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89" name="Rectangle 58">
            <a:extLst>
              <a:ext uri="{FF2B5EF4-FFF2-40B4-BE49-F238E27FC236}">
                <a16:creationId xmlns:a16="http://schemas.microsoft.com/office/drawing/2014/main" id="{3DED4084-3C03-7635-67CC-D41037FAD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48787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0" name="Rectangle 59">
            <a:extLst>
              <a:ext uri="{FF2B5EF4-FFF2-40B4-BE49-F238E27FC236}">
                <a16:creationId xmlns:a16="http://schemas.microsoft.com/office/drawing/2014/main" id="{4F16E4B2-4FF0-957B-EBBC-23A935108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48787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1" name="Rectangle 60">
            <a:extLst>
              <a:ext uri="{FF2B5EF4-FFF2-40B4-BE49-F238E27FC236}">
                <a16:creationId xmlns:a16="http://schemas.microsoft.com/office/drawing/2014/main" id="{6AE69D9E-BEBA-1ECF-A724-51849BFA5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4878714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2" name="Rectangle 61">
            <a:extLst>
              <a:ext uri="{FF2B5EF4-FFF2-40B4-BE49-F238E27FC236}">
                <a16:creationId xmlns:a16="http://schemas.microsoft.com/office/drawing/2014/main" id="{FBA22335-8321-84D6-D78B-841A13680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487871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3" name="Rectangle 62">
            <a:extLst>
              <a:ext uri="{FF2B5EF4-FFF2-40B4-BE49-F238E27FC236}">
                <a16:creationId xmlns:a16="http://schemas.microsoft.com/office/drawing/2014/main" id="{C338B33E-DFE1-3895-9E7E-751F606B8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52390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4" name="Rectangle 63">
            <a:extLst>
              <a:ext uri="{FF2B5EF4-FFF2-40B4-BE49-F238E27FC236}">
                <a16:creationId xmlns:a16="http://schemas.microsoft.com/office/drawing/2014/main" id="{600B74F7-6A9E-4998-7A00-9F258D7BA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523907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5" name="Rectangle 64">
            <a:extLst>
              <a:ext uri="{FF2B5EF4-FFF2-40B4-BE49-F238E27FC236}">
                <a16:creationId xmlns:a16="http://schemas.microsoft.com/office/drawing/2014/main" id="{589327AD-962A-7D76-4470-30D8348CE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5239077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6" name="Rectangle 65">
            <a:extLst>
              <a:ext uri="{FF2B5EF4-FFF2-40B4-BE49-F238E27FC236}">
                <a16:creationId xmlns:a16="http://schemas.microsoft.com/office/drawing/2014/main" id="{C342FBB7-5146-F602-8AD2-3099F333A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523907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7" name="Rectangle 66">
            <a:extLst>
              <a:ext uri="{FF2B5EF4-FFF2-40B4-BE49-F238E27FC236}">
                <a16:creationId xmlns:a16="http://schemas.microsoft.com/office/drawing/2014/main" id="{5153D0F1-5D4C-BD7A-457F-A665745F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523907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8" name="Rectangle 67">
            <a:extLst>
              <a:ext uri="{FF2B5EF4-FFF2-40B4-BE49-F238E27FC236}">
                <a16:creationId xmlns:a16="http://schemas.microsoft.com/office/drawing/2014/main" id="{0DA1DF6F-D9B8-383E-8999-9813F0C6E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523907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199" name="Rectangle 68">
            <a:extLst>
              <a:ext uri="{FF2B5EF4-FFF2-40B4-BE49-F238E27FC236}">
                <a16:creationId xmlns:a16="http://schemas.microsoft.com/office/drawing/2014/main" id="{74DA362A-5050-1430-36BA-F1ACAA9BF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52390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0" name="Rectangle 69">
            <a:extLst>
              <a:ext uri="{FF2B5EF4-FFF2-40B4-BE49-F238E27FC236}">
                <a16:creationId xmlns:a16="http://schemas.microsoft.com/office/drawing/2014/main" id="{E73E69B1-5F3B-A65A-514C-A823DFE68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5239077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1" name="Rectangle 70">
            <a:extLst>
              <a:ext uri="{FF2B5EF4-FFF2-40B4-BE49-F238E27FC236}">
                <a16:creationId xmlns:a16="http://schemas.microsoft.com/office/drawing/2014/main" id="{592071C4-CEA9-B5E3-88CC-B241C5D8F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5239077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2" name="Rectangle 71">
            <a:extLst>
              <a:ext uri="{FF2B5EF4-FFF2-40B4-BE49-F238E27FC236}">
                <a16:creationId xmlns:a16="http://schemas.microsoft.com/office/drawing/2014/main" id="{4F192824-83DD-4C95-B111-AE228AC4F7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52390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3" name="Rectangle 72">
            <a:extLst>
              <a:ext uri="{FF2B5EF4-FFF2-40B4-BE49-F238E27FC236}">
                <a16:creationId xmlns:a16="http://schemas.microsoft.com/office/drawing/2014/main" id="{AA33D58B-0E5D-4FAC-D193-C9FD09014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55978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4" name="Rectangle 73">
            <a:extLst>
              <a:ext uri="{FF2B5EF4-FFF2-40B4-BE49-F238E27FC236}">
                <a16:creationId xmlns:a16="http://schemas.microsoft.com/office/drawing/2014/main" id="{66EC5156-3A48-FBEB-B797-B3CBF5D88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559785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5" name="Rectangle 74">
            <a:extLst>
              <a:ext uri="{FF2B5EF4-FFF2-40B4-BE49-F238E27FC236}">
                <a16:creationId xmlns:a16="http://schemas.microsoft.com/office/drawing/2014/main" id="{35CB3778-2BB1-92E6-FD79-D4A247C21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5597852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6" name="Rectangle 75">
            <a:extLst>
              <a:ext uri="{FF2B5EF4-FFF2-40B4-BE49-F238E27FC236}">
                <a16:creationId xmlns:a16="http://schemas.microsoft.com/office/drawing/2014/main" id="{0BC89893-4AE9-FD16-905F-5035B5A2F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55978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7" name="Rectangle 76">
            <a:extLst>
              <a:ext uri="{FF2B5EF4-FFF2-40B4-BE49-F238E27FC236}">
                <a16:creationId xmlns:a16="http://schemas.microsoft.com/office/drawing/2014/main" id="{811147A9-0FCD-31C0-46D0-BC1C3792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55978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8" name="Rectangle 77">
            <a:extLst>
              <a:ext uri="{FF2B5EF4-FFF2-40B4-BE49-F238E27FC236}">
                <a16:creationId xmlns:a16="http://schemas.microsoft.com/office/drawing/2014/main" id="{BA0FFD5F-FA3B-C58C-CAA6-EB2402F8D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55978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09" name="Rectangle 78">
            <a:extLst>
              <a:ext uri="{FF2B5EF4-FFF2-40B4-BE49-F238E27FC236}">
                <a16:creationId xmlns:a16="http://schemas.microsoft.com/office/drawing/2014/main" id="{6AA137E4-0B96-8549-24BB-0268521B7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55978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0" name="Rectangle 79">
            <a:extLst>
              <a:ext uri="{FF2B5EF4-FFF2-40B4-BE49-F238E27FC236}">
                <a16:creationId xmlns:a16="http://schemas.microsoft.com/office/drawing/2014/main" id="{06DC4A75-5936-EA6C-A2B2-432CE2DFC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5597852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1" name="Rectangle 80">
            <a:extLst>
              <a:ext uri="{FF2B5EF4-FFF2-40B4-BE49-F238E27FC236}">
                <a16:creationId xmlns:a16="http://schemas.microsoft.com/office/drawing/2014/main" id="{6817A4C0-46E5-84A5-4157-AC176271E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5597852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2" name="Rectangle 81">
            <a:extLst>
              <a:ext uri="{FF2B5EF4-FFF2-40B4-BE49-F238E27FC236}">
                <a16:creationId xmlns:a16="http://schemas.microsoft.com/office/drawing/2014/main" id="{A87224C5-2C9E-9660-2A35-53C61CC13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5597852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3" name="Rectangle 82">
            <a:extLst>
              <a:ext uri="{FF2B5EF4-FFF2-40B4-BE49-F238E27FC236}">
                <a16:creationId xmlns:a16="http://schemas.microsoft.com/office/drawing/2014/main" id="{D41322E2-F5A4-33E5-ECA0-D1E320E1D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595821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4" name="Rectangle 83">
            <a:extLst>
              <a:ext uri="{FF2B5EF4-FFF2-40B4-BE49-F238E27FC236}">
                <a16:creationId xmlns:a16="http://schemas.microsoft.com/office/drawing/2014/main" id="{96C546B2-B26A-0941-E0E3-91AB7FE8B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595821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5" name="Rectangle 84">
            <a:extLst>
              <a:ext uri="{FF2B5EF4-FFF2-40B4-BE49-F238E27FC236}">
                <a16:creationId xmlns:a16="http://schemas.microsoft.com/office/drawing/2014/main" id="{5D20445C-A0EA-F975-9EFC-819B75391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5958214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6" name="Rectangle 85">
            <a:extLst>
              <a:ext uri="{FF2B5EF4-FFF2-40B4-BE49-F238E27FC236}">
                <a16:creationId xmlns:a16="http://schemas.microsoft.com/office/drawing/2014/main" id="{23C29D1D-B848-5CC3-CF1D-3829EBC1E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59582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7" name="Rectangle 86">
            <a:extLst>
              <a:ext uri="{FF2B5EF4-FFF2-40B4-BE49-F238E27FC236}">
                <a16:creationId xmlns:a16="http://schemas.microsoft.com/office/drawing/2014/main" id="{1B8B960D-3960-412A-7C8F-7DD41CF04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59582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8" name="Rectangle 87">
            <a:extLst>
              <a:ext uri="{FF2B5EF4-FFF2-40B4-BE49-F238E27FC236}">
                <a16:creationId xmlns:a16="http://schemas.microsoft.com/office/drawing/2014/main" id="{854AB8EE-E9BF-5C82-4933-705C8ACCE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59582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19" name="Rectangle 88">
            <a:extLst>
              <a:ext uri="{FF2B5EF4-FFF2-40B4-BE49-F238E27FC236}">
                <a16:creationId xmlns:a16="http://schemas.microsoft.com/office/drawing/2014/main" id="{B418CA4F-9652-31DC-81E4-1A1059D39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59582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0" name="Rectangle 89">
            <a:extLst>
              <a:ext uri="{FF2B5EF4-FFF2-40B4-BE49-F238E27FC236}">
                <a16:creationId xmlns:a16="http://schemas.microsoft.com/office/drawing/2014/main" id="{9542D632-F9C9-571B-88A2-17964669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5958214"/>
            <a:ext cx="358775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1" name="Rectangle 90">
            <a:extLst>
              <a:ext uri="{FF2B5EF4-FFF2-40B4-BE49-F238E27FC236}">
                <a16:creationId xmlns:a16="http://schemas.microsoft.com/office/drawing/2014/main" id="{AD2CE8F0-DE2A-53F6-AE6C-0BDC43D8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5958214"/>
            <a:ext cx="361950" cy="35877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2" name="Rectangle 91">
            <a:extLst>
              <a:ext uri="{FF2B5EF4-FFF2-40B4-BE49-F238E27FC236}">
                <a16:creationId xmlns:a16="http://schemas.microsoft.com/office/drawing/2014/main" id="{EDA136E3-F509-49EA-6469-F215100F3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5958214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3" name="Rectangle 92">
            <a:extLst>
              <a:ext uri="{FF2B5EF4-FFF2-40B4-BE49-F238E27FC236}">
                <a16:creationId xmlns:a16="http://schemas.microsoft.com/office/drawing/2014/main" id="{99EA132D-3CBD-5B6D-D166-BD2D99254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6216" y="63185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4" name="Rectangle 93">
            <a:extLst>
              <a:ext uri="{FF2B5EF4-FFF2-40B4-BE49-F238E27FC236}">
                <a16:creationId xmlns:a16="http://schemas.microsoft.com/office/drawing/2014/main" id="{33DB002B-4196-73BC-A603-773F61372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91" y="63185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5" name="Rectangle 94">
            <a:extLst>
              <a:ext uri="{FF2B5EF4-FFF2-40B4-BE49-F238E27FC236}">
                <a16:creationId xmlns:a16="http://schemas.microsoft.com/office/drawing/2014/main" id="{EAF071D8-734D-D9DA-2AE6-264005CE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654" y="6318577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6" name="Rectangle 95">
            <a:extLst>
              <a:ext uri="{FF2B5EF4-FFF2-40B4-BE49-F238E27FC236}">
                <a16:creationId xmlns:a16="http://schemas.microsoft.com/office/drawing/2014/main" id="{E7CA05B3-0C1E-AF60-9F56-34F05D147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4604" y="63185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7" name="Rectangle 96">
            <a:extLst>
              <a:ext uri="{FF2B5EF4-FFF2-40B4-BE49-F238E27FC236}">
                <a16:creationId xmlns:a16="http://schemas.microsoft.com/office/drawing/2014/main" id="{C0F852D8-B50A-0BCB-6692-8A43F6583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379" y="63185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8" name="Rectangle 97">
            <a:extLst>
              <a:ext uri="{FF2B5EF4-FFF2-40B4-BE49-F238E27FC236}">
                <a16:creationId xmlns:a16="http://schemas.microsoft.com/office/drawing/2014/main" id="{8C523933-6E97-E62B-B21D-0E4AEB24D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041" y="63185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29" name="Rectangle 98">
            <a:extLst>
              <a:ext uri="{FF2B5EF4-FFF2-40B4-BE49-F238E27FC236}">
                <a16:creationId xmlns:a16="http://schemas.microsoft.com/office/drawing/2014/main" id="{0D23924C-306F-8552-C613-7D4A43901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63185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30" name="Rectangle 99">
            <a:extLst>
              <a:ext uri="{FF2B5EF4-FFF2-40B4-BE49-F238E27FC236}">
                <a16:creationId xmlns:a16="http://schemas.microsoft.com/office/drawing/2014/main" id="{751D0CF6-E002-3776-110C-7F8FA94CE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2129" y="63185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31" name="Rectangle 100">
            <a:extLst>
              <a:ext uri="{FF2B5EF4-FFF2-40B4-BE49-F238E27FC236}">
                <a16:creationId xmlns:a16="http://schemas.microsoft.com/office/drawing/2014/main" id="{2FE06920-156F-516A-6DBE-857248B11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179" y="6318577"/>
            <a:ext cx="361950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32" name="Rectangle 101">
            <a:extLst>
              <a:ext uri="{FF2B5EF4-FFF2-40B4-BE49-F238E27FC236}">
                <a16:creationId xmlns:a16="http://schemas.microsoft.com/office/drawing/2014/main" id="{938AD82E-0808-D81D-283A-6B697E781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04" y="6318577"/>
            <a:ext cx="358775" cy="358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l"/>
            <a:endParaRPr lang="zh-CN" altLang="zh-CN" sz="1800" b="0">
              <a:solidFill>
                <a:schemeClr val="tx1"/>
              </a:solidFill>
              <a:latin typeface="Arial" charset="0"/>
              <a:ea typeface="宋体" pitchFamily="2" charset="-122"/>
            </a:endParaRPr>
          </a:p>
        </p:txBody>
      </p:sp>
      <p:sp>
        <p:nvSpPr>
          <p:cNvPr id="233" name="Text Box 103">
            <a:extLst>
              <a:ext uri="{FF2B5EF4-FFF2-40B4-BE49-F238E27FC236}">
                <a16:creationId xmlns:a16="http://schemas.microsoft.com/office/drawing/2014/main" id="{C3411C4B-3B4F-8DCC-CD04-E7945928F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534" y="2699635"/>
            <a:ext cx="360387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0  1  2  3  4  5  6  7 8  9</a:t>
            </a:r>
            <a:endParaRPr lang="en-US" altLang="zh-CN" sz="1800" dirty="0">
              <a:solidFill>
                <a:srgbClr val="00B0F0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34" name="Text Box 104">
            <a:extLst>
              <a:ext uri="{FF2B5EF4-FFF2-40B4-BE49-F238E27FC236}">
                <a16:creationId xmlns:a16="http://schemas.microsoft.com/office/drawing/2014/main" id="{6DD0A683-0483-D67F-C723-6CBF5F2F6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571" y="3086455"/>
            <a:ext cx="433388" cy="366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800" dirty="0">
                <a:solidFill>
                  <a:srgbClr val="00B0F0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0   1    2    3    4   5    6    7   8    9</a:t>
            </a:r>
          </a:p>
        </p:txBody>
      </p:sp>
      <p:grpSp>
        <p:nvGrpSpPr>
          <p:cNvPr id="235" name="组合 114">
            <a:extLst>
              <a:ext uri="{FF2B5EF4-FFF2-40B4-BE49-F238E27FC236}">
                <a16:creationId xmlns:a16="http://schemas.microsoft.com/office/drawing/2014/main" id="{ABA86BD7-DA9A-D283-88C2-2E2925ECAA24}"/>
              </a:ext>
            </a:extLst>
          </p:cNvPr>
          <p:cNvGrpSpPr/>
          <p:nvPr/>
        </p:nvGrpSpPr>
        <p:grpSpPr>
          <a:xfrm>
            <a:off x="7113170" y="3711136"/>
            <a:ext cx="1809763" cy="2967531"/>
            <a:chOff x="5464181" y="1400160"/>
            <a:chExt cx="1809763" cy="2967531"/>
          </a:xfrm>
        </p:grpSpPr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B6FAAC02-8E98-3056-2E1C-AE5D95C0C183}"/>
                </a:ext>
              </a:extLst>
            </p:cNvPr>
            <p:cNvSpPr/>
            <p:nvPr/>
          </p:nvSpPr>
          <p:spPr bwMode="auto">
            <a:xfrm>
              <a:off x="5464181" y="1400160"/>
              <a:ext cx="1809763" cy="1950494"/>
            </a:xfrm>
            <a:prstGeom prst="rect">
              <a:avLst/>
            </a:prstGeom>
            <a:noFill/>
            <a:ln w="19050">
              <a:solidFill>
                <a:srgbClr val="FF00FF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9F5B4B71-0A8A-D2F6-8B2F-24A2A858C823}"/>
                </a:ext>
              </a:extLst>
            </p:cNvPr>
            <p:cNvCxnSpPr>
              <a:stCxn id="236" idx="2"/>
              <a:endCxn id="238" idx="0"/>
            </p:cNvCxnSpPr>
            <p:nvPr/>
          </p:nvCxnSpPr>
          <p:spPr>
            <a:xfrm rot="16200000" flipH="1">
              <a:off x="6047592" y="3672125"/>
              <a:ext cx="647705" cy="4762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113">
              <a:extLst>
                <a:ext uri="{FF2B5EF4-FFF2-40B4-BE49-F238E27FC236}">
                  <a16:creationId xmlns:a16="http://schemas.microsoft.com/office/drawing/2014/main" id="{A90392D8-7E1E-930D-0CC1-B3C8E240465F}"/>
                </a:ext>
              </a:extLst>
            </p:cNvPr>
            <p:cNvSpPr txBox="1"/>
            <p:nvPr/>
          </p:nvSpPr>
          <p:spPr>
            <a:xfrm>
              <a:off x="5945197" y="3998359"/>
              <a:ext cx="857256" cy="36933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800" i="1" dirty="0" err="1">
                  <a:latin typeface="Consolas" pitchFamily="49" charset="0"/>
                  <a:ea typeface="楷体" pitchFamily="49" charset="-122"/>
                  <a:cs typeface="Consolas" pitchFamily="49" charset="0"/>
                </a:rPr>
                <a:t>M</a:t>
              </a:r>
              <a:r>
                <a:rPr lang="en-US" sz="1800" dirty="0" err="1">
                  <a:latin typeface="Consolas" pitchFamily="49" charset="0"/>
                  <a:ea typeface="楷体" pitchFamily="49" charset="-122"/>
                  <a:cs typeface="Consolas" pitchFamily="49" charset="0"/>
                </a:rPr>
                <a:t>×</a:t>
              </a:r>
              <a:r>
                <a:rPr lang="en-US" sz="1800" i="1" dirty="0" err="1">
                  <a:latin typeface="Consolas" pitchFamily="49" charset="0"/>
                  <a:ea typeface="楷体" pitchFamily="49" charset="-122"/>
                  <a:cs typeface="Consolas" pitchFamily="49" charset="0"/>
                </a:rPr>
                <a:t>N</a:t>
              </a:r>
              <a:endParaRPr lang="zh-CN" altLang="en-US" sz="1800" i="1" dirty="0"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9504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0455-2701-779E-F0C2-B881AFBA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D3E2B0-B67D-B113-93EC-BFFC6D61D7FD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5CF21D-8CD7-7773-8022-7EADE7F6E838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3C1212C-3B5A-E4C5-350B-C4DF20A0E3E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16E0205-E303-4FCC-F4BB-1F537346CF47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C18FB72B-CF52-E57B-DF8E-8A4433B1F82A}"/>
              </a:ext>
            </a:extLst>
          </p:cNvPr>
          <p:cNvSpPr txBox="1"/>
          <p:nvPr/>
        </p:nvSpPr>
        <p:spPr>
          <a:xfrm>
            <a:off x="1560636" y="1848920"/>
            <a:ext cx="7929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在算法中用到的栈采用顺序栈存储结构，即将栈声明为：</a:t>
            </a:r>
          </a:p>
        </p:txBody>
      </p:sp>
      <p:sp>
        <p:nvSpPr>
          <p:cNvPr id="6" name="TextBox 13">
            <a:extLst>
              <a:ext uri="{FF2B5EF4-FFF2-40B4-BE49-F238E27FC236}">
                <a16:creationId xmlns:a16="http://schemas.microsoft.com/office/drawing/2014/main" id="{857DE148-6CC0-AD08-E6EF-CF722DBD2892}"/>
              </a:ext>
            </a:extLst>
          </p:cNvPr>
          <p:cNvSpPr txBox="1"/>
          <p:nvPr/>
        </p:nvSpPr>
        <p:spPr>
          <a:xfrm>
            <a:off x="2033869" y="2413113"/>
            <a:ext cx="7786742" cy="2656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 struct</a:t>
            </a:r>
            <a:endParaRPr lang="zh-CN" altLang="en-US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lang="en-US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</a:t>
            </a: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	</a:t>
            </a:r>
            <a:r>
              <a:rPr 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当前方块的行号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j;			</a:t>
            </a:r>
            <a:r>
              <a:rPr 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当前方块的列号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di;			</a:t>
            </a:r>
            <a:r>
              <a:rPr 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//di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是下一可走相邻方位的方位号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r>
              <a:rPr lang="en-US" sz="16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		</a:t>
            </a:r>
            <a:r>
              <a:rPr 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定义方块类型</a:t>
            </a:r>
          </a:p>
          <a:p>
            <a:pPr algn="l">
              <a:lnSpc>
                <a:spcPts val="2000"/>
              </a:lnSpc>
            </a:pPr>
            <a:r>
              <a:rPr lang="en-US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</a:t>
            </a: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endParaRPr lang="zh-CN" altLang="en-US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lang="en-US" sz="1600" dirty="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data[</a:t>
            </a:r>
            <a:r>
              <a:rPr lang="en-US" sz="16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];</a:t>
            </a:r>
            <a:endParaRPr lang="zh-CN" altLang="en-US" sz="16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top;			</a:t>
            </a:r>
            <a:r>
              <a:rPr 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栈顶指针</a:t>
            </a:r>
          </a:p>
          <a:p>
            <a:pPr algn="l">
              <a:lnSpc>
                <a:spcPts val="2000"/>
              </a:lnSpc>
            </a:pP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 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StType</a:t>
            </a:r>
            <a:r>
              <a:rPr lang="en-US" sz="16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	</a:t>
            </a:r>
            <a:r>
              <a:rPr 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6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声明顺序栈类型</a:t>
            </a:r>
          </a:p>
        </p:txBody>
      </p:sp>
      <p:grpSp>
        <p:nvGrpSpPr>
          <p:cNvPr id="7" name="组合 10">
            <a:extLst>
              <a:ext uri="{FF2B5EF4-FFF2-40B4-BE49-F238E27FC236}">
                <a16:creationId xmlns:a16="http://schemas.microsoft.com/office/drawing/2014/main" id="{EDF344A8-D20A-4E5B-5734-D5CBC7442D38}"/>
              </a:ext>
            </a:extLst>
          </p:cNvPr>
          <p:cNvGrpSpPr/>
          <p:nvPr/>
        </p:nvGrpSpPr>
        <p:grpSpPr>
          <a:xfrm>
            <a:off x="3143672" y="3645024"/>
            <a:ext cx="3147398" cy="2273444"/>
            <a:chOff x="1714480" y="2876546"/>
            <a:chExt cx="3786214" cy="3359477"/>
          </a:xfrm>
        </p:grpSpPr>
        <p:sp>
          <p:nvSpPr>
            <p:cNvPr id="9" name="Rectangle 36">
              <a:extLst>
                <a:ext uri="{FF2B5EF4-FFF2-40B4-BE49-F238E27FC236}">
                  <a16:creationId xmlns:a16="http://schemas.microsoft.com/office/drawing/2014/main" id="{0A42E696-16F1-5B6F-A5B6-C384079A1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3174" y="5696023"/>
              <a:ext cx="720000" cy="54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i</a:t>
              </a:r>
              <a:r>
                <a:rPr lang="zh-CN" altLang="en-US" sz="1800" dirty="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，</a:t>
              </a:r>
              <a:r>
                <a:rPr lang="en-US" altLang="zh-CN" sz="1800" i="1" dirty="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j</a:t>
              </a:r>
            </a:p>
          </p:txBody>
        </p:sp>
        <p:sp>
          <p:nvSpPr>
            <p:cNvPr id="10" name="Rectangle 36">
              <a:extLst>
                <a:ext uri="{FF2B5EF4-FFF2-40B4-BE49-F238E27FC236}">
                  <a16:creationId xmlns:a16="http://schemas.microsoft.com/office/drawing/2014/main" id="{F7B0728F-0EB4-BB2F-7C3D-3BC0512CA8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0694" y="5686498"/>
              <a:ext cx="720000" cy="540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x</a:t>
              </a: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，</a:t>
              </a:r>
              <a:r>
                <a:rPr lang="en-US" altLang="zh-CN" sz="1800" i="1">
                  <a:solidFill>
                    <a:srgbClr val="0000FF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y</a:t>
              </a:r>
              <a:endParaRPr lang="en-US" altLang="zh-CN" sz="1800" i="1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DC0BF521-0777-7B35-00D9-DDFD7BAD9C3C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 flipV="1">
              <a:off x="3363174" y="5956498"/>
              <a:ext cx="1417520" cy="9525"/>
            </a:xfrm>
            <a:prstGeom prst="straightConnector1">
              <a:avLst/>
            </a:prstGeom>
            <a:ln w="28575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3B9E2684-85AA-3533-1E33-67D839D9A4EC}"/>
                </a:ext>
              </a:extLst>
            </p:cNvPr>
            <p:cNvSpPr txBox="1"/>
            <p:nvPr/>
          </p:nvSpPr>
          <p:spPr>
            <a:xfrm>
              <a:off x="3786182" y="5500702"/>
              <a:ext cx="642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dirty="0" err="1">
                  <a:latin typeface="Consolas" pitchFamily="49" charset="0"/>
                  <a:cs typeface="Consolas" pitchFamily="49" charset="0"/>
                </a:rPr>
                <a:t>di</a:t>
              </a:r>
              <a:endParaRPr lang="zh-CN" altLang="en-US" sz="1800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BC2405E-A7B3-BBF3-10EB-FDDCC5662894}"/>
                </a:ext>
              </a:extLst>
            </p:cNvPr>
            <p:cNvCxnSpPr/>
            <p:nvPr/>
          </p:nvCxnSpPr>
          <p:spPr>
            <a:xfrm rot="16200000" flipH="1">
              <a:off x="1464447" y="3126579"/>
              <a:ext cx="2714644" cy="22145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1771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7B7C2-FECA-F8AC-7691-76C4F64A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603DD2-4417-44D3-04FB-987B4AF2BE4A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C955BF-76EC-E57D-9DCB-72E63590ADF6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DE69AE7-39B5-BCE2-CF5B-F1E08511AFB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02AC142-D440-0582-4325-1908DC88FBA5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C7EFD2B0-989B-FF44-45E0-B719BD5BA5EA}"/>
              </a:ext>
            </a:extLst>
          </p:cNvPr>
          <p:cNvSpPr txBox="1"/>
          <p:nvPr/>
        </p:nvSpPr>
        <p:spPr>
          <a:xfrm>
            <a:off x="1560636" y="1848920"/>
            <a:ext cx="1295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算法设计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AFEE8A03-2FC6-DE80-5B4D-6C13890A37E7}"/>
              </a:ext>
            </a:extLst>
          </p:cNvPr>
          <p:cNvSpPr txBox="1"/>
          <p:nvPr/>
        </p:nvSpPr>
        <p:spPr>
          <a:xfrm>
            <a:off x="2826041" y="1876762"/>
            <a:ext cx="457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微软雅黑" pitchFamily="34" charset="-122"/>
                <a:cs typeface="Consolas" pitchFamily="49" charset="0"/>
              </a:rPr>
              <a:t>试探顺序：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从方位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0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开始，顺时针方向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 Box 110">
            <a:extLst>
              <a:ext uri="{FF2B5EF4-FFF2-40B4-BE49-F238E27FC236}">
                <a16:creationId xmlns:a16="http://schemas.microsoft.com/office/drawing/2014/main" id="{4215AB09-F000-2514-C9BD-6FD46AD76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3814" y="2323912"/>
            <a:ext cx="8572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0</a:t>
            </a:r>
          </a:p>
        </p:txBody>
      </p:sp>
      <p:sp>
        <p:nvSpPr>
          <p:cNvPr id="16" name="Text Box 111">
            <a:extLst>
              <a:ext uri="{FF2B5EF4-FFF2-40B4-BE49-F238E27FC236}">
                <a16:creationId xmlns:a16="http://schemas.microsoft.com/office/drawing/2014/main" id="{C241B760-A55B-A767-4079-5A92B92E6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252" y="6352958"/>
            <a:ext cx="9286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2</a:t>
            </a:r>
          </a:p>
        </p:txBody>
      </p:sp>
      <p:sp>
        <p:nvSpPr>
          <p:cNvPr id="17" name="Text Box 112">
            <a:extLst>
              <a:ext uri="{FF2B5EF4-FFF2-40B4-BE49-F238E27FC236}">
                <a16:creationId xmlns:a16="http://schemas.microsoft.com/office/drawing/2014/main" id="{EB8B4CA3-28A2-6ADD-FE2E-D6FCF4516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582" y="4324176"/>
            <a:ext cx="8572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</a:p>
        </p:txBody>
      </p:sp>
      <p:sp>
        <p:nvSpPr>
          <p:cNvPr id="18" name="Text Box 113">
            <a:extLst>
              <a:ext uri="{FF2B5EF4-FFF2-40B4-BE49-F238E27FC236}">
                <a16:creationId xmlns:a16="http://schemas.microsoft.com/office/drawing/2014/main" id="{7725C87E-D46D-5EC4-E456-B5B5938ED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2046" y="4324176"/>
            <a:ext cx="9286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3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E804692D-DEA9-EE40-4B46-23CE007B8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252" y="4247966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6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7E060151-3BF8-8DE5-ADCF-652365F93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252" y="2781115"/>
            <a:ext cx="857256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+mj-ea"/>
                <a:cs typeface="Consolas" pitchFamily="49" charset="0"/>
              </a:rPr>
              <a:t>-</a:t>
            </a:r>
            <a:r>
              <a:rPr lang="en-US" altLang="zh-CN" sz="16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r>
              <a:rPr lang="zh-CN" altLang="en-US" sz="1600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 dirty="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3D531227-5344-E3DA-8F4A-A555096DB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714" y="4238441"/>
            <a:ext cx="785818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+1</a:t>
            </a:r>
            <a:endParaRPr lang="en-US" altLang="zh-CN" sz="1600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3612627E-3B3E-AC69-4EE2-A0A6F953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558" y="4247966"/>
            <a:ext cx="799282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+mj-ea"/>
                <a:cs typeface="Consolas" pitchFamily="49" charset="0"/>
              </a:rPr>
              <a:t>-</a:t>
            </a:r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1</a:t>
            </a:r>
            <a:endParaRPr lang="en-US" altLang="zh-CN" sz="1600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23" name="Rectangle 36">
            <a:extLst>
              <a:ext uri="{FF2B5EF4-FFF2-40B4-BE49-F238E27FC236}">
                <a16:creationId xmlns:a16="http://schemas.microsoft.com/office/drawing/2014/main" id="{08288829-0284-A747-6FAF-EB6C4DB6E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252" y="5752936"/>
            <a:ext cx="857256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en-US" altLang="zh-CN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+1</a:t>
            </a:r>
            <a:r>
              <a:rPr lang="zh-CN" altLang="en-US" sz="16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6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600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9BDD49F-5FD2-BC98-025F-EF5E3C41FC90}"/>
              </a:ext>
            </a:extLst>
          </p:cNvPr>
          <p:cNvCxnSpPr/>
          <p:nvPr/>
        </p:nvCxnSpPr>
        <p:spPr>
          <a:xfrm rot="16200000" flipH="1">
            <a:off x="6469665" y="3288325"/>
            <a:ext cx="857256" cy="785818"/>
          </a:xfrm>
          <a:prstGeom prst="straightConnector1">
            <a:avLst/>
          </a:prstGeom>
          <a:ln w="381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984CE373-8886-4F4F-F12C-4C493BA20C3B}"/>
              </a:ext>
            </a:extLst>
          </p:cNvPr>
          <p:cNvCxnSpPr/>
          <p:nvPr/>
        </p:nvCxnSpPr>
        <p:spPr>
          <a:xfrm rot="10800000" flipV="1">
            <a:off x="6433946" y="4967118"/>
            <a:ext cx="1071570" cy="1000132"/>
          </a:xfrm>
          <a:prstGeom prst="straightConnector1">
            <a:avLst/>
          </a:prstGeom>
          <a:ln w="381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C8ACE4D1-A89D-48CE-3619-50815916AC31}"/>
              </a:ext>
            </a:extLst>
          </p:cNvPr>
          <p:cNvCxnSpPr/>
          <p:nvPr/>
        </p:nvCxnSpPr>
        <p:spPr>
          <a:xfrm rot="10800000">
            <a:off x="4290806" y="4967118"/>
            <a:ext cx="1071570" cy="1000132"/>
          </a:xfrm>
          <a:prstGeom prst="straightConnector1">
            <a:avLst/>
          </a:prstGeom>
          <a:ln w="38100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53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5947C-5760-BAB7-F8AE-48BAC177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39088D-C0A7-215A-45E7-6BD722A04EF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458654C-3D12-98AB-F8F8-30D8BE1F53C7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F99A7D7-ABEC-B5EF-41D3-6458FE3546C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F0D4857-7865-7A33-048C-77EEBB211179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9E478DDA-E127-A4A8-D3C4-778D2F16D433}"/>
              </a:ext>
            </a:extLst>
          </p:cNvPr>
          <p:cNvSpPr txBox="1"/>
          <p:nvPr/>
        </p:nvSpPr>
        <p:spPr>
          <a:xfrm>
            <a:off x="1560636" y="1848920"/>
            <a:ext cx="1295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算法设计</a:t>
            </a:r>
          </a:p>
        </p:txBody>
      </p:sp>
      <p:sp>
        <p:nvSpPr>
          <p:cNvPr id="6" name="Rectangle 36">
            <a:extLst>
              <a:ext uri="{FF2B5EF4-FFF2-40B4-BE49-F238E27FC236}">
                <a16:creationId xmlns:a16="http://schemas.microsoft.com/office/drawing/2014/main" id="{EC0AD5DC-90C2-1E8E-E992-E9502101E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538" y="2771790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8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grpSp>
        <p:nvGrpSpPr>
          <p:cNvPr id="7" name="组合 35">
            <a:extLst>
              <a:ext uri="{FF2B5EF4-FFF2-40B4-BE49-F238E27FC236}">
                <a16:creationId xmlns:a16="http://schemas.microsoft.com/office/drawing/2014/main" id="{BF717540-4DD6-CF01-035C-8D779C0F5972}"/>
              </a:ext>
            </a:extLst>
          </p:cNvPr>
          <p:cNvGrpSpPr/>
          <p:nvPr/>
        </p:nvGrpSpPr>
        <p:grpSpPr>
          <a:xfrm>
            <a:off x="3453588" y="3609245"/>
            <a:ext cx="4857784" cy="2479435"/>
            <a:chOff x="2000232" y="2500306"/>
            <a:chExt cx="4857784" cy="2479435"/>
          </a:xfrm>
        </p:grpSpPr>
        <p:sp>
          <p:nvSpPr>
            <p:cNvPr id="9" name="TextBox 21">
              <a:extLst>
                <a:ext uri="{FF2B5EF4-FFF2-40B4-BE49-F238E27FC236}">
                  <a16:creationId xmlns:a16="http://schemas.microsoft.com/office/drawing/2014/main" id="{39D02BAD-EDCA-FCEC-3AC5-216C70E5AAF9}"/>
                </a:ext>
              </a:extLst>
            </p:cNvPr>
            <p:cNvSpPr txBox="1"/>
            <p:nvPr/>
          </p:nvSpPr>
          <p:spPr>
            <a:xfrm>
              <a:off x="3213090" y="4610409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endParaRPr lang="zh-CN" altLang="en-US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" name="TextBox 22">
              <a:extLst>
                <a:ext uri="{FF2B5EF4-FFF2-40B4-BE49-F238E27FC236}">
                  <a16:creationId xmlns:a16="http://schemas.microsoft.com/office/drawing/2014/main" id="{383F3766-B538-B41B-E807-D943BBA4055D}"/>
                </a:ext>
              </a:extLst>
            </p:cNvPr>
            <p:cNvSpPr txBox="1"/>
            <p:nvPr/>
          </p:nvSpPr>
          <p:spPr>
            <a:xfrm>
              <a:off x="3998908" y="4610409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j</a:t>
              </a:r>
              <a:endParaRPr lang="zh-CN" altLang="en-US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3" name="TextBox 23">
              <a:extLst>
                <a:ext uri="{FF2B5EF4-FFF2-40B4-BE49-F238E27FC236}">
                  <a16:creationId xmlns:a16="http://schemas.microsoft.com/office/drawing/2014/main" id="{085D6BDB-4978-6349-A0D7-FE0FD951B3A3}"/>
                </a:ext>
              </a:extLst>
            </p:cNvPr>
            <p:cNvSpPr txBox="1"/>
            <p:nvPr/>
          </p:nvSpPr>
          <p:spPr>
            <a:xfrm>
              <a:off x="4713288" y="4610409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di</a:t>
              </a:r>
              <a:endParaRPr lang="zh-CN" altLang="en-US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4" name="TextBox 24">
              <a:extLst>
                <a:ext uri="{FF2B5EF4-FFF2-40B4-BE49-F238E27FC236}">
                  <a16:creationId xmlns:a16="http://schemas.microsoft.com/office/drawing/2014/main" id="{80065407-8B80-DADB-BACD-BBE257C29438}"/>
                </a:ext>
              </a:extLst>
            </p:cNvPr>
            <p:cNvSpPr txBox="1"/>
            <p:nvPr/>
          </p:nvSpPr>
          <p:spPr>
            <a:xfrm>
              <a:off x="3213090" y="3929066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endParaRPr lang="zh-CN" altLang="en-US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5" name="TextBox 25">
              <a:extLst>
                <a:ext uri="{FF2B5EF4-FFF2-40B4-BE49-F238E27FC236}">
                  <a16:creationId xmlns:a16="http://schemas.microsoft.com/office/drawing/2014/main" id="{519E5F3A-5961-6773-3D3D-546028CC9FE2}"/>
                </a:ext>
              </a:extLst>
            </p:cNvPr>
            <p:cNvSpPr txBox="1"/>
            <p:nvPr/>
          </p:nvSpPr>
          <p:spPr>
            <a:xfrm>
              <a:off x="3998908" y="3929066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j</a:t>
              </a:r>
              <a:endParaRPr lang="zh-CN" altLang="en-US" sz="1800" i="1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A94ED4B-07E2-B2EC-5310-ACA0C2519804}"/>
                </a:ext>
              </a:extLst>
            </p:cNvPr>
            <p:cNvSpPr txBox="1"/>
            <p:nvPr/>
          </p:nvSpPr>
          <p:spPr>
            <a:xfrm>
              <a:off x="4713288" y="3929066"/>
              <a:ext cx="714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ea typeface="+mj-ea"/>
                  <a:cs typeface="Consolas" pitchFamily="49" charset="0"/>
                </a:rPr>
                <a:t>-</a:t>
              </a:r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1</a:t>
              </a:r>
              <a:endParaRPr lang="zh-CN" altLang="en-US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497FA605-56C7-8B89-418F-601DDAF78225}"/>
                </a:ext>
              </a:extLst>
            </p:cNvPr>
            <p:cNvCxnSpPr/>
            <p:nvPr/>
          </p:nvCxnSpPr>
          <p:spPr>
            <a:xfrm rot="5400000">
              <a:off x="2355834" y="4000504"/>
              <a:ext cx="1143008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26F915F-5794-47D0-4427-9EC0E8A739C8}"/>
                </a:ext>
              </a:extLst>
            </p:cNvPr>
            <p:cNvCxnSpPr/>
            <p:nvPr/>
          </p:nvCxnSpPr>
          <p:spPr>
            <a:xfrm>
              <a:off x="2927338" y="4572008"/>
              <a:ext cx="2714644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B31E4D6-BF1B-8F6D-0925-B5AC76E697CA}"/>
                </a:ext>
              </a:extLst>
            </p:cNvPr>
            <p:cNvCxnSpPr/>
            <p:nvPr/>
          </p:nvCxnSpPr>
          <p:spPr>
            <a:xfrm rot="5400000">
              <a:off x="5071272" y="3999710"/>
              <a:ext cx="1143008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1" name="TextBox 32">
              <a:extLst>
                <a:ext uri="{FF2B5EF4-FFF2-40B4-BE49-F238E27FC236}">
                  <a16:creationId xmlns:a16="http://schemas.microsoft.com/office/drawing/2014/main" id="{BCF10C9A-2938-B679-3422-55DABDE52FCE}"/>
                </a:ext>
              </a:extLst>
            </p:cNvPr>
            <p:cNvSpPr txBox="1"/>
            <p:nvPr/>
          </p:nvSpPr>
          <p:spPr>
            <a:xfrm>
              <a:off x="2000232" y="3786190"/>
              <a:ext cx="857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栈</a:t>
              </a:r>
            </a:p>
          </p:txBody>
        </p:sp>
        <p:sp>
          <p:nvSpPr>
            <p:cNvPr id="32" name="下箭头 33">
              <a:extLst>
                <a:ext uri="{FF2B5EF4-FFF2-40B4-BE49-F238E27FC236}">
                  <a16:creationId xmlns:a16="http://schemas.microsoft.com/office/drawing/2014/main" id="{8D4B8B87-12F4-0E0C-3670-98AC21099555}"/>
                </a:ext>
              </a:extLst>
            </p:cNvPr>
            <p:cNvSpPr/>
            <p:nvPr/>
          </p:nvSpPr>
          <p:spPr bwMode="auto">
            <a:xfrm>
              <a:off x="4000496" y="2500306"/>
              <a:ext cx="285752" cy="714380"/>
            </a:xfrm>
            <a:prstGeom prst="downArrow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zh-CN" altLang="en-US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5596D567-32BF-1F3F-5932-D48BF25D1312}"/>
                </a:ext>
              </a:extLst>
            </p:cNvPr>
            <p:cNvSpPr txBox="1"/>
            <p:nvPr/>
          </p:nvSpPr>
          <p:spPr>
            <a:xfrm>
              <a:off x="4429124" y="2600262"/>
              <a:ext cx="2428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将（</a:t>
              </a:r>
              <a:r>
                <a:rPr lang="en-US" altLang="zh-CN" sz="2000" dirty="0" err="1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i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j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-1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）进栈</a:t>
              </a:r>
            </a:p>
          </p:txBody>
        </p:sp>
      </p:grpSp>
      <p:sp>
        <p:nvSpPr>
          <p:cNvPr id="34" name="TextBox 36">
            <a:extLst>
              <a:ext uri="{FF2B5EF4-FFF2-40B4-BE49-F238E27FC236}">
                <a16:creationId xmlns:a16="http://schemas.microsoft.com/office/drawing/2014/main" id="{E5FE0F12-4586-3FB5-52D4-82172E61E9C3}"/>
              </a:ext>
            </a:extLst>
          </p:cNvPr>
          <p:cNvSpPr txBox="1"/>
          <p:nvPr/>
        </p:nvSpPr>
        <p:spPr>
          <a:xfrm>
            <a:off x="3880628" y="2224612"/>
            <a:ext cx="4430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初始时，入口（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j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）作为当前方块。</a:t>
            </a:r>
          </a:p>
        </p:txBody>
      </p:sp>
      <p:sp>
        <p:nvSpPr>
          <p:cNvPr id="35" name="TextBox 37">
            <a:extLst>
              <a:ext uri="{FF2B5EF4-FFF2-40B4-BE49-F238E27FC236}">
                <a16:creationId xmlns:a16="http://schemas.microsoft.com/office/drawing/2014/main" id="{D10E223E-C334-CFD9-C5B2-3DB59C90C1CF}"/>
              </a:ext>
            </a:extLst>
          </p:cNvPr>
          <p:cNvSpPr txBox="1"/>
          <p:nvPr/>
        </p:nvSpPr>
        <p:spPr>
          <a:xfrm>
            <a:off x="4280745" y="6291942"/>
            <a:ext cx="335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所有走过的方块都会进栈！</a:t>
            </a:r>
          </a:p>
        </p:txBody>
      </p:sp>
    </p:spTree>
    <p:extLst>
      <p:ext uri="{BB962C8B-B14F-4D97-AF65-F5344CB8AC3E}">
        <p14:creationId xmlns:p14="http://schemas.microsoft.com/office/powerpoint/2010/main" val="310538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FB0C-294F-2F02-6DF3-6048EADC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C79843-DFAC-3EC5-4A62-7961B78E91D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CE286E-30D7-8784-C25A-A407B6D4F30C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C381BD4-B386-DB06-1D2F-7331415AFE9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2B9EE07-443B-9D3B-9CF3-E0784B3A06F4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8451A962-B385-69D3-1662-9AB2B8C6F1CC}"/>
              </a:ext>
            </a:extLst>
          </p:cNvPr>
          <p:cNvSpPr txBox="1"/>
          <p:nvPr/>
        </p:nvSpPr>
        <p:spPr>
          <a:xfrm>
            <a:off x="1560636" y="1848920"/>
            <a:ext cx="1295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算法设计</a:t>
            </a: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613936C1-818E-C675-852E-B7A16D257865}"/>
              </a:ext>
            </a:extLst>
          </p:cNvPr>
          <p:cNvSpPr txBox="1"/>
          <p:nvPr/>
        </p:nvSpPr>
        <p:spPr>
          <a:xfrm>
            <a:off x="3071664" y="1879735"/>
            <a:ext cx="8643998" cy="775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如果一个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当前方块（</a:t>
            </a:r>
            <a:r>
              <a:rPr lang="en-US" altLang="zh-CN" sz="2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j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找到一个相邻可走方块（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y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），就继续从（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y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）走下去。</a:t>
            </a:r>
          </a:p>
        </p:txBody>
      </p:sp>
      <p:sp>
        <p:nvSpPr>
          <p:cNvPr id="12" name="Rectangle 36">
            <a:extLst>
              <a:ext uri="{FF2B5EF4-FFF2-40B4-BE49-F238E27FC236}">
                <a16:creationId xmlns:a16="http://schemas.microsoft.com/office/drawing/2014/main" id="{F5DE1FF7-504F-8260-6E7F-3FDC92D5B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4518" y="3156193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8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74AF832-107E-D85F-3D72-3CE931FAC74F}"/>
              </a:ext>
            </a:extLst>
          </p:cNvPr>
          <p:cNvCxnSpPr>
            <a:cxnSpLocks noChangeShapeType="1"/>
            <a:endCxn id="17" idx="1"/>
          </p:cNvCxnSpPr>
          <p:nvPr/>
        </p:nvCxnSpPr>
        <p:spPr bwMode="auto">
          <a:xfrm>
            <a:off x="6192721" y="3407020"/>
            <a:ext cx="1743077" cy="0"/>
          </a:xfrm>
          <a:prstGeom prst="straightConnector1">
            <a:avLst/>
          </a:prstGeom>
          <a:noFill/>
          <a:ln w="38100" algn="ctr">
            <a:solidFill>
              <a:srgbClr val="3333FF"/>
            </a:solidFill>
            <a:miter lim="800000"/>
            <a:headEnd/>
            <a:tailEnd type="triangle" w="med" len="med"/>
          </a:ln>
        </p:spPr>
      </p:cxnSp>
      <p:sp>
        <p:nvSpPr>
          <p:cNvPr id="17" name="Rectangle 36">
            <a:extLst>
              <a:ext uri="{FF2B5EF4-FFF2-40B4-BE49-F238E27FC236}">
                <a16:creationId xmlns:a16="http://schemas.microsoft.com/office/drawing/2014/main" id="{2779CD60-F982-B0BE-7838-2B87C25D0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798" y="3146668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x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y</a:t>
            </a:r>
            <a:endParaRPr lang="en-US" altLang="zh-CN" sz="18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8" name="Text Box 112">
            <a:extLst>
              <a:ext uri="{FF2B5EF4-FFF2-40B4-BE49-F238E27FC236}">
                <a16:creationId xmlns:a16="http://schemas.microsoft.com/office/drawing/2014/main" id="{77111B4D-6C5F-8768-5B57-6812AFFBB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4096" y="2960872"/>
            <a:ext cx="8572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方位</a:t>
            </a:r>
            <a:r>
              <a:rPr lang="en-US" altLang="zh-CN" sz="1800" i="1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</a:t>
            </a:r>
          </a:p>
        </p:txBody>
      </p:sp>
      <p:grpSp>
        <p:nvGrpSpPr>
          <p:cNvPr id="19" name="组合 38">
            <a:extLst>
              <a:ext uri="{FF2B5EF4-FFF2-40B4-BE49-F238E27FC236}">
                <a16:creationId xmlns:a16="http://schemas.microsoft.com/office/drawing/2014/main" id="{159E7B4E-9C9F-BB0D-390C-85E905AD733B}"/>
              </a:ext>
            </a:extLst>
          </p:cNvPr>
          <p:cNvGrpSpPr/>
          <p:nvPr/>
        </p:nvGrpSpPr>
        <p:grpSpPr>
          <a:xfrm>
            <a:off x="4583832" y="3861048"/>
            <a:ext cx="5357850" cy="2510213"/>
            <a:chOff x="1785918" y="2500306"/>
            <a:chExt cx="5357850" cy="2510213"/>
          </a:xfrm>
        </p:grpSpPr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B6AFB320-72BE-62C5-16B1-7254E630CD2E}"/>
                </a:ext>
              </a:extLst>
            </p:cNvPr>
            <p:cNvSpPr txBox="1"/>
            <p:nvPr/>
          </p:nvSpPr>
          <p:spPr>
            <a:xfrm>
              <a:off x="3213090" y="4610409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latin typeface="Consolas" pitchFamily="49" charset="0"/>
                  <a:cs typeface="Consolas" pitchFamily="49" charset="0"/>
                </a:rPr>
                <a:t>i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1" name="TextBox 22">
              <a:extLst>
                <a:ext uri="{FF2B5EF4-FFF2-40B4-BE49-F238E27FC236}">
                  <a16:creationId xmlns:a16="http://schemas.microsoft.com/office/drawing/2014/main" id="{B0C360B2-9894-1D78-50C3-3E48D7561A1D}"/>
                </a:ext>
              </a:extLst>
            </p:cNvPr>
            <p:cNvSpPr txBox="1"/>
            <p:nvPr/>
          </p:nvSpPr>
          <p:spPr>
            <a:xfrm>
              <a:off x="3998908" y="4610409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2" name="TextBox 23">
              <a:extLst>
                <a:ext uri="{FF2B5EF4-FFF2-40B4-BE49-F238E27FC236}">
                  <a16:creationId xmlns:a16="http://schemas.microsoft.com/office/drawing/2014/main" id="{D85C7E5C-A295-80BA-910A-DA75128E29F9}"/>
                </a:ext>
              </a:extLst>
            </p:cNvPr>
            <p:cNvSpPr txBox="1"/>
            <p:nvPr/>
          </p:nvSpPr>
          <p:spPr>
            <a:xfrm>
              <a:off x="4713288" y="4610409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latin typeface="Consolas" pitchFamily="49" charset="0"/>
                  <a:cs typeface="Consolas" pitchFamily="49" charset="0"/>
                </a:rPr>
                <a:t>di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A2D81568-AACA-41F1-BB54-E6156CA34B9D}"/>
                </a:ext>
              </a:extLst>
            </p:cNvPr>
            <p:cNvSpPr txBox="1"/>
            <p:nvPr/>
          </p:nvSpPr>
          <p:spPr>
            <a:xfrm>
              <a:off x="3213090" y="4000504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latin typeface="Consolas" pitchFamily="49" charset="0"/>
                  <a:cs typeface="Consolas" pitchFamily="49" charset="0"/>
                </a:rPr>
                <a:t>i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4" name="TextBox 25">
              <a:extLst>
                <a:ext uri="{FF2B5EF4-FFF2-40B4-BE49-F238E27FC236}">
                  <a16:creationId xmlns:a16="http://schemas.microsoft.com/office/drawing/2014/main" id="{FE9A82A2-94E1-2D94-0FD7-4552C4EA9451}"/>
                </a:ext>
              </a:extLst>
            </p:cNvPr>
            <p:cNvSpPr txBox="1"/>
            <p:nvPr/>
          </p:nvSpPr>
          <p:spPr>
            <a:xfrm>
              <a:off x="3998908" y="4000504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5" name="TextBox 26">
              <a:extLst>
                <a:ext uri="{FF2B5EF4-FFF2-40B4-BE49-F238E27FC236}">
                  <a16:creationId xmlns:a16="http://schemas.microsoft.com/office/drawing/2014/main" id="{FA641FC8-2219-9E9D-BE78-DE393E81CDC7}"/>
                </a:ext>
              </a:extLst>
            </p:cNvPr>
            <p:cNvSpPr txBox="1"/>
            <p:nvPr/>
          </p:nvSpPr>
          <p:spPr>
            <a:xfrm>
              <a:off x="4713288" y="4000504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solidFill>
                    <a:srgbClr val="FF00FF"/>
                  </a:solidFill>
                  <a:latin typeface="Consolas" pitchFamily="49" charset="0"/>
                  <a:cs typeface="Consolas" pitchFamily="49" charset="0"/>
                </a:rPr>
                <a:t>d</a:t>
              </a:r>
              <a:endParaRPr lang="zh-CN" altLang="en-US" sz="2000" i="1" dirty="0">
                <a:solidFill>
                  <a:srgbClr val="FF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5D34A2A-0E5D-82F1-FAEC-78FD0F1C21E2}"/>
                </a:ext>
              </a:extLst>
            </p:cNvPr>
            <p:cNvCxnSpPr/>
            <p:nvPr/>
          </p:nvCxnSpPr>
          <p:spPr>
            <a:xfrm rot="5400000">
              <a:off x="2355834" y="4000504"/>
              <a:ext cx="1143008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119BC576-4BBE-3712-C9ED-9D26B9DCCF5E}"/>
                </a:ext>
              </a:extLst>
            </p:cNvPr>
            <p:cNvCxnSpPr/>
            <p:nvPr/>
          </p:nvCxnSpPr>
          <p:spPr>
            <a:xfrm>
              <a:off x="2927338" y="4572008"/>
              <a:ext cx="2714644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1364C35-AD49-7E0D-07E6-99C391B00A31}"/>
                </a:ext>
              </a:extLst>
            </p:cNvPr>
            <p:cNvCxnSpPr/>
            <p:nvPr/>
          </p:nvCxnSpPr>
          <p:spPr>
            <a:xfrm rot="5400000">
              <a:off x="5071272" y="3999710"/>
              <a:ext cx="1143008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8" name="TextBox 32">
              <a:extLst>
                <a:ext uri="{FF2B5EF4-FFF2-40B4-BE49-F238E27FC236}">
                  <a16:creationId xmlns:a16="http://schemas.microsoft.com/office/drawing/2014/main" id="{FE5A55B3-5145-122D-A729-2C9E21F71C53}"/>
                </a:ext>
              </a:extLst>
            </p:cNvPr>
            <p:cNvSpPr txBox="1"/>
            <p:nvPr/>
          </p:nvSpPr>
          <p:spPr>
            <a:xfrm>
              <a:off x="1785918" y="3786190"/>
              <a:ext cx="857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栈</a:t>
              </a:r>
            </a:p>
          </p:txBody>
        </p:sp>
        <p:sp>
          <p:nvSpPr>
            <p:cNvPr id="39" name="下箭头 33">
              <a:extLst>
                <a:ext uri="{FF2B5EF4-FFF2-40B4-BE49-F238E27FC236}">
                  <a16:creationId xmlns:a16="http://schemas.microsoft.com/office/drawing/2014/main" id="{0CA905BD-1080-9090-6790-A9FE4875D3BA}"/>
                </a:ext>
              </a:extLst>
            </p:cNvPr>
            <p:cNvSpPr/>
            <p:nvPr/>
          </p:nvSpPr>
          <p:spPr bwMode="auto">
            <a:xfrm>
              <a:off x="4000496" y="2500306"/>
              <a:ext cx="285752" cy="714380"/>
            </a:xfrm>
            <a:prstGeom prst="downArrow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0" name="TextBox 34">
              <a:extLst>
                <a:ext uri="{FF2B5EF4-FFF2-40B4-BE49-F238E27FC236}">
                  <a16:creationId xmlns:a16="http://schemas.microsoft.com/office/drawing/2014/main" id="{5802B5ED-9389-C462-D2A8-B29CB7A96454}"/>
                </a:ext>
              </a:extLst>
            </p:cNvPr>
            <p:cNvSpPr txBox="1"/>
            <p:nvPr/>
          </p:nvSpPr>
          <p:spPr>
            <a:xfrm>
              <a:off x="4429124" y="2600262"/>
              <a:ext cx="27146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将（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x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y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-1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）进栈</a:t>
              </a:r>
            </a:p>
          </p:txBody>
        </p:sp>
        <p:sp>
          <p:nvSpPr>
            <p:cNvPr id="41" name="TextBox 27">
              <a:extLst>
                <a:ext uri="{FF2B5EF4-FFF2-40B4-BE49-F238E27FC236}">
                  <a16:creationId xmlns:a16="http://schemas.microsoft.com/office/drawing/2014/main" id="{AAD47203-AC8E-869E-4A20-1E7B8B3AE9F7}"/>
                </a:ext>
              </a:extLst>
            </p:cNvPr>
            <p:cNvSpPr txBox="1"/>
            <p:nvPr/>
          </p:nvSpPr>
          <p:spPr>
            <a:xfrm>
              <a:off x="3214678" y="3467401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latin typeface="Consolas" pitchFamily="49" charset="0"/>
                  <a:cs typeface="Consolas" pitchFamily="49" charset="0"/>
                </a:rPr>
                <a:t>x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2" name="TextBox 29">
              <a:extLst>
                <a:ext uri="{FF2B5EF4-FFF2-40B4-BE49-F238E27FC236}">
                  <a16:creationId xmlns:a16="http://schemas.microsoft.com/office/drawing/2014/main" id="{97D66059-CE48-274A-F8E4-7506818FDF6D}"/>
                </a:ext>
              </a:extLst>
            </p:cNvPr>
            <p:cNvSpPr txBox="1"/>
            <p:nvPr/>
          </p:nvSpPr>
          <p:spPr>
            <a:xfrm>
              <a:off x="4000496" y="3467401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y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3" name="TextBox 35">
              <a:extLst>
                <a:ext uri="{FF2B5EF4-FFF2-40B4-BE49-F238E27FC236}">
                  <a16:creationId xmlns:a16="http://schemas.microsoft.com/office/drawing/2014/main" id="{0FFC3F6F-4CD2-D4D8-2417-25B09B54FA45}"/>
                </a:ext>
              </a:extLst>
            </p:cNvPr>
            <p:cNvSpPr txBox="1"/>
            <p:nvPr/>
          </p:nvSpPr>
          <p:spPr>
            <a:xfrm>
              <a:off x="4714876" y="3467401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Consolas" pitchFamily="49" charset="0"/>
                  <a:ea typeface="+mj-ea"/>
                  <a:cs typeface="Consolas" pitchFamily="49" charset="0"/>
                </a:rPr>
                <a:t>-</a:t>
              </a: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1</a:t>
              </a:r>
              <a:endParaRPr lang="zh-CN" altLang="en-US" sz="2000" dirty="0"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453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02819-1DFA-455B-93FA-E48022E9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7D45569-EC8E-7560-F91A-4C1ACD57605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A25A44-05CE-59F8-1A43-5AB2419D6732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40813FF-44B4-998B-42C2-7E4273C3168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40E165A-855C-4727-5301-25DBE88E12F5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17E5785D-6FB3-4736-D018-3BD8D759EF6D}"/>
              </a:ext>
            </a:extLst>
          </p:cNvPr>
          <p:cNvSpPr txBox="1"/>
          <p:nvPr/>
        </p:nvSpPr>
        <p:spPr>
          <a:xfrm>
            <a:off x="1560636" y="1848920"/>
            <a:ext cx="1295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算法设计</a:t>
            </a: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11A65B84-5340-E879-DFC5-960025C35E4D}"/>
              </a:ext>
            </a:extLst>
          </p:cNvPr>
          <p:cNvSpPr txBox="1"/>
          <p:nvPr/>
        </p:nvSpPr>
        <p:spPr>
          <a:xfrm>
            <a:off x="2733854" y="2042800"/>
            <a:ext cx="8643998" cy="782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   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如果一个当前方块（</a:t>
            </a:r>
            <a:r>
              <a:rPr lang="en-US" altLang="zh-CN" sz="2000" dirty="0" err="1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i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j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）没有找到任何相邻可走方块，表示此时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无路可走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，将其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退栈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。</a:t>
            </a:r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4D3ADC7A-9906-2DF3-D650-3946BC49E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476" y="3857268"/>
            <a:ext cx="720000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8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BE18BAD-4D93-F541-F149-172176CC192D}"/>
              </a:ext>
            </a:extLst>
          </p:cNvPr>
          <p:cNvCxnSpPr>
            <a:stCxn id="7" idx="3"/>
          </p:cNvCxnSpPr>
          <p:nvPr/>
        </p:nvCxnSpPr>
        <p:spPr>
          <a:xfrm>
            <a:off x="4163476" y="4127268"/>
            <a:ext cx="504000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32ABA80-2ED4-1A17-8BD9-FD78B83875C4}"/>
              </a:ext>
            </a:extLst>
          </p:cNvPr>
          <p:cNvCxnSpPr>
            <a:stCxn id="7" idx="2"/>
          </p:cNvCxnSpPr>
          <p:nvPr/>
        </p:nvCxnSpPr>
        <p:spPr>
          <a:xfrm rot="5400000">
            <a:off x="3607724" y="4590210"/>
            <a:ext cx="388694" cy="281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910F234-6146-8E4C-6D20-63F79A5CC806}"/>
              </a:ext>
            </a:extLst>
          </p:cNvPr>
          <p:cNvCxnSpPr>
            <a:stCxn id="7" idx="1"/>
          </p:cNvCxnSpPr>
          <p:nvPr/>
        </p:nvCxnSpPr>
        <p:spPr>
          <a:xfrm rot="10800000" flipV="1">
            <a:off x="2939476" y="4143020"/>
            <a:ext cx="504000" cy="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14F1878-C91F-3FD5-40E8-F118FE1B5373}"/>
              </a:ext>
            </a:extLst>
          </p:cNvPr>
          <p:cNvCxnSpPr>
            <a:stCxn id="7" idx="0"/>
          </p:cNvCxnSpPr>
          <p:nvPr/>
        </p:nvCxnSpPr>
        <p:spPr>
          <a:xfrm rot="16200000" flipV="1">
            <a:off x="3659195" y="3712987"/>
            <a:ext cx="285752" cy="2810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11">
            <a:extLst>
              <a:ext uri="{FF2B5EF4-FFF2-40B4-BE49-F238E27FC236}">
                <a16:creationId xmlns:a16="http://schemas.microsoft.com/office/drawing/2014/main" id="{83B7CAA7-1A41-3770-D8B7-4240BD862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360" y="3928706"/>
            <a:ext cx="576262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×</a:t>
            </a:r>
          </a:p>
        </p:txBody>
      </p:sp>
      <p:sp>
        <p:nvSpPr>
          <p:cNvPr id="27" name="Text Box 11">
            <a:extLst>
              <a:ext uri="{FF2B5EF4-FFF2-40B4-BE49-F238E27FC236}">
                <a16:creationId xmlns:a16="http://schemas.microsoft.com/office/drawing/2014/main" id="{7DC88E9C-F47C-C961-4CE7-CDA73E0ED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0156" y="3171406"/>
            <a:ext cx="576262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×</a:t>
            </a: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DD6F90B6-B500-F515-5D74-4FD4A69CD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914" y="4785962"/>
            <a:ext cx="576262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×</a:t>
            </a: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06781345-080D-21A7-00C2-E110A9617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102" y="3785830"/>
            <a:ext cx="576262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C0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×</a:t>
            </a:r>
          </a:p>
        </p:txBody>
      </p:sp>
      <p:grpSp>
        <p:nvGrpSpPr>
          <p:cNvPr id="30" name="组合 33">
            <a:extLst>
              <a:ext uri="{FF2B5EF4-FFF2-40B4-BE49-F238E27FC236}">
                <a16:creationId xmlns:a16="http://schemas.microsoft.com/office/drawing/2014/main" id="{4D82A263-3357-C92B-CF53-F46195F7D396}"/>
              </a:ext>
            </a:extLst>
          </p:cNvPr>
          <p:cNvGrpSpPr/>
          <p:nvPr/>
        </p:nvGrpSpPr>
        <p:grpSpPr>
          <a:xfrm>
            <a:off x="5519936" y="2757180"/>
            <a:ext cx="5715040" cy="2724527"/>
            <a:chOff x="3143240" y="1071546"/>
            <a:chExt cx="5715040" cy="2724527"/>
          </a:xfrm>
        </p:grpSpPr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CD262573-BFAF-DBC1-788B-0AE8A07F9905}"/>
                </a:ext>
              </a:extLst>
            </p:cNvPr>
            <p:cNvSpPr txBox="1"/>
            <p:nvPr/>
          </p:nvSpPr>
          <p:spPr>
            <a:xfrm>
              <a:off x="5213354" y="3395963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latin typeface="Consolas" pitchFamily="49" charset="0"/>
                  <a:cs typeface="Consolas" pitchFamily="49" charset="0"/>
                </a:rPr>
                <a:t>i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2" name="TextBox 22">
              <a:extLst>
                <a:ext uri="{FF2B5EF4-FFF2-40B4-BE49-F238E27FC236}">
                  <a16:creationId xmlns:a16="http://schemas.microsoft.com/office/drawing/2014/main" id="{3DB25148-FA1D-6738-CA50-B3BC89D5EF02}"/>
                </a:ext>
              </a:extLst>
            </p:cNvPr>
            <p:cNvSpPr txBox="1"/>
            <p:nvPr/>
          </p:nvSpPr>
          <p:spPr>
            <a:xfrm>
              <a:off x="5999172" y="3395963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3" name="TextBox 23">
              <a:extLst>
                <a:ext uri="{FF2B5EF4-FFF2-40B4-BE49-F238E27FC236}">
                  <a16:creationId xmlns:a16="http://schemas.microsoft.com/office/drawing/2014/main" id="{6F611358-21AC-BD0B-541F-0B8E6C634290}"/>
                </a:ext>
              </a:extLst>
            </p:cNvPr>
            <p:cNvSpPr txBox="1"/>
            <p:nvPr/>
          </p:nvSpPr>
          <p:spPr>
            <a:xfrm>
              <a:off x="6713552" y="3395963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latin typeface="Consolas" pitchFamily="49" charset="0"/>
                  <a:cs typeface="Consolas" pitchFamily="49" charset="0"/>
                </a:rPr>
                <a:t>di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4" name="TextBox 24">
              <a:extLst>
                <a:ext uri="{FF2B5EF4-FFF2-40B4-BE49-F238E27FC236}">
                  <a16:creationId xmlns:a16="http://schemas.microsoft.com/office/drawing/2014/main" id="{5BC752CE-E7E7-7816-87FA-1A9DE70114D8}"/>
                </a:ext>
              </a:extLst>
            </p:cNvPr>
            <p:cNvSpPr txBox="1"/>
            <p:nvPr/>
          </p:nvSpPr>
          <p:spPr>
            <a:xfrm>
              <a:off x="5213354" y="2285992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 err="1">
                  <a:latin typeface="Consolas" pitchFamily="49" charset="0"/>
                  <a:cs typeface="Consolas" pitchFamily="49" charset="0"/>
                </a:rPr>
                <a:t>i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5" name="TextBox 25">
              <a:extLst>
                <a:ext uri="{FF2B5EF4-FFF2-40B4-BE49-F238E27FC236}">
                  <a16:creationId xmlns:a16="http://schemas.microsoft.com/office/drawing/2014/main" id="{18ED4456-1669-3704-407F-A92D12E2629C}"/>
                </a:ext>
              </a:extLst>
            </p:cNvPr>
            <p:cNvSpPr txBox="1"/>
            <p:nvPr/>
          </p:nvSpPr>
          <p:spPr>
            <a:xfrm>
              <a:off x="5999172" y="2285992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j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TextBox 26">
              <a:extLst>
                <a:ext uri="{FF2B5EF4-FFF2-40B4-BE49-F238E27FC236}">
                  <a16:creationId xmlns:a16="http://schemas.microsoft.com/office/drawing/2014/main" id="{42AEFF1A-C6B6-9B7F-825B-61D21BEBFC23}"/>
                </a:ext>
              </a:extLst>
            </p:cNvPr>
            <p:cNvSpPr txBox="1"/>
            <p:nvPr/>
          </p:nvSpPr>
          <p:spPr>
            <a:xfrm>
              <a:off x="6713552" y="2285992"/>
              <a:ext cx="7143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Consolas" pitchFamily="49" charset="0"/>
                  <a:cs typeface="Consolas" pitchFamily="49" charset="0"/>
                </a:rPr>
                <a:t>d</a:t>
              </a:r>
              <a:endParaRPr lang="zh-CN" altLang="en-US" sz="2000" i="1" dirty="0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A49E6D6D-2F00-8A51-BD2F-0682152AB94D}"/>
                </a:ext>
              </a:extLst>
            </p:cNvPr>
            <p:cNvCxnSpPr/>
            <p:nvPr/>
          </p:nvCxnSpPr>
          <p:spPr>
            <a:xfrm rot="5400000">
              <a:off x="4356098" y="2786058"/>
              <a:ext cx="1143008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BFA34D31-18DF-E115-2AAB-F949D190C36F}"/>
                </a:ext>
              </a:extLst>
            </p:cNvPr>
            <p:cNvCxnSpPr/>
            <p:nvPr/>
          </p:nvCxnSpPr>
          <p:spPr>
            <a:xfrm>
              <a:off x="4927602" y="3357562"/>
              <a:ext cx="2714644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3585F9A5-C6FF-D68F-F0BD-2CE5B6752B59}"/>
                </a:ext>
              </a:extLst>
            </p:cNvPr>
            <p:cNvCxnSpPr/>
            <p:nvPr/>
          </p:nvCxnSpPr>
          <p:spPr>
            <a:xfrm rot="5400000">
              <a:off x="7071536" y="2785264"/>
              <a:ext cx="1143008" cy="1588"/>
            </a:xfrm>
            <a:prstGeom prst="line">
              <a:avLst/>
            </a:prstGeom>
            <a:ln/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48" name="TextBox 32">
              <a:extLst>
                <a:ext uri="{FF2B5EF4-FFF2-40B4-BE49-F238E27FC236}">
                  <a16:creationId xmlns:a16="http://schemas.microsoft.com/office/drawing/2014/main" id="{303ED3A8-7C37-184E-48C6-931865DC0D47}"/>
                </a:ext>
              </a:extLst>
            </p:cNvPr>
            <p:cNvSpPr txBox="1"/>
            <p:nvPr/>
          </p:nvSpPr>
          <p:spPr>
            <a:xfrm>
              <a:off x="4140990" y="2571744"/>
              <a:ext cx="857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栈</a:t>
              </a:r>
            </a:p>
          </p:txBody>
        </p:sp>
        <p:sp>
          <p:nvSpPr>
            <p:cNvPr id="49" name="TextBox 34">
              <a:extLst>
                <a:ext uri="{FF2B5EF4-FFF2-40B4-BE49-F238E27FC236}">
                  <a16:creationId xmlns:a16="http://schemas.microsoft.com/office/drawing/2014/main" id="{3078BC39-F554-C696-39A7-96F97C3AACEE}"/>
                </a:ext>
              </a:extLst>
            </p:cNvPr>
            <p:cNvSpPr txBox="1"/>
            <p:nvPr/>
          </p:nvSpPr>
          <p:spPr>
            <a:xfrm>
              <a:off x="6429388" y="1385816"/>
              <a:ext cx="24288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将（</a:t>
              </a:r>
              <a:r>
                <a:rPr lang="en-US" altLang="zh-CN" sz="2000" dirty="0" err="1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i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j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，</a:t>
              </a:r>
              <a:r>
                <a:rPr lang="en-US" altLang="zh-CN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d</a:t>
              </a: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）退栈</a:t>
              </a:r>
            </a:p>
          </p:txBody>
        </p:sp>
        <p:sp>
          <p:nvSpPr>
            <p:cNvPr id="50" name="上箭头 20">
              <a:extLst>
                <a:ext uri="{FF2B5EF4-FFF2-40B4-BE49-F238E27FC236}">
                  <a16:creationId xmlns:a16="http://schemas.microsoft.com/office/drawing/2014/main" id="{47903BF2-22BC-40FE-0BC7-B639EFFE7AD3}"/>
                </a:ext>
              </a:extLst>
            </p:cNvPr>
            <p:cNvSpPr/>
            <p:nvPr/>
          </p:nvSpPr>
          <p:spPr bwMode="auto">
            <a:xfrm>
              <a:off x="6000760" y="1071546"/>
              <a:ext cx="285752" cy="857256"/>
            </a:xfrm>
            <a:prstGeom prst="upArrow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1" name="右箭头 46">
              <a:extLst>
                <a:ext uri="{FF2B5EF4-FFF2-40B4-BE49-F238E27FC236}">
                  <a16:creationId xmlns:a16="http://schemas.microsoft.com/office/drawing/2014/main" id="{3E409659-FAE6-9D22-7444-8828B3ABB6DC}"/>
                </a:ext>
              </a:extLst>
            </p:cNvPr>
            <p:cNvSpPr/>
            <p:nvPr/>
          </p:nvSpPr>
          <p:spPr bwMode="auto">
            <a:xfrm>
              <a:off x="3143240" y="2143116"/>
              <a:ext cx="785818" cy="500066"/>
            </a:xfrm>
            <a:prstGeom prst="rightArrow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2" name="TextBox 27">
              <a:extLst>
                <a:ext uri="{FF2B5EF4-FFF2-40B4-BE49-F238E27FC236}">
                  <a16:creationId xmlns:a16="http://schemas.microsoft.com/office/drawing/2014/main" id="{A1AFAD9E-DDAE-AE05-9A7F-56CF7225F5B6}"/>
                </a:ext>
              </a:extLst>
            </p:cNvPr>
            <p:cNvSpPr txBox="1"/>
            <p:nvPr/>
          </p:nvSpPr>
          <p:spPr>
            <a:xfrm flipH="1">
              <a:off x="5143504" y="2681583"/>
              <a:ext cx="12938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Consolas" pitchFamily="49" charset="0"/>
                  <a:cs typeface="Consolas" pitchFamily="49" charset="0"/>
                  <a:sym typeface="Symbol"/>
                </a:rPr>
                <a:t></a:t>
              </a:r>
              <a:endParaRPr lang="zh-CN" altLang="en-US" sz="2000" dirty="0"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39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2414-E463-9F83-60AD-8A9B99C9C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AC2C03-838A-7E18-7FA1-8E1B6349A945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B7EE39-22BA-4B21-607F-BA6B178EF731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187474A-0702-1842-271F-2F1C284CAAA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E84B1BC-D3C7-DA72-8BEB-DB9A309783FC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37A9753A-718A-983F-E283-297E0809F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1864149"/>
            <a:ext cx="2848004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求解迷宫路径的过程：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F88946BA-8AFB-6277-FEC9-9B4A37CF6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9074" y="2864281"/>
            <a:ext cx="1368425" cy="648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前一方块</a:t>
            </a:r>
          </a:p>
        </p:txBody>
      </p:sp>
      <p:grpSp>
        <p:nvGrpSpPr>
          <p:cNvPr id="16" name="组合 18">
            <a:extLst>
              <a:ext uri="{FF2B5EF4-FFF2-40B4-BE49-F238E27FC236}">
                <a16:creationId xmlns:a16="http://schemas.microsoft.com/office/drawing/2014/main" id="{30A3537D-A7D5-2118-1149-CF009173B094}"/>
              </a:ext>
            </a:extLst>
          </p:cNvPr>
          <p:cNvGrpSpPr/>
          <p:nvPr/>
        </p:nvGrpSpPr>
        <p:grpSpPr>
          <a:xfrm>
            <a:off x="7049108" y="2435653"/>
            <a:ext cx="1149363" cy="561989"/>
            <a:chOff x="5989647" y="1285860"/>
            <a:chExt cx="1149363" cy="561989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31F8D-BBA3-64AC-35D5-D5DDBCFB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9647" y="1500174"/>
              <a:ext cx="649297" cy="347675"/>
            </a:xfrm>
            <a:custGeom>
              <a:avLst/>
              <a:gdLst/>
              <a:ahLst/>
              <a:cxnLst>
                <a:cxn ang="0">
                  <a:pos x="0" y="262"/>
                </a:cxn>
                <a:cxn ang="0">
                  <a:pos x="405" y="0"/>
                </a:cxn>
              </a:cxnLst>
              <a:rect l="0" t="0" r="r" b="b"/>
              <a:pathLst>
                <a:path w="405" h="262">
                  <a:moveTo>
                    <a:pt x="0" y="262"/>
                  </a:moveTo>
                  <a:lnTo>
                    <a:pt x="405" y="0"/>
                  </a:lnTo>
                </a:path>
              </a:pathLst>
            </a:custGeom>
            <a:ln>
              <a:headEnd/>
              <a:tailEnd type="triangle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79926DC7-761E-1E61-3043-10383D50C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2748" y="1285860"/>
              <a:ext cx="576262" cy="4001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ea typeface="楷体" pitchFamily="49" charset="-122"/>
                  <a:cs typeface="Consolas" pitchFamily="49" charset="0"/>
                </a:rPr>
                <a:t>×</a:t>
              </a:r>
            </a:p>
          </p:txBody>
        </p:sp>
      </p:grpSp>
      <p:grpSp>
        <p:nvGrpSpPr>
          <p:cNvPr id="19" name="组合 19">
            <a:extLst>
              <a:ext uri="{FF2B5EF4-FFF2-40B4-BE49-F238E27FC236}">
                <a16:creationId xmlns:a16="http://schemas.microsoft.com/office/drawing/2014/main" id="{30F7C444-5BBA-6ACC-15C8-416E79E8D8C1}"/>
              </a:ext>
            </a:extLst>
          </p:cNvPr>
          <p:cNvGrpSpPr/>
          <p:nvPr/>
        </p:nvGrpSpPr>
        <p:grpSpPr>
          <a:xfrm>
            <a:off x="7049108" y="3356417"/>
            <a:ext cx="1154121" cy="507996"/>
            <a:chOff x="5989647" y="2206624"/>
            <a:chExt cx="1154121" cy="507996"/>
          </a:xfrm>
        </p:grpSpPr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2A6DDE00-6AA1-60D5-3EFE-EE0D192E9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9647" y="2206624"/>
              <a:ext cx="647700" cy="287338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21" name="Text Box 12">
              <a:extLst>
                <a:ext uri="{FF2B5EF4-FFF2-40B4-BE49-F238E27FC236}">
                  <a16:creationId xmlns:a16="http://schemas.microsoft.com/office/drawing/2014/main" id="{0BD94E15-6A41-EF9D-D187-2B3678989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7506" y="2314510"/>
              <a:ext cx="576262" cy="4001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ea typeface="楷体" pitchFamily="49" charset="-122"/>
                  <a:cs typeface="Consolas" pitchFamily="49" charset="0"/>
                </a:rPr>
                <a:t>×</a:t>
              </a:r>
            </a:p>
          </p:txBody>
        </p:sp>
      </p:grpSp>
      <p:grpSp>
        <p:nvGrpSpPr>
          <p:cNvPr id="22" name="组合 17">
            <a:extLst>
              <a:ext uri="{FF2B5EF4-FFF2-40B4-BE49-F238E27FC236}">
                <a16:creationId xmlns:a16="http://schemas.microsoft.com/office/drawing/2014/main" id="{BDFEE729-A344-EFF3-1EA5-E918523EFD8F}"/>
              </a:ext>
            </a:extLst>
          </p:cNvPr>
          <p:cNvGrpSpPr/>
          <p:nvPr/>
        </p:nvGrpSpPr>
        <p:grpSpPr>
          <a:xfrm>
            <a:off x="4407499" y="2864281"/>
            <a:ext cx="2641609" cy="648000"/>
            <a:chOff x="3348038" y="1714488"/>
            <a:chExt cx="2641609" cy="648000"/>
          </a:xfrm>
        </p:grpSpPr>
        <p:sp>
          <p:nvSpPr>
            <p:cNvPr id="23" name="Rectangle 8">
              <a:extLst>
                <a:ext uri="{FF2B5EF4-FFF2-40B4-BE49-F238E27FC236}">
                  <a16:creationId xmlns:a16="http://schemas.microsoft.com/office/drawing/2014/main" id="{CB53A80F-5768-E1E6-A565-3AA4C03BB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1222" y="1714488"/>
              <a:ext cx="1368425" cy="6480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r>
                <a:rPr lang="zh-CN" altLang="en-US" sz="1800" dirty="0">
                  <a:solidFill>
                    <a:srgbClr val="0000FF"/>
                  </a:solidFill>
                  <a:latin typeface="Consolas" pitchFamily="49" charset="0"/>
                  <a:ea typeface="楷体" pitchFamily="49" charset="-122"/>
                  <a:cs typeface="Consolas" pitchFamily="49" charset="0"/>
                </a:rPr>
                <a:t>当前方块</a:t>
              </a:r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id="{A734765E-56A3-4AEB-58C5-3B0A73BC6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038" y="2071678"/>
              <a:ext cx="1295400" cy="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400" y="0"/>
                </a:cxn>
              </a:cxnLst>
              <a:rect l="0" t="0" r="r" b="b"/>
              <a:pathLst>
                <a:path w="400" h="3">
                  <a:moveTo>
                    <a:pt x="0" y="3"/>
                  </a:moveTo>
                  <a:lnTo>
                    <a:pt x="400" y="0"/>
                  </a:lnTo>
                </a:path>
              </a:pathLst>
            </a:custGeom>
            <a:ln>
              <a:headEnd type="none" w="med" len="med"/>
              <a:tailEnd type="triangle" w="med" len="med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1800"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5" name="组合 20">
            <a:extLst>
              <a:ext uri="{FF2B5EF4-FFF2-40B4-BE49-F238E27FC236}">
                <a16:creationId xmlns:a16="http://schemas.microsoft.com/office/drawing/2014/main" id="{5AE10A79-94D7-F849-DDB1-3EBC426ECD8B}"/>
              </a:ext>
            </a:extLst>
          </p:cNvPr>
          <p:cNvGrpSpPr/>
          <p:nvPr/>
        </p:nvGrpSpPr>
        <p:grpSpPr>
          <a:xfrm>
            <a:off x="4178899" y="3578661"/>
            <a:ext cx="1809752" cy="900176"/>
            <a:chOff x="3119438" y="2428868"/>
            <a:chExt cx="1809752" cy="900176"/>
          </a:xfrm>
        </p:grpSpPr>
        <p:sp>
          <p:nvSpPr>
            <p:cNvPr id="26" name="AutoShape 14">
              <a:extLst>
                <a:ext uri="{FF2B5EF4-FFF2-40B4-BE49-F238E27FC236}">
                  <a16:creationId xmlns:a16="http://schemas.microsoft.com/office/drawing/2014/main" id="{EEE9E012-D2BD-6A2F-65FE-416E0E4EC8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811585" y="1736721"/>
              <a:ext cx="425457" cy="1809752"/>
            </a:xfrm>
            <a:prstGeom prst="curvedLeftArrow">
              <a:avLst>
                <a:gd name="adj1" fmla="val 59912"/>
                <a:gd name="adj2" fmla="val 119824"/>
                <a:gd name="adj3" fmla="val 33333"/>
              </a:avLst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6" name="Text Box 15">
              <a:extLst>
                <a:ext uri="{FF2B5EF4-FFF2-40B4-BE49-F238E27FC236}">
                  <a16:creationId xmlns:a16="http://schemas.microsoft.com/office/drawing/2014/main" id="{A1EE5F62-7C5F-4B1D-3FC4-46DEC8F59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400" y="2928934"/>
              <a:ext cx="863600" cy="40011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方正启体简体" pitchFamily="65" charset="-122"/>
                  <a:ea typeface="方正启体简体" pitchFamily="65" charset="-122"/>
                  <a:cs typeface="Consolas" pitchFamily="49" charset="0"/>
                </a:rPr>
                <a:t>回溯</a:t>
              </a:r>
            </a:p>
          </p:txBody>
        </p:sp>
      </p:grpSp>
      <p:grpSp>
        <p:nvGrpSpPr>
          <p:cNvPr id="37" name="组合 21">
            <a:extLst>
              <a:ext uri="{FF2B5EF4-FFF2-40B4-BE49-F238E27FC236}">
                <a16:creationId xmlns:a16="http://schemas.microsoft.com/office/drawing/2014/main" id="{79714AE9-0A5D-CD65-05BF-9B7B5AE0C3A9}"/>
              </a:ext>
            </a:extLst>
          </p:cNvPr>
          <p:cNvGrpSpPr/>
          <p:nvPr/>
        </p:nvGrpSpPr>
        <p:grpSpPr>
          <a:xfrm>
            <a:off x="3118441" y="3578661"/>
            <a:ext cx="430846" cy="3008327"/>
            <a:chOff x="2040892" y="2349499"/>
            <a:chExt cx="430846" cy="3008327"/>
          </a:xfrm>
        </p:grpSpPr>
        <p:sp>
          <p:nvSpPr>
            <p:cNvPr id="38" name="Line 16">
              <a:extLst>
                <a:ext uri="{FF2B5EF4-FFF2-40B4-BE49-F238E27FC236}">
                  <a16:creationId xmlns:a16="http://schemas.microsoft.com/office/drawing/2014/main" id="{79560B5D-7275-F641-C26F-89584D2C5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738" y="2349500"/>
              <a:ext cx="0" cy="2879725"/>
            </a:xfrm>
            <a:prstGeom prst="line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9" name="Text Box 17">
              <a:extLst>
                <a:ext uri="{FF2B5EF4-FFF2-40B4-BE49-F238E27FC236}">
                  <a16:creationId xmlns:a16="http://schemas.microsoft.com/office/drawing/2014/main" id="{916FE07B-9E3D-586F-49FA-F30F42F83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892" y="2349499"/>
              <a:ext cx="307777" cy="300832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vert="eaVert"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spc="300" dirty="0">
                  <a:latin typeface="仿宋" pitchFamily="49" charset="-122"/>
                  <a:ea typeface="仿宋" pitchFamily="49" charset="-122"/>
                  <a:cs typeface="Consolas" pitchFamily="49" charset="0"/>
                </a:rPr>
                <a:t>找其他可能的相邻方块</a:t>
              </a:r>
            </a:p>
          </p:txBody>
        </p:sp>
      </p:grpSp>
      <p:sp>
        <p:nvSpPr>
          <p:cNvPr id="40" name="Text Box 6">
            <a:extLst>
              <a:ext uri="{FF2B5EF4-FFF2-40B4-BE49-F238E27FC236}">
                <a16:creationId xmlns:a16="http://schemas.microsoft.com/office/drawing/2014/main" id="{0E70415D-B3C0-2738-5159-0864709EB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775" y="4078727"/>
            <a:ext cx="2857520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0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所有相邻方块都不能走</a:t>
            </a:r>
          </a:p>
        </p:txBody>
      </p:sp>
    </p:spTree>
    <p:extLst>
      <p:ext uri="{BB962C8B-B14F-4D97-AF65-F5344CB8AC3E}">
        <p14:creationId xmlns:p14="http://schemas.microsoft.com/office/powerpoint/2010/main" val="54634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0" grpId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2BE84-2201-BBA4-503C-7732A145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842466-A53E-AF96-1A47-ECC62CC852A8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9A7CF42-1D5C-9ABD-EC3B-D3BA9AA3BEC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2">
            <a:extLst>
              <a:ext uri="{FF2B5EF4-FFF2-40B4-BE49-F238E27FC236}">
                <a16:creationId xmlns:a16="http://schemas.microsoft.com/office/drawing/2014/main" id="{98D1B04B-0E87-F708-A3EB-33937B444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942" y="1592619"/>
            <a:ext cx="8572560" cy="24036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80000" bIns="18000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xi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yi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xe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ye)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Box path[MaxSize], e; int 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i1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j1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k;  bool find;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StType *st;	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定义栈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InitStack(st);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初始化栈顶指针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e.i=xi; e.j=yi; e.di=-1;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设置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为入口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Push(st,e);	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</a:p>
          <a:p>
            <a:pPr algn="l">
              <a:lnSpc>
                <a:spcPts val="23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mg[xi][yi]=-1;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入口的迷宫值置为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避免重复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90951796-CAA2-88CF-DCE7-F01BD8898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124744"/>
            <a:ext cx="8620154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用栈求一条迷宫路径的算法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  <a:sym typeface="Wingdings" pitchFamily="2" charset="2"/>
              </a:rPr>
              <a:t>： 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（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xi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，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yi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）</a:t>
            </a:r>
            <a:r>
              <a:rPr lang="zh-CN" altLang="en-US" sz="18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</a:t>
            </a:r>
            <a:r>
              <a:rPr lang="zh-CN" altLang="en-US" sz="1800" dirty="0"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 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（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xe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，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ye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）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 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grpSp>
        <p:nvGrpSpPr>
          <p:cNvPr id="7" name="组合 105">
            <a:extLst>
              <a:ext uri="{FF2B5EF4-FFF2-40B4-BE49-F238E27FC236}">
                <a16:creationId xmlns:a16="http://schemas.microsoft.com/office/drawing/2014/main" id="{04ADAE9F-0029-E31B-4154-6BB6812F6EB9}"/>
              </a:ext>
            </a:extLst>
          </p:cNvPr>
          <p:cNvGrpSpPr/>
          <p:nvPr/>
        </p:nvGrpSpPr>
        <p:grpSpPr>
          <a:xfrm>
            <a:off x="2269775" y="3996245"/>
            <a:ext cx="4814895" cy="2789471"/>
            <a:chOff x="900113" y="2916792"/>
            <a:chExt cx="4814895" cy="2789471"/>
          </a:xfrm>
        </p:grpSpPr>
        <p:sp>
          <p:nvSpPr>
            <p:cNvPr id="9" name="Text Box 134">
              <a:extLst>
                <a:ext uri="{FF2B5EF4-FFF2-40B4-BE49-F238E27FC236}">
                  <a16:creationId xmlns:a16="http://schemas.microsoft.com/office/drawing/2014/main" id="{A58735DE-C6DE-90DB-E0B5-AFED1C1A56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5874" y="2916792"/>
              <a:ext cx="226059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800">
                  <a:solidFill>
                    <a:srgbClr val="00B0F0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0  1  2  3  4  </a:t>
              </a:r>
              <a:r>
                <a:rPr lang="en-US" altLang="zh-CN" sz="1800" dirty="0">
                  <a:solidFill>
                    <a:srgbClr val="00B0F0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5</a:t>
              </a:r>
            </a:p>
          </p:txBody>
        </p:sp>
        <p:sp>
          <p:nvSpPr>
            <p:cNvPr id="10" name="Text Box 135">
              <a:extLst>
                <a:ext uri="{FF2B5EF4-FFF2-40B4-BE49-F238E27FC236}">
                  <a16:creationId xmlns:a16="http://schemas.microsoft.com/office/drawing/2014/main" id="{0373BDB9-B909-5AB9-5921-5AB02A6D0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0113" y="3309934"/>
              <a:ext cx="433387" cy="2235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en-US" altLang="zh-CN" sz="1800" dirty="0">
                  <a:solidFill>
                    <a:srgbClr val="00B0F0"/>
                  </a:solidFill>
                  <a:latin typeface="Consolas" pitchFamily="49" charset="0"/>
                  <a:ea typeface="宋体" pitchFamily="2" charset="-122"/>
                  <a:cs typeface="Consolas" pitchFamily="49" charset="0"/>
                </a:rPr>
                <a:t>0   1    2    3    4   5</a:t>
              </a:r>
            </a:p>
          </p:txBody>
        </p:sp>
        <p:sp>
          <p:nvSpPr>
            <p:cNvPr id="13" name="Rectangle 33">
              <a:extLst>
                <a:ext uri="{FF2B5EF4-FFF2-40B4-BE49-F238E27FC236}">
                  <a16:creationId xmlns:a16="http://schemas.microsoft.com/office/drawing/2014/main" id="{1603893F-C51E-915A-B480-427BE2B60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852" y="33575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4" name="Rectangle 43">
              <a:extLst>
                <a:ext uri="{FF2B5EF4-FFF2-40B4-BE49-F238E27FC236}">
                  <a16:creationId xmlns:a16="http://schemas.microsoft.com/office/drawing/2014/main" id="{0F9832E5-577D-074A-5BD2-0329CDF6D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852" y="371633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5" name="Rectangle 53">
              <a:extLst>
                <a:ext uri="{FF2B5EF4-FFF2-40B4-BE49-F238E27FC236}">
                  <a16:creationId xmlns:a16="http://schemas.microsoft.com/office/drawing/2014/main" id="{98CE8AE8-8B44-0B9F-D75D-D86237F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852" y="40766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7" name="Rectangle 63">
              <a:extLst>
                <a:ext uri="{FF2B5EF4-FFF2-40B4-BE49-F238E27FC236}">
                  <a16:creationId xmlns:a16="http://schemas.microsoft.com/office/drawing/2014/main" id="{A8ECB83A-0903-A8B0-3470-B9E742BD0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852" y="44370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8" name="Rectangle 73">
              <a:extLst>
                <a:ext uri="{FF2B5EF4-FFF2-40B4-BE49-F238E27FC236}">
                  <a16:creationId xmlns:a16="http://schemas.microsoft.com/office/drawing/2014/main" id="{C1B2565F-6854-5A5F-7800-E5F5E57AF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852" y="479742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9" name="Rectangle 83">
              <a:extLst>
                <a:ext uri="{FF2B5EF4-FFF2-40B4-BE49-F238E27FC236}">
                  <a16:creationId xmlns:a16="http://schemas.microsoft.com/office/drawing/2014/main" id="{5F268C28-DC18-97F6-DD13-1B61B3CEE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852" y="515778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BD659C4B-EFD6-6AB8-5829-7E7848829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627" y="33575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1" name="Rectangle 43">
              <a:extLst>
                <a:ext uri="{FF2B5EF4-FFF2-40B4-BE49-F238E27FC236}">
                  <a16:creationId xmlns:a16="http://schemas.microsoft.com/office/drawing/2014/main" id="{AA3FEE68-C4B5-404F-D2BD-161144399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627" y="371633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2" name="Rectangle 53">
              <a:extLst>
                <a:ext uri="{FF2B5EF4-FFF2-40B4-BE49-F238E27FC236}">
                  <a16:creationId xmlns:a16="http://schemas.microsoft.com/office/drawing/2014/main" id="{10D42261-668A-6AD9-B7FF-8B1FE48F7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627" y="40766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3" name="Rectangle 63">
              <a:extLst>
                <a:ext uri="{FF2B5EF4-FFF2-40B4-BE49-F238E27FC236}">
                  <a16:creationId xmlns:a16="http://schemas.microsoft.com/office/drawing/2014/main" id="{D372DC00-B5E2-3E08-2844-37D7AA5FA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627" y="44370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4" name="Rectangle 73">
              <a:extLst>
                <a:ext uri="{FF2B5EF4-FFF2-40B4-BE49-F238E27FC236}">
                  <a16:creationId xmlns:a16="http://schemas.microsoft.com/office/drawing/2014/main" id="{287608B2-FE67-BC90-C024-217C78B01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627" y="479742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5" name="Rectangle 83">
              <a:extLst>
                <a:ext uri="{FF2B5EF4-FFF2-40B4-BE49-F238E27FC236}">
                  <a16:creationId xmlns:a16="http://schemas.microsoft.com/office/drawing/2014/main" id="{A1FF17C4-1970-FD7E-9B45-FD99FB1B5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627" y="515778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1" name="Rectangle 33">
              <a:extLst>
                <a:ext uri="{FF2B5EF4-FFF2-40B4-BE49-F238E27FC236}">
                  <a16:creationId xmlns:a16="http://schemas.microsoft.com/office/drawing/2014/main" id="{23329330-2A85-4E4C-164A-ED486F32C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817" y="33575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264362B1-BF8E-986A-520C-3D7A98D3C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817" y="371633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3" name="Rectangle 53">
              <a:extLst>
                <a:ext uri="{FF2B5EF4-FFF2-40B4-BE49-F238E27FC236}">
                  <a16:creationId xmlns:a16="http://schemas.microsoft.com/office/drawing/2014/main" id="{0EE4B2EF-528C-B305-9E6A-6BE0E4528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817" y="40766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4" name="Rectangle 63">
              <a:extLst>
                <a:ext uri="{FF2B5EF4-FFF2-40B4-BE49-F238E27FC236}">
                  <a16:creationId xmlns:a16="http://schemas.microsoft.com/office/drawing/2014/main" id="{E0DD94BE-1838-C480-1DA8-F28F2259C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817" y="44370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5" name="Rectangle 73">
              <a:extLst>
                <a:ext uri="{FF2B5EF4-FFF2-40B4-BE49-F238E27FC236}">
                  <a16:creationId xmlns:a16="http://schemas.microsoft.com/office/drawing/2014/main" id="{0F94C9E8-A59C-C351-CAB5-092BFF1CE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817" y="479742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6" name="Rectangle 83">
              <a:extLst>
                <a:ext uri="{FF2B5EF4-FFF2-40B4-BE49-F238E27FC236}">
                  <a16:creationId xmlns:a16="http://schemas.microsoft.com/office/drawing/2014/main" id="{4E4707A1-14BC-C2FA-D34F-7E48B0B4D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817" y="515778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23AB8A4E-28C8-2B86-AF22-DA3FAC102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592" y="33575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8" name="Rectangle 43">
              <a:extLst>
                <a:ext uri="{FF2B5EF4-FFF2-40B4-BE49-F238E27FC236}">
                  <a16:creationId xmlns:a16="http://schemas.microsoft.com/office/drawing/2014/main" id="{50DD1A0B-D077-F679-036B-6D35B3778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592" y="371633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9" name="Rectangle 53">
              <a:extLst>
                <a:ext uri="{FF2B5EF4-FFF2-40B4-BE49-F238E27FC236}">
                  <a16:creationId xmlns:a16="http://schemas.microsoft.com/office/drawing/2014/main" id="{B404EF5C-26C8-3AEE-3958-5584CEE5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592" y="40766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0" name="Rectangle 63">
              <a:extLst>
                <a:ext uri="{FF2B5EF4-FFF2-40B4-BE49-F238E27FC236}">
                  <a16:creationId xmlns:a16="http://schemas.microsoft.com/office/drawing/2014/main" id="{04F18C93-2F0A-EFB6-CB60-1AC89237C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592" y="44370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1" name="Rectangle 73">
              <a:extLst>
                <a:ext uri="{FF2B5EF4-FFF2-40B4-BE49-F238E27FC236}">
                  <a16:creationId xmlns:a16="http://schemas.microsoft.com/office/drawing/2014/main" id="{13E4B76E-9D5C-D902-FCD6-AB0BE2874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592" y="479742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2" name="Rectangle 83">
              <a:extLst>
                <a:ext uri="{FF2B5EF4-FFF2-40B4-BE49-F238E27FC236}">
                  <a16:creationId xmlns:a16="http://schemas.microsoft.com/office/drawing/2014/main" id="{07CE9FBB-FF6F-449D-767F-95F283D09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592" y="515778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3" name="Rectangle 33">
              <a:extLst>
                <a:ext uri="{FF2B5EF4-FFF2-40B4-BE49-F238E27FC236}">
                  <a16:creationId xmlns:a16="http://schemas.microsoft.com/office/drawing/2014/main" id="{7A000EA1-72CF-F37F-1561-8815332BF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197" y="33575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4" name="Rectangle 43">
              <a:extLst>
                <a:ext uri="{FF2B5EF4-FFF2-40B4-BE49-F238E27FC236}">
                  <a16:creationId xmlns:a16="http://schemas.microsoft.com/office/drawing/2014/main" id="{EA2E79C4-FA12-1DB8-6794-AEB7586EC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197" y="371633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5" name="Rectangle 53">
              <a:extLst>
                <a:ext uri="{FF2B5EF4-FFF2-40B4-BE49-F238E27FC236}">
                  <a16:creationId xmlns:a16="http://schemas.microsoft.com/office/drawing/2014/main" id="{DE0D8D72-3599-EC4C-F2AD-F3F201494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197" y="40766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6" name="Rectangle 63">
              <a:extLst>
                <a:ext uri="{FF2B5EF4-FFF2-40B4-BE49-F238E27FC236}">
                  <a16:creationId xmlns:a16="http://schemas.microsoft.com/office/drawing/2014/main" id="{764EFA02-B619-4904-5DC5-581945F3B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197" y="44370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7" name="Rectangle 73">
              <a:extLst>
                <a:ext uri="{FF2B5EF4-FFF2-40B4-BE49-F238E27FC236}">
                  <a16:creationId xmlns:a16="http://schemas.microsoft.com/office/drawing/2014/main" id="{305E0D94-93DE-6B7F-CBE2-0CF54ED2F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197" y="479742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8" name="Rectangle 83">
              <a:extLst>
                <a:ext uri="{FF2B5EF4-FFF2-40B4-BE49-F238E27FC236}">
                  <a16:creationId xmlns:a16="http://schemas.microsoft.com/office/drawing/2014/main" id="{FBF1C7A5-0482-F77E-78E7-D5F871199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197" y="515778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9" name="Rectangle 33">
              <a:extLst>
                <a:ext uri="{FF2B5EF4-FFF2-40B4-BE49-F238E27FC236}">
                  <a16:creationId xmlns:a16="http://schemas.microsoft.com/office/drawing/2014/main" id="{2263A468-8D41-0B1B-3248-E72B6B161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72" y="33575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0" name="Rectangle 43">
              <a:extLst>
                <a:ext uri="{FF2B5EF4-FFF2-40B4-BE49-F238E27FC236}">
                  <a16:creationId xmlns:a16="http://schemas.microsoft.com/office/drawing/2014/main" id="{31F8EFC7-5FF2-3C56-B199-DD652AC42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72" y="371633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1" name="Rectangle 53">
              <a:extLst>
                <a:ext uri="{FF2B5EF4-FFF2-40B4-BE49-F238E27FC236}">
                  <a16:creationId xmlns:a16="http://schemas.microsoft.com/office/drawing/2014/main" id="{4D21ED20-DA29-2EA4-BE02-BCBDBF706B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72" y="40766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2" name="Rectangle 63">
              <a:extLst>
                <a:ext uri="{FF2B5EF4-FFF2-40B4-BE49-F238E27FC236}">
                  <a16:creationId xmlns:a16="http://schemas.microsoft.com/office/drawing/2014/main" id="{09E82506-02BA-7BF8-5FA8-53003F5D3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72" y="443706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3" name="Rectangle 73">
              <a:extLst>
                <a:ext uri="{FF2B5EF4-FFF2-40B4-BE49-F238E27FC236}">
                  <a16:creationId xmlns:a16="http://schemas.microsoft.com/office/drawing/2014/main" id="{2774A625-5DB1-3AA9-EDB3-613E4E3FE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72" y="479742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4" name="Rectangle 83">
              <a:extLst>
                <a:ext uri="{FF2B5EF4-FFF2-40B4-BE49-F238E27FC236}">
                  <a16:creationId xmlns:a16="http://schemas.microsoft.com/office/drawing/2014/main" id="{B1802BF6-5BC8-29A7-31C0-4ABB9ECC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972" y="515778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5" name="Text Box 184">
              <a:extLst>
                <a:ext uri="{FF2B5EF4-FFF2-40B4-BE49-F238E27FC236}">
                  <a16:creationId xmlns:a16="http://schemas.microsoft.com/office/drawing/2014/main" id="{04439F46-5328-1446-6B88-C362A5F31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7494" y="3738559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Consolas" pitchFamily="49" charset="0"/>
                  <a:cs typeface="Consolas" pitchFamily="49" charset="0"/>
                </a:rPr>
                <a:t>●</a:t>
              </a:r>
            </a:p>
          </p:txBody>
        </p:sp>
        <p:sp>
          <p:nvSpPr>
            <p:cNvPr id="66" name="Text Box 184">
              <a:extLst>
                <a:ext uri="{FF2B5EF4-FFF2-40B4-BE49-F238E27FC236}">
                  <a16:creationId xmlns:a16="http://schemas.microsoft.com/office/drawing/2014/main" id="{A777843F-CE85-FEA8-EFC2-E52C2A712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1126" y="4813312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0000"/>
                  </a:solidFill>
                  <a:latin typeface="Consolas" pitchFamily="49" charset="0"/>
                  <a:cs typeface="Consolas" pitchFamily="49" charset="0"/>
                </a:rPr>
                <a:t>●</a:t>
              </a:r>
            </a:p>
          </p:txBody>
        </p:sp>
        <p:sp>
          <p:nvSpPr>
            <p:cNvPr id="67" name="Line 151">
              <a:extLst>
                <a:ext uri="{FF2B5EF4-FFF2-40B4-BE49-F238E27FC236}">
                  <a16:creationId xmlns:a16="http://schemas.microsoft.com/office/drawing/2014/main" id="{F4BDCA90-CC8C-7F65-B888-57406191E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3372" y="3178778"/>
              <a:ext cx="0" cy="216000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8" name="Line 152">
              <a:extLst>
                <a:ext uri="{FF2B5EF4-FFF2-40B4-BE49-F238E27FC236}">
                  <a16:creationId xmlns:a16="http://schemas.microsoft.com/office/drawing/2014/main" id="{605D6B96-56F4-E443-131B-5F974E3FD6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6259" y="3178778"/>
              <a:ext cx="0" cy="216000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9" name="Line 153">
              <a:extLst>
                <a:ext uri="{FF2B5EF4-FFF2-40B4-BE49-F238E27FC236}">
                  <a16:creationId xmlns:a16="http://schemas.microsoft.com/office/drawing/2014/main" id="{4CA97F18-B715-C72B-066C-F0C8D10BFE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3372" y="5354627"/>
              <a:ext cx="1512887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0" name="Text Box 154">
              <a:extLst>
                <a:ext uri="{FF2B5EF4-FFF2-40B4-BE49-F238E27FC236}">
                  <a16:creationId xmlns:a16="http://schemas.microsoft.com/office/drawing/2014/main" id="{F6F1575D-C0B8-9B08-EC04-AD303ACE4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0683" y="5429264"/>
              <a:ext cx="1584325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 dirty="0" err="1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zh-CN" altLang="en-US" sz="1800" dirty="0">
                  <a:latin typeface="Consolas" pitchFamily="49" charset="0"/>
                  <a:cs typeface="Consolas" pitchFamily="49" charset="0"/>
                </a:rPr>
                <a:t>　</a:t>
              </a: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   </a:t>
              </a:r>
              <a:r>
                <a:rPr lang="en-US" altLang="zh-CN" sz="1800" dirty="0" err="1">
                  <a:latin typeface="Consolas" pitchFamily="49" charset="0"/>
                  <a:cs typeface="Consolas" pitchFamily="49" charset="0"/>
                </a:rPr>
                <a:t>di</a:t>
              </a:r>
              <a:endParaRPr lang="en-US" altLang="zh-CN" sz="1800" dirty="0">
                <a:latin typeface="Consolas" pitchFamily="49" charset="0"/>
                <a:cs typeface="Consolas" pitchFamily="49" charset="0"/>
              </a:endParaRPr>
            </a:p>
          </p:txBody>
        </p:sp>
        <p:grpSp>
          <p:nvGrpSpPr>
            <p:cNvPr id="71" name="Group 193">
              <a:extLst>
                <a:ext uri="{FF2B5EF4-FFF2-40B4-BE49-F238E27FC236}">
                  <a16:creationId xmlns:a16="http://schemas.microsoft.com/office/drawing/2014/main" id="{1C6D119D-0CE1-E2FF-4A57-23F448A8F9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7834" y="4929177"/>
              <a:ext cx="1131888" cy="311150"/>
              <a:chOff x="3651" y="2927"/>
              <a:chExt cx="713" cy="196"/>
            </a:xfrm>
          </p:grpSpPr>
          <p:sp>
            <p:nvSpPr>
              <p:cNvPr id="73" name="Text Box 155">
                <a:extLst>
                  <a:ext uri="{FF2B5EF4-FFF2-40B4-BE49-F238E27FC236}">
                    <a16:creationId xmlns:a16="http://schemas.microsoft.com/office/drawing/2014/main" id="{CBBAB5B2-0BA9-6DD7-54F2-40B15803C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1" y="2931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74" name="Text Box 156">
                <a:extLst>
                  <a:ext uri="{FF2B5EF4-FFF2-40B4-BE49-F238E27FC236}">
                    <a16:creationId xmlns:a16="http://schemas.microsoft.com/office/drawing/2014/main" id="{3774C1C7-BB13-5B4F-AAB1-3C3E82458D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3" y="2931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75" name="Text Box 157">
                <a:extLst>
                  <a:ext uri="{FF2B5EF4-FFF2-40B4-BE49-F238E27FC236}">
                    <a16:creationId xmlns:a16="http://schemas.microsoft.com/office/drawing/2014/main" id="{66FF0C00-E244-7CCE-282A-D87EA2D80A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3" y="2927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</a:t>
                </a: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</p:grpSp>
        <p:sp>
          <p:nvSpPr>
            <p:cNvPr id="72" name="Text Box 170">
              <a:extLst>
                <a:ext uri="{FF2B5EF4-FFF2-40B4-BE49-F238E27FC236}">
                  <a16:creationId xmlns:a16="http://schemas.microsoft.com/office/drawing/2014/main" id="{90437CBB-867D-B1E1-86FB-BF55ABFA2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9978" y="3068420"/>
              <a:ext cx="1008063" cy="276999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rgbClr val="7030A0"/>
                  </a:solidFill>
                  <a:latin typeface="仿宋" pitchFamily="49" charset="-122"/>
                  <a:ea typeface="仿宋" pitchFamily="49" charset="-122"/>
                  <a:cs typeface="Consolas" pitchFamily="49" charset="0"/>
                </a:rPr>
                <a:t>一个栈</a:t>
              </a:r>
            </a:p>
          </p:txBody>
        </p:sp>
      </p:grpSp>
      <p:grpSp>
        <p:nvGrpSpPr>
          <p:cNvPr id="76" name="组合 106">
            <a:extLst>
              <a:ext uri="{FF2B5EF4-FFF2-40B4-BE49-F238E27FC236}">
                <a16:creationId xmlns:a16="http://schemas.microsoft.com/office/drawing/2014/main" id="{2B515CAC-36CD-4E03-22B7-C30C7E7189A5}"/>
              </a:ext>
            </a:extLst>
          </p:cNvPr>
          <p:cNvGrpSpPr/>
          <p:nvPr/>
        </p:nvGrpSpPr>
        <p:grpSpPr>
          <a:xfrm>
            <a:off x="5375920" y="3212979"/>
            <a:ext cx="4719783" cy="3221101"/>
            <a:chOff x="4290009" y="2473616"/>
            <a:chExt cx="4425395" cy="2754551"/>
          </a:xfrm>
        </p:grpSpPr>
        <p:sp>
          <p:nvSpPr>
            <p:cNvPr id="77" name="TextBox 96">
              <a:extLst>
                <a:ext uri="{FF2B5EF4-FFF2-40B4-BE49-F238E27FC236}">
                  <a16:creationId xmlns:a16="http://schemas.microsoft.com/office/drawing/2014/main" id="{144E213A-9977-5C9C-BE3F-449DF055CC81}"/>
                </a:ext>
              </a:extLst>
            </p:cNvPr>
            <p:cNvSpPr txBox="1"/>
            <p:nvPr/>
          </p:nvSpPr>
          <p:spPr>
            <a:xfrm>
              <a:off x="6143636" y="3334538"/>
              <a:ext cx="2571768" cy="94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为了</a:t>
              </a: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避免重复，当</a:t>
              </a:r>
              <a:r>
                <a:rPr lang="zh-CN" altLang="en-US" sz="18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一个方块进</a:t>
              </a:r>
              <a:r>
                <a:rPr lang="zh-CN" altLang="en-US" sz="180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栈时，将</a:t>
              </a:r>
              <a:r>
                <a:rPr lang="zh-CN" altLang="en-US" sz="18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迷宫值改为</a:t>
              </a:r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-1</a:t>
              </a:r>
              <a:endParaRPr lang="zh-CN" alt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78" name="Rectangle 33">
              <a:extLst>
                <a:ext uri="{FF2B5EF4-FFF2-40B4-BE49-F238E27FC236}">
                  <a16:creationId xmlns:a16="http://schemas.microsoft.com/office/drawing/2014/main" id="{11BBE1D4-393C-B6C6-CFB7-219F458A2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2264" y="449898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9" name="Rectangle 33">
              <a:extLst>
                <a:ext uri="{FF2B5EF4-FFF2-40B4-BE49-F238E27FC236}">
                  <a16:creationId xmlns:a16="http://schemas.microsoft.com/office/drawing/2014/main" id="{E4D54F67-F0BE-BD26-A4AA-CB256BCF1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81" y="449898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0C5A1A2A-C283-21E0-376E-CE8C56A255BB}"/>
                </a:ext>
              </a:extLst>
            </p:cNvPr>
            <p:cNvCxnSpPr>
              <a:stCxn id="78" idx="3"/>
              <a:endCxn id="79" idx="1"/>
            </p:cNvCxnSpPr>
            <p:nvPr/>
          </p:nvCxnSpPr>
          <p:spPr>
            <a:xfrm>
              <a:off x="6931039" y="4678373"/>
              <a:ext cx="64294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81" name="任意多边形 101">
              <a:extLst>
                <a:ext uri="{FF2B5EF4-FFF2-40B4-BE49-F238E27FC236}">
                  <a16:creationId xmlns:a16="http://schemas.microsoft.com/office/drawing/2014/main" id="{E6B18688-F370-E1BD-E133-54E45899613C}"/>
                </a:ext>
              </a:extLst>
            </p:cNvPr>
            <p:cNvSpPr/>
            <p:nvPr/>
          </p:nvSpPr>
          <p:spPr>
            <a:xfrm>
              <a:off x="6794500" y="4876800"/>
              <a:ext cx="1022350" cy="351367"/>
            </a:xfrm>
            <a:custGeom>
              <a:avLst/>
              <a:gdLst>
                <a:gd name="connsiteX0" fmla="*/ 990600 w 1022350"/>
                <a:gd name="connsiteY0" fmla="*/ 0 h 351367"/>
                <a:gd name="connsiteX1" fmla="*/ 939800 w 1022350"/>
                <a:gd name="connsiteY1" fmla="*/ 139700 h 351367"/>
                <a:gd name="connsiteX2" fmla="*/ 495300 w 1022350"/>
                <a:gd name="connsiteY2" fmla="*/ 330200 h 351367"/>
                <a:gd name="connsiteX3" fmla="*/ 0 w 1022350"/>
                <a:gd name="connsiteY3" fmla="*/ 12700 h 351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2350" h="351367">
                  <a:moveTo>
                    <a:pt x="990600" y="0"/>
                  </a:moveTo>
                  <a:cubicBezTo>
                    <a:pt x="1006475" y="42333"/>
                    <a:pt x="1022350" y="84667"/>
                    <a:pt x="939800" y="139700"/>
                  </a:cubicBezTo>
                  <a:cubicBezTo>
                    <a:pt x="857250" y="194733"/>
                    <a:pt x="651933" y="351367"/>
                    <a:pt x="495300" y="330200"/>
                  </a:cubicBezTo>
                  <a:cubicBezTo>
                    <a:pt x="338667" y="309033"/>
                    <a:pt x="0" y="12700"/>
                    <a:pt x="0" y="12700"/>
                  </a:cubicBezTo>
                </a:path>
              </a:pathLst>
            </a:custGeom>
            <a:ln>
              <a:tailEnd type="arrow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920D5553-A0E7-A3F5-CF5C-B2787B0A2D6A}"/>
                </a:ext>
              </a:extLst>
            </p:cNvPr>
            <p:cNvCxnSpPr/>
            <p:nvPr/>
          </p:nvCxnSpPr>
          <p:spPr>
            <a:xfrm rot="16200000" flipV="1">
              <a:off x="5075827" y="1687798"/>
              <a:ext cx="928693" cy="2500330"/>
            </a:xfrm>
            <a:prstGeom prst="straightConnector1">
              <a:avLst/>
            </a:prstGeom>
            <a:ln w="28575"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602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C68E8-F227-711D-30AC-C4BC3714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1C83C6D6-BDCC-D777-8348-CADA92545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1503" y="2276410"/>
            <a:ext cx="8072493" cy="41491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while (!StackEmpty(st))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栈不空时循环</a:t>
            </a:r>
          </a:p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GetTop(st,e);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取栈顶方块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i=e.i; j=e.j; di=e.di;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200000"/>
              </a:lnSpc>
            </a:pP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if (i==xe &amp;&amp; j==ye)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找到了出口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输出该路径</a:t>
            </a:r>
          </a:p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  printf("</a:t>
            </a:r>
            <a:r>
              <a:rPr lang="zh-CN" alt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一条迷宫路径如下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:\n");</a:t>
            </a:r>
            <a:endParaRPr lang="zh-CN" altLang="en-US" sz="180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k=0;</a:t>
            </a:r>
            <a:endParaRPr lang="zh-CN" altLang="en-US" sz="180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while (!StackEmpty(st))</a:t>
            </a:r>
            <a:endParaRPr lang="zh-CN" altLang="en-US" sz="180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{  Pop(st,e);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出栈方块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path[k++]=e;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添加到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path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数组中</a:t>
            </a:r>
          </a:p>
          <a:p>
            <a:pPr algn="l">
              <a:lnSpc>
                <a:spcPts val="2800"/>
              </a:lnSpc>
            </a:pP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}</a:t>
            </a:r>
            <a:endParaRPr lang="zh-CN" altLang="en-US" sz="1800">
              <a:solidFill>
                <a:srgbClr val="FF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2EC579D-5533-7CED-8441-F476FC77B0E9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E1F8FD-6A5B-3B32-9C44-2E4B50E9F85D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B63CA26-0C2F-4189-6E76-3E32121D9CAD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CE409E3-A923-DEE9-AB63-588DAD5AE594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</p:spTree>
    <p:extLst>
      <p:ext uri="{BB962C8B-B14F-4D97-AF65-F5344CB8AC3E}">
        <p14:creationId xmlns:p14="http://schemas.microsoft.com/office/powerpoint/2010/main" val="121918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F6C0A-E6C3-3233-D492-E6164032D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596DD055-C9FD-A0F2-33F8-E38F3BE503AC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2660238-70A1-A0F1-A17A-870FA101D1E0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0B0BEBE-2DA4-93DD-1646-9986DC9E984B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3775A46F-0407-BF1A-F81E-E6194C23FF29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12BD9690-8C24-BAC7-5206-BA82EEF86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52" y="1835642"/>
            <a:ext cx="6789788" cy="29880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tIns="108000" bIns="108000">
            <a:spAutoFit/>
          </a:bodyPr>
          <a:lstStyle/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while (k&gt;=1)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{  k--;				         </a:t>
            </a: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r>
              <a:rPr lang="en-US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("\t(%</a:t>
            </a:r>
            <a:r>
              <a:rPr lang="en-US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d,%d</a:t>
            </a:r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)",path[k].</a:t>
            </a:r>
            <a:r>
              <a:rPr lang="en-US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i,path</a:t>
            </a:r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[k].j);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  if ((k+2)%5==0)  	</a:t>
            </a:r>
            <a:r>
              <a:rPr 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每输出每</a:t>
            </a:r>
            <a:r>
              <a:rPr 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5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个方块后换一行</a:t>
            </a: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</a:t>
            </a:r>
            <a:r>
              <a:rPr lang="en-US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("\n");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}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printf</a:t>
            </a:r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("\n");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</a:t>
            </a:r>
            <a:r>
              <a:rPr lang="en-US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DestroyStack</a:t>
            </a:r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</a:t>
            </a:r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);   </a:t>
            </a:r>
            <a:r>
              <a:rPr 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销毁栈</a:t>
            </a: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return true;	</a:t>
            </a:r>
            <a:r>
              <a:rPr 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输出一条迷宫路径后返回</a:t>
            </a:r>
            <a:r>
              <a:rPr 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true</a:t>
            </a:r>
            <a:endParaRPr lang="zh-CN" altLang="en-US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}</a:t>
            </a:r>
            <a:endParaRPr lang="zh-CN" altLang="en-US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" name="组合 94"/>
          <p:cNvGrpSpPr/>
          <p:nvPr/>
        </p:nvGrpSpPr>
        <p:grpSpPr>
          <a:xfrm>
            <a:off x="10243191" y="1687937"/>
            <a:ext cx="1584325" cy="3333213"/>
            <a:chOff x="7202517" y="1230042"/>
            <a:chExt cx="1584325" cy="3333213"/>
          </a:xfrm>
        </p:grpSpPr>
        <p:sp>
          <p:nvSpPr>
            <p:cNvPr id="5" name="Line 151"/>
            <p:cNvSpPr>
              <a:spLocks noChangeShapeType="1"/>
            </p:cNvSpPr>
            <p:nvPr/>
          </p:nvSpPr>
          <p:spPr bwMode="auto">
            <a:xfrm>
              <a:off x="7202517" y="1230042"/>
              <a:ext cx="0" cy="288000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6" name="Line 152"/>
            <p:cNvSpPr>
              <a:spLocks noChangeShapeType="1"/>
            </p:cNvSpPr>
            <p:nvPr/>
          </p:nvSpPr>
          <p:spPr bwMode="auto">
            <a:xfrm>
              <a:off x="8715404" y="1250680"/>
              <a:ext cx="0" cy="288000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7" name="Line 153"/>
            <p:cNvSpPr>
              <a:spLocks noChangeShapeType="1"/>
            </p:cNvSpPr>
            <p:nvPr/>
          </p:nvSpPr>
          <p:spPr bwMode="auto">
            <a:xfrm>
              <a:off x="7202517" y="4122746"/>
              <a:ext cx="1512887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9" name="Text Box 154"/>
            <p:cNvSpPr txBox="1">
              <a:spLocks noChangeArrowheads="1"/>
            </p:cNvSpPr>
            <p:nvPr/>
          </p:nvSpPr>
          <p:spPr bwMode="auto">
            <a:xfrm>
              <a:off x="7202517" y="4286256"/>
              <a:ext cx="1584325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 </a:t>
              </a:r>
              <a:r>
                <a:rPr lang="zh-CN" altLang="en-US" sz="1800">
                  <a:latin typeface="Consolas" pitchFamily="49" charset="0"/>
                  <a:cs typeface="Consolas" pitchFamily="49" charset="0"/>
                </a:rPr>
                <a:t>　</a:t>
              </a: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  di</a:t>
              </a:r>
            </a:p>
          </p:txBody>
        </p:sp>
        <p:grpSp>
          <p:nvGrpSpPr>
            <p:cNvPr id="10" name="Group 193"/>
            <p:cNvGrpSpPr>
              <a:grpSpLocks/>
            </p:cNvGrpSpPr>
            <p:nvPr/>
          </p:nvGrpSpPr>
          <p:grpSpPr bwMode="auto">
            <a:xfrm>
              <a:off x="7346979" y="3684596"/>
              <a:ext cx="1131888" cy="311150"/>
              <a:chOff x="3651" y="2927"/>
              <a:chExt cx="713" cy="196"/>
            </a:xfrm>
          </p:grpSpPr>
          <p:sp>
            <p:nvSpPr>
              <p:cNvPr id="49" name="Text Box 155"/>
              <p:cNvSpPr txBox="1">
                <a:spLocks noChangeArrowheads="1"/>
              </p:cNvSpPr>
              <p:nvPr/>
            </p:nvSpPr>
            <p:spPr bwMode="auto">
              <a:xfrm>
                <a:off x="3651" y="2931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50" name="Text Box 156"/>
              <p:cNvSpPr txBox="1">
                <a:spLocks noChangeArrowheads="1"/>
              </p:cNvSpPr>
              <p:nvPr/>
            </p:nvSpPr>
            <p:spPr bwMode="auto">
              <a:xfrm>
                <a:off x="3923" y="2931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51" name="Text Box 157"/>
              <p:cNvSpPr txBox="1">
                <a:spLocks noChangeArrowheads="1"/>
              </p:cNvSpPr>
              <p:nvPr/>
            </p:nvSpPr>
            <p:spPr bwMode="auto">
              <a:xfrm>
                <a:off x="4183" y="2927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</a:t>
                </a: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</p:grpSp>
        <p:sp>
          <p:nvSpPr>
            <p:cNvPr id="13" name="Text Box 158"/>
            <p:cNvSpPr txBox="1">
              <a:spLocks noChangeArrowheads="1"/>
            </p:cNvSpPr>
            <p:nvPr/>
          </p:nvSpPr>
          <p:spPr bwMode="auto">
            <a:xfrm>
              <a:off x="8210579" y="3690946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  <a:endParaRPr lang="en-US" altLang="zh-CN" sz="2000">
                <a:latin typeface="Consolas" pitchFamily="49" charset="0"/>
                <a:cs typeface="Consolas" pitchFamily="49" charset="0"/>
              </a:endParaRPr>
            </a:p>
          </p:txBody>
        </p:sp>
        <p:grpSp>
          <p:nvGrpSpPr>
            <p:cNvPr id="14" name="Group 194"/>
            <p:cNvGrpSpPr>
              <a:grpSpLocks/>
            </p:cNvGrpSpPr>
            <p:nvPr/>
          </p:nvGrpSpPr>
          <p:grpSpPr bwMode="auto">
            <a:xfrm>
              <a:off x="7346979" y="3330584"/>
              <a:ext cx="1133475" cy="304800"/>
              <a:chOff x="3651" y="2704"/>
              <a:chExt cx="714" cy="192"/>
            </a:xfrm>
          </p:grpSpPr>
          <p:sp>
            <p:nvSpPr>
              <p:cNvPr id="43" name="Text Box 164"/>
              <p:cNvSpPr txBox="1">
                <a:spLocks noChangeArrowheads="1"/>
              </p:cNvSpPr>
              <p:nvPr/>
            </p:nvSpPr>
            <p:spPr bwMode="auto">
              <a:xfrm>
                <a:off x="3651" y="2704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dirty="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47" name="Text Box 165"/>
              <p:cNvSpPr txBox="1">
                <a:spLocks noChangeArrowheads="1"/>
              </p:cNvSpPr>
              <p:nvPr/>
            </p:nvSpPr>
            <p:spPr bwMode="auto">
              <a:xfrm>
                <a:off x="3923" y="2704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48" name="Text Box 166"/>
              <p:cNvSpPr txBox="1">
                <a:spLocks noChangeArrowheads="1"/>
              </p:cNvSpPr>
              <p:nvPr/>
            </p:nvSpPr>
            <p:spPr bwMode="auto">
              <a:xfrm>
                <a:off x="4184" y="2704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-1</a:t>
                </a:r>
                <a:endParaRPr lang="en-US" altLang="zh-CN" sz="200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5" name="Group 195"/>
            <p:cNvGrpSpPr>
              <a:grpSpLocks/>
            </p:cNvGrpSpPr>
            <p:nvPr/>
          </p:nvGrpSpPr>
          <p:grpSpPr bwMode="auto">
            <a:xfrm>
              <a:off x="7346979" y="2971809"/>
              <a:ext cx="1133475" cy="304800"/>
              <a:chOff x="3651" y="2478"/>
              <a:chExt cx="714" cy="192"/>
            </a:xfrm>
          </p:grpSpPr>
          <p:sp>
            <p:nvSpPr>
              <p:cNvPr id="18" name="Text Box 167"/>
              <p:cNvSpPr txBox="1">
                <a:spLocks noChangeArrowheads="1"/>
              </p:cNvSpPr>
              <p:nvPr/>
            </p:nvSpPr>
            <p:spPr bwMode="auto">
              <a:xfrm>
                <a:off x="3651" y="2478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19" name="Text Box 168"/>
              <p:cNvSpPr txBox="1">
                <a:spLocks noChangeArrowheads="1"/>
              </p:cNvSpPr>
              <p:nvPr/>
            </p:nvSpPr>
            <p:spPr bwMode="auto">
              <a:xfrm>
                <a:off x="3923" y="2478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dirty="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20" name="Text Box 169"/>
              <p:cNvSpPr txBox="1">
                <a:spLocks noChangeArrowheads="1"/>
              </p:cNvSpPr>
              <p:nvPr/>
            </p:nvSpPr>
            <p:spPr bwMode="auto">
              <a:xfrm>
                <a:off x="4184" y="2478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-1</a:t>
                </a:r>
                <a:endParaRPr lang="en-US" altLang="zh-CN" sz="200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7" name="Group 197"/>
            <p:cNvGrpSpPr>
              <a:grpSpLocks/>
            </p:cNvGrpSpPr>
            <p:nvPr/>
          </p:nvGrpSpPr>
          <p:grpSpPr bwMode="auto">
            <a:xfrm>
              <a:off x="7346979" y="2179646"/>
              <a:ext cx="1143000" cy="304800"/>
              <a:chOff x="3651" y="1979"/>
              <a:chExt cx="720" cy="192"/>
            </a:xfrm>
          </p:grpSpPr>
          <p:sp>
            <p:nvSpPr>
              <p:cNvPr id="22" name="Text Box 176"/>
              <p:cNvSpPr txBox="1">
                <a:spLocks noChangeArrowheads="1"/>
              </p:cNvSpPr>
              <p:nvPr/>
            </p:nvSpPr>
            <p:spPr bwMode="auto">
              <a:xfrm>
                <a:off x="3651" y="1979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23" name="Text Box 177"/>
              <p:cNvSpPr txBox="1">
                <a:spLocks noChangeArrowheads="1"/>
              </p:cNvSpPr>
              <p:nvPr/>
            </p:nvSpPr>
            <p:spPr bwMode="auto">
              <a:xfrm>
                <a:off x="3923" y="1979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4</a:t>
                </a:r>
              </a:p>
            </p:txBody>
          </p:sp>
          <p:sp>
            <p:nvSpPr>
              <p:cNvPr id="24" name="Text Box 178"/>
              <p:cNvSpPr txBox="1">
                <a:spLocks noChangeArrowheads="1"/>
              </p:cNvSpPr>
              <p:nvPr/>
            </p:nvSpPr>
            <p:spPr bwMode="auto">
              <a:xfrm>
                <a:off x="4190" y="1979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-1</a:t>
                </a:r>
                <a:endParaRPr lang="en-US" altLang="zh-CN" sz="200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21" name="Group 196"/>
            <p:cNvGrpSpPr>
              <a:grpSpLocks/>
            </p:cNvGrpSpPr>
            <p:nvPr/>
          </p:nvGrpSpPr>
          <p:grpSpPr bwMode="auto">
            <a:xfrm>
              <a:off x="7345392" y="2584459"/>
              <a:ext cx="1141412" cy="312737"/>
              <a:chOff x="3651" y="2234"/>
              <a:chExt cx="719" cy="197"/>
            </a:xfrm>
          </p:grpSpPr>
          <p:sp>
            <p:nvSpPr>
              <p:cNvPr id="26" name="Text Box 173"/>
              <p:cNvSpPr txBox="1">
                <a:spLocks noChangeArrowheads="1"/>
              </p:cNvSpPr>
              <p:nvPr/>
            </p:nvSpPr>
            <p:spPr bwMode="auto">
              <a:xfrm>
                <a:off x="3651" y="2239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27" name="Text Box 174"/>
              <p:cNvSpPr txBox="1">
                <a:spLocks noChangeArrowheads="1"/>
              </p:cNvSpPr>
              <p:nvPr/>
            </p:nvSpPr>
            <p:spPr bwMode="auto">
              <a:xfrm>
                <a:off x="3923" y="2239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28" name="Text Box 179"/>
              <p:cNvSpPr txBox="1">
                <a:spLocks noChangeArrowheads="1"/>
              </p:cNvSpPr>
              <p:nvPr/>
            </p:nvSpPr>
            <p:spPr bwMode="auto">
              <a:xfrm>
                <a:off x="4189" y="2234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-1</a:t>
                </a:r>
                <a:endParaRPr lang="en-US" altLang="zh-CN" sz="200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9" name="Text Box 190"/>
            <p:cNvSpPr txBox="1">
              <a:spLocks noChangeArrowheads="1"/>
            </p:cNvSpPr>
            <p:nvPr/>
          </p:nvSpPr>
          <p:spPr bwMode="auto">
            <a:xfrm>
              <a:off x="8210579" y="3327409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  <a:endParaRPr lang="en-US" altLang="zh-CN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0" name="Text Box 191"/>
            <p:cNvSpPr txBox="1">
              <a:spLocks noChangeArrowheads="1"/>
            </p:cNvSpPr>
            <p:nvPr/>
          </p:nvSpPr>
          <p:spPr bwMode="auto">
            <a:xfrm>
              <a:off x="8210579" y="2968634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  <a:endParaRPr lang="en-US" altLang="zh-CN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1" name="Text Box 192"/>
            <p:cNvSpPr txBox="1">
              <a:spLocks noChangeArrowheads="1"/>
            </p:cNvSpPr>
            <p:nvPr/>
          </p:nvSpPr>
          <p:spPr bwMode="auto">
            <a:xfrm>
              <a:off x="8197879" y="2566996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  <a:endParaRPr lang="en-US" altLang="zh-CN" sz="200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32" name="Text Box 198"/>
            <p:cNvSpPr txBox="1">
              <a:spLocks noChangeArrowheads="1"/>
            </p:cNvSpPr>
            <p:nvPr/>
          </p:nvSpPr>
          <p:spPr bwMode="auto">
            <a:xfrm>
              <a:off x="8210579" y="2593984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itchFamily="49" charset="0"/>
                  <a:ea typeface="宋体" pitchFamily="2" charset="-122"/>
                  <a:cs typeface="Consolas" pitchFamily="49" charset="0"/>
                </a:rPr>
                <a:t>2</a:t>
              </a:r>
              <a:endParaRPr lang="en-US" altLang="zh-CN" sz="2000">
                <a:latin typeface="Consolas" pitchFamily="49" charset="0"/>
                <a:cs typeface="Consolas" pitchFamily="49" charset="0"/>
              </a:endParaRPr>
            </a:p>
          </p:txBody>
        </p:sp>
        <p:grpSp>
          <p:nvGrpSpPr>
            <p:cNvPr id="25" name="Group 203"/>
            <p:cNvGrpSpPr>
              <a:grpSpLocks/>
            </p:cNvGrpSpPr>
            <p:nvPr/>
          </p:nvGrpSpPr>
          <p:grpSpPr bwMode="auto">
            <a:xfrm>
              <a:off x="7348567" y="2149484"/>
              <a:ext cx="1152525" cy="304800"/>
              <a:chOff x="2336" y="3430"/>
              <a:chExt cx="726" cy="192"/>
            </a:xfrm>
          </p:grpSpPr>
          <p:sp>
            <p:nvSpPr>
              <p:cNvPr id="34" name="Text Box 199"/>
              <p:cNvSpPr txBox="1">
                <a:spLocks noChangeArrowheads="1"/>
              </p:cNvSpPr>
              <p:nvPr/>
            </p:nvSpPr>
            <p:spPr bwMode="auto">
              <a:xfrm>
                <a:off x="2336" y="3430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35" name="Text Box 200"/>
              <p:cNvSpPr txBox="1">
                <a:spLocks noChangeArrowheads="1"/>
              </p:cNvSpPr>
              <p:nvPr/>
            </p:nvSpPr>
            <p:spPr bwMode="auto">
              <a:xfrm>
                <a:off x="2608" y="3430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36" name="Text Box 201"/>
              <p:cNvSpPr txBox="1">
                <a:spLocks noChangeArrowheads="1"/>
              </p:cNvSpPr>
              <p:nvPr/>
            </p:nvSpPr>
            <p:spPr bwMode="auto">
              <a:xfrm>
                <a:off x="2881" y="3430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-1</a:t>
                </a:r>
                <a:endParaRPr lang="en-US" altLang="zh-CN" sz="200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37" name="Text Box 202"/>
            <p:cNvSpPr txBox="1">
              <a:spLocks noChangeArrowheads="1"/>
            </p:cNvSpPr>
            <p:nvPr/>
          </p:nvSpPr>
          <p:spPr bwMode="auto">
            <a:xfrm>
              <a:off x="8224867" y="2149484"/>
              <a:ext cx="287337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  <a:endParaRPr lang="en-US" altLang="zh-CN" sz="2000">
                <a:latin typeface="Consolas" pitchFamily="49" charset="0"/>
                <a:cs typeface="Consolas" pitchFamily="49" charset="0"/>
              </a:endParaRPr>
            </a:p>
          </p:txBody>
        </p:sp>
        <p:grpSp>
          <p:nvGrpSpPr>
            <p:cNvPr id="33" name="Group 208"/>
            <p:cNvGrpSpPr>
              <a:grpSpLocks/>
            </p:cNvGrpSpPr>
            <p:nvPr/>
          </p:nvGrpSpPr>
          <p:grpSpPr bwMode="auto">
            <a:xfrm>
              <a:off x="7346979" y="1695459"/>
              <a:ext cx="1152525" cy="304800"/>
              <a:chOff x="3651" y="1674"/>
              <a:chExt cx="726" cy="192"/>
            </a:xfrm>
          </p:grpSpPr>
          <p:sp>
            <p:nvSpPr>
              <p:cNvPr id="39" name="Text Box 204"/>
              <p:cNvSpPr txBox="1">
                <a:spLocks noChangeArrowheads="1"/>
              </p:cNvSpPr>
              <p:nvPr/>
            </p:nvSpPr>
            <p:spPr bwMode="auto">
              <a:xfrm>
                <a:off x="3651" y="1674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4</a:t>
                </a:r>
              </a:p>
            </p:txBody>
          </p:sp>
          <p:sp>
            <p:nvSpPr>
              <p:cNvPr id="40" name="Text Box 205"/>
              <p:cNvSpPr txBox="1">
                <a:spLocks noChangeArrowheads="1"/>
              </p:cNvSpPr>
              <p:nvPr/>
            </p:nvSpPr>
            <p:spPr bwMode="auto">
              <a:xfrm>
                <a:off x="3923" y="1674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41" name="Text Box 206"/>
              <p:cNvSpPr txBox="1">
                <a:spLocks noChangeArrowheads="1"/>
              </p:cNvSpPr>
              <p:nvPr/>
            </p:nvSpPr>
            <p:spPr bwMode="auto">
              <a:xfrm>
                <a:off x="4196" y="1674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-1</a:t>
                </a:r>
                <a:endParaRPr lang="en-US" altLang="zh-CN" sz="2000">
                  <a:latin typeface="Consolas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42" name="Text Box 207"/>
            <p:cNvSpPr txBox="1">
              <a:spLocks noChangeArrowheads="1"/>
            </p:cNvSpPr>
            <p:nvPr/>
          </p:nvSpPr>
          <p:spPr bwMode="auto">
            <a:xfrm>
              <a:off x="8223279" y="1700221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itchFamily="49" charset="0"/>
                  <a:ea typeface="宋体" pitchFamily="2" charset="-122"/>
                  <a:cs typeface="Consolas" pitchFamily="49" charset="0"/>
                </a:rPr>
                <a:t>1</a:t>
              </a:r>
              <a:endParaRPr lang="en-US" altLang="zh-CN" sz="2000">
                <a:latin typeface="Consolas" pitchFamily="49" charset="0"/>
                <a:cs typeface="Consolas" pitchFamily="49" charset="0"/>
              </a:endParaRPr>
            </a:p>
          </p:txBody>
        </p:sp>
        <p:grpSp>
          <p:nvGrpSpPr>
            <p:cNvPr id="38" name="Group 212"/>
            <p:cNvGrpSpPr>
              <a:grpSpLocks/>
            </p:cNvGrpSpPr>
            <p:nvPr/>
          </p:nvGrpSpPr>
          <p:grpSpPr bwMode="auto">
            <a:xfrm>
              <a:off x="7346979" y="1250959"/>
              <a:ext cx="1152525" cy="304800"/>
              <a:chOff x="3651" y="1378"/>
              <a:chExt cx="726" cy="192"/>
            </a:xfrm>
          </p:grpSpPr>
          <p:sp>
            <p:nvSpPr>
              <p:cNvPr id="44" name="Text Box 209"/>
              <p:cNvSpPr txBox="1">
                <a:spLocks noChangeArrowheads="1"/>
              </p:cNvSpPr>
              <p:nvPr/>
            </p:nvSpPr>
            <p:spPr bwMode="auto">
              <a:xfrm>
                <a:off x="3651" y="1378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4</a:t>
                </a:r>
              </a:p>
            </p:txBody>
          </p:sp>
          <p:sp>
            <p:nvSpPr>
              <p:cNvPr id="45" name="Text Box 210"/>
              <p:cNvSpPr txBox="1">
                <a:spLocks noChangeArrowheads="1"/>
              </p:cNvSpPr>
              <p:nvPr/>
            </p:nvSpPr>
            <p:spPr bwMode="auto">
              <a:xfrm>
                <a:off x="3923" y="1378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4</a:t>
                </a:r>
              </a:p>
            </p:txBody>
          </p:sp>
          <p:sp>
            <p:nvSpPr>
              <p:cNvPr id="46" name="Text Box 211"/>
              <p:cNvSpPr txBox="1">
                <a:spLocks noChangeArrowheads="1"/>
              </p:cNvSpPr>
              <p:nvPr/>
            </p:nvSpPr>
            <p:spPr bwMode="auto">
              <a:xfrm>
                <a:off x="4196" y="1378"/>
                <a:ext cx="181" cy="192"/>
              </a:xfrm>
              <a:prstGeom prst="rect">
                <a:avLst/>
              </a:prstGeom>
              <a:solidFill>
                <a:schemeClr val="bg1"/>
              </a:solidFill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ea typeface="宋体" pitchFamily="2" charset="-122"/>
                    <a:cs typeface="Consolas" pitchFamily="49" charset="0"/>
                  </a:rPr>
                  <a:t>-1</a:t>
                </a:r>
                <a:endParaRPr lang="en-US" altLang="zh-CN" sz="2000">
                  <a:latin typeface="Consolas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52" name="组合 95"/>
          <p:cNvGrpSpPr/>
          <p:nvPr/>
        </p:nvGrpSpPr>
        <p:grpSpPr>
          <a:xfrm>
            <a:off x="7091287" y="4694936"/>
            <a:ext cx="3151904" cy="1963781"/>
            <a:chOff x="3209923" y="3929066"/>
            <a:chExt cx="4005283" cy="2671208"/>
          </a:xfrm>
        </p:grpSpPr>
        <p:sp>
          <p:nvSpPr>
            <p:cNvPr id="53" name="Rectangle 33"/>
            <p:cNvSpPr>
              <a:spLocks noChangeArrowheads="1"/>
            </p:cNvSpPr>
            <p:nvPr/>
          </p:nvSpPr>
          <p:spPr bwMode="auto">
            <a:xfrm>
              <a:off x="3209923" y="44412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4" name="Rectangle 43"/>
            <p:cNvSpPr>
              <a:spLocks noChangeArrowheads="1"/>
            </p:cNvSpPr>
            <p:nvPr/>
          </p:nvSpPr>
          <p:spPr bwMode="auto">
            <a:xfrm>
              <a:off x="3209923" y="480004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3209923" y="516041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6" name="Rectangle 63"/>
            <p:cNvSpPr>
              <a:spLocks noChangeArrowheads="1"/>
            </p:cNvSpPr>
            <p:nvPr/>
          </p:nvSpPr>
          <p:spPr bwMode="auto">
            <a:xfrm>
              <a:off x="3209923" y="55207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7" name="Rectangle 73"/>
            <p:cNvSpPr>
              <a:spLocks noChangeArrowheads="1"/>
            </p:cNvSpPr>
            <p:nvPr/>
          </p:nvSpPr>
          <p:spPr bwMode="auto">
            <a:xfrm>
              <a:off x="3209923" y="588113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8" name="Rectangle 83"/>
            <p:cNvSpPr>
              <a:spLocks noChangeArrowheads="1"/>
            </p:cNvSpPr>
            <p:nvPr/>
          </p:nvSpPr>
          <p:spPr bwMode="auto">
            <a:xfrm>
              <a:off x="3209923" y="62414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59" name="Rectangle 33"/>
            <p:cNvSpPr>
              <a:spLocks noChangeArrowheads="1"/>
            </p:cNvSpPr>
            <p:nvPr/>
          </p:nvSpPr>
          <p:spPr bwMode="auto">
            <a:xfrm>
              <a:off x="3568698" y="44412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0" name="Rectangle 43"/>
            <p:cNvSpPr>
              <a:spLocks noChangeArrowheads="1"/>
            </p:cNvSpPr>
            <p:nvPr/>
          </p:nvSpPr>
          <p:spPr bwMode="auto">
            <a:xfrm>
              <a:off x="3568698" y="480004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1" name="Rectangle 53"/>
            <p:cNvSpPr>
              <a:spLocks noChangeArrowheads="1"/>
            </p:cNvSpPr>
            <p:nvPr/>
          </p:nvSpPr>
          <p:spPr bwMode="auto">
            <a:xfrm>
              <a:off x="3568698" y="516041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3568698" y="55207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3" name="Rectangle 73"/>
            <p:cNvSpPr>
              <a:spLocks noChangeArrowheads="1"/>
            </p:cNvSpPr>
            <p:nvPr/>
          </p:nvSpPr>
          <p:spPr bwMode="auto">
            <a:xfrm>
              <a:off x="3568698" y="588113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4" name="Rectangle 83"/>
            <p:cNvSpPr>
              <a:spLocks noChangeArrowheads="1"/>
            </p:cNvSpPr>
            <p:nvPr/>
          </p:nvSpPr>
          <p:spPr bwMode="auto">
            <a:xfrm>
              <a:off x="3568698" y="62414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5" name="Rectangle 33"/>
            <p:cNvSpPr>
              <a:spLocks noChangeArrowheads="1"/>
            </p:cNvSpPr>
            <p:nvPr/>
          </p:nvSpPr>
          <p:spPr bwMode="auto">
            <a:xfrm>
              <a:off x="3925888" y="44412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6" name="Rectangle 43"/>
            <p:cNvSpPr>
              <a:spLocks noChangeArrowheads="1"/>
            </p:cNvSpPr>
            <p:nvPr/>
          </p:nvSpPr>
          <p:spPr bwMode="auto">
            <a:xfrm>
              <a:off x="3925888" y="480004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7" name="Rectangle 53"/>
            <p:cNvSpPr>
              <a:spLocks noChangeArrowheads="1"/>
            </p:cNvSpPr>
            <p:nvPr/>
          </p:nvSpPr>
          <p:spPr bwMode="auto">
            <a:xfrm>
              <a:off x="3925888" y="516041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8" name="Rectangle 63"/>
            <p:cNvSpPr>
              <a:spLocks noChangeArrowheads="1"/>
            </p:cNvSpPr>
            <p:nvPr/>
          </p:nvSpPr>
          <p:spPr bwMode="auto">
            <a:xfrm>
              <a:off x="3925888" y="55207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9" name="Rectangle 73"/>
            <p:cNvSpPr>
              <a:spLocks noChangeArrowheads="1"/>
            </p:cNvSpPr>
            <p:nvPr/>
          </p:nvSpPr>
          <p:spPr bwMode="auto">
            <a:xfrm>
              <a:off x="3925888" y="588113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0" name="Rectangle 83"/>
            <p:cNvSpPr>
              <a:spLocks noChangeArrowheads="1"/>
            </p:cNvSpPr>
            <p:nvPr/>
          </p:nvSpPr>
          <p:spPr bwMode="auto">
            <a:xfrm>
              <a:off x="3925888" y="62414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4284663" y="44412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2" name="Rectangle 43"/>
            <p:cNvSpPr>
              <a:spLocks noChangeArrowheads="1"/>
            </p:cNvSpPr>
            <p:nvPr/>
          </p:nvSpPr>
          <p:spPr bwMode="auto">
            <a:xfrm>
              <a:off x="4284663" y="480004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3" name="Rectangle 53"/>
            <p:cNvSpPr>
              <a:spLocks noChangeArrowheads="1"/>
            </p:cNvSpPr>
            <p:nvPr/>
          </p:nvSpPr>
          <p:spPr bwMode="auto">
            <a:xfrm>
              <a:off x="4284663" y="516041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4" name="Rectangle 63"/>
            <p:cNvSpPr>
              <a:spLocks noChangeArrowheads="1"/>
            </p:cNvSpPr>
            <p:nvPr/>
          </p:nvSpPr>
          <p:spPr bwMode="auto">
            <a:xfrm>
              <a:off x="4284663" y="55207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5" name="Rectangle 73"/>
            <p:cNvSpPr>
              <a:spLocks noChangeArrowheads="1"/>
            </p:cNvSpPr>
            <p:nvPr/>
          </p:nvSpPr>
          <p:spPr bwMode="auto">
            <a:xfrm>
              <a:off x="4284663" y="588113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6" name="Rectangle 83"/>
            <p:cNvSpPr>
              <a:spLocks noChangeArrowheads="1"/>
            </p:cNvSpPr>
            <p:nvPr/>
          </p:nvSpPr>
          <p:spPr bwMode="auto">
            <a:xfrm>
              <a:off x="4284663" y="62414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7" name="Rectangle 33"/>
            <p:cNvSpPr>
              <a:spLocks noChangeArrowheads="1"/>
            </p:cNvSpPr>
            <p:nvPr/>
          </p:nvSpPr>
          <p:spPr bwMode="auto">
            <a:xfrm>
              <a:off x="4640268" y="44412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8" name="Rectangle 43"/>
            <p:cNvSpPr>
              <a:spLocks noChangeArrowheads="1"/>
            </p:cNvSpPr>
            <p:nvPr/>
          </p:nvSpPr>
          <p:spPr bwMode="auto">
            <a:xfrm>
              <a:off x="4640268" y="480004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9" name="Rectangle 53"/>
            <p:cNvSpPr>
              <a:spLocks noChangeArrowheads="1"/>
            </p:cNvSpPr>
            <p:nvPr/>
          </p:nvSpPr>
          <p:spPr bwMode="auto">
            <a:xfrm>
              <a:off x="4640268" y="516041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0" name="Rectangle 63"/>
            <p:cNvSpPr>
              <a:spLocks noChangeArrowheads="1"/>
            </p:cNvSpPr>
            <p:nvPr/>
          </p:nvSpPr>
          <p:spPr bwMode="auto">
            <a:xfrm>
              <a:off x="4640268" y="55207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4640268" y="588113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2" name="Rectangle 83"/>
            <p:cNvSpPr>
              <a:spLocks noChangeArrowheads="1"/>
            </p:cNvSpPr>
            <p:nvPr/>
          </p:nvSpPr>
          <p:spPr bwMode="auto">
            <a:xfrm>
              <a:off x="4640268" y="62414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3" name="Rectangle 33"/>
            <p:cNvSpPr>
              <a:spLocks noChangeArrowheads="1"/>
            </p:cNvSpPr>
            <p:nvPr/>
          </p:nvSpPr>
          <p:spPr bwMode="auto">
            <a:xfrm>
              <a:off x="4999043" y="44412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4" name="Rectangle 43"/>
            <p:cNvSpPr>
              <a:spLocks noChangeArrowheads="1"/>
            </p:cNvSpPr>
            <p:nvPr/>
          </p:nvSpPr>
          <p:spPr bwMode="auto">
            <a:xfrm>
              <a:off x="4999043" y="480004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5" name="Rectangle 53"/>
            <p:cNvSpPr>
              <a:spLocks noChangeArrowheads="1"/>
            </p:cNvSpPr>
            <p:nvPr/>
          </p:nvSpPr>
          <p:spPr bwMode="auto">
            <a:xfrm>
              <a:off x="4999043" y="516041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6" name="Rectangle 63"/>
            <p:cNvSpPr>
              <a:spLocks noChangeArrowheads="1"/>
            </p:cNvSpPr>
            <p:nvPr/>
          </p:nvSpPr>
          <p:spPr bwMode="auto">
            <a:xfrm>
              <a:off x="4999043" y="552077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7" name="Rectangle 73"/>
            <p:cNvSpPr>
              <a:spLocks noChangeArrowheads="1"/>
            </p:cNvSpPr>
            <p:nvPr/>
          </p:nvSpPr>
          <p:spPr bwMode="auto">
            <a:xfrm>
              <a:off x="4999043" y="588113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8" name="Rectangle 83"/>
            <p:cNvSpPr>
              <a:spLocks noChangeArrowheads="1"/>
            </p:cNvSpPr>
            <p:nvPr/>
          </p:nvSpPr>
          <p:spPr bwMode="auto">
            <a:xfrm>
              <a:off x="4999043" y="624149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89" name="Text Box 180"/>
            <p:cNvSpPr txBox="1">
              <a:spLocks noChangeArrowheads="1"/>
            </p:cNvSpPr>
            <p:nvPr/>
          </p:nvSpPr>
          <p:spPr bwMode="auto">
            <a:xfrm>
              <a:off x="4316413" y="4819660"/>
              <a:ext cx="287337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↓</a:t>
              </a:r>
            </a:p>
          </p:txBody>
        </p:sp>
        <p:sp>
          <p:nvSpPr>
            <p:cNvPr id="90" name="Text Box 182"/>
            <p:cNvSpPr txBox="1">
              <a:spLocks noChangeArrowheads="1"/>
            </p:cNvSpPr>
            <p:nvPr/>
          </p:nvSpPr>
          <p:spPr bwMode="auto">
            <a:xfrm>
              <a:off x="3605213" y="4824422"/>
              <a:ext cx="287337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→</a:t>
              </a:r>
            </a:p>
          </p:txBody>
        </p:sp>
        <p:sp>
          <p:nvSpPr>
            <p:cNvPr id="91" name="Text Box 184"/>
            <p:cNvSpPr txBox="1">
              <a:spLocks noChangeArrowheads="1"/>
            </p:cNvSpPr>
            <p:nvPr/>
          </p:nvSpPr>
          <p:spPr bwMode="auto">
            <a:xfrm>
              <a:off x="3962400" y="4816485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→</a:t>
              </a:r>
            </a:p>
          </p:txBody>
        </p:sp>
        <p:sp>
          <p:nvSpPr>
            <p:cNvPr id="92" name="Text Box 187"/>
            <p:cNvSpPr txBox="1">
              <a:spLocks noChangeArrowheads="1"/>
            </p:cNvSpPr>
            <p:nvPr/>
          </p:nvSpPr>
          <p:spPr bwMode="auto">
            <a:xfrm>
              <a:off x="4322763" y="5537210"/>
              <a:ext cx="287337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↓</a:t>
              </a:r>
            </a:p>
          </p:txBody>
        </p:sp>
        <p:sp>
          <p:nvSpPr>
            <p:cNvPr id="93" name="Text Box 188"/>
            <p:cNvSpPr txBox="1">
              <a:spLocks noChangeArrowheads="1"/>
            </p:cNvSpPr>
            <p:nvPr/>
          </p:nvSpPr>
          <p:spPr bwMode="auto">
            <a:xfrm>
              <a:off x="4313238" y="5899160"/>
              <a:ext cx="287337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→</a:t>
              </a:r>
            </a:p>
          </p:txBody>
        </p:sp>
        <p:sp>
          <p:nvSpPr>
            <p:cNvPr id="94" name="Text Box 183"/>
            <p:cNvSpPr txBox="1">
              <a:spLocks noChangeArrowheads="1"/>
            </p:cNvSpPr>
            <p:nvPr/>
          </p:nvSpPr>
          <p:spPr bwMode="auto">
            <a:xfrm>
              <a:off x="4329113" y="5180022"/>
              <a:ext cx="287337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↓</a:t>
              </a:r>
            </a:p>
          </p:txBody>
        </p:sp>
        <p:cxnSp>
          <p:nvCxnSpPr>
            <p:cNvPr id="95" name="直接箭头连接符 94"/>
            <p:cNvCxnSpPr/>
            <p:nvPr/>
          </p:nvCxnSpPr>
          <p:spPr>
            <a:xfrm rot="10800000" flipV="1">
              <a:off x="5643570" y="3929066"/>
              <a:ext cx="1571636" cy="857256"/>
            </a:xfrm>
            <a:prstGeom prst="straightConnector1">
              <a:avLst/>
            </a:prstGeom>
            <a:ln w="57150"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270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3369-7ECC-4269-080E-E1746377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6CF6AF43-1F19-CAA5-9431-D8C8681A3DB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13F8596-B538-4AB8-0E2E-794BC924B68F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96BCF6A-8552-CFD8-C088-42FAD819C98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D4D47BB-1FD1-7CDE-8215-71A4CE9D3EC9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469A090C-7B43-5B33-74D2-49813A982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088" y="1935064"/>
            <a:ext cx="6491302" cy="3964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tIns="180000" bIns="18000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find=false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while (di&lt;4 &amp;&amp; !find)  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找相邻可走方块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(i1,j1)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	di++;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switch(di)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{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case 0:i1=i-1; j1=j;   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case 1:i1=i;   j1=j+1; 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case 2:i1=i+1; j1=j;   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case 3:i1=i;   j1=j-1; 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if (mg[i1][j1]==0)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find=true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     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找到一个相邻可走方块，设置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find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为真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}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96" name="组合 45">
            <a:extLst>
              <a:ext uri="{FF2B5EF4-FFF2-40B4-BE49-F238E27FC236}">
                <a16:creationId xmlns:a16="http://schemas.microsoft.com/office/drawing/2014/main" id="{618246C6-D3BD-5251-E2FB-212C4149F08B}"/>
              </a:ext>
            </a:extLst>
          </p:cNvPr>
          <p:cNvGrpSpPr/>
          <p:nvPr/>
        </p:nvGrpSpPr>
        <p:grpSpPr>
          <a:xfrm>
            <a:off x="8708017" y="3429671"/>
            <a:ext cx="2147895" cy="2159000"/>
            <a:chOff x="6445271" y="2698760"/>
            <a:chExt cx="2147895" cy="2159000"/>
          </a:xfrm>
        </p:grpSpPr>
        <p:sp>
          <p:nvSpPr>
            <p:cNvPr id="97" name="Rectangle 33">
              <a:extLst>
                <a:ext uri="{FF2B5EF4-FFF2-40B4-BE49-F238E27FC236}">
                  <a16:creationId xmlns:a16="http://schemas.microsoft.com/office/drawing/2014/main" id="{93C3B902-E024-978B-ED33-9E93E1B26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71" y="26987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8" name="Rectangle 43">
              <a:extLst>
                <a:ext uri="{FF2B5EF4-FFF2-40B4-BE49-F238E27FC236}">
                  <a16:creationId xmlns:a16="http://schemas.microsoft.com/office/drawing/2014/main" id="{CEFA5C22-EB06-C4F1-BD03-5AA9F3F68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71" y="305753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9" name="Rectangle 53">
              <a:extLst>
                <a:ext uri="{FF2B5EF4-FFF2-40B4-BE49-F238E27FC236}">
                  <a16:creationId xmlns:a16="http://schemas.microsoft.com/office/drawing/2014/main" id="{2F6AD1B1-BDDB-7D3D-C4EF-51616C3AD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71" y="341789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0" name="Rectangle 63">
              <a:extLst>
                <a:ext uri="{FF2B5EF4-FFF2-40B4-BE49-F238E27FC236}">
                  <a16:creationId xmlns:a16="http://schemas.microsoft.com/office/drawing/2014/main" id="{FA728060-5030-12FC-1F25-781E7536F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71" y="37782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1" name="Rectangle 73">
              <a:extLst>
                <a:ext uri="{FF2B5EF4-FFF2-40B4-BE49-F238E27FC236}">
                  <a16:creationId xmlns:a16="http://schemas.microsoft.com/office/drawing/2014/main" id="{132CD0C2-1C17-C308-803E-9722D6960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71" y="413862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2" name="Rectangle 83">
              <a:extLst>
                <a:ext uri="{FF2B5EF4-FFF2-40B4-BE49-F238E27FC236}">
                  <a16:creationId xmlns:a16="http://schemas.microsoft.com/office/drawing/2014/main" id="{37E5EFC4-4D9D-E36B-595C-0F088C287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5271" y="449898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3" name="Rectangle 33">
              <a:extLst>
                <a:ext uri="{FF2B5EF4-FFF2-40B4-BE49-F238E27FC236}">
                  <a16:creationId xmlns:a16="http://schemas.microsoft.com/office/drawing/2014/main" id="{C93F9804-8B28-A113-C18A-265351F0A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46" y="26987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4" name="Rectangle 43">
              <a:extLst>
                <a:ext uri="{FF2B5EF4-FFF2-40B4-BE49-F238E27FC236}">
                  <a16:creationId xmlns:a16="http://schemas.microsoft.com/office/drawing/2014/main" id="{9159092F-82AE-E6EB-B877-6AEADA840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46" y="305753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5" name="Rectangle 53">
              <a:extLst>
                <a:ext uri="{FF2B5EF4-FFF2-40B4-BE49-F238E27FC236}">
                  <a16:creationId xmlns:a16="http://schemas.microsoft.com/office/drawing/2014/main" id="{6D536918-EA5C-2351-D41E-693F17A28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46" y="341789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6" name="Rectangle 63">
              <a:extLst>
                <a:ext uri="{FF2B5EF4-FFF2-40B4-BE49-F238E27FC236}">
                  <a16:creationId xmlns:a16="http://schemas.microsoft.com/office/drawing/2014/main" id="{1E1CEF21-5304-B2E3-F6F7-363D8A914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46" y="37782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7" name="Rectangle 73">
              <a:extLst>
                <a:ext uri="{FF2B5EF4-FFF2-40B4-BE49-F238E27FC236}">
                  <a16:creationId xmlns:a16="http://schemas.microsoft.com/office/drawing/2014/main" id="{239E3EEC-8F97-AC5D-1A7F-A4ADFEAC7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46" y="413862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8" name="Rectangle 83">
              <a:extLst>
                <a:ext uri="{FF2B5EF4-FFF2-40B4-BE49-F238E27FC236}">
                  <a16:creationId xmlns:a16="http://schemas.microsoft.com/office/drawing/2014/main" id="{335FAAC7-57E0-4D01-1B7D-B4B3EFA55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4046" y="449898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Rectangle 33">
              <a:extLst>
                <a:ext uri="{FF2B5EF4-FFF2-40B4-BE49-F238E27FC236}">
                  <a16:creationId xmlns:a16="http://schemas.microsoft.com/office/drawing/2014/main" id="{F9164881-D0AC-048A-9640-862BC8334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236" y="26987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Rectangle 43">
              <a:extLst>
                <a:ext uri="{FF2B5EF4-FFF2-40B4-BE49-F238E27FC236}">
                  <a16:creationId xmlns:a16="http://schemas.microsoft.com/office/drawing/2014/main" id="{4D53D81C-CEBE-91D9-A004-3D1F33B78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236" y="305753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1" name="Rectangle 53">
              <a:extLst>
                <a:ext uri="{FF2B5EF4-FFF2-40B4-BE49-F238E27FC236}">
                  <a16:creationId xmlns:a16="http://schemas.microsoft.com/office/drawing/2014/main" id="{4CFD8670-0E26-C34F-F445-689FE9116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236" y="341789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2" name="Rectangle 63">
              <a:extLst>
                <a:ext uri="{FF2B5EF4-FFF2-40B4-BE49-F238E27FC236}">
                  <a16:creationId xmlns:a16="http://schemas.microsoft.com/office/drawing/2014/main" id="{D5402909-EA33-297A-520E-FDF8DB270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236" y="37782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3" name="Rectangle 73">
              <a:extLst>
                <a:ext uri="{FF2B5EF4-FFF2-40B4-BE49-F238E27FC236}">
                  <a16:creationId xmlns:a16="http://schemas.microsoft.com/office/drawing/2014/main" id="{591224F8-AC7F-E688-4360-2F007A401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236" y="413862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4" name="Rectangle 83">
              <a:extLst>
                <a:ext uri="{FF2B5EF4-FFF2-40B4-BE49-F238E27FC236}">
                  <a16:creationId xmlns:a16="http://schemas.microsoft.com/office/drawing/2014/main" id="{2ED8BCFB-52D0-66E3-56D2-014F3D7C6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1236" y="449898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5" name="Rectangle 33">
              <a:extLst>
                <a:ext uri="{FF2B5EF4-FFF2-40B4-BE49-F238E27FC236}">
                  <a16:creationId xmlns:a16="http://schemas.microsoft.com/office/drawing/2014/main" id="{08DA57A5-13F5-3487-23F2-4EFB3BAE1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011" y="26987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6" name="Rectangle 43">
              <a:extLst>
                <a:ext uri="{FF2B5EF4-FFF2-40B4-BE49-F238E27FC236}">
                  <a16:creationId xmlns:a16="http://schemas.microsoft.com/office/drawing/2014/main" id="{79F6899E-1147-0006-E813-7CC7F044B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011" y="305753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7" name="Rectangle 53">
              <a:extLst>
                <a:ext uri="{FF2B5EF4-FFF2-40B4-BE49-F238E27FC236}">
                  <a16:creationId xmlns:a16="http://schemas.microsoft.com/office/drawing/2014/main" id="{72572E61-9FEA-F20D-E8BD-89693C06F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011" y="341789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8" name="Rectangle 63">
              <a:extLst>
                <a:ext uri="{FF2B5EF4-FFF2-40B4-BE49-F238E27FC236}">
                  <a16:creationId xmlns:a16="http://schemas.microsoft.com/office/drawing/2014/main" id="{F8C13C44-FDED-213B-0689-C3C152438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011" y="37782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9" name="Rectangle 73">
              <a:extLst>
                <a:ext uri="{FF2B5EF4-FFF2-40B4-BE49-F238E27FC236}">
                  <a16:creationId xmlns:a16="http://schemas.microsoft.com/office/drawing/2014/main" id="{F5F48540-7AC2-0898-CE12-C60AE9EEE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011" y="413862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0" name="Rectangle 83">
              <a:extLst>
                <a:ext uri="{FF2B5EF4-FFF2-40B4-BE49-F238E27FC236}">
                  <a16:creationId xmlns:a16="http://schemas.microsoft.com/office/drawing/2014/main" id="{1B6C5E55-E0E1-54C4-52F4-387CEF0C2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0011" y="449898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1" name="Rectangle 33">
              <a:extLst>
                <a:ext uri="{FF2B5EF4-FFF2-40B4-BE49-F238E27FC236}">
                  <a16:creationId xmlns:a16="http://schemas.microsoft.com/office/drawing/2014/main" id="{E0F3ECD5-2F3E-F3E4-3B75-E7B2AA252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5616" y="26987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2" name="Rectangle 43">
              <a:extLst>
                <a:ext uri="{FF2B5EF4-FFF2-40B4-BE49-F238E27FC236}">
                  <a16:creationId xmlns:a16="http://schemas.microsoft.com/office/drawing/2014/main" id="{7F642A83-FDE2-84E2-2237-FE5C5FB13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5616" y="305753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3" name="Rectangle 53">
              <a:extLst>
                <a:ext uri="{FF2B5EF4-FFF2-40B4-BE49-F238E27FC236}">
                  <a16:creationId xmlns:a16="http://schemas.microsoft.com/office/drawing/2014/main" id="{98DF2A16-77F1-E344-18BA-BCA51345A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5616" y="341789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4" name="Rectangle 63">
              <a:extLst>
                <a:ext uri="{FF2B5EF4-FFF2-40B4-BE49-F238E27FC236}">
                  <a16:creationId xmlns:a16="http://schemas.microsoft.com/office/drawing/2014/main" id="{37F0331D-907B-E073-FDD6-A412E4E8C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5616" y="37782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5" name="Rectangle 73">
              <a:extLst>
                <a:ext uri="{FF2B5EF4-FFF2-40B4-BE49-F238E27FC236}">
                  <a16:creationId xmlns:a16="http://schemas.microsoft.com/office/drawing/2014/main" id="{C99826C6-47B2-F88C-BB78-3B9144C2D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5616" y="413862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6" name="Rectangle 83">
              <a:extLst>
                <a:ext uri="{FF2B5EF4-FFF2-40B4-BE49-F238E27FC236}">
                  <a16:creationId xmlns:a16="http://schemas.microsoft.com/office/drawing/2014/main" id="{710654A0-6655-651E-2D77-C5E269B69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5616" y="449898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7" name="Rectangle 33">
              <a:extLst>
                <a:ext uri="{FF2B5EF4-FFF2-40B4-BE49-F238E27FC236}">
                  <a16:creationId xmlns:a16="http://schemas.microsoft.com/office/drawing/2014/main" id="{E501F68D-2414-C300-E065-30DD9744E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4391" y="26987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8" name="Rectangle 43">
              <a:extLst>
                <a:ext uri="{FF2B5EF4-FFF2-40B4-BE49-F238E27FC236}">
                  <a16:creationId xmlns:a16="http://schemas.microsoft.com/office/drawing/2014/main" id="{E73AE44A-3EE9-A7F8-9853-ADA747D7A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4391" y="305753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9" name="Rectangle 53">
              <a:extLst>
                <a:ext uri="{FF2B5EF4-FFF2-40B4-BE49-F238E27FC236}">
                  <a16:creationId xmlns:a16="http://schemas.microsoft.com/office/drawing/2014/main" id="{B9CBE933-03FD-A4EB-7C44-9D7FD9851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4391" y="341789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0" name="Rectangle 63">
              <a:extLst>
                <a:ext uri="{FF2B5EF4-FFF2-40B4-BE49-F238E27FC236}">
                  <a16:creationId xmlns:a16="http://schemas.microsoft.com/office/drawing/2014/main" id="{9889B365-6B31-ED3C-3BBA-0A7C5D85B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4391" y="3778260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1" name="Rectangle 73">
              <a:extLst>
                <a:ext uri="{FF2B5EF4-FFF2-40B4-BE49-F238E27FC236}">
                  <a16:creationId xmlns:a16="http://schemas.microsoft.com/office/drawing/2014/main" id="{DF73C10F-C3E0-485F-1B59-4E068C17F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4391" y="413862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2" name="Rectangle 83">
              <a:extLst>
                <a:ext uri="{FF2B5EF4-FFF2-40B4-BE49-F238E27FC236}">
                  <a16:creationId xmlns:a16="http://schemas.microsoft.com/office/drawing/2014/main" id="{9652D673-0E45-73A5-8C51-830F56352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4391" y="4498985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3" name="Text Box 182">
              <a:extLst>
                <a:ext uri="{FF2B5EF4-FFF2-40B4-BE49-F238E27FC236}">
                  <a16:creationId xmlns:a16="http://schemas.microsoft.com/office/drawing/2014/main" id="{72BB4525-4E34-32BE-3992-9884AD0A5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561" y="3081908"/>
              <a:ext cx="287337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楷体_GB2312" pitchFamily="49" charset="-122"/>
                </a:rPr>
                <a:t>→</a:t>
              </a:r>
            </a:p>
          </p:txBody>
        </p:sp>
      </p:grpSp>
      <p:sp>
        <p:nvSpPr>
          <p:cNvPr id="134" name="TextBox 46">
            <a:extLst>
              <a:ext uri="{FF2B5EF4-FFF2-40B4-BE49-F238E27FC236}">
                <a16:creationId xmlns:a16="http://schemas.microsoft.com/office/drawing/2014/main" id="{ADC20CDA-5C49-FF9F-428F-220C0EE1EFD8}"/>
              </a:ext>
            </a:extLst>
          </p:cNvPr>
          <p:cNvSpPr txBox="1"/>
          <p:nvPr/>
        </p:nvSpPr>
        <p:spPr>
          <a:xfrm>
            <a:off x="8641334" y="1945333"/>
            <a:ext cx="23574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从入口（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1,1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）出发找到一个可走方块（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</a:p>
        </p:txBody>
      </p: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C71788A0-9296-070C-870A-8514BBD28F40}"/>
              </a:ext>
            </a:extLst>
          </p:cNvPr>
          <p:cNvCxnSpPr>
            <a:stCxn id="134" idx="2"/>
          </p:cNvCxnSpPr>
          <p:nvPr/>
        </p:nvCxnSpPr>
        <p:spPr>
          <a:xfrm flipH="1">
            <a:off x="9641469" y="2960996"/>
            <a:ext cx="178592" cy="984604"/>
          </a:xfrm>
          <a:prstGeom prst="straightConnector1">
            <a:avLst/>
          </a:prstGeom>
          <a:ln w="28575">
            <a:solidFill>
              <a:srgbClr val="FF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2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2B9E6-D6B2-18F2-7D43-0D26F05C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3188044E-2AA0-073D-5CA5-4AC89E4FCA7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75A624-2032-3FD7-0605-D6C69BBEC163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7A03A08-AACF-D7F3-505B-E827B83D2747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A58453D-E6EE-BCA8-33C3-E0043649E24E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B8ABC9D7-EFC8-6258-DF8A-09745129F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377" y="1755744"/>
            <a:ext cx="8572560" cy="2302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44000" tIns="180000" bIns="18000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if (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find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)  		     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找到了一个相邻可走方块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(i1,j1)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{   st-&gt;data[st-&gt;top].di=di;  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修改原栈顶元素的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值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e.i=i1; e.j=j1; e.di=-1;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Push(st,e);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	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相邻可走方块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进栈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   mg[i1][j1]=-1;	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	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//(i1,j1)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迷宫值置为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避免重复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3" name="组合 53">
            <a:extLst>
              <a:ext uri="{FF2B5EF4-FFF2-40B4-BE49-F238E27FC236}">
                <a16:creationId xmlns:a16="http://schemas.microsoft.com/office/drawing/2014/main" id="{FD1B8B80-2D12-C292-9027-50F6E6F443BE}"/>
              </a:ext>
            </a:extLst>
          </p:cNvPr>
          <p:cNvGrpSpPr/>
          <p:nvPr/>
        </p:nvGrpSpPr>
        <p:grpSpPr>
          <a:xfrm>
            <a:off x="5087888" y="4141875"/>
            <a:ext cx="5875392" cy="2527485"/>
            <a:chOff x="780999" y="3445482"/>
            <a:chExt cx="5875392" cy="2527485"/>
          </a:xfrm>
        </p:grpSpPr>
        <p:sp>
          <p:nvSpPr>
            <p:cNvPr id="5" name="Rectangle 33">
              <a:extLst>
                <a:ext uri="{FF2B5EF4-FFF2-40B4-BE49-F238E27FC236}">
                  <a16:creationId xmlns:a16="http://schemas.microsoft.com/office/drawing/2014/main" id="{4F92B27D-807B-9EDD-D89A-0E4DE69E1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999" y="37147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6" name="Rectangle 43">
              <a:extLst>
                <a:ext uri="{FF2B5EF4-FFF2-40B4-BE49-F238E27FC236}">
                  <a16:creationId xmlns:a16="http://schemas.microsoft.com/office/drawing/2014/main" id="{B1B1118B-7F4E-DF0F-9CDD-D898556D4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999" y="407352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7" name="Rectangle 53">
              <a:extLst>
                <a:ext uri="{FF2B5EF4-FFF2-40B4-BE49-F238E27FC236}">
                  <a16:creationId xmlns:a16="http://schemas.microsoft.com/office/drawing/2014/main" id="{EDF0FD1D-1E41-1DAA-9EDD-45C7998CD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999" y="443388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9" name="Rectangle 63">
              <a:extLst>
                <a:ext uri="{FF2B5EF4-FFF2-40B4-BE49-F238E27FC236}">
                  <a16:creationId xmlns:a16="http://schemas.microsoft.com/office/drawing/2014/main" id="{A46A5628-6157-F5F2-6A5D-5CA22D909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999" y="47942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0" name="Rectangle 73">
              <a:extLst>
                <a:ext uri="{FF2B5EF4-FFF2-40B4-BE49-F238E27FC236}">
                  <a16:creationId xmlns:a16="http://schemas.microsoft.com/office/drawing/2014/main" id="{355A9BA0-A92F-2DE3-5B20-20756417E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999" y="515461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3" name="Rectangle 83">
              <a:extLst>
                <a:ext uri="{FF2B5EF4-FFF2-40B4-BE49-F238E27FC236}">
                  <a16:creationId xmlns:a16="http://schemas.microsoft.com/office/drawing/2014/main" id="{E7BCDEC8-2CE7-4FA7-5B98-15ECADC41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999" y="551497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4" name="Rectangle 33">
              <a:extLst>
                <a:ext uri="{FF2B5EF4-FFF2-40B4-BE49-F238E27FC236}">
                  <a16:creationId xmlns:a16="http://schemas.microsoft.com/office/drawing/2014/main" id="{5E987786-A7BE-B9E0-9B9E-E2D8F4679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774" y="37147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5" name="Rectangle 43">
              <a:extLst>
                <a:ext uri="{FF2B5EF4-FFF2-40B4-BE49-F238E27FC236}">
                  <a16:creationId xmlns:a16="http://schemas.microsoft.com/office/drawing/2014/main" id="{BAB2CD53-99EB-53B4-A8C3-BC26A379EC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774" y="407352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7" name="Rectangle 53">
              <a:extLst>
                <a:ext uri="{FF2B5EF4-FFF2-40B4-BE49-F238E27FC236}">
                  <a16:creationId xmlns:a16="http://schemas.microsoft.com/office/drawing/2014/main" id="{11069F27-FEDD-CF45-A2EF-B65D048A5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774" y="443388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8" name="Rectangle 63">
              <a:extLst>
                <a:ext uri="{FF2B5EF4-FFF2-40B4-BE49-F238E27FC236}">
                  <a16:creationId xmlns:a16="http://schemas.microsoft.com/office/drawing/2014/main" id="{9906520F-2819-ABDB-4442-9FA2EC3F2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774" y="47942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19" name="Rectangle 73">
              <a:extLst>
                <a:ext uri="{FF2B5EF4-FFF2-40B4-BE49-F238E27FC236}">
                  <a16:creationId xmlns:a16="http://schemas.microsoft.com/office/drawing/2014/main" id="{DB233F9F-9EC4-5E6A-1177-F821A5B46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774" y="515461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0" name="Rectangle 83">
              <a:extLst>
                <a:ext uri="{FF2B5EF4-FFF2-40B4-BE49-F238E27FC236}">
                  <a16:creationId xmlns:a16="http://schemas.microsoft.com/office/drawing/2014/main" id="{E99337F2-F736-F52A-BCE1-3836B4EC7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774" y="551497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1" name="Rectangle 33">
              <a:extLst>
                <a:ext uri="{FF2B5EF4-FFF2-40B4-BE49-F238E27FC236}">
                  <a16:creationId xmlns:a16="http://schemas.microsoft.com/office/drawing/2014/main" id="{6D77AB23-F79A-C091-B9BC-DDA652207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964" y="37147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2" name="Rectangle 43">
              <a:extLst>
                <a:ext uri="{FF2B5EF4-FFF2-40B4-BE49-F238E27FC236}">
                  <a16:creationId xmlns:a16="http://schemas.microsoft.com/office/drawing/2014/main" id="{3EB6B646-70B4-D658-76B0-7D03287E9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964" y="407352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3" name="Rectangle 53">
              <a:extLst>
                <a:ext uri="{FF2B5EF4-FFF2-40B4-BE49-F238E27FC236}">
                  <a16:creationId xmlns:a16="http://schemas.microsoft.com/office/drawing/2014/main" id="{B83BE782-979A-25E2-18BE-19414C2E7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964" y="443388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4" name="Rectangle 63">
              <a:extLst>
                <a:ext uri="{FF2B5EF4-FFF2-40B4-BE49-F238E27FC236}">
                  <a16:creationId xmlns:a16="http://schemas.microsoft.com/office/drawing/2014/main" id="{C1D189C7-232C-8671-D2ED-7CF52C63F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964" y="47942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5" name="Rectangle 73">
              <a:extLst>
                <a:ext uri="{FF2B5EF4-FFF2-40B4-BE49-F238E27FC236}">
                  <a16:creationId xmlns:a16="http://schemas.microsoft.com/office/drawing/2014/main" id="{5F036641-0E1A-BDAC-A18E-73F395C9E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964" y="515461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6" name="Rectangle 83">
              <a:extLst>
                <a:ext uri="{FF2B5EF4-FFF2-40B4-BE49-F238E27FC236}">
                  <a16:creationId xmlns:a16="http://schemas.microsoft.com/office/drawing/2014/main" id="{53027B47-C53B-AE00-64E0-33602DECB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964" y="551497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7" name="Rectangle 33">
              <a:extLst>
                <a:ext uri="{FF2B5EF4-FFF2-40B4-BE49-F238E27FC236}">
                  <a16:creationId xmlns:a16="http://schemas.microsoft.com/office/drawing/2014/main" id="{C616477B-2BC5-EAA2-8096-CDB56CE72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739" y="37147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8" name="Rectangle 43">
              <a:extLst>
                <a:ext uri="{FF2B5EF4-FFF2-40B4-BE49-F238E27FC236}">
                  <a16:creationId xmlns:a16="http://schemas.microsoft.com/office/drawing/2014/main" id="{18B39DF7-990D-8923-0C01-3EE10227F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739" y="407352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29" name="Rectangle 53">
              <a:extLst>
                <a:ext uri="{FF2B5EF4-FFF2-40B4-BE49-F238E27FC236}">
                  <a16:creationId xmlns:a16="http://schemas.microsoft.com/office/drawing/2014/main" id="{AC8F2D0A-85FA-8EDE-570A-7657C661C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739" y="443388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0" name="Rectangle 63">
              <a:extLst>
                <a:ext uri="{FF2B5EF4-FFF2-40B4-BE49-F238E27FC236}">
                  <a16:creationId xmlns:a16="http://schemas.microsoft.com/office/drawing/2014/main" id="{68722A45-2754-EC79-C5F1-5C9D0288E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739" y="47942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1" name="Rectangle 73">
              <a:extLst>
                <a:ext uri="{FF2B5EF4-FFF2-40B4-BE49-F238E27FC236}">
                  <a16:creationId xmlns:a16="http://schemas.microsoft.com/office/drawing/2014/main" id="{A7174756-C7F0-EB32-9137-B42AC7BEE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739" y="515461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2" name="Rectangle 83">
              <a:extLst>
                <a:ext uri="{FF2B5EF4-FFF2-40B4-BE49-F238E27FC236}">
                  <a16:creationId xmlns:a16="http://schemas.microsoft.com/office/drawing/2014/main" id="{33E7C4EB-AAC0-F435-FA25-64EF6C065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739" y="551497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5B74D4DC-AE05-937A-4617-A7379623D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44" y="37147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4" name="Rectangle 43">
              <a:extLst>
                <a:ext uri="{FF2B5EF4-FFF2-40B4-BE49-F238E27FC236}">
                  <a16:creationId xmlns:a16="http://schemas.microsoft.com/office/drawing/2014/main" id="{0AA33F92-50F9-A0F7-90FA-15DC29801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44" y="407352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5" name="Rectangle 53">
              <a:extLst>
                <a:ext uri="{FF2B5EF4-FFF2-40B4-BE49-F238E27FC236}">
                  <a16:creationId xmlns:a16="http://schemas.microsoft.com/office/drawing/2014/main" id="{BE7487F7-8AA4-39C1-148C-B238A2D23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44" y="443388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6" name="Rectangle 63">
              <a:extLst>
                <a:ext uri="{FF2B5EF4-FFF2-40B4-BE49-F238E27FC236}">
                  <a16:creationId xmlns:a16="http://schemas.microsoft.com/office/drawing/2014/main" id="{127BA27E-9EFE-A8BF-61FB-492806757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44" y="47942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7" name="Rectangle 73">
              <a:extLst>
                <a:ext uri="{FF2B5EF4-FFF2-40B4-BE49-F238E27FC236}">
                  <a16:creationId xmlns:a16="http://schemas.microsoft.com/office/drawing/2014/main" id="{765868DF-CD62-34AC-E0D6-60E51A333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44" y="515461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8" name="Rectangle 83">
              <a:extLst>
                <a:ext uri="{FF2B5EF4-FFF2-40B4-BE49-F238E27FC236}">
                  <a16:creationId xmlns:a16="http://schemas.microsoft.com/office/drawing/2014/main" id="{70A07FED-78EA-6C68-70F1-2EE7B6F99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44" y="551497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F887AEF5-BE7B-93EC-EF53-2947797A5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119" y="37147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85378EAA-471C-9E4A-E6C0-59AA5A90F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119" y="407352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1" name="Rectangle 53">
              <a:extLst>
                <a:ext uri="{FF2B5EF4-FFF2-40B4-BE49-F238E27FC236}">
                  <a16:creationId xmlns:a16="http://schemas.microsoft.com/office/drawing/2014/main" id="{C3241A12-B57D-42B4-8553-49127BA37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119" y="443388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2" name="Rectangle 63">
              <a:extLst>
                <a:ext uri="{FF2B5EF4-FFF2-40B4-BE49-F238E27FC236}">
                  <a16:creationId xmlns:a16="http://schemas.microsoft.com/office/drawing/2014/main" id="{6451B0C6-BF40-4532-AF4F-08809331E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119" y="4794252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3" name="Rectangle 73">
              <a:extLst>
                <a:ext uri="{FF2B5EF4-FFF2-40B4-BE49-F238E27FC236}">
                  <a16:creationId xmlns:a16="http://schemas.microsoft.com/office/drawing/2014/main" id="{B615612F-B995-699C-3580-666B62B54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119" y="515461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4" name="Rectangle 83">
              <a:extLst>
                <a:ext uri="{FF2B5EF4-FFF2-40B4-BE49-F238E27FC236}">
                  <a16:creationId xmlns:a16="http://schemas.microsoft.com/office/drawing/2014/main" id="{3E317FCA-769E-5FF9-8FE1-F5F993DDB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119" y="5514977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endParaRPr>
            </a:p>
          </p:txBody>
        </p:sp>
        <p:sp>
          <p:nvSpPr>
            <p:cNvPr id="45" name="Text Box 182">
              <a:extLst>
                <a:ext uri="{FF2B5EF4-FFF2-40B4-BE49-F238E27FC236}">
                  <a16:creationId xmlns:a16="http://schemas.microsoft.com/office/drawing/2014/main" id="{6A772C78-B9E8-C5F7-B96A-E75CE1702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289" y="4097900"/>
              <a:ext cx="287337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→</a:t>
              </a:r>
            </a:p>
          </p:txBody>
        </p:sp>
        <p:sp>
          <p:nvSpPr>
            <p:cNvPr id="47" name="Line 151">
              <a:extLst>
                <a:ext uri="{FF2B5EF4-FFF2-40B4-BE49-F238E27FC236}">
                  <a16:creationId xmlns:a16="http://schemas.microsoft.com/office/drawing/2014/main" id="{EA53F676-8448-0562-1F47-F4A758E3C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4755" y="3445482"/>
              <a:ext cx="0" cy="216000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8" name="Line 152">
              <a:extLst>
                <a:ext uri="{FF2B5EF4-FFF2-40B4-BE49-F238E27FC236}">
                  <a16:creationId xmlns:a16="http://schemas.microsoft.com/office/drawing/2014/main" id="{881F1714-C803-8D32-5683-D97989177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7642" y="3445482"/>
              <a:ext cx="0" cy="216000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9" name="Line 153">
              <a:extLst>
                <a:ext uri="{FF2B5EF4-FFF2-40B4-BE49-F238E27FC236}">
                  <a16:creationId xmlns:a16="http://schemas.microsoft.com/office/drawing/2014/main" id="{04BF8F5B-92AA-8449-BBD4-2F65EF59A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4755" y="5634031"/>
              <a:ext cx="1512887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0" name="Text Box 154">
              <a:extLst>
                <a:ext uri="{FF2B5EF4-FFF2-40B4-BE49-F238E27FC236}">
                  <a16:creationId xmlns:a16="http://schemas.microsoft.com/office/drawing/2014/main" id="{1CE59FF9-FE75-03A0-0DBB-955EB7C93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9228" y="5695968"/>
              <a:ext cx="1427163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 dirty="0" err="1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1800" i="1" dirty="0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1800" dirty="0">
                  <a:latin typeface="Consolas" pitchFamily="49" charset="0"/>
                  <a:cs typeface="Consolas" pitchFamily="49" charset="0"/>
                </a:rPr>
                <a:t>  di</a:t>
              </a:r>
            </a:p>
          </p:txBody>
        </p:sp>
        <p:grpSp>
          <p:nvGrpSpPr>
            <p:cNvPr id="51" name="Group 193">
              <a:extLst>
                <a:ext uri="{FF2B5EF4-FFF2-40B4-BE49-F238E27FC236}">
                  <a16:creationId xmlns:a16="http://schemas.microsoft.com/office/drawing/2014/main" id="{60AA7E50-4C36-4B03-3069-B9B46BBD7F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29228" y="5195881"/>
              <a:ext cx="1131890" cy="311150"/>
              <a:chOff x="3651" y="2927"/>
              <a:chExt cx="713" cy="196"/>
            </a:xfrm>
          </p:grpSpPr>
          <p:sp>
            <p:nvSpPr>
              <p:cNvPr id="57" name="Text Box 155">
                <a:extLst>
                  <a:ext uri="{FF2B5EF4-FFF2-40B4-BE49-F238E27FC236}">
                    <a16:creationId xmlns:a16="http://schemas.microsoft.com/office/drawing/2014/main" id="{1ADBF331-AFFA-3AD1-7C97-400810F5FE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1" y="2931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58" name="Text Box 156">
                <a:extLst>
                  <a:ext uri="{FF2B5EF4-FFF2-40B4-BE49-F238E27FC236}">
                    <a16:creationId xmlns:a16="http://schemas.microsoft.com/office/drawing/2014/main" id="{CA73AFEB-31EE-2496-5AFA-4A732BD311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3" y="2931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dirty="0"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59" name="Text Box 157">
                <a:extLst>
                  <a:ext uri="{FF2B5EF4-FFF2-40B4-BE49-F238E27FC236}">
                    <a16:creationId xmlns:a16="http://schemas.microsoft.com/office/drawing/2014/main" id="{92082E01-B5D9-DBF1-ED7B-86DEF1F879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3" y="2927"/>
                <a:ext cx="181" cy="192"/>
              </a:xfrm>
              <a:prstGeom prst="rect">
                <a:avLst/>
              </a:prstGeom>
              <a:noFill/>
              <a:ln w="38100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dirty="0">
                    <a:solidFill>
                      <a:srgbClr val="008000"/>
                    </a:solidFill>
                    <a:latin typeface="Consolas" pitchFamily="49" charset="0"/>
                    <a:cs typeface="Consolas" pitchFamily="49" charset="0"/>
                  </a:rPr>
                  <a:t>1</a:t>
                </a:r>
              </a:p>
            </p:txBody>
          </p:sp>
        </p:grpSp>
        <p:sp>
          <p:nvSpPr>
            <p:cNvPr id="52" name="Text Box 170">
              <a:extLst>
                <a:ext uri="{FF2B5EF4-FFF2-40B4-BE49-F238E27FC236}">
                  <a16:creationId xmlns:a16="http://schemas.microsoft.com/office/drawing/2014/main" id="{B2F0A6FD-258B-EE54-343B-BACD72492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4335" y="3597581"/>
              <a:ext cx="1008063" cy="307777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一个栈</a:t>
              </a:r>
            </a:p>
          </p:txBody>
        </p:sp>
        <p:sp>
          <p:nvSpPr>
            <p:cNvPr id="53" name="Text Box 164">
              <a:extLst>
                <a:ext uri="{FF2B5EF4-FFF2-40B4-BE49-F238E27FC236}">
                  <a16:creationId xmlns:a16="http://schemas.microsoft.com/office/drawing/2014/main" id="{E8CAE6C6-1300-F7F1-ADCD-7CA9A1EE4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1" y="4789497"/>
              <a:ext cx="287338" cy="3048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4" name="Text Box 165">
              <a:extLst>
                <a:ext uri="{FF2B5EF4-FFF2-40B4-BE49-F238E27FC236}">
                  <a16:creationId xmlns:a16="http://schemas.microsoft.com/office/drawing/2014/main" id="{4EBA20C6-F8CF-4505-890C-31A08E54F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1501" y="4789497"/>
              <a:ext cx="287338" cy="3048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55" name="Text Box 190">
              <a:extLst>
                <a:ext uri="{FF2B5EF4-FFF2-40B4-BE49-F238E27FC236}">
                  <a16:creationId xmlns:a16="http://schemas.microsoft.com/office/drawing/2014/main" id="{FF29903D-417B-0A16-7E5E-35493E09C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3301" y="4786322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-1</a:t>
              </a:r>
              <a:endParaRPr lang="en-US" altLang="zh-CN" sz="20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56" name="右箭头 52">
              <a:extLst>
                <a:ext uri="{FF2B5EF4-FFF2-40B4-BE49-F238E27FC236}">
                  <a16:creationId xmlns:a16="http://schemas.microsoft.com/office/drawing/2014/main" id="{E4E2F48F-8BDF-0341-F331-4DBA31648036}"/>
                </a:ext>
              </a:extLst>
            </p:cNvPr>
            <p:cNvSpPr/>
            <p:nvPr/>
          </p:nvSpPr>
          <p:spPr bwMode="auto">
            <a:xfrm>
              <a:off x="3571868" y="4500570"/>
              <a:ext cx="1071570" cy="285752"/>
            </a:xfrm>
            <a:prstGeom prst="rightArrow">
              <a:avLst/>
            </a:prstGeom>
            <a:ln>
              <a:headEnd/>
              <a:tailEnd type="triangl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60" name="TextBox 39">
            <a:extLst>
              <a:ext uri="{FF2B5EF4-FFF2-40B4-BE49-F238E27FC236}">
                <a16:creationId xmlns:a16="http://schemas.microsoft.com/office/drawing/2014/main" id="{4C667EFA-0837-AC70-632F-EC905DEB3134}"/>
              </a:ext>
            </a:extLst>
          </p:cNvPr>
          <p:cNvSpPr txBox="1"/>
          <p:nvPr/>
        </p:nvSpPr>
        <p:spPr>
          <a:xfrm>
            <a:off x="1429873" y="4795231"/>
            <a:ext cx="3143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从入口（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1,1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）出发找到一个可走方块（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: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将（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-1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）进栈</a:t>
            </a:r>
          </a:p>
        </p:txBody>
      </p:sp>
    </p:spTree>
    <p:extLst>
      <p:ext uri="{BB962C8B-B14F-4D97-AF65-F5344CB8AC3E}">
        <p14:creationId xmlns:p14="http://schemas.microsoft.com/office/powerpoint/2010/main" val="187815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37690-50BC-B6AC-3036-7A6F1DE9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9DE064E1-D1B1-C8F2-13EA-F232FAABC68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E4D43B-EA56-7A42-D51D-A7194E53FC33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319FB2C-64DE-90C0-2BC8-87C3284EE74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BE4FD4D-71D9-27B2-17F2-0059D8A9CCA7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681DFA0-CE7D-E119-5706-4291F1922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931" y="1734299"/>
            <a:ext cx="6357982" cy="2856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else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没有路径可走退栈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{	Pop(st,e);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将栈顶方块退栈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mg[e.i][e.j]=0;	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让退栈方块变为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1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DestroyStack(st);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销毁栈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return false;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表示没有可走路径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46" name="TextBox 54">
            <a:extLst>
              <a:ext uri="{FF2B5EF4-FFF2-40B4-BE49-F238E27FC236}">
                <a16:creationId xmlns:a16="http://schemas.microsoft.com/office/drawing/2014/main" id="{8E3F73AF-E65E-055E-9650-32D73BE3AF69}"/>
              </a:ext>
            </a:extLst>
          </p:cNvPr>
          <p:cNvSpPr txBox="1"/>
          <p:nvPr/>
        </p:nvSpPr>
        <p:spPr>
          <a:xfrm>
            <a:off x="7753678" y="1708897"/>
            <a:ext cx="3382882" cy="1737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6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疑难解答：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  <a:p>
            <a:pPr algn="l">
              <a:lnSpc>
                <a:spcPts val="26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这里不将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mg[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栈顶方块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]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设置为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0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，程序执行也是正确的，但从原理上应该这样做，回退后需要恢复环境！</a:t>
            </a: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478C50D-F73D-CF37-081B-BD09E16BE258}"/>
              </a:ext>
            </a:extLst>
          </p:cNvPr>
          <p:cNvCxnSpPr/>
          <p:nvPr/>
        </p:nvCxnSpPr>
        <p:spPr>
          <a:xfrm rot="10800000">
            <a:off x="6753547" y="2636003"/>
            <a:ext cx="1000132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58"/>
          <p:cNvGrpSpPr/>
          <p:nvPr/>
        </p:nvGrpSpPr>
        <p:grpSpPr>
          <a:xfrm>
            <a:off x="3071665" y="4717803"/>
            <a:ext cx="6825154" cy="2017213"/>
            <a:chOff x="785786" y="3429000"/>
            <a:chExt cx="7286676" cy="2730504"/>
          </a:xfrm>
        </p:grpSpPr>
        <p:sp>
          <p:nvSpPr>
            <p:cNvPr id="63" name="Rectangle 33"/>
            <p:cNvSpPr>
              <a:spLocks noChangeArrowheads="1"/>
            </p:cNvSpPr>
            <p:nvPr/>
          </p:nvSpPr>
          <p:spPr bwMode="auto">
            <a:xfrm>
              <a:off x="1138189" y="40005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4" name="Rectangle 43"/>
            <p:cNvSpPr>
              <a:spLocks noChangeArrowheads="1"/>
            </p:cNvSpPr>
            <p:nvPr/>
          </p:nvSpPr>
          <p:spPr bwMode="auto">
            <a:xfrm>
              <a:off x="1138189" y="435927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5" name="Rectangle 53"/>
            <p:cNvSpPr>
              <a:spLocks noChangeArrowheads="1"/>
            </p:cNvSpPr>
            <p:nvPr/>
          </p:nvSpPr>
          <p:spPr bwMode="auto">
            <a:xfrm>
              <a:off x="1138189" y="471964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6" name="Rectangle 63"/>
            <p:cNvSpPr>
              <a:spLocks noChangeArrowheads="1"/>
            </p:cNvSpPr>
            <p:nvPr/>
          </p:nvSpPr>
          <p:spPr bwMode="auto">
            <a:xfrm>
              <a:off x="1138189" y="50800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7" name="Rectangle 73"/>
            <p:cNvSpPr>
              <a:spLocks noChangeArrowheads="1"/>
            </p:cNvSpPr>
            <p:nvPr/>
          </p:nvSpPr>
          <p:spPr bwMode="auto">
            <a:xfrm>
              <a:off x="1138189" y="544036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8" name="Rectangle 83"/>
            <p:cNvSpPr>
              <a:spLocks noChangeArrowheads="1"/>
            </p:cNvSpPr>
            <p:nvPr/>
          </p:nvSpPr>
          <p:spPr bwMode="auto">
            <a:xfrm>
              <a:off x="1138189" y="580072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9" name="Rectangle 33"/>
            <p:cNvSpPr>
              <a:spLocks noChangeArrowheads="1"/>
            </p:cNvSpPr>
            <p:nvPr/>
          </p:nvSpPr>
          <p:spPr bwMode="auto">
            <a:xfrm>
              <a:off x="1496964" y="40005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0" name="Rectangle 43"/>
            <p:cNvSpPr>
              <a:spLocks noChangeArrowheads="1"/>
            </p:cNvSpPr>
            <p:nvPr/>
          </p:nvSpPr>
          <p:spPr bwMode="auto">
            <a:xfrm>
              <a:off x="1496964" y="435927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1" name="Rectangle 53"/>
            <p:cNvSpPr>
              <a:spLocks noChangeArrowheads="1"/>
            </p:cNvSpPr>
            <p:nvPr/>
          </p:nvSpPr>
          <p:spPr bwMode="auto">
            <a:xfrm>
              <a:off x="1496964" y="471964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" name="Rectangle 63"/>
            <p:cNvSpPr>
              <a:spLocks noChangeArrowheads="1"/>
            </p:cNvSpPr>
            <p:nvPr/>
          </p:nvSpPr>
          <p:spPr bwMode="auto">
            <a:xfrm>
              <a:off x="1496964" y="50800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3" name="Rectangle 73"/>
            <p:cNvSpPr>
              <a:spLocks noChangeArrowheads="1"/>
            </p:cNvSpPr>
            <p:nvPr/>
          </p:nvSpPr>
          <p:spPr bwMode="auto">
            <a:xfrm>
              <a:off x="1496964" y="544036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4" name="Rectangle 83"/>
            <p:cNvSpPr>
              <a:spLocks noChangeArrowheads="1"/>
            </p:cNvSpPr>
            <p:nvPr/>
          </p:nvSpPr>
          <p:spPr bwMode="auto">
            <a:xfrm>
              <a:off x="1496964" y="580072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5" name="Rectangle 33"/>
            <p:cNvSpPr>
              <a:spLocks noChangeArrowheads="1"/>
            </p:cNvSpPr>
            <p:nvPr/>
          </p:nvSpPr>
          <p:spPr bwMode="auto">
            <a:xfrm>
              <a:off x="1854154" y="40005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6" name="Rectangle 53"/>
            <p:cNvSpPr>
              <a:spLocks noChangeArrowheads="1"/>
            </p:cNvSpPr>
            <p:nvPr/>
          </p:nvSpPr>
          <p:spPr bwMode="auto">
            <a:xfrm>
              <a:off x="1854154" y="471964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7" name="Rectangle 63"/>
            <p:cNvSpPr>
              <a:spLocks noChangeArrowheads="1"/>
            </p:cNvSpPr>
            <p:nvPr/>
          </p:nvSpPr>
          <p:spPr bwMode="auto">
            <a:xfrm>
              <a:off x="1854154" y="50800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8" name="Rectangle 73"/>
            <p:cNvSpPr>
              <a:spLocks noChangeArrowheads="1"/>
            </p:cNvSpPr>
            <p:nvPr/>
          </p:nvSpPr>
          <p:spPr bwMode="auto">
            <a:xfrm>
              <a:off x="1854154" y="544036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9" name="Rectangle 83"/>
            <p:cNvSpPr>
              <a:spLocks noChangeArrowheads="1"/>
            </p:cNvSpPr>
            <p:nvPr/>
          </p:nvSpPr>
          <p:spPr bwMode="auto">
            <a:xfrm>
              <a:off x="1854154" y="580072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0" name="Rectangle 33"/>
            <p:cNvSpPr>
              <a:spLocks noChangeArrowheads="1"/>
            </p:cNvSpPr>
            <p:nvPr/>
          </p:nvSpPr>
          <p:spPr bwMode="auto">
            <a:xfrm>
              <a:off x="2212929" y="40005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1" name="Rectangle 43"/>
            <p:cNvSpPr>
              <a:spLocks noChangeArrowheads="1"/>
            </p:cNvSpPr>
            <p:nvPr/>
          </p:nvSpPr>
          <p:spPr bwMode="auto">
            <a:xfrm>
              <a:off x="2212929" y="435927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2" name="Rectangle 53"/>
            <p:cNvSpPr>
              <a:spLocks noChangeArrowheads="1"/>
            </p:cNvSpPr>
            <p:nvPr/>
          </p:nvSpPr>
          <p:spPr bwMode="auto">
            <a:xfrm>
              <a:off x="2212929" y="471964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3" name="Rectangle 63"/>
            <p:cNvSpPr>
              <a:spLocks noChangeArrowheads="1"/>
            </p:cNvSpPr>
            <p:nvPr/>
          </p:nvSpPr>
          <p:spPr bwMode="auto">
            <a:xfrm>
              <a:off x="2212929" y="50800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4" name="Rectangle 73"/>
            <p:cNvSpPr>
              <a:spLocks noChangeArrowheads="1"/>
            </p:cNvSpPr>
            <p:nvPr/>
          </p:nvSpPr>
          <p:spPr bwMode="auto">
            <a:xfrm>
              <a:off x="2212929" y="544036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5" name="Rectangle 83"/>
            <p:cNvSpPr>
              <a:spLocks noChangeArrowheads="1"/>
            </p:cNvSpPr>
            <p:nvPr/>
          </p:nvSpPr>
          <p:spPr bwMode="auto">
            <a:xfrm>
              <a:off x="2212929" y="580072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6" name="Rectangle 33"/>
            <p:cNvSpPr>
              <a:spLocks noChangeArrowheads="1"/>
            </p:cNvSpPr>
            <p:nvPr/>
          </p:nvSpPr>
          <p:spPr bwMode="auto">
            <a:xfrm>
              <a:off x="2568534" y="40005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7" name="Rectangle 43"/>
            <p:cNvSpPr>
              <a:spLocks noChangeArrowheads="1"/>
            </p:cNvSpPr>
            <p:nvPr/>
          </p:nvSpPr>
          <p:spPr bwMode="auto">
            <a:xfrm>
              <a:off x="2568534" y="435927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8" name="Rectangle 53"/>
            <p:cNvSpPr>
              <a:spLocks noChangeArrowheads="1"/>
            </p:cNvSpPr>
            <p:nvPr/>
          </p:nvSpPr>
          <p:spPr bwMode="auto">
            <a:xfrm>
              <a:off x="2568534" y="471964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9" name="Rectangle 63"/>
            <p:cNvSpPr>
              <a:spLocks noChangeArrowheads="1"/>
            </p:cNvSpPr>
            <p:nvPr/>
          </p:nvSpPr>
          <p:spPr bwMode="auto">
            <a:xfrm>
              <a:off x="2568534" y="50800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0" name="Rectangle 73"/>
            <p:cNvSpPr>
              <a:spLocks noChangeArrowheads="1"/>
            </p:cNvSpPr>
            <p:nvPr/>
          </p:nvSpPr>
          <p:spPr bwMode="auto">
            <a:xfrm>
              <a:off x="2568534" y="544036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1" name="Rectangle 83"/>
            <p:cNvSpPr>
              <a:spLocks noChangeArrowheads="1"/>
            </p:cNvSpPr>
            <p:nvPr/>
          </p:nvSpPr>
          <p:spPr bwMode="auto">
            <a:xfrm>
              <a:off x="2568534" y="580072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2" name="Rectangle 33"/>
            <p:cNvSpPr>
              <a:spLocks noChangeArrowheads="1"/>
            </p:cNvSpPr>
            <p:nvPr/>
          </p:nvSpPr>
          <p:spPr bwMode="auto">
            <a:xfrm>
              <a:off x="2927309" y="40005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3" name="Rectangle 43"/>
            <p:cNvSpPr>
              <a:spLocks noChangeArrowheads="1"/>
            </p:cNvSpPr>
            <p:nvPr/>
          </p:nvSpPr>
          <p:spPr bwMode="auto">
            <a:xfrm>
              <a:off x="2927309" y="435927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4" name="Rectangle 53"/>
            <p:cNvSpPr>
              <a:spLocks noChangeArrowheads="1"/>
            </p:cNvSpPr>
            <p:nvPr/>
          </p:nvSpPr>
          <p:spPr bwMode="auto">
            <a:xfrm>
              <a:off x="2927309" y="471964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5" name="Rectangle 63"/>
            <p:cNvSpPr>
              <a:spLocks noChangeArrowheads="1"/>
            </p:cNvSpPr>
            <p:nvPr/>
          </p:nvSpPr>
          <p:spPr bwMode="auto">
            <a:xfrm>
              <a:off x="2927309" y="5080004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6" name="Rectangle 73"/>
            <p:cNvSpPr>
              <a:spLocks noChangeArrowheads="1"/>
            </p:cNvSpPr>
            <p:nvPr/>
          </p:nvSpPr>
          <p:spPr bwMode="auto">
            <a:xfrm>
              <a:off x="2927309" y="544036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7" name="Rectangle 83"/>
            <p:cNvSpPr>
              <a:spLocks noChangeArrowheads="1"/>
            </p:cNvSpPr>
            <p:nvPr/>
          </p:nvSpPr>
          <p:spPr bwMode="auto">
            <a:xfrm>
              <a:off x="2927309" y="5800729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8" name="TextBox 39"/>
            <p:cNvSpPr txBox="1"/>
            <p:nvPr/>
          </p:nvSpPr>
          <p:spPr>
            <a:xfrm>
              <a:off x="785786" y="3429000"/>
              <a:ext cx="292892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latin typeface="Consolas" pitchFamily="49" charset="0"/>
                  <a:ea typeface="楷体" pitchFamily="49" charset="-122"/>
                  <a:cs typeface="Consolas" pitchFamily="49" charset="0"/>
                </a:rPr>
                <a:t>（</a:t>
              </a:r>
              <a:r>
                <a:rPr lang="en-US" altLang="zh-CN" sz="2000">
                  <a:latin typeface="Consolas" pitchFamily="49" charset="0"/>
                  <a:ea typeface="楷体" pitchFamily="49" charset="-122"/>
                  <a:cs typeface="Consolas" pitchFamily="49" charset="0"/>
                </a:rPr>
                <a:t>2,4</a:t>
              </a:r>
              <a:r>
                <a:rPr lang="zh-CN" altLang="en-US" sz="2000" dirty="0">
                  <a:latin typeface="Consolas" pitchFamily="49" charset="0"/>
                  <a:ea typeface="楷体" pitchFamily="49" charset="-122"/>
                  <a:cs typeface="Consolas" pitchFamily="49" charset="0"/>
                </a:rPr>
                <a:t>）方块没有通路</a:t>
              </a:r>
            </a:p>
          </p:txBody>
        </p:sp>
        <p:sp>
          <p:nvSpPr>
            <p:cNvPr id="99" name="Line 151"/>
            <p:cNvSpPr>
              <a:spLocks noChangeShapeType="1"/>
            </p:cNvSpPr>
            <p:nvPr/>
          </p:nvSpPr>
          <p:spPr bwMode="auto">
            <a:xfrm>
              <a:off x="5715008" y="3500438"/>
              <a:ext cx="0" cy="216000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0" name="Line 152"/>
            <p:cNvSpPr>
              <a:spLocks noChangeShapeType="1"/>
            </p:cNvSpPr>
            <p:nvPr/>
          </p:nvSpPr>
          <p:spPr bwMode="auto">
            <a:xfrm>
              <a:off x="7227895" y="3500438"/>
              <a:ext cx="0" cy="216000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1" name="Line 153"/>
            <p:cNvSpPr>
              <a:spLocks noChangeShapeType="1"/>
            </p:cNvSpPr>
            <p:nvPr/>
          </p:nvSpPr>
          <p:spPr bwMode="auto">
            <a:xfrm>
              <a:off x="5715008" y="5688987"/>
              <a:ext cx="1512887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" name="Text Box 154"/>
            <p:cNvSpPr txBox="1">
              <a:spLocks noChangeArrowheads="1"/>
            </p:cNvSpPr>
            <p:nvPr/>
          </p:nvSpPr>
          <p:spPr bwMode="auto">
            <a:xfrm>
              <a:off x="5702319" y="5750924"/>
              <a:ext cx="1584325" cy="276999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i="1" err="1"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1800" i="1">
                  <a:latin typeface="Consolas" pitchFamily="49" charset="0"/>
                  <a:cs typeface="Consolas" pitchFamily="49" charset="0"/>
                </a:rPr>
                <a:t>j</a:t>
              </a:r>
              <a:r>
                <a:rPr lang="en-US" altLang="zh-CN" sz="1800">
                  <a:latin typeface="Consolas" pitchFamily="49" charset="0"/>
                  <a:cs typeface="Consolas" pitchFamily="49" charset="0"/>
                </a:rPr>
                <a:t>  </a:t>
              </a:r>
              <a:r>
                <a:rPr lang="en-US" altLang="zh-CN" sz="1800" dirty="0" err="1">
                  <a:latin typeface="Consolas" pitchFamily="49" charset="0"/>
                  <a:cs typeface="Consolas" pitchFamily="49" charset="0"/>
                </a:rPr>
                <a:t>di</a:t>
              </a:r>
              <a:endParaRPr lang="en-US" altLang="zh-CN" sz="18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3" name="Text Box 170"/>
            <p:cNvSpPr txBox="1">
              <a:spLocks noChangeArrowheads="1"/>
            </p:cNvSpPr>
            <p:nvPr/>
          </p:nvSpPr>
          <p:spPr bwMode="auto">
            <a:xfrm>
              <a:off x="6080478" y="3594715"/>
              <a:ext cx="1008063" cy="307777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dirty="0">
                  <a:latin typeface="微软雅黑" pitchFamily="34" charset="-122"/>
                  <a:ea typeface="微软雅黑" pitchFamily="34" charset="-122"/>
                  <a:cs typeface="经典粗黑简" pitchFamily="49" charset="-122"/>
                </a:rPr>
                <a:t>一个栈</a:t>
              </a:r>
            </a:p>
          </p:txBody>
        </p:sp>
        <p:sp>
          <p:nvSpPr>
            <p:cNvPr id="104" name="Text Box 164"/>
            <p:cNvSpPr txBox="1">
              <a:spLocks noChangeArrowheads="1"/>
            </p:cNvSpPr>
            <p:nvPr/>
          </p:nvSpPr>
          <p:spPr bwMode="auto">
            <a:xfrm>
              <a:off x="5849954" y="4558701"/>
              <a:ext cx="287338" cy="3048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05" name="Text Box 165"/>
            <p:cNvSpPr txBox="1">
              <a:spLocks noChangeArrowheads="1"/>
            </p:cNvSpPr>
            <p:nvPr/>
          </p:nvSpPr>
          <p:spPr bwMode="auto">
            <a:xfrm>
              <a:off x="6281754" y="4558701"/>
              <a:ext cx="287338" cy="30480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06" name="Text Box 190"/>
            <p:cNvSpPr txBox="1">
              <a:spLocks noChangeArrowheads="1"/>
            </p:cNvSpPr>
            <p:nvPr/>
          </p:nvSpPr>
          <p:spPr bwMode="auto">
            <a:xfrm>
              <a:off x="6713554" y="4555526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Consolas" pitchFamily="49" charset="0"/>
                  <a:ea typeface="宋体" pitchFamily="2" charset="-122"/>
                  <a:cs typeface="Consolas" pitchFamily="49" charset="0"/>
                </a:rPr>
                <a:t>-1</a:t>
              </a:r>
              <a:endParaRPr lang="en-US" altLang="zh-CN" sz="2000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07" name="Text Box 186"/>
            <p:cNvSpPr txBox="1">
              <a:spLocks noChangeArrowheads="1"/>
            </p:cNvSpPr>
            <p:nvPr/>
          </p:nvSpPr>
          <p:spPr bwMode="auto">
            <a:xfrm>
              <a:off x="2603488" y="4760922"/>
              <a:ext cx="287338" cy="304800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ym typeface="Wingdings" pitchFamily="2" charset="2"/>
                </a:rPr>
                <a:t></a:t>
              </a:r>
            </a:p>
          </p:txBody>
        </p:sp>
        <p:sp>
          <p:nvSpPr>
            <p:cNvPr id="108" name="Text Box 164"/>
            <p:cNvSpPr txBox="1">
              <a:spLocks noChangeArrowheads="1"/>
            </p:cNvSpPr>
            <p:nvPr/>
          </p:nvSpPr>
          <p:spPr bwMode="auto">
            <a:xfrm>
              <a:off x="5929322" y="4912716"/>
              <a:ext cx="714380" cy="430887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/>
                <a:t>… </a:t>
              </a:r>
            </a:p>
          </p:txBody>
        </p:sp>
        <p:cxnSp>
          <p:nvCxnSpPr>
            <p:cNvPr id="109" name="直接箭头连接符 108"/>
            <p:cNvCxnSpPr/>
            <p:nvPr/>
          </p:nvCxnSpPr>
          <p:spPr>
            <a:xfrm rot="10800000">
              <a:off x="7059630" y="4719646"/>
              <a:ext cx="642942" cy="1588"/>
            </a:xfrm>
            <a:prstGeom prst="straightConnector1">
              <a:avLst/>
            </a:prstGeom>
            <a:ln w="28575"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56"/>
            <p:cNvSpPr txBox="1"/>
            <p:nvPr/>
          </p:nvSpPr>
          <p:spPr>
            <a:xfrm>
              <a:off x="7715272" y="4357694"/>
              <a:ext cx="3571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dirty="0">
                  <a:latin typeface="仿宋" pitchFamily="49" charset="-122"/>
                  <a:ea typeface="仿宋" pitchFamily="49" charset="-122"/>
                </a:rPr>
                <a:t>退栈</a:t>
              </a:r>
            </a:p>
          </p:txBody>
        </p:sp>
        <p:sp>
          <p:nvSpPr>
            <p:cNvPr id="111" name="右箭头 57"/>
            <p:cNvSpPr/>
            <p:nvPr/>
          </p:nvSpPr>
          <p:spPr bwMode="auto">
            <a:xfrm>
              <a:off x="3929058" y="4429132"/>
              <a:ext cx="1143008" cy="500066"/>
            </a:xfrm>
            <a:prstGeom prst="rightArrow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255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97DFD-F79B-ED6B-6363-904795D4B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740363B2-A7C0-8FD6-A1F4-492A8990740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C04815-1D34-E7E3-AD30-2524A1D4F6EF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1A4959C-B2BC-7D23-911F-3E7ED6822C52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CD7E219-DC1B-B291-7F69-E1925AF317EA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535ADB86-2A6E-8CB2-5B0A-63EAAF2D2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376" y="3395504"/>
            <a:ext cx="5472112" cy="1987953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44000" tIns="108000" rIns="144000" bIns="10800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int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main()</a:t>
            </a:r>
          </a:p>
          <a:p>
            <a:pPr algn="l">
              <a:lnSpc>
                <a:spcPct val="1300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{ 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if  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(!</a:t>
            </a:r>
            <a:r>
              <a:rPr lang="en-US" altLang="zh-CN" sz="180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mgpath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(1,1,M,N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))</a:t>
            </a:r>
          </a:p>
          <a:p>
            <a:pPr algn="l">
              <a:lnSpc>
                <a:spcPct val="1300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   printf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("</a:t>
            </a:r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该迷宫问题没有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解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!");</a:t>
            </a:r>
          </a:p>
          <a:p>
            <a:pPr algn="l">
              <a:lnSpc>
                <a:spcPct val="130000"/>
              </a:lnSpc>
            </a:pP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   return 1;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  <a:p>
            <a:pPr algn="l">
              <a:lnSpc>
                <a:spcPct val="130000"/>
              </a:lnSpc>
            </a:pP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D53AA-B400-F740-6C4B-33E8435B346B}"/>
              </a:ext>
            </a:extLst>
          </p:cNvPr>
          <p:cNvSpPr txBox="1"/>
          <p:nvPr/>
        </p:nvSpPr>
        <p:spPr>
          <a:xfrm>
            <a:off x="2711624" y="2752562"/>
            <a:ext cx="457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建立如下主函数调用上述算法：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E6C56C9-2FD7-BA3B-3097-C5A9A4ACEED2}"/>
              </a:ext>
            </a:extLst>
          </p:cNvPr>
          <p:cNvSpPr txBox="1"/>
          <p:nvPr/>
        </p:nvSpPr>
        <p:spPr>
          <a:xfrm>
            <a:off x="1574377" y="1972317"/>
            <a:ext cx="1976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设计求解程序</a:t>
            </a:r>
          </a:p>
        </p:txBody>
      </p:sp>
    </p:spTree>
    <p:extLst>
      <p:ext uri="{BB962C8B-B14F-4D97-AF65-F5344CB8AC3E}">
        <p14:creationId xmlns:p14="http://schemas.microsoft.com/office/powerpoint/2010/main" val="11990948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C9A4-953D-C416-D71B-63200E5BA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F6A5A13B-9261-6926-9812-E613E9B4009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3.1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栈</a:t>
            </a:r>
            <a:endParaRPr lang="en-US" altLang="zh-CN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CA16F48-2526-A314-A41C-B9A96B93A41D}"/>
              </a:ext>
            </a:extLst>
          </p:cNvPr>
          <p:cNvSpPr/>
          <p:nvPr/>
        </p:nvSpPr>
        <p:spPr>
          <a:xfrm>
            <a:off x="691303" y="1185677"/>
            <a:ext cx="2740401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3.1.4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栈的应用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9C3953-4DCF-3D31-7B0A-AF82BAD4B325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55AF688-DCD6-2454-D3CB-2A64A9FC3880}"/>
              </a:ext>
            </a:extLst>
          </p:cNvPr>
          <p:cNvSpPr txBox="1"/>
          <p:nvPr/>
        </p:nvSpPr>
        <p:spPr>
          <a:xfrm>
            <a:off x="3550669" y="1269706"/>
            <a:ext cx="2740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求解迷宫问题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AFDC40F-CAB3-86C2-85AD-033BF63FA888}"/>
              </a:ext>
            </a:extLst>
          </p:cNvPr>
          <p:cNvSpPr txBox="1"/>
          <p:nvPr/>
        </p:nvSpPr>
        <p:spPr>
          <a:xfrm>
            <a:off x="1574377" y="1972317"/>
            <a:ext cx="1976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运行结果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9A037DB-3B97-74A4-D84B-AB6A8C282FB4}"/>
              </a:ext>
            </a:extLst>
          </p:cNvPr>
          <p:cNvSpPr txBox="1"/>
          <p:nvPr/>
        </p:nvSpPr>
        <p:spPr>
          <a:xfrm>
            <a:off x="6522203" y="1382364"/>
            <a:ext cx="46656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迷宫路径如下</a:t>
            </a:r>
            <a:r>
              <a:rPr lang="en-US" altLang="zh-CN" sz="18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: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(1,1) (1,2) (2,2) (3,2) (3,1) 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(4,1) (5,1) (5,2) (5,3) (6,3) 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(6,4) (6,5) (5,5) (4,5) (4,6) 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(4,7) (3,7) (3,8) (4,8) (5,8) 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	(6,8) (7,8) (8,8) </a:t>
            </a:r>
          </a:p>
        </p:txBody>
      </p:sp>
      <p:grpSp>
        <p:nvGrpSpPr>
          <p:cNvPr id="14" name="组合 6">
            <a:extLst>
              <a:ext uri="{FF2B5EF4-FFF2-40B4-BE49-F238E27FC236}">
                <a16:creationId xmlns:a16="http://schemas.microsoft.com/office/drawing/2014/main" id="{5978FE0A-AD53-19B5-4B66-55CDDBB24315}"/>
              </a:ext>
            </a:extLst>
          </p:cNvPr>
          <p:cNvGrpSpPr>
            <a:grpSpLocks noChangeAspect="1"/>
          </p:cNvGrpSpPr>
          <p:nvPr/>
        </p:nvGrpSpPr>
        <p:grpSpPr>
          <a:xfrm>
            <a:off x="7680176" y="3600931"/>
            <a:ext cx="2858770" cy="2868930"/>
            <a:chOff x="741365" y="1430063"/>
            <a:chExt cx="3573463" cy="3586163"/>
          </a:xfrm>
        </p:grpSpPr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41D4A041-87C1-5445-FC52-EF01C2EEA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0918729D-A6B1-830E-72E1-D2B50F65C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EB908DEA-3B9B-00E3-C32D-1E540287E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14300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7755F84E-AFE0-0D02-A409-9DB5520AA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023639B1-2F95-FF99-5BB5-DEC6C81E8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1ED02DFB-52AA-771E-C6AC-319C5E95D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066C5969-DA1F-D5AC-5EF5-028CB7DA7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3" name="Rectangle 9">
              <a:extLst>
                <a:ext uri="{FF2B5EF4-FFF2-40B4-BE49-F238E27FC236}">
                  <a16:creationId xmlns:a16="http://schemas.microsoft.com/office/drawing/2014/main" id="{FFA960A5-8B17-0D51-A5BF-4E1FF2BA2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4" name="Rectangle 10">
              <a:extLst>
                <a:ext uri="{FF2B5EF4-FFF2-40B4-BE49-F238E27FC236}">
                  <a16:creationId xmlns:a16="http://schemas.microsoft.com/office/drawing/2014/main" id="{5EB491BD-F69E-9CB5-D958-B6FF7DEF5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14300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5" name="Rectangle 11">
              <a:extLst>
                <a:ext uri="{FF2B5EF4-FFF2-40B4-BE49-F238E27FC236}">
                  <a16:creationId xmlns:a16="http://schemas.microsoft.com/office/drawing/2014/main" id="{FCB73C81-E2C4-3C53-F94E-C3E89E691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6" name="Rectangle 12">
              <a:extLst>
                <a:ext uri="{FF2B5EF4-FFF2-40B4-BE49-F238E27FC236}">
                  <a16:creationId xmlns:a16="http://schemas.microsoft.com/office/drawing/2014/main" id="{CCBC19D2-DCAB-EAC9-E1A3-945B19088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:a16="http://schemas.microsoft.com/office/drawing/2014/main" id="{BED4BBC2-FF66-26F7-AE4A-1C6FD6C51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:a16="http://schemas.microsoft.com/office/drawing/2014/main" id="{0C6122C2-8E61-7753-DBCF-FDFCB4561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178883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" name="Rectangle 15">
              <a:extLst>
                <a:ext uri="{FF2B5EF4-FFF2-40B4-BE49-F238E27FC236}">
                  <a16:creationId xmlns:a16="http://schemas.microsoft.com/office/drawing/2014/main" id="{F99703CB-4173-DCD3-5C18-C4D0B82D1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ADF84069-139D-5129-5739-55F447207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:a16="http://schemas.microsoft.com/office/drawing/2014/main" id="{F36E152E-3E25-79F0-8181-DA3B2C8DC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:a16="http://schemas.microsoft.com/office/drawing/2014/main" id="{C6E62CBF-6F03-6B6D-E9C3-A86439FA1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:a16="http://schemas.microsoft.com/office/drawing/2014/main" id="{5C97B070-CE3E-5E21-2674-D18E0EE26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:a16="http://schemas.microsoft.com/office/drawing/2014/main" id="{D6775F62-0AED-4A5B-62FF-05D61BEBD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178883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:a16="http://schemas.microsoft.com/office/drawing/2014/main" id="{FD22B801-2FE7-D7E7-5B2C-92FFD8A39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:a16="http://schemas.microsoft.com/office/drawing/2014/main" id="{2C052723-B27D-E02F-20FE-8180E8C06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0AE400B3-4F6D-8231-D0A8-91C6025198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8" name="Rectangle 24">
              <a:extLst>
                <a:ext uri="{FF2B5EF4-FFF2-40B4-BE49-F238E27FC236}">
                  <a16:creationId xmlns:a16="http://schemas.microsoft.com/office/drawing/2014/main" id="{C9F4C5BF-00A6-A238-89F5-716058716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214920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9" name="Rectangle 25">
              <a:extLst>
                <a:ext uri="{FF2B5EF4-FFF2-40B4-BE49-F238E27FC236}">
                  <a16:creationId xmlns:a16="http://schemas.microsoft.com/office/drawing/2014/main" id="{827102E8-43EF-EBD4-CDE1-8AA1FCB76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0" name="Rectangle 26">
              <a:extLst>
                <a:ext uri="{FF2B5EF4-FFF2-40B4-BE49-F238E27FC236}">
                  <a16:creationId xmlns:a16="http://schemas.microsoft.com/office/drawing/2014/main" id="{80F4FF0E-84DB-C6FD-810F-E8B54E5FC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:a16="http://schemas.microsoft.com/office/drawing/2014/main" id="{649DD226-5036-E0D9-D551-94B364D2D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:a16="http://schemas.microsoft.com/office/drawing/2014/main" id="{15E47FF6-9143-D32F-A009-C8AD994AD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:a16="http://schemas.microsoft.com/office/drawing/2014/main" id="{C277A171-20E5-35AA-5FB0-C0E781894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:a16="http://schemas.microsoft.com/office/drawing/2014/main" id="{5CC5919C-F6B5-3BA2-17E7-D916CB7C2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214920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:a16="http://schemas.microsoft.com/office/drawing/2014/main" id="{D1186B17-13F1-103F-87BB-E7D86861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:a16="http://schemas.microsoft.com/office/drawing/2014/main" id="{DA2041AD-7C49-1C6B-5C62-D5D83EE3D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E89351E1-3799-CFEA-E779-7A104E02D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:a16="http://schemas.microsoft.com/office/drawing/2014/main" id="{7B5AAB17-FA08-081C-E283-0CCB823F9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25095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F27B63FB-CE58-B10B-2B20-FC86E13EF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2509563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:a16="http://schemas.microsoft.com/office/drawing/2014/main" id="{DB5FC453-802D-7FBB-D585-56DBAA97E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2509563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:a16="http://schemas.microsoft.com/office/drawing/2014/main" id="{6D3A0976-80FC-7D2A-084A-4A5622AEA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:a16="http://schemas.microsoft.com/office/drawing/2014/main" id="{55E575E1-17A3-F278-857A-C1DFF698F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:a16="http://schemas.microsoft.com/office/drawing/2014/main" id="{A400176F-8109-D4A0-3838-67515A8EB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4" name="Rectangle 40">
              <a:extLst>
                <a:ext uri="{FF2B5EF4-FFF2-40B4-BE49-F238E27FC236}">
                  <a16:creationId xmlns:a16="http://schemas.microsoft.com/office/drawing/2014/main" id="{3AAB8526-2D4E-4A40-D9D6-3E821E976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25095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5" name="Rectangle 41">
              <a:extLst>
                <a:ext uri="{FF2B5EF4-FFF2-40B4-BE49-F238E27FC236}">
                  <a16:creationId xmlns:a16="http://schemas.microsoft.com/office/drawing/2014/main" id="{AA95C513-7286-E24B-FF4C-1876683FA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6" name="Rectangle 42">
              <a:extLst>
                <a:ext uri="{FF2B5EF4-FFF2-40B4-BE49-F238E27FC236}">
                  <a16:creationId xmlns:a16="http://schemas.microsoft.com/office/drawing/2014/main" id="{0E3353E2-25B5-AF0A-67E6-73054D443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7" name="Rectangle 43">
              <a:extLst>
                <a:ext uri="{FF2B5EF4-FFF2-40B4-BE49-F238E27FC236}">
                  <a16:creationId xmlns:a16="http://schemas.microsoft.com/office/drawing/2014/main" id="{2BF47803-89BF-AD39-7CC9-78EA738DC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2862560"/>
              <a:ext cx="358775" cy="391542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8" name="Rectangle 44">
              <a:extLst>
                <a:ext uri="{FF2B5EF4-FFF2-40B4-BE49-F238E27FC236}">
                  <a16:creationId xmlns:a16="http://schemas.microsoft.com/office/drawing/2014/main" id="{59A762A7-A16F-950C-6153-CDA9AF8D9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28572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9" name="Rectangle 45">
              <a:extLst>
                <a:ext uri="{FF2B5EF4-FFF2-40B4-BE49-F238E27FC236}">
                  <a16:creationId xmlns:a16="http://schemas.microsoft.com/office/drawing/2014/main" id="{DDC2DC7F-92EF-5004-7CDA-7F4E1BE00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0" name="Rectangle 46">
              <a:extLst>
                <a:ext uri="{FF2B5EF4-FFF2-40B4-BE49-F238E27FC236}">
                  <a16:creationId xmlns:a16="http://schemas.microsoft.com/office/drawing/2014/main" id="{5749D760-1DF6-B2F3-036A-5FA6A839F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" name="Rectangle 47">
              <a:extLst>
                <a:ext uri="{FF2B5EF4-FFF2-40B4-BE49-F238E27FC236}">
                  <a16:creationId xmlns:a16="http://schemas.microsoft.com/office/drawing/2014/main" id="{E2E30E20-9EED-B262-4493-45C6F12A1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2" name="Rectangle 48">
              <a:extLst>
                <a:ext uri="{FF2B5EF4-FFF2-40B4-BE49-F238E27FC236}">
                  <a16:creationId xmlns:a16="http://schemas.microsoft.com/office/drawing/2014/main" id="{95CD612D-C560-E177-4149-1CDBF1981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3" name="Rectangle 49">
              <a:extLst>
                <a:ext uri="{FF2B5EF4-FFF2-40B4-BE49-F238E27FC236}">
                  <a16:creationId xmlns:a16="http://schemas.microsoft.com/office/drawing/2014/main" id="{5A42FE37-B980-210A-5A2F-D442AFFAD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4" name="Rectangle 50">
              <a:extLst>
                <a:ext uri="{FF2B5EF4-FFF2-40B4-BE49-F238E27FC236}">
                  <a16:creationId xmlns:a16="http://schemas.microsoft.com/office/drawing/2014/main" id="{E8434500-6A9F-853E-9370-358895E12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28572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5" name="Rectangle 51">
              <a:extLst>
                <a:ext uri="{FF2B5EF4-FFF2-40B4-BE49-F238E27FC236}">
                  <a16:creationId xmlns:a16="http://schemas.microsoft.com/office/drawing/2014/main" id="{0590A153-C11D-AD22-DB33-30FDB8880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6" name="Rectangle 52">
              <a:extLst>
                <a:ext uri="{FF2B5EF4-FFF2-40B4-BE49-F238E27FC236}">
                  <a16:creationId xmlns:a16="http://schemas.microsoft.com/office/drawing/2014/main" id="{B3530202-98B8-0AE7-D0F9-F21331331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7" name="Rectangle 53">
              <a:extLst>
                <a:ext uri="{FF2B5EF4-FFF2-40B4-BE49-F238E27FC236}">
                  <a16:creationId xmlns:a16="http://schemas.microsoft.com/office/drawing/2014/main" id="{F0615EC6-A85E-49BD-7000-E87FFA93F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8" name="Rectangle 54">
              <a:extLst>
                <a:ext uri="{FF2B5EF4-FFF2-40B4-BE49-F238E27FC236}">
                  <a16:creationId xmlns:a16="http://schemas.microsoft.com/office/drawing/2014/main" id="{3EF27496-0A31-9070-9054-7B8337E07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321758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9" name="Rectangle 55">
              <a:extLst>
                <a:ext uri="{FF2B5EF4-FFF2-40B4-BE49-F238E27FC236}">
                  <a16:creationId xmlns:a16="http://schemas.microsoft.com/office/drawing/2014/main" id="{E22F8886-3AB1-3AAA-64DE-2D7307B3F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0" name="Rectangle 56">
              <a:extLst>
                <a:ext uri="{FF2B5EF4-FFF2-40B4-BE49-F238E27FC236}">
                  <a16:creationId xmlns:a16="http://schemas.microsoft.com/office/drawing/2014/main" id="{DC9B7560-A25C-FA8F-B66A-5E89400E8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1" name="Rectangle 57">
              <a:extLst>
                <a:ext uri="{FF2B5EF4-FFF2-40B4-BE49-F238E27FC236}">
                  <a16:creationId xmlns:a16="http://schemas.microsoft.com/office/drawing/2014/main" id="{6C5FFE23-D018-5443-8D15-F28E51E86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" name="Rectangle 58">
              <a:extLst>
                <a:ext uri="{FF2B5EF4-FFF2-40B4-BE49-F238E27FC236}">
                  <a16:creationId xmlns:a16="http://schemas.microsoft.com/office/drawing/2014/main" id="{90F0A51E-8D9C-0327-85D7-370A8D27A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32175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3" name="Rectangle 59">
              <a:extLst>
                <a:ext uri="{FF2B5EF4-FFF2-40B4-BE49-F238E27FC236}">
                  <a16:creationId xmlns:a16="http://schemas.microsoft.com/office/drawing/2014/main" id="{EB5F6433-F282-5421-842C-0B200453B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4" name="Rectangle 60">
              <a:extLst>
                <a:ext uri="{FF2B5EF4-FFF2-40B4-BE49-F238E27FC236}">
                  <a16:creationId xmlns:a16="http://schemas.microsoft.com/office/drawing/2014/main" id="{59134FDD-C9EC-5B88-F198-8DFC95FD9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3217588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5" name="Rectangle 61">
              <a:extLst>
                <a:ext uri="{FF2B5EF4-FFF2-40B4-BE49-F238E27FC236}">
                  <a16:creationId xmlns:a16="http://schemas.microsoft.com/office/drawing/2014/main" id="{DE14991D-5FAB-0DBE-2391-8C2C70157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6" name="Rectangle 62">
              <a:extLst>
                <a:ext uri="{FF2B5EF4-FFF2-40B4-BE49-F238E27FC236}">
                  <a16:creationId xmlns:a16="http://schemas.microsoft.com/office/drawing/2014/main" id="{832EBE7E-4CCC-375F-7F9F-190CA99DB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7" name="Rectangle 63">
              <a:extLst>
                <a:ext uri="{FF2B5EF4-FFF2-40B4-BE49-F238E27FC236}">
                  <a16:creationId xmlns:a16="http://schemas.microsoft.com/office/drawing/2014/main" id="{8AB7D028-A953-C026-F340-4A848BBCE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357795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8" name="Rectangle 64">
              <a:extLst>
                <a:ext uri="{FF2B5EF4-FFF2-40B4-BE49-F238E27FC236}">
                  <a16:creationId xmlns:a16="http://schemas.microsoft.com/office/drawing/2014/main" id="{9C2A56C7-1C8B-CC33-6B05-ED8036541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35779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9" name="Rectangle 65">
              <a:extLst>
                <a:ext uri="{FF2B5EF4-FFF2-40B4-BE49-F238E27FC236}">
                  <a16:creationId xmlns:a16="http://schemas.microsoft.com/office/drawing/2014/main" id="{A7381C01-D33C-5E62-E66D-995DE5F2A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0" name="Rectangle 66">
              <a:extLst>
                <a:ext uri="{FF2B5EF4-FFF2-40B4-BE49-F238E27FC236}">
                  <a16:creationId xmlns:a16="http://schemas.microsoft.com/office/drawing/2014/main" id="{F9423E8E-9E84-C338-BFFF-634A35355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1" name="Rectangle 67">
              <a:extLst>
                <a:ext uri="{FF2B5EF4-FFF2-40B4-BE49-F238E27FC236}">
                  <a16:creationId xmlns:a16="http://schemas.microsoft.com/office/drawing/2014/main" id="{12C79D0E-29FF-FB6B-3B49-ADD4BD622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2" name="Rectangle 68">
              <a:extLst>
                <a:ext uri="{FF2B5EF4-FFF2-40B4-BE49-F238E27FC236}">
                  <a16:creationId xmlns:a16="http://schemas.microsoft.com/office/drawing/2014/main" id="{7E870ABD-6D00-251F-AF6C-3D4A98B13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3" name="Rectangle 69">
              <a:extLst>
                <a:ext uri="{FF2B5EF4-FFF2-40B4-BE49-F238E27FC236}">
                  <a16:creationId xmlns:a16="http://schemas.microsoft.com/office/drawing/2014/main" id="{88AD470A-E2A6-D384-78C6-48DDE08C4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4" name="Rectangle 70">
              <a:extLst>
                <a:ext uri="{FF2B5EF4-FFF2-40B4-BE49-F238E27FC236}">
                  <a16:creationId xmlns:a16="http://schemas.microsoft.com/office/drawing/2014/main" id="{C1B631BF-2B1F-C450-65E1-CAF2BCC7E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3577951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5" name="Rectangle 71">
              <a:extLst>
                <a:ext uri="{FF2B5EF4-FFF2-40B4-BE49-F238E27FC236}">
                  <a16:creationId xmlns:a16="http://schemas.microsoft.com/office/drawing/2014/main" id="{6D741916-C476-644C-91F6-AAAEB5694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6" name="Rectangle 72">
              <a:extLst>
                <a:ext uri="{FF2B5EF4-FFF2-40B4-BE49-F238E27FC236}">
                  <a16:creationId xmlns:a16="http://schemas.microsoft.com/office/drawing/2014/main" id="{C86D3D91-BD4B-7CE9-656C-E2D236884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7" name="Rectangle 73">
              <a:extLst>
                <a:ext uri="{FF2B5EF4-FFF2-40B4-BE49-F238E27FC236}">
                  <a16:creationId xmlns:a16="http://schemas.microsoft.com/office/drawing/2014/main" id="{6BAB7346-9313-AE01-776A-AC935C82F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3936726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8" name="Rectangle 74">
              <a:extLst>
                <a:ext uri="{FF2B5EF4-FFF2-40B4-BE49-F238E27FC236}">
                  <a16:creationId xmlns:a16="http://schemas.microsoft.com/office/drawing/2014/main" id="{1708C2D7-9501-CF48-5D25-FE19C5B4D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39367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9" name="Rectangle 75">
              <a:extLst>
                <a:ext uri="{FF2B5EF4-FFF2-40B4-BE49-F238E27FC236}">
                  <a16:creationId xmlns:a16="http://schemas.microsoft.com/office/drawing/2014/main" id="{2B31E2F9-D568-1E67-9A09-EEB820AA0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0" name="Rectangle 76">
              <a:extLst>
                <a:ext uri="{FF2B5EF4-FFF2-40B4-BE49-F238E27FC236}">
                  <a16:creationId xmlns:a16="http://schemas.microsoft.com/office/drawing/2014/main" id="{FC2C5C78-8056-E007-765A-F66064971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1" name="Rectangle 77">
              <a:extLst>
                <a:ext uri="{FF2B5EF4-FFF2-40B4-BE49-F238E27FC236}">
                  <a16:creationId xmlns:a16="http://schemas.microsoft.com/office/drawing/2014/main" id="{A75EE189-8DF5-A87B-E252-C34AC06B2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2" name="Rectangle 78">
              <a:extLst>
                <a:ext uri="{FF2B5EF4-FFF2-40B4-BE49-F238E27FC236}">
                  <a16:creationId xmlns:a16="http://schemas.microsoft.com/office/drawing/2014/main" id="{BCF5DEEF-ADB2-C5B0-CF5F-92E589EFC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3" name="Rectangle 79">
              <a:extLst>
                <a:ext uri="{FF2B5EF4-FFF2-40B4-BE49-F238E27FC236}">
                  <a16:creationId xmlns:a16="http://schemas.microsoft.com/office/drawing/2014/main" id="{3E7354C8-2FFE-65B4-DAD0-1421D3CD8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4" name="Rectangle 80">
              <a:extLst>
                <a:ext uri="{FF2B5EF4-FFF2-40B4-BE49-F238E27FC236}">
                  <a16:creationId xmlns:a16="http://schemas.microsoft.com/office/drawing/2014/main" id="{95E017A6-5817-F6FD-8A5B-52F3916F0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39367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5" name="Rectangle 81">
              <a:extLst>
                <a:ext uri="{FF2B5EF4-FFF2-40B4-BE49-F238E27FC236}">
                  <a16:creationId xmlns:a16="http://schemas.microsoft.com/office/drawing/2014/main" id="{E619AB2B-6035-0D44-6F97-F389E4AE6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6" name="Rectangle 82">
              <a:extLst>
                <a:ext uri="{FF2B5EF4-FFF2-40B4-BE49-F238E27FC236}">
                  <a16:creationId xmlns:a16="http://schemas.microsoft.com/office/drawing/2014/main" id="{998933F3-3AAD-C89C-39AE-5B9F38BF4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7" name="Rectangle 83">
              <a:extLst>
                <a:ext uri="{FF2B5EF4-FFF2-40B4-BE49-F238E27FC236}">
                  <a16:creationId xmlns:a16="http://schemas.microsoft.com/office/drawing/2014/main" id="{7411A187-1293-C5FC-CF8E-DCAB14088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8" name="Rectangle 84">
              <a:extLst>
                <a:ext uri="{FF2B5EF4-FFF2-40B4-BE49-F238E27FC236}">
                  <a16:creationId xmlns:a16="http://schemas.microsoft.com/office/drawing/2014/main" id="{984E3988-441A-6B89-4C33-600CD8D0D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4297088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9" name="Rectangle 85">
              <a:extLst>
                <a:ext uri="{FF2B5EF4-FFF2-40B4-BE49-F238E27FC236}">
                  <a16:creationId xmlns:a16="http://schemas.microsoft.com/office/drawing/2014/main" id="{367B6224-9563-D347-B18E-A00F400FB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42970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0" name="Rectangle 86">
              <a:extLst>
                <a:ext uri="{FF2B5EF4-FFF2-40B4-BE49-F238E27FC236}">
                  <a16:creationId xmlns:a16="http://schemas.microsoft.com/office/drawing/2014/main" id="{33800DA0-232F-67AC-59C7-B412C681D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42970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1" name="Rectangle 87">
              <a:extLst>
                <a:ext uri="{FF2B5EF4-FFF2-40B4-BE49-F238E27FC236}">
                  <a16:creationId xmlns:a16="http://schemas.microsoft.com/office/drawing/2014/main" id="{0DF13FC1-E813-F228-8F86-709FCFCE1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42970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2" name="Rectangle 88">
              <a:extLst>
                <a:ext uri="{FF2B5EF4-FFF2-40B4-BE49-F238E27FC236}">
                  <a16:creationId xmlns:a16="http://schemas.microsoft.com/office/drawing/2014/main" id="{05AF638A-BEAC-94AE-90B5-1CFCB6738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42970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3" name="Rectangle 89">
              <a:extLst>
                <a:ext uri="{FF2B5EF4-FFF2-40B4-BE49-F238E27FC236}">
                  <a16:creationId xmlns:a16="http://schemas.microsoft.com/office/drawing/2014/main" id="{8F491BA4-B3DA-C7F1-4AC1-B27B80CFF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4" name="Rectangle 90">
              <a:extLst>
                <a:ext uri="{FF2B5EF4-FFF2-40B4-BE49-F238E27FC236}">
                  <a16:creationId xmlns:a16="http://schemas.microsoft.com/office/drawing/2014/main" id="{A816662B-1D68-6B1C-A942-D0E2062E8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4297088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5" name="Rectangle 91">
              <a:extLst>
                <a:ext uri="{FF2B5EF4-FFF2-40B4-BE49-F238E27FC236}">
                  <a16:creationId xmlns:a16="http://schemas.microsoft.com/office/drawing/2014/main" id="{8B7D4A2F-B189-5633-2DCD-EEDB0C6DD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6" name="Rectangle 92">
              <a:extLst>
                <a:ext uri="{FF2B5EF4-FFF2-40B4-BE49-F238E27FC236}">
                  <a16:creationId xmlns:a16="http://schemas.microsoft.com/office/drawing/2014/main" id="{A5E84AFE-DFB3-A721-08B7-3AC91EFA2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7" name="Rectangle 93">
              <a:extLst>
                <a:ext uri="{FF2B5EF4-FFF2-40B4-BE49-F238E27FC236}">
                  <a16:creationId xmlns:a16="http://schemas.microsoft.com/office/drawing/2014/main" id="{4820BD4B-E904-F43F-54D7-AECBDA477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40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8" name="Rectangle 94">
              <a:extLst>
                <a:ext uri="{FF2B5EF4-FFF2-40B4-BE49-F238E27FC236}">
                  <a16:creationId xmlns:a16="http://schemas.microsoft.com/office/drawing/2014/main" id="{44C7AC07-37FA-6000-5A09-1D257B1DA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3" y="46574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Rectangle 95">
              <a:extLst>
                <a:ext uri="{FF2B5EF4-FFF2-40B4-BE49-F238E27FC236}">
                  <a16:creationId xmlns:a16="http://schemas.microsoft.com/office/drawing/2014/main" id="{ED083118-E09D-8577-F2F8-933B9DA95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753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0" name="Rectangle 96">
              <a:extLst>
                <a:ext uri="{FF2B5EF4-FFF2-40B4-BE49-F238E27FC236}">
                  <a16:creationId xmlns:a16="http://schemas.microsoft.com/office/drawing/2014/main" id="{B856921F-F7C4-C1FF-C1D0-D91DC0ED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528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1" name="Rectangle 97">
              <a:extLst>
                <a:ext uri="{FF2B5EF4-FFF2-40B4-BE49-F238E27FC236}">
                  <a16:creationId xmlns:a16="http://schemas.microsoft.com/office/drawing/2014/main" id="{A75F5D06-CF03-129A-B47B-924D25083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6190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2" name="Rectangle 98">
              <a:extLst>
                <a:ext uri="{FF2B5EF4-FFF2-40B4-BE49-F238E27FC236}">
                  <a16:creationId xmlns:a16="http://schemas.microsoft.com/office/drawing/2014/main" id="{DF06A7B6-BC8A-CB51-D18B-391438BA8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965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3" name="Rectangle 99">
              <a:extLst>
                <a:ext uri="{FF2B5EF4-FFF2-40B4-BE49-F238E27FC236}">
                  <a16:creationId xmlns:a16="http://schemas.microsoft.com/office/drawing/2014/main" id="{1A749B44-063E-A965-4FA3-1BEBFA660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278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4" name="Rectangle 100">
              <a:extLst>
                <a:ext uri="{FF2B5EF4-FFF2-40B4-BE49-F238E27FC236}">
                  <a16:creationId xmlns:a16="http://schemas.microsoft.com/office/drawing/2014/main" id="{7425B421-D3C6-1839-A78B-46B2C79BF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328" y="46574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5" name="Rectangle 101">
              <a:extLst>
                <a:ext uri="{FF2B5EF4-FFF2-40B4-BE49-F238E27FC236}">
                  <a16:creationId xmlns:a16="http://schemas.microsoft.com/office/drawing/2014/main" id="{AC27B783-48CE-5C43-39E9-F8E99EA8B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3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1800" b="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2698A4C1-3AA7-FF99-6981-E9B585668002}"/>
                </a:ext>
              </a:extLst>
            </p:cNvPr>
            <p:cNvCxnSpPr/>
            <p:nvPr/>
          </p:nvCxnSpPr>
          <p:spPr>
            <a:xfrm>
              <a:off x="1247752" y="2000240"/>
              <a:ext cx="35719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094E6446-742A-FE2E-33D5-79B26530FE21}"/>
                </a:ext>
              </a:extLst>
            </p:cNvPr>
            <p:cNvCxnSpPr/>
            <p:nvPr/>
          </p:nvCxnSpPr>
          <p:spPr>
            <a:xfrm rot="5400000">
              <a:off x="1262942" y="2342240"/>
              <a:ext cx="68400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740357D3-90E2-3403-4831-3D414B3C17A4}"/>
                </a:ext>
              </a:extLst>
            </p:cNvPr>
            <p:cNvCxnSpPr/>
            <p:nvPr/>
          </p:nvCxnSpPr>
          <p:spPr>
            <a:xfrm>
              <a:off x="1290614" y="2689220"/>
              <a:ext cx="32400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F5689950-0BF1-0F31-486C-BC1C1B3D6178}"/>
                </a:ext>
              </a:extLst>
            </p:cNvPr>
            <p:cNvCxnSpPr/>
            <p:nvPr/>
          </p:nvCxnSpPr>
          <p:spPr>
            <a:xfrm rot="5400000">
              <a:off x="933424" y="3059110"/>
              <a:ext cx="71438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id="{AD0C1856-7F14-F5FF-D67F-48853E13E65A}"/>
                </a:ext>
              </a:extLst>
            </p:cNvPr>
            <p:cNvCxnSpPr/>
            <p:nvPr/>
          </p:nvCxnSpPr>
          <p:spPr>
            <a:xfrm>
              <a:off x="1277914" y="3429000"/>
              <a:ext cx="72000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E5A7B9EF-016E-8649-5B39-A3DCF4EC3A7A}"/>
                </a:ext>
              </a:extLst>
            </p:cNvPr>
            <p:cNvCxnSpPr/>
            <p:nvPr/>
          </p:nvCxnSpPr>
          <p:spPr>
            <a:xfrm>
              <a:off x="2000232" y="3425827"/>
              <a:ext cx="1588" cy="360363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145E9A82-1CD2-1F2E-02E4-BC1B6976AA67}"/>
                </a:ext>
              </a:extLst>
            </p:cNvPr>
            <p:cNvCxnSpPr/>
            <p:nvPr/>
          </p:nvCxnSpPr>
          <p:spPr>
            <a:xfrm>
              <a:off x="2000232" y="3786190"/>
              <a:ext cx="71438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4910B9D2-BF7B-1DEA-1B89-D38191EB260E}"/>
                </a:ext>
              </a:extLst>
            </p:cNvPr>
            <p:cNvCxnSpPr/>
            <p:nvPr/>
          </p:nvCxnSpPr>
          <p:spPr>
            <a:xfrm rot="5400000">
              <a:off x="2318612" y="3396372"/>
              <a:ext cx="79200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6A1C8196-4070-3DF5-6B36-31E4DF20B80F}"/>
                </a:ext>
              </a:extLst>
            </p:cNvPr>
            <p:cNvCxnSpPr/>
            <p:nvPr/>
          </p:nvCxnSpPr>
          <p:spPr>
            <a:xfrm>
              <a:off x="2714612" y="3000372"/>
              <a:ext cx="71438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EC4B7B9-1EB4-662D-5F0E-B007365FDD80}"/>
                </a:ext>
              </a:extLst>
            </p:cNvPr>
            <p:cNvCxnSpPr/>
            <p:nvPr/>
          </p:nvCxnSpPr>
          <p:spPr>
            <a:xfrm flipV="1">
              <a:off x="3414704" y="2714620"/>
              <a:ext cx="1588" cy="28800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B21D200C-4A11-B753-9B85-A4A12B77AF0F}"/>
                </a:ext>
              </a:extLst>
            </p:cNvPr>
            <p:cNvCxnSpPr/>
            <p:nvPr/>
          </p:nvCxnSpPr>
          <p:spPr>
            <a:xfrm>
              <a:off x="3419478" y="2727051"/>
              <a:ext cx="360000" cy="0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61BDE6E6-EE65-6858-E585-147648E28F0F}"/>
                </a:ext>
              </a:extLst>
            </p:cNvPr>
            <p:cNvCxnSpPr/>
            <p:nvPr/>
          </p:nvCxnSpPr>
          <p:spPr>
            <a:xfrm rot="5400000">
              <a:off x="2893207" y="3607595"/>
              <a:ext cx="1785950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下箭头 120">
            <a:extLst>
              <a:ext uri="{FF2B5EF4-FFF2-40B4-BE49-F238E27FC236}">
                <a16:creationId xmlns:a16="http://schemas.microsoft.com/office/drawing/2014/main" id="{2B5549AF-EC35-EFDD-C0F4-8652CF2279E3}"/>
              </a:ext>
            </a:extLst>
          </p:cNvPr>
          <p:cNvSpPr/>
          <p:nvPr/>
        </p:nvSpPr>
        <p:spPr bwMode="auto">
          <a:xfrm>
            <a:off x="9108936" y="3217051"/>
            <a:ext cx="214314" cy="357190"/>
          </a:xfrm>
          <a:prstGeom prst="downArrow">
            <a:avLst/>
          </a:prstGeom>
          <a:ln>
            <a:headEnd/>
            <a:tailEnd type="triangle" w="med" len="med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129" name="Text Box 134">
            <a:extLst>
              <a:ext uri="{FF2B5EF4-FFF2-40B4-BE49-F238E27FC236}">
                <a16:creationId xmlns:a16="http://schemas.microsoft.com/office/drawing/2014/main" id="{A03E48E8-587F-69AC-5483-200AA7F76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3592" y="3596317"/>
            <a:ext cx="3384550" cy="1200329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显然，这个解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不是最优解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，即不是最短路径。为什么？</a:t>
            </a:r>
          </a:p>
        </p:txBody>
      </p:sp>
    </p:spTree>
    <p:extLst>
      <p:ext uri="{BB962C8B-B14F-4D97-AF65-F5344CB8AC3E}">
        <p14:creationId xmlns:p14="http://schemas.microsoft.com/office/powerpoint/2010/main" val="13577758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44748-83AE-ACC7-55EF-B8C5AEFF7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D0C9275-F1A5-8146-5DF0-B289640FCE74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39BC166-A9D9-4D68-C880-B5BC6E62B5F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535F16F-95A1-5E15-D679-A2983CE66AB1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2207241-D135-21E3-FCFE-8C8229470C0E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C0A4A19-AC37-B392-DCDB-99F17B3CD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9572" y="2971094"/>
            <a:ext cx="6643734" cy="45384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使用一个队列</a:t>
            </a:r>
            <a:r>
              <a:rPr kumimoji="1" lang="en-US" altLang="zh-CN" sz="2000" dirty="0" err="1">
                <a:latin typeface="Consolas" pitchFamily="49" charset="0"/>
                <a:ea typeface="楷体" pitchFamily="49" charset="-122"/>
                <a:cs typeface="Consolas" pitchFamily="49" charset="0"/>
              </a:rPr>
              <a:t>qu</a:t>
            </a:r>
            <a:r>
              <a:rPr kumimoji="1"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记录试探的方块，该队列的结构如下</a:t>
            </a:r>
            <a:r>
              <a:rPr kumimoji="1" lang="en-US" altLang="zh-CN" sz="2000" dirty="0">
                <a:latin typeface="Consolas" pitchFamily="49" charset="0"/>
                <a:ea typeface="楷体" pitchFamily="49" charset="-122"/>
                <a:cs typeface="Consolas" pitchFamily="49" charset="0"/>
              </a:rPr>
              <a:t>:     </a:t>
            </a:r>
            <a:endParaRPr lang="en-US" altLang="zh-CN" sz="2000" dirty="0"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F43352C-4B44-7F7B-0F40-785EEA8FF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3433065"/>
            <a:ext cx="7286676" cy="16691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2600"/>
              </a:lnSpc>
            </a:pP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</a:p>
          <a:p>
            <a:pPr algn="l">
              <a:lnSpc>
                <a:spcPts val="26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int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i,j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方块的位置</a:t>
            </a:r>
          </a:p>
          <a:p>
            <a:pPr algn="l">
              <a:lnSpc>
                <a:spcPts val="2600"/>
              </a:lnSpc>
            </a:pPr>
            <a:r>
              <a:rPr kumimoji="1"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pre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本路径中上一方块在队列中的下标</a:t>
            </a:r>
          </a:p>
          <a:p>
            <a:pPr algn="l">
              <a:lnSpc>
                <a:spcPts val="26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  <a:r>
              <a:rPr kumimoji="1"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类型</a:t>
            </a:r>
            <a:endParaRPr kumimoji="1" lang="zh-CN" altLang="en-US" sz="1800" dirty="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1B77ECAB-7436-4160-2769-E734421AE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2469007"/>
            <a:ext cx="257176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Blip>
                <a:blip r:embed="rId2"/>
              </a:buBlip>
            </a:pPr>
            <a:r>
              <a:rPr kumimoji="1" lang="zh-CN" altLang="en-US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  <a:cs typeface="Consolas" pitchFamily="49" charset="0"/>
              </a:rPr>
              <a:t>　数据组织       </a:t>
            </a:r>
          </a:p>
        </p:txBody>
      </p:sp>
      <p:sp>
        <p:nvSpPr>
          <p:cNvPr id="10" name="Rectangle 36">
            <a:extLst>
              <a:ext uri="{FF2B5EF4-FFF2-40B4-BE49-F238E27FC236}">
                <a16:creationId xmlns:a16="http://schemas.microsoft.com/office/drawing/2014/main" id="{5DCC8414-CF73-50B0-91F2-8CB033A48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669" y="5611547"/>
            <a:ext cx="791438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endParaRPr lang="en-US" altLang="zh-CN" sz="1800" i="1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FFCAEC69-6F4F-D8A5-8579-997933BFE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569" y="5602022"/>
            <a:ext cx="804868" cy="540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，</a:t>
            </a:r>
            <a:r>
              <a:rPr lang="en-US" altLang="zh-CN" sz="1800" i="1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j</a:t>
            </a:r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+1</a:t>
            </a:r>
            <a:endParaRPr lang="en-US" altLang="zh-CN" sz="1800" dirty="0">
              <a:solidFill>
                <a:srgbClr val="0000FF"/>
              </a:solidFill>
              <a:latin typeface="Consolas" pitchFamily="49" charset="0"/>
              <a:ea typeface="宋体" pitchFamily="2" charset="-122"/>
              <a:cs typeface="Consolas" pitchFamily="49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D02B25C-119A-686D-7779-35488CF0799C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4342107" y="5872022"/>
            <a:ext cx="975462" cy="952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E51A93-CEA4-2358-2110-25C5B0387DBD}"/>
              </a:ext>
            </a:extLst>
          </p:cNvPr>
          <p:cNvSpPr txBox="1"/>
          <p:nvPr/>
        </p:nvSpPr>
        <p:spPr>
          <a:xfrm>
            <a:off x="2550537" y="5744898"/>
            <a:ext cx="10001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front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04D482-A43F-A08A-03B2-E45FD4CC284C}"/>
              </a:ext>
            </a:extLst>
          </p:cNvPr>
          <p:cNvSpPr txBox="1"/>
          <p:nvPr/>
        </p:nvSpPr>
        <p:spPr>
          <a:xfrm>
            <a:off x="4979429" y="6335038"/>
            <a:ext cx="1500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pre=front</a:t>
            </a:r>
            <a:endParaRPr lang="zh-CN" altLang="en-US" sz="2000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45242DD1-D55E-676E-6D5D-2D94574BCD1E}"/>
              </a:ext>
            </a:extLst>
          </p:cNvPr>
          <p:cNvSpPr txBox="1"/>
          <p:nvPr/>
        </p:nvSpPr>
        <p:spPr>
          <a:xfrm>
            <a:off x="3550669" y="517339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a</a:t>
            </a: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17" name="TextBox 18">
            <a:extLst>
              <a:ext uri="{FF2B5EF4-FFF2-40B4-BE49-F238E27FC236}">
                <a16:creationId xmlns:a16="http://schemas.microsoft.com/office/drawing/2014/main" id="{BB25D26B-D3CF-F554-010F-216FE4764324}"/>
              </a:ext>
            </a:extLst>
          </p:cNvPr>
          <p:cNvSpPr txBox="1"/>
          <p:nvPr/>
        </p:nvSpPr>
        <p:spPr>
          <a:xfrm>
            <a:off x="5265181" y="517339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</a:t>
            </a:r>
            <a:r>
              <a:rPr lang="zh-CN" altLang="en-US" sz="2000">
                <a:latin typeface="Consolas" pitchFamily="49" charset="0"/>
                <a:ea typeface="仿宋" pitchFamily="49" charset="-122"/>
                <a:cs typeface="Consolas" pitchFamily="49" charset="0"/>
              </a:rPr>
              <a:t>方块</a:t>
            </a:r>
          </a:p>
        </p:txBody>
      </p:sp>
    </p:spTree>
    <p:extLst>
      <p:ext uri="{BB962C8B-B14F-4D97-AF65-F5344CB8AC3E}">
        <p14:creationId xmlns:p14="http://schemas.microsoft.com/office/powerpoint/2010/main" val="15017924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7050-74E6-F395-16C6-21821809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91E2B86-3CE2-5E56-FFFC-E29DD169C92B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9E630B0-76A1-F9F4-D8F7-E53DA1F53F32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156CB09-C849-47DD-029B-DA08D2049327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A72A1D54-A21E-1A5B-6C03-2DBAA596B3A0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C0846FE4-DF12-4807-AA04-74BA78AC2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2554745"/>
            <a:ext cx="7286676" cy="17485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/>
            <a:tailEnd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180000" tIns="180000" bIns="180000">
            <a:spAutoFit/>
          </a:bodyPr>
          <a:lstStyle/>
          <a:p>
            <a:pPr algn="l">
              <a:lnSpc>
                <a:spcPts val="28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typedef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struct</a:t>
            </a:r>
            <a:endParaRPr kumimoji="1" lang="en-US" altLang="zh-CN" sz="18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8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</a:t>
            </a:r>
            <a:r>
              <a:rPr kumimoji="1" lang="en-US" altLang="zh-CN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Box</a:t>
            </a: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data[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MaxSize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];</a:t>
            </a:r>
          </a:p>
          <a:p>
            <a:pPr algn="l">
              <a:lnSpc>
                <a:spcPts val="28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</a:t>
            </a:r>
            <a:r>
              <a:rPr kumimoji="1" lang="en-US" altLang="zh-CN" sz="1800" dirty="0" err="1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front,rear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队头指针和队尾指针</a:t>
            </a:r>
          </a:p>
          <a:p>
            <a:pPr algn="l">
              <a:lnSpc>
                <a:spcPts val="2800"/>
              </a:lnSpc>
            </a:pPr>
            <a:r>
              <a:rPr kumimoji="1" lang="en-US" altLang="zh-CN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 </a:t>
            </a:r>
            <a:r>
              <a:rPr kumimoji="1" lang="en-US" altLang="zh-CN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QuType</a:t>
            </a:r>
            <a:r>
              <a:rPr kumimoji="1" lang="en-US" altLang="zh-CN" sz="18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;		</a:t>
            </a:r>
            <a:r>
              <a:rPr kumimoji="1" lang="en-US" altLang="zh-CN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kumimoji="1" lang="zh-CN" altLang="en-US" sz="18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定义顺序队类型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F518BAA-6339-80BA-ED46-D7E0AE2F1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808" y="4840761"/>
            <a:ext cx="8569325" cy="827021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ts val="3000"/>
              </a:lnSpc>
            </a:pPr>
            <a:r>
              <a:rPr kumimoji="1" lang="en-US" altLang="zh-CN" sz="200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    </a:t>
            </a:r>
            <a:r>
              <a:rPr kumimoji="1" lang="zh-CN" altLang="en-US" sz="200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使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用的队列</a:t>
            </a:r>
            <a:r>
              <a:rPr kumimoji="1" lang="en-US" altLang="zh-CN" sz="2000" dirty="0" err="1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qu</a:t>
            </a:r>
            <a:r>
              <a:rPr kumimoji="1" lang="zh-CN" altLang="en-US" sz="2000" dirty="0">
                <a:solidFill>
                  <a:srgbClr val="0000FF"/>
                </a:solidFill>
                <a:latin typeface="Consolas" pitchFamily="49" charset="0"/>
                <a:ea typeface="华文中宋" pitchFamily="2" charset="-122"/>
                <a:cs typeface="Consolas" pitchFamily="49" charset="0"/>
              </a:rPr>
              <a:t>不是环形队列（因为要利用出队的元素找路径），因此在出队时，不会将出队元素真正从队列中删除，因为要利用它输出路径。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华文中宋" pitchFamily="2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4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A223F-0E07-461D-4F46-B12CE13B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76D88A9-2417-AF85-824A-DABFD7BEC71E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11AB92B-D7AF-983F-D892-C9A555EFF527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9568586-322F-03B8-9373-467C89FF4D7E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00C2300-09E0-E59E-0A76-4F224DAB90CA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DE9C2E9-A2BE-7074-5609-3492DA049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293" y="2945887"/>
            <a:ext cx="1365252" cy="6477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Consolas" pitchFamily="49" charset="0"/>
              </a:rPr>
              <a:t>当前方块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082C17A4-7B54-1996-585F-F1629BDE4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7282" y="3085567"/>
            <a:ext cx="439267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front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：当前方块在队列中的下标</a:t>
            </a:r>
            <a:endParaRPr lang="en-US" altLang="zh-CN" sz="2000" dirty="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8" name="组合 19">
            <a:extLst>
              <a:ext uri="{FF2B5EF4-FFF2-40B4-BE49-F238E27FC236}">
                <a16:creationId xmlns:a16="http://schemas.microsoft.com/office/drawing/2014/main" id="{BD835EC7-2C5A-B684-C9A3-F25E867DC184}"/>
              </a:ext>
            </a:extLst>
          </p:cNvPr>
          <p:cNvGrpSpPr/>
          <p:nvPr/>
        </p:nvGrpSpPr>
        <p:grpSpPr>
          <a:xfrm>
            <a:off x="5401696" y="3582474"/>
            <a:ext cx="1709735" cy="1739900"/>
            <a:chOff x="1284266" y="2647961"/>
            <a:chExt cx="1709735" cy="173990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8F355B4-0A20-641C-3641-3D55F5008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001" y="2647961"/>
              <a:ext cx="635000" cy="1104900"/>
            </a:xfrm>
            <a:custGeom>
              <a:avLst/>
              <a:gdLst/>
              <a:ahLst/>
              <a:cxnLst>
                <a:cxn ang="0">
                  <a:pos x="400" y="0"/>
                </a:cxn>
                <a:cxn ang="0">
                  <a:pos x="0" y="696"/>
                </a:cxn>
              </a:cxnLst>
              <a:rect l="0" t="0" r="r" b="b"/>
              <a:pathLst>
                <a:path w="400" h="696">
                  <a:moveTo>
                    <a:pt x="400" y="0"/>
                  </a:moveTo>
                  <a:lnTo>
                    <a:pt x="0" y="696"/>
                  </a:ln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8D9CBEC0-5FBD-FA59-9195-1C3D3FA9E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4776" y="3740161"/>
              <a:ext cx="1368425" cy="6477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zh-CN" altLang="en-US" sz="1800" dirty="0"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相邻方块</a:t>
              </a:r>
              <a:r>
                <a:rPr lang="en-US" altLang="zh-CN" sz="1800" dirty="0"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1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709DD8EF-23B1-BF05-8809-052081BED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266" y="3883036"/>
              <a:ext cx="28733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 i="1" dirty="0" err="1">
                  <a:solidFill>
                    <a:srgbClr val="FF0000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endParaRPr lang="en-US" altLang="zh-CN" sz="1800" i="1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4" name="组合 20">
            <a:extLst>
              <a:ext uri="{FF2B5EF4-FFF2-40B4-BE49-F238E27FC236}">
                <a16:creationId xmlns:a16="http://schemas.microsoft.com/office/drawing/2014/main" id="{4E9EDEF9-5759-5303-73C4-0FBEB447A446}"/>
              </a:ext>
            </a:extLst>
          </p:cNvPr>
          <p:cNvGrpSpPr/>
          <p:nvPr/>
        </p:nvGrpSpPr>
        <p:grpSpPr>
          <a:xfrm>
            <a:off x="7419406" y="3582474"/>
            <a:ext cx="1944688" cy="1739900"/>
            <a:chOff x="3301976" y="2647961"/>
            <a:chExt cx="1944688" cy="1739900"/>
          </a:xfrm>
        </p:grpSpPr>
        <p:sp>
          <p:nvSpPr>
            <p:cNvPr id="15" name="Rectangle 9">
              <a:extLst>
                <a:ext uri="{FF2B5EF4-FFF2-40B4-BE49-F238E27FC236}">
                  <a16:creationId xmlns:a16="http://schemas.microsoft.com/office/drawing/2014/main" id="{9C70045D-B29F-3261-9B1C-B2515D07C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239" y="3740161"/>
              <a:ext cx="1368425" cy="6477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r>
                <a:rPr lang="zh-CN" altLang="en-US" sz="1800"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相邻方块</a:t>
              </a:r>
              <a:r>
                <a:rPr lang="en-US" altLang="zh-CN" sz="1800">
                  <a:latin typeface="华文中宋" pitchFamily="2" charset="-122"/>
                  <a:ea typeface="华文中宋" pitchFamily="2" charset="-122"/>
                  <a:cs typeface="Consolas" pitchFamily="49" charset="0"/>
                </a:rPr>
                <a:t>2</a:t>
              </a: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9A31D77-93EA-1754-6D56-CC4ED4F2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501" y="2647961"/>
              <a:ext cx="622300" cy="1104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2" y="696"/>
                </a:cxn>
              </a:cxnLst>
              <a:rect l="0" t="0" r="r" b="b"/>
              <a:pathLst>
                <a:path w="392" h="696">
                  <a:moveTo>
                    <a:pt x="0" y="0"/>
                  </a:moveTo>
                  <a:lnTo>
                    <a:pt x="392" y="696"/>
                  </a:lnTo>
                </a:path>
              </a:pathLst>
            </a:custGeom>
            <a:noFill/>
            <a:ln w="3810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B8F14FAA-E7D9-5CB6-A101-6C9CF5FB1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1976" y="3883036"/>
              <a:ext cx="57626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 i="1" dirty="0" err="1">
                  <a:solidFill>
                    <a:srgbClr val="FF0000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800" dirty="0" err="1">
                  <a:solidFill>
                    <a:srgbClr val="FF0000"/>
                  </a:solidFill>
                  <a:latin typeface="Consolas" pitchFamily="49" charset="0"/>
                  <a:cs typeface="Consolas" pitchFamily="49" charset="0"/>
                </a:rPr>
                <a:t>+1</a:t>
              </a:r>
              <a:endParaRPr lang="en-US" altLang="zh-CN" sz="18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18" name="组合 21">
            <a:extLst>
              <a:ext uri="{FF2B5EF4-FFF2-40B4-BE49-F238E27FC236}">
                <a16:creationId xmlns:a16="http://schemas.microsoft.com/office/drawing/2014/main" id="{BEB45469-76CC-4AC8-31B6-F7F63F709B4F}"/>
              </a:ext>
            </a:extLst>
          </p:cNvPr>
          <p:cNvGrpSpPr/>
          <p:nvPr/>
        </p:nvGrpSpPr>
        <p:grpSpPr>
          <a:xfrm>
            <a:off x="5046092" y="3582474"/>
            <a:ext cx="2301877" cy="2321957"/>
            <a:chOff x="928662" y="2647961"/>
            <a:chExt cx="2301877" cy="2321957"/>
          </a:xfrm>
        </p:grpSpPr>
        <p:sp>
          <p:nvSpPr>
            <p:cNvPr id="19" name="Text Box 13">
              <a:extLst>
                <a:ext uri="{FF2B5EF4-FFF2-40B4-BE49-F238E27FC236}">
                  <a16:creationId xmlns:a16="http://schemas.microsoft.com/office/drawing/2014/main" id="{028E3224-BECA-C6EC-7D53-71B0A9E1D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8662" y="4600586"/>
              <a:ext cx="230187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Qu</a:t>
              </a:r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[</a:t>
              </a:r>
              <a:r>
                <a:rPr lang="en-US" altLang="zh-CN" sz="1800" dirty="0" err="1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i</a:t>
              </a:r>
              <a:r>
                <a:rPr lang="en-US" altLang="zh-CN" sz="1800" dirty="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].pre=front</a:t>
              </a:r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2B60E2C8-E4C0-E901-BCF4-55234EF98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602" y="2647961"/>
              <a:ext cx="571500" cy="1066800"/>
            </a:xfrm>
            <a:custGeom>
              <a:avLst/>
              <a:gdLst/>
              <a:ahLst/>
              <a:cxnLst>
                <a:cxn ang="0">
                  <a:pos x="0" y="672"/>
                </a:cxn>
                <a:cxn ang="0">
                  <a:pos x="360" y="0"/>
                </a:cxn>
              </a:cxnLst>
              <a:rect l="0" t="0" r="r" b="b"/>
              <a:pathLst>
                <a:path w="360" h="672">
                  <a:moveTo>
                    <a:pt x="0" y="672"/>
                  </a:moveTo>
                  <a:lnTo>
                    <a:pt x="36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21" name="组合 22">
            <a:extLst>
              <a:ext uri="{FF2B5EF4-FFF2-40B4-BE49-F238E27FC236}">
                <a16:creationId xmlns:a16="http://schemas.microsoft.com/office/drawing/2014/main" id="{40237AF9-118E-BF0E-FEE3-FE1B4F628566}"/>
              </a:ext>
            </a:extLst>
          </p:cNvPr>
          <p:cNvGrpSpPr/>
          <p:nvPr/>
        </p:nvGrpSpPr>
        <p:grpSpPr>
          <a:xfrm>
            <a:off x="7563868" y="3593587"/>
            <a:ext cx="2697197" cy="2314019"/>
            <a:chOff x="3446438" y="2659074"/>
            <a:chExt cx="2697197" cy="2314019"/>
          </a:xfrm>
        </p:grpSpPr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10C6B759-4044-2AA4-19E0-AC18CF867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438" y="4603761"/>
              <a:ext cx="269719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1800">
                  <a:solidFill>
                    <a:srgbClr val="0000FF"/>
                  </a:solidFill>
                  <a:latin typeface="Consolas" pitchFamily="49" charset="0"/>
                  <a:cs typeface="Consolas" pitchFamily="49" charset="0"/>
                </a:rPr>
                <a:t>Qu[i+1].pre=front</a:t>
              </a:r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6B3F88A2-7FB7-7351-F8A0-84369346B0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9464" y="2659074"/>
              <a:ext cx="574675" cy="10810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solidFill>
                  <a:srgbClr val="0000FF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24" name="Text Box 2">
            <a:extLst>
              <a:ext uri="{FF2B5EF4-FFF2-40B4-BE49-F238E27FC236}">
                <a16:creationId xmlns:a16="http://schemas.microsoft.com/office/drawing/2014/main" id="{FA375E80-79D5-4B0E-0433-B1674C7E6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150" y="1220241"/>
            <a:ext cx="2557450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>
              <a:lnSpc>
                <a:spcPct val="90000"/>
              </a:lnSpc>
              <a:spcBef>
                <a:spcPct val="50000"/>
              </a:spcBef>
              <a:buFont typeface="Wingdings" pitchFamily="2" charset="2"/>
              <a:buBlip>
                <a:blip r:embed="rId2"/>
              </a:buBlip>
            </a:pPr>
            <a:r>
              <a:rPr kumimoji="1" lang="en-US" altLang="zh-CN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  <a:cs typeface="Consolas" pitchFamily="49" charset="0"/>
              </a:rPr>
              <a:t>  </a:t>
            </a:r>
            <a:r>
              <a:rPr kumimoji="1" lang="zh-CN" altLang="en-US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  <a:cs typeface="Consolas" pitchFamily="49" charset="0"/>
              </a:rPr>
              <a:t>算法设计      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7C74F64D-82F7-043E-C1CF-835BC3B559F5}"/>
              </a:ext>
            </a:extLst>
          </p:cNvPr>
          <p:cNvSpPr txBox="1"/>
          <p:nvPr/>
        </p:nvSpPr>
        <p:spPr>
          <a:xfrm>
            <a:off x="5117530" y="1934621"/>
            <a:ext cx="6429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首先将入口进队。出队一个方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块，一次性考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察如下：</a:t>
            </a:r>
          </a:p>
        </p:txBody>
      </p:sp>
      <p:grpSp>
        <p:nvGrpSpPr>
          <p:cNvPr id="26" name="组合 18">
            <a:extLst>
              <a:ext uri="{FF2B5EF4-FFF2-40B4-BE49-F238E27FC236}">
                <a16:creationId xmlns:a16="http://schemas.microsoft.com/office/drawing/2014/main" id="{C5D4188C-0F74-5B09-F28E-BCCB640AF143}"/>
              </a:ext>
            </a:extLst>
          </p:cNvPr>
          <p:cNvGrpSpPr/>
          <p:nvPr/>
        </p:nvGrpSpPr>
        <p:grpSpPr>
          <a:xfrm>
            <a:off x="5939829" y="3749089"/>
            <a:ext cx="5857916" cy="614424"/>
            <a:chOff x="1822399" y="2814576"/>
            <a:chExt cx="5857916" cy="614424"/>
          </a:xfrm>
        </p:grpSpPr>
        <p:sp>
          <p:nvSpPr>
            <p:cNvPr id="27" name="下弧形箭头 16">
              <a:extLst>
                <a:ext uri="{FF2B5EF4-FFF2-40B4-BE49-F238E27FC236}">
                  <a16:creationId xmlns:a16="http://schemas.microsoft.com/office/drawing/2014/main" id="{BB2DE431-EC84-4BEE-D47C-93816F224401}"/>
                </a:ext>
              </a:extLst>
            </p:cNvPr>
            <p:cNvSpPr/>
            <p:nvPr/>
          </p:nvSpPr>
          <p:spPr bwMode="auto">
            <a:xfrm>
              <a:off x="1822399" y="2928934"/>
              <a:ext cx="3000396" cy="500066"/>
            </a:xfrm>
            <a:prstGeom prst="curvedUpArrow">
              <a:avLst/>
            </a:prstGeom>
            <a:ln>
              <a:headEnd/>
              <a:tailEnd type="triangl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zh-CN" altLang="en-US" sz="20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endParaRPr>
            </a:p>
          </p:txBody>
        </p:sp>
        <p:sp>
          <p:nvSpPr>
            <p:cNvPr id="28" name="TextBox 17">
              <a:extLst>
                <a:ext uri="{FF2B5EF4-FFF2-40B4-BE49-F238E27FC236}">
                  <a16:creationId xmlns:a16="http://schemas.microsoft.com/office/drawing/2014/main" id="{CD628DFB-1EF6-A485-B4AC-9E15F29526BC}"/>
                </a:ext>
              </a:extLst>
            </p:cNvPr>
            <p:cNvSpPr txBox="1"/>
            <p:nvPr/>
          </p:nvSpPr>
          <p:spPr>
            <a:xfrm>
              <a:off x="4822795" y="2814576"/>
              <a:ext cx="28575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0000FF"/>
                  </a:solidFill>
                  <a:latin typeface="Consolas" pitchFamily="49" charset="0"/>
                  <a:ea typeface="仿宋" pitchFamily="49" charset="-122"/>
                  <a:cs typeface="Consolas" pitchFamily="49" charset="0"/>
                </a:rPr>
                <a:t>考察所有相邻可走方块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258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C668-8C16-549E-F1F8-A746BB2F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AC7941B-454F-30D6-5653-652360ABE745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E978346-D33F-946E-6077-FD36D3455516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D6F087F-2378-FBC5-58B6-E06E5025F923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74FBEEA-4595-1271-91B5-EE6B5241C0D3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F68BA7B-501D-8B35-B166-BED9B6D46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2129" y="111051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入口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AE519DC0-0EA8-626F-3160-E6D9DE6B6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0498" y="1110519"/>
            <a:ext cx="3603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60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895EBACB-874C-E367-7C39-C60B64709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967" y="1937606"/>
            <a:ext cx="755650" cy="4683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47694084-8013-FB78-6FA5-B1851691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4017" y="197411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60CF8A31-A2FC-E8BB-13DA-84632D593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1267" y="294566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DCC9F7C5-167F-C9F3-F422-8A32B8324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692" y="294566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3" name="Freeform 10">
            <a:extLst>
              <a:ext uri="{FF2B5EF4-FFF2-40B4-BE49-F238E27FC236}">
                <a16:creationId xmlns:a16="http://schemas.microsoft.com/office/drawing/2014/main" id="{BF3AB754-52A0-0B96-F0BE-836008693E10}"/>
              </a:ext>
            </a:extLst>
          </p:cNvPr>
          <p:cNvSpPr>
            <a:spLocks/>
          </p:cNvSpPr>
          <p:nvPr/>
        </p:nvSpPr>
        <p:spPr bwMode="auto">
          <a:xfrm>
            <a:off x="6969692" y="1575656"/>
            <a:ext cx="512762" cy="398463"/>
          </a:xfrm>
          <a:custGeom>
            <a:avLst/>
            <a:gdLst/>
            <a:ahLst/>
            <a:cxnLst>
              <a:cxn ang="0">
                <a:pos x="0" y="251"/>
              </a:cxn>
              <a:cxn ang="0">
                <a:pos x="323" y="0"/>
              </a:cxn>
            </a:cxnLst>
            <a:rect l="0" t="0" r="r" b="b"/>
            <a:pathLst>
              <a:path w="323" h="251">
                <a:moveTo>
                  <a:pt x="0" y="251"/>
                </a:moveTo>
                <a:lnTo>
                  <a:pt x="323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4" name="Freeform 12">
            <a:extLst>
              <a:ext uri="{FF2B5EF4-FFF2-40B4-BE49-F238E27FC236}">
                <a16:creationId xmlns:a16="http://schemas.microsoft.com/office/drawing/2014/main" id="{2EE9D7F1-739F-E62C-00E4-38C7F29AA288}"/>
              </a:ext>
            </a:extLst>
          </p:cNvPr>
          <p:cNvSpPr>
            <a:spLocks/>
          </p:cNvSpPr>
          <p:nvPr/>
        </p:nvSpPr>
        <p:spPr bwMode="auto">
          <a:xfrm>
            <a:off x="6021954" y="2405919"/>
            <a:ext cx="371475" cy="528637"/>
          </a:xfrm>
          <a:custGeom>
            <a:avLst/>
            <a:gdLst/>
            <a:ahLst/>
            <a:cxnLst>
              <a:cxn ang="0">
                <a:pos x="0" y="333"/>
              </a:cxn>
              <a:cxn ang="0">
                <a:pos x="234" y="0"/>
              </a:cxn>
            </a:cxnLst>
            <a:rect l="0" t="0" r="r" b="b"/>
            <a:pathLst>
              <a:path w="234" h="333">
                <a:moveTo>
                  <a:pt x="0" y="333"/>
                </a:moveTo>
                <a:lnTo>
                  <a:pt x="234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5" name="Freeform 13">
            <a:extLst>
              <a:ext uri="{FF2B5EF4-FFF2-40B4-BE49-F238E27FC236}">
                <a16:creationId xmlns:a16="http://schemas.microsoft.com/office/drawing/2014/main" id="{8A49B7F2-D216-83ED-7470-01226CFF7EA9}"/>
              </a:ext>
            </a:extLst>
          </p:cNvPr>
          <p:cNvSpPr>
            <a:spLocks/>
          </p:cNvSpPr>
          <p:nvPr/>
        </p:nvSpPr>
        <p:spPr bwMode="auto">
          <a:xfrm>
            <a:off x="6825229" y="2405919"/>
            <a:ext cx="434975" cy="541337"/>
          </a:xfrm>
          <a:custGeom>
            <a:avLst/>
            <a:gdLst/>
            <a:ahLst/>
            <a:cxnLst>
              <a:cxn ang="0">
                <a:pos x="274" y="341"/>
              </a:cxn>
              <a:cxn ang="0">
                <a:pos x="0" y="0"/>
              </a:cxn>
            </a:cxnLst>
            <a:rect l="0" t="0" r="r" b="b"/>
            <a:pathLst>
              <a:path w="274" h="341">
                <a:moveTo>
                  <a:pt x="274" y="341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6" name="Text Box 14">
            <a:extLst>
              <a:ext uri="{FF2B5EF4-FFF2-40B4-BE49-F238E27FC236}">
                <a16:creationId xmlns:a16="http://schemas.microsoft.com/office/drawing/2014/main" id="{FCFDFB8B-8A28-3748-9446-09E111632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904" y="3774344"/>
            <a:ext cx="11525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Consolas" pitchFamily="49" charset="0"/>
                <a:ea typeface="宋体" charset="-122"/>
                <a:cs typeface="Consolas" pitchFamily="49" charset="0"/>
              </a:rPr>
              <a:t>……</a:t>
            </a:r>
          </a:p>
        </p:txBody>
      </p:sp>
      <p:sp>
        <p:nvSpPr>
          <p:cNvPr id="37" name="Rectangle 15">
            <a:extLst>
              <a:ext uri="{FF2B5EF4-FFF2-40B4-BE49-F238E27FC236}">
                <a16:creationId xmlns:a16="http://schemas.microsoft.com/office/drawing/2014/main" id="{C7CE728E-F485-33DB-9E83-5466BEED9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729" y="294566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0BC4265-1664-E67A-40BE-2B12C0F95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3154" y="2945669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39" name="Rectangle 17">
            <a:extLst>
              <a:ext uri="{FF2B5EF4-FFF2-40B4-BE49-F238E27FC236}">
                <a16:creationId xmlns:a16="http://schemas.microsoft.com/office/drawing/2014/main" id="{52EE7F43-E635-AE35-5014-F6A1573A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154" y="4098194"/>
            <a:ext cx="719138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方块</a:t>
            </a:r>
          </a:p>
        </p:txBody>
      </p:sp>
      <p:sp>
        <p:nvSpPr>
          <p:cNvPr id="40" name="Rectangle 18">
            <a:extLst>
              <a:ext uri="{FF2B5EF4-FFF2-40B4-BE49-F238E27FC236}">
                <a16:creationId xmlns:a16="http://schemas.microsoft.com/office/drawing/2014/main" id="{E5023070-4CF9-9C1E-6678-74D1AB07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2579" y="4098194"/>
            <a:ext cx="755650" cy="46831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r>
              <a:rPr lang="zh-CN" altLang="en-US" sz="18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出口</a:t>
            </a:r>
          </a:p>
        </p:txBody>
      </p:sp>
      <p:sp>
        <p:nvSpPr>
          <p:cNvPr id="41" name="Freeform 19">
            <a:extLst>
              <a:ext uri="{FF2B5EF4-FFF2-40B4-BE49-F238E27FC236}">
                <a16:creationId xmlns:a16="http://schemas.microsoft.com/office/drawing/2014/main" id="{BC3991F0-633E-CEEE-9F82-067484C7DD83}"/>
              </a:ext>
            </a:extLst>
          </p:cNvPr>
          <p:cNvSpPr>
            <a:spLocks/>
          </p:cNvSpPr>
          <p:nvPr/>
        </p:nvSpPr>
        <p:spPr bwMode="auto">
          <a:xfrm>
            <a:off x="7577704" y="3413981"/>
            <a:ext cx="544513" cy="676275"/>
          </a:xfrm>
          <a:custGeom>
            <a:avLst/>
            <a:gdLst/>
            <a:ahLst/>
            <a:cxnLst>
              <a:cxn ang="0">
                <a:pos x="0" y="426"/>
              </a:cxn>
              <a:cxn ang="0">
                <a:pos x="343" y="0"/>
              </a:cxn>
            </a:cxnLst>
            <a:rect l="0" t="0" r="r" b="b"/>
            <a:pathLst>
              <a:path w="343" h="426">
                <a:moveTo>
                  <a:pt x="0" y="426"/>
                </a:moveTo>
                <a:lnTo>
                  <a:pt x="343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42" name="组合 21">
            <a:extLst>
              <a:ext uri="{FF2B5EF4-FFF2-40B4-BE49-F238E27FC236}">
                <a16:creationId xmlns:a16="http://schemas.microsoft.com/office/drawing/2014/main" id="{67BE3827-3BC4-B025-4258-8FE281F13064}"/>
              </a:ext>
            </a:extLst>
          </p:cNvPr>
          <p:cNvGrpSpPr/>
          <p:nvPr/>
        </p:nvGrpSpPr>
        <p:grpSpPr>
          <a:xfrm>
            <a:off x="8104754" y="1588356"/>
            <a:ext cx="736600" cy="2501900"/>
            <a:chOff x="4267200" y="1098550"/>
            <a:chExt cx="736600" cy="2501900"/>
          </a:xfrm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8119D174-45E6-A90D-6666-63F4BBD3B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200" y="1098550"/>
              <a:ext cx="450850" cy="387350"/>
            </a:xfrm>
            <a:custGeom>
              <a:avLst/>
              <a:gdLst/>
              <a:ahLst/>
              <a:cxnLst>
                <a:cxn ang="0">
                  <a:pos x="284" y="244"/>
                </a:cxn>
                <a:cxn ang="0">
                  <a:pos x="0" y="0"/>
                </a:cxn>
              </a:cxnLst>
              <a:rect l="0" t="0" r="r" b="b"/>
              <a:pathLst>
                <a:path w="284" h="244">
                  <a:moveTo>
                    <a:pt x="284" y="244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Freeform 20">
              <a:extLst>
                <a:ext uri="{FF2B5EF4-FFF2-40B4-BE49-F238E27FC236}">
                  <a16:creationId xmlns:a16="http://schemas.microsoft.com/office/drawing/2014/main" id="{5E0F0F53-4B5A-24FD-E8F9-560CD4D2C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150" y="2924175"/>
              <a:ext cx="501650" cy="676275"/>
            </a:xfrm>
            <a:custGeom>
              <a:avLst/>
              <a:gdLst/>
              <a:ahLst/>
              <a:cxnLst>
                <a:cxn ang="0">
                  <a:pos x="316" y="426"/>
                </a:cxn>
                <a:cxn ang="0">
                  <a:pos x="0" y="0"/>
                </a:cxn>
              </a:cxnLst>
              <a:rect l="0" t="0" r="r" b="b"/>
              <a:pathLst>
                <a:path w="316" h="426">
                  <a:moveTo>
                    <a:pt x="316" y="42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5" name="Freeform 21">
              <a:extLst>
                <a:ext uri="{FF2B5EF4-FFF2-40B4-BE49-F238E27FC236}">
                  <a16:creationId xmlns:a16="http://schemas.microsoft.com/office/drawing/2014/main" id="{3A0BCB3D-F3DC-7BDD-C3C5-AE9D522F9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700" y="1949450"/>
              <a:ext cx="419100" cy="501650"/>
            </a:xfrm>
            <a:custGeom>
              <a:avLst/>
              <a:gdLst/>
              <a:ahLst/>
              <a:cxnLst>
                <a:cxn ang="0">
                  <a:pos x="0" y="316"/>
                </a:cxn>
                <a:cxn ang="0">
                  <a:pos x="264" y="0"/>
                </a:cxn>
              </a:cxnLst>
              <a:rect l="0" t="0" r="r" b="b"/>
              <a:pathLst>
                <a:path w="264" h="316">
                  <a:moveTo>
                    <a:pt x="0" y="316"/>
                  </a:moveTo>
                  <a:lnTo>
                    <a:pt x="264" y="0"/>
                  </a:ln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46" name="Freeform 22">
            <a:extLst>
              <a:ext uri="{FF2B5EF4-FFF2-40B4-BE49-F238E27FC236}">
                <a16:creationId xmlns:a16="http://schemas.microsoft.com/office/drawing/2014/main" id="{D8F12B3C-5DA3-D656-B47B-6AA8BBDDE9D9}"/>
              </a:ext>
            </a:extLst>
          </p:cNvPr>
          <p:cNvSpPr>
            <a:spLocks/>
          </p:cNvSpPr>
          <p:nvPr/>
        </p:nvSpPr>
        <p:spPr bwMode="auto">
          <a:xfrm>
            <a:off x="9133454" y="2445606"/>
            <a:ext cx="482600" cy="495300"/>
          </a:xfrm>
          <a:custGeom>
            <a:avLst/>
            <a:gdLst/>
            <a:ahLst/>
            <a:cxnLst>
              <a:cxn ang="0">
                <a:pos x="304" y="312"/>
              </a:cxn>
              <a:cxn ang="0">
                <a:pos x="0" y="0"/>
              </a:cxn>
            </a:cxnLst>
            <a:rect l="0" t="0" r="r" b="b"/>
            <a:pathLst>
              <a:path w="304" h="312">
                <a:moveTo>
                  <a:pt x="304" y="312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7" name="Text Box 23">
            <a:extLst>
              <a:ext uri="{FF2B5EF4-FFF2-40B4-BE49-F238E27FC236}">
                <a16:creationId xmlns:a16="http://schemas.microsoft.com/office/drawing/2014/main" id="{2A2A2328-7537-C6F1-73DE-347A60EE9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642" y="5142769"/>
            <a:ext cx="7416800" cy="86177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Blip>
                <a:blip r:embed="rId2"/>
              </a:buBlip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所有搜索过的方块都在队列中。</a:t>
            </a:r>
          </a:p>
          <a:p>
            <a:pPr marL="457200" indent="-457200" algn="l">
              <a:spcBef>
                <a:spcPct val="50000"/>
              </a:spcBef>
              <a:buBlip>
                <a:blip r:embed="rId2"/>
              </a:buBlip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最后通过队列找出从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出口 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 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入口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的一条迷宫路径。</a:t>
            </a:r>
            <a:endParaRPr lang="en-US" altLang="zh-CN" sz="20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  <p:sp>
        <p:nvSpPr>
          <p:cNvPr id="48" name="右箭头 22">
            <a:extLst>
              <a:ext uri="{FF2B5EF4-FFF2-40B4-BE49-F238E27FC236}">
                <a16:creationId xmlns:a16="http://schemas.microsoft.com/office/drawing/2014/main" id="{7E0266C1-B27E-EB09-5A5D-6E2B7EE025B2}"/>
              </a:ext>
            </a:extLst>
          </p:cNvPr>
          <p:cNvSpPr/>
          <p:nvPr/>
        </p:nvSpPr>
        <p:spPr bwMode="auto">
          <a:xfrm>
            <a:off x="5266282" y="2132856"/>
            <a:ext cx="5357850" cy="142876"/>
          </a:xfrm>
          <a:prstGeom prst="rightArrow">
            <a:avLst/>
          </a:prstGeom>
          <a:ln>
            <a:headEnd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9" name="右箭头 23">
            <a:extLst>
              <a:ext uri="{FF2B5EF4-FFF2-40B4-BE49-F238E27FC236}">
                <a16:creationId xmlns:a16="http://schemas.microsoft.com/office/drawing/2014/main" id="{2706D004-E3F9-8AF8-BD14-E537CC3C9704}"/>
              </a:ext>
            </a:extLst>
          </p:cNvPr>
          <p:cNvSpPr/>
          <p:nvPr/>
        </p:nvSpPr>
        <p:spPr bwMode="auto">
          <a:xfrm>
            <a:off x="5266282" y="3132988"/>
            <a:ext cx="5357850" cy="142876"/>
          </a:xfrm>
          <a:prstGeom prst="rightArrow">
            <a:avLst/>
          </a:prstGeom>
          <a:ln>
            <a:headEnd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0" name="右箭头 24">
            <a:extLst>
              <a:ext uri="{FF2B5EF4-FFF2-40B4-BE49-F238E27FC236}">
                <a16:creationId xmlns:a16="http://schemas.microsoft.com/office/drawing/2014/main" id="{E04B2E6E-C293-A3E5-0970-5009C7577E62}"/>
              </a:ext>
            </a:extLst>
          </p:cNvPr>
          <p:cNvSpPr/>
          <p:nvPr/>
        </p:nvSpPr>
        <p:spPr bwMode="auto">
          <a:xfrm>
            <a:off x="5337720" y="4275996"/>
            <a:ext cx="5357850" cy="142876"/>
          </a:xfrm>
          <a:prstGeom prst="rightArrow">
            <a:avLst/>
          </a:prstGeom>
          <a:ln>
            <a:headEnd/>
            <a:tailEnd type="triangle" w="med" len="med"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01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7" grpId="0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97E68-22D3-A367-1433-80E73230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Box 10">
            <a:extLst>
              <a:ext uri="{FF2B5EF4-FFF2-40B4-BE49-F238E27FC236}">
                <a16:creationId xmlns:a16="http://schemas.microsoft.com/office/drawing/2014/main" id="{42E44FF6-9707-D476-6A2E-623D304C6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147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129" name="Text Box 11">
            <a:extLst>
              <a:ext uri="{FF2B5EF4-FFF2-40B4-BE49-F238E27FC236}">
                <a16:creationId xmlns:a16="http://schemas.microsoft.com/office/drawing/2014/main" id="{A7EC56EF-0F30-870D-FB86-9CE8A70B5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922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30" name="Text Box 12">
            <a:extLst>
              <a:ext uri="{FF2B5EF4-FFF2-40B4-BE49-F238E27FC236}">
                <a16:creationId xmlns:a16="http://schemas.microsoft.com/office/drawing/2014/main" id="{A3DF0C6B-B1A4-3E2C-F509-7B65D3C4E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3285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131" name="Text Box 13">
            <a:extLst>
              <a:ext uri="{FF2B5EF4-FFF2-40B4-BE49-F238E27FC236}">
                <a16:creationId xmlns:a16="http://schemas.microsoft.com/office/drawing/2014/main" id="{14780363-09BC-07DC-318C-32B3DFCA7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747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132" name="Text Box 14">
            <a:extLst>
              <a:ext uri="{FF2B5EF4-FFF2-40B4-BE49-F238E27FC236}">
                <a16:creationId xmlns:a16="http://schemas.microsoft.com/office/drawing/2014/main" id="{E2ED750C-B246-E2E5-850C-5C47C67E0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0522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33" name="Text Box 15">
            <a:extLst>
              <a:ext uri="{FF2B5EF4-FFF2-40B4-BE49-F238E27FC236}">
                <a16:creationId xmlns:a16="http://schemas.microsoft.com/office/drawing/2014/main" id="{BF666CE1-795C-9F96-3220-E8A1464DD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885" y="570458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34" name="Rectangle 4">
            <a:extLst>
              <a:ext uri="{FF2B5EF4-FFF2-40B4-BE49-F238E27FC236}">
                <a16:creationId xmlns:a16="http://schemas.microsoft.com/office/drawing/2014/main" id="{5DBEFF20-F990-807D-A07C-10D06F72D9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35" name="Rectangle 5">
            <a:extLst>
              <a:ext uri="{FF2B5EF4-FFF2-40B4-BE49-F238E27FC236}">
                <a16:creationId xmlns:a16="http://schemas.microsoft.com/office/drawing/2014/main" id="{1CB57DA0-E1F3-68E8-A39F-4CE89099E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6" name="Rectangle 6">
            <a:extLst>
              <a:ext uri="{FF2B5EF4-FFF2-40B4-BE49-F238E27FC236}">
                <a16:creationId xmlns:a16="http://schemas.microsoft.com/office/drawing/2014/main" id="{07AE5A7B-2B7F-DBE9-5628-167769DBE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7" name="Rectangle 7">
            <a:extLst>
              <a:ext uri="{FF2B5EF4-FFF2-40B4-BE49-F238E27FC236}">
                <a16:creationId xmlns:a16="http://schemas.microsoft.com/office/drawing/2014/main" id="{881115D2-5A81-7A85-6459-B52019CDF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8" name="Rectangle 8">
            <a:extLst>
              <a:ext uri="{FF2B5EF4-FFF2-40B4-BE49-F238E27FC236}">
                <a16:creationId xmlns:a16="http://schemas.microsoft.com/office/drawing/2014/main" id="{F6BA2582-3758-3156-D9C1-32DD28AC8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9" name="Rectangle 9">
            <a:extLst>
              <a:ext uri="{FF2B5EF4-FFF2-40B4-BE49-F238E27FC236}">
                <a16:creationId xmlns:a16="http://schemas.microsoft.com/office/drawing/2014/main" id="{42C42C6A-4E92-F59D-CC1F-B13AA00BF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8371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0" name="Text Box 16">
            <a:extLst>
              <a:ext uri="{FF2B5EF4-FFF2-40B4-BE49-F238E27FC236}">
                <a16:creationId xmlns:a16="http://schemas.microsoft.com/office/drawing/2014/main" id="{6397B80F-7FDF-D7BE-E564-C0901EA9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860971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0</a:t>
            </a:r>
          </a:p>
        </p:txBody>
      </p:sp>
      <p:sp>
        <p:nvSpPr>
          <p:cNvPr id="141" name="Rectangle 17">
            <a:extLst>
              <a:ext uri="{FF2B5EF4-FFF2-40B4-BE49-F238E27FC236}">
                <a16:creationId xmlns:a16="http://schemas.microsoft.com/office/drawing/2014/main" id="{D8AC4345-471E-C451-3A6D-398D7F2BB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2" name="Rectangle 18">
            <a:extLst>
              <a:ext uri="{FF2B5EF4-FFF2-40B4-BE49-F238E27FC236}">
                <a16:creationId xmlns:a16="http://schemas.microsoft.com/office/drawing/2014/main" id="{FB053DE1-44BA-4991-496D-8230C31B6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dirty="0">
                <a:solidFill>
                  <a:srgbClr val="008000"/>
                </a:solidFill>
                <a:latin typeface="Consolas" pitchFamily="49" charset="0"/>
                <a:cs typeface="Consolas" pitchFamily="49" charset="0"/>
                <a:sym typeface="Wingdings"/>
              </a:rPr>
              <a:t></a:t>
            </a:r>
            <a:endParaRPr lang="zh-CN" altLang="zh-CN" dirty="0">
              <a:solidFill>
                <a:srgbClr val="008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3" name="Rectangle 19">
            <a:extLst>
              <a:ext uri="{FF2B5EF4-FFF2-40B4-BE49-F238E27FC236}">
                <a16:creationId xmlns:a16="http://schemas.microsoft.com/office/drawing/2014/main" id="{E74C1D48-D6D1-D3BC-73DC-EE9E3F4DE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4" name="Rectangle 20">
            <a:extLst>
              <a:ext uri="{FF2B5EF4-FFF2-40B4-BE49-F238E27FC236}">
                <a16:creationId xmlns:a16="http://schemas.microsoft.com/office/drawing/2014/main" id="{93163E95-B631-B438-D1E8-91C176A10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5" name="Rectangle 21">
            <a:extLst>
              <a:ext uri="{FF2B5EF4-FFF2-40B4-BE49-F238E27FC236}">
                <a16:creationId xmlns:a16="http://schemas.microsoft.com/office/drawing/2014/main" id="{2ADCAC58-E4A9-2A66-0BCD-034F8D109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6" name="Rectangle 22">
            <a:extLst>
              <a:ext uri="{FF2B5EF4-FFF2-40B4-BE49-F238E27FC236}">
                <a16:creationId xmlns:a16="http://schemas.microsoft.com/office/drawing/2014/main" id="{2DA2F4FF-28B6-45DA-1F0D-5B4C69E90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11975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7" name="Text Box 23">
            <a:extLst>
              <a:ext uri="{FF2B5EF4-FFF2-40B4-BE49-F238E27FC236}">
                <a16:creationId xmlns:a16="http://schemas.microsoft.com/office/drawing/2014/main" id="{098FE636-9723-A9DE-464F-CB1C52CF8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1221334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sp>
        <p:nvSpPr>
          <p:cNvPr id="148" name="Rectangle 24">
            <a:extLst>
              <a:ext uri="{FF2B5EF4-FFF2-40B4-BE49-F238E27FC236}">
                <a16:creationId xmlns:a16="http://schemas.microsoft.com/office/drawing/2014/main" id="{91FE020A-078F-0D34-5CD2-7E781EDEF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9" name="Rectangle 25">
            <a:extLst>
              <a:ext uri="{FF2B5EF4-FFF2-40B4-BE49-F238E27FC236}">
                <a16:creationId xmlns:a16="http://schemas.microsoft.com/office/drawing/2014/main" id="{1E4C3BEF-6C4C-B5BF-5017-2B0EA84DF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0" name="Rectangle 26">
            <a:extLst>
              <a:ext uri="{FF2B5EF4-FFF2-40B4-BE49-F238E27FC236}">
                <a16:creationId xmlns:a16="http://schemas.microsoft.com/office/drawing/2014/main" id="{CC3332B4-C774-EB22-A3E3-975278CFD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1" name="Rectangle 27">
            <a:extLst>
              <a:ext uri="{FF2B5EF4-FFF2-40B4-BE49-F238E27FC236}">
                <a16:creationId xmlns:a16="http://schemas.microsoft.com/office/drawing/2014/main" id="{11ABACC6-16C8-D196-2CDA-CE64C8E5C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2" name="Rectangle 28">
            <a:extLst>
              <a:ext uri="{FF2B5EF4-FFF2-40B4-BE49-F238E27FC236}">
                <a16:creationId xmlns:a16="http://schemas.microsoft.com/office/drawing/2014/main" id="{85F78C51-CFC1-9CD7-D965-E036D9959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3" name="Rectangle 29">
            <a:extLst>
              <a:ext uri="{FF2B5EF4-FFF2-40B4-BE49-F238E27FC236}">
                <a16:creationId xmlns:a16="http://schemas.microsoft.com/office/drawing/2014/main" id="{F889360F-A10E-AF38-4AA3-0CB8421D1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15578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4" name="Text Box 30">
            <a:extLst>
              <a:ext uri="{FF2B5EF4-FFF2-40B4-BE49-F238E27FC236}">
                <a16:creationId xmlns:a16="http://schemas.microsoft.com/office/drawing/2014/main" id="{EB0A3C95-A3D9-9314-F2B6-FFA7E5153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1581696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sp>
        <p:nvSpPr>
          <p:cNvPr id="155" name="Rectangle 31">
            <a:extLst>
              <a:ext uri="{FF2B5EF4-FFF2-40B4-BE49-F238E27FC236}">
                <a16:creationId xmlns:a16="http://schemas.microsoft.com/office/drawing/2014/main" id="{E4D8A474-9B85-5422-A240-E7046EEFD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6" name="Rectangle 32">
            <a:extLst>
              <a:ext uri="{FF2B5EF4-FFF2-40B4-BE49-F238E27FC236}">
                <a16:creationId xmlns:a16="http://schemas.microsoft.com/office/drawing/2014/main" id="{25C8FAE3-9B60-B0E6-D97E-F300962C6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7" name="Rectangle 33">
            <a:extLst>
              <a:ext uri="{FF2B5EF4-FFF2-40B4-BE49-F238E27FC236}">
                <a16:creationId xmlns:a16="http://schemas.microsoft.com/office/drawing/2014/main" id="{E76A95CD-6F31-4034-BADA-3AF1FF3BE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8" name="Rectangle 34">
            <a:extLst>
              <a:ext uri="{FF2B5EF4-FFF2-40B4-BE49-F238E27FC236}">
                <a16:creationId xmlns:a16="http://schemas.microsoft.com/office/drawing/2014/main" id="{0F47D623-F6E5-2DE8-704B-4D2EE4D05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9" name="Rectangle 35">
            <a:extLst>
              <a:ext uri="{FF2B5EF4-FFF2-40B4-BE49-F238E27FC236}">
                <a16:creationId xmlns:a16="http://schemas.microsoft.com/office/drawing/2014/main" id="{F8FD2867-EC83-C5BA-1BD7-A7E6BCD2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0" name="Rectangle 36">
            <a:extLst>
              <a:ext uri="{FF2B5EF4-FFF2-40B4-BE49-F238E27FC236}">
                <a16:creationId xmlns:a16="http://schemas.microsoft.com/office/drawing/2014/main" id="{773237D0-9DC5-99C6-B4E6-FBA2CC76A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1916659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1" name="Text Box 37">
            <a:extLst>
              <a:ext uri="{FF2B5EF4-FFF2-40B4-BE49-F238E27FC236}">
                <a16:creationId xmlns:a16="http://schemas.microsoft.com/office/drawing/2014/main" id="{78C7C526-BE07-6AD4-B9C6-EF0B7216A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1940471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3</a:t>
            </a:r>
          </a:p>
        </p:txBody>
      </p:sp>
      <p:sp>
        <p:nvSpPr>
          <p:cNvPr id="162" name="Rectangle 38">
            <a:extLst>
              <a:ext uri="{FF2B5EF4-FFF2-40B4-BE49-F238E27FC236}">
                <a16:creationId xmlns:a16="http://schemas.microsoft.com/office/drawing/2014/main" id="{2C6B4849-ADDA-0DB8-EAAA-7B593CB2A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3" name="Rectangle 39">
            <a:extLst>
              <a:ext uri="{FF2B5EF4-FFF2-40B4-BE49-F238E27FC236}">
                <a16:creationId xmlns:a16="http://schemas.microsoft.com/office/drawing/2014/main" id="{83A1579A-5713-3043-A9F2-A8E598F31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4" name="Rectangle 40">
            <a:extLst>
              <a:ext uri="{FF2B5EF4-FFF2-40B4-BE49-F238E27FC236}">
                <a16:creationId xmlns:a16="http://schemas.microsoft.com/office/drawing/2014/main" id="{D1090F46-E0FB-2B07-ACD2-6D6EE44C8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5" name="Rectangle 41">
            <a:extLst>
              <a:ext uri="{FF2B5EF4-FFF2-40B4-BE49-F238E27FC236}">
                <a16:creationId xmlns:a16="http://schemas.microsoft.com/office/drawing/2014/main" id="{17EC24AC-0C70-0209-28BC-430EA9D95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6" name="Rectangle 42">
            <a:extLst>
              <a:ext uri="{FF2B5EF4-FFF2-40B4-BE49-F238E27FC236}">
                <a16:creationId xmlns:a16="http://schemas.microsoft.com/office/drawing/2014/main" id="{BE95F8C3-F0C5-E677-84CF-F25E7F791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2277021"/>
            <a:ext cx="369878" cy="3603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r>
              <a:rPr lang="zh-CN" altLang="en-US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  <a:sym typeface="Wingdings"/>
              </a:rPr>
              <a:t></a:t>
            </a:r>
            <a:endParaRPr lang="zh-CN" altLang="zh-CN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7" name="Rectangle 43">
            <a:extLst>
              <a:ext uri="{FF2B5EF4-FFF2-40B4-BE49-F238E27FC236}">
                <a16:creationId xmlns:a16="http://schemas.microsoft.com/office/drawing/2014/main" id="{289D6232-B3E2-182E-2620-EB7DC1DB1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2277021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8" name="Text Box 44">
            <a:extLst>
              <a:ext uri="{FF2B5EF4-FFF2-40B4-BE49-F238E27FC236}">
                <a16:creationId xmlns:a16="http://schemas.microsoft.com/office/drawing/2014/main" id="{2C4AEDD5-060B-D3A3-2529-8D077B895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2300834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4</a:t>
            </a:r>
          </a:p>
        </p:txBody>
      </p:sp>
      <p:sp>
        <p:nvSpPr>
          <p:cNvPr id="169" name="Rectangle 45">
            <a:extLst>
              <a:ext uri="{FF2B5EF4-FFF2-40B4-BE49-F238E27FC236}">
                <a16:creationId xmlns:a16="http://schemas.microsoft.com/office/drawing/2014/main" id="{2D4159DC-95D9-9877-AED1-FFEDC7AB4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85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0" name="Rectangle 46">
            <a:extLst>
              <a:ext uri="{FF2B5EF4-FFF2-40B4-BE49-F238E27FC236}">
                <a16:creationId xmlns:a16="http://schemas.microsoft.com/office/drawing/2014/main" id="{F29AF694-29FC-C258-B79E-764E64EF3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948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1" name="Rectangle 47">
            <a:extLst>
              <a:ext uri="{FF2B5EF4-FFF2-40B4-BE49-F238E27FC236}">
                <a16:creationId xmlns:a16="http://schemas.microsoft.com/office/drawing/2014/main" id="{791BE897-2FDB-42AD-5726-828A3B3E8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310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2" name="Rectangle 48">
            <a:extLst>
              <a:ext uri="{FF2B5EF4-FFF2-40B4-BE49-F238E27FC236}">
                <a16:creationId xmlns:a16="http://schemas.microsoft.com/office/drawing/2014/main" id="{06D21430-F935-B3EB-FB0C-BA179B95A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673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3" name="Rectangle 49">
            <a:extLst>
              <a:ext uri="{FF2B5EF4-FFF2-40B4-BE49-F238E27FC236}">
                <a16:creationId xmlns:a16="http://schemas.microsoft.com/office/drawing/2014/main" id="{9E9A1554-F7C3-6673-7EA9-334DFDA09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448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4" name="Rectangle 50">
            <a:extLst>
              <a:ext uri="{FF2B5EF4-FFF2-40B4-BE49-F238E27FC236}">
                <a16:creationId xmlns:a16="http://schemas.microsoft.com/office/drawing/2014/main" id="{5CCD6378-0805-CE38-6B2B-0CF83C639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810" y="2637384"/>
            <a:ext cx="360363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zh-CN">
              <a:solidFill>
                <a:srgbClr val="0000FF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5" name="Text Box 51">
            <a:extLst>
              <a:ext uri="{FF2B5EF4-FFF2-40B4-BE49-F238E27FC236}">
                <a16:creationId xmlns:a16="http://schemas.microsoft.com/office/drawing/2014/main" id="{02E6B1A8-162C-9868-69E3-A50AFA526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760" y="2661196"/>
            <a:ext cx="431800" cy="33655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5</a:t>
            </a:r>
          </a:p>
        </p:txBody>
      </p:sp>
      <p:sp>
        <p:nvSpPr>
          <p:cNvPr id="176" name="Text Box 52">
            <a:extLst>
              <a:ext uri="{FF2B5EF4-FFF2-40B4-BE49-F238E27FC236}">
                <a16:creationId xmlns:a16="http://schemas.microsoft.com/office/drawing/2014/main" id="{0B67E749-AD31-9C89-8787-4B73F6C5C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872" y="692696"/>
            <a:ext cx="4573617" cy="203132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mg[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M+2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][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N+2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]=     //M=</a:t>
            </a:r>
            <a:r>
              <a:rPr lang="en-US" altLang="zh-CN" sz="1800" dirty="0" err="1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4,N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=4</a:t>
            </a:r>
          </a:p>
          <a:p>
            <a:pPr algn="l"/>
            <a:r>
              <a:rPr lang="en-US" altLang="zh-CN" sz="180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{ </a:t>
            </a:r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{1, 1, 1, 1, 1,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0, 0, 0, 1,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0, 1, 0, 0,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0, 0, 0, 1,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1, 0, 0, 0, 1},</a:t>
            </a:r>
          </a:p>
          <a:p>
            <a:pPr algn="l"/>
            <a:r>
              <a:rPr lang="en-US" altLang="zh-CN" sz="1800" dirty="0">
                <a:solidFill>
                  <a:srgbClr val="0000FF"/>
                </a:solidFill>
                <a:latin typeface="Consolas" pitchFamily="49" charset="0"/>
                <a:cs typeface="Consolas" pitchFamily="49" charset="0"/>
              </a:rPr>
              <a:t>   {1, 1, 1, 1, 1, 1}  };</a:t>
            </a:r>
          </a:p>
        </p:txBody>
      </p:sp>
      <p:sp>
        <p:nvSpPr>
          <p:cNvPr id="177" name="Line 54">
            <a:extLst>
              <a:ext uri="{FF2B5EF4-FFF2-40B4-BE49-F238E27FC236}">
                <a16:creationId xmlns:a16="http://schemas.microsoft.com/office/drawing/2014/main" id="{6CA38681-10A8-96FF-F22B-EF29AAB396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8730" y="3208090"/>
            <a:ext cx="647700" cy="0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78" name="Text Box 53">
            <a:extLst>
              <a:ext uri="{FF2B5EF4-FFF2-40B4-BE49-F238E27FC236}">
                <a16:creationId xmlns:a16="http://schemas.microsoft.com/office/drawing/2014/main" id="{CF495A55-C559-9892-C918-83DD369DD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5004" y="3019177"/>
            <a:ext cx="148751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008000"/>
                </a:solidFill>
                <a:latin typeface="Consolas" pitchFamily="49" charset="0"/>
                <a:cs typeface="Consolas" pitchFamily="49" charset="0"/>
              </a:rPr>
              <a:t>0:(1,1) -1</a:t>
            </a:r>
          </a:p>
        </p:txBody>
      </p:sp>
      <p:sp>
        <p:nvSpPr>
          <p:cNvPr id="179" name="Text Box 56">
            <a:extLst>
              <a:ext uri="{FF2B5EF4-FFF2-40B4-BE49-F238E27FC236}">
                <a16:creationId xmlns:a16="http://schemas.microsoft.com/office/drawing/2014/main" id="{5F0B2A16-076A-3CA2-1B7D-118F6AA68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830" y="2996952"/>
            <a:ext cx="11525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入口</a:t>
            </a:r>
          </a:p>
        </p:txBody>
      </p:sp>
      <p:sp>
        <p:nvSpPr>
          <p:cNvPr id="180" name="Text Box 58">
            <a:extLst>
              <a:ext uri="{FF2B5EF4-FFF2-40B4-BE49-F238E27FC236}">
                <a16:creationId xmlns:a16="http://schemas.microsoft.com/office/drawing/2014/main" id="{C5C71D50-0A53-902D-35DF-D4B6C39B1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136" y="3666877"/>
            <a:ext cx="1409729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2:(2,1) 0</a:t>
            </a:r>
          </a:p>
        </p:txBody>
      </p:sp>
      <p:sp>
        <p:nvSpPr>
          <p:cNvPr id="181" name="Text Box 57">
            <a:extLst>
              <a:ext uri="{FF2B5EF4-FFF2-40B4-BE49-F238E27FC236}">
                <a16:creationId xmlns:a16="http://schemas.microsoft.com/office/drawing/2014/main" id="{162CDA3E-90A1-CF51-C29F-27279FE72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191" y="3666877"/>
            <a:ext cx="1424003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1:(1,2) 0</a:t>
            </a:r>
          </a:p>
        </p:txBody>
      </p:sp>
      <p:sp>
        <p:nvSpPr>
          <p:cNvPr id="182" name="Line 59">
            <a:extLst>
              <a:ext uri="{FF2B5EF4-FFF2-40B4-BE49-F238E27FC236}">
                <a16:creationId xmlns:a16="http://schemas.microsoft.com/office/drawing/2014/main" id="{72A92170-A625-EB31-B9ED-7813E6C4DA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9105" y="3379540"/>
            <a:ext cx="360362" cy="360363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3" name="Line 60">
            <a:extLst>
              <a:ext uri="{FF2B5EF4-FFF2-40B4-BE49-F238E27FC236}">
                <a16:creationId xmlns:a16="http://schemas.microsoft.com/office/drawing/2014/main" id="{A972B26D-DBB7-CAED-4CD0-ECB8E351D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5730" y="3379540"/>
            <a:ext cx="287337" cy="360363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4" name="Text Box 61">
            <a:extLst>
              <a:ext uri="{FF2B5EF4-FFF2-40B4-BE49-F238E27FC236}">
                <a16:creationId xmlns:a16="http://schemas.microsoft.com/office/drawing/2014/main" id="{FC3C1C3A-1025-B2B1-7F71-41A388177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603" y="4243140"/>
            <a:ext cx="142559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3:(1,3) 1</a:t>
            </a:r>
          </a:p>
        </p:txBody>
      </p:sp>
      <p:sp>
        <p:nvSpPr>
          <p:cNvPr id="185" name="Line 62">
            <a:extLst>
              <a:ext uri="{FF2B5EF4-FFF2-40B4-BE49-F238E27FC236}">
                <a16:creationId xmlns:a16="http://schemas.microsoft.com/office/drawing/2014/main" id="{3B6EFA43-5AE4-4918-43C7-FF7C575AE8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305" y="4027240"/>
            <a:ext cx="0" cy="2889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6" name="Text Box 64">
            <a:extLst>
              <a:ext uri="{FF2B5EF4-FFF2-40B4-BE49-F238E27FC236}">
                <a16:creationId xmlns:a16="http://schemas.microsoft.com/office/drawing/2014/main" id="{E0735C5E-FDC5-2579-C249-957ACB4AA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191" y="4814640"/>
            <a:ext cx="1495441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5:(2,3) 3</a:t>
            </a:r>
          </a:p>
        </p:txBody>
      </p:sp>
      <p:sp>
        <p:nvSpPr>
          <p:cNvPr id="187" name="Line 67">
            <a:extLst>
              <a:ext uri="{FF2B5EF4-FFF2-40B4-BE49-F238E27FC236}">
                <a16:creationId xmlns:a16="http://schemas.microsoft.com/office/drawing/2014/main" id="{4AD3EF5B-AA8F-4975-98C2-04B9CA4BB6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305" y="4598740"/>
            <a:ext cx="0" cy="2889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88" name="Text Box 63">
            <a:extLst>
              <a:ext uri="{FF2B5EF4-FFF2-40B4-BE49-F238E27FC236}">
                <a16:creationId xmlns:a16="http://schemas.microsoft.com/office/drawing/2014/main" id="{59790A96-4163-0C0B-AC6C-D14AAA643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136" y="4243140"/>
            <a:ext cx="1409729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4:(3,1) 2</a:t>
            </a:r>
          </a:p>
        </p:txBody>
      </p:sp>
      <p:sp>
        <p:nvSpPr>
          <p:cNvPr id="189" name="Line 68">
            <a:extLst>
              <a:ext uri="{FF2B5EF4-FFF2-40B4-BE49-F238E27FC236}">
                <a16:creationId xmlns:a16="http://schemas.microsoft.com/office/drawing/2014/main" id="{BD1030E1-1945-70BB-2240-5D525093C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1992" y="4027240"/>
            <a:ext cx="0" cy="2889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0" name="Text Box 65">
            <a:extLst>
              <a:ext uri="{FF2B5EF4-FFF2-40B4-BE49-F238E27FC236}">
                <a16:creationId xmlns:a16="http://schemas.microsoft.com/office/drawing/2014/main" id="{B6474E92-1386-02E9-1087-5D360C4E2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136" y="4808290"/>
            <a:ext cx="1409729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6:(3,2) 4</a:t>
            </a:r>
          </a:p>
        </p:txBody>
      </p:sp>
      <p:sp>
        <p:nvSpPr>
          <p:cNvPr id="191" name="Line 69">
            <a:extLst>
              <a:ext uri="{FF2B5EF4-FFF2-40B4-BE49-F238E27FC236}">
                <a16:creationId xmlns:a16="http://schemas.microsoft.com/office/drawing/2014/main" id="{3985B688-E692-5EFA-B7FD-E8420205B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1992" y="4603502"/>
            <a:ext cx="0" cy="288925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2" name="Text Box 66">
            <a:extLst>
              <a:ext uri="{FF2B5EF4-FFF2-40B4-BE49-F238E27FC236}">
                <a16:creationId xmlns:a16="http://schemas.microsoft.com/office/drawing/2014/main" id="{6D0F4F0F-32B3-C131-CB04-ABB2D82BB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780" y="5389315"/>
            <a:ext cx="1358910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>
                <a:latin typeface="Consolas" pitchFamily="49" charset="0"/>
                <a:cs typeface="Consolas" pitchFamily="49" charset="0"/>
              </a:rPr>
              <a:t>7:(2,4) 5</a:t>
            </a:r>
          </a:p>
        </p:txBody>
      </p:sp>
      <p:sp>
        <p:nvSpPr>
          <p:cNvPr id="193" name="Text Box 70">
            <a:extLst>
              <a:ext uri="{FF2B5EF4-FFF2-40B4-BE49-F238E27FC236}">
                <a16:creationId xmlns:a16="http://schemas.microsoft.com/office/drawing/2014/main" id="{4F03850B-DA75-1FE2-D61A-A5E96B3BA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2252" y="5370265"/>
            <a:ext cx="134780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8:(3,3) 5</a:t>
            </a:r>
          </a:p>
        </p:txBody>
      </p:sp>
      <p:sp>
        <p:nvSpPr>
          <p:cNvPr id="194" name="Line 71">
            <a:extLst>
              <a:ext uri="{FF2B5EF4-FFF2-40B4-BE49-F238E27FC236}">
                <a16:creationId xmlns:a16="http://schemas.microsoft.com/office/drawing/2014/main" id="{DA75884E-8123-E277-971A-483CCD0828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35505" y="5179765"/>
            <a:ext cx="288925" cy="2873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5" name="Freeform 72">
            <a:extLst>
              <a:ext uri="{FF2B5EF4-FFF2-40B4-BE49-F238E27FC236}">
                <a16:creationId xmlns:a16="http://schemas.microsoft.com/office/drawing/2014/main" id="{69A46151-9271-E8B0-8797-C35D5EA568CA}"/>
              </a:ext>
            </a:extLst>
          </p:cNvPr>
          <p:cNvSpPr>
            <a:spLocks/>
          </p:cNvSpPr>
          <p:nvPr/>
        </p:nvSpPr>
        <p:spPr bwMode="auto">
          <a:xfrm>
            <a:off x="2383205" y="5179765"/>
            <a:ext cx="268287" cy="2444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69" y="154"/>
              </a:cxn>
            </a:cxnLst>
            <a:rect l="0" t="0" r="r" b="b"/>
            <a:pathLst>
              <a:path w="169" h="154">
                <a:moveTo>
                  <a:pt x="0" y="0"/>
                </a:moveTo>
                <a:lnTo>
                  <a:pt x="169" y="154"/>
                </a:lnTo>
              </a:path>
            </a:pathLst>
          </a:custGeom>
          <a:noFill/>
          <a:ln w="28575" cap="flat" cmpd="sng">
            <a:solidFill>
              <a:srgbClr val="CC00CC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6" name="Text Box 73">
            <a:extLst>
              <a:ext uri="{FF2B5EF4-FFF2-40B4-BE49-F238E27FC236}">
                <a16:creationId xmlns:a16="http://schemas.microsoft.com/office/drawing/2014/main" id="{5309BAA7-9A17-1559-14D7-E49B18528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8136" y="5344865"/>
            <a:ext cx="1481167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>
                <a:latin typeface="Consolas" pitchFamily="49" charset="0"/>
                <a:cs typeface="Consolas" pitchFamily="49" charset="0"/>
              </a:rPr>
              <a:t>9:(4,2) 6</a:t>
            </a:r>
          </a:p>
        </p:txBody>
      </p:sp>
      <p:sp>
        <p:nvSpPr>
          <p:cNvPr id="197" name="Line 74">
            <a:extLst>
              <a:ext uri="{FF2B5EF4-FFF2-40B4-BE49-F238E27FC236}">
                <a16:creationId xmlns:a16="http://schemas.microsoft.com/office/drawing/2014/main" id="{EF0204DE-8E96-2263-6E90-80534060D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455" y="5154365"/>
            <a:ext cx="0" cy="2873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8" name="Line 75">
            <a:extLst>
              <a:ext uri="{FF2B5EF4-FFF2-40B4-BE49-F238E27FC236}">
                <a16:creationId xmlns:a16="http://schemas.microsoft.com/office/drawing/2014/main" id="{C9C686C3-97C6-F354-8CA4-B4A13A4BF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8030" y="5709990"/>
            <a:ext cx="0" cy="2873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9" name="Text Box 76">
            <a:extLst>
              <a:ext uri="{FF2B5EF4-FFF2-40B4-BE49-F238E27FC236}">
                <a16:creationId xmlns:a16="http://schemas.microsoft.com/office/drawing/2014/main" id="{46BE946D-C2CF-142B-7354-70076B5AA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6230" y="5925890"/>
            <a:ext cx="1560534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latin typeface="Consolas" pitchFamily="49" charset="0"/>
                <a:cs typeface="Consolas" pitchFamily="49" charset="0"/>
              </a:rPr>
              <a:t>10:(4,3) 8</a:t>
            </a:r>
          </a:p>
        </p:txBody>
      </p:sp>
      <p:sp>
        <p:nvSpPr>
          <p:cNvPr id="200" name="Line 77">
            <a:extLst>
              <a:ext uri="{FF2B5EF4-FFF2-40B4-BE49-F238E27FC236}">
                <a16:creationId xmlns:a16="http://schemas.microsoft.com/office/drawing/2014/main" id="{E8A2DDA0-D687-9D32-2F40-F86A2D996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8030" y="6240215"/>
            <a:ext cx="0" cy="287338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1" name="Text Box 78">
            <a:extLst>
              <a:ext uri="{FF2B5EF4-FFF2-40B4-BE49-F238E27FC236}">
                <a16:creationId xmlns:a16="http://schemas.microsoft.com/office/drawing/2014/main" id="{F9D40526-90FC-66BA-5C6D-724765DA7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9230" y="6456115"/>
            <a:ext cx="1616096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18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11:(4,4) 10</a:t>
            </a:r>
          </a:p>
        </p:txBody>
      </p:sp>
      <p:sp>
        <p:nvSpPr>
          <p:cNvPr id="202" name="Text Box 81">
            <a:extLst>
              <a:ext uri="{FF2B5EF4-FFF2-40B4-BE49-F238E27FC236}">
                <a16:creationId xmlns:a16="http://schemas.microsoft.com/office/drawing/2014/main" id="{4000192D-20A4-FEF0-F6DC-7A60F849A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930" y="6454527"/>
            <a:ext cx="11525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  <a:cs typeface="Consolas" pitchFamily="49" charset="0"/>
              </a:rPr>
              <a:t>出口</a:t>
            </a:r>
          </a:p>
        </p:txBody>
      </p:sp>
      <p:sp>
        <p:nvSpPr>
          <p:cNvPr id="203" name="Line 82">
            <a:extLst>
              <a:ext uri="{FF2B5EF4-FFF2-40B4-BE49-F238E27FC236}">
                <a16:creationId xmlns:a16="http://schemas.microsoft.com/office/drawing/2014/main" id="{226BBBE2-9E59-1E3E-3CD0-039ACD710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7592" y="6657727"/>
            <a:ext cx="431800" cy="0"/>
          </a:xfrm>
          <a:prstGeom prst="line">
            <a:avLst/>
          </a:prstGeom>
          <a:noFill/>
          <a:ln w="28575">
            <a:solidFill>
              <a:srgbClr val="003300"/>
            </a:solidFill>
            <a:round/>
            <a:headEnd/>
            <a:tailEnd type="triangle" w="med" len="med"/>
          </a:ln>
          <a:effectLst/>
        </p:spPr>
        <p:txBody>
          <a:bodyPr wrap="none"/>
          <a:lstStyle/>
          <a:p>
            <a:endParaRPr lang="zh-CN" altLang="en-US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4" name="Text Box 83">
            <a:extLst>
              <a:ext uri="{FF2B5EF4-FFF2-40B4-BE49-F238E27FC236}">
                <a16:creationId xmlns:a16="http://schemas.microsoft.com/office/drawing/2014/main" id="{B085E03C-3AB8-56C0-F28C-2B40E4790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834" y="3250952"/>
            <a:ext cx="1441450" cy="35972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迷宫路径</a:t>
            </a:r>
            <a:r>
              <a:rPr lang="en-US" altLang="zh-CN" sz="2000" dirty="0">
                <a:latin typeface="仿宋" pitchFamily="49" charset="-122"/>
                <a:ea typeface="仿宋" pitchFamily="49" charset="-122"/>
                <a:cs typeface="Consolas" pitchFamily="49" charset="0"/>
              </a:rPr>
              <a:t>: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(4,4)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(4,3)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(3,3)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(2,3)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(1,3)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(1,2)</a:t>
            </a:r>
          </a:p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Consolas" pitchFamily="49" charset="0"/>
                <a:cs typeface="Consolas" pitchFamily="49" charset="0"/>
              </a:rPr>
              <a:t>(1,1)</a:t>
            </a:r>
          </a:p>
        </p:txBody>
      </p:sp>
      <p:grpSp>
        <p:nvGrpSpPr>
          <p:cNvPr id="205" name="组合 140">
            <a:extLst>
              <a:ext uri="{FF2B5EF4-FFF2-40B4-BE49-F238E27FC236}">
                <a16:creationId xmlns:a16="http://schemas.microsoft.com/office/drawing/2014/main" id="{316D964A-62EF-37C7-84F7-BCB1596182EB}"/>
              </a:ext>
            </a:extLst>
          </p:cNvPr>
          <p:cNvGrpSpPr/>
          <p:nvPr/>
        </p:nvGrpSpPr>
        <p:grpSpPr>
          <a:xfrm>
            <a:off x="6656799" y="4043115"/>
            <a:ext cx="2503502" cy="1998677"/>
            <a:chOff x="6069026" y="3573463"/>
            <a:chExt cx="2681275" cy="2160587"/>
          </a:xfrm>
        </p:grpSpPr>
        <p:sp>
          <p:nvSpPr>
            <p:cNvPr id="206" name="Rectangle 108">
              <a:extLst>
                <a:ext uri="{FF2B5EF4-FFF2-40B4-BE49-F238E27FC236}">
                  <a16:creationId xmlns:a16="http://schemas.microsoft.com/office/drawing/2014/main" id="{C3F581D6-CB96-BB65-F56E-3F02804B7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4652962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07" name="Rectangle 96">
              <a:extLst>
                <a:ext uri="{FF2B5EF4-FFF2-40B4-BE49-F238E27FC236}">
                  <a16:creationId xmlns:a16="http://schemas.microsoft.com/office/drawing/2014/main" id="{C1397A9A-B11E-7CD2-7F50-F6970B18A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08" name="Rectangle 110">
              <a:extLst>
                <a:ext uri="{FF2B5EF4-FFF2-40B4-BE49-F238E27FC236}">
                  <a16:creationId xmlns:a16="http://schemas.microsoft.com/office/drawing/2014/main" id="{5AC4FF93-FE34-5160-B3BB-D45B381944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46529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09" name="Rectangle 103">
              <a:extLst>
                <a:ext uri="{FF2B5EF4-FFF2-40B4-BE49-F238E27FC236}">
                  <a16:creationId xmlns:a16="http://schemas.microsoft.com/office/drawing/2014/main" id="{E822B10A-6463-2414-BBBE-CA7B7FA09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0" name="AutoShape 84">
              <a:extLst>
                <a:ext uri="{FF2B5EF4-FFF2-40B4-BE49-F238E27FC236}">
                  <a16:creationId xmlns:a16="http://schemas.microsoft.com/office/drawing/2014/main" id="{7AE56D56-16F0-56CF-8B2A-27744C48B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69026" y="4437063"/>
              <a:ext cx="431800" cy="360362"/>
            </a:xfrm>
            <a:prstGeom prst="rightArrow">
              <a:avLst>
                <a:gd name="adj1" fmla="val 50000"/>
                <a:gd name="adj2" fmla="val 29956"/>
              </a:avLst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1" name="Rectangle 85">
              <a:extLst>
                <a:ext uri="{FF2B5EF4-FFF2-40B4-BE49-F238E27FC236}">
                  <a16:creationId xmlns:a16="http://schemas.microsoft.com/office/drawing/2014/main" id="{289F8378-253C-99A6-F35E-93DD980DC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2" name="Rectangle 86">
              <a:extLst>
                <a:ext uri="{FF2B5EF4-FFF2-40B4-BE49-F238E27FC236}">
                  <a16:creationId xmlns:a16="http://schemas.microsoft.com/office/drawing/2014/main" id="{1E8DC1C5-891E-6B66-8120-A47E448E4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3" name="Rectangle 87">
              <a:extLst>
                <a:ext uri="{FF2B5EF4-FFF2-40B4-BE49-F238E27FC236}">
                  <a16:creationId xmlns:a16="http://schemas.microsoft.com/office/drawing/2014/main" id="{3B1EC2EE-28A5-0B38-7617-6FFE4C621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4" name="Rectangle 88">
              <a:extLst>
                <a:ext uri="{FF2B5EF4-FFF2-40B4-BE49-F238E27FC236}">
                  <a16:creationId xmlns:a16="http://schemas.microsoft.com/office/drawing/2014/main" id="{00370834-ADFF-3CCA-3A5B-8B7491E7F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5" name="Rectangle 89">
              <a:extLst>
                <a:ext uri="{FF2B5EF4-FFF2-40B4-BE49-F238E27FC236}">
                  <a16:creationId xmlns:a16="http://schemas.microsoft.com/office/drawing/2014/main" id="{3FF78AE1-5866-0B81-D077-9666E268C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6" name="Rectangle 90">
              <a:extLst>
                <a:ext uri="{FF2B5EF4-FFF2-40B4-BE49-F238E27FC236}">
                  <a16:creationId xmlns:a16="http://schemas.microsoft.com/office/drawing/2014/main" id="{244A76A7-9E06-13D0-C391-D99F63DB9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35734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7" name="Rectangle 92">
              <a:extLst>
                <a:ext uri="{FF2B5EF4-FFF2-40B4-BE49-F238E27FC236}">
                  <a16:creationId xmlns:a16="http://schemas.microsoft.com/office/drawing/2014/main" id="{CE144B63-79E8-89A5-E229-B43B8C4D7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8" name="Rectangle 97">
              <a:extLst>
                <a:ext uri="{FF2B5EF4-FFF2-40B4-BE49-F238E27FC236}">
                  <a16:creationId xmlns:a16="http://schemas.microsoft.com/office/drawing/2014/main" id="{16E04A04-1D15-6691-D0E9-1BB5AFFFF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19" name="Rectangle 99">
              <a:extLst>
                <a:ext uri="{FF2B5EF4-FFF2-40B4-BE49-F238E27FC236}">
                  <a16:creationId xmlns:a16="http://schemas.microsoft.com/office/drawing/2014/main" id="{BE59EBDE-87DE-0A3E-7CBF-93748AF8A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0" name="Rectangle 100">
              <a:extLst>
                <a:ext uri="{FF2B5EF4-FFF2-40B4-BE49-F238E27FC236}">
                  <a16:creationId xmlns:a16="http://schemas.microsoft.com/office/drawing/2014/main" id="{C8114267-90E3-9445-0D28-5555A9CAD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1" name="Rectangle 104">
              <a:extLst>
                <a:ext uri="{FF2B5EF4-FFF2-40B4-BE49-F238E27FC236}">
                  <a16:creationId xmlns:a16="http://schemas.microsoft.com/office/drawing/2014/main" id="{FF85AF51-C53C-1F74-2CAA-43F86C8FD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2" name="Rectangle 106">
              <a:extLst>
                <a:ext uri="{FF2B5EF4-FFF2-40B4-BE49-F238E27FC236}">
                  <a16:creationId xmlns:a16="http://schemas.microsoft.com/office/drawing/2014/main" id="{242A4969-310C-77C0-100E-66708F400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46529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3" name="Rectangle 107">
              <a:extLst>
                <a:ext uri="{FF2B5EF4-FFF2-40B4-BE49-F238E27FC236}">
                  <a16:creationId xmlns:a16="http://schemas.microsoft.com/office/drawing/2014/main" id="{46E16619-0259-9A91-BE57-2DAADBF7C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46529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4" name="Rectangle 111">
              <a:extLst>
                <a:ext uri="{FF2B5EF4-FFF2-40B4-BE49-F238E27FC236}">
                  <a16:creationId xmlns:a16="http://schemas.microsoft.com/office/drawing/2014/main" id="{2F6FE111-E7D3-0BEB-865B-09CDA1402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4652963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5" name="Rectangle 113">
              <a:extLst>
                <a:ext uri="{FF2B5EF4-FFF2-40B4-BE49-F238E27FC236}">
                  <a16:creationId xmlns:a16="http://schemas.microsoft.com/office/drawing/2014/main" id="{70FBA5E3-81FC-1077-41CD-C6893CB8F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6" name="Rectangle 114">
              <a:extLst>
                <a:ext uri="{FF2B5EF4-FFF2-40B4-BE49-F238E27FC236}">
                  <a16:creationId xmlns:a16="http://schemas.microsoft.com/office/drawing/2014/main" id="{98CC9990-0C25-5B27-64EA-EE4B5DF34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7" name="Rectangle 115">
              <a:extLst>
                <a:ext uri="{FF2B5EF4-FFF2-40B4-BE49-F238E27FC236}">
                  <a16:creationId xmlns:a16="http://schemas.microsoft.com/office/drawing/2014/main" id="{98A0981D-8FEC-F373-8E15-95ACD5602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8" name="Rectangle 118">
              <a:extLst>
                <a:ext uri="{FF2B5EF4-FFF2-40B4-BE49-F238E27FC236}">
                  <a16:creationId xmlns:a16="http://schemas.microsoft.com/office/drawing/2014/main" id="{9976BD82-60D8-3C7A-C380-8B8195C0E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29" name="Rectangle 120">
              <a:extLst>
                <a:ext uri="{FF2B5EF4-FFF2-40B4-BE49-F238E27FC236}">
                  <a16:creationId xmlns:a16="http://schemas.microsoft.com/office/drawing/2014/main" id="{EF18A359-A5C4-3ABF-5394-157875F07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9713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0" name="Rectangle 121">
              <a:extLst>
                <a:ext uri="{FF2B5EF4-FFF2-40B4-BE49-F238E27FC236}">
                  <a16:creationId xmlns:a16="http://schemas.microsoft.com/office/drawing/2014/main" id="{DE9F09DB-3973-2C88-9389-44F148A9A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1" name="Rectangle 122">
              <a:extLst>
                <a:ext uri="{FF2B5EF4-FFF2-40B4-BE49-F238E27FC236}">
                  <a16:creationId xmlns:a16="http://schemas.microsoft.com/office/drawing/2014/main" id="{4E330FCF-28BF-9363-C270-E12F7F036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2" name="Rectangle 123">
              <a:extLst>
                <a:ext uri="{FF2B5EF4-FFF2-40B4-BE49-F238E27FC236}">
                  <a16:creationId xmlns:a16="http://schemas.microsoft.com/office/drawing/2014/main" id="{7C37F806-2173-5665-AF2A-751668B05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3" name="Rectangle 124">
              <a:extLst>
                <a:ext uri="{FF2B5EF4-FFF2-40B4-BE49-F238E27FC236}">
                  <a16:creationId xmlns:a16="http://schemas.microsoft.com/office/drawing/2014/main" id="{CFD7CA6F-2ACF-ED6B-B6E3-BC9A9C277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4" name="Rectangle 125">
              <a:extLst>
                <a:ext uri="{FF2B5EF4-FFF2-40B4-BE49-F238E27FC236}">
                  <a16:creationId xmlns:a16="http://schemas.microsoft.com/office/drawing/2014/main" id="{67136072-3C96-432E-D580-2DB72DB43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9938" y="53736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5" name="Rectangle 101">
              <a:extLst>
                <a:ext uri="{FF2B5EF4-FFF2-40B4-BE49-F238E27FC236}">
                  <a16:creationId xmlns:a16="http://schemas.microsoft.com/office/drawing/2014/main" id="{C9D806E1-EE69-E587-83C8-F09B24B68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6" name="Rectangle 93">
              <a:extLst>
                <a:ext uri="{FF2B5EF4-FFF2-40B4-BE49-F238E27FC236}">
                  <a16:creationId xmlns:a16="http://schemas.microsoft.com/office/drawing/2014/main" id="{6097A156-C8AF-06B1-02AF-20FAFF17F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0075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7" name="Rectangle 94">
              <a:extLst>
                <a:ext uri="{FF2B5EF4-FFF2-40B4-BE49-F238E27FC236}">
                  <a16:creationId xmlns:a16="http://schemas.microsoft.com/office/drawing/2014/main" id="{0564AB8C-599A-F87D-E9A2-836AD1094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0438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8" name="Rectangle 95">
              <a:extLst>
                <a:ext uri="{FF2B5EF4-FFF2-40B4-BE49-F238E27FC236}">
                  <a16:creationId xmlns:a16="http://schemas.microsoft.com/office/drawing/2014/main" id="{17F47BDB-A94D-1139-922E-6E19E18BF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39338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39" name="Rectangle 109">
              <a:extLst>
                <a:ext uri="{FF2B5EF4-FFF2-40B4-BE49-F238E27FC236}">
                  <a16:creationId xmlns:a16="http://schemas.microsoft.com/office/drawing/2014/main" id="{B8666E81-E35B-81C9-7481-220E7ED63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4652962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40" name="Rectangle 116">
              <a:extLst>
                <a:ext uri="{FF2B5EF4-FFF2-40B4-BE49-F238E27FC236}">
                  <a16:creationId xmlns:a16="http://schemas.microsoft.com/office/drawing/2014/main" id="{9F229E6C-8F74-A095-B4AB-1732DADDF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41" name="Rectangle 117">
              <a:extLst>
                <a:ext uri="{FF2B5EF4-FFF2-40B4-BE49-F238E27FC236}">
                  <a16:creationId xmlns:a16="http://schemas.microsoft.com/office/drawing/2014/main" id="{7A5577B2-246A-60B7-3E3B-48F39C753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9575" y="5013325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  <p:sp>
          <p:nvSpPr>
            <p:cNvPr id="242" name="Rectangle 102">
              <a:extLst>
                <a:ext uri="{FF2B5EF4-FFF2-40B4-BE49-F238E27FC236}">
                  <a16:creationId xmlns:a16="http://schemas.microsoft.com/office/drawing/2014/main" id="{ED34223D-B544-7869-34E5-17BEC6803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0800" y="4294188"/>
              <a:ext cx="360363" cy="36036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zh-CN">
                <a:solidFill>
                  <a:srgbClr val="0000FF"/>
                </a:solidFill>
              </a:endParaRPr>
            </a:p>
          </p:txBody>
        </p:sp>
      </p:grp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7440DAD4-20C2-E4B2-A650-1DFD17BE0031}"/>
              </a:ext>
            </a:extLst>
          </p:cNvPr>
          <p:cNvCxnSpPr/>
          <p:nvPr/>
        </p:nvCxnSpPr>
        <p:spPr>
          <a:xfrm rot="5400000" flipH="1" flipV="1">
            <a:off x="2962070" y="6382106"/>
            <a:ext cx="2520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77E87B84-87F6-4E79-668F-313E109962F1}"/>
              </a:ext>
            </a:extLst>
          </p:cNvPr>
          <p:cNvCxnSpPr/>
          <p:nvPr/>
        </p:nvCxnSpPr>
        <p:spPr>
          <a:xfrm rot="16200000" flipV="1">
            <a:off x="2954670" y="5836954"/>
            <a:ext cx="2160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4B65FC1C-FF62-4544-0FF0-758A454B262B}"/>
              </a:ext>
            </a:extLst>
          </p:cNvPr>
          <p:cNvCxnSpPr/>
          <p:nvPr/>
        </p:nvCxnSpPr>
        <p:spPr>
          <a:xfrm rot="16200000" flipV="1">
            <a:off x="2214890" y="4721032"/>
            <a:ext cx="2160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D5206CEC-B2CD-8D6F-6801-D6F5F97A37E8}"/>
              </a:ext>
            </a:extLst>
          </p:cNvPr>
          <p:cNvCxnSpPr/>
          <p:nvPr/>
        </p:nvCxnSpPr>
        <p:spPr>
          <a:xfrm rot="16200000" flipV="1">
            <a:off x="2206952" y="4149528"/>
            <a:ext cx="216000" cy="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C2256DA0-ADD3-E2AE-CFE3-0C07CC880390}"/>
              </a:ext>
            </a:extLst>
          </p:cNvPr>
          <p:cNvCxnSpPr/>
          <p:nvPr/>
        </p:nvCxnSpPr>
        <p:spPr>
          <a:xfrm rot="5400000" flipH="1" flipV="1">
            <a:off x="2692632" y="3398586"/>
            <a:ext cx="395438" cy="395438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445BE32B-B859-4060-44EA-6EFE9BB8FB66}"/>
              </a:ext>
            </a:extLst>
          </p:cNvPr>
          <p:cNvCxnSpPr/>
          <p:nvPr/>
        </p:nvCxnSpPr>
        <p:spPr>
          <a:xfrm rot="10800000">
            <a:off x="2516566" y="5184536"/>
            <a:ext cx="428628" cy="285752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951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20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 tmFilter="0, 0; .2, .5; .8, .5; 1, 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1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1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1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18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18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1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78" grpId="0"/>
      <p:bldP spid="178" grpId="1"/>
      <p:bldP spid="179" grpId="0"/>
      <p:bldP spid="180" grpId="0"/>
      <p:bldP spid="181" grpId="0"/>
      <p:bldP spid="181" grpId="1"/>
      <p:bldP spid="182" grpId="0" animBg="1"/>
      <p:bldP spid="183" grpId="0" animBg="1"/>
      <p:bldP spid="184" grpId="0"/>
      <p:bldP spid="184" grpId="1"/>
      <p:bldP spid="185" grpId="0" animBg="1"/>
      <p:bldP spid="186" grpId="0"/>
      <p:bldP spid="186" grpId="1"/>
      <p:bldP spid="187" grpId="0" animBg="1"/>
      <p:bldP spid="188" grpId="0"/>
      <p:bldP spid="189" grpId="0" animBg="1"/>
      <p:bldP spid="190" grpId="0"/>
      <p:bldP spid="191" grpId="0" animBg="1"/>
      <p:bldP spid="192" grpId="0"/>
      <p:bldP spid="193" grpId="0"/>
      <p:bldP spid="193" grpId="1"/>
      <p:bldP spid="194" grpId="0" animBg="1"/>
      <p:bldP spid="195" grpId="0" animBg="1"/>
      <p:bldP spid="196" grpId="0"/>
      <p:bldP spid="197" grpId="0" animBg="1"/>
      <p:bldP spid="198" grpId="0" animBg="1"/>
      <p:bldP spid="199" grpId="0"/>
      <p:bldP spid="199" grpId="1"/>
      <p:bldP spid="200" grpId="0" animBg="1"/>
      <p:bldP spid="201" grpId="0"/>
      <p:bldP spid="201" grpId="1"/>
      <p:bldP spid="202" grpId="0"/>
      <p:bldP spid="20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7A7D-7CEA-D0A9-73EE-E55AEF93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6D18B3E-DFA5-F693-A26B-707A057C27B7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F469571-E5EE-65A8-8C14-11B831561389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B30ACC9-5724-C310-62CD-98051CA46E66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6C3116EA-CB03-3EA5-11EC-00BAA03E2D6B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1026">
            <a:extLst>
              <a:ext uri="{FF2B5EF4-FFF2-40B4-BE49-F238E27FC236}">
                <a16:creationId xmlns:a16="http://schemas.microsoft.com/office/drawing/2014/main" id="{0346C4F5-0B96-5DF5-4ADD-A8BB123D7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747" y="1935064"/>
            <a:ext cx="8120090" cy="3521166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216000" tIns="216000" bIns="21600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bool </a:t>
            </a:r>
            <a:r>
              <a:rPr lang="en-US" sz="1800">
                <a:solidFill>
                  <a:srgbClr val="FF0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mgpath1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(int xi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yi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xe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int ye)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搜索路径为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:(xi</a:t>
            </a:r>
            <a:r>
              <a:rPr lang="zh-CN" alt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yi) 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  <a:sym typeface="Wingdings"/>
              </a:rPr>
              <a:t> 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(xe</a:t>
            </a:r>
            <a:r>
              <a:rPr lang="zh-CN" alt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800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ye)</a:t>
            </a:r>
            <a:endParaRPr lang="zh-CN" altLang="en-US" sz="1800">
              <a:solidFill>
                <a:srgbClr val="00800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{  Box e;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int 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i1</a:t>
            </a:r>
            <a:r>
              <a:rPr lang="zh-CN" alt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j1;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QuType *qu;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定义顺序队指针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InitQueue(qu);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初始化队列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qu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e.i=xi; e.j=yi; e.pre=-1;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enQueue(qu,e);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//(xi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yi)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进队</a:t>
            </a:r>
          </a:p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mg[xi][yi]=-1;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将其赋值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-1,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以避免回过来重复搜索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702C882E-0E1C-9B98-339B-8E2017146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230" y="1292122"/>
            <a:ext cx="7072362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用队列求一条迷宫路径的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算法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：（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xi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，</a:t>
            </a:r>
            <a:r>
              <a:rPr lang="en-US" altLang="zh-CN" sz="20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yi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）</a:t>
            </a:r>
            <a:r>
              <a:rPr lang="zh-CN" altLang="en-US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</a:t>
            </a:r>
            <a:r>
              <a:rPr lang="zh-CN" altLang="en-US" sz="2000" dirty="0"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（</a:t>
            </a:r>
            <a:r>
              <a:rPr lang="en-US" altLang="zh-CN" sz="20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xe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ye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/>
              </a:rPr>
              <a:t>）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Wingdings" pitchFamily="2" charset="2"/>
              </a:rPr>
              <a:t> </a:t>
            </a:r>
            <a:endParaRPr lang="zh-CN" altLang="en-US" sz="2000" dirty="0">
              <a:solidFill>
                <a:srgbClr val="0000FF"/>
              </a:solidFill>
              <a:latin typeface="Consolas" pitchFamily="49" charset="0"/>
              <a:ea typeface="楷体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1407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51DD4-EFA4-0685-0642-7BC1467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8F412B5-9F3D-A0E1-017E-2F623BA82DF2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55A0018-B391-38AD-ACD5-654A149940FE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225CF63-499F-A6C4-589A-F70AEE3739FF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AE3E201-DBF4-D688-97C4-63059C06D76C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E70FA388-89A5-5ACB-6199-8F010FCDA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7868" y="2622896"/>
            <a:ext cx="8215370" cy="3542096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08000" bIns="10800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while (!QueueEmpty(qu))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队不空循环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	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deQueue(qu,e);	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出队方块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e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i=e.i;   j=e.j;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if (i==xe &amp;&amp; j==ye)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找到了出口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,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输出路径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{  dispapath(qu,qu-&gt;front);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调用</a:t>
            </a:r>
            <a:r>
              <a:rPr lang="en-US" altLang="zh-CN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dispapath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函数输出路径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DestroyQueue(qu);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销毁队列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return true;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找到一条路径时返回真</a:t>
            </a: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9709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84A9A-12A1-AD0D-C505-957A811C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384E9E8-B03D-011B-39B0-256F486CA98D}"/>
              </a:ext>
            </a:extLst>
          </p:cNvPr>
          <p:cNvSpPr/>
          <p:nvPr/>
        </p:nvSpPr>
        <p:spPr>
          <a:xfrm>
            <a:off x="691303" y="1185677"/>
            <a:ext cx="3244457" cy="523220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3.2.4 </a:t>
            </a:r>
            <a:r>
              <a:rPr lang="zh-CN" altLang="en-US" sz="2800" b="1" dirty="0">
                <a:solidFill>
                  <a:schemeClr val="bg1"/>
                </a:solidFill>
                <a:latin typeface="经典粗黑简" pitchFamily="49" charset="-122"/>
                <a:ea typeface="经典粗黑简" pitchFamily="49" charset="-122"/>
                <a:cs typeface="经典粗黑简" pitchFamily="49" charset="-122"/>
              </a:rPr>
              <a:t>队列的应用</a:t>
            </a:r>
            <a:endParaRPr lang="en-US" altLang="zh-CN" sz="2800" b="1" dirty="0">
              <a:solidFill>
                <a:schemeClr val="bg1"/>
              </a:solidFill>
              <a:latin typeface="经典粗黑简" pitchFamily="49" charset="-122"/>
              <a:ea typeface="经典粗黑简" pitchFamily="49" charset="-122"/>
              <a:cs typeface="经典粗黑简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E06EE8-5C88-3834-70A0-6EF87B050303}"/>
              </a:ext>
            </a:extLst>
          </p:cNvPr>
          <p:cNvSpPr txBox="1">
            <a:spLocks noChangeArrowheads="1"/>
          </p:cNvSpPr>
          <p:nvPr/>
        </p:nvSpPr>
        <p:spPr>
          <a:xfrm>
            <a:off x="3550669" y="383178"/>
            <a:ext cx="5090665" cy="55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latin typeface="黑体" pitchFamily="49" charset="-122"/>
                <a:ea typeface="黑体" pitchFamily="49" charset="-122"/>
                <a:cs typeface="+mn-cs"/>
              </a:rPr>
              <a:t>3.2 </a:t>
            </a:r>
            <a:r>
              <a:rPr lang="zh-CN" altLang="en-US" sz="3600" b="1" dirty="0">
                <a:latin typeface="黑体" pitchFamily="49" charset="-122"/>
                <a:ea typeface="黑体" pitchFamily="49" charset="-122"/>
                <a:cs typeface="+mn-cs"/>
              </a:rPr>
              <a:t>队列</a:t>
            </a:r>
            <a:endParaRPr lang="en-US" altLang="zh-CN" sz="3600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A3EA401-8344-F28A-32BD-2888981688E0}"/>
              </a:ext>
            </a:extLst>
          </p:cNvPr>
          <p:cNvCxnSpPr>
            <a:cxnSpLocks/>
          </p:cNvCxnSpPr>
          <p:nvPr/>
        </p:nvCxnSpPr>
        <p:spPr>
          <a:xfrm flipH="1">
            <a:off x="0" y="959509"/>
            <a:ext cx="12192000" cy="0"/>
          </a:xfrm>
          <a:prstGeom prst="line">
            <a:avLst/>
          </a:prstGeom>
          <a:ln w="22225" cmpd="sng">
            <a:solidFill>
              <a:srgbClr val="FF0000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8DFE1F6-D4CD-3DBB-9346-BE5B1CEC88D3}"/>
              </a:ext>
            </a:extLst>
          </p:cNvPr>
          <p:cNvSpPr txBox="1"/>
          <p:nvPr/>
        </p:nvSpPr>
        <p:spPr>
          <a:xfrm>
            <a:off x="1567868" y="1935064"/>
            <a:ext cx="2871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2. 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求解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迷宫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经典粗黑简" pitchFamily="49" charset="-122"/>
              </a:rPr>
              <a:t>问题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经典粗黑简" pitchFamily="49" charset="-122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881AAE58-3E12-2F70-C720-D7D6821B6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4712" y="1052736"/>
            <a:ext cx="6429420" cy="5728643"/>
          </a:xfrm>
          <a:prstGeom prst="rect">
            <a:avLst/>
          </a:prstGeom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80000" tIns="180000" bIns="144000">
            <a:spAutoFit/>
          </a:bodyPr>
          <a:lstStyle/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for (di=0;di&lt;4;di++)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循环扫描每个方位</a:t>
            </a:r>
            <a:endParaRPr lang="en-US" altLang="zh-CN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{	switch(di)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{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case 0:i1=i-1; j1=j;  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case 1:i1=i;   j1=j+1;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case 2:i1=i+1; j1=j;  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case 3:i1=i;   j1=j-1; break;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if (mg[i1][j1]==0)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{     e.i=i1;  e.j=j1; 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   e.pre=qu-&gt;front;	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enQueue(qu,e);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//(i1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，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j1)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方块进队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      mg[i1][j1]=-1;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将其赋值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-1</a:t>
            </a:r>
            <a:endParaRPr lang="zh-CN" altLang="en-US" sz="1800">
              <a:solidFill>
                <a:srgbClr val="00B0F0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	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   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</a:t>
            </a:r>
            <a:r>
              <a:rPr lang="en-US" sz="1800">
                <a:solidFill>
                  <a:srgbClr val="FF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DestroyQueue(qu);		</a:t>
            </a:r>
            <a:r>
              <a:rPr 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//</a:t>
            </a:r>
            <a:r>
              <a:rPr lang="zh-CN" altLang="en-US" sz="1800">
                <a:solidFill>
                  <a:srgbClr val="00B0F0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销毁队列</a:t>
            </a: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  return false;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  <a:p>
            <a:pPr algn="l"/>
            <a:r>
              <a:rPr lang="en-US" sz="1800">
                <a:solidFill>
                  <a:srgbClr val="0000FF"/>
                </a:solidFill>
                <a:latin typeface="Consolas" pitchFamily="49" charset="0"/>
                <a:ea typeface="仿宋" pitchFamily="49" charset="-122"/>
                <a:cs typeface="Consolas" pitchFamily="49" charset="0"/>
              </a:rPr>
              <a:t>}</a:t>
            </a:r>
            <a:endParaRPr lang="zh-CN" altLang="en-US" sz="1800">
              <a:solidFill>
                <a:srgbClr val="0000FF"/>
              </a:solidFill>
              <a:latin typeface="Consolas" pitchFamily="49" charset="0"/>
              <a:ea typeface="仿宋" pitchFamily="49" charset="-122"/>
              <a:cs typeface="Consolas" pitchFamily="49" charset="0"/>
            </a:endParaRPr>
          </a:p>
        </p:txBody>
      </p:sp>
      <p:grpSp>
        <p:nvGrpSpPr>
          <p:cNvPr id="6" name="组合 6">
            <a:extLst>
              <a:ext uri="{FF2B5EF4-FFF2-40B4-BE49-F238E27FC236}">
                <a16:creationId xmlns:a16="http://schemas.microsoft.com/office/drawing/2014/main" id="{F4EAE3B0-0BCE-DB4C-2AA1-5CB1A0AF27EB}"/>
              </a:ext>
            </a:extLst>
          </p:cNvPr>
          <p:cNvGrpSpPr/>
          <p:nvPr/>
        </p:nvGrpSpPr>
        <p:grpSpPr>
          <a:xfrm>
            <a:off x="10774616" y="987616"/>
            <a:ext cx="1154026" cy="4214842"/>
            <a:chOff x="7572396" y="526920"/>
            <a:chExt cx="778202" cy="4214842"/>
          </a:xfrm>
        </p:grpSpPr>
        <p:sp>
          <p:nvSpPr>
            <p:cNvPr id="7" name="TextBox 2">
              <a:extLst>
                <a:ext uri="{FF2B5EF4-FFF2-40B4-BE49-F238E27FC236}">
                  <a16:creationId xmlns:a16="http://schemas.microsoft.com/office/drawing/2014/main" id="{86875403-9E71-9D01-2CEF-1E343DBBC7BA}"/>
                </a:ext>
              </a:extLst>
            </p:cNvPr>
            <p:cNvSpPr txBox="1"/>
            <p:nvPr/>
          </p:nvSpPr>
          <p:spPr>
            <a:xfrm>
              <a:off x="7784060" y="526920"/>
              <a:ext cx="566538" cy="4214842"/>
            </a:xfrm>
            <a:prstGeom prst="rect">
              <a:avLst/>
            </a:prstGeom>
            <a:noFill/>
            <a:scene3d>
              <a:camera prst="perspectiveRight"/>
              <a:lightRig rig="threePt" dir="t"/>
            </a:scene3d>
          </p:spPr>
          <p:txBody>
            <a:bodyPr vert="eaVert" wrap="square" rtlCol="0">
              <a:noAutofit/>
            </a:bodyPr>
            <a:lstStyle/>
            <a:p>
              <a:pPr algn="l"/>
              <a:r>
                <a:rPr kumimoji="1" lang="zh-CN" altLang="en-US" sz="1800" spc="600" dirty="0">
                  <a:solidFill>
                    <a:srgbClr val="0000FF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把每个可走的方块插入队列中</a:t>
              </a:r>
              <a:endParaRPr lang="zh-CN" altLang="en-US" sz="1800" spc="6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77E5FF0E-861B-862F-4748-F05262028233}"/>
                </a:ext>
              </a:extLst>
            </p:cNvPr>
            <p:cNvSpPr/>
            <p:nvPr/>
          </p:nvSpPr>
          <p:spPr>
            <a:xfrm>
              <a:off x="7572396" y="750950"/>
              <a:ext cx="214314" cy="3678182"/>
            </a:xfrm>
            <a:prstGeom prst="rightBrace">
              <a:avLst/>
            </a:prstGeom>
            <a:ln w="28575">
              <a:solidFill>
                <a:srgbClr val="FF0000"/>
              </a:solidFill>
              <a:tailEnd type="none"/>
            </a:ln>
            <a:scene3d>
              <a:camera prst="perspectiveRight"/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815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4"/>
          <p:cNvSpPr txBox="1">
            <a:spLocks noChangeArrowheads="1"/>
          </p:cNvSpPr>
          <p:nvPr/>
        </p:nvSpPr>
        <p:spPr bwMode="auto">
          <a:xfrm>
            <a:off x="1919289" y="260350"/>
            <a:ext cx="8497887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对于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图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3.11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迷宫，求解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(1,1)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  <a:sym typeface="Symbol" pitchFamily="18" charset="2"/>
              </a:rPr>
              <a:t></a:t>
            </a:r>
            <a:r>
              <a:rPr lang="en-US" altLang="zh-CN" sz="2000" dirty="0">
                <a:solidFill>
                  <a:srgbClr val="FF0000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(8,8)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时队列</a:t>
            </a:r>
            <a:r>
              <a:rPr lang="en-US" altLang="zh-CN" sz="2000" dirty="0" err="1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qu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中结果如下：</a:t>
            </a:r>
          </a:p>
        </p:txBody>
      </p:sp>
      <p:graphicFrame>
        <p:nvGraphicFramePr>
          <p:cNvPr id="190498" name="Group 1058"/>
          <p:cNvGraphicFramePr>
            <a:graphicFrameLocks noGrp="1"/>
          </p:cNvGraphicFramePr>
          <p:nvPr/>
        </p:nvGraphicFramePr>
        <p:xfrm>
          <a:off x="1897056" y="908050"/>
          <a:ext cx="2484432" cy="5364480"/>
        </p:xfrm>
        <a:graphic>
          <a:graphicData uri="http://schemas.openxmlformats.org/drawingml/2006/table">
            <a:tbl>
              <a:tblPr/>
              <a:tblGrid>
                <a:gridCol w="621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下标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i</a:t>
                      </a:r>
                      <a:endParaRPr kumimoji="1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pre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-1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4" name="Group 546"/>
          <p:cNvGraphicFramePr>
            <a:graphicFrameLocks noGrp="1"/>
          </p:cNvGraphicFramePr>
          <p:nvPr/>
        </p:nvGraphicFramePr>
        <p:xfrm>
          <a:off x="4667240" y="922040"/>
          <a:ext cx="2522536" cy="5364480"/>
        </p:xfrm>
        <a:graphic>
          <a:graphicData uri="http://schemas.openxmlformats.org/drawingml/2006/table">
            <a:tbl>
              <a:tblPr/>
              <a:tblGrid>
                <a:gridCol w="630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下标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i</a:t>
                      </a:r>
                      <a:endParaRPr kumimoji="1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pre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5" name="Group 304"/>
          <p:cNvGraphicFramePr>
            <a:graphicFrameLocks noGrp="1"/>
          </p:cNvGraphicFramePr>
          <p:nvPr/>
        </p:nvGraphicFramePr>
        <p:xfrm>
          <a:off x="7524760" y="928670"/>
          <a:ext cx="2643208" cy="4023360"/>
        </p:xfrm>
        <a:graphic>
          <a:graphicData uri="http://schemas.openxmlformats.org/drawingml/2006/table">
            <a:tbl>
              <a:tblPr/>
              <a:tblGrid>
                <a:gridCol w="660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下标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i</a:t>
                      </a:r>
                      <a:endParaRPr kumimoji="1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Consolas" pitchFamily="49" charset="0"/>
                        <a:ea typeface="楷体" pitchFamily="49" charset="-122"/>
                        <a:cs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pre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nsolas" pitchFamily="49" charset="0"/>
                          <a:ea typeface="楷体" pitchFamily="49" charset="-122"/>
                          <a:cs typeface="Consolas" pitchFamily="49" charset="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570798" y="4584708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570798" y="2928934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570798" y="1259510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4633902" y="5272738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860520" y="1915152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633902" y="4286256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4633902" y="3571876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4633902" y="2889884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633902" y="1903402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1860520" y="5559440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860520" y="4571058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860520" y="3902716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860520" y="3247074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1860520" y="2571744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860520" y="1214422"/>
          <a:ext cx="2571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2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-1</a:t>
                      </a:r>
                      <a:endParaRPr lang="zh-CN" altLang="en-US" dirty="0"/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直接箭头连接符 22"/>
          <p:cNvCxnSpPr/>
          <p:nvPr/>
        </p:nvCxnSpPr>
        <p:spPr>
          <a:xfrm rot="10800000">
            <a:off x="8096264" y="3143248"/>
            <a:ext cx="1928826" cy="16430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rot="10800000">
            <a:off x="8121664" y="1474774"/>
            <a:ext cx="1857388" cy="164307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rot="10800000" flipV="1">
            <a:off x="5167306" y="1500174"/>
            <a:ext cx="4429156" cy="400052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rot="10800000">
            <a:off x="5095868" y="4500570"/>
            <a:ext cx="2000264" cy="100013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rot="10800000">
            <a:off x="5121268" y="3773490"/>
            <a:ext cx="1928826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rot="10800000">
            <a:off x="5095868" y="3071810"/>
            <a:ext cx="1928826" cy="64294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rot="10800000">
            <a:off x="5095868" y="2143116"/>
            <a:ext cx="2000264" cy="92869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rot="10800000" flipV="1">
            <a:off x="2381224" y="2143116"/>
            <a:ext cx="4643470" cy="364333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rot="10800000">
            <a:off x="2381224" y="4786322"/>
            <a:ext cx="1928826" cy="92869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rot="10800000">
            <a:off x="2309786" y="4071942"/>
            <a:ext cx="2000264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rot="10800000">
            <a:off x="2309786" y="3500438"/>
            <a:ext cx="2000264" cy="64294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rot="10800000">
            <a:off x="2309786" y="2786058"/>
            <a:ext cx="2000264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rot="10800000">
            <a:off x="2309786" y="2143116"/>
            <a:ext cx="2000264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rot="10800000">
            <a:off x="2381224" y="1428736"/>
            <a:ext cx="1857388" cy="71438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48" name="Text Box 279"/>
          <p:cNvSpPr txBox="1">
            <a:spLocks noChangeArrowheads="1"/>
          </p:cNvSpPr>
          <p:nvPr/>
        </p:nvSpPr>
        <p:spPr bwMode="auto">
          <a:xfrm>
            <a:off x="2238348" y="1571613"/>
            <a:ext cx="4857784" cy="1323439"/>
          </a:xfrm>
          <a:prstGeom prst="rect">
            <a:avLst/>
          </a:prstGeom>
          <a:ln>
            <a:headEnd/>
            <a:tailEnd/>
          </a:ln>
          <a:scene3d>
            <a:camera prst="perspectiveRight"/>
            <a:lightRig rig="threePt" dir="t"/>
          </a:scene3d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zh-CN" altLang="en-US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迷宫路径如下</a:t>
            </a:r>
            <a:r>
              <a:rPr lang="en-US" altLang="zh-CN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:</a:t>
            </a:r>
          </a:p>
          <a:p>
            <a:pPr algn="l"/>
            <a:r>
              <a:rPr lang="zh-CN" altLang="en-US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　  </a:t>
            </a:r>
            <a:r>
              <a:rPr lang="en-US" altLang="zh-CN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(1,1) (2,1) (3,1) (4,1) (5,1)</a:t>
            </a:r>
          </a:p>
          <a:p>
            <a:pPr algn="l"/>
            <a:r>
              <a:rPr lang="en-US" altLang="zh-CN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(5,2) (5,3) (6,3) (6,4) (6,5)</a:t>
            </a:r>
          </a:p>
          <a:p>
            <a:pPr algn="l"/>
            <a:r>
              <a:rPr lang="en-US" altLang="zh-CN" sz="2000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(7,5) (8,5) (8,6) (8,7) (8,8)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19289" y="285729"/>
            <a:ext cx="2747952" cy="43088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>
              <a:buFontTx/>
              <a:buBlip>
                <a:blip r:embed="rId2"/>
              </a:buBlip>
            </a:pPr>
            <a:r>
              <a:rPr lang="en-US" altLang="zh-CN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</a:rPr>
              <a:t>  </a:t>
            </a:r>
            <a:r>
              <a:rPr lang="zh-CN" altLang="en-US" sz="22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方正细珊瑚简体" pitchFamily="65" charset="-122"/>
                <a:ea typeface="方正细珊瑚简体" pitchFamily="65" charset="-122"/>
              </a:rPr>
              <a:t>运行结果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128844" y="928670"/>
            <a:ext cx="4895850" cy="40011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对于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图</a:t>
            </a:r>
            <a:r>
              <a:rPr lang="en-US" altLang="zh-CN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3.11</a:t>
            </a:r>
            <a:r>
              <a:rPr lang="zh-CN" altLang="en-US" sz="200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的</a:t>
            </a:r>
            <a:r>
              <a:rPr lang="zh-CN" altLang="en-US" sz="2000" dirty="0">
                <a:solidFill>
                  <a:srgbClr val="0000FF"/>
                </a:solidFill>
                <a:latin typeface="Consolas" pitchFamily="49" charset="0"/>
                <a:ea typeface="楷体" pitchFamily="49" charset="-122"/>
                <a:cs typeface="Consolas" pitchFamily="49" charset="0"/>
              </a:rPr>
              <a:t>迷宫，求解结果如下：</a:t>
            </a:r>
          </a:p>
        </p:txBody>
      </p:sp>
      <p:grpSp>
        <p:nvGrpSpPr>
          <p:cNvPr id="2" name="组合 8"/>
          <p:cNvGrpSpPr>
            <a:grpSpLocks noChangeAspect="1"/>
          </p:cNvGrpSpPr>
          <p:nvPr/>
        </p:nvGrpSpPr>
        <p:grpSpPr>
          <a:xfrm>
            <a:off x="2880040" y="3631904"/>
            <a:ext cx="2858770" cy="2868930"/>
            <a:chOff x="1212851" y="1430063"/>
            <a:chExt cx="3573463" cy="3586163"/>
          </a:xfrm>
        </p:grpSpPr>
        <p:sp>
          <p:nvSpPr>
            <p:cNvPr id="10" name="Rectangle 2"/>
            <p:cNvSpPr>
              <a:spLocks noChangeArrowheads="1"/>
            </p:cNvSpPr>
            <p:nvPr/>
          </p:nvSpPr>
          <p:spPr bwMode="auto">
            <a:xfrm>
              <a:off x="1212851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1571626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1919289" y="14300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2281239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2640014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2987676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3346451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4068764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3706814" y="14300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427539" y="14300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1212851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1571626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1919289" y="178883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2281239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2640014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2987676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6" name="Rectangle 18"/>
            <p:cNvSpPr>
              <a:spLocks noChangeArrowheads="1"/>
            </p:cNvSpPr>
            <p:nvPr/>
          </p:nvSpPr>
          <p:spPr bwMode="auto">
            <a:xfrm>
              <a:off x="3346451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7" name="Rectangle 19"/>
            <p:cNvSpPr>
              <a:spLocks noChangeArrowheads="1"/>
            </p:cNvSpPr>
            <p:nvPr/>
          </p:nvSpPr>
          <p:spPr bwMode="auto">
            <a:xfrm>
              <a:off x="4068764" y="178883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3706814" y="178883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4427539" y="178883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1212851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1" name="Rectangle 23"/>
            <p:cNvSpPr>
              <a:spLocks noChangeArrowheads="1"/>
            </p:cNvSpPr>
            <p:nvPr/>
          </p:nvSpPr>
          <p:spPr bwMode="auto">
            <a:xfrm>
              <a:off x="1571626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2" name="Rectangle 24"/>
            <p:cNvSpPr>
              <a:spLocks noChangeArrowheads="1"/>
            </p:cNvSpPr>
            <p:nvPr/>
          </p:nvSpPr>
          <p:spPr bwMode="auto">
            <a:xfrm>
              <a:off x="1919289" y="214920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3" name="Rectangle 25"/>
            <p:cNvSpPr>
              <a:spLocks noChangeArrowheads="1"/>
            </p:cNvSpPr>
            <p:nvPr/>
          </p:nvSpPr>
          <p:spPr bwMode="auto">
            <a:xfrm>
              <a:off x="2281239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4" name="Rectangle 26"/>
            <p:cNvSpPr>
              <a:spLocks noChangeArrowheads="1"/>
            </p:cNvSpPr>
            <p:nvPr/>
          </p:nvSpPr>
          <p:spPr bwMode="auto">
            <a:xfrm>
              <a:off x="2640014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5" name="Rectangle 27"/>
            <p:cNvSpPr>
              <a:spLocks noChangeArrowheads="1"/>
            </p:cNvSpPr>
            <p:nvPr/>
          </p:nvSpPr>
          <p:spPr bwMode="auto">
            <a:xfrm>
              <a:off x="2987676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6" name="Rectangle 28"/>
            <p:cNvSpPr>
              <a:spLocks noChangeArrowheads="1"/>
            </p:cNvSpPr>
            <p:nvPr/>
          </p:nvSpPr>
          <p:spPr bwMode="auto">
            <a:xfrm>
              <a:off x="3346451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4068764" y="214920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3706814" y="214920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4427539" y="214920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1212851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1571626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1919289" y="25095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2281239" y="2509563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2640014" y="2509563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2987676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346451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7" name="Rectangle 39"/>
            <p:cNvSpPr>
              <a:spLocks noChangeArrowheads="1"/>
            </p:cNvSpPr>
            <p:nvPr/>
          </p:nvSpPr>
          <p:spPr bwMode="auto">
            <a:xfrm>
              <a:off x="4068764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3706814" y="2509563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4427539" y="2509563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1212851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1" name="Rectangle 43"/>
            <p:cNvSpPr>
              <a:spLocks noChangeArrowheads="1"/>
            </p:cNvSpPr>
            <p:nvPr/>
          </p:nvSpPr>
          <p:spPr bwMode="auto">
            <a:xfrm>
              <a:off x="1571626" y="2862560"/>
              <a:ext cx="358775" cy="391542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2" name="Rectangle 44"/>
            <p:cNvSpPr>
              <a:spLocks noChangeArrowheads="1"/>
            </p:cNvSpPr>
            <p:nvPr/>
          </p:nvSpPr>
          <p:spPr bwMode="auto">
            <a:xfrm>
              <a:off x="1919289" y="28572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3" name="Rectangle 45"/>
            <p:cNvSpPr>
              <a:spLocks noChangeArrowheads="1"/>
            </p:cNvSpPr>
            <p:nvPr/>
          </p:nvSpPr>
          <p:spPr bwMode="auto">
            <a:xfrm>
              <a:off x="2281239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40014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5" name="Rectangle 47"/>
            <p:cNvSpPr>
              <a:spLocks noChangeArrowheads="1"/>
            </p:cNvSpPr>
            <p:nvPr/>
          </p:nvSpPr>
          <p:spPr bwMode="auto">
            <a:xfrm>
              <a:off x="2987676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6" name="Rectangle 48"/>
            <p:cNvSpPr>
              <a:spLocks noChangeArrowheads="1"/>
            </p:cNvSpPr>
            <p:nvPr/>
          </p:nvSpPr>
          <p:spPr bwMode="auto">
            <a:xfrm>
              <a:off x="3346451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7" name="Rectangle 49"/>
            <p:cNvSpPr>
              <a:spLocks noChangeArrowheads="1"/>
            </p:cNvSpPr>
            <p:nvPr/>
          </p:nvSpPr>
          <p:spPr bwMode="auto">
            <a:xfrm>
              <a:off x="4068764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8" name="Rectangle 50"/>
            <p:cNvSpPr>
              <a:spLocks noChangeArrowheads="1"/>
            </p:cNvSpPr>
            <p:nvPr/>
          </p:nvSpPr>
          <p:spPr bwMode="auto">
            <a:xfrm>
              <a:off x="3706814" y="28572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59" name="Rectangle 51"/>
            <p:cNvSpPr>
              <a:spLocks noChangeArrowheads="1"/>
            </p:cNvSpPr>
            <p:nvPr/>
          </p:nvSpPr>
          <p:spPr bwMode="auto">
            <a:xfrm>
              <a:off x="4427539" y="28572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0" name="Rectangle 52"/>
            <p:cNvSpPr>
              <a:spLocks noChangeArrowheads="1"/>
            </p:cNvSpPr>
            <p:nvPr/>
          </p:nvSpPr>
          <p:spPr bwMode="auto">
            <a:xfrm>
              <a:off x="1212851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1" name="Rectangle 53"/>
            <p:cNvSpPr>
              <a:spLocks noChangeArrowheads="1"/>
            </p:cNvSpPr>
            <p:nvPr/>
          </p:nvSpPr>
          <p:spPr bwMode="auto">
            <a:xfrm>
              <a:off x="1571626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1919289" y="321758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2281239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4" name="Rectangle 56"/>
            <p:cNvSpPr>
              <a:spLocks noChangeArrowheads="1"/>
            </p:cNvSpPr>
            <p:nvPr/>
          </p:nvSpPr>
          <p:spPr bwMode="auto">
            <a:xfrm>
              <a:off x="2640014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5" name="Rectangle 57"/>
            <p:cNvSpPr>
              <a:spLocks noChangeArrowheads="1"/>
            </p:cNvSpPr>
            <p:nvPr/>
          </p:nvSpPr>
          <p:spPr bwMode="auto">
            <a:xfrm>
              <a:off x="2987676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6" name="Rectangle 58"/>
            <p:cNvSpPr>
              <a:spLocks noChangeArrowheads="1"/>
            </p:cNvSpPr>
            <p:nvPr/>
          </p:nvSpPr>
          <p:spPr bwMode="auto">
            <a:xfrm>
              <a:off x="3346451" y="32175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7" name="Rectangle 59"/>
            <p:cNvSpPr>
              <a:spLocks noChangeArrowheads="1"/>
            </p:cNvSpPr>
            <p:nvPr/>
          </p:nvSpPr>
          <p:spPr bwMode="auto">
            <a:xfrm>
              <a:off x="4068764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8" name="Rectangle 60"/>
            <p:cNvSpPr>
              <a:spLocks noChangeArrowheads="1"/>
            </p:cNvSpPr>
            <p:nvPr/>
          </p:nvSpPr>
          <p:spPr bwMode="auto">
            <a:xfrm>
              <a:off x="3706814" y="3217588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9" name="Rectangle 61"/>
            <p:cNvSpPr>
              <a:spLocks noChangeArrowheads="1"/>
            </p:cNvSpPr>
            <p:nvPr/>
          </p:nvSpPr>
          <p:spPr bwMode="auto">
            <a:xfrm>
              <a:off x="4427539" y="32175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0" name="Rectangle 62"/>
            <p:cNvSpPr>
              <a:spLocks noChangeArrowheads="1"/>
            </p:cNvSpPr>
            <p:nvPr/>
          </p:nvSpPr>
          <p:spPr bwMode="auto">
            <a:xfrm>
              <a:off x="1212851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1" name="Rectangle 63"/>
            <p:cNvSpPr>
              <a:spLocks noChangeArrowheads="1"/>
            </p:cNvSpPr>
            <p:nvPr/>
          </p:nvSpPr>
          <p:spPr bwMode="auto">
            <a:xfrm>
              <a:off x="1571626" y="3577951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2" name="Rectangle 64"/>
            <p:cNvSpPr>
              <a:spLocks noChangeArrowheads="1"/>
            </p:cNvSpPr>
            <p:nvPr/>
          </p:nvSpPr>
          <p:spPr bwMode="auto">
            <a:xfrm>
              <a:off x="1919289" y="35779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3" name="Rectangle 65"/>
            <p:cNvSpPr>
              <a:spLocks noChangeArrowheads="1"/>
            </p:cNvSpPr>
            <p:nvPr/>
          </p:nvSpPr>
          <p:spPr bwMode="auto">
            <a:xfrm>
              <a:off x="2281239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4" name="Rectangle 66"/>
            <p:cNvSpPr>
              <a:spLocks noChangeArrowheads="1"/>
            </p:cNvSpPr>
            <p:nvPr/>
          </p:nvSpPr>
          <p:spPr bwMode="auto">
            <a:xfrm>
              <a:off x="2640014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5" name="Rectangle 67"/>
            <p:cNvSpPr>
              <a:spLocks noChangeArrowheads="1"/>
            </p:cNvSpPr>
            <p:nvPr/>
          </p:nvSpPr>
          <p:spPr bwMode="auto">
            <a:xfrm>
              <a:off x="2987676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6" name="Rectangle 68"/>
            <p:cNvSpPr>
              <a:spLocks noChangeArrowheads="1"/>
            </p:cNvSpPr>
            <p:nvPr/>
          </p:nvSpPr>
          <p:spPr bwMode="auto">
            <a:xfrm>
              <a:off x="3346451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7" name="Rectangle 69"/>
            <p:cNvSpPr>
              <a:spLocks noChangeArrowheads="1"/>
            </p:cNvSpPr>
            <p:nvPr/>
          </p:nvSpPr>
          <p:spPr bwMode="auto">
            <a:xfrm>
              <a:off x="4068764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8" name="Rectangle 70"/>
            <p:cNvSpPr>
              <a:spLocks noChangeArrowheads="1"/>
            </p:cNvSpPr>
            <p:nvPr/>
          </p:nvSpPr>
          <p:spPr bwMode="auto">
            <a:xfrm>
              <a:off x="3706814" y="3577951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79" name="Rectangle 71"/>
            <p:cNvSpPr>
              <a:spLocks noChangeArrowheads="1"/>
            </p:cNvSpPr>
            <p:nvPr/>
          </p:nvSpPr>
          <p:spPr bwMode="auto">
            <a:xfrm>
              <a:off x="4427539" y="35779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1212851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1571626" y="3936726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2" name="Rectangle 74"/>
            <p:cNvSpPr>
              <a:spLocks noChangeArrowheads="1"/>
            </p:cNvSpPr>
            <p:nvPr/>
          </p:nvSpPr>
          <p:spPr bwMode="auto">
            <a:xfrm>
              <a:off x="1919289" y="39367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3" name="Rectangle 75"/>
            <p:cNvSpPr>
              <a:spLocks noChangeArrowheads="1"/>
            </p:cNvSpPr>
            <p:nvPr/>
          </p:nvSpPr>
          <p:spPr bwMode="auto">
            <a:xfrm>
              <a:off x="2281239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4" name="Rectangle 76"/>
            <p:cNvSpPr>
              <a:spLocks noChangeArrowheads="1"/>
            </p:cNvSpPr>
            <p:nvPr/>
          </p:nvSpPr>
          <p:spPr bwMode="auto">
            <a:xfrm>
              <a:off x="2640014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5" name="Rectangle 77"/>
            <p:cNvSpPr>
              <a:spLocks noChangeArrowheads="1"/>
            </p:cNvSpPr>
            <p:nvPr/>
          </p:nvSpPr>
          <p:spPr bwMode="auto">
            <a:xfrm>
              <a:off x="2987676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6" name="Rectangle 78"/>
            <p:cNvSpPr>
              <a:spLocks noChangeArrowheads="1"/>
            </p:cNvSpPr>
            <p:nvPr/>
          </p:nvSpPr>
          <p:spPr bwMode="auto">
            <a:xfrm>
              <a:off x="3346451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7" name="Rectangle 79"/>
            <p:cNvSpPr>
              <a:spLocks noChangeArrowheads="1"/>
            </p:cNvSpPr>
            <p:nvPr/>
          </p:nvSpPr>
          <p:spPr bwMode="auto">
            <a:xfrm>
              <a:off x="4068764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3706814" y="3936726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89" name="Rectangle 81"/>
            <p:cNvSpPr>
              <a:spLocks noChangeArrowheads="1"/>
            </p:cNvSpPr>
            <p:nvPr/>
          </p:nvSpPr>
          <p:spPr bwMode="auto">
            <a:xfrm>
              <a:off x="4427539" y="3936726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0" name="Rectangle 82"/>
            <p:cNvSpPr>
              <a:spLocks noChangeArrowheads="1"/>
            </p:cNvSpPr>
            <p:nvPr/>
          </p:nvSpPr>
          <p:spPr bwMode="auto">
            <a:xfrm>
              <a:off x="1212851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1" name="Rectangle 83"/>
            <p:cNvSpPr>
              <a:spLocks noChangeArrowheads="1"/>
            </p:cNvSpPr>
            <p:nvPr/>
          </p:nvSpPr>
          <p:spPr bwMode="auto">
            <a:xfrm>
              <a:off x="1571626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2" name="Rectangle 84"/>
            <p:cNvSpPr>
              <a:spLocks noChangeArrowheads="1"/>
            </p:cNvSpPr>
            <p:nvPr/>
          </p:nvSpPr>
          <p:spPr bwMode="auto">
            <a:xfrm>
              <a:off x="1919289" y="4297088"/>
              <a:ext cx="361950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3" name="Rectangle 85"/>
            <p:cNvSpPr>
              <a:spLocks noChangeArrowheads="1"/>
            </p:cNvSpPr>
            <p:nvPr/>
          </p:nvSpPr>
          <p:spPr bwMode="auto">
            <a:xfrm>
              <a:off x="2281239" y="42970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4" name="Rectangle 86"/>
            <p:cNvSpPr>
              <a:spLocks noChangeArrowheads="1"/>
            </p:cNvSpPr>
            <p:nvPr/>
          </p:nvSpPr>
          <p:spPr bwMode="auto">
            <a:xfrm>
              <a:off x="2640014" y="4297088"/>
              <a:ext cx="358775" cy="3587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/>
              <a:endParaRPr lang="zh-CN" altLang="zh-CN" sz="2000"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5" name="Rectangle 87"/>
            <p:cNvSpPr>
              <a:spLocks noChangeArrowheads="1"/>
            </p:cNvSpPr>
            <p:nvPr/>
          </p:nvSpPr>
          <p:spPr bwMode="auto">
            <a:xfrm>
              <a:off x="2987676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6" name="Rectangle 88"/>
            <p:cNvSpPr>
              <a:spLocks noChangeArrowheads="1"/>
            </p:cNvSpPr>
            <p:nvPr/>
          </p:nvSpPr>
          <p:spPr bwMode="auto">
            <a:xfrm>
              <a:off x="3346451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7" name="Rectangle 89"/>
            <p:cNvSpPr>
              <a:spLocks noChangeArrowheads="1"/>
            </p:cNvSpPr>
            <p:nvPr/>
          </p:nvSpPr>
          <p:spPr bwMode="auto">
            <a:xfrm>
              <a:off x="4068764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8" name="Rectangle 90"/>
            <p:cNvSpPr>
              <a:spLocks noChangeArrowheads="1"/>
            </p:cNvSpPr>
            <p:nvPr/>
          </p:nvSpPr>
          <p:spPr bwMode="auto">
            <a:xfrm>
              <a:off x="3706814" y="4297088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99" name="Rectangle 91"/>
            <p:cNvSpPr>
              <a:spLocks noChangeArrowheads="1"/>
            </p:cNvSpPr>
            <p:nvPr/>
          </p:nvSpPr>
          <p:spPr bwMode="auto">
            <a:xfrm>
              <a:off x="4427539" y="4297088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0" name="Rectangle 92"/>
            <p:cNvSpPr>
              <a:spLocks noChangeArrowheads="1"/>
            </p:cNvSpPr>
            <p:nvPr/>
          </p:nvSpPr>
          <p:spPr bwMode="auto">
            <a:xfrm>
              <a:off x="1212851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1" name="Rectangle 93"/>
            <p:cNvSpPr>
              <a:spLocks noChangeArrowheads="1"/>
            </p:cNvSpPr>
            <p:nvPr/>
          </p:nvSpPr>
          <p:spPr bwMode="auto">
            <a:xfrm>
              <a:off x="1571626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2" name="Rectangle 94"/>
            <p:cNvSpPr>
              <a:spLocks noChangeArrowheads="1"/>
            </p:cNvSpPr>
            <p:nvPr/>
          </p:nvSpPr>
          <p:spPr bwMode="auto">
            <a:xfrm>
              <a:off x="1919289" y="46574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3" name="Rectangle 95"/>
            <p:cNvSpPr>
              <a:spLocks noChangeArrowheads="1"/>
            </p:cNvSpPr>
            <p:nvPr/>
          </p:nvSpPr>
          <p:spPr bwMode="auto">
            <a:xfrm>
              <a:off x="2281239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4" name="Rectangle 96"/>
            <p:cNvSpPr>
              <a:spLocks noChangeArrowheads="1"/>
            </p:cNvSpPr>
            <p:nvPr/>
          </p:nvSpPr>
          <p:spPr bwMode="auto">
            <a:xfrm>
              <a:off x="2640014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5" name="Rectangle 97"/>
            <p:cNvSpPr>
              <a:spLocks noChangeArrowheads="1"/>
            </p:cNvSpPr>
            <p:nvPr/>
          </p:nvSpPr>
          <p:spPr bwMode="auto">
            <a:xfrm>
              <a:off x="2987676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6" name="Rectangle 98"/>
            <p:cNvSpPr>
              <a:spLocks noChangeArrowheads="1"/>
            </p:cNvSpPr>
            <p:nvPr/>
          </p:nvSpPr>
          <p:spPr bwMode="auto">
            <a:xfrm>
              <a:off x="3346451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7" name="Rectangle 99"/>
            <p:cNvSpPr>
              <a:spLocks noChangeArrowheads="1"/>
            </p:cNvSpPr>
            <p:nvPr/>
          </p:nvSpPr>
          <p:spPr bwMode="auto">
            <a:xfrm>
              <a:off x="4068764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8" name="Rectangle 100"/>
            <p:cNvSpPr>
              <a:spLocks noChangeArrowheads="1"/>
            </p:cNvSpPr>
            <p:nvPr/>
          </p:nvSpPr>
          <p:spPr bwMode="auto">
            <a:xfrm>
              <a:off x="3706814" y="4657451"/>
              <a:ext cx="361950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sp>
          <p:nvSpPr>
            <p:cNvPr id="109" name="Rectangle 101"/>
            <p:cNvSpPr>
              <a:spLocks noChangeArrowheads="1"/>
            </p:cNvSpPr>
            <p:nvPr/>
          </p:nvSpPr>
          <p:spPr bwMode="auto">
            <a:xfrm>
              <a:off x="4427539" y="4657451"/>
              <a:ext cx="358775" cy="3587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l"/>
              <a:endParaRPr lang="zh-CN" altLang="zh-CN" sz="2000">
                <a:solidFill>
                  <a:schemeClr val="tx1"/>
                </a:solidFill>
                <a:latin typeface="Arial" charset="0"/>
                <a:ea typeface="宋体" pitchFamily="2" charset="-122"/>
              </a:endParaRPr>
            </a:p>
          </p:txBody>
        </p:sp>
        <p:cxnSp>
          <p:nvCxnSpPr>
            <p:cNvPr id="110" name="直接连接符 109"/>
            <p:cNvCxnSpPr/>
            <p:nvPr/>
          </p:nvCxnSpPr>
          <p:spPr>
            <a:xfrm rot="5400000">
              <a:off x="986710" y="2658372"/>
              <a:ext cx="1541256" cy="1588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1757338" y="3429000"/>
              <a:ext cx="71438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rot="5400000">
              <a:off x="2291718" y="3609000"/>
              <a:ext cx="36000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471718" y="3786190"/>
              <a:ext cx="71438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rot="5400000">
              <a:off x="2828908" y="4143380"/>
              <a:ext cx="71438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3186098" y="4500570"/>
              <a:ext cx="1071570" cy="1588"/>
            </a:xfrm>
            <a:prstGeom prst="line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Text Box 117"/>
          <p:cNvSpPr txBox="1">
            <a:spLocks noChangeArrowheads="1"/>
          </p:cNvSpPr>
          <p:nvPr/>
        </p:nvSpPr>
        <p:spPr bwMode="auto">
          <a:xfrm>
            <a:off x="6024562" y="4500570"/>
            <a:ext cx="3714776" cy="707886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显然，这个解是最优解，即是最短</a:t>
            </a:r>
            <a:r>
              <a:rPr lang="zh-CN" altLang="en-US" sz="200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路径。为什么？</a:t>
            </a:r>
            <a:endParaRPr lang="zh-CN" altLang="en-US" sz="2000" dirty="0">
              <a:solidFill>
                <a:srgbClr val="FF0000"/>
              </a:solidFill>
              <a:latin typeface="华文中宋" pitchFamily="2" charset="-122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17" name="下箭头 116"/>
          <p:cNvSpPr/>
          <p:nvPr/>
        </p:nvSpPr>
        <p:spPr bwMode="auto">
          <a:xfrm>
            <a:off x="4024298" y="3000372"/>
            <a:ext cx="214314" cy="357190"/>
          </a:xfrm>
          <a:prstGeom prst="downArrow">
            <a:avLst/>
          </a:prstGeom>
          <a:ln>
            <a:headEnd/>
            <a:tailEnd type="triangl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endParaRPr lang="zh-CN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2556</TotalTime>
  <Words>8939</Words>
  <Application>Microsoft Office PowerPoint</Application>
  <PresentationFormat>宽屏</PresentationFormat>
  <Paragraphs>2131</Paragraphs>
  <Slides>71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87" baseType="lpstr">
      <vt:lpstr>方正启体简体</vt:lpstr>
      <vt:lpstr>方正细珊瑚简体</vt:lpstr>
      <vt:lpstr>仿宋</vt:lpstr>
      <vt:lpstr>黑体</vt:lpstr>
      <vt:lpstr>华文中宋</vt:lpstr>
      <vt:lpstr>经典粗黑简</vt:lpstr>
      <vt:lpstr>楷体</vt:lpstr>
      <vt:lpstr>楷体_GB2312</vt:lpstr>
      <vt:lpstr>宋体</vt:lpstr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</dc:title>
  <dc:creator>Fenghc</dc:creator>
  <cp:lastModifiedBy>丽娟 徐</cp:lastModifiedBy>
  <cp:revision>199</cp:revision>
  <dcterms:created xsi:type="dcterms:W3CDTF">2021-02-25T03:49:55Z</dcterms:created>
  <dcterms:modified xsi:type="dcterms:W3CDTF">2025-09-28T07:40:00Z</dcterms:modified>
</cp:coreProperties>
</file>