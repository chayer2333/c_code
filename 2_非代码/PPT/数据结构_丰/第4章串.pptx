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9" r:id="rId2"/>
    <p:sldId id="264" r:id="rId3"/>
    <p:sldId id="331" r:id="rId4"/>
    <p:sldId id="332" r:id="rId5"/>
    <p:sldId id="333" r:id="rId6"/>
    <p:sldId id="334" r:id="rId7"/>
    <p:sldId id="335" r:id="rId8"/>
    <p:sldId id="336" r:id="rId9"/>
    <p:sldId id="337" r:id="rId10"/>
    <p:sldId id="330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406" r:id="rId21"/>
    <p:sldId id="408" r:id="rId22"/>
    <p:sldId id="409" r:id="rId23"/>
    <p:sldId id="410" r:id="rId24"/>
    <p:sldId id="411" r:id="rId25"/>
    <p:sldId id="412" r:id="rId26"/>
    <p:sldId id="413" r:id="rId27"/>
    <p:sldId id="414" r:id="rId28"/>
    <p:sldId id="415" r:id="rId29"/>
    <p:sldId id="416" r:id="rId30"/>
    <p:sldId id="417" r:id="rId31"/>
    <p:sldId id="375" r:id="rId32"/>
    <p:sldId id="374" r:id="rId33"/>
    <p:sldId id="376" r:id="rId34"/>
    <p:sldId id="377" r:id="rId35"/>
    <p:sldId id="378" r:id="rId36"/>
    <p:sldId id="379" r:id="rId37"/>
    <p:sldId id="380" r:id="rId38"/>
    <p:sldId id="381" r:id="rId39"/>
    <p:sldId id="382" r:id="rId40"/>
    <p:sldId id="383" r:id="rId41"/>
    <p:sldId id="384" r:id="rId42"/>
    <p:sldId id="385" r:id="rId43"/>
    <p:sldId id="386" r:id="rId44"/>
    <p:sldId id="387" r:id="rId45"/>
    <p:sldId id="388" r:id="rId46"/>
    <p:sldId id="389" r:id="rId47"/>
    <p:sldId id="390" r:id="rId48"/>
    <p:sldId id="391" r:id="rId49"/>
    <p:sldId id="392" r:id="rId50"/>
    <p:sldId id="393" r:id="rId51"/>
    <p:sldId id="394" r:id="rId52"/>
    <p:sldId id="395" r:id="rId53"/>
    <p:sldId id="396" r:id="rId54"/>
    <p:sldId id="397" r:id="rId55"/>
    <p:sldId id="398" r:id="rId56"/>
    <p:sldId id="399" r:id="rId57"/>
    <p:sldId id="400" r:id="rId58"/>
    <p:sldId id="401" r:id="rId59"/>
    <p:sldId id="402" r:id="rId60"/>
    <p:sldId id="403" r:id="rId61"/>
    <p:sldId id="404" r:id="rId62"/>
    <p:sldId id="405" r:id="rId63"/>
    <p:sldId id="418" r:id="rId6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30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E4B5A-F0DA-45DB-8057-EA84829C2A07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F6518-B1A6-4D8A-B838-759C894B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45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6518-B1A6-4D8A-B838-759C894BA8CF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605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6518-B1A6-4D8A-B838-759C894BA8CF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900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EB027-3DF0-1736-1A78-A9C6CB04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041B47-7ADA-248C-3B9D-F3AFC137F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17EA16-5038-0D81-5D87-0EEE680AF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7D7243-6447-DD6E-EFAE-5973F84DE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6518-B1A6-4D8A-B838-759C894BA8CF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581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4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85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72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12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00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86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34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733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14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02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05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B11C4-7618-49BA-A742-440409CFAB3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3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>
            <a:cxnSpLocks/>
          </p:cNvCxnSpPr>
          <p:nvPr/>
        </p:nvCxnSpPr>
        <p:spPr>
          <a:xfrm>
            <a:off x="0" y="1419497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383177"/>
            <a:ext cx="7772400" cy="925286"/>
          </a:xfrm>
        </p:spPr>
        <p:txBody>
          <a:bodyPr>
            <a:normAutofit/>
          </a:bodyPr>
          <a:lstStyle/>
          <a:p>
            <a:r>
              <a:rPr lang="zh-CN" altLang="en-US" sz="5400" b="1" dirty="0">
                <a:latin typeface="黑体" pitchFamily="49" charset="-122"/>
                <a:ea typeface="黑体" pitchFamily="49" charset="-122"/>
                <a:cs typeface="+mn-cs"/>
              </a:rPr>
              <a:t>第</a:t>
            </a:r>
            <a:r>
              <a:rPr lang="en-US" altLang="zh-CN" sz="5400" b="1" dirty="0">
                <a:latin typeface="黑体" pitchFamily="49" charset="-122"/>
                <a:ea typeface="黑体" pitchFamily="49" charset="-122"/>
                <a:cs typeface="+mn-cs"/>
              </a:rPr>
              <a:t>4</a:t>
            </a:r>
            <a:r>
              <a:rPr lang="zh-CN" altLang="en-US" sz="5400" b="1" dirty="0">
                <a:latin typeface="黑体" pitchFamily="49" charset="-122"/>
                <a:ea typeface="黑体" pitchFamily="49" charset="-122"/>
                <a:cs typeface="+mn-cs"/>
              </a:rPr>
              <a:t>章 串</a:t>
            </a:r>
            <a:endParaRPr lang="en-US" altLang="zh-CN" sz="5400" dirty="0"/>
          </a:p>
        </p:txBody>
      </p:sp>
      <p:sp>
        <p:nvSpPr>
          <p:cNvPr id="10" name="矩形 9"/>
          <p:cNvSpPr/>
          <p:nvPr/>
        </p:nvSpPr>
        <p:spPr>
          <a:xfrm>
            <a:off x="4300133" y="2420891"/>
            <a:ext cx="3494038" cy="5847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/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.1 串的基本概念</a:t>
            </a:r>
          </a:p>
        </p:txBody>
      </p:sp>
      <p:sp>
        <p:nvSpPr>
          <p:cNvPr id="11" name="矩形 10"/>
          <p:cNvSpPr/>
          <p:nvPr/>
        </p:nvSpPr>
        <p:spPr>
          <a:xfrm>
            <a:off x="4300129" y="3522134"/>
            <a:ext cx="3494041" cy="5847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4.2 串的存储结构</a:t>
            </a:r>
          </a:p>
        </p:txBody>
      </p:sp>
      <p:sp>
        <p:nvSpPr>
          <p:cNvPr id="12" name="矩形 11"/>
          <p:cNvSpPr/>
          <p:nvPr/>
        </p:nvSpPr>
        <p:spPr>
          <a:xfrm>
            <a:off x="4300132" y="4623377"/>
            <a:ext cx="3494041" cy="5847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4.3 串的模式匹配</a:t>
            </a:r>
          </a:p>
        </p:txBody>
      </p:sp>
    </p:spTree>
    <p:extLst>
      <p:ext uri="{BB962C8B-B14F-4D97-AF65-F5344CB8AC3E}">
        <p14:creationId xmlns:p14="http://schemas.microsoft.com/office/powerpoint/2010/main" val="3019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938817" y="1268760"/>
            <a:ext cx="337021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串的定义</a:t>
            </a:r>
          </a:p>
        </p:txBody>
      </p:sp>
      <p:cxnSp>
        <p:nvCxnSpPr>
          <p:cNvPr id="10" name="直接连接符 9"/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844505" y="2155183"/>
            <a:ext cx="7355952" cy="570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String)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，也称字符串，是零个或多个字符组成的有限序列。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844507" y="2834942"/>
            <a:ext cx="4169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一般记为：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(n≥0)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844505" y="3467513"/>
            <a:ext cx="72119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其中，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为串名，“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”为串值，是用双引号括起来的字符序列；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0≤i≤n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）可以是字母、数字或其它字符。</a:t>
            </a:r>
          </a:p>
        </p:txBody>
      </p:sp>
      <p:sp>
        <p:nvSpPr>
          <p:cNvPr id="24" name="矩形 23"/>
          <p:cNvSpPr/>
          <p:nvPr/>
        </p:nvSpPr>
        <p:spPr>
          <a:xfrm>
            <a:off x="2844504" y="4530974"/>
            <a:ext cx="71399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S1=“This is a book”</a:t>
            </a: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S2=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“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中华人民共和国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</a:t>
            </a: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S3=“My mobile phone number is:13001234567.”</a:t>
            </a:r>
          </a:p>
        </p:txBody>
      </p:sp>
    </p:spTree>
    <p:extLst>
      <p:ext uri="{BB962C8B-B14F-4D97-AF65-F5344CB8AC3E}">
        <p14:creationId xmlns:p14="http://schemas.microsoft.com/office/powerpoint/2010/main" val="58938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844505" y="2155183"/>
            <a:ext cx="7355952" cy="570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String)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，也称字符串，是零个或多个字符组成的有限序列。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44505" y="3451525"/>
            <a:ext cx="6995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串的长度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：串中所包含的字符个数（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）。长度为零的串称为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空串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Empty String)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Ø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它不包含任何字符（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n=0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</a:t>
            </a:r>
          </a:p>
        </p:txBody>
      </p:sp>
      <p:sp>
        <p:nvSpPr>
          <p:cNvPr id="11" name="矩形 10"/>
          <p:cNvSpPr/>
          <p:nvPr/>
        </p:nvSpPr>
        <p:spPr>
          <a:xfrm>
            <a:off x="2844504" y="4509393"/>
            <a:ext cx="72119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S1=“This is a book”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长度为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13</a:t>
            </a: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S2=“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中华人民共和国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长度为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，每个全角字符和汉字的长度为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5834F5-F18C-3765-22E3-FF3AAC924B48}"/>
              </a:ext>
            </a:extLst>
          </p:cNvPr>
          <p:cNvSpPr/>
          <p:nvPr/>
        </p:nvSpPr>
        <p:spPr>
          <a:xfrm>
            <a:off x="1938817" y="1268760"/>
            <a:ext cx="337021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串的定义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D48573C-C40E-088B-2839-35B8C95AA7CC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E043427-A2A6-2714-2898-CA9D7D08F222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AE78E8-2FC4-BD8D-B95A-5F15F4933930}"/>
              </a:ext>
            </a:extLst>
          </p:cNvPr>
          <p:cNvSpPr/>
          <p:nvPr/>
        </p:nvSpPr>
        <p:spPr>
          <a:xfrm>
            <a:off x="2844507" y="2834942"/>
            <a:ext cx="4169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一般记为：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(n≥0)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066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844505" y="2155183"/>
            <a:ext cx="7355952" cy="570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String)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，也称字符串，是零个或多个字符组成的有限序列。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44505" y="3451525"/>
            <a:ext cx="6995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串的长度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：串中所包含的字符个数（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）。长度为零的串称为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空串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Empty String)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Ø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它不包含任何字符（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n=0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</a:t>
            </a:r>
          </a:p>
        </p:txBody>
      </p:sp>
      <p:sp>
        <p:nvSpPr>
          <p:cNvPr id="12" name="矩形 11"/>
          <p:cNvSpPr/>
          <p:nvPr/>
        </p:nvSpPr>
        <p:spPr>
          <a:xfrm>
            <a:off x="2844505" y="4509120"/>
            <a:ext cx="72119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空白串（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Blank String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由一个或多个空格组成的串称为空白串。 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n≠0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</a:t>
            </a:r>
          </a:p>
        </p:txBody>
      </p:sp>
      <p:sp>
        <p:nvSpPr>
          <p:cNvPr id="13" name="矩形 12"/>
          <p:cNvSpPr/>
          <p:nvPr/>
        </p:nvSpPr>
        <p:spPr>
          <a:xfrm>
            <a:off x="3849231" y="5373216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楷体" pitchFamily="49" charset="-122"/>
                <a:ea typeface="楷体" pitchFamily="49" charset="-122"/>
                <a:cs typeface="经典粗黑简" pitchFamily="49" charset="-122"/>
              </a:rPr>
              <a:t>注意：空串和空白串的不同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1CE7F3-E48C-2B77-52F2-9DA8465D0F97}"/>
              </a:ext>
            </a:extLst>
          </p:cNvPr>
          <p:cNvSpPr/>
          <p:nvPr/>
        </p:nvSpPr>
        <p:spPr>
          <a:xfrm>
            <a:off x="1938817" y="1268760"/>
            <a:ext cx="337021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串的定义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2EB51D3-36DF-8719-F03A-B5686AFE86FA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59274F1-3A8F-B4EA-006D-76C6C7E4B169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D6B8A6-D31D-EA74-7481-5B4D8792A171}"/>
              </a:ext>
            </a:extLst>
          </p:cNvPr>
          <p:cNvSpPr/>
          <p:nvPr/>
        </p:nvSpPr>
        <p:spPr>
          <a:xfrm>
            <a:off x="2844507" y="2834942"/>
            <a:ext cx="4169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一般记为：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(n≥0)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903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844505" y="2155183"/>
            <a:ext cx="7355952" cy="570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String)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，也称字符串，是零个或多个字符组成的有限序列。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83633" y="343558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串的子串：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串中任意个连续字符组成的子序列称为该串的子串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SubString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包含子串的串相应地称为主串。</a:t>
            </a:r>
          </a:p>
        </p:txBody>
      </p:sp>
      <p:sp>
        <p:nvSpPr>
          <p:cNvPr id="14" name="矩形 13"/>
          <p:cNvSpPr/>
          <p:nvPr/>
        </p:nvSpPr>
        <p:spPr>
          <a:xfrm>
            <a:off x="2783636" y="4503889"/>
            <a:ext cx="70567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A=“This is a book”</a:t>
            </a: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B=“is”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02416" y="5462742"/>
            <a:ext cx="3272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B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的子串，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为主串。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3D1749-1EC5-DD81-3463-0FEF11FC5329}"/>
              </a:ext>
            </a:extLst>
          </p:cNvPr>
          <p:cNvSpPr/>
          <p:nvPr/>
        </p:nvSpPr>
        <p:spPr>
          <a:xfrm>
            <a:off x="1938817" y="1268760"/>
            <a:ext cx="337021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串的定义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2A416DB-5BE6-B07C-8682-26ACDD84AA72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0F73398C-66C0-1B15-51A6-7E09F74DCD0C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58E41A-940E-AED4-76A4-6D8CCA1B00E7}"/>
              </a:ext>
            </a:extLst>
          </p:cNvPr>
          <p:cNvSpPr/>
          <p:nvPr/>
        </p:nvSpPr>
        <p:spPr>
          <a:xfrm>
            <a:off x="2844507" y="2834942"/>
            <a:ext cx="4169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一般记为：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(n≥0)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025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844505" y="2155183"/>
            <a:ext cx="7355952" cy="570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String)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，也称字符串，是零个或多个字符组成的有限序列。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83633" y="343558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串的子串：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串中任意个连续字符组成的子序列称为该串的子串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SubString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包含子串的串相应地称为主串。</a:t>
            </a:r>
          </a:p>
        </p:txBody>
      </p:sp>
      <p:sp>
        <p:nvSpPr>
          <p:cNvPr id="13" name="矩形 12"/>
          <p:cNvSpPr/>
          <p:nvPr/>
        </p:nvSpPr>
        <p:spPr>
          <a:xfrm>
            <a:off x="3863291" y="5468242"/>
            <a:ext cx="23214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B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不是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的子串。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D6A8FE-863C-DB61-66B3-E80CCA6B0830}"/>
              </a:ext>
            </a:extLst>
          </p:cNvPr>
          <p:cNvSpPr/>
          <p:nvPr/>
        </p:nvSpPr>
        <p:spPr>
          <a:xfrm>
            <a:off x="1938817" y="1268760"/>
            <a:ext cx="337021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串的定义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21E468C-F032-312C-C982-CFD25FE6EF60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FC7456C-E68B-5661-FB2A-DF297C9B9C90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B57E05-D606-20D5-B91C-10F45F220CFA}"/>
              </a:ext>
            </a:extLst>
          </p:cNvPr>
          <p:cNvSpPr/>
          <p:nvPr/>
        </p:nvSpPr>
        <p:spPr>
          <a:xfrm>
            <a:off x="2844507" y="2834942"/>
            <a:ext cx="4169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一般记为：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(n≥0)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0C4509-5F21-727F-A748-056A54FD1F70}"/>
              </a:ext>
            </a:extLst>
          </p:cNvPr>
          <p:cNvSpPr/>
          <p:nvPr/>
        </p:nvSpPr>
        <p:spPr>
          <a:xfrm>
            <a:off x="2783636" y="4503889"/>
            <a:ext cx="70567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A=“This is a book”</a:t>
            </a: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B=“Is”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4301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844505" y="2155183"/>
            <a:ext cx="7355952" cy="570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String)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，也称字符串，是零个或多个字符组成的有限序列。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83633" y="343558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串的子串：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串中任意个连续字符组成的子序列称为该串的子串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SubString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包含子串的串相应地称为主串。</a:t>
            </a:r>
          </a:p>
        </p:txBody>
      </p:sp>
      <p:sp>
        <p:nvSpPr>
          <p:cNvPr id="14" name="矩形 13"/>
          <p:cNvSpPr/>
          <p:nvPr/>
        </p:nvSpPr>
        <p:spPr>
          <a:xfrm>
            <a:off x="2783636" y="4293096"/>
            <a:ext cx="70567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通常将子串在主串中首次出现时，该子串首字符对应的主串中的序号，定义为子串在主串中的位置。</a:t>
            </a:r>
          </a:p>
        </p:txBody>
      </p:sp>
      <p:sp>
        <p:nvSpPr>
          <p:cNvPr id="15" name="矩形 14"/>
          <p:cNvSpPr/>
          <p:nvPr/>
        </p:nvSpPr>
        <p:spPr>
          <a:xfrm>
            <a:off x="2783633" y="5101857"/>
            <a:ext cx="682992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A=“This is a book”</a:t>
            </a: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B=“is”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783636" y="5733256"/>
            <a:ext cx="70567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B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中出现了两次，其中首次出现所对应的主串位置是3，因此，称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B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中的位置为3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EB63B6-6E86-973E-9EF6-60AFA56CB567}"/>
              </a:ext>
            </a:extLst>
          </p:cNvPr>
          <p:cNvSpPr/>
          <p:nvPr/>
        </p:nvSpPr>
        <p:spPr>
          <a:xfrm>
            <a:off x="1938817" y="1268760"/>
            <a:ext cx="337021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串的定义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F55EAC6-FD40-14D3-E8DC-DF1C51BB64DC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B1C8A92-516B-4C46-D9E9-294843804C16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BB7A1E-3C6E-3798-F867-9531F5934C26}"/>
              </a:ext>
            </a:extLst>
          </p:cNvPr>
          <p:cNvSpPr/>
          <p:nvPr/>
        </p:nvSpPr>
        <p:spPr>
          <a:xfrm>
            <a:off x="2844507" y="2834942"/>
            <a:ext cx="4169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一般记为：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(n≥0)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4507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844505" y="2155183"/>
            <a:ext cx="7355952" cy="570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String)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，也称字符串，是零个或多个字符组成的有限序列。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83633" y="343558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串的子串：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串中任意个连续字符组成的子序列称为该串的子串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SubString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包含子串的串相应地称为主串。</a:t>
            </a:r>
          </a:p>
        </p:txBody>
      </p:sp>
      <p:sp>
        <p:nvSpPr>
          <p:cNvPr id="14" name="矩形 13"/>
          <p:cNvSpPr/>
          <p:nvPr/>
        </p:nvSpPr>
        <p:spPr>
          <a:xfrm>
            <a:off x="2783636" y="4293096"/>
            <a:ext cx="70567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通常将子串在主串中首次出现时，该子串首字符对应的主串中的序号，定义为子串在主串中的位置。</a:t>
            </a:r>
          </a:p>
        </p:txBody>
      </p:sp>
      <p:sp>
        <p:nvSpPr>
          <p:cNvPr id="12" name="矩形 11"/>
          <p:cNvSpPr/>
          <p:nvPr/>
        </p:nvSpPr>
        <p:spPr>
          <a:xfrm>
            <a:off x="2844505" y="5230130"/>
            <a:ext cx="65966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u="sng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特别地，空串是任意串的子串，任意串是其自身的子串。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FF13BA-097A-5D24-CEE9-60382DD52E63}"/>
              </a:ext>
            </a:extLst>
          </p:cNvPr>
          <p:cNvSpPr/>
          <p:nvPr/>
        </p:nvSpPr>
        <p:spPr>
          <a:xfrm>
            <a:off x="1938817" y="1268760"/>
            <a:ext cx="337021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串的定义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01F337E-58A6-C182-1E0F-59B22BDEC9A9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B83467B7-7170-2347-D9F0-F982D992DE09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D56909-F3D9-CF07-45F3-7F46A4523346}"/>
              </a:ext>
            </a:extLst>
          </p:cNvPr>
          <p:cNvSpPr/>
          <p:nvPr/>
        </p:nvSpPr>
        <p:spPr>
          <a:xfrm>
            <a:off x="2844507" y="2834942"/>
            <a:ext cx="4169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一般记为：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(n≥0)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3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844505" y="2155183"/>
            <a:ext cx="7355952" cy="570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String)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，也称字符串，是零个或多个字符组成的有限序列。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3" name="TextBox 1"/>
          <p:cNvSpPr txBox="1">
            <a:spLocks noChangeArrowheads="1"/>
          </p:cNvSpPr>
          <p:nvPr/>
        </p:nvSpPr>
        <p:spPr bwMode="auto">
          <a:xfrm>
            <a:off x="2827798" y="3429003"/>
            <a:ext cx="715663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串相等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是指两个字符串的值相等。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algn="l"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当且仅当两个字符串的长度相等，并且每一个对应序号的字符相同时，两个字符串才相等。</a:t>
            </a:r>
          </a:p>
        </p:txBody>
      </p:sp>
      <p:sp>
        <p:nvSpPr>
          <p:cNvPr id="15" name="TextBox 7"/>
          <p:cNvSpPr txBox="1">
            <a:spLocks noChangeArrowheads="1"/>
          </p:cNvSpPr>
          <p:nvPr/>
        </p:nvSpPr>
        <p:spPr bwMode="auto">
          <a:xfrm>
            <a:off x="2855643" y="4509120"/>
            <a:ext cx="453707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比如：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S1=“BEIJING”</a:t>
            </a:r>
          </a:p>
          <a:p>
            <a:pPr algn="l"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S2=“BEI JING”</a:t>
            </a:r>
          </a:p>
          <a:p>
            <a:pPr algn="l"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S3=“Bei Jing”</a:t>
            </a:r>
          </a:p>
          <a:p>
            <a:pPr algn="l"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S4=“BEI JIN”</a:t>
            </a: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S5=“BEIJING”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EECCFA-0D23-9821-0504-17A8F489B099}"/>
              </a:ext>
            </a:extLst>
          </p:cNvPr>
          <p:cNvSpPr/>
          <p:nvPr/>
        </p:nvSpPr>
        <p:spPr>
          <a:xfrm>
            <a:off x="1938817" y="1268760"/>
            <a:ext cx="337021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串的定义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C83D2D9-F9FF-FC65-FD1F-FA7D4637FBE8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7523D531-5D65-DEF2-5896-C2CD10EFC45E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86688C-A8DE-8D4C-306C-90D17BD7C0F9}"/>
              </a:ext>
            </a:extLst>
          </p:cNvPr>
          <p:cNvSpPr/>
          <p:nvPr/>
        </p:nvSpPr>
        <p:spPr>
          <a:xfrm>
            <a:off x="2844507" y="2834942"/>
            <a:ext cx="4169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一般记为：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(n≥0)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010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19536" y="1258884"/>
            <a:ext cx="476359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串的抽象数据类型定义</a:t>
            </a:r>
          </a:p>
        </p:txBody>
      </p:sp>
      <p:sp>
        <p:nvSpPr>
          <p:cNvPr id="16" name="矩形 15"/>
          <p:cNvSpPr/>
          <p:nvPr/>
        </p:nvSpPr>
        <p:spPr>
          <a:xfrm>
            <a:off x="1343474" y="1767499"/>
            <a:ext cx="6496621" cy="4927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ADT String {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</a:t>
            </a:r>
            <a:r>
              <a:rPr lang="zh-CN" altLang="en-US" sz="1600" dirty="0"/>
              <a:t>数据对象：</a:t>
            </a:r>
            <a:r>
              <a:rPr lang="en-US" altLang="zh-CN" sz="1600" dirty="0"/>
              <a:t>D={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/>
              <a:t>|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>
                <a:sym typeface="Symbol" pitchFamily="18" charset="2"/>
              </a:rPr>
              <a:t></a:t>
            </a:r>
            <a:r>
              <a:rPr lang="en-US" altLang="zh-CN" sz="1600" dirty="0" err="1">
                <a:sym typeface="Symbol" pitchFamily="18" charset="2"/>
              </a:rPr>
              <a:t>CharacterSet</a:t>
            </a:r>
            <a:r>
              <a:rPr lang="en-US" altLang="zh-CN" sz="1600" dirty="0">
                <a:sym typeface="Symbol" pitchFamily="18" charset="2"/>
              </a:rPr>
              <a:t>, i=1,2,…n, n0 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数据关系：</a:t>
            </a:r>
            <a:r>
              <a:rPr lang="en-US" altLang="zh-CN" sz="1600" dirty="0"/>
              <a:t>R1={&lt;a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&gt; | 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 </a:t>
            </a:r>
            <a:r>
              <a:rPr lang="en-US" altLang="zh-CN" sz="1600" dirty="0">
                <a:sym typeface="Symbol" pitchFamily="18" charset="2"/>
              </a:rPr>
              <a:t>D, i=1,2,…n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基本运算：</a:t>
            </a:r>
            <a:endParaRPr lang="en-US" altLang="zh-CN" sz="1600" dirty="0"/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StrAssign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T,chars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StrCopy</a:t>
            </a:r>
            <a:r>
              <a:rPr lang="en-US" altLang="zh-CN" sz="1600" dirty="0"/>
              <a:t> (&amp;T,S);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StrEmpty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StrCompare</a:t>
            </a:r>
            <a:r>
              <a:rPr lang="en-US" altLang="zh-CN" sz="1600" dirty="0"/>
              <a:t>(S,T);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StrLength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ClearString</a:t>
            </a:r>
            <a:r>
              <a:rPr lang="en-US" altLang="zh-CN" sz="1600" dirty="0"/>
              <a:t>(&amp;S);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Concat</a:t>
            </a:r>
            <a:r>
              <a:rPr lang="en-US" altLang="zh-CN" sz="1600" dirty="0"/>
              <a:t>(&amp;T,S1,S2);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SubString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Sub,S,pos,len</a:t>
            </a:r>
            <a:r>
              <a:rPr lang="en-US" altLang="zh-CN" sz="1600" dirty="0"/>
              <a:t>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index(</a:t>
            </a:r>
            <a:r>
              <a:rPr lang="en-US" altLang="zh-CN" sz="1600" dirty="0" err="1"/>
              <a:t>S,T,pos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Replace(&amp;S,T,V);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StrInsert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S,pos,T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StrDelete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S,pos,len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DestroyString</a:t>
            </a:r>
            <a:r>
              <a:rPr lang="en-US" altLang="zh-CN" sz="1600" dirty="0"/>
              <a:t>(&amp;S);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} ADT String </a:t>
            </a:r>
            <a:endParaRPr lang="zh-CN" altLang="en-US" sz="1600" dirty="0"/>
          </a:p>
        </p:txBody>
      </p:sp>
      <p:sp>
        <p:nvSpPr>
          <p:cNvPr id="17" name="矩形 16"/>
          <p:cNvSpPr/>
          <p:nvPr/>
        </p:nvSpPr>
        <p:spPr>
          <a:xfrm>
            <a:off x="6096000" y="2583506"/>
            <a:ext cx="44500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 err="1"/>
              <a:t>StrAssign</a:t>
            </a:r>
            <a:r>
              <a:rPr lang="en-US" altLang="zh-CN" dirty="0"/>
              <a:t>(&amp;</a:t>
            </a:r>
            <a:r>
              <a:rPr lang="en-US" altLang="zh-CN" dirty="0" err="1"/>
              <a:t>T,chars</a:t>
            </a:r>
            <a:r>
              <a:rPr lang="en-US" altLang="zh-CN" dirty="0"/>
              <a:t>)</a:t>
            </a:r>
          </a:p>
          <a:p>
            <a:pPr marL="179388" indent="-179388"/>
            <a:r>
              <a:rPr lang="zh-CN" altLang="en-US" dirty="0"/>
              <a:t>初始条件：</a:t>
            </a:r>
            <a:r>
              <a:rPr lang="en-US" altLang="zh-CN" dirty="0"/>
              <a:t>chars</a:t>
            </a:r>
            <a:r>
              <a:rPr lang="zh-CN" altLang="en-US" dirty="0"/>
              <a:t>是字符串常量；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操作结果：生成一个其值等于</a:t>
            </a:r>
            <a:r>
              <a:rPr lang="en-US" altLang="zh-CN" dirty="0"/>
              <a:t>chars</a:t>
            </a:r>
            <a:r>
              <a:rPr lang="zh-CN" altLang="en-US" dirty="0"/>
              <a:t>的串</a:t>
            </a:r>
            <a:r>
              <a:rPr lang="en-US" altLang="zh-CN" dirty="0"/>
              <a:t>T</a:t>
            </a:r>
            <a:r>
              <a:rPr lang="zh-CN" altLang="en-US" dirty="0"/>
              <a:t>；</a:t>
            </a:r>
          </a:p>
        </p:txBody>
      </p:sp>
      <p:sp>
        <p:nvSpPr>
          <p:cNvPr id="18" name="矩形 17"/>
          <p:cNvSpPr/>
          <p:nvPr/>
        </p:nvSpPr>
        <p:spPr>
          <a:xfrm>
            <a:off x="6096000" y="3837540"/>
            <a:ext cx="44500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 err="1"/>
              <a:t>StrCopy</a:t>
            </a:r>
            <a:r>
              <a:rPr lang="en-US" altLang="zh-CN" dirty="0"/>
              <a:t> (&amp;T,S)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操作结果：由串</a:t>
            </a:r>
            <a:r>
              <a:rPr lang="en-US" altLang="zh-CN" dirty="0"/>
              <a:t>S</a:t>
            </a:r>
            <a:r>
              <a:rPr lang="zh-CN" altLang="en-US" dirty="0"/>
              <a:t>复制得到字符串</a:t>
            </a:r>
            <a:r>
              <a:rPr lang="en-US" altLang="zh-CN" dirty="0"/>
              <a:t>T</a:t>
            </a:r>
            <a:r>
              <a:rPr lang="zh-CN" altLang="en-US" dirty="0"/>
              <a:t>；</a:t>
            </a:r>
          </a:p>
        </p:txBody>
      </p:sp>
      <p:sp>
        <p:nvSpPr>
          <p:cNvPr id="19" name="矩形 18"/>
          <p:cNvSpPr/>
          <p:nvPr/>
        </p:nvSpPr>
        <p:spPr>
          <a:xfrm>
            <a:off x="6096000" y="5108994"/>
            <a:ext cx="44500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</a:t>
            </a:r>
            <a:r>
              <a:rPr lang="en-US" altLang="zh-CN" dirty="0" err="1"/>
              <a:t>StrEmpty</a:t>
            </a:r>
            <a:r>
              <a:rPr lang="en-US" altLang="zh-CN" dirty="0"/>
              <a:t>(S)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操作结果：若串</a:t>
            </a:r>
            <a:r>
              <a:rPr lang="en-US" altLang="zh-CN" dirty="0"/>
              <a:t>S</a:t>
            </a:r>
            <a:r>
              <a:rPr lang="zh-CN" altLang="en-US" dirty="0"/>
              <a:t>为空串，返回</a:t>
            </a:r>
            <a:r>
              <a:rPr lang="en-US" altLang="zh-CN" dirty="0"/>
              <a:t>TRUE</a:t>
            </a:r>
            <a:r>
              <a:rPr lang="zh-CN" altLang="en-US" dirty="0"/>
              <a:t>，否则返回</a:t>
            </a:r>
            <a:r>
              <a:rPr lang="en-US" altLang="zh-CN" dirty="0"/>
              <a:t>FALSE</a:t>
            </a:r>
            <a:r>
              <a:rPr lang="zh-CN" altLang="en-US" dirty="0"/>
              <a:t>；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2EF7DF9-4239-465A-A7CA-DD073894253A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2B3DB57-A90A-6530-92BC-A73271B14979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142045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19536" y="1258884"/>
            <a:ext cx="476359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串的抽象数据类型定义</a:t>
            </a:r>
          </a:p>
        </p:txBody>
      </p:sp>
      <p:sp>
        <p:nvSpPr>
          <p:cNvPr id="16" name="矩形 15"/>
          <p:cNvSpPr/>
          <p:nvPr/>
        </p:nvSpPr>
        <p:spPr>
          <a:xfrm>
            <a:off x="1343474" y="1767499"/>
            <a:ext cx="6496621" cy="4927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ADT String {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</a:t>
            </a:r>
            <a:r>
              <a:rPr lang="zh-CN" altLang="en-US" sz="1600" dirty="0"/>
              <a:t>数据对象：</a:t>
            </a:r>
            <a:r>
              <a:rPr lang="en-US" altLang="zh-CN" sz="1600" dirty="0"/>
              <a:t>D={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/>
              <a:t>|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>
                <a:sym typeface="Symbol" pitchFamily="18" charset="2"/>
              </a:rPr>
              <a:t></a:t>
            </a:r>
            <a:r>
              <a:rPr lang="en-US" altLang="zh-CN" sz="1600" dirty="0" err="1">
                <a:sym typeface="Symbol" pitchFamily="18" charset="2"/>
              </a:rPr>
              <a:t>CharacterSet</a:t>
            </a:r>
            <a:r>
              <a:rPr lang="en-US" altLang="zh-CN" sz="1600" dirty="0">
                <a:sym typeface="Symbol" pitchFamily="18" charset="2"/>
              </a:rPr>
              <a:t>, i=1,2,…n, n0 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数据关系：</a:t>
            </a:r>
            <a:r>
              <a:rPr lang="en-US" altLang="zh-CN" sz="1600" dirty="0"/>
              <a:t>R1={&lt;a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&gt; | 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 </a:t>
            </a:r>
            <a:r>
              <a:rPr lang="en-US" altLang="zh-CN" sz="1600" dirty="0">
                <a:sym typeface="Symbol" pitchFamily="18" charset="2"/>
              </a:rPr>
              <a:t>D, i=1,2,…n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基本运算：</a:t>
            </a:r>
            <a:endParaRPr lang="en-US" altLang="zh-CN" sz="1600" dirty="0"/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StrAssign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T,chars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StrCopy</a:t>
            </a:r>
            <a:r>
              <a:rPr lang="en-US" altLang="zh-CN" sz="1600" dirty="0"/>
              <a:t> (&amp;T,S);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StrEmpty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StrCompare</a:t>
            </a:r>
            <a:r>
              <a:rPr lang="en-US" altLang="zh-CN" sz="1600" dirty="0"/>
              <a:t>(S,T);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StrLength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ClearString</a:t>
            </a:r>
            <a:r>
              <a:rPr lang="en-US" altLang="zh-CN" sz="1600" dirty="0"/>
              <a:t>(&amp;S);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Concat</a:t>
            </a:r>
            <a:r>
              <a:rPr lang="en-US" altLang="zh-CN" sz="1600" dirty="0"/>
              <a:t>(&amp;T,S1,S2);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SubString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Sub,S,pos,len</a:t>
            </a:r>
            <a:r>
              <a:rPr lang="en-US" altLang="zh-CN" sz="1600" dirty="0"/>
              <a:t>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index(</a:t>
            </a:r>
            <a:r>
              <a:rPr lang="en-US" altLang="zh-CN" sz="1600" dirty="0" err="1"/>
              <a:t>S,T,pos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Replace(&amp;S,T,V);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StrInsert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S,pos,T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StrDelete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S,pos,len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DestroyString</a:t>
            </a:r>
            <a:r>
              <a:rPr lang="en-US" altLang="zh-CN" sz="1600" dirty="0"/>
              <a:t>(&amp;S);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} ADT String </a:t>
            </a:r>
            <a:endParaRPr lang="zh-CN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5939246" y="2895049"/>
            <a:ext cx="44500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</a:t>
            </a:r>
            <a:r>
              <a:rPr lang="en-US" altLang="zh-CN" dirty="0" err="1"/>
              <a:t>StrCompare</a:t>
            </a:r>
            <a:r>
              <a:rPr lang="en-US" altLang="zh-CN" dirty="0"/>
              <a:t>(S,T)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操作结果：若</a:t>
            </a:r>
            <a:r>
              <a:rPr lang="en-US" altLang="zh-CN" dirty="0"/>
              <a:t>S&gt;T</a:t>
            </a:r>
            <a:r>
              <a:rPr lang="zh-CN" altLang="en-US" dirty="0"/>
              <a:t>则返回值</a:t>
            </a:r>
            <a:r>
              <a:rPr lang="en-US" altLang="zh-CN" dirty="0"/>
              <a:t>&gt;0;</a:t>
            </a:r>
            <a:r>
              <a:rPr lang="zh-CN" altLang="en-US" dirty="0"/>
              <a:t>若</a:t>
            </a:r>
            <a:r>
              <a:rPr lang="en-US" altLang="zh-CN" dirty="0"/>
              <a:t>S=T</a:t>
            </a:r>
            <a:r>
              <a:rPr lang="zh-CN" altLang="en-US" dirty="0"/>
              <a:t>则返回值</a:t>
            </a:r>
            <a:r>
              <a:rPr lang="en-US" altLang="zh-CN" dirty="0"/>
              <a:t>=0;</a:t>
            </a:r>
            <a:r>
              <a:rPr lang="zh-CN" altLang="en-US" dirty="0"/>
              <a:t>若</a:t>
            </a:r>
            <a:r>
              <a:rPr lang="en-US" altLang="zh-CN" dirty="0"/>
              <a:t>S&lt;T</a:t>
            </a:r>
            <a:r>
              <a:rPr lang="zh-CN" altLang="en-US" dirty="0"/>
              <a:t>则返回值</a:t>
            </a:r>
            <a:r>
              <a:rPr lang="en-US" altLang="zh-CN" dirty="0"/>
              <a:t>&lt;0;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939248" y="4149080"/>
            <a:ext cx="47287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5</a:t>
            </a:r>
            <a:r>
              <a:rPr lang="zh-CN" altLang="zh-CN" dirty="0"/>
              <a:t>）</a:t>
            </a:r>
            <a:r>
              <a:rPr lang="en-US" altLang="zh-CN" dirty="0" err="1"/>
              <a:t>StrLength</a:t>
            </a:r>
            <a:r>
              <a:rPr lang="en-US" altLang="zh-CN" dirty="0"/>
              <a:t>(S)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操作结果：返回串</a:t>
            </a:r>
            <a:r>
              <a:rPr lang="en-US" altLang="zh-CN" dirty="0"/>
              <a:t>S</a:t>
            </a:r>
            <a:r>
              <a:rPr lang="zh-CN" altLang="en-US" dirty="0"/>
              <a:t>的字符个数，即串的长度；</a:t>
            </a:r>
          </a:p>
        </p:txBody>
      </p:sp>
      <p:sp>
        <p:nvSpPr>
          <p:cNvPr id="12" name="矩形 11"/>
          <p:cNvSpPr/>
          <p:nvPr/>
        </p:nvSpPr>
        <p:spPr>
          <a:xfrm>
            <a:off x="5939246" y="5420531"/>
            <a:ext cx="44500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6</a:t>
            </a:r>
            <a:r>
              <a:rPr lang="zh-CN" altLang="zh-CN" dirty="0"/>
              <a:t>）</a:t>
            </a:r>
            <a:r>
              <a:rPr lang="en-US" altLang="zh-CN" dirty="0" err="1"/>
              <a:t>ClearString</a:t>
            </a:r>
            <a:r>
              <a:rPr lang="en-US" altLang="zh-CN" dirty="0"/>
              <a:t>(&amp;S)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操作结果：将串</a:t>
            </a:r>
            <a:r>
              <a:rPr lang="en-US" altLang="zh-CN" dirty="0"/>
              <a:t>S</a:t>
            </a:r>
            <a:r>
              <a:rPr lang="zh-CN" altLang="en-US" dirty="0"/>
              <a:t>清为空串；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352C059-3485-4587-AB10-2AC59B0E00AD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F0853FFC-E125-02C1-5449-1FA31D6497B0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19374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19536" y="1258884"/>
            <a:ext cx="476359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串的抽象数据类型定义</a:t>
            </a:r>
          </a:p>
        </p:txBody>
      </p:sp>
      <p:sp>
        <p:nvSpPr>
          <p:cNvPr id="16" name="矩形 15"/>
          <p:cNvSpPr/>
          <p:nvPr/>
        </p:nvSpPr>
        <p:spPr>
          <a:xfrm>
            <a:off x="1343474" y="1767499"/>
            <a:ext cx="6496621" cy="4927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ADT String {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</a:t>
            </a:r>
            <a:r>
              <a:rPr lang="zh-CN" altLang="en-US" sz="1600" dirty="0"/>
              <a:t>数据对象：</a:t>
            </a:r>
            <a:r>
              <a:rPr lang="en-US" altLang="zh-CN" sz="1600" dirty="0"/>
              <a:t>D={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/>
              <a:t>|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>
                <a:sym typeface="Symbol" pitchFamily="18" charset="2"/>
              </a:rPr>
              <a:t></a:t>
            </a:r>
            <a:r>
              <a:rPr lang="en-US" altLang="zh-CN" sz="1600" dirty="0" err="1">
                <a:sym typeface="Symbol" pitchFamily="18" charset="2"/>
              </a:rPr>
              <a:t>CharacterSet</a:t>
            </a:r>
            <a:r>
              <a:rPr lang="en-US" altLang="zh-CN" sz="1600" dirty="0">
                <a:sym typeface="Symbol" pitchFamily="18" charset="2"/>
              </a:rPr>
              <a:t>, i=1,2,…n, n0 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数据关系：</a:t>
            </a:r>
            <a:r>
              <a:rPr lang="en-US" altLang="zh-CN" sz="1600" dirty="0"/>
              <a:t>R1={&lt;a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&gt; | 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 </a:t>
            </a:r>
            <a:r>
              <a:rPr lang="en-US" altLang="zh-CN" sz="1600" dirty="0">
                <a:sym typeface="Symbol" pitchFamily="18" charset="2"/>
              </a:rPr>
              <a:t>D, i=1,2,…n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基本运算：</a:t>
            </a:r>
            <a:endParaRPr lang="en-US" altLang="zh-CN" sz="1600" dirty="0"/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StrAssign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T,chars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StrCopy</a:t>
            </a:r>
            <a:r>
              <a:rPr lang="en-US" altLang="zh-CN" sz="1600" dirty="0"/>
              <a:t> (&amp;T,S);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StrEmpty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StrCompare</a:t>
            </a:r>
            <a:r>
              <a:rPr lang="en-US" altLang="zh-CN" sz="1600" dirty="0"/>
              <a:t>(S,T);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StrLength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ClearString</a:t>
            </a:r>
            <a:r>
              <a:rPr lang="en-US" altLang="zh-CN" sz="1600" dirty="0"/>
              <a:t>(&amp;S);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Concat</a:t>
            </a:r>
            <a:r>
              <a:rPr lang="en-US" altLang="zh-CN" sz="1600" dirty="0"/>
              <a:t>(&amp;T,S1,S2);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SubString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Sub,S,pos,len</a:t>
            </a:r>
            <a:r>
              <a:rPr lang="en-US" altLang="zh-CN" sz="1600" dirty="0"/>
              <a:t>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index(</a:t>
            </a:r>
            <a:r>
              <a:rPr lang="en-US" altLang="zh-CN" sz="1600" dirty="0" err="1"/>
              <a:t>S,T,pos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Replace(&amp;S,T,V);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StrInsert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S,pos,T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StrDelete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S,pos,len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DestroyString</a:t>
            </a:r>
            <a:r>
              <a:rPr lang="en-US" altLang="zh-CN" sz="1600" dirty="0"/>
              <a:t>(&amp;S);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} ADT String </a:t>
            </a:r>
            <a:endParaRPr lang="zh-CN" altLang="en-US" sz="1600" dirty="0"/>
          </a:p>
        </p:txBody>
      </p:sp>
      <p:sp>
        <p:nvSpPr>
          <p:cNvPr id="13" name="矩形 12"/>
          <p:cNvSpPr/>
          <p:nvPr/>
        </p:nvSpPr>
        <p:spPr>
          <a:xfrm>
            <a:off x="5712128" y="3528634"/>
            <a:ext cx="47287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7</a:t>
            </a:r>
            <a:r>
              <a:rPr lang="zh-CN" altLang="zh-CN" dirty="0"/>
              <a:t>）</a:t>
            </a:r>
            <a:r>
              <a:rPr lang="en-US" altLang="zh-CN" dirty="0" err="1"/>
              <a:t>Concat</a:t>
            </a:r>
            <a:r>
              <a:rPr lang="en-US" altLang="zh-CN" dirty="0"/>
              <a:t>(&amp;T,S1,S2)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S1</a:t>
            </a:r>
            <a:r>
              <a:rPr lang="zh-CN" altLang="en-US" dirty="0"/>
              <a:t>和</a:t>
            </a:r>
            <a:r>
              <a:rPr lang="en-US" altLang="zh-CN" dirty="0"/>
              <a:t>S2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操作结果：由串</a:t>
            </a:r>
            <a:r>
              <a:rPr lang="en-US" altLang="zh-CN" dirty="0"/>
              <a:t>T</a:t>
            </a:r>
            <a:r>
              <a:rPr lang="zh-CN" altLang="en-US" dirty="0"/>
              <a:t>返回</a:t>
            </a:r>
            <a:r>
              <a:rPr lang="en-US" altLang="zh-CN" dirty="0"/>
              <a:t>S1</a:t>
            </a:r>
            <a:r>
              <a:rPr lang="zh-CN" altLang="en-US" dirty="0"/>
              <a:t>和</a:t>
            </a:r>
            <a:r>
              <a:rPr lang="en-US" altLang="zh-CN" dirty="0"/>
              <a:t>S2</a:t>
            </a:r>
            <a:r>
              <a:rPr lang="zh-CN" altLang="en-US" dirty="0"/>
              <a:t>联接而成的新串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14" name="TextBox 7"/>
          <p:cNvSpPr txBox="1">
            <a:spLocks noChangeArrowheads="1"/>
          </p:cNvSpPr>
          <p:nvPr/>
        </p:nvSpPr>
        <p:spPr bwMode="auto">
          <a:xfrm>
            <a:off x="5807968" y="4665330"/>
            <a:ext cx="330922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比如：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S1=“This is a”</a:t>
            </a:r>
          </a:p>
          <a:p>
            <a:pPr algn="l"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S2=“book.”</a:t>
            </a:r>
          </a:p>
        </p:txBody>
      </p:sp>
      <p:sp>
        <p:nvSpPr>
          <p:cNvPr id="17" name="TextBox 7"/>
          <p:cNvSpPr txBox="1">
            <a:spLocks noChangeArrowheads="1"/>
          </p:cNvSpPr>
          <p:nvPr/>
        </p:nvSpPr>
        <p:spPr bwMode="auto">
          <a:xfrm>
            <a:off x="5807968" y="5373216"/>
            <a:ext cx="35269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T=“This is a book.”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E3A5E35-2917-42CC-8C5A-964C434D4BF6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89D2AE06-1C6D-CC64-824E-D4DB35AA5CA9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191209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19536" y="1258884"/>
            <a:ext cx="476359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串的抽象数据类型定义</a:t>
            </a:r>
          </a:p>
        </p:txBody>
      </p:sp>
      <p:sp>
        <p:nvSpPr>
          <p:cNvPr id="16" name="矩形 15"/>
          <p:cNvSpPr/>
          <p:nvPr/>
        </p:nvSpPr>
        <p:spPr>
          <a:xfrm>
            <a:off x="1343474" y="1767499"/>
            <a:ext cx="6496621" cy="4927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ADT String {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</a:t>
            </a:r>
            <a:r>
              <a:rPr lang="zh-CN" altLang="en-US" sz="1600" dirty="0"/>
              <a:t>数据对象：</a:t>
            </a:r>
            <a:r>
              <a:rPr lang="en-US" altLang="zh-CN" sz="1600" dirty="0"/>
              <a:t>D={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/>
              <a:t>|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>
                <a:sym typeface="Symbol" pitchFamily="18" charset="2"/>
              </a:rPr>
              <a:t></a:t>
            </a:r>
            <a:r>
              <a:rPr lang="en-US" altLang="zh-CN" sz="1600" dirty="0" err="1">
                <a:sym typeface="Symbol" pitchFamily="18" charset="2"/>
              </a:rPr>
              <a:t>CharacterSet</a:t>
            </a:r>
            <a:r>
              <a:rPr lang="en-US" altLang="zh-CN" sz="1600" dirty="0">
                <a:sym typeface="Symbol" pitchFamily="18" charset="2"/>
              </a:rPr>
              <a:t>, i=1,2,…n, n0 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数据关系：</a:t>
            </a:r>
            <a:r>
              <a:rPr lang="en-US" altLang="zh-CN" sz="1600" dirty="0"/>
              <a:t>R1={&lt;a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&gt; | 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 </a:t>
            </a:r>
            <a:r>
              <a:rPr lang="en-US" altLang="zh-CN" sz="1600" dirty="0">
                <a:sym typeface="Symbol" pitchFamily="18" charset="2"/>
              </a:rPr>
              <a:t>D, i=1,2,…n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基本运算：</a:t>
            </a:r>
            <a:endParaRPr lang="en-US" altLang="zh-CN" sz="1600" dirty="0"/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StrAssign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T,chars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StrCopy</a:t>
            </a:r>
            <a:r>
              <a:rPr lang="en-US" altLang="zh-CN" sz="1600" dirty="0"/>
              <a:t> (&amp;T,S);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StrEmpty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StrCompare</a:t>
            </a:r>
            <a:r>
              <a:rPr lang="en-US" altLang="zh-CN" sz="1600" dirty="0"/>
              <a:t>(S,T);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StrLength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ClearString</a:t>
            </a:r>
            <a:r>
              <a:rPr lang="en-US" altLang="zh-CN" sz="1600" dirty="0"/>
              <a:t>(&amp;S);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Concat</a:t>
            </a:r>
            <a:r>
              <a:rPr lang="en-US" altLang="zh-CN" sz="1600" dirty="0"/>
              <a:t>(&amp;T,S1,S2);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SubString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Sub,S,pos,len</a:t>
            </a:r>
            <a:r>
              <a:rPr lang="en-US" altLang="zh-CN" sz="1600" dirty="0"/>
              <a:t>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index(</a:t>
            </a:r>
            <a:r>
              <a:rPr lang="en-US" altLang="zh-CN" sz="1600" dirty="0" err="1"/>
              <a:t>S,T,pos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Replace(&amp;S,T,V);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StrInsert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S,pos,T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StrDelete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S,pos,len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DestroyString</a:t>
            </a:r>
            <a:r>
              <a:rPr lang="en-US" altLang="zh-CN" sz="1600" dirty="0"/>
              <a:t>(&amp;S);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} ADT String </a:t>
            </a:r>
            <a:endParaRPr lang="zh-CN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5905117" y="3068960"/>
            <a:ext cx="47287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8</a:t>
            </a:r>
            <a:r>
              <a:rPr lang="zh-CN" altLang="zh-CN" dirty="0"/>
              <a:t>）</a:t>
            </a:r>
            <a:r>
              <a:rPr lang="en-US" altLang="zh-CN" dirty="0" err="1"/>
              <a:t>SubString</a:t>
            </a:r>
            <a:r>
              <a:rPr lang="en-US" altLang="zh-CN" dirty="0"/>
              <a:t>(&amp;</a:t>
            </a:r>
            <a:r>
              <a:rPr lang="en-US" altLang="zh-CN" dirty="0" err="1"/>
              <a:t>Sub,S,pos,len</a:t>
            </a:r>
            <a:r>
              <a:rPr lang="en-US" altLang="zh-CN" dirty="0"/>
              <a:t>) 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</a:t>
            </a:r>
            <a:r>
              <a:rPr lang="zh-CN" altLang="en-US" dirty="0"/>
              <a:t>已经存在，</a:t>
            </a:r>
            <a:endParaRPr lang="en-US" altLang="zh-CN" dirty="0"/>
          </a:p>
          <a:p>
            <a:pPr marL="179388" indent="-179388"/>
            <a:r>
              <a:rPr lang="en-US" altLang="zh-CN" dirty="0"/>
              <a:t>                  1≤pos≤ </a:t>
            </a:r>
            <a:r>
              <a:rPr lang="en-US" altLang="zh-CN" dirty="0" err="1"/>
              <a:t>StrLength</a:t>
            </a:r>
            <a:r>
              <a:rPr lang="en-US" altLang="zh-CN" dirty="0"/>
              <a:t>(S)</a:t>
            </a:r>
          </a:p>
          <a:p>
            <a:pPr marL="179388" indent="-179388"/>
            <a:r>
              <a:rPr lang="en-US" altLang="zh-CN" dirty="0"/>
              <a:t>                  </a:t>
            </a:r>
            <a:r>
              <a:rPr lang="zh-CN" altLang="en-US" dirty="0"/>
              <a:t>且</a:t>
            </a:r>
            <a:r>
              <a:rPr lang="en-US" altLang="zh-CN" dirty="0"/>
              <a:t>0≤len≤StrLength(S)-pos+1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操作结果：用</a:t>
            </a:r>
            <a:r>
              <a:rPr lang="en-US" altLang="zh-CN" dirty="0"/>
              <a:t>Sub</a:t>
            </a:r>
            <a:r>
              <a:rPr lang="zh-CN" altLang="en-US" dirty="0"/>
              <a:t>返回</a:t>
            </a:r>
            <a:r>
              <a:rPr lang="en-US" altLang="zh-CN" dirty="0"/>
              <a:t>S</a:t>
            </a:r>
            <a:r>
              <a:rPr lang="zh-CN" altLang="en-US" dirty="0"/>
              <a:t>的第</a:t>
            </a:r>
            <a:r>
              <a:rPr lang="en-US" altLang="zh-CN" dirty="0" err="1"/>
              <a:t>pos</a:t>
            </a:r>
            <a:r>
              <a:rPr lang="zh-CN" altLang="en-US" dirty="0"/>
              <a:t>个字符起长度为</a:t>
            </a:r>
            <a:r>
              <a:rPr lang="en-US" altLang="zh-CN" dirty="0" err="1"/>
              <a:t>len</a:t>
            </a:r>
            <a:r>
              <a:rPr lang="zh-CN" altLang="en-US" dirty="0"/>
              <a:t>的子串；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974829" y="4970116"/>
            <a:ext cx="37881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比如：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S1=“This is a book.”</a:t>
            </a: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</a:p>
        </p:txBody>
      </p:sp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5974829" y="5765087"/>
            <a:ext cx="35269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Sub=“is”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F3909D-8B4B-467A-B7F1-A22FBB25C44C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1417133-C67C-7BFD-5675-729E470F7E1B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405723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19536" y="1258884"/>
            <a:ext cx="476359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串的抽象数据类型定义</a:t>
            </a:r>
          </a:p>
        </p:txBody>
      </p:sp>
      <p:sp>
        <p:nvSpPr>
          <p:cNvPr id="16" name="矩形 15"/>
          <p:cNvSpPr/>
          <p:nvPr/>
        </p:nvSpPr>
        <p:spPr>
          <a:xfrm>
            <a:off x="1343474" y="1767499"/>
            <a:ext cx="6496621" cy="4927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ADT String {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</a:t>
            </a:r>
            <a:r>
              <a:rPr lang="zh-CN" altLang="en-US" sz="1600" dirty="0"/>
              <a:t>数据对象：</a:t>
            </a:r>
            <a:r>
              <a:rPr lang="en-US" altLang="zh-CN" sz="1600" dirty="0"/>
              <a:t>D={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/>
              <a:t>|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>
                <a:sym typeface="Symbol" pitchFamily="18" charset="2"/>
              </a:rPr>
              <a:t></a:t>
            </a:r>
            <a:r>
              <a:rPr lang="en-US" altLang="zh-CN" sz="1600" dirty="0" err="1">
                <a:sym typeface="Symbol" pitchFamily="18" charset="2"/>
              </a:rPr>
              <a:t>CharacterSet</a:t>
            </a:r>
            <a:r>
              <a:rPr lang="en-US" altLang="zh-CN" sz="1600" dirty="0">
                <a:sym typeface="Symbol" pitchFamily="18" charset="2"/>
              </a:rPr>
              <a:t>, i=1,2,…n, n0 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数据关系：</a:t>
            </a:r>
            <a:r>
              <a:rPr lang="en-US" altLang="zh-CN" sz="1600" dirty="0"/>
              <a:t>R1={&lt;a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&gt; | 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 </a:t>
            </a:r>
            <a:r>
              <a:rPr lang="en-US" altLang="zh-CN" sz="1600" dirty="0">
                <a:sym typeface="Symbol" pitchFamily="18" charset="2"/>
              </a:rPr>
              <a:t>D, i=1,2,…n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基本运算：</a:t>
            </a:r>
            <a:endParaRPr lang="en-US" altLang="zh-CN" sz="1600" dirty="0"/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StrAssign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T,chars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StrCopy</a:t>
            </a:r>
            <a:r>
              <a:rPr lang="en-US" altLang="zh-CN" sz="1600" dirty="0"/>
              <a:t> (&amp;T,S);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StrEmpty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StrCompare</a:t>
            </a:r>
            <a:r>
              <a:rPr lang="en-US" altLang="zh-CN" sz="1600" dirty="0"/>
              <a:t>(S,T);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StrLength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ClearString</a:t>
            </a:r>
            <a:r>
              <a:rPr lang="en-US" altLang="zh-CN" sz="1600" dirty="0"/>
              <a:t>(&amp;S);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Concat</a:t>
            </a:r>
            <a:r>
              <a:rPr lang="en-US" altLang="zh-CN" sz="1600" dirty="0"/>
              <a:t>(&amp;T,S1,S2);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SubString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Sub,S,pos,len</a:t>
            </a:r>
            <a:r>
              <a:rPr lang="en-US" altLang="zh-CN" sz="1600" dirty="0"/>
              <a:t>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index(</a:t>
            </a:r>
            <a:r>
              <a:rPr lang="en-US" altLang="zh-CN" sz="1600" dirty="0" err="1"/>
              <a:t>S,T,pos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Replace(&amp;S,T,V);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StrInsert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S,pos,T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StrDelete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S,pos,len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DestroyString</a:t>
            </a:r>
            <a:r>
              <a:rPr lang="en-US" altLang="zh-CN" sz="1600" dirty="0"/>
              <a:t>(&amp;S);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} ADT String </a:t>
            </a:r>
            <a:endParaRPr lang="zh-CN" altLang="en-US" sz="1600" dirty="0"/>
          </a:p>
        </p:txBody>
      </p:sp>
      <p:sp>
        <p:nvSpPr>
          <p:cNvPr id="13" name="矩形 12"/>
          <p:cNvSpPr/>
          <p:nvPr/>
        </p:nvSpPr>
        <p:spPr>
          <a:xfrm>
            <a:off x="6082171" y="2852939"/>
            <a:ext cx="44500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9</a:t>
            </a:r>
            <a:r>
              <a:rPr lang="zh-CN" altLang="zh-CN" dirty="0"/>
              <a:t>）</a:t>
            </a:r>
            <a:r>
              <a:rPr lang="en-US" altLang="zh-CN" dirty="0"/>
              <a:t> index(</a:t>
            </a:r>
            <a:r>
              <a:rPr lang="en-US" altLang="zh-CN" dirty="0" err="1"/>
              <a:t>S,T,pos</a:t>
            </a:r>
            <a:r>
              <a:rPr lang="en-US" altLang="zh-CN" dirty="0"/>
              <a:t>)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已经存在</a:t>
            </a:r>
            <a:r>
              <a:rPr lang="en-US" altLang="zh-CN" dirty="0"/>
              <a:t>,T</a:t>
            </a:r>
            <a:r>
              <a:rPr lang="zh-CN" altLang="en-US" dirty="0"/>
              <a:t>为非空子串，  </a:t>
            </a:r>
            <a:endParaRPr lang="en-US" altLang="zh-CN" dirty="0"/>
          </a:p>
          <a:p>
            <a:pPr marL="179388" indent="-179388"/>
            <a:r>
              <a:rPr lang="en-US" altLang="zh-CN" dirty="0"/>
              <a:t>                   1≤pos≤ </a:t>
            </a:r>
            <a:r>
              <a:rPr lang="en-US" altLang="zh-CN" dirty="0" err="1"/>
              <a:t>StrLength</a:t>
            </a:r>
            <a:r>
              <a:rPr lang="en-US" altLang="zh-CN" dirty="0"/>
              <a:t>(S)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操作结果：若主串</a:t>
            </a:r>
            <a:r>
              <a:rPr lang="en-US" altLang="zh-CN" dirty="0"/>
              <a:t>S</a:t>
            </a:r>
            <a:r>
              <a:rPr lang="zh-CN" altLang="en-US" dirty="0"/>
              <a:t>中存在和串</a:t>
            </a:r>
            <a:r>
              <a:rPr lang="en-US" altLang="zh-CN" dirty="0"/>
              <a:t>T</a:t>
            </a:r>
            <a:r>
              <a:rPr lang="zh-CN" altLang="en-US" dirty="0"/>
              <a:t>值相同的子串，则返回他在主串</a:t>
            </a:r>
            <a:r>
              <a:rPr lang="en-US" altLang="zh-CN" dirty="0"/>
              <a:t>S</a:t>
            </a:r>
            <a:r>
              <a:rPr lang="zh-CN" altLang="en-US" dirty="0"/>
              <a:t>中的第一个</a:t>
            </a:r>
            <a:r>
              <a:rPr lang="en-US" altLang="zh-CN" dirty="0" err="1"/>
              <a:t>pos</a:t>
            </a:r>
            <a:r>
              <a:rPr lang="zh-CN" altLang="en-US" dirty="0"/>
              <a:t>个字符之后第一次出现的位置；否则函数值为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151885" y="5106986"/>
            <a:ext cx="378819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比如：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S=“This is a book.”</a:t>
            </a: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T=“is”</a:t>
            </a: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</a:p>
        </p:txBody>
      </p:sp>
      <p:sp>
        <p:nvSpPr>
          <p:cNvPr id="17" name="TextBox 7"/>
          <p:cNvSpPr txBox="1">
            <a:spLocks noChangeArrowheads="1"/>
          </p:cNvSpPr>
          <p:nvPr/>
        </p:nvSpPr>
        <p:spPr bwMode="auto">
          <a:xfrm>
            <a:off x="6151885" y="6122646"/>
            <a:ext cx="35269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则，函数值为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83A4B19-937D-44F3-9D29-A080AC3A34AF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56ED7DCC-E59F-C063-D263-6428D39DBBB2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79270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19536" y="1258884"/>
            <a:ext cx="476359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串的抽象数据类型定义</a:t>
            </a:r>
          </a:p>
        </p:txBody>
      </p:sp>
      <p:sp>
        <p:nvSpPr>
          <p:cNvPr id="16" name="矩形 15"/>
          <p:cNvSpPr/>
          <p:nvPr/>
        </p:nvSpPr>
        <p:spPr>
          <a:xfrm>
            <a:off x="1343474" y="1767499"/>
            <a:ext cx="6496621" cy="4927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ADT String {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</a:t>
            </a:r>
            <a:r>
              <a:rPr lang="zh-CN" altLang="en-US" sz="1600" dirty="0"/>
              <a:t>数据对象：</a:t>
            </a:r>
            <a:r>
              <a:rPr lang="en-US" altLang="zh-CN" sz="1600" dirty="0"/>
              <a:t>D={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/>
              <a:t>|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>
                <a:sym typeface="Symbol" pitchFamily="18" charset="2"/>
              </a:rPr>
              <a:t></a:t>
            </a:r>
            <a:r>
              <a:rPr lang="en-US" altLang="zh-CN" sz="1600" dirty="0" err="1">
                <a:sym typeface="Symbol" pitchFamily="18" charset="2"/>
              </a:rPr>
              <a:t>CharacterSet</a:t>
            </a:r>
            <a:r>
              <a:rPr lang="en-US" altLang="zh-CN" sz="1600" dirty="0">
                <a:sym typeface="Symbol" pitchFamily="18" charset="2"/>
              </a:rPr>
              <a:t>, i=1,2,…n, n0 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数据关系：</a:t>
            </a:r>
            <a:r>
              <a:rPr lang="en-US" altLang="zh-CN" sz="1600" dirty="0"/>
              <a:t>R1={&lt;a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&gt; | 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 </a:t>
            </a:r>
            <a:r>
              <a:rPr lang="en-US" altLang="zh-CN" sz="1600" dirty="0">
                <a:sym typeface="Symbol" pitchFamily="18" charset="2"/>
              </a:rPr>
              <a:t>D, i=1,2,…n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基本运算：</a:t>
            </a:r>
            <a:endParaRPr lang="en-US" altLang="zh-CN" sz="1600" dirty="0"/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StrAssign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T,chars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StrCopy</a:t>
            </a:r>
            <a:r>
              <a:rPr lang="en-US" altLang="zh-CN" sz="1600" dirty="0"/>
              <a:t> (&amp;T,S);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StrEmpty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StrCompare</a:t>
            </a:r>
            <a:r>
              <a:rPr lang="en-US" altLang="zh-CN" sz="1600" dirty="0"/>
              <a:t>(S,T);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StrLength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ClearString</a:t>
            </a:r>
            <a:r>
              <a:rPr lang="en-US" altLang="zh-CN" sz="1600" dirty="0"/>
              <a:t>(&amp;S);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Concat</a:t>
            </a:r>
            <a:r>
              <a:rPr lang="en-US" altLang="zh-CN" sz="1600" dirty="0"/>
              <a:t>(&amp;T,S1,S2);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SubString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Sub,S,pos,len</a:t>
            </a:r>
            <a:r>
              <a:rPr lang="en-US" altLang="zh-CN" sz="1600" dirty="0"/>
              <a:t>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index(</a:t>
            </a:r>
            <a:r>
              <a:rPr lang="en-US" altLang="zh-CN" sz="1600" dirty="0" err="1"/>
              <a:t>S,T,pos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Replace(&amp;S,T,V);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StrInsert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S,pos,T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StrDelete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S,pos,len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DestroyString</a:t>
            </a:r>
            <a:r>
              <a:rPr lang="en-US" altLang="zh-CN" sz="1600" dirty="0"/>
              <a:t>(&amp;S);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} ADT String </a:t>
            </a:r>
            <a:endParaRPr lang="zh-CN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6026286" y="3201501"/>
            <a:ext cx="44500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10</a:t>
            </a:r>
            <a:r>
              <a:rPr lang="zh-CN" altLang="zh-CN" dirty="0"/>
              <a:t>）</a:t>
            </a:r>
            <a:r>
              <a:rPr lang="en-US" altLang="zh-CN" dirty="0"/>
              <a:t> Replace(&amp;S,T,V)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T</a:t>
            </a:r>
            <a:r>
              <a:rPr lang="zh-CN" altLang="en-US" dirty="0"/>
              <a:t>和</a:t>
            </a:r>
            <a:r>
              <a:rPr lang="en-US" altLang="zh-CN" dirty="0"/>
              <a:t>V</a:t>
            </a:r>
            <a:r>
              <a:rPr lang="zh-CN" altLang="en-US" dirty="0"/>
              <a:t>已经存在</a:t>
            </a:r>
            <a:r>
              <a:rPr lang="en-US" altLang="zh-CN" dirty="0"/>
              <a:t>,T</a:t>
            </a:r>
            <a:r>
              <a:rPr lang="zh-CN" altLang="en-US" dirty="0"/>
              <a:t>为非空串；  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操作结果：用</a:t>
            </a:r>
            <a:r>
              <a:rPr lang="en-US" altLang="zh-CN" dirty="0"/>
              <a:t>V</a:t>
            </a:r>
            <a:r>
              <a:rPr lang="zh-CN" altLang="en-US" dirty="0"/>
              <a:t>替换主串</a:t>
            </a:r>
            <a:r>
              <a:rPr lang="en-US" altLang="zh-CN" dirty="0"/>
              <a:t>S</a:t>
            </a:r>
            <a:r>
              <a:rPr lang="zh-CN" altLang="en-US" dirty="0"/>
              <a:t>中存在所有与</a:t>
            </a:r>
            <a:r>
              <a:rPr lang="en-US" altLang="zh-CN" dirty="0"/>
              <a:t>T</a:t>
            </a:r>
            <a:r>
              <a:rPr lang="zh-CN" altLang="en-US" dirty="0"/>
              <a:t>相等的不重叠的子串；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096000" y="4531676"/>
            <a:ext cx="378819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比如：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S=“This is a book.”</a:t>
            </a: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T=“is”</a:t>
            </a: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V=“at”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096000" y="5547336"/>
            <a:ext cx="352694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则，函数值执行后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S=“That at a book.”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DAC0946-F969-43AA-9088-0A2896FC5DC1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F4235D34-A4D8-399E-441C-3BA2D7966606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5387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19536" y="1258884"/>
            <a:ext cx="476359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串的抽象数据类型定义</a:t>
            </a:r>
          </a:p>
        </p:txBody>
      </p:sp>
      <p:sp>
        <p:nvSpPr>
          <p:cNvPr id="16" name="矩形 15"/>
          <p:cNvSpPr/>
          <p:nvPr/>
        </p:nvSpPr>
        <p:spPr>
          <a:xfrm>
            <a:off x="1343474" y="1767499"/>
            <a:ext cx="6496621" cy="4927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ADT String {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</a:t>
            </a:r>
            <a:r>
              <a:rPr lang="zh-CN" altLang="en-US" sz="1600" dirty="0"/>
              <a:t>数据对象：</a:t>
            </a:r>
            <a:r>
              <a:rPr lang="en-US" altLang="zh-CN" sz="1600" dirty="0"/>
              <a:t>D={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/>
              <a:t>|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>
                <a:sym typeface="Symbol" pitchFamily="18" charset="2"/>
              </a:rPr>
              <a:t></a:t>
            </a:r>
            <a:r>
              <a:rPr lang="en-US" altLang="zh-CN" sz="1600" dirty="0" err="1">
                <a:sym typeface="Symbol" pitchFamily="18" charset="2"/>
              </a:rPr>
              <a:t>CharacterSet</a:t>
            </a:r>
            <a:r>
              <a:rPr lang="en-US" altLang="zh-CN" sz="1600" dirty="0">
                <a:sym typeface="Symbol" pitchFamily="18" charset="2"/>
              </a:rPr>
              <a:t>, i=1,2,…n, n0 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数据关系：</a:t>
            </a:r>
            <a:r>
              <a:rPr lang="en-US" altLang="zh-CN" sz="1600" dirty="0"/>
              <a:t>R1={&lt;a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&gt; | 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 </a:t>
            </a:r>
            <a:r>
              <a:rPr lang="en-US" altLang="zh-CN" sz="1600" dirty="0">
                <a:sym typeface="Symbol" pitchFamily="18" charset="2"/>
              </a:rPr>
              <a:t>D, i=1,2,…n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基本运算：</a:t>
            </a:r>
            <a:endParaRPr lang="en-US" altLang="zh-CN" sz="1600" dirty="0"/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StrAssign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T,chars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StrCopy</a:t>
            </a:r>
            <a:r>
              <a:rPr lang="en-US" altLang="zh-CN" sz="1600" dirty="0"/>
              <a:t> (&amp;T,S);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StrEmpty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StrCompare</a:t>
            </a:r>
            <a:r>
              <a:rPr lang="en-US" altLang="zh-CN" sz="1600" dirty="0"/>
              <a:t>(S,T);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StrLength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ClearString</a:t>
            </a:r>
            <a:r>
              <a:rPr lang="en-US" altLang="zh-CN" sz="1600" dirty="0"/>
              <a:t>(&amp;S);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Concat</a:t>
            </a:r>
            <a:r>
              <a:rPr lang="en-US" altLang="zh-CN" sz="1600" dirty="0"/>
              <a:t>(&amp;T,S1,S2);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SubString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Sub,S,pos,len</a:t>
            </a:r>
            <a:r>
              <a:rPr lang="en-US" altLang="zh-CN" sz="1600" dirty="0"/>
              <a:t>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index(</a:t>
            </a:r>
            <a:r>
              <a:rPr lang="en-US" altLang="zh-CN" sz="1600" dirty="0" err="1"/>
              <a:t>S,T,pos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Replace(&amp;S,T,V);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StrInsert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S,pos,T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StrDelete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S,pos,len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DestroyString</a:t>
            </a:r>
            <a:r>
              <a:rPr lang="en-US" altLang="zh-CN" sz="1600" dirty="0"/>
              <a:t>(&amp;S);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} ADT String </a:t>
            </a:r>
            <a:endParaRPr lang="zh-CN" altLang="en-US" sz="1600" dirty="0"/>
          </a:p>
        </p:txBody>
      </p:sp>
      <p:sp>
        <p:nvSpPr>
          <p:cNvPr id="13" name="矩形 12"/>
          <p:cNvSpPr/>
          <p:nvPr/>
        </p:nvSpPr>
        <p:spPr>
          <a:xfrm>
            <a:off x="6006909" y="2962378"/>
            <a:ext cx="44500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11</a:t>
            </a:r>
            <a:r>
              <a:rPr lang="zh-CN" altLang="zh-CN" dirty="0"/>
              <a:t>）</a:t>
            </a:r>
            <a:r>
              <a:rPr lang="en-US" altLang="zh-CN" dirty="0"/>
              <a:t> </a:t>
            </a:r>
            <a:r>
              <a:rPr lang="en-US" altLang="zh-CN" dirty="0" err="1"/>
              <a:t>StrInsert</a:t>
            </a:r>
            <a:r>
              <a:rPr lang="en-US" altLang="zh-CN" dirty="0"/>
              <a:t>(&amp;</a:t>
            </a:r>
            <a:r>
              <a:rPr lang="en-US" altLang="zh-CN" dirty="0" err="1"/>
              <a:t>S,pos,T</a:t>
            </a:r>
            <a:r>
              <a:rPr lang="en-US" altLang="zh-CN" dirty="0"/>
              <a:t>)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已经存在</a:t>
            </a:r>
            <a:endParaRPr lang="en-US" altLang="zh-CN" dirty="0"/>
          </a:p>
          <a:p>
            <a:pPr marL="179388" indent="-179388"/>
            <a:r>
              <a:rPr lang="en-US" altLang="zh-CN" dirty="0"/>
              <a:t>                  1≤pos≤ </a:t>
            </a:r>
            <a:r>
              <a:rPr lang="en-US" altLang="zh-CN" dirty="0" err="1"/>
              <a:t>StrLength</a:t>
            </a:r>
            <a:r>
              <a:rPr lang="en-US" altLang="zh-CN" dirty="0"/>
              <a:t>(S)+1</a:t>
            </a:r>
            <a:r>
              <a:rPr lang="zh-CN" altLang="en-US" dirty="0"/>
              <a:t>；  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操作结果：在串</a:t>
            </a:r>
            <a:r>
              <a:rPr lang="en-US" altLang="zh-CN" dirty="0"/>
              <a:t>S</a:t>
            </a:r>
            <a:r>
              <a:rPr lang="zh-CN" altLang="en-US" dirty="0"/>
              <a:t>的第</a:t>
            </a:r>
            <a:r>
              <a:rPr lang="en-US" altLang="zh-CN" dirty="0" err="1"/>
              <a:t>pos</a:t>
            </a:r>
            <a:r>
              <a:rPr lang="zh-CN" altLang="en-US" dirty="0"/>
              <a:t>个字符之前插入字符串</a:t>
            </a:r>
            <a:r>
              <a:rPr lang="en-US" altLang="zh-CN" dirty="0"/>
              <a:t>T</a:t>
            </a:r>
            <a:r>
              <a:rPr lang="zh-CN" altLang="en-US" dirty="0"/>
              <a:t>；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076623" y="4501572"/>
            <a:ext cx="378819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比如：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S=“This a book.”</a:t>
            </a: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6</a:t>
            </a: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T=“is</a:t>
            </a:r>
            <a:r>
              <a:rPr lang="el-GR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□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076623" y="5517232"/>
            <a:ext cx="352694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则，函数值执行后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S=“This is a book.”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5185793-A5E0-4DAE-AEEA-A5C468F0788F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5C19927B-CE81-C395-29AE-338D441BEE95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329871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19536" y="1258884"/>
            <a:ext cx="476359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串的抽象数据类型定义</a:t>
            </a:r>
          </a:p>
        </p:txBody>
      </p:sp>
      <p:sp>
        <p:nvSpPr>
          <p:cNvPr id="16" name="矩形 15"/>
          <p:cNvSpPr/>
          <p:nvPr/>
        </p:nvSpPr>
        <p:spPr>
          <a:xfrm>
            <a:off x="1343474" y="1767499"/>
            <a:ext cx="6496621" cy="4927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ADT String {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</a:t>
            </a:r>
            <a:r>
              <a:rPr lang="zh-CN" altLang="en-US" sz="1600" dirty="0"/>
              <a:t>数据对象：</a:t>
            </a:r>
            <a:r>
              <a:rPr lang="en-US" altLang="zh-CN" sz="1600" dirty="0"/>
              <a:t>D={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/>
              <a:t>|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>
                <a:sym typeface="Symbol" pitchFamily="18" charset="2"/>
              </a:rPr>
              <a:t></a:t>
            </a:r>
            <a:r>
              <a:rPr lang="en-US" altLang="zh-CN" sz="1600" dirty="0" err="1">
                <a:sym typeface="Symbol" pitchFamily="18" charset="2"/>
              </a:rPr>
              <a:t>CharacterSet</a:t>
            </a:r>
            <a:r>
              <a:rPr lang="en-US" altLang="zh-CN" sz="1600" dirty="0">
                <a:sym typeface="Symbol" pitchFamily="18" charset="2"/>
              </a:rPr>
              <a:t>, i=1,2,…n, n0 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数据关系：</a:t>
            </a:r>
            <a:r>
              <a:rPr lang="en-US" altLang="zh-CN" sz="1600" dirty="0"/>
              <a:t>R1={&lt;a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&gt; | 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 </a:t>
            </a:r>
            <a:r>
              <a:rPr lang="en-US" altLang="zh-CN" sz="1600" dirty="0">
                <a:sym typeface="Symbol" pitchFamily="18" charset="2"/>
              </a:rPr>
              <a:t>D, i=1,2,…n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基本运算：</a:t>
            </a:r>
            <a:endParaRPr lang="en-US" altLang="zh-CN" sz="1600" dirty="0"/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StrAssign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T,chars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StrCopy</a:t>
            </a:r>
            <a:r>
              <a:rPr lang="en-US" altLang="zh-CN" sz="1600" dirty="0"/>
              <a:t> (&amp;T,S);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StrEmpty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StrCompare</a:t>
            </a:r>
            <a:r>
              <a:rPr lang="en-US" altLang="zh-CN" sz="1600" dirty="0"/>
              <a:t>(S,T);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StrLength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ClearString</a:t>
            </a:r>
            <a:r>
              <a:rPr lang="en-US" altLang="zh-CN" sz="1600" dirty="0"/>
              <a:t>(&amp;S);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Concat</a:t>
            </a:r>
            <a:r>
              <a:rPr lang="en-US" altLang="zh-CN" sz="1600" dirty="0"/>
              <a:t>(&amp;T,S1,S2);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SubString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Sub,S,pos,len</a:t>
            </a:r>
            <a:r>
              <a:rPr lang="en-US" altLang="zh-CN" sz="1600" dirty="0"/>
              <a:t>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index(</a:t>
            </a:r>
            <a:r>
              <a:rPr lang="en-US" altLang="zh-CN" sz="1600" dirty="0" err="1"/>
              <a:t>S,T,pos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Replace(&amp;S,T,V);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StrInsert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S,pos,T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StrDelete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S,pos,len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DestroyString</a:t>
            </a:r>
            <a:r>
              <a:rPr lang="en-US" altLang="zh-CN" sz="1600" dirty="0"/>
              <a:t>(&amp;S);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} ADT String </a:t>
            </a:r>
            <a:endParaRPr lang="zh-CN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6173372" y="3001443"/>
            <a:ext cx="44500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12</a:t>
            </a:r>
            <a:r>
              <a:rPr lang="zh-CN" altLang="zh-CN" dirty="0"/>
              <a:t>）</a:t>
            </a:r>
            <a:r>
              <a:rPr lang="en-US" altLang="zh-CN" dirty="0"/>
              <a:t> </a:t>
            </a:r>
            <a:r>
              <a:rPr lang="en-US" altLang="zh-CN" dirty="0" err="1"/>
              <a:t>StrDelete</a:t>
            </a:r>
            <a:r>
              <a:rPr lang="en-US" altLang="zh-CN" dirty="0"/>
              <a:t>(&amp;</a:t>
            </a:r>
            <a:r>
              <a:rPr lang="en-US" altLang="zh-CN" dirty="0" err="1"/>
              <a:t>S,pos,len</a:t>
            </a:r>
            <a:r>
              <a:rPr lang="en-US" altLang="zh-CN" dirty="0"/>
              <a:t>)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</a:t>
            </a:r>
            <a:r>
              <a:rPr lang="zh-CN" altLang="en-US" dirty="0"/>
              <a:t>已经存在</a:t>
            </a:r>
            <a:endParaRPr lang="en-US" altLang="zh-CN" dirty="0"/>
          </a:p>
          <a:p>
            <a:pPr marL="179388" indent="-179388"/>
            <a:r>
              <a:rPr lang="en-US" altLang="zh-CN" dirty="0"/>
              <a:t>                  1≤pos≤ </a:t>
            </a:r>
            <a:r>
              <a:rPr lang="en-US" altLang="zh-CN" dirty="0" err="1"/>
              <a:t>StrLength</a:t>
            </a:r>
            <a:r>
              <a:rPr lang="en-US" altLang="zh-CN" dirty="0"/>
              <a:t>(S)-len+1</a:t>
            </a:r>
            <a:r>
              <a:rPr lang="zh-CN" altLang="en-US" dirty="0"/>
              <a:t>；  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操作结果：从串</a:t>
            </a:r>
            <a:r>
              <a:rPr lang="en-US" altLang="zh-CN" dirty="0"/>
              <a:t>S</a:t>
            </a:r>
            <a:r>
              <a:rPr lang="zh-CN" altLang="en-US" dirty="0"/>
              <a:t>中删除第</a:t>
            </a:r>
            <a:r>
              <a:rPr lang="en-US" altLang="zh-CN" dirty="0" err="1"/>
              <a:t>pos</a:t>
            </a:r>
            <a:r>
              <a:rPr lang="zh-CN" altLang="en-US" dirty="0"/>
              <a:t>个字符起长度为</a:t>
            </a:r>
            <a:r>
              <a:rPr lang="en-US" altLang="zh-CN" dirty="0" err="1"/>
              <a:t>len</a:t>
            </a:r>
            <a:r>
              <a:rPr lang="zh-CN" altLang="en-US" dirty="0"/>
              <a:t>的子串；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3086" y="4540637"/>
            <a:ext cx="378819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比如：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S=“This is a book.”</a:t>
            </a: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6</a:t>
            </a: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243086" y="5556297"/>
            <a:ext cx="352694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则，函数值执行后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eaLnBrk="1" hangingPunct="1"/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S=“This a book.”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77AFFDA-6127-4899-912E-331D8EB7EAFE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B58321E-1A11-C0E2-512E-662C9B8C141E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407561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19536" y="1258884"/>
            <a:ext cx="476359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串的抽象数据类型定义</a:t>
            </a:r>
          </a:p>
        </p:txBody>
      </p:sp>
      <p:sp>
        <p:nvSpPr>
          <p:cNvPr id="16" name="矩形 15"/>
          <p:cNvSpPr/>
          <p:nvPr/>
        </p:nvSpPr>
        <p:spPr>
          <a:xfrm>
            <a:off x="1343474" y="1767499"/>
            <a:ext cx="6496621" cy="4927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ADT String {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</a:t>
            </a:r>
            <a:r>
              <a:rPr lang="zh-CN" altLang="en-US" sz="1600" dirty="0"/>
              <a:t>数据对象：</a:t>
            </a:r>
            <a:r>
              <a:rPr lang="en-US" altLang="zh-CN" sz="1600" dirty="0"/>
              <a:t>D={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/>
              <a:t>|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>
                <a:sym typeface="Symbol" pitchFamily="18" charset="2"/>
              </a:rPr>
              <a:t></a:t>
            </a:r>
            <a:r>
              <a:rPr lang="en-US" altLang="zh-CN" sz="1600" dirty="0" err="1">
                <a:sym typeface="Symbol" pitchFamily="18" charset="2"/>
              </a:rPr>
              <a:t>CharacterSet</a:t>
            </a:r>
            <a:r>
              <a:rPr lang="en-US" altLang="zh-CN" sz="1600" dirty="0">
                <a:sym typeface="Symbol" pitchFamily="18" charset="2"/>
              </a:rPr>
              <a:t>, i=1,2,…n, n0 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数据关系：</a:t>
            </a:r>
            <a:r>
              <a:rPr lang="en-US" altLang="zh-CN" sz="1600" dirty="0"/>
              <a:t>R1={&lt;a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&gt; | 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 </a:t>
            </a:r>
            <a:r>
              <a:rPr lang="en-US" altLang="zh-CN" sz="1600" dirty="0">
                <a:sym typeface="Symbol" pitchFamily="18" charset="2"/>
              </a:rPr>
              <a:t>D, i=1,2,…n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基本运算：</a:t>
            </a:r>
            <a:endParaRPr lang="en-US" altLang="zh-CN" sz="1600" dirty="0"/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StrAssign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T,chars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StrCopy</a:t>
            </a:r>
            <a:r>
              <a:rPr lang="en-US" altLang="zh-CN" sz="1600" dirty="0"/>
              <a:t> (&amp;T,S);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StrEmpty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StrCompare</a:t>
            </a:r>
            <a:r>
              <a:rPr lang="en-US" altLang="zh-CN" sz="1600" dirty="0"/>
              <a:t>(S,T);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StrLength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ClearString</a:t>
            </a:r>
            <a:r>
              <a:rPr lang="en-US" altLang="zh-CN" sz="1600" dirty="0"/>
              <a:t>(&amp;S);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Concat</a:t>
            </a:r>
            <a:r>
              <a:rPr lang="en-US" altLang="zh-CN" sz="1600" dirty="0"/>
              <a:t>(&amp;T,S1,S2);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SubString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Sub,S,pos,len</a:t>
            </a:r>
            <a:r>
              <a:rPr lang="en-US" altLang="zh-CN" sz="1600" dirty="0"/>
              <a:t>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index(</a:t>
            </a:r>
            <a:r>
              <a:rPr lang="en-US" altLang="zh-CN" sz="1600" dirty="0" err="1"/>
              <a:t>S,T,pos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Replace(&amp;S,T,V);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StrInsert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S,pos,T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StrDelete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S,pos,len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DestroyString</a:t>
            </a:r>
            <a:r>
              <a:rPr lang="en-US" altLang="zh-CN" sz="1600" dirty="0"/>
              <a:t>(&amp;S);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} ADT String </a:t>
            </a:r>
            <a:endParaRPr lang="zh-CN" altLang="en-US" sz="1600" dirty="0"/>
          </a:p>
        </p:txBody>
      </p:sp>
      <p:sp>
        <p:nvSpPr>
          <p:cNvPr id="13" name="矩形 12"/>
          <p:cNvSpPr/>
          <p:nvPr/>
        </p:nvSpPr>
        <p:spPr>
          <a:xfrm>
            <a:off x="6699377" y="3658825"/>
            <a:ext cx="30963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zh-CN" dirty="0"/>
              <a:t>（</a:t>
            </a:r>
            <a:r>
              <a:rPr lang="en-US" altLang="zh-CN" dirty="0"/>
              <a:t>13</a:t>
            </a:r>
            <a:r>
              <a:rPr lang="zh-CN" altLang="zh-CN" dirty="0"/>
              <a:t>）</a:t>
            </a:r>
            <a:r>
              <a:rPr lang="en-US" altLang="zh-CN" dirty="0"/>
              <a:t> </a:t>
            </a:r>
            <a:r>
              <a:rPr lang="en-US" altLang="zh-CN" dirty="0" err="1"/>
              <a:t>DestroyString</a:t>
            </a:r>
            <a:r>
              <a:rPr lang="en-US" altLang="zh-CN" dirty="0"/>
              <a:t>(&amp;S)</a:t>
            </a:r>
          </a:p>
          <a:p>
            <a:pPr marL="179388" indent="-179388"/>
            <a:r>
              <a:rPr lang="zh-CN" altLang="en-US" dirty="0"/>
              <a:t>初始条件：串</a:t>
            </a:r>
            <a:r>
              <a:rPr lang="en-US" altLang="zh-CN" dirty="0"/>
              <a:t>S</a:t>
            </a:r>
            <a:r>
              <a:rPr lang="zh-CN" altLang="en-US" dirty="0"/>
              <a:t>已经存在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操作结果：串</a:t>
            </a:r>
            <a:r>
              <a:rPr lang="en-US" altLang="zh-CN" dirty="0"/>
              <a:t>S</a:t>
            </a:r>
            <a:r>
              <a:rPr lang="zh-CN" altLang="en-US" dirty="0"/>
              <a:t>被销毁；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5DEBF1E-3975-42B7-AA99-D1D1F5D19B6A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901E92DC-A475-9BED-C1E5-064D28E93709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1771264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19536" y="1258884"/>
            <a:ext cx="476359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.1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串的抽象数据类型定义</a:t>
            </a:r>
          </a:p>
        </p:txBody>
      </p:sp>
      <p:sp>
        <p:nvSpPr>
          <p:cNvPr id="16" name="矩形 15"/>
          <p:cNvSpPr/>
          <p:nvPr/>
        </p:nvSpPr>
        <p:spPr>
          <a:xfrm>
            <a:off x="1343474" y="1767499"/>
            <a:ext cx="6496621" cy="4927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ADT String {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</a:t>
            </a:r>
            <a:r>
              <a:rPr lang="zh-CN" altLang="en-US" sz="1600" dirty="0"/>
              <a:t>数据对象：</a:t>
            </a:r>
            <a:r>
              <a:rPr lang="en-US" altLang="zh-CN" sz="1600" dirty="0"/>
              <a:t>D={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/>
              <a:t>| </a:t>
            </a:r>
            <a:r>
              <a:rPr lang="en-US" altLang="zh-CN" sz="1600" dirty="0" err="1"/>
              <a:t>a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>
                <a:sym typeface="Symbol" pitchFamily="18" charset="2"/>
              </a:rPr>
              <a:t></a:t>
            </a:r>
            <a:r>
              <a:rPr lang="en-US" altLang="zh-CN" sz="1600" dirty="0" err="1">
                <a:sym typeface="Symbol" pitchFamily="18" charset="2"/>
              </a:rPr>
              <a:t>CharacterSet</a:t>
            </a:r>
            <a:r>
              <a:rPr lang="en-US" altLang="zh-CN" sz="1600" dirty="0">
                <a:sym typeface="Symbol" pitchFamily="18" charset="2"/>
              </a:rPr>
              <a:t>, i=1,2,…n, n0 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数据关系：</a:t>
            </a:r>
            <a:r>
              <a:rPr lang="en-US" altLang="zh-CN" sz="1600" dirty="0"/>
              <a:t>R1={&lt;a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&gt; | a</a:t>
            </a:r>
            <a:r>
              <a:rPr lang="en-US" altLang="zh-CN" sz="1600" baseline="-25000" dirty="0"/>
              <a:t>i-1</a:t>
            </a:r>
            <a:r>
              <a:rPr lang="en-US" altLang="zh-CN" sz="1600" dirty="0"/>
              <a:t>,a</a:t>
            </a:r>
            <a:r>
              <a:rPr lang="en-US" altLang="zh-CN" sz="1600" baseline="-25000" dirty="0"/>
              <a:t>i </a:t>
            </a:r>
            <a:r>
              <a:rPr lang="en-US" altLang="zh-CN" sz="1600" dirty="0">
                <a:sym typeface="Symbol" pitchFamily="18" charset="2"/>
              </a:rPr>
              <a:t>D, i=1,2,…n</a:t>
            </a:r>
            <a:r>
              <a:rPr lang="en-US" altLang="zh-CN" sz="1600" dirty="0"/>
              <a:t>}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zh-CN" altLang="en-US" sz="1600" dirty="0"/>
              <a:t>        基本运算：</a:t>
            </a:r>
            <a:endParaRPr lang="en-US" altLang="zh-CN" sz="1600" dirty="0"/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>
                <a:solidFill>
                  <a:srgbClr val="FF0000"/>
                </a:solidFill>
              </a:rPr>
              <a:t>StrAssign</a:t>
            </a:r>
            <a:r>
              <a:rPr lang="en-US" altLang="zh-CN" sz="1600" dirty="0">
                <a:solidFill>
                  <a:srgbClr val="FF0000"/>
                </a:solidFill>
              </a:rPr>
              <a:t>(&amp;</a:t>
            </a:r>
            <a:r>
              <a:rPr lang="en-US" altLang="zh-CN" sz="1600" dirty="0" err="1">
                <a:solidFill>
                  <a:srgbClr val="FF0000"/>
                </a:solidFill>
              </a:rPr>
              <a:t>T,chars</a:t>
            </a:r>
            <a:r>
              <a:rPr lang="en-US" altLang="zh-CN" sz="1600" dirty="0">
                <a:solidFill>
                  <a:srgbClr val="FF0000"/>
                </a:solidFill>
              </a:rPr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StrCopy</a:t>
            </a:r>
            <a:r>
              <a:rPr lang="en-US" altLang="zh-CN" sz="1600" dirty="0"/>
              <a:t> (&amp;T,S);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StrEmpty</a:t>
            </a:r>
            <a:r>
              <a:rPr lang="en-US" altLang="zh-CN" sz="1600" dirty="0"/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>
                <a:solidFill>
                  <a:srgbClr val="FF0000"/>
                </a:solidFill>
              </a:rPr>
              <a:t>StrCompare</a:t>
            </a:r>
            <a:r>
              <a:rPr lang="en-US" altLang="zh-CN" sz="1600" dirty="0">
                <a:solidFill>
                  <a:srgbClr val="FF0000"/>
                </a:solidFill>
              </a:rPr>
              <a:t>(S,T);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>
                <a:solidFill>
                  <a:srgbClr val="FF0000"/>
                </a:solidFill>
              </a:rPr>
              <a:t>                      </a:t>
            </a:r>
            <a:r>
              <a:rPr lang="en-US" altLang="zh-CN" sz="1600" dirty="0" err="1">
                <a:solidFill>
                  <a:srgbClr val="FF0000"/>
                </a:solidFill>
              </a:rPr>
              <a:t>StrLength</a:t>
            </a:r>
            <a:r>
              <a:rPr lang="en-US" altLang="zh-CN" sz="1600" dirty="0">
                <a:solidFill>
                  <a:srgbClr val="FF0000"/>
                </a:solidFill>
              </a:rPr>
              <a:t>(S);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ClearString</a:t>
            </a:r>
            <a:r>
              <a:rPr lang="en-US" altLang="zh-CN" sz="1600" dirty="0"/>
              <a:t>(&amp;S);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>
                <a:solidFill>
                  <a:srgbClr val="FF0000"/>
                </a:solidFill>
              </a:rPr>
              <a:t>                      </a:t>
            </a:r>
            <a:r>
              <a:rPr lang="en-US" altLang="zh-CN" sz="1600" dirty="0" err="1">
                <a:solidFill>
                  <a:srgbClr val="FF0000"/>
                </a:solidFill>
              </a:rPr>
              <a:t>Concat</a:t>
            </a:r>
            <a:r>
              <a:rPr lang="en-US" altLang="zh-CN" sz="1600" dirty="0">
                <a:solidFill>
                  <a:srgbClr val="FF0000"/>
                </a:solidFill>
              </a:rPr>
              <a:t>(&amp;T,S1,S2);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>
                <a:solidFill>
                  <a:srgbClr val="FF0000"/>
                </a:solidFill>
              </a:rPr>
              <a:t>                      </a:t>
            </a:r>
            <a:r>
              <a:rPr lang="en-US" altLang="zh-CN" sz="1600" dirty="0" err="1">
                <a:solidFill>
                  <a:srgbClr val="FF0000"/>
                </a:solidFill>
              </a:rPr>
              <a:t>SubString</a:t>
            </a:r>
            <a:r>
              <a:rPr lang="en-US" altLang="zh-CN" sz="1600" dirty="0">
                <a:solidFill>
                  <a:srgbClr val="FF0000"/>
                </a:solidFill>
              </a:rPr>
              <a:t>(&amp;</a:t>
            </a:r>
            <a:r>
              <a:rPr lang="en-US" altLang="zh-CN" sz="1600" dirty="0" err="1">
                <a:solidFill>
                  <a:srgbClr val="FF0000"/>
                </a:solidFill>
              </a:rPr>
              <a:t>Sub,S,pos,len</a:t>
            </a:r>
            <a:r>
              <a:rPr lang="en-US" altLang="zh-CN" sz="1600" dirty="0">
                <a:solidFill>
                  <a:srgbClr val="FF0000"/>
                </a:solidFill>
              </a:rPr>
              <a:t>); 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index(</a:t>
            </a:r>
            <a:r>
              <a:rPr lang="en-US" altLang="zh-CN" sz="1600" dirty="0" err="1"/>
              <a:t>S,T,pos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Replace(&amp;S,T,V);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StrInsert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S,pos,T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StrDelete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S,pos,len</a:t>
            </a:r>
            <a:r>
              <a:rPr lang="en-US" altLang="zh-CN" sz="1600" dirty="0"/>
              <a:t>);</a:t>
            </a:r>
          </a:p>
          <a:p>
            <a:pPr lvl="2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                      </a:t>
            </a:r>
            <a:r>
              <a:rPr lang="en-US" altLang="zh-CN" sz="1600" dirty="0" err="1"/>
              <a:t>DestroyString</a:t>
            </a:r>
            <a:r>
              <a:rPr lang="en-US" altLang="zh-CN" sz="1600" dirty="0"/>
              <a:t>(&amp;S);</a:t>
            </a:r>
          </a:p>
          <a:p>
            <a:pPr lvl="1">
              <a:lnSpc>
                <a:spcPts val="2100"/>
              </a:lnSpc>
              <a:buClr>
                <a:schemeClr val="tx1"/>
              </a:buClr>
            </a:pPr>
            <a:r>
              <a:rPr lang="en-US" altLang="zh-CN" sz="1600" dirty="0"/>
              <a:t>} ADT String </a:t>
            </a:r>
            <a:endParaRPr lang="zh-CN" altLang="en-US" sz="160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1CA8984-9B88-48A1-90CB-7082F6BBCD43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7F35EC8-C7C3-2CCC-F03E-E42CAE8E53EB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</a:t>
            </a:r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.1 串的基本概念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918036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C31F6-65FE-6FEA-C51C-0D527FA0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82DFB20-E133-B766-559E-B20FA418152A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4.2 串的存储结构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00B20B-5602-FCEA-EE1B-94EA961CC236}"/>
              </a:ext>
            </a:extLst>
          </p:cNvPr>
          <p:cNvSpPr/>
          <p:nvPr/>
        </p:nvSpPr>
        <p:spPr>
          <a:xfrm>
            <a:off x="436792" y="1221099"/>
            <a:ext cx="6483842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4.2.1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串的顺序存储及其基本操作实现  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49EC025-DF7F-EE71-7D82-6E9813F1F70C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3">
            <a:extLst>
              <a:ext uri="{FF2B5EF4-FFF2-40B4-BE49-F238E27FC236}">
                <a16:creationId xmlns:a16="http://schemas.microsoft.com/office/drawing/2014/main" id="{CDDCFB64-6EDF-D306-48E9-79EA51867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983531"/>
            <a:ext cx="8362952" cy="422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串中元素逻辑关系与线性表的相同，串可以采用与线性表相同的存储结构。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78A65AEA-3D8A-85A2-3A15-124330C88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8954" y="2918746"/>
            <a:ext cx="13573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rgbClr val="339933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逻辑结构</a:t>
            </a:r>
          </a:p>
        </p:txBody>
      </p:sp>
      <p:sp>
        <p:nvSpPr>
          <p:cNvPr id="27" name="Text Box 11">
            <a:extLst>
              <a:ext uri="{FF2B5EF4-FFF2-40B4-BE49-F238E27FC236}">
                <a16:creationId xmlns:a16="http://schemas.microsoft.com/office/drawing/2014/main" id="{7F7FA494-10D8-0DE2-E4AA-3C5C145D0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5918" y="4069683"/>
            <a:ext cx="14398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339933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存储结构</a:t>
            </a:r>
          </a:p>
        </p:txBody>
      </p:sp>
      <p:sp>
        <p:nvSpPr>
          <p:cNvPr id="28" name="Line 12">
            <a:extLst>
              <a:ext uri="{FF2B5EF4-FFF2-40B4-BE49-F238E27FC236}">
                <a16:creationId xmlns:a16="http://schemas.microsoft.com/office/drawing/2014/main" id="{D78A8116-5C9E-8FFD-36B2-623B9202AE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3334" y="3350546"/>
            <a:ext cx="0" cy="719137"/>
          </a:xfrm>
          <a:prstGeom prst="line">
            <a:avLst/>
          </a:prstGeom>
          <a:noFill/>
          <a:ln w="38100">
            <a:solidFill>
              <a:srgbClr val="FF00FF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pPr algn="ctr"/>
            <a:endParaRPr lang="zh-CN" altLang="en-US"/>
          </a:p>
        </p:txBody>
      </p:sp>
      <p:sp>
        <p:nvSpPr>
          <p:cNvPr id="29" name="Text Box 5">
            <a:extLst>
              <a:ext uri="{FF2B5EF4-FFF2-40B4-BE49-F238E27FC236}">
                <a16:creationId xmlns:a16="http://schemas.microsoft.com/office/drawing/2014/main" id="{2079D26F-F0B8-59C8-E8AD-B12039AD6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993" y="2990184"/>
            <a:ext cx="1063639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线性表</a:t>
            </a:r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D858ACD4-DF16-1689-BF99-79B9D33EB482}"/>
              </a:ext>
            </a:extLst>
          </p:cNvPr>
          <p:cNvSpPr>
            <a:spLocks/>
          </p:cNvSpPr>
          <p:nvPr/>
        </p:nvSpPr>
        <p:spPr bwMode="auto">
          <a:xfrm>
            <a:off x="4103055" y="3429000"/>
            <a:ext cx="484197" cy="724821"/>
          </a:xfrm>
          <a:custGeom>
            <a:avLst/>
            <a:gdLst/>
            <a:ahLst/>
            <a:cxnLst>
              <a:cxn ang="0">
                <a:pos x="267" y="0"/>
              </a:cxn>
              <a:cxn ang="0">
                <a:pos x="0" y="416"/>
              </a:cxn>
            </a:cxnLst>
            <a:rect l="0" t="0" r="r" b="b"/>
            <a:pathLst>
              <a:path w="267" h="416">
                <a:moveTo>
                  <a:pt x="267" y="0"/>
                </a:moveTo>
                <a:lnTo>
                  <a:pt x="0" y="416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/>
          <a:lstStyle/>
          <a:p>
            <a:pPr algn="ctr"/>
            <a:endParaRPr lang="zh-CN" altLang="en-US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2138F75E-315E-13FA-29BE-D905851DEA4D}"/>
              </a:ext>
            </a:extLst>
          </p:cNvPr>
          <p:cNvSpPr>
            <a:spLocks/>
          </p:cNvSpPr>
          <p:nvPr/>
        </p:nvSpPr>
        <p:spPr bwMode="auto">
          <a:xfrm>
            <a:off x="5015880" y="3429000"/>
            <a:ext cx="428627" cy="71437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56" y="368"/>
              </a:cxn>
            </a:cxnLst>
            <a:rect l="0" t="0" r="r" b="b"/>
            <a:pathLst>
              <a:path w="256" h="368">
                <a:moveTo>
                  <a:pt x="0" y="0"/>
                </a:moveTo>
                <a:lnTo>
                  <a:pt x="256" y="368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/>
          <a:lstStyle/>
          <a:p>
            <a:pPr algn="ctr"/>
            <a:endParaRPr lang="zh-CN" altLang="en-US"/>
          </a:p>
        </p:txBody>
      </p:sp>
      <p:sp>
        <p:nvSpPr>
          <p:cNvPr id="32" name="Text Box 8">
            <a:extLst>
              <a:ext uri="{FF2B5EF4-FFF2-40B4-BE49-F238E27FC236}">
                <a16:creationId xmlns:a16="http://schemas.microsoft.com/office/drawing/2014/main" id="{02E26952-41CF-86D3-0225-DC1FA4EB1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1369" y="4141121"/>
            <a:ext cx="1214446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0000FF"/>
                </a:solidFill>
                <a:latin typeface="方正兰亭超细黑简体" pitchFamily="2" charset="-122"/>
                <a:ea typeface="方正兰亭超细黑简体" pitchFamily="2" charset="-122"/>
                <a:cs typeface="Times New Roman" pitchFamily="18" charset="0"/>
              </a:rPr>
              <a:t>顺序表</a:t>
            </a:r>
          </a:p>
        </p:txBody>
      </p:sp>
      <p:sp>
        <p:nvSpPr>
          <p:cNvPr id="33" name="Text Box 9">
            <a:extLst>
              <a:ext uri="{FF2B5EF4-FFF2-40B4-BE49-F238E27FC236}">
                <a16:creationId xmlns:a16="http://schemas.microsoft.com/office/drawing/2014/main" id="{59512B1A-776E-0533-5DAA-64914E7D8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030" y="4141121"/>
            <a:ext cx="985858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0000FF"/>
                </a:solidFill>
                <a:latin typeface="方正兰亭超细黑简体" pitchFamily="2" charset="-122"/>
                <a:ea typeface="方正兰亭超细黑简体" pitchFamily="2" charset="-122"/>
                <a:cs typeface="Times New Roman" pitchFamily="18" charset="0"/>
              </a:rPr>
              <a:t>链 表</a:t>
            </a: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69E0B4E0-BE28-AE55-7658-F7864F33248F}"/>
              </a:ext>
            </a:extLst>
          </p:cNvPr>
          <p:cNvSpPr txBox="1"/>
          <p:nvPr/>
        </p:nvSpPr>
        <p:spPr>
          <a:xfrm>
            <a:off x="3158492" y="5072074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顺序串</a:t>
            </a:r>
          </a:p>
        </p:txBody>
      </p:sp>
      <p:sp>
        <p:nvSpPr>
          <p:cNvPr id="35" name="下箭头 24">
            <a:extLst>
              <a:ext uri="{FF2B5EF4-FFF2-40B4-BE49-F238E27FC236}">
                <a16:creationId xmlns:a16="http://schemas.microsoft.com/office/drawing/2014/main" id="{584B85D8-0150-A379-FD45-B3FF15D949C5}"/>
              </a:ext>
            </a:extLst>
          </p:cNvPr>
          <p:cNvSpPr/>
          <p:nvPr/>
        </p:nvSpPr>
        <p:spPr>
          <a:xfrm>
            <a:off x="3872872" y="4714884"/>
            <a:ext cx="142876" cy="285752"/>
          </a:xfrm>
          <a:prstGeom prst="down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E070506F-EF2B-FF8B-3546-F67DBB61064D}"/>
              </a:ext>
            </a:extLst>
          </p:cNvPr>
          <p:cNvSpPr txBox="1"/>
          <p:nvPr/>
        </p:nvSpPr>
        <p:spPr>
          <a:xfrm>
            <a:off x="4873004" y="5072074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链串</a:t>
            </a:r>
          </a:p>
        </p:txBody>
      </p:sp>
      <p:sp>
        <p:nvSpPr>
          <p:cNvPr id="37" name="下箭头 26">
            <a:extLst>
              <a:ext uri="{FF2B5EF4-FFF2-40B4-BE49-F238E27FC236}">
                <a16:creationId xmlns:a16="http://schemas.microsoft.com/office/drawing/2014/main" id="{DE714DC5-6C9E-06DC-61A0-86FEF459C630}"/>
              </a:ext>
            </a:extLst>
          </p:cNvPr>
          <p:cNvSpPr/>
          <p:nvPr/>
        </p:nvSpPr>
        <p:spPr>
          <a:xfrm>
            <a:off x="5587384" y="4714884"/>
            <a:ext cx="142876" cy="285752"/>
          </a:xfrm>
          <a:prstGeom prst="down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292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D2BE-3B33-8388-A68B-1D1B4AE7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A0D87C2-4B74-89D2-0BBF-CE695EF6A05B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4.2 串的存储结构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32896F-9D3D-5334-03D6-BF71DB872F06}"/>
              </a:ext>
            </a:extLst>
          </p:cNvPr>
          <p:cNvSpPr/>
          <p:nvPr/>
        </p:nvSpPr>
        <p:spPr>
          <a:xfrm>
            <a:off x="436792" y="1221099"/>
            <a:ext cx="6483842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4.2.1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串的顺序存储及其基本操作实现  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9DB4F9D-6C35-9906-A1C8-04A6396C3F56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561D530A-EE50-3FF4-8F26-DC7843121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2002283"/>
            <a:ext cx="82153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对于非紧缩格式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（一个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char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存放一个字符）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顺序串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其类型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声明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如下：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</a:t>
            </a:r>
          </a:p>
        </p:txBody>
      </p:sp>
      <p:sp>
        <p:nvSpPr>
          <p:cNvPr id="3" name="Text Box 1027">
            <a:extLst>
              <a:ext uri="{FF2B5EF4-FFF2-40B4-BE49-F238E27FC236}">
                <a16:creationId xmlns:a16="http://schemas.microsoft.com/office/drawing/2014/main" id="{BC448A05-365E-BC65-90DF-080B2CEFD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538" y="2899711"/>
            <a:ext cx="4743458" cy="2245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#define </a:t>
            </a:r>
            <a:r>
              <a:rPr kumimoji="1" lang="en-US" altLang="zh-CN" sz="1800" dirty="0" err="1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MaxSize</a:t>
            </a:r>
            <a:r>
              <a:rPr kumimoji="1"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100</a:t>
            </a:r>
          </a:p>
          <a:p>
            <a:pPr>
              <a:lnSpc>
                <a:spcPct val="150000"/>
              </a:lnSpc>
            </a:pPr>
            <a:r>
              <a:rPr kumimoji="1" lang="en-US" altLang="zh-CN" sz="1800" dirty="0" err="1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typedef</a:t>
            </a:r>
            <a:r>
              <a:rPr kumimoji="1"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kumimoji="1" lang="en-US" altLang="zh-CN" sz="1800" dirty="0" err="1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struct</a:t>
            </a:r>
            <a:endParaRPr kumimoji="1" lang="en-US" altLang="zh-CN" sz="1800" dirty="0">
              <a:solidFill>
                <a:srgbClr val="3333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  </a:t>
            </a:r>
            <a:r>
              <a:rPr kumimoji="1" lang="en-US" altLang="zh-CN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char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kumimoji="1"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data[</a:t>
            </a:r>
            <a:r>
              <a:rPr kumimoji="1" lang="en-US" altLang="zh-CN" sz="1800" dirty="0" err="1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MaxSize</a:t>
            </a:r>
            <a:r>
              <a:rPr kumimoji="1"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];</a:t>
            </a:r>
          </a:p>
          <a:p>
            <a:pPr>
              <a:lnSpc>
                <a:spcPct val="150000"/>
              </a:lnSpc>
            </a:pP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kumimoji="1" lang="en-US" altLang="zh-CN" sz="1800" dirty="0" err="1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int</a:t>
            </a:r>
            <a:r>
              <a:rPr kumimoji="1"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length;</a:t>
            </a:r>
          </a:p>
          <a:p>
            <a:pPr>
              <a:lnSpc>
                <a:spcPct val="150000"/>
              </a:lnSpc>
            </a:pPr>
            <a:r>
              <a:rPr kumimoji="1"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  </a:t>
            </a:r>
            <a:r>
              <a:rPr kumimoji="1" lang="en-US" altLang="zh-CN" sz="1800" dirty="0" err="1">
                <a:solidFill>
                  <a:srgbClr val="FF33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SqString</a:t>
            </a:r>
            <a:r>
              <a:rPr kumimoji="1"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;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2405A43-7116-EC2B-5BDB-0B6343A4862F}"/>
              </a:ext>
            </a:extLst>
          </p:cNvPr>
          <p:cNvSpPr txBox="1"/>
          <p:nvPr/>
        </p:nvSpPr>
        <p:spPr>
          <a:xfrm>
            <a:off x="6935732" y="3900965"/>
            <a:ext cx="2357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仿宋" pitchFamily="49" charset="-122"/>
                <a:ea typeface="仿宋" pitchFamily="49" charset="-122"/>
                <a:cs typeface="Times New Roman" pitchFamily="18" charset="0"/>
              </a:rPr>
              <a:t>用来存储字符串</a:t>
            </a:r>
            <a:endParaRPr lang="zh-CN" altLang="en-US" sz="2000"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E6B2EE90-D35F-5E7E-2254-D89B71144A21}"/>
              </a:ext>
            </a:extLst>
          </p:cNvPr>
          <p:cNvSpPr txBox="1"/>
          <p:nvPr/>
        </p:nvSpPr>
        <p:spPr>
          <a:xfrm>
            <a:off x="6935732" y="4312218"/>
            <a:ext cx="3214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仿宋" pitchFamily="49" charset="-122"/>
                <a:ea typeface="仿宋" pitchFamily="49" charset="-122"/>
                <a:cs typeface="Times New Roman" pitchFamily="18" charset="0"/>
              </a:rPr>
              <a:t>用来存储字符串长度</a:t>
            </a:r>
            <a:endParaRPr lang="zh-CN" altLang="en-US" sz="2000">
              <a:latin typeface="仿宋" pitchFamily="49" charset="-122"/>
              <a:ea typeface="仿宋" pitchFamily="49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2BD1AD6-A4EE-E5E1-9ACF-860A7410D082}"/>
              </a:ext>
            </a:extLst>
          </p:cNvPr>
          <p:cNvCxnSpPr>
            <a:cxnSpLocks/>
          </p:cNvCxnSpPr>
          <p:nvPr/>
        </p:nvCxnSpPr>
        <p:spPr>
          <a:xfrm flipH="1">
            <a:off x="4017405" y="4509120"/>
            <a:ext cx="296966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FBE9768-8C99-8626-D0F6-41EB86B6B29C}"/>
              </a:ext>
            </a:extLst>
          </p:cNvPr>
          <p:cNvCxnSpPr/>
          <p:nvPr/>
        </p:nvCxnSpPr>
        <p:spPr>
          <a:xfrm rot="10800000">
            <a:off x="4986810" y="4085135"/>
            <a:ext cx="200026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Text Box 2">
            <a:extLst>
              <a:ext uri="{FF2B5EF4-FFF2-40B4-BE49-F238E27FC236}">
                <a16:creationId xmlns:a16="http://schemas.microsoft.com/office/drawing/2014/main" id="{3B381403-C0D6-D1FD-850B-DA5E6CB47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1138" y="5245721"/>
            <a:ext cx="10331716" cy="499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顺序串中实现串的基本运算与顺序表的基本运算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类似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。详细算法实现参见第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章顺序表部分。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5752D76F-9B15-D89F-ACF2-362959B00FBA}"/>
              </a:ext>
            </a:extLst>
          </p:cNvPr>
          <p:cNvSpPr txBox="1"/>
          <p:nvPr/>
        </p:nvSpPr>
        <p:spPr>
          <a:xfrm>
            <a:off x="1055440" y="5696132"/>
            <a:ext cx="10585176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latin typeface="Consolas" pitchFamily="49" charset="0"/>
                <a:ea typeface="华文中宋" pitchFamily="2" charset="-122"/>
                <a:cs typeface="Consolas" pitchFamily="49" charset="0"/>
              </a:rPr>
              <a:t>  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不同点：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顺序串参数采用直接传递顺序串的方法，不同于第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章的顺序表算法采用的是顺序表指针。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665023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325D6-FDE1-51A2-05A0-18FA53F0B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823303F-74ED-88FA-43D3-B565DD01C92F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4.2 串的存储结构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BCAA4D-CE52-F76A-2548-4BA79688DD72}"/>
              </a:ext>
            </a:extLst>
          </p:cNvPr>
          <p:cNvSpPr/>
          <p:nvPr/>
        </p:nvSpPr>
        <p:spPr>
          <a:xfrm>
            <a:off x="436792" y="1221099"/>
            <a:ext cx="6483842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4.2.1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串的顺序存储及其基本操作实现  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C250EC-EC02-47FA-A1D2-88B7379C5016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2CF0C4D1-2778-F8AE-8149-0C269A347F07}"/>
              </a:ext>
            </a:extLst>
          </p:cNvPr>
          <p:cNvSpPr txBox="1"/>
          <p:nvPr/>
        </p:nvSpPr>
        <p:spPr>
          <a:xfrm>
            <a:off x="1344612" y="1772816"/>
            <a:ext cx="77867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）生成串</a:t>
            </a:r>
            <a:r>
              <a:rPr lang="en-US" altLang="zh-CN" sz="20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StrAssign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(&amp;</a:t>
            </a:r>
            <a:r>
              <a:rPr lang="en-US" altLang="zh-CN" sz="2000" i="1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</a:t>
            </a:r>
            <a:r>
              <a:rPr lang="zh-CN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cstr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endParaRPr lang="zh-CN" altLang="zh-CN" sz="2000" dirty="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>
              <a:lnSpc>
                <a:spcPts val="2800"/>
              </a:lnSpc>
              <a:spcBef>
                <a:spcPts val="1200"/>
              </a:spcBef>
            </a:pPr>
            <a:r>
              <a:rPr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将一个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C/C++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字符串常量</a:t>
            </a:r>
            <a:r>
              <a:rPr lang="en-US" altLang="zh-CN" sz="20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cstr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（以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'\0'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字符标识结尾）赋给顺序串</a:t>
            </a:r>
            <a:r>
              <a:rPr lang="en-US" altLang="zh-CN" sz="2000" i="1" dirty="0"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，即生成一个其值等于</a:t>
            </a:r>
            <a:r>
              <a:rPr lang="en-US" altLang="zh-CN" sz="20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cstr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的串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B45C4FD4-7062-2328-6876-BB7C3C82A608}"/>
              </a:ext>
            </a:extLst>
          </p:cNvPr>
          <p:cNvSpPr txBox="1"/>
          <p:nvPr/>
        </p:nvSpPr>
        <p:spPr>
          <a:xfrm>
            <a:off x="1558926" y="3038459"/>
            <a:ext cx="7715304" cy="1952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StrAssign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SqString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&amp;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s,char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cstr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[])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//s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为引用型参数</a:t>
            </a:r>
          </a:p>
          <a:p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endParaRPr lang="zh-CN" altLang="zh-CN" sz="18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=0;cstr[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]!='\0';i++)</a:t>
            </a:r>
            <a:endParaRPr lang="zh-CN" altLang="zh-CN" sz="18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s.data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]=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cstr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];</a:t>
            </a:r>
            <a:endParaRPr lang="zh-CN" altLang="zh-CN" sz="18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s.length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		     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设置串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的长度</a:t>
            </a:r>
          </a:p>
          <a:p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sz="18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38D5EB65-2EAE-F41C-72AF-7A24BCA4CD17}"/>
              </a:ext>
            </a:extLst>
          </p:cNvPr>
          <p:cNvSpPr txBox="1"/>
          <p:nvPr/>
        </p:nvSpPr>
        <p:spPr>
          <a:xfrm>
            <a:off x="1344612" y="5131484"/>
            <a:ext cx="3786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）销毁串</a:t>
            </a:r>
            <a:r>
              <a:rPr lang="en-US" altLang="zh-CN" sz="20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DestroyStr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(&amp;</a:t>
            </a:r>
            <a:r>
              <a:rPr lang="en-US" altLang="zh-CN" sz="2000" i="1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endParaRPr lang="zh-CN" altLang="zh-CN" sz="2000" dirty="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01CE08F1-43B5-0BE9-8BB8-4F420CE26172}"/>
              </a:ext>
            </a:extLst>
          </p:cNvPr>
          <p:cNvSpPr txBox="1"/>
          <p:nvPr/>
        </p:nvSpPr>
        <p:spPr>
          <a:xfrm>
            <a:off x="1558926" y="5541715"/>
            <a:ext cx="7715304" cy="10773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void </a:t>
            </a:r>
            <a:r>
              <a:rPr lang="en-US" altLang="zh-CN" sz="18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DestroyStr</a:t>
            </a: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(SqString &amp;s)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 }</a:t>
            </a:r>
            <a:endParaRPr lang="zh-CN" altLang="en-US" sz="1800">
              <a:solidFill>
                <a:srgbClr val="3333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30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00DF8-2713-FA7C-3FCF-7ADA189E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043F804-BCDE-309F-B2DC-A52727BC02D5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4.2 串的存储结构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2140DF-584D-6A6C-6144-2B95AEDAC9A5}"/>
              </a:ext>
            </a:extLst>
          </p:cNvPr>
          <p:cNvSpPr/>
          <p:nvPr/>
        </p:nvSpPr>
        <p:spPr>
          <a:xfrm>
            <a:off x="436792" y="1221099"/>
            <a:ext cx="6483842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4.2.1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串的顺序存储及其基本操作实现  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D3B1EF3-A161-8C31-4166-5AF595E14249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>
            <a:extLst>
              <a:ext uri="{FF2B5EF4-FFF2-40B4-BE49-F238E27FC236}">
                <a16:creationId xmlns:a16="http://schemas.microsoft.com/office/drawing/2014/main" id="{C78884DA-BE1C-8BC3-30CE-64671E40D7CE}"/>
              </a:ext>
            </a:extLst>
          </p:cNvPr>
          <p:cNvSpPr txBox="1"/>
          <p:nvPr/>
        </p:nvSpPr>
        <p:spPr>
          <a:xfrm>
            <a:off x="1423460" y="1747521"/>
            <a:ext cx="8143932" cy="961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6</a:t>
            </a:r>
            <a:r>
              <a:rPr lang="zh-CN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）串连接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Concat(s</a:t>
            </a:r>
            <a:r>
              <a:rPr lang="zh-CN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t)</a:t>
            </a:r>
            <a:endParaRPr lang="zh-CN" altLang="zh-CN" sz="200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返回由两个顺序串</a:t>
            </a:r>
            <a:r>
              <a:rPr lang="en-US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t</a:t>
            </a:r>
            <a:r>
              <a:rPr lang="zh-CN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连接在一起形成的结果串。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443848E-067E-C7B6-6F30-E65254F7392C}"/>
              </a:ext>
            </a:extLst>
          </p:cNvPr>
          <p:cNvSpPr txBox="1"/>
          <p:nvPr/>
        </p:nvSpPr>
        <p:spPr>
          <a:xfrm>
            <a:off x="1508873" y="2855969"/>
            <a:ext cx="8572560" cy="36250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SqString </a:t>
            </a:r>
            <a:r>
              <a:rPr lang="en-US" altLang="zh-CN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Concat</a:t>
            </a: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(SqString s,SqString t)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SqString str;		   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定义结果串</a:t>
            </a:r>
          </a:p>
          <a:p>
            <a:pPr>
              <a:lnSpc>
                <a:spcPts val="26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i;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str.length=s.length+t.length;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(i=0;i&lt;s.length;i++)	  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s.data[0..s.length-1]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复制到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600"/>
              </a:lnSpc>
            </a:pPr>
            <a:r>
              <a:rPr lang="nb-NO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str.data[i]=s.data[i];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(i=0;i&lt;t.length;i++)	  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t.data[0..t.length-1]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复制到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600"/>
              </a:lnSpc>
            </a:pPr>
            <a:r>
              <a:rPr lang="nb-NO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str.data[s.length+i]=t.data[i];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str;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4" name="组合 13">
            <a:extLst>
              <a:ext uri="{FF2B5EF4-FFF2-40B4-BE49-F238E27FC236}">
                <a16:creationId xmlns:a16="http://schemas.microsoft.com/office/drawing/2014/main" id="{A9827DA6-A227-59B3-BFAC-36AC6A2B3AA8}"/>
              </a:ext>
            </a:extLst>
          </p:cNvPr>
          <p:cNvGrpSpPr/>
          <p:nvPr/>
        </p:nvGrpSpPr>
        <p:grpSpPr>
          <a:xfrm>
            <a:off x="7352814" y="1998703"/>
            <a:ext cx="4719850" cy="726522"/>
            <a:chOff x="1428728" y="1428736"/>
            <a:chExt cx="5000660" cy="72652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F84AA3-CA35-7A3C-7A15-00ECCF706DBD}"/>
                </a:ext>
              </a:extLst>
            </p:cNvPr>
            <p:cNvSpPr/>
            <p:nvPr/>
          </p:nvSpPr>
          <p:spPr>
            <a:xfrm>
              <a:off x="2928926" y="1428736"/>
              <a:ext cx="1357322" cy="71438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800">
                  <a:solidFill>
                    <a:srgbClr val="3333FF"/>
                  </a:solidFill>
                  <a:latin typeface="Consolas" pitchFamily="49" charset="0"/>
                  <a:cs typeface="Consolas" pitchFamily="49" charset="0"/>
                </a:rPr>
                <a:t>Concat</a:t>
              </a:r>
              <a:endParaRPr lang="zh-CN" altLang="en-US" sz="1800">
                <a:solidFill>
                  <a:srgbClr val="3333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E227A373-385E-1ED7-A974-AE1911D3126B}"/>
                </a:ext>
              </a:extLst>
            </p:cNvPr>
            <p:cNvCxnSpPr/>
            <p:nvPr/>
          </p:nvCxnSpPr>
          <p:spPr>
            <a:xfrm>
              <a:off x="2428860" y="1601756"/>
              <a:ext cx="5000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78B7E03-6F26-B6FF-E4E0-D8ADDB227F80}"/>
                </a:ext>
              </a:extLst>
            </p:cNvPr>
            <p:cNvSpPr txBox="1"/>
            <p:nvPr/>
          </p:nvSpPr>
          <p:spPr>
            <a:xfrm>
              <a:off x="1428728" y="1428736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"abcd"</a:t>
              </a:r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9337B91D-8D6C-CE4A-44E7-ED4E6FF0799B}"/>
                </a:ext>
              </a:extLst>
            </p:cNvPr>
            <p:cNvCxnSpPr/>
            <p:nvPr/>
          </p:nvCxnSpPr>
          <p:spPr>
            <a:xfrm>
              <a:off x="2428860" y="1958946"/>
              <a:ext cx="5000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423E30E8-87EA-55D6-F161-89BAD3EF6EFB}"/>
                </a:ext>
              </a:extLst>
            </p:cNvPr>
            <p:cNvSpPr txBox="1"/>
            <p:nvPr/>
          </p:nvSpPr>
          <p:spPr>
            <a:xfrm>
              <a:off x="1428728" y="1785926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"123"</a:t>
              </a:r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42C2BB7C-7482-E1A3-39CE-65677A8EC93C}"/>
                </a:ext>
              </a:extLst>
            </p:cNvPr>
            <p:cNvCxnSpPr/>
            <p:nvPr/>
          </p:nvCxnSpPr>
          <p:spPr>
            <a:xfrm>
              <a:off x="4286248" y="1784338"/>
              <a:ext cx="5000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9EDBF294-1C75-D279-6B14-5E5DB6B2BD20}"/>
                </a:ext>
              </a:extLst>
            </p:cNvPr>
            <p:cNvSpPr txBox="1"/>
            <p:nvPr/>
          </p:nvSpPr>
          <p:spPr>
            <a:xfrm>
              <a:off x="4786314" y="1630908"/>
              <a:ext cx="164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"abcd123"</a:t>
              </a:r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629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9BD39-A364-39F5-0B8E-540B5AD2A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80CC5FE-0B29-1A8D-96E6-E8ECB1CF1A8D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4.2 串的存储结构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6916D-2D57-3C2C-2F7C-7C8554B19A38}"/>
              </a:ext>
            </a:extLst>
          </p:cNvPr>
          <p:cNvSpPr/>
          <p:nvPr/>
        </p:nvSpPr>
        <p:spPr>
          <a:xfrm>
            <a:off x="436792" y="1221099"/>
            <a:ext cx="6483842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4.2.1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串的顺序存储及其基本操作实现  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D444BDF-558B-1EE2-2915-9CE1C68C1529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">
            <a:extLst>
              <a:ext uri="{FF2B5EF4-FFF2-40B4-BE49-F238E27FC236}">
                <a16:creationId xmlns:a16="http://schemas.microsoft.com/office/drawing/2014/main" id="{1F3ADE35-D5BB-9BBE-FF86-3A3100FC9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901047"/>
            <a:ext cx="8534430" cy="876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  <a:spcBef>
                <a:spcPts val="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【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例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4.1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】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设计顺序串上实现串比较运算</a:t>
            </a:r>
            <a:r>
              <a:rPr kumimoji="1" lang="en-US" altLang="zh-CN" sz="2000" dirty="0" err="1">
                <a:latin typeface="Consolas" pitchFamily="49" charset="0"/>
                <a:ea typeface="楷体" pitchFamily="49" charset="-122"/>
                <a:cs typeface="Consolas" pitchFamily="49" charset="0"/>
              </a:rPr>
              <a:t>Strcmp</a:t>
            </a: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(s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t)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的算法。例如：</a:t>
            </a:r>
            <a:endParaRPr kumimoji="1" lang="en-US" altLang="zh-CN" sz="2000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just">
              <a:lnSpc>
                <a:spcPts val="3200"/>
              </a:lnSpc>
              <a:spcBef>
                <a:spcPts val="0"/>
              </a:spcBef>
            </a:pP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     "ab" &lt; "</a:t>
            </a:r>
            <a:r>
              <a:rPr kumimoji="1" lang="en-US" altLang="zh-CN" sz="2000" dirty="0" err="1">
                <a:latin typeface="Consolas" pitchFamily="49" charset="0"/>
                <a:ea typeface="楷体" pitchFamily="49" charset="-122"/>
                <a:cs typeface="Consolas" pitchFamily="49" charset="0"/>
              </a:rPr>
              <a:t>abcd</a:t>
            </a: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"     "</a:t>
            </a:r>
            <a:r>
              <a:rPr kumimoji="1" lang="en-US" altLang="zh-CN" sz="2000" dirty="0" err="1">
                <a:latin typeface="Consolas" pitchFamily="49" charset="0"/>
                <a:ea typeface="楷体" pitchFamily="49" charset="-122"/>
                <a:cs typeface="Consolas" pitchFamily="49" charset="0"/>
              </a:rPr>
              <a:t>abcd</a:t>
            </a: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" &lt; "</a:t>
            </a:r>
            <a:r>
              <a:rPr kumimoji="1" lang="en-US" altLang="zh-CN" sz="2000" dirty="0" err="1">
                <a:latin typeface="Consolas" pitchFamily="49" charset="0"/>
                <a:ea typeface="楷体" pitchFamily="49" charset="-122"/>
                <a:cs typeface="Consolas" pitchFamily="49" charset="0"/>
              </a:rPr>
              <a:t>abd</a:t>
            </a: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"</a:t>
            </a:r>
            <a:endParaRPr kumimoji="1" lang="zh-CN" altLang="en-US" sz="2000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9A5E3F94-5976-F91B-804D-714EA94ED43E}"/>
              </a:ext>
            </a:extLst>
          </p:cNvPr>
          <p:cNvSpPr txBox="1"/>
          <p:nvPr/>
        </p:nvSpPr>
        <p:spPr>
          <a:xfrm>
            <a:off x="1919536" y="2968025"/>
            <a:ext cx="6072230" cy="33752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3200"/>
              </a:lnSpc>
              <a:spcBef>
                <a:spcPts val="0"/>
              </a:spcBef>
            </a:pP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）比较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两个串</a:t>
            </a:r>
            <a:r>
              <a:rPr kumimoji="1" lang="zh-CN" alt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共同长度范围内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的对应字符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</a:t>
            </a:r>
          </a:p>
          <a:p>
            <a:pPr>
              <a:lnSpc>
                <a:spcPts val="3200"/>
              </a:lnSpc>
              <a:spcBef>
                <a:spcPts val="0"/>
              </a:spcBef>
            </a:pP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① 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的字符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&gt;t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的字符，返回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；  </a:t>
            </a:r>
          </a:p>
          <a:p>
            <a:pPr>
              <a:lnSpc>
                <a:spcPts val="3200"/>
              </a:lnSpc>
              <a:spcBef>
                <a:spcPts val="0"/>
              </a:spcBef>
            </a:pP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② 若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的字符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&lt;t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的字符，返回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</a:p>
          <a:p>
            <a:pPr>
              <a:lnSpc>
                <a:spcPts val="3200"/>
              </a:lnSpc>
              <a:spcBef>
                <a:spcPts val="0"/>
              </a:spcBef>
            </a:pP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③ 若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的字符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=t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的字符，按上述规则继续比较。</a:t>
            </a:r>
          </a:p>
          <a:p>
            <a:pPr>
              <a:lnSpc>
                <a:spcPts val="3200"/>
              </a:lnSpc>
              <a:spcBef>
                <a:spcPts val="0"/>
              </a:spcBef>
            </a:pP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（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）当（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）中对应字符均相同时，比较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的长度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</a:t>
            </a:r>
          </a:p>
          <a:p>
            <a:pPr>
              <a:lnSpc>
                <a:spcPts val="3200"/>
              </a:lnSpc>
              <a:spcBef>
                <a:spcPts val="0"/>
              </a:spcBef>
            </a:pP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① 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两者相等时，返回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</a:p>
          <a:p>
            <a:pPr>
              <a:lnSpc>
                <a:spcPts val="3200"/>
              </a:lnSpc>
              <a:spcBef>
                <a:spcPts val="0"/>
              </a:spcBef>
            </a:pP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② 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的长度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&gt;t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的长度，返回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</a:p>
          <a:p>
            <a:pPr>
              <a:lnSpc>
                <a:spcPts val="3200"/>
              </a:lnSpc>
              <a:spcBef>
                <a:spcPts val="0"/>
              </a:spcBef>
            </a:pP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③ 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的长度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&lt;t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的长度，返回</a:t>
            </a:r>
            <a:r>
              <a:rPr kumimoji="1"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kumimoji="1" lang="zh-CN" altLang="en-US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zh-CN" altLang="en-US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12" name="组合 18">
            <a:extLst>
              <a:ext uri="{FF2B5EF4-FFF2-40B4-BE49-F238E27FC236}">
                <a16:creationId xmlns:a16="http://schemas.microsoft.com/office/drawing/2014/main" id="{DD3D931D-43DA-E52D-1058-E0FE4324AF91}"/>
              </a:ext>
            </a:extLst>
          </p:cNvPr>
          <p:cNvGrpSpPr/>
          <p:nvPr/>
        </p:nvGrpSpPr>
        <p:grpSpPr>
          <a:xfrm>
            <a:off x="6062940" y="3406701"/>
            <a:ext cx="3929090" cy="369332"/>
            <a:chOff x="4929190" y="2724668"/>
            <a:chExt cx="3929090" cy="369332"/>
          </a:xfrm>
        </p:grpSpPr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4F2A4C45-896F-4A6F-4536-827813838B61}"/>
                </a:ext>
              </a:extLst>
            </p:cNvPr>
            <p:cNvSpPr txBox="1"/>
            <p:nvPr/>
          </p:nvSpPr>
          <p:spPr>
            <a:xfrm>
              <a:off x="7143768" y="2724668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</a:t>
              </a:r>
              <a:r>
                <a:rPr lang="en-US" altLang="zh-CN" sz="1800">
                  <a:solidFill>
                    <a:srgbClr val="FF00FF"/>
                  </a:solidFill>
                  <a:latin typeface="Consolas" pitchFamily="49" charset="0"/>
                  <a:cs typeface="Consolas" pitchFamily="49" charset="0"/>
                </a:rPr>
                <a:t>b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a"&gt;"</a:t>
              </a:r>
              <a:r>
                <a:rPr lang="en-US" altLang="zh-CN" sz="1800">
                  <a:solidFill>
                    <a:srgbClr val="FF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bc"</a:t>
              </a:r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A0E7F42-8CA8-CA7B-01A9-BC4201B2DE0E}"/>
                </a:ext>
              </a:extLst>
            </p:cNvPr>
            <p:cNvCxnSpPr/>
            <p:nvPr/>
          </p:nvCxnSpPr>
          <p:spPr>
            <a:xfrm>
              <a:off x="4929190" y="2959078"/>
              <a:ext cx="214314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9" name="组合 19">
            <a:extLst>
              <a:ext uri="{FF2B5EF4-FFF2-40B4-BE49-F238E27FC236}">
                <a16:creationId xmlns:a16="http://schemas.microsoft.com/office/drawing/2014/main" id="{716554E9-98D8-97F1-2554-A19081305175}"/>
              </a:ext>
            </a:extLst>
          </p:cNvPr>
          <p:cNvGrpSpPr/>
          <p:nvPr/>
        </p:nvGrpSpPr>
        <p:grpSpPr>
          <a:xfrm>
            <a:off x="6094186" y="3845377"/>
            <a:ext cx="3929090" cy="369332"/>
            <a:chOff x="4960436" y="3163344"/>
            <a:chExt cx="3929090" cy="369332"/>
          </a:xfrm>
        </p:grpSpPr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17275A7A-74AA-ACAA-800C-5A9CFAD89027}"/>
                </a:ext>
              </a:extLst>
            </p:cNvPr>
            <p:cNvSpPr txBox="1"/>
            <p:nvPr/>
          </p:nvSpPr>
          <p:spPr>
            <a:xfrm>
              <a:off x="7175014" y="3163344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</a:t>
              </a:r>
              <a:r>
                <a:rPr lang="en-US" altLang="zh-CN" sz="1800">
                  <a:solidFill>
                    <a:srgbClr val="FF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ba"&lt;"</a:t>
              </a:r>
              <a:r>
                <a:rPr lang="en-US" altLang="zh-CN" sz="1800">
                  <a:solidFill>
                    <a:srgbClr val="FF00FF"/>
                  </a:solidFill>
                  <a:latin typeface="Consolas" pitchFamily="49" charset="0"/>
                  <a:cs typeface="Consolas" pitchFamily="49" charset="0"/>
                </a:rPr>
                <a:t>b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c"</a:t>
              </a:r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7196F9ED-FC14-C83A-7EB6-53263B585849}"/>
                </a:ext>
              </a:extLst>
            </p:cNvPr>
            <p:cNvCxnSpPr/>
            <p:nvPr/>
          </p:nvCxnSpPr>
          <p:spPr>
            <a:xfrm>
              <a:off x="4960436" y="3377658"/>
              <a:ext cx="214314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2" name="组合 20">
            <a:extLst>
              <a:ext uri="{FF2B5EF4-FFF2-40B4-BE49-F238E27FC236}">
                <a16:creationId xmlns:a16="http://schemas.microsoft.com/office/drawing/2014/main" id="{E5B5B966-CAA8-0D9D-815E-DCB42A17EFBE}"/>
              </a:ext>
            </a:extLst>
          </p:cNvPr>
          <p:cNvGrpSpPr/>
          <p:nvPr/>
        </p:nvGrpSpPr>
        <p:grpSpPr>
          <a:xfrm>
            <a:off x="5900394" y="5039727"/>
            <a:ext cx="4234512" cy="369332"/>
            <a:chOff x="4766644" y="4357694"/>
            <a:chExt cx="4234512" cy="369332"/>
          </a:xfrm>
        </p:grpSpPr>
        <p:sp>
          <p:nvSpPr>
            <p:cNvPr id="23" name="TextBox 12">
              <a:extLst>
                <a:ext uri="{FF2B5EF4-FFF2-40B4-BE49-F238E27FC236}">
                  <a16:creationId xmlns:a16="http://schemas.microsoft.com/office/drawing/2014/main" id="{1F0BC8AE-7092-C92D-8600-E6CC61B5C2A9}"/>
                </a:ext>
              </a:extLst>
            </p:cNvPr>
            <p:cNvSpPr txBox="1"/>
            <p:nvPr/>
          </p:nvSpPr>
          <p:spPr>
            <a:xfrm>
              <a:off x="7286644" y="4357694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</a:t>
              </a:r>
              <a:r>
                <a:rPr lang="en-US" altLang="zh-CN" sz="1800">
                  <a:solidFill>
                    <a:srgbClr val="FF00FF"/>
                  </a:solidFill>
                  <a:latin typeface="Consolas" pitchFamily="49" charset="0"/>
                  <a:cs typeface="Consolas" pitchFamily="49" charset="0"/>
                </a:rPr>
                <a:t>abc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"="</a:t>
              </a:r>
              <a:r>
                <a:rPr lang="en-US" altLang="zh-CN" sz="1800">
                  <a:solidFill>
                    <a:srgbClr val="FF00FF"/>
                  </a:solidFill>
                  <a:latin typeface="Consolas" pitchFamily="49" charset="0"/>
                  <a:cs typeface="Consolas" pitchFamily="49" charset="0"/>
                </a:rPr>
                <a:t>abc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</a:t>
              </a:r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0BA002F2-4AF8-D31F-CE78-99DE666BD8BD}"/>
                </a:ext>
              </a:extLst>
            </p:cNvPr>
            <p:cNvCxnSpPr/>
            <p:nvPr/>
          </p:nvCxnSpPr>
          <p:spPr>
            <a:xfrm>
              <a:off x="4766644" y="4572008"/>
              <a:ext cx="2520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5" name="组合 21">
            <a:extLst>
              <a:ext uri="{FF2B5EF4-FFF2-40B4-BE49-F238E27FC236}">
                <a16:creationId xmlns:a16="http://schemas.microsoft.com/office/drawing/2014/main" id="{C184FC8E-E7BE-D701-E9B1-FE21CBB727EF}"/>
              </a:ext>
            </a:extLst>
          </p:cNvPr>
          <p:cNvGrpSpPr/>
          <p:nvPr/>
        </p:nvGrpSpPr>
        <p:grpSpPr>
          <a:xfrm>
            <a:off x="5910016" y="5456213"/>
            <a:ext cx="4234512" cy="369332"/>
            <a:chOff x="4776266" y="4774180"/>
            <a:chExt cx="4234512" cy="369332"/>
          </a:xfrm>
        </p:grpSpPr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9B7244D2-6C42-723C-F9EA-0B962C39A75D}"/>
                </a:ext>
              </a:extLst>
            </p:cNvPr>
            <p:cNvSpPr txBox="1"/>
            <p:nvPr/>
          </p:nvSpPr>
          <p:spPr>
            <a:xfrm>
              <a:off x="7296266" y="4774180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</a:t>
              </a:r>
              <a:r>
                <a:rPr lang="en-US" altLang="zh-CN" sz="1800">
                  <a:solidFill>
                    <a:srgbClr val="FF00FF"/>
                  </a:solidFill>
                  <a:latin typeface="Consolas" pitchFamily="49" charset="0"/>
                  <a:cs typeface="Consolas" pitchFamily="49" charset="0"/>
                </a:rPr>
                <a:t>ab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c"&gt;"</a:t>
              </a:r>
              <a:r>
                <a:rPr lang="en-US" altLang="zh-CN" sz="1800">
                  <a:solidFill>
                    <a:srgbClr val="FF00FF"/>
                  </a:solidFill>
                  <a:latin typeface="Consolas" pitchFamily="49" charset="0"/>
                  <a:cs typeface="Consolas" pitchFamily="49" charset="0"/>
                </a:rPr>
                <a:t>ab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</a:t>
              </a:r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09042E5E-4CDB-A2EF-2FFE-D4E6DC28D6F3}"/>
                </a:ext>
              </a:extLst>
            </p:cNvPr>
            <p:cNvCxnSpPr/>
            <p:nvPr/>
          </p:nvCxnSpPr>
          <p:spPr>
            <a:xfrm>
              <a:off x="4776266" y="4988494"/>
              <a:ext cx="2520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9" name="组合 22">
            <a:extLst>
              <a:ext uri="{FF2B5EF4-FFF2-40B4-BE49-F238E27FC236}">
                <a16:creationId xmlns:a16="http://schemas.microsoft.com/office/drawing/2014/main" id="{54007EBA-B1A3-B8FA-DDBE-C466D124B8B8}"/>
              </a:ext>
            </a:extLst>
          </p:cNvPr>
          <p:cNvGrpSpPr/>
          <p:nvPr/>
        </p:nvGrpSpPr>
        <p:grpSpPr>
          <a:xfrm>
            <a:off x="5920064" y="5884841"/>
            <a:ext cx="4234512" cy="369332"/>
            <a:chOff x="4786314" y="5202808"/>
            <a:chExt cx="4234512" cy="369332"/>
          </a:xfrm>
        </p:grpSpPr>
        <p:sp>
          <p:nvSpPr>
            <p:cNvPr id="30" name="TextBox 16">
              <a:extLst>
                <a:ext uri="{FF2B5EF4-FFF2-40B4-BE49-F238E27FC236}">
                  <a16:creationId xmlns:a16="http://schemas.microsoft.com/office/drawing/2014/main" id="{81AAF6E0-BC58-6394-A648-09139F858119}"/>
                </a:ext>
              </a:extLst>
            </p:cNvPr>
            <p:cNvSpPr txBox="1"/>
            <p:nvPr/>
          </p:nvSpPr>
          <p:spPr>
            <a:xfrm>
              <a:off x="7306314" y="5202808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</a:t>
              </a:r>
              <a:r>
                <a:rPr lang="en-US" altLang="zh-CN" sz="1800">
                  <a:solidFill>
                    <a:srgbClr val="FF00FF"/>
                  </a:solidFill>
                  <a:latin typeface="Consolas" pitchFamily="49" charset="0"/>
                  <a:cs typeface="Consolas" pitchFamily="49" charset="0"/>
                </a:rPr>
                <a:t>ab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"&lt;"</a:t>
              </a:r>
              <a:r>
                <a:rPr lang="en-US" altLang="zh-CN" sz="1800">
                  <a:solidFill>
                    <a:srgbClr val="FF00FF"/>
                  </a:solidFill>
                  <a:latin typeface="Consolas" pitchFamily="49" charset="0"/>
                  <a:cs typeface="Consolas" pitchFamily="49" charset="0"/>
                </a:rPr>
                <a:t>ab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d"</a:t>
              </a:r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2F7F24D5-65D6-B3E3-AF84-3D99FA4DFF7D}"/>
                </a:ext>
              </a:extLst>
            </p:cNvPr>
            <p:cNvCxnSpPr/>
            <p:nvPr/>
          </p:nvCxnSpPr>
          <p:spPr>
            <a:xfrm>
              <a:off x="4786314" y="5417122"/>
              <a:ext cx="2520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391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1456-576C-E2EF-B8CD-FD5D7FB13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7501B0E-3853-7575-4105-B76AC3446ADC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4.2 串的存储结构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48FAD6-3AEB-E73B-747C-CACC297AB777}"/>
              </a:ext>
            </a:extLst>
          </p:cNvPr>
          <p:cNvSpPr/>
          <p:nvPr/>
        </p:nvSpPr>
        <p:spPr>
          <a:xfrm>
            <a:off x="436792" y="1221099"/>
            <a:ext cx="6483842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4.2.1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串的顺序存储及其基本操作实现  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59482C0-F5CC-2582-D752-4C8243ECDC33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01C062F6-73B2-ABBD-CDB5-FB8CF0B9B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916832"/>
            <a:ext cx="8640960" cy="47227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44000" bIns="144000">
            <a:spAutoFit/>
          </a:bodyPr>
          <a:lstStyle/>
          <a:p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Strcmp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SqString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s</a:t>
            </a:r>
            <a:r>
              <a:rPr kumimoji="1" lang="zh-CN" altLang="en-US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SqString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t)</a:t>
            </a:r>
          </a:p>
          <a:p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zh-CN" altLang="en-US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comlen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</a:p>
          <a:p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en-US" altLang="zh-CN" sz="1600" dirty="0" err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comlen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 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的共同长度</a:t>
            </a:r>
          </a:p>
          <a:p>
            <a:r>
              <a:rPr kumimoji="1" lang="zh-CN" altLang="en-US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else</a:t>
            </a:r>
          </a:p>
          <a:p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en-US" altLang="zh-CN" sz="1600" dirty="0" err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comle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=0;i&lt;</a:t>
            </a:r>
            <a:r>
              <a:rPr kumimoji="1" lang="en-US" altLang="zh-CN" sz="1600" dirty="0" err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comlen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;i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++)        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在共同长度内逐个字符比较</a:t>
            </a:r>
            <a:endParaRPr kumimoji="1" lang="zh-CN" altLang="nb-NO" sz="16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kumimoji="1" lang="nb-NO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if (s.data[i]&gt;t.data[i])</a:t>
            </a:r>
          </a:p>
          <a:p>
            <a:r>
              <a:rPr kumimoji="1" lang="nb-NO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1;</a:t>
            </a:r>
          </a:p>
          <a:p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nb-NO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else if (s.data[i]&lt;t.data[i])</a:t>
            </a:r>
          </a:p>
          <a:p>
            <a:r>
              <a:rPr kumimoji="1" lang="nb-NO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-1;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==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//s==t</a:t>
            </a:r>
          </a:p>
          <a:p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0;</a:t>
            </a:r>
          </a:p>
          <a:p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 if (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//s&gt;t</a:t>
            </a:r>
          </a:p>
          <a:p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1;</a:t>
            </a:r>
          </a:p>
          <a:p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 return -1;	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//s&lt;t</a:t>
            </a:r>
          </a:p>
          <a:p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9402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0E926-3990-477B-A128-E77FDEC5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445F912-3C54-3B45-DCFC-8BFFF2BDFFB2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4.2 串的存储结构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6DB850-54BD-F5E4-B5A8-1792D8B597A2}"/>
              </a:ext>
            </a:extLst>
          </p:cNvPr>
          <p:cNvSpPr/>
          <p:nvPr/>
        </p:nvSpPr>
        <p:spPr>
          <a:xfrm>
            <a:off x="436792" y="1221099"/>
            <a:ext cx="6483842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串的链式存储及其基本操作实现  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4BBFF68-9D43-7DC4-0A98-8B6D61874195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1030">
            <a:extLst>
              <a:ext uri="{FF2B5EF4-FFF2-40B4-BE49-F238E27FC236}">
                <a16:creationId xmlns:a16="http://schemas.microsoft.com/office/drawing/2014/main" id="{143CDEEC-9D14-B4AD-DF1E-EEE9586A7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535" y="1831369"/>
            <a:ext cx="10920536" cy="1049106"/>
          </a:xfrm>
          <a:prstGeom prst="rect">
            <a:avLst/>
          </a:prstGeom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000" dirty="0">
                <a:ea typeface="楷体" pitchFamily="49" charset="-122"/>
                <a:cs typeface="Times New Roman" pitchFamily="18" charset="0"/>
              </a:rPr>
              <a:t>链串的组织形式与一般的链表类似。</a:t>
            </a:r>
            <a:endParaRPr lang="en-US" altLang="zh-CN" sz="2000" dirty="0">
              <a:ea typeface="楷体" pitchFamily="49" charset="-122"/>
              <a:cs typeface="Times New Roman" pitchFamily="18" charset="0"/>
            </a:endParaRP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000" dirty="0">
                <a:ea typeface="楷体" pitchFamily="49" charset="-122"/>
                <a:cs typeface="Times New Roman" pitchFamily="18" charset="0"/>
              </a:rPr>
              <a:t>链串中的</a:t>
            </a:r>
            <a:r>
              <a:rPr lang="zh-CN" altLang="en-US" sz="2000" dirty="0">
                <a:solidFill>
                  <a:srgbClr val="FF00FF"/>
                </a:solidFill>
                <a:ea typeface="楷体" pitchFamily="49" charset="-122"/>
                <a:cs typeface="Times New Roman" pitchFamily="18" charset="0"/>
              </a:rPr>
              <a:t>一个结点可以存储多个字符</a:t>
            </a:r>
            <a:r>
              <a:rPr lang="zh-CN" altLang="en-US" sz="2000" dirty="0">
                <a:ea typeface="楷体" pitchFamily="49" charset="-122"/>
                <a:cs typeface="Times New Roman" pitchFamily="18" charset="0"/>
              </a:rPr>
              <a:t>。通常将链串中每个结点所存储的字符个数称为</a:t>
            </a:r>
            <a:r>
              <a:rPr lang="zh-CN" altLang="en-US" sz="2000" dirty="0">
                <a:solidFill>
                  <a:srgbClr val="FF3300"/>
                </a:solidFill>
                <a:latin typeface="方正启体简体" pitchFamily="65" charset="-122"/>
                <a:ea typeface="方正启体简体" pitchFamily="65" charset="-122"/>
                <a:cs typeface="Times New Roman" pitchFamily="18" charset="0"/>
              </a:rPr>
              <a:t>结点大小</a:t>
            </a:r>
            <a:r>
              <a:rPr lang="zh-CN" altLang="en-US" sz="2000" dirty="0">
                <a:ea typeface="楷体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5C7E580-C203-29E2-E7AD-31C22CEB2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636" y="5183954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5156E50C-40F5-6E78-FE4B-E5791D7D5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511" y="4321924"/>
            <a:ext cx="29527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结点大小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的链串 </a:t>
            </a:r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F4B41341-8EFA-4F9D-D5CD-412FE5D70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286" y="504264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35">
            <a:extLst>
              <a:ext uri="{FF2B5EF4-FFF2-40B4-BE49-F238E27FC236}">
                <a16:creationId xmlns:a16="http://schemas.microsoft.com/office/drawing/2014/main" id="{093C6DE9-0334-94A9-B6C9-E39F4024B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624" y="504264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Rectangle 36">
            <a:extLst>
              <a:ext uri="{FF2B5EF4-FFF2-40B4-BE49-F238E27FC236}">
                <a16:creationId xmlns:a16="http://schemas.microsoft.com/office/drawing/2014/main" id="{5D04BEC8-8A81-1613-915C-9ADDF3022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711" y="504264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 i="1" dirty="0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A</a:t>
            </a:r>
            <a:endParaRPr lang="en-US" altLang="zh-CN" sz="1800" baseline="-25000" dirty="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37">
            <a:extLst>
              <a:ext uri="{FF2B5EF4-FFF2-40B4-BE49-F238E27FC236}">
                <a16:creationId xmlns:a16="http://schemas.microsoft.com/office/drawing/2014/main" id="{1E5D0C54-5C1C-EDA1-D11A-AFB1DC31D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049" y="504264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2000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38">
            <a:extLst>
              <a:ext uri="{FF2B5EF4-FFF2-40B4-BE49-F238E27FC236}">
                <a16:creationId xmlns:a16="http://schemas.microsoft.com/office/drawing/2014/main" id="{151CABCE-899C-BBF3-70AE-7A1455873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986" y="504264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 i="1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B</a:t>
            </a:r>
            <a:endParaRPr lang="en-US" altLang="zh-CN" sz="1800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Rectangle 39">
            <a:extLst>
              <a:ext uri="{FF2B5EF4-FFF2-40B4-BE49-F238E27FC236}">
                <a16:creationId xmlns:a16="http://schemas.microsoft.com/office/drawing/2014/main" id="{96E73382-798C-3426-128B-80BEF0CCB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324" y="504264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2000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Rectangle 40">
            <a:extLst>
              <a:ext uri="{FF2B5EF4-FFF2-40B4-BE49-F238E27FC236}">
                <a16:creationId xmlns:a16="http://schemas.microsoft.com/office/drawing/2014/main" id="{9DE81524-8611-236F-1526-7C896EEEA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299" y="504264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 i="1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N</a:t>
            </a:r>
            <a:endParaRPr lang="en-US" altLang="zh-CN" sz="1800" i="1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Rectangle 41">
            <a:extLst>
              <a:ext uri="{FF2B5EF4-FFF2-40B4-BE49-F238E27FC236}">
                <a16:creationId xmlns:a16="http://schemas.microsoft.com/office/drawing/2014/main" id="{5180FA30-2C63-4EEB-979F-CECFEF82D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636" y="504264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16" name="Text Box 42">
            <a:extLst>
              <a:ext uri="{FF2B5EF4-FFF2-40B4-BE49-F238E27FC236}">
                <a16:creationId xmlns:a16="http://schemas.microsoft.com/office/drawing/2014/main" id="{44B03B42-24AB-90D5-82DD-CF863BA06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803" y="4952217"/>
            <a:ext cx="576262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>
                <a:latin typeface="Consolas" pitchFamily="49" charset="0"/>
                <a:ea typeface="宋体" pitchFamily="2" charset="-122"/>
                <a:cs typeface="Consolas" pitchFamily="49" charset="0"/>
              </a:rPr>
              <a:t>…</a:t>
            </a:r>
          </a:p>
        </p:txBody>
      </p:sp>
      <p:sp>
        <p:nvSpPr>
          <p:cNvPr id="17" name="Arc 43">
            <a:extLst>
              <a:ext uri="{FF2B5EF4-FFF2-40B4-BE49-F238E27FC236}">
                <a16:creationId xmlns:a16="http://schemas.microsoft.com/office/drawing/2014/main" id="{52776B92-F0F0-E79C-8748-9E7E66AA58D7}"/>
              </a:ext>
            </a:extLst>
          </p:cNvPr>
          <p:cNvSpPr>
            <a:spLocks/>
          </p:cNvSpPr>
          <p:nvPr/>
        </p:nvSpPr>
        <p:spPr bwMode="auto">
          <a:xfrm>
            <a:off x="2132156" y="4683874"/>
            <a:ext cx="360363" cy="3587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FF00FF"/>
            </a:solidFill>
            <a:miter lim="800000"/>
            <a:headEnd/>
            <a:tailEnd type="stealth" w="lg" len="lg"/>
          </a:ln>
          <a:effectLst/>
        </p:spPr>
        <p:txBody>
          <a:bodyPr wrap="none" anchor="ctr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Text Box 44">
            <a:extLst>
              <a:ext uri="{FF2B5EF4-FFF2-40B4-BE49-F238E27FC236}">
                <a16:creationId xmlns:a16="http://schemas.microsoft.com/office/drawing/2014/main" id="{B939F548-C959-97A1-F990-0A2230B72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060" y="4395517"/>
            <a:ext cx="431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</a:p>
        </p:txBody>
      </p:sp>
      <p:sp>
        <p:nvSpPr>
          <p:cNvPr id="19" name="Line 45">
            <a:extLst>
              <a:ext uri="{FF2B5EF4-FFF2-40B4-BE49-F238E27FC236}">
                <a16:creationId xmlns:a16="http://schemas.microsoft.com/office/drawing/2014/main" id="{6878FFE1-5D80-DCEA-9D19-FEA2B9843B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2449" y="5258549"/>
            <a:ext cx="576262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" name="Line 46">
            <a:extLst>
              <a:ext uri="{FF2B5EF4-FFF2-40B4-BE49-F238E27FC236}">
                <a16:creationId xmlns:a16="http://schemas.microsoft.com/office/drawing/2014/main" id="{CC5146C4-CDC7-2708-AFD3-30C64B9BA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2311" y="5258549"/>
            <a:ext cx="576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Line 47">
            <a:extLst>
              <a:ext uri="{FF2B5EF4-FFF2-40B4-BE49-F238E27FC236}">
                <a16:creationId xmlns:a16="http://schemas.microsoft.com/office/drawing/2014/main" id="{5EF3C0A1-1495-E1CF-1DEB-28E20F003B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3761" y="5258549"/>
            <a:ext cx="576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Line 48">
            <a:extLst>
              <a:ext uri="{FF2B5EF4-FFF2-40B4-BE49-F238E27FC236}">
                <a16:creationId xmlns:a16="http://schemas.microsoft.com/office/drawing/2014/main" id="{63C3AF47-9D39-7C98-BB23-25DE7B4DC0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3624" y="5258549"/>
            <a:ext cx="576262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3" name="Text Box 59">
            <a:extLst>
              <a:ext uri="{FF2B5EF4-FFF2-40B4-BE49-F238E27FC236}">
                <a16:creationId xmlns:a16="http://schemas.microsoft.com/office/drawing/2014/main" id="{C586BC2C-6DF6-193F-A5F4-6A2DD1C33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480" y="2978899"/>
            <a:ext cx="431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</a:p>
        </p:txBody>
      </p:sp>
      <p:sp>
        <p:nvSpPr>
          <p:cNvPr id="24" name="Rectangle 49">
            <a:extLst>
              <a:ext uri="{FF2B5EF4-FFF2-40B4-BE49-F238E27FC236}">
                <a16:creationId xmlns:a16="http://schemas.microsoft.com/office/drawing/2014/main" id="{9385D766-F963-97A8-72A8-9F50CABC6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899" y="3601199"/>
            <a:ext cx="107950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5" name="Rectangle 50">
            <a:extLst>
              <a:ext uri="{FF2B5EF4-FFF2-40B4-BE49-F238E27FC236}">
                <a16:creationId xmlns:a16="http://schemas.microsoft.com/office/drawing/2014/main" id="{924BBD4D-048B-EA66-1B50-424353C94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474" y="360119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7" name="Rectangle 51">
            <a:extLst>
              <a:ext uri="{FF2B5EF4-FFF2-40B4-BE49-F238E27FC236}">
                <a16:creationId xmlns:a16="http://schemas.microsoft.com/office/drawing/2014/main" id="{69EEC1A7-FBB5-79C4-481D-A349FBC9E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0149" y="3601199"/>
            <a:ext cx="107950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 i="1" dirty="0" err="1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ABCD</a:t>
            </a:r>
            <a:endParaRPr lang="en-US" altLang="zh-CN" sz="1800" baseline="-25000" dirty="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8" name="Rectangle 52">
            <a:extLst>
              <a:ext uri="{FF2B5EF4-FFF2-40B4-BE49-F238E27FC236}">
                <a16:creationId xmlns:a16="http://schemas.microsoft.com/office/drawing/2014/main" id="{C37A0DDD-EE59-77A7-9E0C-33B252FFC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311" y="360119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2000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9" name="Rectangle 53">
            <a:extLst>
              <a:ext uri="{FF2B5EF4-FFF2-40B4-BE49-F238E27FC236}">
                <a16:creationId xmlns:a16="http://schemas.microsoft.com/office/drawing/2014/main" id="{CE1AA241-F973-5326-2905-27EB319D8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836" y="3601199"/>
            <a:ext cx="107950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 i="1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EFGH</a:t>
            </a:r>
            <a:endParaRPr lang="en-US" altLang="zh-CN" sz="1800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0" name="Rectangle 54">
            <a:extLst>
              <a:ext uri="{FF2B5EF4-FFF2-40B4-BE49-F238E27FC236}">
                <a16:creationId xmlns:a16="http://schemas.microsoft.com/office/drawing/2014/main" id="{244A6F24-22EE-F907-1F38-88B0AF61A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4336" y="360119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2000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1" name="Rectangle 55">
            <a:extLst>
              <a:ext uri="{FF2B5EF4-FFF2-40B4-BE49-F238E27FC236}">
                <a16:creationId xmlns:a16="http://schemas.microsoft.com/office/drawing/2014/main" id="{07A10BE1-1006-3761-75EF-43C07D8CE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0461" y="3601199"/>
            <a:ext cx="107950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 i="1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MN##</a:t>
            </a:r>
            <a:endParaRPr lang="en-US" altLang="zh-CN" sz="1800" i="1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2" name="Rectangle 56">
            <a:extLst>
              <a:ext uri="{FF2B5EF4-FFF2-40B4-BE49-F238E27FC236}">
                <a16:creationId xmlns:a16="http://schemas.microsoft.com/office/drawing/2014/main" id="{DE8B0DDE-9CB3-6692-67A2-FB17E8C93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549" y="3601199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33" name="Text Box 57">
            <a:extLst>
              <a:ext uri="{FF2B5EF4-FFF2-40B4-BE49-F238E27FC236}">
                <a16:creationId xmlns:a16="http://schemas.microsoft.com/office/drawing/2014/main" id="{817E5420-8685-39D6-D9E0-51B5F81FB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6499" y="3510767"/>
            <a:ext cx="647700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>
                <a:latin typeface="Consolas" pitchFamily="49" charset="0"/>
                <a:ea typeface="宋体" pitchFamily="2" charset="-122"/>
                <a:cs typeface="Consolas" pitchFamily="49" charset="0"/>
              </a:rPr>
              <a:t>…</a:t>
            </a:r>
          </a:p>
        </p:txBody>
      </p:sp>
      <p:sp>
        <p:nvSpPr>
          <p:cNvPr id="34" name="Arc 58">
            <a:extLst>
              <a:ext uri="{FF2B5EF4-FFF2-40B4-BE49-F238E27FC236}">
                <a16:creationId xmlns:a16="http://schemas.microsoft.com/office/drawing/2014/main" id="{0444E416-8EB9-D8A1-205D-20C1DFE8E204}"/>
              </a:ext>
            </a:extLst>
          </p:cNvPr>
          <p:cNvSpPr>
            <a:spLocks/>
          </p:cNvSpPr>
          <p:nvPr/>
        </p:nvSpPr>
        <p:spPr bwMode="auto">
          <a:xfrm>
            <a:off x="1847993" y="3242424"/>
            <a:ext cx="360362" cy="3587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FF00FF"/>
            </a:solidFill>
            <a:miter lim="800000"/>
            <a:headEnd/>
            <a:tailEnd type="stealth" w="lg" len="lg"/>
          </a:ln>
          <a:effectLst/>
        </p:spPr>
        <p:txBody>
          <a:bodyPr wrap="none" anchor="ctr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5" name="Line 60">
            <a:extLst>
              <a:ext uri="{FF2B5EF4-FFF2-40B4-BE49-F238E27FC236}">
                <a16:creationId xmlns:a16="http://schemas.microsoft.com/office/drawing/2014/main" id="{3AE289AF-1A41-3ADF-A3BE-1BDB0D0AB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3886" y="3817099"/>
            <a:ext cx="576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6" name="Line 61">
            <a:extLst>
              <a:ext uri="{FF2B5EF4-FFF2-40B4-BE49-F238E27FC236}">
                <a16:creationId xmlns:a16="http://schemas.microsoft.com/office/drawing/2014/main" id="{0D8169DF-9D39-9DDA-D229-C11EB4262C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8574" y="3817099"/>
            <a:ext cx="576262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7" name="Line 62">
            <a:extLst>
              <a:ext uri="{FF2B5EF4-FFF2-40B4-BE49-F238E27FC236}">
                <a16:creationId xmlns:a16="http://schemas.microsoft.com/office/drawing/2014/main" id="{D5A7820E-0ABC-96EA-87C2-926710193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9774" y="3817099"/>
            <a:ext cx="576262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8" name="Line 63">
            <a:extLst>
              <a:ext uri="{FF2B5EF4-FFF2-40B4-BE49-F238E27FC236}">
                <a16:creationId xmlns:a16="http://schemas.microsoft.com/office/drawing/2014/main" id="{617764C4-B0D0-F946-3F12-EDF9E1E30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1661" y="3826624"/>
            <a:ext cx="576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9" name="Text Box 65">
            <a:extLst>
              <a:ext uri="{FF2B5EF4-FFF2-40B4-BE49-F238E27FC236}">
                <a16:creationId xmlns:a16="http://schemas.microsoft.com/office/drawing/2014/main" id="{534D841F-523E-6A64-7F55-DBFB4423A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6372" y="5715749"/>
            <a:ext cx="25892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结点大小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的链串 </a:t>
            </a:r>
          </a:p>
        </p:txBody>
      </p:sp>
    </p:spTree>
    <p:extLst>
      <p:ext uri="{BB962C8B-B14F-4D97-AF65-F5344CB8AC3E}">
        <p14:creationId xmlns:p14="http://schemas.microsoft.com/office/powerpoint/2010/main" val="2934593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9FE9E-A000-D2A3-3C72-C4E86F76C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19892B0-1D7A-A537-DADF-8CE13D48D14F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4.2 串的存储结构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FB8F79-CA56-CC19-3A41-39040D12276C}"/>
              </a:ext>
            </a:extLst>
          </p:cNvPr>
          <p:cNvSpPr/>
          <p:nvPr/>
        </p:nvSpPr>
        <p:spPr>
          <a:xfrm>
            <a:off x="436792" y="1221099"/>
            <a:ext cx="6483842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串的链式存储及其基本操作实现  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2DBC54B-213B-4CCA-DF97-2980FFFD3ED0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04939559-C8C9-25F2-C47F-B9DF32B40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024" y="2111558"/>
            <a:ext cx="6532579" cy="407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>
                <a:latin typeface="Consolas" pitchFamily="49" charset="0"/>
                <a:ea typeface="楷体" pitchFamily="49" charset="-122"/>
                <a:cs typeface="Consolas" pitchFamily="49" charset="0"/>
              </a:rPr>
              <a:t>链串结点大小</a:t>
            </a:r>
            <a:r>
              <a:rPr kumimoji="1" lang="en-US" altLang="zh-CN" sz="2000"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kumimoji="1" lang="zh-CN" altLang="en-US" sz="2000">
                <a:latin typeface="Consolas" pitchFamily="49" charset="0"/>
                <a:ea typeface="楷体" pitchFamily="49" charset="-122"/>
                <a:cs typeface="Consolas" pitchFamily="49" charset="0"/>
              </a:rPr>
              <a:t>时，</a:t>
            </a:r>
            <a:r>
              <a:rPr lang="zh-CN" altLang="en-US" sz="2000">
                <a:latin typeface="Consolas" pitchFamily="49" charset="0"/>
                <a:ea typeface="楷体" pitchFamily="49" charset="-122"/>
                <a:cs typeface="Consolas" pitchFamily="49" charset="0"/>
              </a:rPr>
              <a:t>链串的结点类型声明如下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：</a:t>
            </a:r>
          </a:p>
        </p:txBody>
      </p:sp>
      <p:sp>
        <p:nvSpPr>
          <p:cNvPr id="40" name="Text Box 2">
            <a:extLst>
              <a:ext uri="{FF2B5EF4-FFF2-40B4-BE49-F238E27FC236}">
                <a16:creationId xmlns:a16="http://schemas.microsoft.com/office/drawing/2014/main" id="{BD6979A5-AD94-D6F2-E104-EDA6BDA86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7001" y="2780928"/>
            <a:ext cx="4105275" cy="19023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288000" tIns="180000" bIns="18000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typedef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struct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snode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</a:p>
          <a:p>
            <a:pPr>
              <a:lnSpc>
                <a:spcPts val="30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  </a:t>
            </a:r>
            <a:r>
              <a:rPr lang="en-US" altLang="zh-CN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char</a:t>
            </a: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data;</a:t>
            </a:r>
          </a:p>
          <a:p>
            <a:pPr>
              <a:lnSpc>
                <a:spcPts val="30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struct </a:t>
            </a:r>
            <a:r>
              <a:rPr lang="en-US" altLang="zh-CN" sz="1800" dirty="0" err="1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snode</a:t>
            </a:r>
            <a:r>
              <a:rPr lang="en-US" altLang="zh-CN" sz="1800" dirty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*next;</a:t>
            </a:r>
          </a:p>
          <a:p>
            <a:pPr>
              <a:lnSpc>
                <a:spcPts val="30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 </a:t>
            </a:r>
            <a:r>
              <a:rPr lang="en-US" altLang="zh-CN" sz="1800">
                <a:solidFill>
                  <a:srgbClr val="FF33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LinkStrNode</a:t>
            </a: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;</a:t>
            </a:r>
            <a:endParaRPr lang="en-US" altLang="zh-CN" sz="1800" dirty="0">
              <a:solidFill>
                <a:srgbClr val="3333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1" name="Rectangle 34">
            <a:extLst>
              <a:ext uri="{FF2B5EF4-FFF2-40B4-BE49-F238E27FC236}">
                <a16:creationId xmlns:a16="http://schemas.microsoft.com/office/drawing/2014/main" id="{7DC8F3A4-5658-039E-0038-106CF9DC2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6972" y="5583448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2" name="Rectangle 35">
            <a:extLst>
              <a:ext uri="{FF2B5EF4-FFF2-40B4-BE49-F238E27FC236}">
                <a16:creationId xmlns:a16="http://schemas.microsoft.com/office/drawing/2014/main" id="{A4F431FC-CB88-4E42-0E09-F90F86052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310" y="5583448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3" name="Rectangle 36">
            <a:extLst>
              <a:ext uri="{FF2B5EF4-FFF2-40B4-BE49-F238E27FC236}">
                <a16:creationId xmlns:a16="http://schemas.microsoft.com/office/drawing/2014/main" id="{59967FDD-6D83-9003-33B3-E33153B4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5397" y="5583448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 i="1" dirty="0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A</a:t>
            </a:r>
            <a:endParaRPr lang="en-US" altLang="zh-CN" sz="1800" baseline="-25000" dirty="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4" name="Rectangle 37">
            <a:extLst>
              <a:ext uri="{FF2B5EF4-FFF2-40B4-BE49-F238E27FC236}">
                <a16:creationId xmlns:a16="http://schemas.microsoft.com/office/drawing/2014/main" id="{5D241C7B-026D-1987-7DBA-C0D47B1DE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735" y="5583448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2000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5" name="Rectangle 38">
            <a:extLst>
              <a:ext uri="{FF2B5EF4-FFF2-40B4-BE49-F238E27FC236}">
                <a16:creationId xmlns:a16="http://schemas.microsoft.com/office/drawing/2014/main" id="{834071FF-26D2-CB79-FC68-0E1952945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672" y="5583448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 i="1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B</a:t>
            </a:r>
            <a:endParaRPr lang="en-US" altLang="zh-CN" sz="1800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6" name="Rectangle 39">
            <a:extLst>
              <a:ext uri="{FF2B5EF4-FFF2-40B4-BE49-F238E27FC236}">
                <a16:creationId xmlns:a16="http://schemas.microsoft.com/office/drawing/2014/main" id="{C21158BD-1518-CBF8-4D68-6BDA9E431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010" y="5583448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2000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7" name="Rectangle 40">
            <a:extLst>
              <a:ext uri="{FF2B5EF4-FFF2-40B4-BE49-F238E27FC236}">
                <a16:creationId xmlns:a16="http://schemas.microsoft.com/office/drawing/2014/main" id="{677F06B7-2684-0803-7DCD-6DD990AEC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4985" y="5583448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 i="1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N</a:t>
            </a:r>
            <a:endParaRPr lang="en-US" altLang="zh-CN" sz="1800" i="1" baseline="-25000">
              <a:solidFill>
                <a:srgbClr val="3333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8" name="Rectangle 41">
            <a:extLst>
              <a:ext uri="{FF2B5EF4-FFF2-40B4-BE49-F238E27FC236}">
                <a16:creationId xmlns:a16="http://schemas.microsoft.com/office/drawing/2014/main" id="{45C70331-165B-54F8-E559-350F08ED8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6322" y="5583448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49" name="Text Box 42">
            <a:extLst>
              <a:ext uri="{FF2B5EF4-FFF2-40B4-BE49-F238E27FC236}">
                <a16:creationId xmlns:a16="http://schemas.microsoft.com/office/drawing/2014/main" id="{911D2F98-887E-3C11-C76E-231A7972C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9585" y="5472920"/>
            <a:ext cx="576262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>
                <a:latin typeface="Consolas" pitchFamily="49" charset="0"/>
                <a:ea typeface="宋体" pitchFamily="2" charset="-122"/>
                <a:cs typeface="Consolas" pitchFamily="49" charset="0"/>
              </a:rPr>
              <a:t>…</a:t>
            </a:r>
          </a:p>
        </p:txBody>
      </p:sp>
      <p:sp>
        <p:nvSpPr>
          <p:cNvPr id="50" name="Arc 43">
            <a:extLst>
              <a:ext uri="{FF2B5EF4-FFF2-40B4-BE49-F238E27FC236}">
                <a16:creationId xmlns:a16="http://schemas.microsoft.com/office/drawing/2014/main" id="{BE9B8551-B648-9560-4ABE-E01057951E15}"/>
              </a:ext>
            </a:extLst>
          </p:cNvPr>
          <p:cNvSpPr>
            <a:spLocks/>
          </p:cNvSpPr>
          <p:nvPr/>
        </p:nvSpPr>
        <p:spPr bwMode="auto">
          <a:xfrm>
            <a:off x="2758842" y="5224673"/>
            <a:ext cx="360363" cy="3587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FF00FF"/>
            </a:solidFill>
            <a:miter lim="800000"/>
            <a:headEnd/>
            <a:tailEnd type="stealth" w="lg" len="lg"/>
          </a:ln>
          <a:effectLst/>
        </p:spPr>
        <p:txBody>
          <a:bodyPr wrap="none" anchor="ctr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1" name="Line 45">
            <a:extLst>
              <a:ext uri="{FF2B5EF4-FFF2-40B4-BE49-F238E27FC236}">
                <a16:creationId xmlns:a16="http://schemas.microsoft.com/office/drawing/2014/main" id="{90DD828D-39E8-03C8-54A8-58BD52B80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9135" y="5799348"/>
            <a:ext cx="576262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2" name="Line 46">
            <a:extLst>
              <a:ext uri="{FF2B5EF4-FFF2-40B4-BE49-F238E27FC236}">
                <a16:creationId xmlns:a16="http://schemas.microsoft.com/office/drawing/2014/main" id="{8697E539-3F38-F748-CD19-AE461761D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8997" y="5799348"/>
            <a:ext cx="576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3" name="Line 47">
            <a:extLst>
              <a:ext uri="{FF2B5EF4-FFF2-40B4-BE49-F238E27FC236}">
                <a16:creationId xmlns:a16="http://schemas.microsoft.com/office/drawing/2014/main" id="{4CCE3B4E-82AB-DD28-D38D-E62679F62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0447" y="5799348"/>
            <a:ext cx="576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4" name="Line 48">
            <a:extLst>
              <a:ext uri="{FF2B5EF4-FFF2-40B4-BE49-F238E27FC236}">
                <a16:creationId xmlns:a16="http://schemas.microsoft.com/office/drawing/2014/main" id="{5A761F8E-DE62-00DF-9EC7-27E8057DA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0310" y="5799348"/>
            <a:ext cx="576262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5" name="Text Box 44">
            <a:extLst>
              <a:ext uri="{FF2B5EF4-FFF2-40B4-BE49-F238E27FC236}">
                <a16:creationId xmlns:a16="http://schemas.microsoft.com/office/drawing/2014/main" id="{667C4A7A-D9B5-ED76-DFEF-E2B2A597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480" y="4913574"/>
            <a:ext cx="431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CD96269-E788-05B4-7547-2CC7C7E64D0B}"/>
              </a:ext>
            </a:extLst>
          </p:cNvPr>
          <p:cNvCxnSpPr/>
          <p:nvPr/>
        </p:nvCxnSpPr>
        <p:spPr>
          <a:xfrm rot="5400000">
            <a:off x="4315379" y="5004797"/>
            <a:ext cx="107157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" name="Text Box 2">
            <a:extLst>
              <a:ext uri="{FF2B5EF4-FFF2-40B4-BE49-F238E27FC236}">
                <a16:creationId xmlns:a16="http://schemas.microsoft.com/office/drawing/2014/main" id="{2EAC8A91-9A1C-19A9-F5F4-7A1C5042C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6" y="6371410"/>
            <a:ext cx="6143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sz="2000" dirty="0">
                <a:latin typeface="Consolas" pitchFamily="49" charset="0"/>
                <a:ea typeface="华文中宋" pitchFamily="2" charset="-122"/>
                <a:cs typeface="Consolas" pitchFamily="49" charset="0"/>
              </a:rPr>
              <a:t>链串中实现串的基本运算与单链表的基本运算</a:t>
            </a:r>
            <a:r>
              <a:rPr kumimoji="1" lang="zh-CN" altLang="en-US" sz="2000" dirty="0">
                <a:solidFill>
                  <a:srgbClr val="FF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类似</a:t>
            </a:r>
            <a:r>
              <a:rPr kumimoji="1" lang="zh-CN" altLang="en-US" sz="2000" dirty="0">
                <a:latin typeface="Consolas" pitchFamily="49" charset="0"/>
                <a:ea typeface="华文中宋" pitchFamily="2" charset="-122"/>
                <a:cs typeface="Consolas" pitchFamily="49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97583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5130D-F05B-59A2-D0F0-0B672909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9BC0571-D345-F88F-6412-B0C99B5D6A2B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4.2 串的存储结构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198938-30B0-59A2-A0DB-8D28E8D67FF2}"/>
              </a:ext>
            </a:extLst>
          </p:cNvPr>
          <p:cNvSpPr/>
          <p:nvPr/>
        </p:nvSpPr>
        <p:spPr>
          <a:xfrm>
            <a:off x="436792" y="1221099"/>
            <a:ext cx="6483842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串的链式存储及其基本操作实现  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9762D95-F27B-16A6-E274-9E6A7C3C0DF6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C6BC423-F42A-A614-2DC7-B7CAA4C1F6B4}"/>
              </a:ext>
            </a:extLst>
          </p:cNvPr>
          <p:cNvSpPr txBox="1"/>
          <p:nvPr/>
        </p:nvSpPr>
        <p:spPr>
          <a:xfrm>
            <a:off x="1343472" y="1772816"/>
            <a:ext cx="10716852" cy="1295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）生成串</a:t>
            </a:r>
            <a:r>
              <a:rPr lang="en-US" altLang="zh-CN" sz="20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StrAssign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(&amp;</a:t>
            </a:r>
            <a:r>
              <a:rPr lang="en-US" altLang="zh-CN" sz="2000" i="1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</a:t>
            </a:r>
            <a:r>
              <a:rPr lang="zh-CN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cstr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endParaRPr lang="zh-CN" altLang="zh-CN" sz="2000" dirty="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>
              <a:lnSpc>
                <a:spcPts val="2800"/>
              </a:lnSpc>
              <a:spcBef>
                <a:spcPts val="1200"/>
              </a:spcBef>
            </a:pPr>
            <a:r>
              <a:rPr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将一个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C/C++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字符串常量</a:t>
            </a:r>
            <a:r>
              <a:rPr lang="en-US" altLang="zh-CN" sz="20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cstr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（以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'\0'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字符标识结尾）赋给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链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串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，即生成一个其值等于</a:t>
            </a:r>
            <a:r>
              <a:rPr lang="en-US" altLang="zh-CN" sz="20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cstr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链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串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F2D6A-96ED-D4FF-7761-454547D286AB}"/>
              </a:ext>
            </a:extLst>
          </p:cNvPr>
          <p:cNvSpPr txBox="1"/>
          <p:nvPr/>
        </p:nvSpPr>
        <p:spPr>
          <a:xfrm>
            <a:off x="1991544" y="3130543"/>
            <a:ext cx="7643866" cy="33685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6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StrAssign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s,char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cstr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[])</a:t>
            </a:r>
            <a:endParaRPr lang="zh-CN" altLang="zh-CN" sz="16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endParaRPr lang="zh-CN" altLang="zh-CN" sz="16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*r,*p;</a:t>
            </a:r>
            <a:endParaRPr lang="zh-CN" altLang="zh-CN" sz="16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s=(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*)malloc(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sizeof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));</a:t>
            </a:r>
            <a:endParaRPr lang="zh-CN" altLang="zh-CN" sz="16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r=s;			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//r</a:t>
            </a:r>
            <a:r>
              <a:rPr lang="zh-CN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始终指向尾结点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=0;cstr[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]!='\0';i++) </a:t>
            </a:r>
            <a:endParaRPr lang="zh-CN" altLang="zh-CN" sz="16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p=(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*)malloc(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sizeof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));</a:t>
            </a:r>
            <a:endParaRPr lang="zh-CN" altLang="zh-CN" sz="16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p-&gt;data=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cstr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];</a:t>
            </a:r>
            <a:endParaRPr lang="zh-CN" altLang="zh-CN" sz="16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r-&gt;next=p; r=p;</a:t>
            </a:r>
            <a:endParaRPr lang="zh-CN" altLang="zh-CN" sz="16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6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r-&gt;next=NULL;	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尾结点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next</a:t>
            </a:r>
            <a:r>
              <a:rPr lang="zh-CN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域置为空</a:t>
            </a:r>
          </a:p>
          <a:p>
            <a:r>
              <a:rPr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6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17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F5D4E-18FC-53AE-AE86-745BD5C0E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0D68F13-FBBA-FAB4-06EE-7764E732789F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4.2 串的存储结构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67A394-A935-BC41-5764-3640A9A715CD}"/>
              </a:ext>
            </a:extLst>
          </p:cNvPr>
          <p:cNvSpPr/>
          <p:nvPr/>
        </p:nvSpPr>
        <p:spPr>
          <a:xfrm>
            <a:off x="436792" y="1221099"/>
            <a:ext cx="6483842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串的链式存储及其基本操作实现  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A4A4F7D-E015-79D3-6B79-6894AEB30734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>
            <a:extLst>
              <a:ext uri="{FF2B5EF4-FFF2-40B4-BE49-F238E27FC236}">
                <a16:creationId xmlns:a16="http://schemas.microsoft.com/office/drawing/2014/main" id="{66F4DADF-A1E2-F3C7-1874-55BC3A684ECF}"/>
              </a:ext>
            </a:extLst>
          </p:cNvPr>
          <p:cNvSpPr txBox="1"/>
          <p:nvPr/>
        </p:nvSpPr>
        <p:spPr>
          <a:xfrm>
            <a:off x="1487488" y="1780760"/>
            <a:ext cx="8143932" cy="961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）销毁串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DestroyStr(&amp;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endParaRPr lang="zh-CN" altLang="zh-CN" sz="200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该运算和销毁带头结点单链表运算的实现过程相同。</a:t>
            </a:r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32981C8-30D8-416D-CFDB-50E8C5EFC749}"/>
              </a:ext>
            </a:extLst>
          </p:cNvPr>
          <p:cNvSpPr txBox="1"/>
          <p:nvPr/>
        </p:nvSpPr>
        <p:spPr>
          <a:xfrm>
            <a:off x="1487488" y="2995206"/>
            <a:ext cx="8286808" cy="34920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DestroyStr</a:t>
            </a: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(LinkStrNode *&amp;s)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LinkStrNode *pre=s,*p=s-&gt;next;	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//pre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指向结点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的前驱结点</a:t>
            </a:r>
          </a:p>
          <a:p>
            <a:pPr>
              <a:lnSpc>
                <a:spcPts val="28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(p!=NULL)			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扫描链串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free(pre);			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pre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</a:t>
            </a:r>
          </a:p>
          <a:p>
            <a:pPr>
              <a:lnSpc>
                <a:spcPts val="28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pre=p;				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//pre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同步后移一个结点</a:t>
            </a:r>
          </a:p>
          <a:p>
            <a:pPr>
              <a:lnSpc>
                <a:spcPts val="28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p=pre-&gt;next;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free(pre);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653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6A18E-A852-4B14-7DBB-407D79F6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E17A085-CCA6-BA5A-E3DF-57D35B2DF015}"/>
              </a:ext>
            </a:extLst>
          </p:cNvPr>
          <p:cNvSpPr/>
          <p:nvPr/>
        </p:nvSpPr>
        <p:spPr>
          <a:xfrm>
            <a:off x="3597001" y="336441"/>
            <a:ext cx="49979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4.2 串的存储结构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FEFF6E-51F4-BED5-CEDD-38CD94964EA9}"/>
              </a:ext>
            </a:extLst>
          </p:cNvPr>
          <p:cNvSpPr/>
          <p:nvPr/>
        </p:nvSpPr>
        <p:spPr>
          <a:xfrm>
            <a:off x="436792" y="1221099"/>
            <a:ext cx="6483842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串的链式存储及其基本操作实现  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5DB3580-1194-DD75-070F-65FD84DD6DA3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>
            <a:extLst>
              <a:ext uri="{FF2B5EF4-FFF2-40B4-BE49-F238E27FC236}">
                <a16:creationId xmlns:a16="http://schemas.microsoft.com/office/drawing/2014/main" id="{8D4B3662-7ACE-BDF7-1ABC-53C15DF2876C}"/>
              </a:ext>
            </a:extLst>
          </p:cNvPr>
          <p:cNvSpPr txBox="1"/>
          <p:nvPr/>
        </p:nvSpPr>
        <p:spPr>
          <a:xfrm>
            <a:off x="1415480" y="1844824"/>
            <a:ext cx="7572428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6</a:t>
            </a:r>
            <a:r>
              <a:rPr lang="zh-CN" altLang="zh-CN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）串连接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Concat(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</a:t>
            </a:r>
            <a:r>
              <a:rPr lang="zh-CN" altLang="zh-CN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t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endParaRPr lang="zh-CN" altLang="zh-CN" sz="200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r>
              <a:rPr lang="zh-CN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求由两个链串</a:t>
            </a:r>
            <a:r>
              <a:rPr lang="en-US" altLang="zh-CN" sz="2000" i="1"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i="1">
                <a:latin typeface="Consolas" pitchFamily="49" charset="0"/>
                <a:ea typeface="仿宋" pitchFamily="49" charset="-122"/>
                <a:cs typeface="Consolas" pitchFamily="49" charset="0"/>
              </a:rPr>
              <a:t>t</a:t>
            </a:r>
            <a:r>
              <a:rPr lang="zh-CN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的数据结点连接在一起形成结果串。</a:t>
            </a:r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FEB27E5-5DF1-E852-4C80-EDE5C8FA3B4F}"/>
              </a:ext>
            </a:extLst>
          </p:cNvPr>
          <p:cNvSpPr txBox="1"/>
          <p:nvPr/>
        </p:nvSpPr>
        <p:spPr>
          <a:xfrm>
            <a:off x="1415480" y="2702080"/>
            <a:ext cx="8358246" cy="39114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</a:t>
            </a:r>
            <a:r>
              <a:rPr lang="en-US" altLang="zh-CN" sz="12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Concat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s,LinkStrNode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*t)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*str,*p=s-&gt;next,*q,*r;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str=(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*)malloc(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sizeof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));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r=str;			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//r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指向结果串的尾结点</a:t>
            </a: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(p!=NULL)		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扫描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的所有数据结点</a:t>
            </a: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q=(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*)malloc(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sizeof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));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q-&gt;data=p-&gt;data;	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结点复制到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结点中</a:t>
            </a: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r-&gt;next=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q;r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=q;		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结点链接到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的末尾</a:t>
            </a: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p=p-&gt;next;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p=t-&gt;next;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(p!=NULL)		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扫描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的所有数据结点</a:t>
            </a: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q=(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*)malloc(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sizeof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LinkStrNode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));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q-&gt;data=p-&gt;data;	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结点复制到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结点中</a:t>
            </a: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r-&gt;next=</a:t>
            </a:r>
            <a:r>
              <a:rPr lang="en-US" altLang="zh-CN" sz="12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q;r</a:t>
            </a:r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=q;		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结点链接到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的末尾</a:t>
            </a: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p=p-&gt;next;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r-&gt;next=NULL;		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尾结点的</a:t>
            </a:r>
            <a:r>
              <a:rPr lang="en-US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next</a:t>
            </a:r>
            <a:r>
              <a:rPr lang="zh-CN" altLang="zh-CN" sz="12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域置为空</a:t>
            </a: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str;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en-US" altLang="zh-CN" sz="12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200" dirty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86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12" name="矩形 111"/>
          <p:cNvSpPr/>
          <p:nvPr/>
        </p:nvSpPr>
        <p:spPr>
          <a:xfrm>
            <a:off x="2107477" y="3531817"/>
            <a:ext cx="250806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算法一</a:t>
            </a:r>
          </a:p>
        </p:txBody>
      </p:sp>
      <p:sp>
        <p:nvSpPr>
          <p:cNvPr id="113" name="Rectangle 3"/>
          <p:cNvSpPr txBox="1">
            <a:spLocks noChangeArrowheads="1"/>
          </p:cNvSpPr>
          <p:nvPr/>
        </p:nvSpPr>
        <p:spPr>
          <a:xfrm>
            <a:off x="2429690" y="1402080"/>
            <a:ext cx="1680759" cy="374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问题描述：</a:t>
            </a:r>
            <a:endParaRPr lang="en-US" altLang="zh-CN" sz="2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134138" y="1914880"/>
            <a:ext cx="1703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index(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S,T,pos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34135" y="2284212"/>
            <a:ext cx="68536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初始条件：串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已经存在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为非空子串，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1≤pos≤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6" name="矩形 115"/>
          <p:cNvSpPr/>
          <p:nvPr/>
        </p:nvSpPr>
        <p:spPr>
          <a:xfrm>
            <a:off x="3134138" y="2653547"/>
            <a:ext cx="6994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操作结果：若主串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中存在和串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值相同的子串，则返回他在主串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中的第一个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个字符之后第一次出现的位置；否则函数值为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7" name="矩形 116"/>
          <p:cNvSpPr/>
          <p:nvPr/>
        </p:nvSpPr>
        <p:spPr>
          <a:xfrm>
            <a:off x="1991544" y="4221088"/>
            <a:ext cx="4626588" cy="19620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串的五个基本操作：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、串赋值：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StrAssign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T,chars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、串比较：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StrCompare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(S,T)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、求串长：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、串连接：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Concat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(&amp;T,S1,S2)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、求子串：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SubString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Sub,S,pos,len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);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C2CA006-09CF-45D8-B16D-30AAF2EC8100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81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4" grpId="0"/>
      <p:bldP spid="115" grpId="0"/>
      <p:bldP spid="116" grpId="0"/>
      <p:bldP spid="1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12" name="矩形 111"/>
          <p:cNvSpPr/>
          <p:nvPr/>
        </p:nvSpPr>
        <p:spPr>
          <a:xfrm>
            <a:off x="2107477" y="3531817"/>
            <a:ext cx="250806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算法一</a:t>
            </a:r>
          </a:p>
        </p:txBody>
      </p:sp>
      <p:sp>
        <p:nvSpPr>
          <p:cNvPr id="113" name="Rectangle 3"/>
          <p:cNvSpPr txBox="1">
            <a:spLocks noChangeArrowheads="1"/>
          </p:cNvSpPr>
          <p:nvPr/>
        </p:nvSpPr>
        <p:spPr>
          <a:xfrm>
            <a:off x="2429690" y="1402080"/>
            <a:ext cx="1680759" cy="374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问题描述：</a:t>
            </a:r>
            <a:endParaRPr lang="en-US" altLang="zh-CN" sz="2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134138" y="1914880"/>
            <a:ext cx="1703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index(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S,T,pos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34135" y="2284212"/>
            <a:ext cx="68536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初始条件：串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已经存在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为非空子串，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1≤pos≤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6" name="矩形 115"/>
          <p:cNvSpPr/>
          <p:nvPr/>
        </p:nvSpPr>
        <p:spPr>
          <a:xfrm>
            <a:off x="3134138" y="2653547"/>
            <a:ext cx="6994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操作结果：若主串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中存在和串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值相同的子串，则返回他在主串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中的第一个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个字符之后第一次出现的位置；否则函数值为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7" name="矩形 116"/>
          <p:cNvSpPr/>
          <p:nvPr/>
        </p:nvSpPr>
        <p:spPr>
          <a:xfrm>
            <a:off x="1991544" y="4221088"/>
            <a:ext cx="4626588" cy="19620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串的五个基本操作：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、串赋值：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StrAssign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T,chars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、串比较：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StrCompare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(S,T)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、求串长：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、串连接：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Concat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(&amp;T,S1,S2)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、求子串：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SubString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Sub,S,pos,len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);</a:t>
            </a:r>
            <a:endParaRPr lang="zh-CN" altLang="en-US" dirty="0"/>
          </a:p>
        </p:txBody>
      </p:sp>
      <p:sp>
        <p:nvSpPr>
          <p:cNvPr id="11" name="Rectangle 91"/>
          <p:cNvSpPr>
            <a:spLocks noChangeArrowheads="1"/>
          </p:cNvSpPr>
          <p:nvPr/>
        </p:nvSpPr>
        <p:spPr bwMode="auto">
          <a:xfrm>
            <a:off x="8990632" y="4030780"/>
            <a:ext cx="1508322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91"/>
          <p:cNvSpPr>
            <a:spLocks noChangeArrowheads="1"/>
          </p:cNvSpPr>
          <p:nvPr/>
        </p:nvSpPr>
        <p:spPr bwMode="auto">
          <a:xfrm>
            <a:off x="6603467" y="4031454"/>
            <a:ext cx="3417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S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91"/>
          <p:cNvSpPr>
            <a:spLocks noChangeArrowheads="1"/>
          </p:cNvSpPr>
          <p:nvPr/>
        </p:nvSpPr>
        <p:spPr bwMode="auto">
          <a:xfrm>
            <a:off x="7128758" y="4030780"/>
            <a:ext cx="2663054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0227609" y="4030780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91"/>
          <p:cNvSpPr>
            <a:spLocks noChangeArrowheads="1"/>
          </p:cNvSpPr>
          <p:nvPr/>
        </p:nvSpPr>
        <p:spPr bwMode="auto">
          <a:xfrm>
            <a:off x="6528051" y="4965431"/>
            <a:ext cx="5757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sub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91"/>
          <p:cNvSpPr>
            <a:spLocks noChangeArrowheads="1"/>
          </p:cNvSpPr>
          <p:nvPr/>
        </p:nvSpPr>
        <p:spPr bwMode="auto">
          <a:xfrm>
            <a:off x="7182387" y="4964757"/>
            <a:ext cx="1303187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91"/>
          <p:cNvSpPr>
            <a:spLocks noChangeArrowheads="1"/>
          </p:cNvSpPr>
          <p:nvPr/>
        </p:nvSpPr>
        <p:spPr bwMode="auto">
          <a:xfrm>
            <a:off x="7182385" y="4964757"/>
            <a:ext cx="3370196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0281235" y="4964757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91"/>
          <p:cNvSpPr>
            <a:spLocks noChangeArrowheads="1"/>
          </p:cNvSpPr>
          <p:nvPr/>
        </p:nvSpPr>
        <p:spPr bwMode="auto">
          <a:xfrm>
            <a:off x="9537864" y="3753781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2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91"/>
          <p:cNvSpPr>
            <a:spLocks noChangeArrowheads="1"/>
          </p:cNvSpPr>
          <p:nvPr/>
        </p:nvSpPr>
        <p:spPr bwMode="auto">
          <a:xfrm>
            <a:off x="6686541" y="5800823"/>
            <a:ext cx="35779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T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91"/>
          <p:cNvSpPr>
            <a:spLocks noChangeArrowheads="1"/>
          </p:cNvSpPr>
          <p:nvPr/>
        </p:nvSpPr>
        <p:spPr bwMode="auto">
          <a:xfrm>
            <a:off x="7141949" y="5826905"/>
            <a:ext cx="1341342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91"/>
          <p:cNvSpPr>
            <a:spLocks noChangeArrowheads="1"/>
          </p:cNvSpPr>
          <p:nvPr/>
        </p:nvSpPr>
        <p:spPr bwMode="auto">
          <a:xfrm>
            <a:off x="8485574" y="5826905"/>
            <a:ext cx="2026573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0240799" y="5826905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91"/>
          <p:cNvSpPr>
            <a:spLocks noChangeArrowheads="1"/>
          </p:cNvSpPr>
          <p:nvPr/>
        </p:nvSpPr>
        <p:spPr bwMode="auto">
          <a:xfrm>
            <a:off x="8137878" y="5516391"/>
            <a:ext cx="3048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m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175372" y="6163344"/>
            <a:ext cx="3291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n=</a:t>
            </a: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StrLength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(S);m=</a:t>
            </a: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StrLength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(T);</a:t>
            </a:r>
            <a:endParaRPr lang="zh-CN" altLang="en-US" dirty="0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6C30A1B-AEDA-4843-881E-948F2BE79682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57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5" grpId="0"/>
      <p:bldP spid="16" grpId="0" animBg="1"/>
      <p:bldP spid="17" grpId="0" animBg="1"/>
      <p:bldP spid="19" grpId="0"/>
      <p:bldP spid="20" grpId="0"/>
      <p:bldP spid="21" grpId="0" animBg="1"/>
      <p:bldP spid="22" grpId="0" animBg="1"/>
      <p:bldP spid="24" grpId="0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12" name="矩形 111"/>
          <p:cNvSpPr/>
          <p:nvPr/>
        </p:nvSpPr>
        <p:spPr>
          <a:xfrm>
            <a:off x="2107477" y="3531817"/>
            <a:ext cx="250806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算法一</a:t>
            </a:r>
          </a:p>
        </p:txBody>
      </p:sp>
      <p:sp>
        <p:nvSpPr>
          <p:cNvPr id="113" name="Rectangle 3"/>
          <p:cNvSpPr txBox="1">
            <a:spLocks noChangeArrowheads="1"/>
          </p:cNvSpPr>
          <p:nvPr/>
        </p:nvSpPr>
        <p:spPr>
          <a:xfrm>
            <a:off x="2429690" y="1402080"/>
            <a:ext cx="1680759" cy="374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问题描述：</a:t>
            </a:r>
            <a:endParaRPr lang="en-US" altLang="zh-CN" sz="2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134138" y="1914880"/>
            <a:ext cx="1703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index(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S,T,pos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34135" y="2284212"/>
            <a:ext cx="68536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初始条件：串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已经存在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为非空子串，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1≤pos≤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6" name="矩形 115"/>
          <p:cNvSpPr/>
          <p:nvPr/>
        </p:nvSpPr>
        <p:spPr>
          <a:xfrm>
            <a:off x="3134138" y="2653547"/>
            <a:ext cx="6994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操作结果：若主串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中存在和串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值相同的子串，则返回他在主串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中的第一个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个字符之后第一次出现的位置；否则函数值为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7" name="矩形 116"/>
          <p:cNvSpPr/>
          <p:nvPr/>
        </p:nvSpPr>
        <p:spPr>
          <a:xfrm>
            <a:off x="1991544" y="4221088"/>
            <a:ext cx="4626588" cy="19620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串的五个基本操作：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、串赋值：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StrAssign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T,chars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、串比较：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StrCompare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(S,T)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、求串长：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、串连接：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Concat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(&amp;T,S1,S2)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、求子串：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SubString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Sub,S,pos,len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);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Rectangle 91"/>
          <p:cNvSpPr>
            <a:spLocks noChangeArrowheads="1"/>
          </p:cNvSpPr>
          <p:nvPr/>
        </p:nvSpPr>
        <p:spPr bwMode="auto">
          <a:xfrm>
            <a:off x="8990632" y="4030780"/>
            <a:ext cx="1508322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91"/>
          <p:cNvSpPr>
            <a:spLocks noChangeArrowheads="1"/>
          </p:cNvSpPr>
          <p:nvPr/>
        </p:nvSpPr>
        <p:spPr bwMode="auto">
          <a:xfrm>
            <a:off x="6603467" y="4031454"/>
            <a:ext cx="3417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S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91"/>
          <p:cNvSpPr>
            <a:spLocks noChangeArrowheads="1"/>
          </p:cNvSpPr>
          <p:nvPr/>
        </p:nvSpPr>
        <p:spPr bwMode="auto">
          <a:xfrm>
            <a:off x="7128758" y="4030780"/>
            <a:ext cx="2663054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0227609" y="4030780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91"/>
          <p:cNvSpPr>
            <a:spLocks noChangeArrowheads="1"/>
          </p:cNvSpPr>
          <p:nvPr/>
        </p:nvSpPr>
        <p:spPr bwMode="auto">
          <a:xfrm>
            <a:off x="6528051" y="4965431"/>
            <a:ext cx="5757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sub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91"/>
          <p:cNvSpPr>
            <a:spLocks noChangeArrowheads="1"/>
          </p:cNvSpPr>
          <p:nvPr/>
        </p:nvSpPr>
        <p:spPr bwMode="auto">
          <a:xfrm>
            <a:off x="7182387" y="4964757"/>
            <a:ext cx="1303187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91"/>
          <p:cNvSpPr>
            <a:spLocks noChangeArrowheads="1"/>
          </p:cNvSpPr>
          <p:nvPr/>
        </p:nvSpPr>
        <p:spPr bwMode="auto">
          <a:xfrm>
            <a:off x="7182385" y="4964757"/>
            <a:ext cx="3370196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0281235" y="4964757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91"/>
          <p:cNvSpPr>
            <a:spLocks noChangeArrowheads="1"/>
          </p:cNvSpPr>
          <p:nvPr/>
        </p:nvSpPr>
        <p:spPr bwMode="auto">
          <a:xfrm>
            <a:off x="9537864" y="3753781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2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91"/>
          <p:cNvSpPr>
            <a:spLocks noChangeArrowheads="1"/>
          </p:cNvSpPr>
          <p:nvPr/>
        </p:nvSpPr>
        <p:spPr bwMode="auto">
          <a:xfrm>
            <a:off x="6686541" y="5800823"/>
            <a:ext cx="35779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T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91"/>
          <p:cNvSpPr>
            <a:spLocks noChangeArrowheads="1"/>
          </p:cNvSpPr>
          <p:nvPr/>
        </p:nvSpPr>
        <p:spPr bwMode="auto">
          <a:xfrm>
            <a:off x="7141949" y="5826905"/>
            <a:ext cx="1341342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91"/>
          <p:cNvSpPr>
            <a:spLocks noChangeArrowheads="1"/>
          </p:cNvSpPr>
          <p:nvPr/>
        </p:nvSpPr>
        <p:spPr bwMode="auto">
          <a:xfrm>
            <a:off x="8485574" y="5826905"/>
            <a:ext cx="2026573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0240799" y="5826905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91"/>
          <p:cNvSpPr>
            <a:spLocks noChangeArrowheads="1"/>
          </p:cNvSpPr>
          <p:nvPr/>
        </p:nvSpPr>
        <p:spPr bwMode="auto">
          <a:xfrm>
            <a:off x="8137878" y="5516391"/>
            <a:ext cx="3048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m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206316" y="6189972"/>
            <a:ext cx="2127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SubString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sub,S,i,m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dirty="0"/>
          </a:p>
        </p:txBody>
      </p:sp>
      <p:sp>
        <p:nvSpPr>
          <p:cNvPr id="27" name="Rectangle 91"/>
          <p:cNvSpPr>
            <a:spLocks noChangeArrowheads="1"/>
          </p:cNvSpPr>
          <p:nvPr/>
        </p:nvSpPr>
        <p:spPr bwMode="auto">
          <a:xfrm>
            <a:off x="7120195" y="5528268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91"/>
          <p:cNvSpPr>
            <a:spLocks noChangeArrowheads="1"/>
          </p:cNvSpPr>
          <p:nvPr/>
        </p:nvSpPr>
        <p:spPr bwMode="auto">
          <a:xfrm>
            <a:off x="7381805" y="3627692"/>
            <a:ext cx="3978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2"/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pos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ectangle 91"/>
          <p:cNvSpPr>
            <a:spLocks noChangeArrowheads="1"/>
          </p:cNvSpPr>
          <p:nvPr/>
        </p:nvSpPr>
        <p:spPr bwMode="auto">
          <a:xfrm>
            <a:off x="7457112" y="4041322"/>
            <a:ext cx="1303187" cy="43088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ectangle 91"/>
          <p:cNvSpPr>
            <a:spLocks noChangeArrowheads="1"/>
          </p:cNvSpPr>
          <p:nvPr/>
        </p:nvSpPr>
        <p:spPr bwMode="auto">
          <a:xfrm>
            <a:off x="7461394" y="3362540"/>
            <a:ext cx="2423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i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D00CEB4-A06C-462E-9E8B-88BF8FEC8FC7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82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5" grpId="0"/>
      <p:bldP spid="16" grpId="0" animBg="1"/>
      <p:bldP spid="17" grpId="0" animBg="1"/>
      <p:bldP spid="19" grpId="0"/>
      <p:bldP spid="20" grpId="0"/>
      <p:bldP spid="21" grpId="0" animBg="1"/>
      <p:bldP spid="22" grpId="0" animBg="1"/>
      <p:bldP spid="24" grpId="0"/>
      <p:bldP spid="26" grpId="0"/>
      <p:bldP spid="27" grpId="0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12" name="矩形 111"/>
          <p:cNvSpPr/>
          <p:nvPr/>
        </p:nvSpPr>
        <p:spPr>
          <a:xfrm>
            <a:off x="2107477" y="3531817"/>
            <a:ext cx="250806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算法一</a:t>
            </a:r>
          </a:p>
        </p:txBody>
      </p:sp>
      <p:sp>
        <p:nvSpPr>
          <p:cNvPr id="113" name="Rectangle 3"/>
          <p:cNvSpPr txBox="1">
            <a:spLocks noChangeArrowheads="1"/>
          </p:cNvSpPr>
          <p:nvPr/>
        </p:nvSpPr>
        <p:spPr>
          <a:xfrm>
            <a:off x="2429690" y="1402080"/>
            <a:ext cx="1680759" cy="374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问题描述：</a:t>
            </a:r>
            <a:endParaRPr lang="en-US" altLang="zh-CN" sz="2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134138" y="1914880"/>
            <a:ext cx="1703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index(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S,T,pos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34135" y="2284212"/>
            <a:ext cx="68536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初始条件：串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已经存在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为非空子串，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1≤pos≤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6" name="矩形 115"/>
          <p:cNvSpPr/>
          <p:nvPr/>
        </p:nvSpPr>
        <p:spPr>
          <a:xfrm>
            <a:off x="3134138" y="2653547"/>
            <a:ext cx="6994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操作结果：若主串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中存在和串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值相同的子串，则返回他在主串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中的第一个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个字符之后第一次出现的位置；否则函数值为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7" name="矩形 116"/>
          <p:cNvSpPr/>
          <p:nvPr/>
        </p:nvSpPr>
        <p:spPr>
          <a:xfrm>
            <a:off x="1991544" y="4221088"/>
            <a:ext cx="4626588" cy="19620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串的五个基本操作：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、串赋值：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StrAssign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T,chars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、串比较：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StrCompare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(S,T)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、求串长：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、串连接：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Concat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(&amp;T,S1,S2)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、求子串：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SubString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Sub,S,pos,len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);</a:t>
            </a:r>
            <a:endParaRPr lang="zh-CN" altLang="en-US" dirty="0"/>
          </a:p>
        </p:txBody>
      </p:sp>
      <p:sp>
        <p:nvSpPr>
          <p:cNvPr id="11" name="Rectangle 91"/>
          <p:cNvSpPr>
            <a:spLocks noChangeArrowheads="1"/>
          </p:cNvSpPr>
          <p:nvPr/>
        </p:nvSpPr>
        <p:spPr bwMode="auto">
          <a:xfrm>
            <a:off x="8990632" y="4030780"/>
            <a:ext cx="1508322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91"/>
          <p:cNvSpPr>
            <a:spLocks noChangeArrowheads="1"/>
          </p:cNvSpPr>
          <p:nvPr/>
        </p:nvSpPr>
        <p:spPr bwMode="auto">
          <a:xfrm>
            <a:off x="6603467" y="4031454"/>
            <a:ext cx="3417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S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91"/>
          <p:cNvSpPr>
            <a:spLocks noChangeArrowheads="1"/>
          </p:cNvSpPr>
          <p:nvPr/>
        </p:nvSpPr>
        <p:spPr bwMode="auto">
          <a:xfrm>
            <a:off x="7128758" y="4030780"/>
            <a:ext cx="2663054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0227609" y="4030780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91"/>
          <p:cNvSpPr>
            <a:spLocks noChangeArrowheads="1"/>
          </p:cNvSpPr>
          <p:nvPr/>
        </p:nvSpPr>
        <p:spPr bwMode="auto">
          <a:xfrm>
            <a:off x="6528051" y="4965431"/>
            <a:ext cx="5757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sub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91"/>
          <p:cNvSpPr>
            <a:spLocks noChangeArrowheads="1"/>
          </p:cNvSpPr>
          <p:nvPr/>
        </p:nvSpPr>
        <p:spPr bwMode="auto">
          <a:xfrm>
            <a:off x="7182387" y="4964757"/>
            <a:ext cx="1303187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91"/>
          <p:cNvSpPr>
            <a:spLocks noChangeArrowheads="1"/>
          </p:cNvSpPr>
          <p:nvPr/>
        </p:nvSpPr>
        <p:spPr bwMode="auto">
          <a:xfrm>
            <a:off x="7182385" y="4964757"/>
            <a:ext cx="3370196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0281235" y="4964757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91"/>
          <p:cNvSpPr>
            <a:spLocks noChangeArrowheads="1"/>
          </p:cNvSpPr>
          <p:nvPr/>
        </p:nvSpPr>
        <p:spPr bwMode="auto">
          <a:xfrm>
            <a:off x="9537864" y="3753781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2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91"/>
          <p:cNvSpPr>
            <a:spLocks noChangeArrowheads="1"/>
          </p:cNvSpPr>
          <p:nvPr/>
        </p:nvSpPr>
        <p:spPr bwMode="auto">
          <a:xfrm>
            <a:off x="6686541" y="5800823"/>
            <a:ext cx="35779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T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91"/>
          <p:cNvSpPr>
            <a:spLocks noChangeArrowheads="1"/>
          </p:cNvSpPr>
          <p:nvPr/>
        </p:nvSpPr>
        <p:spPr bwMode="auto">
          <a:xfrm>
            <a:off x="7141949" y="5826905"/>
            <a:ext cx="1341342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91"/>
          <p:cNvSpPr>
            <a:spLocks noChangeArrowheads="1"/>
          </p:cNvSpPr>
          <p:nvPr/>
        </p:nvSpPr>
        <p:spPr bwMode="auto">
          <a:xfrm>
            <a:off x="8485574" y="5826905"/>
            <a:ext cx="2026573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0240799" y="5826905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91"/>
          <p:cNvSpPr>
            <a:spLocks noChangeArrowheads="1"/>
          </p:cNvSpPr>
          <p:nvPr/>
        </p:nvSpPr>
        <p:spPr bwMode="auto">
          <a:xfrm>
            <a:off x="8137878" y="5516391"/>
            <a:ext cx="3048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m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ectangle 91"/>
          <p:cNvSpPr>
            <a:spLocks noChangeArrowheads="1"/>
          </p:cNvSpPr>
          <p:nvPr/>
        </p:nvSpPr>
        <p:spPr bwMode="auto">
          <a:xfrm>
            <a:off x="7120195" y="5528268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91"/>
          <p:cNvSpPr>
            <a:spLocks noChangeArrowheads="1"/>
          </p:cNvSpPr>
          <p:nvPr/>
        </p:nvSpPr>
        <p:spPr bwMode="auto">
          <a:xfrm>
            <a:off x="7381805" y="3627692"/>
            <a:ext cx="3978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2"/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pos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ectangle 91"/>
          <p:cNvSpPr>
            <a:spLocks noChangeArrowheads="1"/>
          </p:cNvSpPr>
          <p:nvPr/>
        </p:nvSpPr>
        <p:spPr bwMode="auto">
          <a:xfrm>
            <a:off x="7457112" y="4041322"/>
            <a:ext cx="1303187" cy="43088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283260" y="6179062"/>
            <a:ext cx="1973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StrCompare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sub,T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dirty="0"/>
          </a:p>
        </p:txBody>
      </p:sp>
      <p:sp>
        <p:nvSpPr>
          <p:cNvPr id="31" name="Rectangle 91"/>
          <p:cNvSpPr>
            <a:spLocks noChangeArrowheads="1"/>
          </p:cNvSpPr>
          <p:nvPr/>
        </p:nvSpPr>
        <p:spPr bwMode="auto">
          <a:xfrm>
            <a:off x="7461394" y="3362540"/>
            <a:ext cx="2423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i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20B31E9-19DA-4186-B6E6-B3225D56FF92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5560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12" name="矩形 111"/>
          <p:cNvSpPr/>
          <p:nvPr/>
        </p:nvSpPr>
        <p:spPr>
          <a:xfrm>
            <a:off x="2107477" y="3531817"/>
            <a:ext cx="250806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算法一</a:t>
            </a:r>
          </a:p>
        </p:txBody>
      </p:sp>
      <p:sp>
        <p:nvSpPr>
          <p:cNvPr id="113" name="Rectangle 3"/>
          <p:cNvSpPr txBox="1">
            <a:spLocks noChangeArrowheads="1"/>
          </p:cNvSpPr>
          <p:nvPr/>
        </p:nvSpPr>
        <p:spPr>
          <a:xfrm>
            <a:off x="2429690" y="1402080"/>
            <a:ext cx="1680759" cy="374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问题描述：</a:t>
            </a:r>
            <a:endParaRPr lang="en-US" altLang="zh-CN" sz="2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134138" y="1914880"/>
            <a:ext cx="1703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index(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S,T,pos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34135" y="2284212"/>
            <a:ext cx="68536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初始条件：串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已经存在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为非空子串，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1≤pos≤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6" name="矩形 115"/>
          <p:cNvSpPr/>
          <p:nvPr/>
        </p:nvSpPr>
        <p:spPr>
          <a:xfrm>
            <a:off x="3134138" y="2653547"/>
            <a:ext cx="6994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操作结果：若主串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中存在和串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值相同的子串，则返回他在主串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中的第一个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个字符之后第一次出现的位置；否则函数值为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7" name="矩形 116"/>
          <p:cNvSpPr/>
          <p:nvPr/>
        </p:nvSpPr>
        <p:spPr>
          <a:xfrm>
            <a:off x="1991544" y="4221088"/>
            <a:ext cx="4626588" cy="19620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串的五个基本操作：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、串赋值：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StrAssign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T,chars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、串比较：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StrCompare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(S,T)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、求串长：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、串连接：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Concat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(&amp;T,S1,S2)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、求子串：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SubString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Sub,S,pos,len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);</a:t>
            </a:r>
            <a:endParaRPr lang="zh-CN" altLang="en-US" dirty="0"/>
          </a:p>
        </p:txBody>
      </p:sp>
      <p:sp>
        <p:nvSpPr>
          <p:cNvPr id="11" name="Rectangle 91"/>
          <p:cNvSpPr>
            <a:spLocks noChangeArrowheads="1"/>
          </p:cNvSpPr>
          <p:nvPr/>
        </p:nvSpPr>
        <p:spPr bwMode="auto">
          <a:xfrm>
            <a:off x="8990632" y="4030780"/>
            <a:ext cx="1508322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91"/>
          <p:cNvSpPr>
            <a:spLocks noChangeArrowheads="1"/>
          </p:cNvSpPr>
          <p:nvPr/>
        </p:nvSpPr>
        <p:spPr bwMode="auto">
          <a:xfrm>
            <a:off x="6603467" y="4031454"/>
            <a:ext cx="3417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S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91"/>
          <p:cNvSpPr>
            <a:spLocks noChangeArrowheads="1"/>
          </p:cNvSpPr>
          <p:nvPr/>
        </p:nvSpPr>
        <p:spPr bwMode="auto">
          <a:xfrm>
            <a:off x="7128758" y="4030780"/>
            <a:ext cx="2663054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0227609" y="4030780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91"/>
          <p:cNvSpPr>
            <a:spLocks noChangeArrowheads="1"/>
          </p:cNvSpPr>
          <p:nvPr/>
        </p:nvSpPr>
        <p:spPr bwMode="auto">
          <a:xfrm>
            <a:off x="6528051" y="4965431"/>
            <a:ext cx="5757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sub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91"/>
          <p:cNvSpPr>
            <a:spLocks noChangeArrowheads="1"/>
          </p:cNvSpPr>
          <p:nvPr/>
        </p:nvSpPr>
        <p:spPr bwMode="auto">
          <a:xfrm>
            <a:off x="7182387" y="4964757"/>
            <a:ext cx="1303187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91"/>
          <p:cNvSpPr>
            <a:spLocks noChangeArrowheads="1"/>
          </p:cNvSpPr>
          <p:nvPr/>
        </p:nvSpPr>
        <p:spPr bwMode="auto">
          <a:xfrm>
            <a:off x="7182385" y="4964757"/>
            <a:ext cx="3370196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0281235" y="4964757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91"/>
          <p:cNvSpPr>
            <a:spLocks noChangeArrowheads="1"/>
          </p:cNvSpPr>
          <p:nvPr/>
        </p:nvSpPr>
        <p:spPr bwMode="auto">
          <a:xfrm>
            <a:off x="9537864" y="3753781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2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91"/>
          <p:cNvSpPr>
            <a:spLocks noChangeArrowheads="1"/>
          </p:cNvSpPr>
          <p:nvPr/>
        </p:nvSpPr>
        <p:spPr bwMode="auto">
          <a:xfrm>
            <a:off x="6686541" y="5800823"/>
            <a:ext cx="35779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T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91"/>
          <p:cNvSpPr>
            <a:spLocks noChangeArrowheads="1"/>
          </p:cNvSpPr>
          <p:nvPr/>
        </p:nvSpPr>
        <p:spPr bwMode="auto">
          <a:xfrm>
            <a:off x="7141949" y="5826905"/>
            <a:ext cx="1341342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91"/>
          <p:cNvSpPr>
            <a:spLocks noChangeArrowheads="1"/>
          </p:cNvSpPr>
          <p:nvPr/>
        </p:nvSpPr>
        <p:spPr bwMode="auto">
          <a:xfrm>
            <a:off x="8485574" y="5826905"/>
            <a:ext cx="2026573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0240799" y="5826905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91"/>
          <p:cNvSpPr>
            <a:spLocks noChangeArrowheads="1"/>
          </p:cNvSpPr>
          <p:nvPr/>
        </p:nvSpPr>
        <p:spPr bwMode="auto">
          <a:xfrm>
            <a:off x="8137878" y="5516391"/>
            <a:ext cx="3048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m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ectangle 91"/>
          <p:cNvSpPr>
            <a:spLocks noChangeArrowheads="1"/>
          </p:cNvSpPr>
          <p:nvPr/>
        </p:nvSpPr>
        <p:spPr bwMode="auto">
          <a:xfrm>
            <a:off x="7120195" y="5528268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91"/>
          <p:cNvSpPr>
            <a:spLocks noChangeArrowheads="1"/>
          </p:cNvSpPr>
          <p:nvPr/>
        </p:nvSpPr>
        <p:spPr bwMode="auto">
          <a:xfrm>
            <a:off x="7381805" y="3627692"/>
            <a:ext cx="3978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2"/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pos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ectangle 91"/>
          <p:cNvSpPr>
            <a:spLocks noChangeArrowheads="1"/>
          </p:cNvSpPr>
          <p:nvPr/>
        </p:nvSpPr>
        <p:spPr bwMode="auto">
          <a:xfrm>
            <a:off x="7745144" y="4041322"/>
            <a:ext cx="1303187" cy="43088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283260" y="6179062"/>
            <a:ext cx="1973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StrCompare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sub,T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dirty="0"/>
          </a:p>
        </p:txBody>
      </p:sp>
      <p:sp>
        <p:nvSpPr>
          <p:cNvPr id="31" name="Rectangle 91"/>
          <p:cNvSpPr>
            <a:spLocks noChangeArrowheads="1"/>
          </p:cNvSpPr>
          <p:nvPr/>
        </p:nvSpPr>
        <p:spPr bwMode="auto">
          <a:xfrm>
            <a:off x="7749426" y="3362540"/>
            <a:ext cx="2423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i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9DA1C13-E0B6-471B-90D5-1DE9D826F1F0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691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12" name="矩形 111"/>
          <p:cNvSpPr/>
          <p:nvPr/>
        </p:nvSpPr>
        <p:spPr>
          <a:xfrm>
            <a:off x="2107477" y="3531817"/>
            <a:ext cx="250806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算法一</a:t>
            </a:r>
          </a:p>
        </p:txBody>
      </p:sp>
      <p:sp>
        <p:nvSpPr>
          <p:cNvPr id="113" name="Rectangle 3"/>
          <p:cNvSpPr txBox="1">
            <a:spLocks noChangeArrowheads="1"/>
          </p:cNvSpPr>
          <p:nvPr/>
        </p:nvSpPr>
        <p:spPr>
          <a:xfrm>
            <a:off x="2429690" y="1402080"/>
            <a:ext cx="1680759" cy="374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问题描述：</a:t>
            </a:r>
            <a:endParaRPr lang="en-US" altLang="zh-CN" sz="2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134138" y="1914880"/>
            <a:ext cx="1703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index(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S,T,pos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34135" y="2284212"/>
            <a:ext cx="68536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初始条件：串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已经存在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为非空子串，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1≤pos≤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6" name="矩形 115"/>
          <p:cNvSpPr/>
          <p:nvPr/>
        </p:nvSpPr>
        <p:spPr>
          <a:xfrm>
            <a:off x="3134138" y="2653547"/>
            <a:ext cx="6994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操作结果：若主串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中存在和串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值相同的子串，则返回他在主串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中的第一个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个字符之后第一次出现的位置；否则函数值为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7" name="矩形 116"/>
          <p:cNvSpPr/>
          <p:nvPr/>
        </p:nvSpPr>
        <p:spPr>
          <a:xfrm>
            <a:off x="1991544" y="4221088"/>
            <a:ext cx="4626588" cy="19620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串的五个基本操作：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、串赋值：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StrAssign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T,chars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、串比较：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StrCompare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(S,T)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、求串长：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、串连接：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Concat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(&amp;T,S1,S2)</a:t>
            </a:r>
          </a:p>
          <a:p>
            <a:pPr>
              <a:spcBef>
                <a:spcPct val="15000"/>
              </a:spcBef>
              <a:buClr>
                <a:schemeClr val="bg1"/>
              </a:buClr>
              <a:buSzPct val="95000"/>
              <a:buFont typeface="Wingdings" pitchFamily="2" charset="2"/>
              <a:buChar char="F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、求子串：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SubString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(&amp;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Sub,S,pos,len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);</a:t>
            </a:r>
            <a:endParaRPr lang="zh-CN" altLang="en-US" dirty="0"/>
          </a:p>
        </p:txBody>
      </p:sp>
      <p:sp>
        <p:nvSpPr>
          <p:cNvPr id="11" name="Rectangle 91"/>
          <p:cNvSpPr>
            <a:spLocks noChangeArrowheads="1"/>
          </p:cNvSpPr>
          <p:nvPr/>
        </p:nvSpPr>
        <p:spPr bwMode="auto">
          <a:xfrm>
            <a:off x="8990632" y="4030780"/>
            <a:ext cx="1508322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91"/>
          <p:cNvSpPr>
            <a:spLocks noChangeArrowheads="1"/>
          </p:cNvSpPr>
          <p:nvPr/>
        </p:nvSpPr>
        <p:spPr bwMode="auto">
          <a:xfrm>
            <a:off x="6603467" y="4031454"/>
            <a:ext cx="3417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S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91"/>
          <p:cNvSpPr>
            <a:spLocks noChangeArrowheads="1"/>
          </p:cNvSpPr>
          <p:nvPr/>
        </p:nvSpPr>
        <p:spPr bwMode="auto">
          <a:xfrm>
            <a:off x="7128758" y="4030780"/>
            <a:ext cx="2663054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0227609" y="4030780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91"/>
          <p:cNvSpPr>
            <a:spLocks noChangeArrowheads="1"/>
          </p:cNvSpPr>
          <p:nvPr/>
        </p:nvSpPr>
        <p:spPr bwMode="auto">
          <a:xfrm>
            <a:off x="6528051" y="4965431"/>
            <a:ext cx="5757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sub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91"/>
          <p:cNvSpPr>
            <a:spLocks noChangeArrowheads="1"/>
          </p:cNvSpPr>
          <p:nvPr/>
        </p:nvSpPr>
        <p:spPr bwMode="auto">
          <a:xfrm>
            <a:off x="7182387" y="4964757"/>
            <a:ext cx="1303187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91"/>
          <p:cNvSpPr>
            <a:spLocks noChangeArrowheads="1"/>
          </p:cNvSpPr>
          <p:nvPr/>
        </p:nvSpPr>
        <p:spPr bwMode="auto">
          <a:xfrm>
            <a:off x="7182385" y="4964757"/>
            <a:ext cx="3370196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0281235" y="4964757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91"/>
          <p:cNvSpPr>
            <a:spLocks noChangeArrowheads="1"/>
          </p:cNvSpPr>
          <p:nvPr/>
        </p:nvSpPr>
        <p:spPr bwMode="auto">
          <a:xfrm>
            <a:off x="9537864" y="3753781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2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91"/>
          <p:cNvSpPr>
            <a:spLocks noChangeArrowheads="1"/>
          </p:cNvSpPr>
          <p:nvPr/>
        </p:nvSpPr>
        <p:spPr bwMode="auto">
          <a:xfrm>
            <a:off x="6686541" y="5800823"/>
            <a:ext cx="35779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T</a:t>
            </a: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91"/>
          <p:cNvSpPr>
            <a:spLocks noChangeArrowheads="1"/>
          </p:cNvSpPr>
          <p:nvPr/>
        </p:nvSpPr>
        <p:spPr bwMode="auto">
          <a:xfrm>
            <a:off x="7141949" y="5826905"/>
            <a:ext cx="1341342" cy="43088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91"/>
          <p:cNvSpPr>
            <a:spLocks noChangeArrowheads="1"/>
          </p:cNvSpPr>
          <p:nvPr/>
        </p:nvSpPr>
        <p:spPr bwMode="auto">
          <a:xfrm>
            <a:off x="8485574" y="5826905"/>
            <a:ext cx="2026573" cy="430887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0240799" y="5826905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91"/>
          <p:cNvSpPr>
            <a:spLocks noChangeArrowheads="1"/>
          </p:cNvSpPr>
          <p:nvPr/>
        </p:nvSpPr>
        <p:spPr bwMode="auto">
          <a:xfrm>
            <a:off x="8137878" y="5516391"/>
            <a:ext cx="3048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m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ectangle 91"/>
          <p:cNvSpPr>
            <a:spLocks noChangeArrowheads="1"/>
          </p:cNvSpPr>
          <p:nvPr/>
        </p:nvSpPr>
        <p:spPr bwMode="auto">
          <a:xfrm>
            <a:off x="7120195" y="5528268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91"/>
          <p:cNvSpPr>
            <a:spLocks noChangeArrowheads="1"/>
          </p:cNvSpPr>
          <p:nvPr/>
        </p:nvSpPr>
        <p:spPr bwMode="auto">
          <a:xfrm>
            <a:off x="7381805" y="3627692"/>
            <a:ext cx="3978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2"/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pos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283260" y="6179062"/>
            <a:ext cx="1973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StrCompare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sub,T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dirty="0"/>
          </a:p>
        </p:txBody>
      </p:sp>
      <p:cxnSp>
        <p:nvCxnSpPr>
          <p:cNvPr id="41" name="直接连接符 40"/>
          <p:cNvCxnSpPr/>
          <p:nvPr/>
        </p:nvCxnSpPr>
        <p:spPr>
          <a:xfrm>
            <a:off x="9575878" y="4031454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91"/>
          <p:cNvSpPr>
            <a:spLocks noChangeArrowheads="1"/>
          </p:cNvSpPr>
          <p:nvPr/>
        </p:nvSpPr>
        <p:spPr bwMode="auto">
          <a:xfrm>
            <a:off x="8491470" y="4031454"/>
            <a:ext cx="1332447" cy="43088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8732442" y="4028566"/>
            <a:ext cx="0" cy="430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91"/>
          <p:cNvSpPr>
            <a:spLocks noChangeArrowheads="1"/>
          </p:cNvSpPr>
          <p:nvPr/>
        </p:nvSpPr>
        <p:spPr bwMode="auto">
          <a:xfrm>
            <a:off x="8538762" y="3415224"/>
            <a:ext cx="2423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i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左大括号 45"/>
          <p:cNvSpPr/>
          <p:nvPr/>
        </p:nvSpPr>
        <p:spPr>
          <a:xfrm rot="16200000">
            <a:off x="9090265" y="3900890"/>
            <a:ext cx="161117" cy="133918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Rectangle 91"/>
          <p:cNvSpPr>
            <a:spLocks noChangeArrowheads="1"/>
          </p:cNvSpPr>
          <p:nvPr/>
        </p:nvSpPr>
        <p:spPr bwMode="auto">
          <a:xfrm>
            <a:off x="8801266" y="4570481"/>
            <a:ext cx="7585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n-m+1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E23AE24-C449-42F9-BD4D-3F595B634FFB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4798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12" name="矩形 111"/>
          <p:cNvSpPr/>
          <p:nvPr/>
        </p:nvSpPr>
        <p:spPr>
          <a:xfrm>
            <a:off x="2107477" y="3531817"/>
            <a:ext cx="250806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算法一</a:t>
            </a:r>
          </a:p>
        </p:txBody>
      </p:sp>
      <p:sp>
        <p:nvSpPr>
          <p:cNvPr id="113" name="Rectangle 3"/>
          <p:cNvSpPr txBox="1">
            <a:spLocks noChangeArrowheads="1"/>
          </p:cNvSpPr>
          <p:nvPr/>
        </p:nvSpPr>
        <p:spPr>
          <a:xfrm>
            <a:off x="2429690" y="1402080"/>
            <a:ext cx="1680759" cy="374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问题描述：</a:t>
            </a:r>
            <a:endParaRPr lang="en-US" altLang="zh-CN" sz="2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134138" y="1914880"/>
            <a:ext cx="1703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index(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S,T,pos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34135" y="2284212"/>
            <a:ext cx="68536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初始条件：串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已经存在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为非空子串，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1≤pos≤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6" name="矩形 115"/>
          <p:cNvSpPr/>
          <p:nvPr/>
        </p:nvSpPr>
        <p:spPr>
          <a:xfrm>
            <a:off x="3134138" y="2653547"/>
            <a:ext cx="6994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操作结果：若主串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中存在和串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值相同的子串，则返回他在主串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中的第一个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个字符之后第一次出现的位置；否则函数值为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33" name="矩形 32"/>
          <p:cNvSpPr/>
          <p:nvPr/>
        </p:nvSpPr>
        <p:spPr>
          <a:xfrm>
            <a:off x="4862576" y="3429003"/>
            <a:ext cx="570561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int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Index(String </a:t>
            </a:r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S,String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T, </a:t>
            </a:r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int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pos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){</a:t>
            </a:r>
          </a:p>
          <a:p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</a:t>
            </a:r>
            <a:r>
              <a:rPr lang="en-US" altLang="zh-CN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//T</a:t>
            </a:r>
            <a:r>
              <a:rPr lang="zh-CN" altLang="en-US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为非空串，若主串</a:t>
            </a:r>
            <a:r>
              <a:rPr lang="en-US" altLang="zh-CN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中第</a:t>
            </a:r>
            <a:r>
              <a:rPr lang="en-US" altLang="zh-CN" sz="14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pos</a:t>
            </a:r>
            <a:r>
              <a:rPr lang="zh-CN" altLang="en-US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个字符之后存在与</a:t>
            </a:r>
            <a:r>
              <a:rPr lang="en-US" altLang="zh-CN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zh-CN" altLang="en-US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相等的子串，</a:t>
            </a:r>
            <a:endParaRPr lang="en-US" altLang="zh-CN" sz="14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//</a:t>
            </a:r>
            <a:r>
              <a:rPr lang="zh-CN" altLang="en-US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则返回第一个这样的子串在</a:t>
            </a:r>
            <a:r>
              <a:rPr lang="en-US" altLang="zh-CN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中的位置，否则返回</a:t>
            </a:r>
            <a:r>
              <a:rPr lang="en-US" altLang="zh-CN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</a:t>
            </a:r>
            <a:endParaRPr lang="en-US" altLang="zh-CN" sz="14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if(</a:t>
            </a:r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pos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&gt;0){</a:t>
            </a:r>
          </a:p>
          <a:p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       n=</a:t>
            </a:r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StrLength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(S);m=</a:t>
            </a:r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StrLength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(T);i=</a:t>
            </a:r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pos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;</a:t>
            </a:r>
          </a:p>
          <a:p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       while(i&lt;=n-m+1){</a:t>
            </a:r>
          </a:p>
          <a:p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                </a:t>
            </a:r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SubString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sub,S,i,m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);</a:t>
            </a:r>
          </a:p>
          <a:p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                if(</a:t>
            </a:r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StrCompare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16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sub,T</a:t>
            </a:r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)!=0)   ++i;</a:t>
            </a:r>
          </a:p>
          <a:p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                else return i;</a:t>
            </a:r>
          </a:p>
          <a:p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        }//while</a:t>
            </a:r>
          </a:p>
          <a:p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}//if</a:t>
            </a:r>
          </a:p>
          <a:p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return 0;</a:t>
            </a:r>
          </a:p>
          <a:p>
            <a:r>
              <a:rPr lang="en-US" altLang="zh-CN" sz="16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}//Index</a:t>
            </a:r>
            <a:endParaRPr lang="zh-CN" altLang="en-US" sz="16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7BEFC1A-2DAB-48D0-8F6E-F79E53E8496D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499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13" name="Rectangle 3"/>
          <p:cNvSpPr txBox="1">
            <a:spLocks noChangeArrowheads="1"/>
          </p:cNvSpPr>
          <p:nvPr/>
        </p:nvSpPr>
        <p:spPr>
          <a:xfrm>
            <a:off x="2429690" y="1402080"/>
            <a:ext cx="1680759" cy="374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问题描述：</a:t>
            </a:r>
            <a:endParaRPr lang="en-US" altLang="zh-CN" sz="2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134138" y="1914880"/>
            <a:ext cx="1703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index(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S,T,pos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34135" y="2284212"/>
            <a:ext cx="68536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初始条件：串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已经存在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为非空子串，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1≤pos≤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StrLength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(S)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6" name="矩形 115"/>
          <p:cNvSpPr/>
          <p:nvPr/>
        </p:nvSpPr>
        <p:spPr>
          <a:xfrm>
            <a:off x="3134138" y="2653547"/>
            <a:ext cx="6994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388"/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操作结果：若主串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中存在和串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值相同的子串，则返回他在主串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中的第一个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个字符之后第一次出现的位置；否则函数值为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1" name="矩形 10"/>
          <p:cNvSpPr/>
          <p:nvPr/>
        </p:nvSpPr>
        <p:spPr>
          <a:xfrm>
            <a:off x="2349190" y="3599600"/>
            <a:ext cx="77792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子串定位运算又称为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模式匹配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dirty="0">
                <a:latin typeface="Times New Roman" pitchFamily="18" charset="0"/>
                <a:ea typeface="楷体_GB2312" pitchFamily="49" charset="-122"/>
              </a:rPr>
              <a:t>Pattern Matching)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串匹配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dirty="0">
                <a:latin typeface="Times New Roman" pitchFamily="18" charset="0"/>
                <a:ea typeface="楷体_GB2312" pitchFamily="49" charset="-122"/>
              </a:rPr>
              <a:t>String Matching)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。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349187" y="4148948"/>
            <a:ext cx="5955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在串匹配中，一般将主串称为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目标串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，子串称为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模式串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13" name="矩形 12"/>
          <p:cNvSpPr/>
          <p:nvPr/>
        </p:nvSpPr>
        <p:spPr>
          <a:xfrm>
            <a:off x="2349190" y="4698299"/>
            <a:ext cx="81393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若子串在主串中出现，则称匹配成功，子串出现的位置称为有效位移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否则称匹配不成功。</a:t>
            </a:r>
          </a:p>
        </p:txBody>
      </p:sp>
      <p:sp>
        <p:nvSpPr>
          <p:cNvPr id="14" name="矩形 13"/>
          <p:cNvSpPr/>
          <p:nvPr/>
        </p:nvSpPr>
        <p:spPr>
          <a:xfrm>
            <a:off x="2349187" y="5435932"/>
            <a:ext cx="4801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模式匹配在文章的关键字查找中被广泛使用。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4735635-38FE-40AB-9176-A2C8E27AA428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66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18" name="Group 34"/>
          <p:cNvGrpSpPr>
            <a:grpSpLocks/>
          </p:cNvGrpSpPr>
          <p:nvPr/>
        </p:nvGrpSpPr>
        <p:grpSpPr bwMode="auto">
          <a:xfrm>
            <a:off x="4800600" y="3259965"/>
            <a:ext cx="5486400" cy="457200"/>
            <a:chOff x="768" y="2064"/>
            <a:chExt cx="3456" cy="288"/>
          </a:xfrm>
        </p:grpSpPr>
        <p:grpSp>
          <p:nvGrpSpPr>
            <p:cNvPr id="19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22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24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26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32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33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20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34" name="Group 35"/>
          <p:cNvGrpSpPr>
            <a:grpSpLocks/>
          </p:cNvGrpSpPr>
          <p:nvPr/>
        </p:nvGrpSpPr>
        <p:grpSpPr bwMode="auto">
          <a:xfrm>
            <a:off x="4800600" y="4250565"/>
            <a:ext cx="3048000" cy="457200"/>
            <a:chOff x="768" y="2688"/>
            <a:chExt cx="1920" cy="288"/>
          </a:xfrm>
        </p:grpSpPr>
        <p:grpSp>
          <p:nvGrpSpPr>
            <p:cNvPr id="35" name="Group 18"/>
            <p:cNvGrpSpPr>
              <a:grpSpLocks/>
            </p:cNvGrpSpPr>
            <p:nvPr/>
          </p:nvGrpSpPr>
          <p:grpSpPr bwMode="auto">
            <a:xfrm>
              <a:off x="1728" y="2736"/>
              <a:ext cx="960" cy="192"/>
              <a:chOff x="1536" y="2208"/>
              <a:chExt cx="960" cy="192"/>
            </a:xfrm>
          </p:grpSpPr>
          <p:sp>
            <p:nvSpPr>
              <p:cNvPr id="37" name="Rectangle 19"/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38" name="Rectangle 20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39" name="Rectangle 21"/>
              <p:cNvSpPr>
                <a:spLocks noChangeArrowheads="1"/>
              </p:cNvSpPr>
              <p:nvPr/>
            </p:nvSpPr>
            <p:spPr bwMode="auto">
              <a:xfrm>
                <a:off x="1920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40" name="Rectangle 22"/>
              <p:cNvSpPr>
                <a:spLocks noChangeArrowheads="1"/>
              </p:cNvSpPr>
              <p:nvPr/>
            </p:nvSpPr>
            <p:spPr bwMode="auto">
              <a:xfrm>
                <a:off x="2112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1" name="Rectangle 23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36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42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第一趟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i=1)</a:t>
            </a:r>
          </a:p>
        </p:txBody>
      </p:sp>
      <p:grpSp>
        <p:nvGrpSpPr>
          <p:cNvPr id="43" name="Group 37"/>
          <p:cNvGrpSpPr>
            <a:grpSpLocks/>
          </p:cNvGrpSpPr>
          <p:nvPr/>
        </p:nvGrpSpPr>
        <p:grpSpPr bwMode="auto">
          <a:xfrm>
            <a:off x="6324600" y="2650365"/>
            <a:ext cx="457200" cy="609600"/>
            <a:chOff x="1536" y="1536"/>
            <a:chExt cx="288" cy="384"/>
          </a:xfrm>
        </p:grpSpPr>
        <p:sp>
          <p:nvSpPr>
            <p:cNvPr id="44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i=1</a:t>
              </a:r>
            </a:p>
          </p:txBody>
        </p:sp>
      </p:grpSp>
      <p:grpSp>
        <p:nvGrpSpPr>
          <p:cNvPr id="46" name="Group 40"/>
          <p:cNvGrpSpPr>
            <a:grpSpLocks/>
          </p:cNvGrpSpPr>
          <p:nvPr/>
        </p:nvGrpSpPr>
        <p:grpSpPr bwMode="auto">
          <a:xfrm>
            <a:off x="6324600" y="4707765"/>
            <a:ext cx="457200" cy="609600"/>
            <a:chOff x="1728" y="2976"/>
            <a:chExt cx="288" cy="384"/>
          </a:xfrm>
        </p:grpSpPr>
        <p:sp>
          <p:nvSpPr>
            <p:cNvPr id="47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j=1</a:t>
              </a:r>
            </a:p>
          </p:txBody>
        </p:sp>
        <p:sp>
          <p:nvSpPr>
            <p:cNvPr id="48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9" name="Text Box 43"/>
          <p:cNvSpPr txBox="1">
            <a:spLocks noChangeArrowheads="1"/>
          </p:cNvSpPr>
          <p:nvPr/>
        </p:nvSpPr>
        <p:spPr bwMode="auto">
          <a:xfrm>
            <a:off x="6324600" y="3717165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>
                <a:latin typeface="Tahoma" pitchFamily="34" charset="0"/>
              </a:rPr>
              <a:t>？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75C3B87-7397-42D1-862A-953342FB10CE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53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utoUpdateAnimBg="0"/>
      <p:bldP spid="49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51" name="Group 34"/>
          <p:cNvGrpSpPr>
            <a:grpSpLocks/>
          </p:cNvGrpSpPr>
          <p:nvPr/>
        </p:nvGrpSpPr>
        <p:grpSpPr bwMode="auto">
          <a:xfrm>
            <a:off x="4800600" y="3259965"/>
            <a:ext cx="5486400" cy="457200"/>
            <a:chOff x="768" y="2064"/>
            <a:chExt cx="3456" cy="288"/>
          </a:xfrm>
        </p:grpSpPr>
        <p:grpSp>
          <p:nvGrpSpPr>
            <p:cNvPr id="52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54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5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6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7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8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59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0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1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2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3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4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5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6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67" name="Group 35"/>
          <p:cNvGrpSpPr>
            <a:grpSpLocks/>
          </p:cNvGrpSpPr>
          <p:nvPr/>
        </p:nvGrpSpPr>
        <p:grpSpPr bwMode="auto">
          <a:xfrm>
            <a:off x="4800600" y="4250565"/>
            <a:ext cx="3048000" cy="457200"/>
            <a:chOff x="768" y="2688"/>
            <a:chExt cx="1920" cy="288"/>
          </a:xfrm>
        </p:grpSpPr>
        <p:grpSp>
          <p:nvGrpSpPr>
            <p:cNvPr id="68" name="Group 18"/>
            <p:cNvGrpSpPr>
              <a:grpSpLocks/>
            </p:cNvGrpSpPr>
            <p:nvPr/>
          </p:nvGrpSpPr>
          <p:grpSpPr bwMode="auto">
            <a:xfrm>
              <a:off x="1728" y="2736"/>
              <a:ext cx="960" cy="192"/>
              <a:chOff x="1536" y="2208"/>
              <a:chExt cx="960" cy="192"/>
            </a:xfrm>
          </p:grpSpPr>
          <p:sp>
            <p:nvSpPr>
              <p:cNvPr id="70" name="Rectangle 19"/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1" name="Rectangle 20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72" name="Rectangle 21"/>
              <p:cNvSpPr>
                <a:spLocks noChangeArrowheads="1"/>
              </p:cNvSpPr>
              <p:nvPr/>
            </p:nvSpPr>
            <p:spPr bwMode="auto">
              <a:xfrm>
                <a:off x="1920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73" name="Rectangle 22"/>
              <p:cNvSpPr>
                <a:spLocks noChangeArrowheads="1"/>
              </p:cNvSpPr>
              <p:nvPr/>
            </p:nvSpPr>
            <p:spPr bwMode="auto">
              <a:xfrm>
                <a:off x="2112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4" name="Rectangle 23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69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75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第一趟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i=1)</a:t>
            </a:r>
          </a:p>
        </p:txBody>
      </p:sp>
      <p:grpSp>
        <p:nvGrpSpPr>
          <p:cNvPr id="76" name="Group 37"/>
          <p:cNvGrpSpPr>
            <a:grpSpLocks/>
          </p:cNvGrpSpPr>
          <p:nvPr/>
        </p:nvGrpSpPr>
        <p:grpSpPr bwMode="auto">
          <a:xfrm>
            <a:off x="6603288" y="2650365"/>
            <a:ext cx="457200" cy="609600"/>
            <a:chOff x="1536" y="1536"/>
            <a:chExt cx="288" cy="384"/>
          </a:xfrm>
        </p:grpSpPr>
        <p:sp>
          <p:nvSpPr>
            <p:cNvPr id="77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8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i=2</a:t>
              </a:r>
            </a:p>
          </p:txBody>
        </p:sp>
      </p:grpSp>
      <p:grpSp>
        <p:nvGrpSpPr>
          <p:cNvPr id="79" name="Group 40"/>
          <p:cNvGrpSpPr>
            <a:grpSpLocks/>
          </p:cNvGrpSpPr>
          <p:nvPr/>
        </p:nvGrpSpPr>
        <p:grpSpPr bwMode="auto">
          <a:xfrm>
            <a:off x="6577161" y="4707765"/>
            <a:ext cx="457200" cy="609600"/>
            <a:chOff x="1728" y="2976"/>
            <a:chExt cx="288" cy="384"/>
          </a:xfrm>
        </p:grpSpPr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j=2</a:t>
              </a:r>
            </a:p>
          </p:txBody>
        </p:sp>
        <p:sp>
          <p:nvSpPr>
            <p:cNvPr id="81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2" name="Text Box 43"/>
          <p:cNvSpPr txBox="1">
            <a:spLocks noChangeArrowheads="1"/>
          </p:cNvSpPr>
          <p:nvPr/>
        </p:nvSpPr>
        <p:spPr bwMode="auto">
          <a:xfrm>
            <a:off x="6591300" y="3717165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83" name="Line 36"/>
          <p:cNvSpPr>
            <a:spLocks noChangeShapeType="1"/>
          </p:cNvSpPr>
          <p:nvPr/>
        </p:nvSpPr>
        <p:spPr bwMode="auto">
          <a:xfrm>
            <a:off x="646946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49ADC76-7E53-4CEE-A1CD-96ABF22D0746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70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41" name="Group 34"/>
          <p:cNvGrpSpPr>
            <a:grpSpLocks/>
          </p:cNvGrpSpPr>
          <p:nvPr/>
        </p:nvGrpSpPr>
        <p:grpSpPr bwMode="auto">
          <a:xfrm>
            <a:off x="4800600" y="3259965"/>
            <a:ext cx="5486400" cy="457200"/>
            <a:chOff x="768" y="2064"/>
            <a:chExt cx="3456" cy="288"/>
          </a:xfrm>
        </p:grpSpPr>
        <p:grpSp>
          <p:nvGrpSpPr>
            <p:cNvPr id="42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44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5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6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7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8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49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4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5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6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7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8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9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0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3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91" name="Group 35"/>
          <p:cNvGrpSpPr>
            <a:grpSpLocks/>
          </p:cNvGrpSpPr>
          <p:nvPr/>
        </p:nvGrpSpPr>
        <p:grpSpPr bwMode="auto">
          <a:xfrm>
            <a:off x="4800600" y="4250565"/>
            <a:ext cx="3048000" cy="457200"/>
            <a:chOff x="768" y="2688"/>
            <a:chExt cx="1920" cy="288"/>
          </a:xfrm>
        </p:grpSpPr>
        <p:grpSp>
          <p:nvGrpSpPr>
            <p:cNvPr id="92" name="Group 18"/>
            <p:cNvGrpSpPr>
              <a:grpSpLocks/>
            </p:cNvGrpSpPr>
            <p:nvPr/>
          </p:nvGrpSpPr>
          <p:grpSpPr bwMode="auto">
            <a:xfrm>
              <a:off x="1728" y="2736"/>
              <a:ext cx="960" cy="192"/>
              <a:chOff x="1536" y="2208"/>
              <a:chExt cx="960" cy="192"/>
            </a:xfrm>
          </p:grpSpPr>
          <p:sp>
            <p:nvSpPr>
              <p:cNvPr id="94" name="Rectangle 19"/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5" name="Rectangle 20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6" name="Rectangle 21"/>
              <p:cNvSpPr>
                <a:spLocks noChangeArrowheads="1"/>
              </p:cNvSpPr>
              <p:nvPr/>
            </p:nvSpPr>
            <p:spPr bwMode="auto">
              <a:xfrm>
                <a:off x="1920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97" name="Rectangle 22"/>
              <p:cNvSpPr>
                <a:spLocks noChangeArrowheads="1"/>
              </p:cNvSpPr>
              <p:nvPr/>
            </p:nvSpPr>
            <p:spPr bwMode="auto">
              <a:xfrm>
                <a:off x="2112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8" name="Rectangle 23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93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99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第一趟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i=1)</a:t>
            </a:r>
          </a:p>
        </p:txBody>
      </p:sp>
      <p:grpSp>
        <p:nvGrpSpPr>
          <p:cNvPr id="100" name="Group 37"/>
          <p:cNvGrpSpPr>
            <a:grpSpLocks/>
          </p:cNvGrpSpPr>
          <p:nvPr/>
        </p:nvGrpSpPr>
        <p:grpSpPr bwMode="auto">
          <a:xfrm>
            <a:off x="6951648" y="2650365"/>
            <a:ext cx="457200" cy="609600"/>
            <a:chOff x="1536" y="1536"/>
            <a:chExt cx="288" cy="384"/>
          </a:xfrm>
        </p:grpSpPr>
        <p:sp>
          <p:nvSpPr>
            <p:cNvPr id="101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i=3</a:t>
              </a:r>
            </a:p>
          </p:txBody>
        </p:sp>
      </p:grpSp>
      <p:grpSp>
        <p:nvGrpSpPr>
          <p:cNvPr id="103" name="Group 40"/>
          <p:cNvGrpSpPr>
            <a:grpSpLocks/>
          </p:cNvGrpSpPr>
          <p:nvPr/>
        </p:nvGrpSpPr>
        <p:grpSpPr bwMode="auto">
          <a:xfrm>
            <a:off x="6899394" y="4707765"/>
            <a:ext cx="457200" cy="609600"/>
            <a:chOff x="1728" y="2976"/>
            <a:chExt cx="288" cy="384"/>
          </a:xfrm>
        </p:grpSpPr>
        <p:sp>
          <p:nvSpPr>
            <p:cNvPr id="104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j=3</a:t>
              </a:r>
            </a:p>
          </p:txBody>
        </p:sp>
        <p:sp>
          <p:nvSpPr>
            <p:cNvPr id="105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6" name="Text Box 43"/>
          <p:cNvSpPr txBox="1">
            <a:spLocks noChangeArrowheads="1"/>
          </p:cNvSpPr>
          <p:nvPr/>
        </p:nvSpPr>
        <p:spPr bwMode="auto">
          <a:xfrm>
            <a:off x="6904824" y="3717165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07" name="Line 36"/>
          <p:cNvSpPr>
            <a:spLocks noChangeShapeType="1"/>
          </p:cNvSpPr>
          <p:nvPr/>
        </p:nvSpPr>
        <p:spPr bwMode="auto">
          <a:xfrm>
            <a:off x="646946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8" name="Line 36"/>
          <p:cNvSpPr>
            <a:spLocks noChangeShapeType="1"/>
          </p:cNvSpPr>
          <p:nvPr/>
        </p:nvSpPr>
        <p:spPr bwMode="auto">
          <a:xfrm>
            <a:off x="6781800" y="3727744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9" name="AutoShape 45"/>
          <p:cNvSpPr>
            <a:spLocks noChangeArrowheads="1"/>
          </p:cNvSpPr>
          <p:nvPr/>
        </p:nvSpPr>
        <p:spPr bwMode="auto">
          <a:xfrm>
            <a:off x="8610600" y="4648200"/>
            <a:ext cx="1371600" cy="609600"/>
          </a:xfrm>
          <a:prstGeom prst="wedgeEllipseCallout">
            <a:avLst>
              <a:gd name="adj1" fmla="val -154745"/>
              <a:gd name="adj2" fmla="val -15573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不同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A4A9C13F-5F59-431A-B264-AA86531C5083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50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51" name="矩形 50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52" name="Group 34"/>
          <p:cNvGrpSpPr>
            <a:grpSpLocks/>
          </p:cNvGrpSpPr>
          <p:nvPr/>
        </p:nvGrpSpPr>
        <p:grpSpPr bwMode="auto">
          <a:xfrm>
            <a:off x="4800600" y="3259965"/>
            <a:ext cx="5486400" cy="457200"/>
            <a:chOff x="768" y="2064"/>
            <a:chExt cx="3456" cy="288"/>
          </a:xfrm>
        </p:grpSpPr>
        <p:grpSp>
          <p:nvGrpSpPr>
            <p:cNvPr id="53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55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6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7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8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9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0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1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2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3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4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5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6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7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68" name="Group 35"/>
          <p:cNvGrpSpPr>
            <a:grpSpLocks/>
          </p:cNvGrpSpPr>
          <p:nvPr/>
        </p:nvGrpSpPr>
        <p:grpSpPr bwMode="auto">
          <a:xfrm>
            <a:off x="4800600" y="4250565"/>
            <a:ext cx="3585754" cy="457200"/>
            <a:chOff x="768" y="2688"/>
            <a:chExt cx="1920" cy="288"/>
          </a:xfrm>
        </p:grpSpPr>
        <p:grpSp>
          <p:nvGrpSpPr>
            <p:cNvPr id="69" name="Group 18"/>
            <p:cNvGrpSpPr>
              <a:grpSpLocks/>
            </p:cNvGrpSpPr>
            <p:nvPr/>
          </p:nvGrpSpPr>
          <p:grpSpPr bwMode="auto">
            <a:xfrm>
              <a:off x="1728" y="2736"/>
              <a:ext cx="960" cy="192"/>
              <a:chOff x="1536" y="2208"/>
              <a:chExt cx="960" cy="192"/>
            </a:xfrm>
          </p:grpSpPr>
          <p:sp>
            <p:nvSpPr>
              <p:cNvPr id="71" name="Rectangle 19"/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2" name="Rectangle 20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73" name="Rectangle 21"/>
              <p:cNvSpPr>
                <a:spLocks noChangeArrowheads="1"/>
              </p:cNvSpPr>
              <p:nvPr/>
            </p:nvSpPr>
            <p:spPr bwMode="auto">
              <a:xfrm>
                <a:off x="1920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74" name="Rectangle 22"/>
              <p:cNvSpPr>
                <a:spLocks noChangeArrowheads="1"/>
              </p:cNvSpPr>
              <p:nvPr/>
            </p:nvSpPr>
            <p:spPr bwMode="auto">
              <a:xfrm>
                <a:off x="2112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5" name="Rectangle 23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70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76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i=2)</a:t>
            </a:r>
          </a:p>
        </p:txBody>
      </p:sp>
      <p:grpSp>
        <p:nvGrpSpPr>
          <p:cNvPr id="77" name="Group 37"/>
          <p:cNvGrpSpPr>
            <a:grpSpLocks/>
          </p:cNvGrpSpPr>
          <p:nvPr/>
        </p:nvGrpSpPr>
        <p:grpSpPr bwMode="auto">
          <a:xfrm>
            <a:off x="6616150" y="2650365"/>
            <a:ext cx="457200" cy="609600"/>
            <a:chOff x="1536" y="1536"/>
            <a:chExt cx="288" cy="384"/>
          </a:xfrm>
        </p:grpSpPr>
        <p:sp>
          <p:nvSpPr>
            <p:cNvPr id="78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9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i=2</a:t>
              </a:r>
            </a:p>
          </p:txBody>
        </p:sp>
      </p:grpSp>
      <p:grpSp>
        <p:nvGrpSpPr>
          <p:cNvPr id="80" name="Group 40"/>
          <p:cNvGrpSpPr>
            <a:grpSpLocks/>
          </p:cNvGrpSpPr>
          <p:nvPr/>
        </p:nvGrpSpPr>
        <p:grpSpPr bwMode="auto">
          <a:xfrm>
            <a:off x="6616150" y="4782570"/>
            <a:ext cx="457200" cy="609600"/>
            <a:chOff x="1728" y="2976"/>
            <a:chExt cx="288" cy="384"/>
          </a:xfrm>
        </p:grpSpPr>
        <p:sp>
          <p:nvSpPr>
            <p:cNvPr id="81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j=1</a:t>
              </a:r>
            </a:p>
          </p:txBody>
        </p:sp>
        <p:sp>
          <p:nvSpPr>
            <p:cNvPr id="82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3" name="Text Box 43"/>
          <p:cNvSpPr txBox="1">
            <a:spLocks noChangeArrowheads="1"/>
          </p:cNvSpPr>
          <p:nvPr/>
        </p:nvSpPr>
        <p:spPr bwMode="auto">
          <a:xfrm>
            <a:off x="6593477" y="3717165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10" name="AutoShape 45"/>
          <p:cNvSpPr>
            <a:spLocks noChangeArrowheads="1"/>
          </p:cNvSpPr>
          <p:nvPr/>
        </p:nvSpPr>
        <p:spPr bwMode="auto">
          <a:xfrm>
            <a:off x="8763000" y="4174365"/>
            <a:ext cx="1371600" cy="609600"/>
          </a:xfrm>
          <a:prstGeom prst="wedgeEllipseCallout">
            <a:avLst>
              <a:gd name="adj1" fmla="val -192205"/>
              <a:gd name="adj2" fmla="val -7573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不同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71FB7FF-5958-4466-B2A8-F7634BA97D14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75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41" name="矩形 40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42" name="Group 34"/>
          <p:cNvGrpSpPr>
            <a:grpSpLocks/>
          </p:cNvGrpSpPr>
          <p:nvPr/>
        </p:nvGrpSpPr>
        <p:grpSpPr bwMode="auto">
          <a:xfrm>
            <a:off x="4800600" y="3259965"/>
            <a:ext cx="5486400" cy="457200"/>
            <a:chOff x="768" y="2064"/>
            <a:chExt cx="3456" cy="288"/>
          </a:xfrm>
        </p:grpSpPr>
        <p:grpSp>
          <p:nvGrpSpPr>
            <p:cNvPr id="43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45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6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7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8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9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4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5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6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7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8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9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0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1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92" name="Group 35"/>
          <p:cNvGrpSpPr>
            <a:grpSpLocks/>
          </p:cNvGrpSpPr>
          <p:nvPr/>
        </p:nvGrpSpPr>
        <p:grpSpPr bwMode="auto">
          <a:xfrm>
            <a:off x="4800601" y="4250565"/>
            <a:ext cx="3962400" cy="457200"/>
            <a:chOff x="768" y="2688"/>
            <a:chExt cx="1920" cy="288"/>
          </a:xfrm>
        </p:grpSpPr>
        <p:grpSp>
          <p:nvGrpSpPr>
            <p:cNvPr id="93" name="Group 18"/>
            <p:cNvGrpSpPr>
              <a:grpSpLocks/>
            </p:cNvGrpSpPr>
            <p:nvPr/>
          </p:nvGrpSpPr>
          <p:grpSpPr bwMode="auto">
            <a:xfrm>
              <a:off x="1728" y="2736"/>
              <a:ext cx="960" cy="192"/>
              <a:chOff x="1536" y="2208"/>
              <a:chExt cx="960" cy="192"/>
            </a:xfrm>
          </p:grpSpPr>
          <p:sp>
            <p:nvSpPr>
              <p:cNvPr id="95" name="Rectangle 19"/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6" name="Rectangle 20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7" name="Rectangle 21"/>
              <p:cNvSpPr>
                <a:spLocks noChangeArrowheads="1"/>
              </p:cNvSpPr>
              <p:nvPr/>
            </p:nvSpPr>
            <p:spPr bwMode="auto">
              <a:xfrm>
                <a:off x="1920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98" name="Rectangle 22"/>
              <p:cNvSpPr>
                <a:spLocks noChangeArrowheads="1"/>
              </p:cNvSpPr>
              <p:nvPr/>
            </p:nvSpPr>
            <p:spPr bwMode="auto">
              <a:xfrm>
                <a:off x="2112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9" name="Rectangle 23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94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100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第三趟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i=3)</a:t>
            </a:r>
          </a:p>
        </p:txBody>
      </p:sp>
      <p:grpSp>
        <p:nvGrpSpPr>
          <p:cNvPr id="101" name="Group 37"/>
          <p:cNvGrpSpPr>
            <a:grpSpLocks/>
          </p:cNvGrpSpPr>
          <p:nvPr/>
        </p:nvGrpSpPr>
        <p:grpSpPr bwMode="auto">
          <a:xfrm>
            <a:off x="6961480" y="2664435"/>
            <a:ext cx="457200" cy="609600"/>
            <a:chOff x="1536" y="1536"/>
            <a:chExt cx="288" cy="384"/>
          </a:xfrm>
        </p:grpSpPr>
        <p:sp>
          <p:nvSpPr>
            <p:cNvPr id="102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3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i=3</a:t>
              </a:r>
            </a:p>
          </p:txBody>
        </p:sp>
      </p:grpSp>
      <p:grpSp>
        <p:nvGrpSpPr>
          <p:cNvPr id="104" name="Group 40"/>
          <p:cNvGrpSpPr>
            <a:grpSpLocks/>
          </p:cNvGrpSpPr>
          <p:nvPr/>
        </p:nvGrpSpPr>
        <p:grpSpPr bwMode="auto">
          <a:xfrm>
            <a:off x="6917544" y="4782570"/>
            <a:ext cx="457200" cy="609600"/>
            <a:chOff x="1728" y="2976"/>
            <a:chExt cx="288" cy="384"/>
          </a:xfrm>
        </p:grpSpPr>
        <p:sp>
          <p:nvSpPr>
            <p:cNvPr id="105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j=1</a:t>
              </a:r>
            </a:p>
          </p:txBody>
        </p:sp>
        <p:sp>
          <p:nvSpPr>
            <p:cNvPr id="106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7" name="Text Box 43"/>
          <p:cNvSpPr txBox="1">
            <a:spLocks noChangeArrowheads="1"/>
          </p:cNvSpPr>
          <p:nvPr/>
        </p:nvSpPr>
        <p:spPr bwMode="auto">
          <a:xfrm>
            <a:off x="6917544" y="3717165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9542DC2-E327-41E0-89F0-F26D0E548198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227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50" name="矩形 49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51" name="Group 34"/>
          <p:cNvGrpSpPr>
            <a:grpSpLocks/>
          </p:cNvGrpSpPr>
          <p:nvPr/>
        </p:nvGrpSpPr>
        <p:grpSpPr bwMode="auto">
          <a:xfrm>
            <a:off x="4800600" y="3259965"/>
            <a:ext cx="5486400" cy="457200"/>
            <a:chOff x="768" y="2064"/>
            <a:chExt cx="3456" cy="288"/>
          </a:xfrm>
        </p:grpSpPr>
        <p:grpSp>
          <p:nvGrpSpPr>
            <p:cNvPr id="52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54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5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6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7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8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59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0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1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2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3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4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5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6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67" name="Group 35"/>
          <p:cNvGrpSpPr>
            <a:grpSpLocks/>
          </p:cNvGrpSpPr>
          <p:nvPr/>
        </p:nvGrpSpPr>
        <p:grpSpPr bwMode="auto">
          <a:xfrm>
            <a:off x="4800601" y="4250565"/>
            <a:ext cx="3962400" cy="457200"/>
            <a:chOff x="768" y="2688"/>
            <a:chExt cx="1920" cy="288"/>
          </a:xfrm>
        </p:grpSpPr>
        <p:grpSp>
          <p:nvGrpSpPr>
            <p:cNvPr id="68" name="Group 18"/>
            <p:cNvGrpSpPr>
              <a:grpSpLocks/>
            </p:cNvGrpSpPr>
            <p:nvPr/>
          </p:nvGrpSpPr>
          <p:grpSpPr bwMode="auto">
            <a:xfrm>
              <a:off x="1728" y="2736"/>
              <a:ext cx="960" cy="192"/>
              <a:chOff x="1536" y="2208"/>
              <a:chExt cx="960" cy="192"/>
            </a:xfrm>
          </p:grpSpPr>
          <p:sp>
            <p:nvSpPr>
              <p:cNvPr id="70" name="Rectangle 19"/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1" name="Rectangle 20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72" name="Rectangle 21"/>
              <p:cNvSpPr>
                <a:spLocks noChangeArrowheads="1"/>
              </p:cNvSpPr>
              <p:nvPr/>
            </p:nvSpPr>
            <p:spPr bwMode="auto">
              <a:xfrm>
                <a:off x="1920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73" name="Rectangle 22"/>
              <p:cNvSpPr>
                <a:spLocks noChangeArrowheads="1"/>
              </p:cNvSpPr>
              <p:nvPr/>
            </p:nvSpPr>
            <p:spPr bwMode="auto">
              <a:xfrm>
                <a:off x="2112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4" name="Rectangle 23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69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75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第三趟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i=3)</a:t>
            </a:r>
          </a:p>
        </p:txBody>
      </p:sp>
      <p:grpSp>
        <p:nvGrpSpPr>
          <p:cNvPr id="76" name="Group 37"/>
          <p:cNvGrpSpPr>
            <a:grpSpLocks/>
          </p:cNvGrpSpPr>
          <p:nvPr/>
        </p:nvGrpSpPr>
        <p:grpSpPr bwMode="auto">
          <a:xfrm>
            <a:off x="7210763" y="2664435"/>
            <a:ext cx="457200" cy="609600"/>
            <a:chOff x="1536" y="1536"/>
            <a:chExt cx="288" cy="384"/>
          </a:xfrm>
        </p:grpSpPr>
        <p:sp>
          <p:nvSpPr>
            <p:cNvPr id="77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8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i=4</a:t>
              </a:r>
            </a:p>
          </p:txBody>
        </p:sp>
      </p:grpSp>
      <p:grpSp>
        <p:nvGrpSpPr>
          <p:cNvPr id="79" name="Group 40"/>
          <p:cNvGrpSpPr>
            <a:grpSpLocks/>
          </p:cNvGrpSpPr>
          <p:nvPr/>
        </p:nvGrpSpPr>
        <p:grpSpPr bwMode="auto">
          <a:xfrm>
            <a:off x="7171509" y="4782570"/>
            <a:ext cx="457200" cy="609600"/>
            <a:chOff x="1728" y="2976"/>
            <a:chExt cx="288" cy="384"/>
          </a:xfrm>
        </p:grpSpPr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j=2</a:t>
              </a:r>
            </a:p>
          </p:txBody>
        </p:sp>
        <p:sp>
          <p:nvSpPr>
            <p:cNvPr id="81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2" name="Text Box 43"/>
          <p:cNvSpPr txBox="1">
            <a:spLocks noChangeArrowheads="1"/>
          </p:cNvSpPr>
          <p:nvPr/>
        </p:nvSpPr>
        <p:spPr bwMode="auto">
          <a:xfrm>
            <a:off x="7228180" y="3717165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83" name="Line 36"/>
          <p:cNvSpPr>
            <a:spLocks noChangeShapeType="1"/>
          </p:cNvSpPr>
          <p:nvPr/>
        </p:nvSpPr>
        <p:spPr bwMode="auto">
          <a:xfrm>
            <a:off x="706776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0FE33DB-574E-4781-9D28-A28646ECFEA2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7586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41" name="矩形 40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42" name="Group 34"/>
          <p:cNvGrpSpPr>
            <a:grpSpLocks/>
          </p:cNvGrpSpPr>
          <p:nvPr/>
        </p:nvGrpSpPr>
        <p:grpSpPr bwMode="auto">
          <a:xfrm>
            <a:off x="4800600" y="3259965"/>
            <a:ext cx="5486400" cy="457200"/>
            <a:chOff x="768" y="2064"/>
            <a:chExt cx="3456" cy="288"/>
          </a:xfrm>
        </p:grpSpPr>
        <p:grpSp>
          <p:nvGrpSpPr>
            <p:cNvPr id="43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45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6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7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8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9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4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5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6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7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8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9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0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1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92" name="Group 35"/>
          <p:cNvGrpSpPr>
            <a:grpSpLocks/>
          </p:cNvGrpSpPr>
          <p:nvPr/>
        </p:nvGrpSpPr>
        <p:grpSpPr bwMode="auto">
          <a:xfrm>
            <a:off x="4800601" y="4250565"/>
            <a:ext cx="3962400" cy="457200"/>
            <a:chOff x="768" y="2688"/>
            <a:chExt cx="1920" cy="288"/>
          </a:xfrm>
        </p:grpSpPr>
        <p:grpSp>
          <p:nvGrpSpPr>
            <p:cNvPr id="93" name="Group 18"/>
            <p:cNvGrpSpPr>
              <a:grpSpLocks/>
            </p:cNvGrpSpPr>
            <p:nvPr/>
          </p:nvGrpSpPr>
          <p:grpSpPr bwMode="auto">
            <a:xfrm>
              <a:off x="1728" y="2736"/>
              <a:ext cx="960" cy="192"/>
              <a:chOff x="1536" y="2208"/>
              <a:chExt cx="960" cy="192"/>
            </a:xfrm>
          </p:grpSpPr>
          <p:sp>
            <p:nvSpPr>
              <p:cNvPr id="95" name="Rectangle 19"/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6" name="Rectangle 20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7" name="Rectangle 21"/>
              <p:cNvSpPr>
                <a:spLocks noChangeArrowheads="1"/>
              </p:cNvSpPr>
              <p:nvPr/>
            </p:nvSpPr>
            <p:spPr bwMode="auto">
              <a:xfrm>
                <a:off x="1920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98" name="Rectangle 22"/>
              <p:cNvSpPr>
                <a:spLocks noChangeArrowheads="1"/>
              </p:cNvSpPr>
              <p:nvPr/>
            </p:nvSpPr>
            <p:spPr bwMode="auto">
              <a:xfrm>
                <a:off x="2112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9" name="Rectangle 23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94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100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第三趟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i=3)</a:t>
            </a:r>
          </a:p>
        </p:txBody>
      </p:sp>
      <p:grpSp>
        <p:nvGrpSpPr>
          <p:cNvPr id="101" name="Group 37"/>
          <p:cNvGrpSpPr>
            <a:grpSpLocks/>
          </p:cNvGrpSpPr>
          <p:nvPr/>
        </p:nvGrpSpPr>
        <p:grpSpPr bwMode="auto">
          <a:xfrm>
            <a:off x="7513321" y="2673926"/>
            <a:ext cx="457200" cy="609600"/>
            <a:chOff x="1536" y="1536"/>
            <a:chExt cx="288" cy="384"/>
          </a:xfrm>
        </p:grpSpPr>
        <p:sp>
          <p:nvSpPr>
            <p:cNvPr id="102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3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i=5</a:t>
              </a:r>
            </a:p>
          </p:txBody>
        </p:sp>
      </p:grpSp>
      <p:grpSp>
        <p:nvGrpSpPr>
          <p:cNvPr id="104" name="Group 40"/>
          <p:cNvGrpSpPr>
            <a:grpSpLocks/>
          </p:cNvGrpSpPr>
          <p:nvPr/>
        </p:nvGrpSpPr>
        <p:grpSpPr bwMode="auto">
          <a:xfrm>
            <a:off x="7574281" y="4719602"/>
            <a:ext cx="457200" cy="609600"/>
            <a:chOff x="1728" y="2976"/>
            <a:chExt cx="288" cy="384"/>
          </a:xfrm>
        </p:grpSpPr>
        <p:sp>
          <p:nvSpPr>
            <p:cNvPr id="105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j=3</a:t>
              </a:r>
            </a:p>
          </p:txBody>
        </p:sp>
        <p:sp>
          <p:nvSpPr>
            <p:cNvPr id="106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7" name="Text Box 43"/>
          <p:cNvSpPr txBox="1">
            <a:spLocks noChangeArrowheads="1"/>
          </p:cNvSpPr>
          <p:nvPr/>
        </p:nvSpPr>
        <p:spPr bwMode="auto">
          <a:xfrm>
            <a:off x="7543800" y="3717165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08" name="Line 36"/>
          <p:cNvSpPr>
            <a:spLocks noChangeShapeType="1"/>
          </p:cNvSpPr>
          <p:nvPr/>
        </p:nvSpPr>
        <p:spPr bwMode="auto">
          <a:xfrm>
            <a:off x="706776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9" name="Line 36"/>
          <p:cNvSpPr>
            <a:spLocks noChangeShapeType="1"/>
          </p:cNvSpPr>
          <p:nvPr/>
        </p:nvSpPr>
        <p:spPr bwMode="auto">
          <a:xfrm>
            <a:off x="7342153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D7409EAC-2EA5-492A-8E60-5909E4B40243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0815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51" name="矩形 50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52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53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55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6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7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8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9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0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1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2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3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4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5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6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7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68" name="Group 35"/>
          <p:cNvGrpSpPr>
            <a:grpSpLocks/>
          </p:cNvGrpSpPr>
          <p:nvPr/>
        </p:nvGrpSpPr>
        <p:grpSpPr bwMode="auto">
          <a:xfrm>
            <a:off x="4800604" y="4250565"/>
            <a:ext cx="3955367" cy="457200"/>
            <a:chOff x="768" y="2688"/>
            <a:chExt cx="1833" cy="288"/>
          </a:xfrm>
        </p:grpSpPr>
        <p:grpSp>
          <p:nvGrpSpPr>
            <p:cNvPr id="69" name="Group 18"/>
            <p:cNvGrpSpPr>
              <a:grpSpLocks/>
            </p:cNvGrpSpPr>
            <p:nvPr/>
          </p:nvGrpSpPr>
          <p:grpSpPr bwMode="auto">
            <a:xfrm>
              <a:off x="1777" y="2731"/>
              <a:ext cx="824" cy="197"/>
              <a:chOff x="1585" y="2203"/>
              <a:chExt cx="824" cy="197"/>
            </a:xfrm>
          </p:grpSpPr>
          <p:sp>
            <p:nvSpPr>
              <p:cNvPr id="71" name="Rectangle 19"/>
              <p:cNvSpPr>
                <a:spLocks noChangeArrowheads="1"/>
              </p:cNvSpPr>
              <p:nvPr/>
            </p:nvSpPr>
            <p:spPr bwMode="auto">
              <a:xfrm>
                <a:off x="1585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2" name="Rectangle 20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73" name="Rectangle 21"/>
              <p:cNvSpPr>
                <a:spLocks noChangeArrowheads="1"/>
              </p:cNvSpPr>
              <p:nvPr/>
            </p:nvSpPr>
            <p:spPr bwMode="auto">
              <a:xfrm>
                <a:off x="1882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74" name="Rectangle 22"/>
              <p:cNvSpPr>
                <a:spLocks noChangeArrowheads="1"/>
              </p:cNvSpPr>
              <p:nvPr/>
            </p:nvSpPr>
            <p:spPr bwMode="auto">
              <a:xfrm>
                <a:off x="2045" y="2207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5" name="Rectangle 23"/>
              <p:cNvSpPr>
                <a:spLocks noChangeArrowheads="1"/>
              </p:cNvSpPr>
              <p:nvPr/>
            </p:nvSpPr>
            <p:spPr bwMode="auto">
              <a:xfrm>
                <a:off x="2217" y="2207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70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76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第三趟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i=3)</a:t>
            </a:r>
          </a:p>
        </p:txBody>
      </p:sp>
      <p:grpSp>
        <p:nvGrpSpPr>
          <p:cNvPr id="77" name="Group 37"/>
          <p:cNvGrpSpPr>
            <a:grpSpLocks/>
          </p:cNvGrpSpPr>
          <p:nvPr/>
        </p:nvGrpSpPr>
        <p:grpSpPr bwMode="auto">
          <a:xfrm>
            <a:off x="8026553" y="2673926"/>
            <a:ext cx="457200" cy="609600"/>
            <a:chOff x="1536" y="1536"/>
            <a:chExt cx="288" cy="384"/>
          </a:xfrm>
        </p:grpSpPr>
        <p:sp>
          <p:nvSpPr>
            <p:cNvPr id="78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9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i=6</a:t>
              </a:r>
            </a:p>
          </p:txBody>
        </p:sp>
      </p:grpSp>
      <p:grpSp>
        <p:nvGrpSpPr>
          <p:cNvPr id="80" name="Group 40"/>
          <p:cNvGrpSpPr>
            <a:grpSpLocks/>
          </p:cNvGrpSpPr>
          <p:nvPr/>
        </p:nvGrpSpPr>
        <p:grpSpPr bwMode="auto">
          <a:xfrm>
            <a:off x="7974329" y="4707765"/>
            <a:ext cx="457200" cy="609600"/>
            <a:chOff x="1728" y="2976"/>
            <a:chExt cx="288" cy="384"/>
          </a:xfrm>
        </p:grpSpPr>
        <p:sp>
          <p:nvSpPr>
            <p:cNvPr id="81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j=4</a:t>
              </a:r>
            </a:p>
          </p:txBody>
        </p:sp>
        <p:sp>
          <p:nvSpPr>
            <p:cNvPr id="82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3" name="Text Box 43"/>
          <p:cNvSpPr txBox="1">
            <a:spLocks noChangeArrowheads="1"/>
          </p:cNvSpPr>
          <p:nvPr/>
        </p:nvSpPr>
        <p:spPr bwMode="auto">
          <a:xfrm>
            <a:off x="8012429" y="3717165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10" name="Line 36"/>
          <p:cNvSpPr>
            <a:spLocks noChangeShapeType="1"/>
          </p:cNvSpPr>
          <p:nvPr/>
        </p:nvSpPr>
        <p:spPr bwMode="auto">
          <a:xfrm>
            <a:off x="7230835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" name="Line 36"/>
          <p:cNvSpPr>
            <a:spLocks noChangeShapeType="1"/>
          </p:cNvSpPr>
          <p:nvPr/>
        </p:nvSpPr>
        <p:spPr bwMode="auto">
          <a:xfrm>
            <a:off x="7554866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" name="Line 36"/>
          <p:cNvSpPr>
            <a:spLocks noChangeShapeType="1"/>
          </p:cNvSpPr>
          <p:nvPr/>
        </p:nvSpPr>
        <p:spPr bwMode="auto">
          <a:xfrm>
            <a:off x="7888435" y="36790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071CB9D-003F-4C96-A874-190D2ED6D869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551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43" name="矩形 42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44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45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47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8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9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4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5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6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7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8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9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0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91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2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3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6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94" name="Group 35"/>
          <p:cNvGrpSpPr>
            <a:grpSpLocks/>
          </p:cNvGrpSpPr>
          <p:nvPr/>
        </p:nvGrpSpPr>
        <p:grpSpPr bwMode="auto">
          <a:xfrm>
            <a:off x="4800604" y="4250565"/>
            <a:ext cx="3955367" cy="457200"/>
            <a:chOff x="768" y="2688"/>
            <a:chExt cx="1833" cy="288"/>
          </a:xfrm>
        </p:grpSpPr>
        <p:grpSp>
          <p:nvGrpSpPr>
            <p:cNvPr id="95" name="Group 18"/>
            <p:cNvGrpSpPr>
              <a:grpSpLocks/>
            </p:cNvGrpSpPr>
            <p:nvPr/>
          </p:nvGrpSpPr>
          <p:grpSpPr bwMode="auto">
            <a:xfrm>
              <a:off x="1777" y="2731"/>
              <a:ext cx="824" cy="197"/>
              <a:chOff x="1585" y="2203"/>
              <a:chExt cx="824" cy="197"/>
            </a:xfrm>
          </p:grpSpPr>
          <p:sp>
            <p:nvSpPr>
              <p:cNvPr id="97" name="Rectangle 19"/>
              <p:cNvSpPr>
                <a:spLocks noChangeArrowheads="1"/>
              </p:cNvSpPr>
              <p:nvPr/>
            </p:nvSpPr>
            <p:spPr bwMode="auto">
              <a:xfrm>
                <a:off x="1585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8" name="Rectangle 20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9" name="Rectangle 21"/>
              <p:cNvSpPr>
                <a:spLocks noChangeArrowheads="1"/>
              </p:cNvSpPr>
              <p:nvPr/>
            </p:nvSpPr>
            <p:spPr bwMode="auto">
              <a:xfrm>
                <a:off x="1882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100" name="Rectangle 22"/>
              <p:cNvSpPr>
                <a:spLocks noChangeArrowheads="1"/>
              </p:cNvSpPr>
              <p:nvPr/>
            </p:nvSpPr>
            <p:spPr bwMode="auto">
              <a:xfrm>
                <a:off x="2045" y="2207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101" name="Rectangle 23"/>
              <p:cNvSpPr>
                <a:spLocks noChangeArrowheads="1"/>
              </p:cNvSpPr>
              <p:nvPr/>
            </p:nvSpPr>
            <p:spPr bwMode="auto">
              <a:xfrm>
                <a:off x="2217" y="2207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96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102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第三趟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i=3)</a:t>
            </a:r>
          </a:p>
        </p:txBody>
      </p:sp>
      <p:grpSp>
        <p:nvGrpSpPr>
          <p:cNvPr id="103" name="Group 37"/>
          <p:cNvGrpSpPr>
            <a:grpSpLocks/>
          </p:cNvGrpSpPr>
          <p:nvPr/>
        </p:nvGrpSpPr>
        <p:grpSpPr bwMode="auto">
          <a:xfrm>
            <a:off x="8341658" y="2683417"/>
            <a:ext cx="457200" cy="609600"/>
            <a:chOff x="1536" y="1536"/>
            <a:chExt cx="288" cy="384"/>
          </a:xfrm>
        </p:grpSpPr>
        <p:sp>
          <p:nvSpPr>
            <p:cNvPr id="104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i=7</a:t>
              </a:r>
            </a:p>
          </p:txBody>
        </p:sp>
      </p:grpSp>
      <p:grpSp>
        <p:nvGrpSpPr>
          <p:cNvPr id="106" name="Group 40"/>
          <p:cNvGrpSpPr>
            <a:grpSpLocks/>
          </p:cNvGrpSpPr>
          <p:nvPr/>
        </p:nvGrpSpPr>
        <p:grpSpPr bwMode="auto">
          <a:xfrm>
            <a:off x="8364945" y="4707765"/>
            <a:ext cx="457200" cy="609600"/>
            <a:chOff x="1728" y="2976"/>
            <a:chExt cx="288" cy="384"/>
          </a:xfrm>
        </p:grpSpPr>
        <p:sp>
          <p:nvSpPr>
            <p:cNvPr id="107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j=5</a:t>
              </a:r>
            </a:p>
          </p:txBody>
        </p:sp>
        <p:sp>
          <p:nvSpPr>
            <p:cNvPr id="108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9" name="Text Box 43"/>
          <p:cNvSpPr txBox="1">
            <a:spLocks noChangeArrowheads="1"/>
          </p:cNvSpPr>
          <p:nvPr/>
        </p:nvSpPr>
        <p:spPr bwMode="auto">
          <a:xfrm>
            <a:off x="8358313" y="3709228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14" name="Line 36"/>
          <p:cNvSpPr>
            <a:spLocks noChangeShapeType="1"/>
          </p:cNvSpPr>
          <p:nvPr/>
        </p:nvSpPr>
        <p:spPr bwMode="auto">
          <a:xfrm>
            <a:off x="7230835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5" name="Line 36"/>
          <p:cNvSpPr>
            <a:spLocks noChangeShapeType="1"/>
          </p:cNvSpPr>
          <p:nvPr/>
        </p:nvSpPr>
        <p:spPr bwMode="auto">
          <a:xfrm>
            <a:off x="7554866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6" name="Line 36"/>
          <p:cNvSpPr>
            <a:spLocks noChangeShapeType="1"/>
          </p:cNvSpPr>
          <p:nvPr/>
        </p:nvSpPr>
        <p:spPr bwMode="auto">
          <a:xfrm>
            <a:off x="7888435" y="36790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7" name="Line 36"/>
          <p:cNvSpPr>
            <a:spLocks noChangeShapeType="1"/>
          </p:cNvSpPr>
          <p:nvPr/>
        </p:nvSpPr>
        <p:spPr bwMode="auto">
          <a:xfrm>
            <a:off x="8176129" y="3700223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8" name="AutoShape 45"/>
          <p:cNvSpPr>
            <a:spLocks noChangeArrowheads="1"/>
          </p:cNvSpPr>
          <p:nvPr/>
        </p:nvSpPr>
        <p:spPr bwMode="auto">
          <a:xfrm>
            <a:off x="9336363" y="4119239"/>
            <a:ext cx="1241465" cy="491252"/>
          </a:xfrm>
          <a:prstGeom prst="wedgeEllipseCallout">
            <a:avLst>
              <a:gd name="adj1" fmla="val -110760"/>
              <a:gd name="adj2" fmla="val -6320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不同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FA83C7F-2803-4DC0-AE61-6E5F3A1AB611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80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50" name="矩形 49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51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52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54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5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6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7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8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59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0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1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2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3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4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5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6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67" name="Group 35"/>
          <p:cNvGrpSpPr>
            <a:grpSpLocks/>
          </p:cNvGrpSpPr>
          <p:nvPr/>
        </p:nvGrpSpPr>
        <p:grpSpPr bwMode="auto">
          <a:xfrm>
            <a:off x="4800605" y="4250565"/>
            <a:ext cx="4292605" cy="457200"/>
            <a:chOff x="768" y="2688"/>
            <a:chExt cx="1769" cy="288"/>
          </a:xfrm>
        </p:grpSpPr>
        <p:grpSp>
          <p:nvGrpSpPr>
            <p:cNvPr id="68" name="Group 18"/>
            <p:cNvGrpSpPr>
              <a:grpSpLocks/>
            </p:cNvGrpSpPr>
            <p:nvPr/>
          </p:nvGrpSpPr>
          <p:grpSpPr bwMode="auto">
            <a:xfrm>
              <a:off x="1777" y="2731"/>
              <a:ext cx="760" cy="197"/>
              <a:chOff x="1585" y="2203"/>
              <a:chExt cx="760" cy="197"/>
            </a:xfrm>
          </p:grpSpPr>
          <p:sp>
            <p:nvSpPr>
              <p:cNvPr id="70" name="Rectangle 19"/>
              <p:cNvSpPr>
                <a:spLocks noChangeArrowheads="1"/>
              </p:cNvSpPr>
              <p:nvPr/>
            </p:nvSpPr>
            <p:spPr bwMode="auto">
              <a:xfrm>
                <a:off x="1585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1" name="Rectangle 20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72" name="Rectangle 21"/>
              <p:cNvSpPr>
                <a:spLocks noChangeArrowheads="1"/>
              </p:cNvSpPr>
              <p:nvPr/>
            </p:nvSpPr>
            <p:spPr bwMode="auto">
              <a:xfrm>
                <a:off x="1866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73" name="Rectangle 22"/>
              <p:cNvSpPr>
                <a:spLocks noChangeArrowheads="1"/>
              </p:cNvSpPr>
              <p:nvPr/>
            </p:nvSpPr>
            <p:spPr bwMode="auto">
              <a:xfrm>
                <a:off x="2005" y="2207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4" name="Rectangle 23"/>
              <p:cNvSpPr>
                <a:spLocks noChangeArrowheads="1"/>
              </p:cNvSpPr>
              <p:nvPr/>
            </p:nvSpPr>
            <p:spPr bwMode="auto">
              <a:xfrm>
                <a:off x="2153" y="2207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69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75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第四趟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i=4)</a:t>
            </a:r>
          </a:p>
        </p:txBody>
      </p:sp>
      <p:grpSp>
        <p:nvGrpSpPr>
          <p:cNvPr id="76" name="Group 37"/>
          <p:cNvGrpSpPr>
            <a:grpSpLocks/>
          </p:cNvGrpSpPr>
          <p:nvPr/>
        </p:nvGrpSpPr>
        <p:grpSpPr bwMode="auto">
          <a:xfrm>
            <a:off x="7378635" y="2600572"/>
            <a:ext cx="457200" cy="609600"/>
            <a:chOff x="1536" y="1536"/>
            <a:chExt cx="288" cy="384"/>
          </a:xfrm>
        </p:grpSpPr>
        <p:sp>
          <p:nvSpPr>
            <p:cNvPr id="77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8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i=4</a:t>
              </a:r>
            </a:p>
          </p:txBody>
        </p:sp>
      </p:grpSp>
      <p:grpSp>
        <p:nvGrpSpPr>
          <p:cNvPr id="79" name="Group 40"/>
          <p:cNvGrpSpPr>
            <a:grpSpLocks/>
          </p:cNvGrpSpPr>
          <p:nvPr/>
        </p:nvGrpSpPr>
        <p:grpSpPr bwMode="auto">
          <a:xfrm>
            <a:off x="7326266" y="4732496"/>
            <a:ext cx="457200" cy="609600"/>
            <a:chOff x="1728" y="2976"/>
            <a:chExt cx="288" cy="384"/>
          </a:xfrm>
        </p:grpSpPr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j=1</a:t>
              </a:r>
            </a:p>
          </p:txBody>
        </p:sp>
        <p:sp>
          <p:nvSpPr>
            <p:cNvPr id="81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2" name="Text Box 43"/>
          <p:cNvSpPr txBox="1">
            <a:spLocks noChangeArrowheads="1"/>
          </p:cNvSpPr>
          <p:nvPr/>
        </p:nvSpPr>
        <p:spPr bwMode="auto">
          <a:xfrm>
            <a:off x="7364366" y="3709228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83" name="AutoShape 45"/>
          <p:cNvSpPr>
            <a:spLocks noChangeArrowheads="1"/>
          </p:cNvSpPr>
          <p:nvPr/>
        </p:nvSpPr>
        <p:spPr bwMode="auto">
          <a:xfrm>
            <a:off x="9261566" y="4129708"/>
            <a:ext cx="1371600" cy="609600"/>
          </a:xfrm>
          <a:prstGeom prst="wedgeEllipseCallout">
            <a:avLst>
              <a:gd name="adj1" fmla="val -169128"/>
              <a:gd name="adj2" fmla="val -6851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不同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7D1BDE6-52AD-4691-8B20-82E802085F4F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42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41" name="矩形 40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43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44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46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7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8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9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4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5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6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7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8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9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90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1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2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5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93" name="Group 35"/>
          <p:cNvGrpSpPr>
            <a:grpSpLocks/>
          </p:cNvGrpSpPr>
          <p:nvPr/>
        </p:nvGrpSpPr>
        <p:grpSpPr bwMode="auto">
          <a:xfrm>
            <a:off x="4800602" y="4250565"/>
            <a:ext cx="4673268" cy="457200"/>
            <a:chOff x="768" y="2688"/>
            <a:chExt cx="1646" cy="288"/>
          </a:xfrm>
        </p:grpSpPr>
        <p:grpSp>
          <p:nvGrpSpPr>
            <p:cNvPr id="94" name="Group 18"/>
            <p:cNvGrpSpPr>
              <a:grpSpLocks/>
            </p:cNvGrpSpPr>
            <p:nvPr/>
          </p:nvGrpSpPr>
          <p:grpSpPr bwMode="auto">
            <a:xfrm>
              <a:off x="1746" y="2720"/>
              <a:ext cx="668" cy="208"/>
              <a:chOff x="1554" y="2192"/>
              <a:chExt cx="668" cy="208"/>
            </a:xfrm>
          </p:grpSpPr>
          <p:sp>
            <p:nvSpPr>
              <p:cNvPr id="96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7" name="Rectangle 20"/>
              <p:cNvSpPr>
                <a:spLocks noChangeArrowheads="1"/>
              </p:cNvSpPr>
              <p:nvPr/>
            </p:nvSpPr>
            <p:spPr bwMode="auto">
              <a:xfrm>
                <a:off x="1688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8" name="Rectangle 21"/>
              <p:cNvSpPr>
                <a:spLocks noChangeArrowheads="1"/>
              </p:cNvSpPr>
              <p:nvPr/>
            </p:nvSpPr>
            <p:spPr bwMode="auto">
              <a:xfrm>
                <a:off x="1795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99" name="Rectangle 22"/>
              <p:cNvSpPr>
                <a:spLocks noChangeArrowheads="1"/>
              </p:cNvSpPr>
              <p:nvPr/>
            </p:nvSpPr>
            <p:spPr bwMode="auto">
              <a:xfrm>
                <a:off x="1903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100" name="Rectangle 23"/>
              <p:cNvSpPr>
                <a:spLocks noChangeArrowheads="1"/>
              </p:cNvSpPr>
              <p:nvPr/>
            </p:nvSpPr>
            <p:spPr bwMode="auto">
              <a:xfrm>
                <a:off x="203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95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101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第五趟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i=5)</a:t>
            </a:r>
          </a:p>
        </p:txBody>
      </p:sp>
      <p:grpSp>
        <p:nvGrpSpPr>
          <p:cNvPr id="102" name="Group 37"/>
          <p:cNvGrpSpPr>
            <a:grpSpLocks/>
          </p:cNvGrpSpPr>
          <p:nvPr/>
        </p:nvGrpSpPr>
        <p:grpSpPr bwMode="auto">
          <a:xfrm>
            <a:off x="7699126" y="2628478"/>
            <a:ext cx="457200" cy="609600"/>
            <a:chOff x="1536" y="1536"/>
            <a:chExt cx="288" cy="384"/>
          </a:xfrm>
        </p:grpSpPr>
        <p:sp>
          <p:nvSpPr>
            <p:cNvPr id="103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4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i=5</a:t>
              </a:r>
            </a:p>
          </p:txBody>
        </p:sp>
      </p:grpSp>
      <p:grpSp>
        <p:nvGrpSpPr>
          <p:cNvPr id="105" name="Group 40"/>
          <p:cNvGrpSpPr>
            <a:grpSpLocks/>
          </p:cNvGrpSpPr>
          <p:nvPr/>
        </p:nvGrpSpPr>
        <p:grpSpPr bwMode="auto">
          <a:xfrm>
            <a:off x="7684793" y="4732496"/>
            <a:ext cx="457200" cy="609600"/>
            <a:chOff x="1728" y="2976"/>
            <a:chExt cx="288" cy="384"/>
          </a:xfrm>
        </p:grpSpPr>
        <p:sp>
          <p:nvSpPr>
            <p:cNvPr id="106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j=1</a:t>
              </a:r>
            </a:p>
          </p:txBody>
        </p:sp>
        <p:sp>
          <p:nvSpPr>
            <p:cNvPr id="107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8" name="Text Box 43"/>
          <p:cNvSpPr txBox="1">
            <a:spLocks noChangeArrowheads="1"/>
          </p:cNvSpPr>
          <p:nvPr/>
        </p:nvSpPr>
        <p:spPr bwMode="auto">
          <a:xfrm>
            <a:off x="7688398" y="3709228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09" name="AutoShape 45"/>
          <p:cNvSpPr>
            <a:spLocks noChangeArrowheads="1"/>
          </p:cNvSpPr>
          <p:nvPr/>
        </p:nvSpPr>
        <p:spPr bwMode="auto">
          <a:xfrm>
            <a:off x="9287091" y="3945765"/>
            <a:ext cx="1371600" cy="609600"/>
          </a:xfrm>
          <a:prstGeom prst="wedgeEllipseCallout">
            <a:avLst>
              <a:gd name="adj1" fmla="val -149897"/>
              <a:gd name="adj2" fmla="val -3967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不同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A1671B0-1D22-417A-8A5C-C0C8B0881079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50" name="矩形 49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51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52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54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5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6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7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8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59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0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1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2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3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4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5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6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67" name="Group 35"/>
          <p:cNvGrpSpPr>
            <a:grpSpLocks/>
          </p:cNvGrpSpPr>
          <p:nvPr/>
        </p:nvGrpSpPr>
        <p:grpSpPr bwMode="auto">
          <a:xfrm>
            <a:off x="4800601" y="4250565"/>
            <a:ext cx="5023868" cy="457200"/>
            <a:chOff x="768" y="2688"/>
            <a:chExt cx="1595" cy="288"/>
          </a:xfrm>
        </p:grpSpPr>
        <p:grpSp>
          <p:nvGrpSpPr>
            <p:cNvPr id="68" name="Group 18"/>
            <p:cNvGrpSpPr>
              <a:grpSpLocks/>
            </p:cNvGrpSpPr>
            <p:nvPr/>
          </p:nvGrpSpPr>
          <p:grpSpPr bwMode="auto">
            <a:xfrm>
              <a:off x="1746" y="2720"/>
              <a:ext cx="617" cy="208"/>
              <a:chOff x="1554" y="2192"/>
              <a:chExt cx="617" cy="208"/>
            </a:xfrm>
          </p:grpSpPr>
          <p:sp>
            <p:nvSpPr>
              <p:cNvPr id="70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1" name="Rectangle 20"/>
              <p:cNvSpPr>
                <a:spLocks noChangeArrowheads="1"/>
              </p:cNvSpPr>
              <p:nvPr/>
            </p:nvSpPr>
            <p:spPr bwMode="auto">
              <a:xfrm>
                <a:off x="1673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72" name="Rectangle 21"/>
              <p:cNvSpPr>
                <a:spLocks noChangeArrowheads="1"/>
              </p:cNvSpPr>
              <p:nvPr/>
            </p:nvSpPr>
            <p:spPr bwMode="auto">
              <a:xfrm>
                <a:off x="1768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73" name="Rectangle 22"/>
              <p:cNvSpPr>
                <a:spLocks noChangeArrowheads="1"/>
              </p:cNvSpPr>
              <p:nvPr/>
            </p:nvSpPr>
            <p:spPr bwMode="auto">
              <a:xfrm>
                <a:off x="187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4" name="Rectangle 23"/>
              <p:cNvSpPr>
                <a:spLocks noChangeArrowheads="1"/>
              </p:cNvSpPr>
              <p:nvPr/>
            </p:nvSpPr>
            <p:spPr bwMode="auto">
              <a:xfrm>
                <a:off x="1979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69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75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第六趟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i=6)</a:t>
            </a:r>
          </a:p>
        </p:txBody>
      </p:sp>
      <p:grpSp>
        <p:nvGrpSpPr>
          <p:cNvPr id="76" name="Group 37"/>
          <p:cNvGrpSpPr>
            <a:grpSpLocks/>
          </p:cNvGrpSpPr>
          <p:nvPr/>
        </p:nvGrpSpPr>
        <p:grpSpPr bwMode="auto">
          <a:xfrm>
            <a:off x="8060758" y="2657314"/>
            <a:ext cx="457200" cy="609600"/>
            <a:chOff x="1536" y="1536"/>
            <a:chExt cx="288" cy="384"/>
          </a:xfrm>
        </p:grpSpPr>
        <p:sp>
          <p:nvSpPr>
            <p:cNvPr id="77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8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i=6</a:t>
              </a:r>
            </a:p>
          </p:txBody>
        </p:sp>
      </p:grpSp>
      <p:grpSp>
        <p:nvGrpSpPr>
          <p:cNvPr id="79" name="Group 40"/>
          <p:cNvGrpSpPr>
            <a:grpSpLocks/>
          </p:cNvGrpSpPr>
          <p:nvPr/>
        </p:nvGrpSpPr>
        <p:grpSpPr bwMode="auto">
          <a:xfrm>
            <a:off x="7954846" y="4732496"/>
            <a:ext cx="572117" cy="609600"/>
            <a:chOff x="1728" y="2976"/>
            <a:chExt cx="288" cy="384"/>
          </a:xfrm>
        </p:grpSpPr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j=1</a:t>
              </a:r>
            </a:p>
          </p:txBody>
        </p:sp>
        <p:sp>
          <p:nvSpPr>
            <p:cNvPr id="81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2" name="Text Box 43"/>
          <p:cNvSpPr txBox="1">
            <a:spLocks noChangeArrowheads="1"/>
          </p:cNvSpPr>
          <p:nvPr/>
        </p:nvSpPr>
        <p:spPr bwMode="auto">
          <a:xfrm>
            <a:off x="8012429" y="3709228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4B82349-CDAB-4084-9C2F-D77E561BA80B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0721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41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43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45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6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7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8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9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3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4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5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6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7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8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9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0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91" name="Group 35"/>
          <p:cNvGrpSpPr>
            <a:grpSpLocks/>
          </p:cNvGrpSpPr>
          <p:nvPr/>
        </p:nvGrpSpPr>
        <p:grpSpPr bwMode="auto">
          <a:xfrm>
            <a:off x="4800601" y="4250565"/>
            <a:ext cx="5023868" cy="457200"/>
            <a:chOff x="768" y="2688"/>
            <a:chExt cx="1595" cy="288"/>
          </a:xfrm>
        </p:grpSpPr>
        <p:grpSp>
          <p:nvGrpSpPr>
            <p:cNvPr id="92" name="Group 18"/>
            <p:cNvGrpSpPr>
              <a:grpSpLocks/>
            </p:cNvGrpSpPr>
            <p:nvPr/>
          </p:nvGrpSpPr>
          <p:grpSpPr bwMode="auto">
            <a:xfrm>
              <a:off x="1746" y="2720"/>
              <a:ext cx="617" cy="208"/>
              <a:chOff x="1554" y="2192"/>
              <a:chExt cx="617" cy="208"/>
            </a:xfrm>
          </p:grpSpPr>
          <p:sp>
            <p:nvSpPr>
              <p:cNvPr id="94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5" name="Rectangle 20"/>
              <p:cNvSpPr>
                <a:spLocks noChangeArrowheads="1"/>
              </p:cNvSpPr>
              <p:nvPr/>
            </p:nvSpPr>
            <p:spPr bwMode="auto">
              <a:xfrm>
                <a:off x="1673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6" name="Rectangle 21"/>
              <p:cNvSpPr>
                <a:spLocks noChangeArrowheads="1"/>
              </p:cNvSpPr>
              <p:nvPr/>
            </p:nvSpPr>
            <p:spPr bwMode="auto">
              <a:xfrm>
                <a:off x="1768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97" name="Rectangle 22"/>
              <p:cNvSpPr>
                <a:spLocks noChangeArrowheads="1"/>
              </p:cNvSpPr>
              <p:nvPr/>
            </p:nvSpPr>
            <p:spPr bwMode="auto">
              <a:xfrm>
                <a:off x="187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8" name="Rectangle 23"/>
              <p:cNvSpPr>
                <a:spLocks noChangeArrowheads="1"/>
              </p:cNvSpPr>
              <p:nvPr/>
            </p:nvSpPr>
            <p:spPr bwMode="auto">
              <a:xfrm>
                <a:off x="1979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93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99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第六趟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i=6)</a:t>
            </a:r>
          </a:p>
        </p:txBody>
      </p:sp>
      <p:grpSp>
        <p:nvGrpSpPr>
          <p:cNvPr id="100" name="Group 37"/>
          <p:cNvGrpSpPr>
            <a:grpSpLocks/>
          </p:cNvGrpSpPr>
          <p:nvPr/>
        </p:nvGrpSpPr>
        <p:grpSpPr bwMode="auto">
          <a:xfrm>
            <a:off x="8326516" y="2657314"/>
            <a:ext cx="457200" cy="609600"/>
            <a:chOff x="1536" y="1536"/>
            <a:chExt cx="288" cy="384"/>
          </a:xfrm>
        </p:grpSpPr>
        <p:sp>
          <p:nvSpPr>
            <p:cNvPr id="101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i=7</a:t>
              </a:r>
            </a:p>
          </p:txBody>
        </p:sp>
      </p:grpSp>
      <p:grpSp>
        <p:nvGrpSpPr>
          <p:cNvPr id="103" name="Group 40"/>
          <p:cNvGrpSpPr>
            <a:grpSpLocks/>
          </p:cNvGrpSpPr>
          <p:nvPr/>
        </p:nvGrpSpPr>
        <p:grpSpPr bwMode="auto">
          <a:xfrm>
            <a:off x="8304277" y="4707765"/>
            <a:ext cx="572117" cy="609600"/>
            <a:chOff x="1728" y="2976"/>
            <a:chExt cx="288" cy="384"/>
          </a:xfrm>
        </p:grpSpPr>
        <p:sp>
          <p:nvSpPr>
            <p:cNvPr id="104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j=2</a:t>
              </a:r>
            </a:p>
          </p:txBody>
        </p:sp>
        <p:sp>
          <p:nvSpPr>
            <p:cNvPr id="105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6" name="Text Box 43"/>
          <p:cNvSpPr txBox="1">
            <a:spLocks noChangeArrowheads="1"/>
          </p:cNvSpPr>
          <p:nvPr/>
        </p:nvSpPr>
        <p:spPr bwMode="auto">
          <a:xfrm>
            <a:off x="8364616" y="3709228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07" name="Line 36"/>
          <p:cNvSpPr>
            <a:spLocks noChangeShapeType="1"/>
          </p:cNvSpPr>
          <p:nvPr/>
        </p:nvSpPr>
        <p:spPr bwMode="auto">
          <a:xfrm>
            <a:off x="8186165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82CBA69-AB73-46EF-A6A3-83BE73E195D0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9710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50" name="矩形 49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51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52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54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5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6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7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8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59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0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1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2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3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4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5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6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67" name="Group 35"/>
          <p:cNvGrpSpPr>
            <a:grpSpLocks/>
          </p:cNvGrpSpPr>
          <p:nvPr/>
        </p:nvGrpSpPr>
        <p:grpSpPr bwMode="auto">
          <a:xfrm>
            <a:off x="4800601" y="4250565"/>
            <a:ext cx="5023868" cy="457200"/>
            <a:chOff x="768" y="2688"/>
            <a:chExt cx="1595" cy="288"/>
          </a:xfrm>
        </p:grpSpPr>
        <p:grpSp>
          <p:nvGrpSpPr>
            <p:cNvPr id="68" name="Group 18"/>
            <p:cNvGrpSpPr>
              <a:grpSpLocks/>
            </p:cNvGrpSpPr>
            <p:nvPr/>
          </p:nvGrpSpPr>
          <p:grpSpPr bwMode="auto">
            <a:xfrm>
              <a:off x="1746" y="2720"/>
              <a:ext cx="617" cy="208"/>
              <a:chOff x="1554" y="2192"/>
              <a:chExt cx="617" cy="208"/>
            </a:xfrm>
          </p:grpSpPr>
          <p:sp>
            <p:nvSpPr>
              <p:cNvPr id="70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1" name="Rectangle 20"/>
              <p:cNvSpPr>
                <a:spLocks noChangeArrowheads="1"/>
              </p:cNvSpPr>
              <p:nvPr/>
            </p:nvSpPr>
            <p:spPr bwMode="auto">
              <a:xfrm>
                <a:off x="1673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72" name="Rectangle 21"/>
              <p:cNvSpPr>
                <a:spLocks noChangeArrowheads="1"/>
              </p:cNvSpPr>
              <p:nvPr/>
            </p:nvSpPr>
            <p:spPr bwMode="auto">
              <a:xfrm>
                <a:off x="1768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73" name="Rectangle 22"/>
              <p:cNvSpPr>
                <a:spLocks noChangeArrowheads="1"/>
              </p:cNvSpPr>
              <p:nvPr/>
            </p:nvSpPr>
            <p:spPr bwMode="auto">
              <a:xfrm>
                <a:off x="187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4" name="Rectangle 23"/>
              <p:cNvSpPr>
                <a:spLocks noChangeArrowheads="1"/>
              </p:cNvSpPr>
              <p:nvPr/>
            </p:nvSpPr>
            <p:spPr bwMode="auto">
              <a:xfrm>
                <a:off x="1979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69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75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第六趟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i=6)</a:t>
            </a:r>
          </a:p>
        </p:txBody>
      </p:sp>
      <p:grpSp>
        <p:nvGrpSpPr>
          <p:cNvPr id="76" name="Group 37"/>
          <p:cNvGrpSpPr>
            <a:grpSpLocks/>
          </p:cNvGrpSpPr>
          <p:nvPr/>
        </p:nvGrpSpPr>
        <p:grpSpPr bwMode="auto">
          <a:xfrm>
            <a:off x="8686800" y="2650365"/>
            <a:ext cx="457200" cy="609600"/>
            <a:chOff x="1536" y="1536"/>
            <a:chExt cx="288" cy="384"/>
          </a:xfrm>
        </p:grpSpPr>
        <p:sp>
          <p:nvSpPr>
            <p:cNvPr id="77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8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i=8</a:t>
              </a:r>
            </a:p>
          </p:txBody>
        </p:sp>
      </p:grpSp>
      <p:grpSp>
        <p:nvGrpSpPr>
          <p:cNvPr id="79" name="Group 40"/>
          <p:cNvGrpSpPr>
            <a:grpSpLocks/>
          </p:cNvGrpSpPr>
          <p:nvPr/>
        </p:nvGrpSpPr>
        <p:grpSpPr bwMode="auto">
          <a:xfrm>
            <a:off x="8647601" y="4692528"/>
            <a:ext cx="572117" cy="609600"/>
            <a:chOff x="1728" y="2976"/>
            <a:chExt cx="288" cy="384"/>
          </a:xfrm>
        </p:grpSpPr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j=3</a:t>
              </a:r>
            </a:p>
          </p:txBody>
        </p:sp>
        <p:sp>
          <p:nvSpPr>
            <p:cNvPr id="81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2" name="Text Box 43"/>
          <p:cNvSpPr txBox="1">
            <a:spLocks noChangeArrowheads="1"/>
          </p:cNvSpPr>
          <p:nvPr/>
        </p:nvSpPr>
        <p:spPr bwMode="auto">
          <a:xfrm>
            <a:off x="8745220" y="3717165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08" name="Line 36"/>
          <p:cNvSpPr>
            <a:spLocks noChangeShapeType="1"/>
          </p:cNvSpPr>
          <p:nvPr/>
        </p:nvSpPr>
        <p:spPr bwMode="auto">
          <a:xfrm>
            <a:off x="8186165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9" name="Line 36"/>
          <p:cNvSpPr>
            <a:spLocks noChangeShapeType="1"/>
          </p:cNvSpPr>
          <p:nvPr/>
        </p:nvSpPr>
        <p:spPr bwMode="auto">
          <a:xfrm>
            <a:off x="853224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932263F-5A8A-4CC1-881F-03AAAC6CEAAB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1145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43" name="矩形 42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44" name="矩形 43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45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46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48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9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3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4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5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6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7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8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9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0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91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2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3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7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94" name="Group 35"/>
          <p:cNvGrpSpPr>
            <a:grpSpLocks/>
          </p:cNvGrpSpPr>
          <p:nvPr/>
        </p:nvGrpSpPr>
        <p:grpSpPr bwMode="auto">
          <a:xfrm>
            <a:off x="4800601" y="4250565"/>
            <a:ext cx="5023868" cy="457200"/>
            <a:chOff x="768" y="2688"/>
            <a:chExt cx="1595" cy="288"/>
          </a:xfrm>
        </p:grpSpPr>
        <p:grpSp>
          <p:nvGrpSpPr>
            <p:cNvPr id="95" name="Group 18"/>
            <p:cNvGrpSpPr>
              <a:grpSpLocks/>
            </p:cNvGrpSpPr>
            <p:nvPr/>
          </p:nvGrpSpPr>
          <p:grpSpPr bwMode="auto">
            <a:xfrm>
              <a:off x="1746" y="2720"/>
              <a:ext cx="617" cy="208"/>
              <a:chOff x="1554" y="2192"/>
              <a:chExt cx="617" cy="208"/>
            </a:xfrm>
          </p:grpSpPr>
          <p:sp>
            <p:nvSpPr>
              <p:cNvPr id="97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8" name="Rectangle 20"/>
              <p:cNvSpPr>
                <a:spLocks noChangeArrowheads="1"/>
              </p:cNvSpPr>
              <p:nvPr/>
            </p:nvSpPr>
            <p:spPr bwMode="auto">
              <a:xfrm>
                <a:off x="1673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9" name="Rectangle 21"/>
              <p:cNvSpPr>
                <a:spLocks noChangeArrowheads="1"/>
              </p:cNvSpPr>
              <p:nvPr/>
            </p:nvSpPr>
            <p:spPr bwMode="auto">
              <a:xfrm>
                <a:off x="1768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100" name="Rectangle 22"/>
              <p:cNvSpPr>
                <a:spLocks noChangeArrowheads="1"/>
              </p:cNvSpPr>
              <p:nvPr/>
            </p:nvSpPr>
            <p:spPr bwMode="auto">
              <a:xfrm>
                <a:off x="187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101" name="Rectangle 23"/>
              <p:cNvSpPr>
                <a:spLocks noChangeArrowheads="1"/>
              </p:cNvSpPr>
              <p:nvPr/>
            </p:nvSpPr>
            <p:spPr bwMode="auto">
              <a:xfrm>
                <a:off x="1979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96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102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第六趟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i=6)</a:t>
            </a:r>
          </a:p>
        </p:txBody>
      </p:sp>
      <p:grpSp>
        <p:nvGrpSpPr>
          <p:cNvPr id="103" name="Group 37"/>
          <p:cNvGrpSpPr>
            <a:grpSpLocks/>
          </p:cNvGrpSpPr>
          <p:nvPr/>
        </p:nvGrpSpPr>
        <p:grpSpPr bwMode="auto">
          <a:xfrm>
            <a:off x="9023945" y="2653540"/>
            <a:ext cx="457200" cy="609600"/>
            <a:chOff x="1536" y="1536"/>
            <a:chExt cx="288" cy="384"/>
          </a:xfrm>
        </p:grpSpPr>
        <p:sp>
          <p:nvSpPr>
            <p:cNvPr id="104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106" name="Group 40"/>
          <p:cNvGrpSpPr>
            <a:grpSpLocks/>
          </p:cNvGrpSpPr>
          <p:nvPr/>
        </p:nvGrpSpPr>
        <p:grpSpPr bwMode="auto">
          <a:xfrm>
            <a:off x="8934754" y="4678073"/>
            <a:ext cx="572117" cy="609600"/>
            <a:chOff x="1728" y="2976"/>
            <a:chExt cx="288" cy="384"/>
          </a:xfrm>
        </p:grpSpPr>
        <p:sp>
          <p:nvSpPr>
            <p:cNvPr id="107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j=4</a:t>
              </a:r>
            </a:p>
          </p:txBody>
        </p:sp>
        <p:sp>
          <p:nvSpPr>
            <p:cNvPr id="110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12" name="Text Box 43"/>
          <p:cNvSpPr txBox="1">
            <a:spLocks noChangeArrowheads="1"/>
          </p:cNvSpPr>
          <p:nvPr/>
        </p:nvSpPr>
        <p:spPr bwMode="auto">
          <a:xfrm>
            <a:off x="9013009" y="3717165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13" name="Line 36"/>
          <p:cNvSpPr>
            <a:spLocks noChangeShapeType="1"/>
          </p:cNvSpPr>
          <p:nvPr/>
        </p:nvSpPr>
        <p:spPr bwMode="auto">
          <a:xfrm>
            <a:off x="8186165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4" name="Line 36"/>
          <p:cNvSpPr>
            <a:spLocks noChangeShapeType="1"/>
          </p:cNvSpPr>
          <p:nvPr/>
        </p:nvSpPr>
        <p:spPr bwMode="auto">
          <a:xfrm>
            <a:off x="853224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5" name="Line 36"/>
          <p:cNvSpPr>
            <a:spLocks noChangeShapeType="1"/>
          </p:cNvSpPr>
          <p:nvPr/>
        </p:nvSpPr>
        <p:spPr bwMode="auto">
          <a:xfrm>
            <a:off x="8848839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44587D6-F222-41E4-BB10-278F95FE5242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2889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51" name="矩形 50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52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53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55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6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7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8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9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0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1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2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3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4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5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6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7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68" name="Group 35"/>
          <p:cNvGrpSpPr>
            <a:grpSpLocks/>
          </p:cNvGrpSpPr>
          <p:nvPr/>
        </p:nvGrpSpPr>
        <p:grpSpPr bwMode="auto">
          <a:xfrm>
            <a:off x="4800601" y="4250565"/>
            <a:ext cx="5023868" cy="457200"/>
            <a:chOff x="768" y="2688"/>
            <a:chExt cx="1595" cy="288"/>
          </a:xfrm>
        </p:grpSpPr>
        <p:grpSp>
          <p:nvGrpSpPr>
            <p:cNvPr id="69" name="Group 18"/>
            <p:cNvGrpSpPr>
              <a:grpSpLocks/>
            </p:cNvGrpSpPr>
            <p:nvPr/>
          </p:nvGrpSpPr>
          <p:grpSpPr bwMode="auto">
            <a:xfrm>
              <a:off x="1746" y="2720"/>
              <a:ext cx="617" cy="208"/>
              <a:chOff x="1554" y="2192"/>
              <a:chExt cx="617" cy="208"/>
            </a:xfrm>
          </p:grpSpPr>
          <p:sp>
            <p:nvSpPr>
              <p:cNvPr id="71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2" name="Rectangle 20"/>
              <p:cNvSpPr>
                <a:spLocks noChangeArrowheads="1"/>
              </p:cNvSpPr>
              <p:nvPr/>
            </p:nvSpPr>
            <p:spPr bwMode="auto">
              <a:xfrm>
                <a:off x="1673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73" name="Rectangle 21"/>
              <p:cNvSpPr>
                <a:spLocks noChangeArrowheads="1"/>
              </p:cNvSpPr>
              <p:nvPr/>
            </p:nvSpPr>
            <p:spPr bwMode="auto">
              <a:xfrm>
                <a:off x="1768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74" name="Rectangle 22"/>
              <p:cNvSpPr>
                <a:spLocks noChangeArrowheads="1"/>
              </p:cNvSpPr>
              <p:nvPr/>
            </p:nvSpPr>
            <p:spPr bwMode="auto">
              <a:xfrm>
                <a:off x="187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5" name="Rectangle 23"/>
              <p:cNvSpPr>
                <a:spLocks noChangeArrowheads="1"/>
              </p:cNvSpPr>
              <p:nvPr/>
            </p:nvSpPr>
            <p:spPr bwMode="auto">
              <a:xfrm>
                <a:off x="1979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70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76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第六趟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i=6)</a:t>
            </a:r>
          </a:p>
        </p:txBody>
      </p:sp>
      <p:grpSp>
        <p:nvGrpSpPr>
          <p:cNvPr id="77" name="Group 37"/>
          <p:cNvGrpSpPr>
            <a:grpSpLocks/>
          </p:cNvGrpSpPr>
          <p:nvPr/>
        </p:nvGrpSpPr>
        <p:grpSpPr bwMode="auto">
          <a:xfrm>
            <a:off x="9216455" y="2597397"/>
            <a:ext cx="801802" cy="609600"/>
            <a:chOff x="1536" y="1536"/>
            <a:chExt cx="288" cy="384"/>
          </a:xfrm>
        </p:grpSpPr>
        <p:sp>
          <p:nvSpPr>
            <p:cNvPr id="78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9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i=10</a:t>
              </a:r>
            </a:p>
          </p:txBody>
        </p:sp>
      </p:grpSp>
      <p:grpSp>
        <p:nvGrpSpPr>
          <p:cNvPr id="80" name="Group 40"/>
          <p:cNvGrpSpPr>
            <a:grpSpLocks/>
          </p:cNvGrpSpPr>
          <p:nvPr/>
        </p:nvGrpSpPr>
        <p:grpSpPr bwMode="auto">
          <a:xfrm>
            <a:off x="9337043" y="4678073"/>
            <a:ext cx="572117" cy="609600"/>
            <a:chOff x="1728" y="2976"/>
            <a:chExt cx="288" cy="384"/>
          </a:xfrm>
        </p:grpSpPr>
        <p:sp>
          <p:nvSpPr>
            <p:cNvPr id="81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j=5</a:t>
              </a:r>
            </a:p>
          </p:txBody>
        </p:sp>
        <p:sp>
          <p:nvSpPr>
            <p:cNvPr id="82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8" name="Text Box 43"/>
          <p:cNvSpPr txBox="1">
            <a:spLocks noChangeArrowheads="1"/>
          </p:cNvSpPr>
          <p:nvPr/>
        </p:nvSpPr>
        <p:spPr bwMode="auto">
          <a:xfrm>
            <a:off x="9345316" y="3709228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09" name="Line 36"/>
          <p:cNvSpPr>
            <a:spLocks noChangeShapeType="1"/>
          </p:cNvSpPr>
          <p:nvPr/>
        </p:nvSpPr>
        <p:spPr bwMode="auto">
          <a:xfrm>
            <a:off x="8186165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6" name="Line 36"/>
          <p:cNvSpPr>
            <a:spLocks noChangeShapeType="1"/>
          </p:cNvSpPr>
          <p:nvPr/>
        </p:nvSpPr>
        <p:spPr bwMode="auto">
          <a:xfrm>
            <a:off x="853224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7" name="Line 36"/>
          <p:cNvSpPr>
            <a:spLocks noChangeShapeType="1"/>
          </p:cNvSpPr>
          <p:nvPr/>
        </p:nvSpPr>
        <p:spPr bwMode="auto">
          <a:xfrm>
            <a:off x="8848839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8" name="Line 36"/>
          <p:cNvSpPr>
            <a:spLocks noChangeShapeType="1"/>
          </p:cNvSpPr>
          <p:nvPr/>
        </p:nvSpPr>
        <p:spPr bwMode="auto">
          <a:xfrm>
            <a:off x="9170990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8A07A0F-5AE9-45CF-8186-A1FAE4371A15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0366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44" name="矩形 43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45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46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48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9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3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4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5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6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7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8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9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0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91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2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3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7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94" name="Group 35"/>
          <p:cNvGrpSpPr>
            <a:grpSpLocks/>
          </p:cNvGrpSpPr>
          <p:nvPr/>
        </p:nvGrpSpPr>
        <p:grpSpPr bwMode="auto">
          <a:xfrm>
            <a:off x="4800601" y="4250565"/>
            <a:ext cx="5023868" cy="457200"/>
            <a:chOff x="768" y="2688"/>
            <a:chExt cx="1595" cy="288"/>
          </a:xfrm>
        </p:grpSpPr>
        <p:grpSp>
          <p:nvGrpSpPr>
            <p:cNvPr id="95" name="Group 18"/>
            <p:cNvGrpSpPr>
              <a:grpSpLocks/>
            </p:cNvGrpSpPr>
            <p:nvPr/>
          </p:nvGrpSpPr>
          <p:grpSpPr bwMode="auto">
            <a:xfrm>
              <a:off x="1746" y="2720"/>
              <a:ext cx="617" cy="208"/>
              <a:chOff x="1554" y="2192"/>
              <a:chExt cx="617" cy="208"/>
            </a:xfrm>
          </p:grpSpPr>
          <p:sp>
            <p:nvSpPr>
              <p:cNvPr id="97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8" name="Rectangle 20"/>
              <p:cNvSpPr>
                <a:spLocks noChangeArrowheads="1"/>
              </p:cNvSpPr>
              <p:nvPr/>
            </p:nvSpPr>
            <p:spPr bwMode="auto">
              <a:xfrm>
                <a:off x="1673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9" name="Rectangle 21"/>
              <p:cNvSpPr>
                <a:spLocks noChangeArrowheads="1"/>
              </p:cNvSpPr>
              <p:nvPr/>
            </p:nvSpPr>
            <p:spPr bwMode="auto">
              <a:xfrm>
                <a:off x="1768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100" name="Rectangle 22"/>
              <p:cNvSpPr>
                <a:spLocks noChangeArrowheads="1"/>
              </p:cNvSpPr>
              <p:nvPr/>
            </p:nvSpPr>
            <p:spPr bwMode="auto">
              <a:xfrm>
                <a:off x="187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101" name="Rectangle 23"/>
              <p:cNvSpPr>
                <a:spLocks noChangeArrowheads="1"/>
              </p:cNvSpPr>
              <p:nvPr/>
            </p:nvSpPr>
            <p:spPr bwMode="auto">
              <a:xfrm>
                <a:off x="1979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96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102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第六趟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i=6)</a:t>
            </a:r>
          </a:p>
        </p:txBody>
      </p:sp>
      <p:grpSp>
        <p:nvGrpSpPr>
          <p:cNvPr id="103" name="Group 40"/>
          <p:cNvGrpSpPr>
            <a:grpSpLocks/>
          </p:cNvGrpSpPr>
          <p:nvPr/>
        </p:nvGrpSpPr>
        <p:grpSpPr bwMode="auto">
          <a:xfrm>
            <a:off x="9337043" y="4678073"/>
            <a:ext cx="572117" cy="609600"/>
            <a:chOff x="1728" y="2976"/>
            <a:chExt cx="288" cy="384"/>
          </a:xfrm>
        </p:grpSpPr>
        <p:sp>
          <p:nvSpPr>
            <p:cNvPr id="104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j=5</a:t>
              </a:r>
            </a:p>
          </p:txBody>
        </p:sp>
        <p:sp>
          <p:nvSpPr>
            <p:cNvPr id="105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6" name="Line 36"/>
          <p:cNvSpPr>
            <a:spLocks noChangeShapeType="1"/>
          </p:cNvSpPr>
          <p:nvPr/>
        </p:nvSpPr>
        <p:spPr bwMode="auto">
          <a:xfrm>
            <a:off x="8186165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7" name="Line 36"/>
          <p:cNvSpPr>
            <a:spLocks noChangeShapeType="1"/>
          </p:cNvSpPr>
          <p:nvPr/>
        </p:nvSpPr>
        <p:spPr bwMode="auto">
          <a:xfrm>
            <a:off x="853224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0" name="Line 36"/>
          <p:cNvSpPr>
            <a:spLocks noChangeShapeType="1"/>
          </p:cNvSpPr>
          <p:nvPr/>
        </p:nvSpPr>
        <p:spPr bwMode="auto">
          <a:xfrm>
            <a:off x="8848839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" name="Line 36"/>
          <p:cNvSpPr>
            <a:spLocks noChangeShapeType="1"/>
          </p:cNvSpPr>
          <p:nvPr/>
        </p:nvSpPr>
        <p:spPr bwMode="auto">
          <a:xfrm>
            <a:off x="9170990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" name="Line 36"/>
          <p:cNvSpPr>
            <a:spLocks noChangeShapeType="1"/>
          </p:cNvSpPr>
          <p:nvPr/>
        </p:nvSpPr>
        <p:spPr bwMode="auto">
          <a:xfrm>
            <a:off x="9522092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14" name="Group 37"/>
          <p:cNvGrpSpPr>
            <a:grpSpLocks/>
          </p:cNvGrpSpPr>
          <p:nvPr/>
        </p:nvGrpSpPr>
        <p:grpSpPr bwMode="auto">
          <a:xfrm>
            <a:off x="9216455" y="2597397"/>
            <a:ext cx="801802" cy="609600"/>
            <a:chOff x="1536" y="1536"/>
            <a:chExt cx="288" cy="384"/>
          </a:xfrm>
        </p:grpSpPr>
        <p:sp>
          <p:nvSpPr>
            <p:cNvPr id="115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9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i=10</a:t>
              </a:r>
            </a:p>
          </p:txBody>
        </p:sp>
      </p:grp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D171C477-B293-4313-9A91-CB3C356AB87C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846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073278" y="1981764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S：ababcabcacbab</a:t>
            </a:r>
            <a:endParaRPr lang="zh-CN" altLang="en-US" sz="2400" dirty="0"/>
          </a:p>
        </p:txBody>
      </p:sp>
      <p:sp>
        <p:nvSpPr>
          <p:cNvPr id="51" name="矩形 50"/>
          <p:cNvSpPr/>
          <p:nvPr/>
        </p:nvSpPr>
        <p:spPr>
          <a:xfrm>
            <a:off x="3055860" y="2443710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子串</a:t>
            </a:r>
            <a:r>
              <a:rPr kumimoji="1" lang="en-US" altLang="zh-CN" sz="2400" dirty="0" err="1">
                <a:latin typeface="Times New Roman" pitchFamily="18" charset="0"/>
                <a:ea typeface="宋体" pitchFamily="2" charset="-122"/>
              </a:rPr>
              <a:t>T：abcac</a:t>
            </a:r>
            <a:endParaRPr lang="zh-CN" altLang="en-US" sz="2400" dirty="0"/>
          </a:p>
        </p:txBody>
      </p:sp>
      <p:grpSp>
        <p:nvGrpSpPr>
          <p:cNvPr id="52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53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55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6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7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8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9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0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1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2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3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4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5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6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7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68" name="Group 35"/>
          <p:cNvGrpSpPr>
            <a:grpSpLocks/>
          </p:cNvGrpSpPr>
          <p:nvPr/>
        </p:nvGrpSpPr>
        <p:grpSpPr bwMode="auto">
          <a:xfrm>
            <a:off x="4800601" y="4250565"/>
            <a:ext cx="5023868" cy="457200"/>
            <a:chOff x="768" y="2688"/>
            <a:chExt cx="1595" cy="288"/>
          </a:xfrm>
        </p:grpSpPr>
        <p:grpSp>
          <p:nvGrpSpPr>
            <p:cNvPr id="69" name="Group 18"/>
            <p:cNvGrpSpPr>
              <a:grpSpLocks/>
            </p:cNvGrpSpPr>
            <p:nvPr/>
          </p:nvGrpSpPr>
          <p:grpSpPr bwMode="auto">
            <a:xfrm>
              <a:off x="1746" y="2720"/>
              <a:ext cx="617" cy="208"/>
              <a:chOff x="1554" y="2192"/>
              <a:chExt cx="617" cy="208"/>
            </a:xfrm>
          </p:grpSpPr>
          <p:sp>
            <p:nvSpPr>
              <p:cNvPr id="71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2" name="Rectangle 20"/>
              <p:cNvSpPr>
                <a:spLocks noChangeArrowheads="1"/>
              </p:cNvSpPr>
              <p:nvPr/>
            </p:nvSpPr>
            <p:spPr bwMode="auto">
              <a:xfrm>
                <a:off x="1673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73" name="Rectangle 21"/>
              <p:cNvSpPr>
                <a:spLocks noChangeArrowheads="1"/>
              </p:cNvSpPr>
              <p:nvPr/>
            </p:nvSpPr>
            <p:spPr bwMode="auto">
              <a:xfrm>
                <a:off x="1768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74" name="Rectangle 22"/>
              <p:cNvSpPr>
                <a:spLocks noChangeArrowheads="1"/>
              </p:cNvSpPr>
              <p:nvPr/>
            </p:nvSpPr>
            <p:spPr bwMode="auto">
              <a:xfrm>
                <a:off x="187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5" name="Rectangle 23"/>
              <p:cNvSpPr>
                <a:spLocks noChangeArrowheads="1"/>
              </p:cNvSpPr>
              <p:nvPr/>
            </p:nvSpPr>
            <p:spPr bwMode="auto">
              <a:xfrm>
                <a:off x="1979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70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76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第六趟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i=6)</a:t>
            </a:r>
          </a:p>
        </p:txBody>
      </p:sp>
      <p:sp>
        <p:nvSpPr>
          <p:cNvPr id="77" name="Line 36"/>
          <p:cNvSpPr>
            <a:spLocks noChangeShapeType="1"/>
          </p:cNvSpPr>
          <p:nvPr/>
        </p:nvSpPr>
        <p:spPr bwMode="auto">
          <a:xfrm>
            <a:off x="8186165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" name="Line 36"/>
          <p:cNvSpPr>
            <a:spLocks noChangeShapeType="1"/>
          </p:cNvSpPr>
          <p:nvPr/>
        </p:nvSpPr>
        <p:spPr bwMode="auto">
          <a:xfrm>
            <a:off x="853224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9" name="Line 36"/>
          <p:cNvSpPr>
            <a:spLocks noChangeShapeType="1"/>
          </p:cNvSpPr>
          <p:nvPr/>
        </p:nvSpPr>
        <p:spPr bwMode="auto">
          <a:xfrm>
            <a:off x="8848839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0" name="Line 36"/>
          <p:cNvSpPr>
            <a:spLocks noChangeShapeType="1"/>
          </p:cNvSpPr>
          <p:nvPr/>
        </p:nvSpPr>
        <p:spPr bwMode="auto">
          <a:xfrm>
            <a:off x="9170990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" name="Line 36"/>
          <p:cNvSpPr>
            <a:spLocks noChangeShapeType="1"/>
          </p:cNvSpPr>
          <p:nvPr/>
        </p:nvSpPr>
        <p:spPr bwMode="auto">
          <a:xfrm>
            <a:off x="9522092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" name="AutoShape 41"/>
          <p:cNvSpPr>
            <a:spLocks noChangeArrowheads="1"/>
          </p:cNvSpPr>
          <p:nvPr/>
        </p:nvSpPr>
        <p:spPr bwMode="auto">
          <a:xfrm>
            <a:off x="6774593" y="2589581"/>
            <a:ext cx="2426245" cy="484658"/>
          </a:xfrm>
          <a:prstGeom prst="wedgeEllipseCallout">
            <a:avLst>
              <a:gd name="adj1" fmla="val 61829"/>
              <a:gd name="adj2" fmla="val 18018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5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模式串结束</a:t>
            </a:r>
          </a:p>
        </p:txBody>
      </p:sp>
      <p:sp>
        <p:nvSpPr>
          <p:cNvPr id="108" name="矩形 107"/>
          <p:cNvSpPr/>
          <p:nvPr/>
        </p:nvSpPr>
        <p:spPr>
          <a:xfrm>
            <a:off x="6906803" y="2045321"/>
            <a:ext cx="2031326" cy="4062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模式匹配成功</a:t>
            </a:r>
          </a:p>
        </p:txBody>
      </p:sp>
      <p:grpSp>
        <p:nvGrpSpPr>
          <p:cNvPr id="109" name="Group 40"/>
          <p:cNvGrpSpPr>
            <a:grpSpLocks/>
          </p:cNvGrpSpPr>
          <p:nvPr/>
        </p:nvGrpSpPr>
        <p:grpSpPr bwMode="auto">
          <a:xfrm>
            <a:off x="9640029" y="4672324"/>
            <a:ext cx="572117" cy="609600"/>
            <a:chOff x="1728" y="2976"/>
            <a:chExt cx="288" cy="384"/>
          </a:xfrm>
        </p:grpSpPr>
        <p:sp>
          <p:nvSpPr>
            <p:cNvPr id="116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j=6</a:t>
              </a:r>
            </a:p>
          </p:txBody>
        </p:sp>
        <p:sp>
          <p:nvSpPr>
            <p:cNvPr id="117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18" name="Group 37"/>
          <p:cNvGrpSpPr>
            <a:grpSpLocks/>
          </p:cNvGrpSpPr>
          <p:nvPr/>
        </p:nvGrpSpPr>
        <p:grpSpPr bwMode="auto">
          <a:xfrm>
            <a:off x="9478894" y="2597397"/>
            <a:ext cx="801802" cy="609600"/>
            <a:chOff x="1536" y="1536"/>
            <a:chExt cx="288" cy="384"/>
          </a:xfrm>
        </p:grpSpPr>
        <p:sp>
          <p:nvSpPr>
            <p:cNvPr id="120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1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i=11</a:t>
              </a:r>
            </a:p>
          </p:txBody>
        </p:sp>
      </p:grp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E42DFD8-5640-4F82-B0B3-DCBCA95450B7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50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10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45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46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48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9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3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4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5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6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7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8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9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0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1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2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3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7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94" name="Group 35"/>
          <p:cNvGrpSpPr>
            <a:grpSpLocks/>
          </p:cNvGrpSpPr>
          <p:nvPr/>
        </p:nvGrpSpPr>
        <p:grpSpPr bwMode="auto">
          <a:xfrm>
            <a:off x="4800601" y="4250565"/>
            <a:ext cx="5023868" cy="457200"/>
            <a:chOff x="768" y="2688"/>
            <a:chExt cx="1595" cy="288"/>
          </a:xfrm>
        </p:grpSpPr>
        <p:grpSp>
          <p:nvGrpSpPr>
            <p:cNvPr id="95" name="Group 18"/>
            <p:cNvGrpSpPr>
              <a:grpSpLocks/>
            </p:cNvGrpSpPr>
            <p:nvPr/>
          </p:nvGrpSpPr>
          <p:grpSpPr bwMode="auto">
            <a:xfrm>
              <a:off x="1746" y="2720"/>
              <a:ext cx="617" cy="208"/>
              <a:chOff x="1554" y="2192"/>
              <a:chExt cx="617" cy="208"/>
            </a:xfrm>
          </p:grpSpPr>
          <p:sp>
            <p:nvSpPr>
              <p:cNvPr id="97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8" name="Rectangle 20"/>
              <p:cNvSpPr>
                <a:spLocks noChangeArrowheads="1"/>
              </p:cNvSpPr>
              <p:nvPr/>
            </p:nvSpPr>
            <p:spPr bwMode="auto">
              <a:xfrm>
                <a:off x="1673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9" name="Rectangle 21"/>
              <p:cNvSpPr>
                <a:spLocks noChangeArrowheads="1"/>
              </p:cNvSpPr>
              <p:nvPr/>
            </p:nvSpPr>
            <p:spPr bwMode="auto">
              <a:xfrm>
                <a:off x="1768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100" name="Rectangle 22"/>
              <p:cNvSpPr>
                <a:spLocks noChangeArrowheads="1"/>
              </p:cNvSpPr>
              <p:nvPr/>
            </p:nvSpPr>
            <p:spPr bwMode="auto">
              <a:xfrm>
                <a:off x="187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101" name="Rectangle 23"/>
              <p:cNvSpPr>
                <a:spLocks noChangeArrowheads="1"/>
              </p:cNvSpPr>
              <p:nvPr/>
            </p:nvSpPr>
            <p:spPr bwMode="auto">
              <a:xfrm>
                <a:off x="1979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96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grpSp>
        <p:nvGrpSpPr>
          <p:cNvPr id="102" name="Group 40"/>
          <p:cNvGrpSpPr>
            <a:grpSpLocks/>
          </p:cNvGrpSpPr>
          <p:nvPr/>
        </p:nvGrpSpPr>
        <p:grpSpPr bwMode="auto">
          <a:xfrm>
            <a:off x="9337043" y="4678073"/>
            <a:ext cx="572117" cy="609600"/>
            <a:chOff x="1728" y="2976"/>
            <a:chExt cx="288" cy="384"/>
          </a:xfrm>
        </p:grpSpPr>
        <p:sp>
          <p:nvSpPr>
            <p:cNvPr id="103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j=5</a:t>
              </a:r>
            </a:p>
          </p:txBody>
        </p:sp>
        <p:sp>
          <p:nvSpPr>
            <p:cNvPr id="104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5" name="Line 36"/>
          <p:cNvSpPr>
            <a:spLocks noChangeShapeType="1"/>
          </p:cNvSpPr>
          <p:nvPr/>
        </p:nvSpPr>
        <p:spPr bwMode="auto">
          <a:xfrm>
            <a:off x="8186165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6" name="Line 36"/>
          <p:cNvSpPr>
            <a:spLocks noChangeShapeType="1"/>
          </p:cNvSpPr>
          <p:nvPr/>
        </p:nvSpPr>
        <p:spPr bwMode="auto">
          <a:xfrm>
            <a:off x="853224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7" name="Line 36"/>
          <p:cNvSpPr>
            <a:spLocks noChangeShapeType="1"/>
          </p:cNvSpPr>
          <p:nvPr/>
        </p:nvSpPr>
        <p:spPr bwMode="auto">
          <a:xfrm>
            <a:off x="8848839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0" name="Line 36"/>
          <p:cNvSpPr>
            <a:spLocks noChangeShapeType="1"/>
          </p:cNvSpPr>
          <p:nvPr/>
        </p:nvSpPr>
        <p:spPr bwMode="auto">
          <a:xfrm>
            <a:off x="9170990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" name="矩形 111"/>
          <p:cNvSpPr/>
          <p:nvPr/>
        </p:nvSpPr>
        <p:spPr>
          <a:xfrm>
            <a:off x="3027317" y="2051162"/>
            <a:ext cx="6318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问题：① 当主串中的第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个字符与模式串中的第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j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个不相等时， 如何处理？</a:t>
            </a:r>
          </a:p>
        </p:txBody>
      </p:sp>
      <p:sp>
        <p:nvSpPr>
          <p:cNvPr id="113" name="Text Box 43"/>
          <p:cNvSpPr txBox="1">
            <a:spLocks noChangeArrowheads="1"/>
          </p:cNvSpPr>
          <p:nvPr/>
        </p:nvSpPr>
        <p:spPr bwMode="auto">
          <a:xfrm>
            <a:off x="9345316" y="3709228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14" name="AutoShape 45"/>
          <p:cNvSpPr>
            <a:spLocks noChangeArrowheads="1"/>
          </p:cNvSpPr>
          <p:nvPr/>
        </p:nvSpPr>
        <p:spPr bwMode="auto">
          <a:xfrm>
            <a:off x="7833189" y="5373216"/>
            <a:ext cx="1371600" cy="609600"/>
          </a:xfrm>
          <a:prstGeom prst="wedgeEllipseCallout">
            <a:avLst>
              <a:gd name="adj1" fmla="val 67272"/>
              <a:gd name="adj2" fmla="val -24484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不同</a:t>
            </a:r>
          </a:p>
        </p:txBody>
      </p:sp>
      <p:grpSp>
        <p:nvGrpSpPr>
          <p:cNvPr id="115" name="Group 37"/>
          <p:cNvGrpSpPr>
            <a:grpSpLocks/>
          </p:cNvGrpSpPr>
          <p:nvPr/>
        </p:nvGrpSpPr>
        <p:grpSpPr bwMode="auto">
          <a:xfrm>
            <a:off x="9216455" y="2597397"/>
            <a:ext cx="801802" cy="609600"/>
            <a:chOff x="1536" y="1536"/>
            <a:chExt cx="288" cy="384"/>
          </a:xfrm>
        </p:grpSpPr>
        <p:sp>
          <p:nvSpPr>
            <p:cNvPr id="119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2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i=10</a:t>
              </a:r>
            </a:p>
          </p:txBody>
        </p: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E38C9A3-F17B-4688-89E9-2BBE572E4009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7115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3027317" y="2051162"/>
            <a:ext cx="6318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问题：① 当主串中的第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个字符与模式串中的第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j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个不相等时， 如何处理？</a:t>
            </a:r>
          </a:p>
        </p:txBody>
      </p:sp>
      <p:grpSp>
        <p:nvGrpSpPr>
          <p:cNvPr id="42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43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50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1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2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3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4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55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6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7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58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9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0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1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2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63" name="Group 35"/>
          <p:cNvGrpSpPr>
            <a:grpSpLocks/>
          </p:cNvGrpSpPr>
          <p:nvPr/>
        </p:nvGrpSpPr>
        <p:grpSpPr bwMode="auto">
          <a:xfrm>
            <a:off x="4800603" y="4250565"/>
            <a:ext cx="5409303" cy="457200"/>
            <a:chOff x="768" y="2688"/>
            <a:chExt cx="1539" cy="288"/>
          </a:xfrm>
        </p:grpSpPr>
        <p:grpSp>
          <p:nvGrpSpPr>
            <p:cNvPr id="64" name="Group 18"/>
            <p:cNvGrpSpPr>
              <a:grpSpLocks/>
            </p:cNvGrpSpPr>
            <p:nvPr/>
          </p:nvGrpSpPr>
          <p:grpSpPr bwMode="auto">
            <a:xfrm>
              <a:off x="1738" y="2720"/>
              <a:ext cx="569" cy="208"/>
              <a:chOff x="1546" y="2192"/>
              <a:chExt cx="569" cy="208"/>
            </a:xfrm>
          </p:grpSpPr>
          <p:sp>
            <p:nvSpPr>
              <p:cNvPr id="66" name="Rectangle 19"/>
              <p:cNvSpPr>
                <a:spLocks noChangeArrowheads="1"/>
              </p:cNvSpPr>
              <p:nvPr/>
            </p:nvSpPr>
            <p:spPr bwMode="auto">
              <a:xfrm>
                <a:off x="1546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7" name="Rectangle 20"/>
              <p:cNvSpPr>
                <a:spLocks noChangeArrowheads="1"/>
              </p:cNvSpPr>
              <p:nvPr/>
            </p:nvSpPr>
            <p:spPr bwMode="auto">
              <a:xfrm>
                <a:off x="1649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8" name="Rectangle 21"/>
              <p:cNvSpPr>
                <a:spLocks noChangeArrowheads="1"/>
              </p:cNvSpPr>
              <p:nvPr/>
            </p:nvSpPr>
            <p:spPr bwMode="auto">
              <a:xfrm>
                <a:off x="1746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9" name="Rectangle 22"/>
              <p:cNvSpPr>
                <a:spLocks noChangeArrowheads="1"/>
              </p:cNvSpPr>
              <p:nvPr/>
            </p:nvSpPr>
            <p:spPr bwMode="auto">
              <a:xfrm>
                <a:off x="1834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0" name="Rectangle 23"/>
              <p:cNvSpPr>
                <a:spLocks noChangeArrowheads="1"/>
              </p:cNvSpPr>
              <p:nvPr/>
            </p:nvSpPr>
            <p:spPr bwMode="auto">
              <a:xfrm>
                <a:off x="1923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65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grpSp>
        <p:nvGrpSpPr>
          <p:cNvPr id="71" name="Group 37"/>
          <p:cNvGrpSpPr>
            <a:grpSpLocks/>
          </p:cNvGrpSpPr>
          <p:nvPr/>
        </p:nvGrpSpPr>
        <p:grpSpPr bwMode="auto">
          <a:xfrm>
            <a:off x="8364945" y="2705394"/>
            <a:ext cx="457200" cy="609600"/>
            <a:chOff x="1536" y="1536"/>
            <a:chExt cx="288" cy="384"/>
          </a:xfrm>
        </p:grpSpPr>
        <p:sp>
          <p:nvSpPr>
            <p:cNvPr id="72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i=7</a:t>
              </a:r>
            </a:p>
          </p:txBody>
        </p:sp>
      </p:grpSp>
      <p:grpSp>
        <p:nvGrpSpPr>
          <p:cNvPr id="74" name="Group 40"/>
          <p:cNvGrpSpPr>
            <a:grpSpLocks/>
          </p:cNvGrpSpPr>
          <p:nvPr/>
        </p:nvGrpSpPr>
        <p:grpSpPr bwMode="auto">
          <a:xfrm>
            <a:off x="8370305" y="4713689"/>
            <a:ext cx="572117" cy="609600"/>
            <a:chOff x="1728" y="2976"/>
            <a:chExt cx="288" cy="384"/>
          </a:xfrm>
        </p:grpSpPr>
        <p:sp>
          <p:nvSpPr>
            <p:cNvPr id="75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j=1</a:t>
              </a:r>
            </a:p>
          </p:txBody>
        </p:sp>
        <p:sp>
          <p:nvSpPr>
            <p:cNvPr id="76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7" name="矩形 76"/>
          <p:cNvSpPr/>
          <p:nvPr/>
        </p:nvSpPr>
        <p:spPr>
          <a:xfrm>
            <a:off x="1919536" y="5398373"/>
            <a:ext cx="85516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主串的字符下标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回退到位置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i-j+2，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然后从模式串的第一个字符(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j=1)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开始，继续匹配过程。</a:t>
            </a:r>
          </a:p>
        </p:txBody>
      </p:sp>
      <p:sp>
        <p:nvSpPr>
          <p:cNvPr id="78" name="矩形 77"/>
          <p:cNvSpPr/>
          <p:nvPr/>
        </p:nvSpPr>
        <p:spPr>
          <a:xfrm>
            <a:off x="1919536" y="6309323"/>
            <a:ext cx="27286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的回退称为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回溯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BE7ECCE-0615-4F34-85A5-0AFF2537D9E5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65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38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39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41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5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6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47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48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49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9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0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1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2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3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4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5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0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86" name="Group 35"/>
          <p:cNvGrpSpPr>
            <a:grpSpLocks/>
          </p:cNvGrpSpPr>
          <p:nvPr/>
        </p:nvGrpSpPr>
        <p:grpSpPr bwMode="auto">
          <a:xfrm>
            <a:off x="4800601" y="4250565"/>
            <a:ext cx="5023868" cy="457200"/>
            <a:chOff x="768" y="2688"/>
            <a:chExt cx="1595" cy="288"/>
          </a:xfrm>
        </p:grpSpPr>
        <p:grpSp>
          <p:nvGrpSpPr>
            <p:cNvPr id="87" name="Group 18"/>
            <p:cNvGrpSpPr>
              <a:grpSpLocks/>
            </p:cNvGrpSpPr>
            <p:nvPr/>
          </p:nvGrpSpPr>
          <p:grpSpPr bwMode="auto">
            <a:xfrm>
              <a:off x="1746" y="2720"/>
              <a:ext cx="617" cy="208"/>
              <a:chOff x="1554" y="2192"/>
              <a:chExt cx="617" cy="208"/>
            </a:xfrm>
          </p:grpSpPr>
          <p:sp>
            <p:nvSpPr>
              <p:cNvPr id="89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0" name="Rectangle 20"/>
              <p:cNvSpPr>
                <a:spLocks noChangeArrowheads="1"/>
              </p:cNvSpPr>
              <p:nvPr/>
            </p:nvSpPr>
            <p:spPr bwMode="auto">
              <a:xfrm>
                <a:off x="1673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1" name="Rectangle 21"/>
              <p:cNvSpPr>
                <a:spLocks noChangeArrowheads="1"/>
              </p:cNvSpPr>
              <p:nvPr/>
            </p:nvSpPr>
            <p:spPr bwMode="auto">
              <a:xfrm>
                <a:off x="1768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92" name="Rectangle 22"/>
              <p:cNvSpPr>
                <a:spLocks noChangeArrowheads="1"/>
              </p:cNvSpPr>
              <p:nvPr/>
            </p:nvSpPr>
            <p:spPr bwMode="auto">
              <a:xfrm>
                <a:off x="187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3" name="Rectangle 23"/>
              <p:cNvSpPr>
                <a:spLocks noChangeArrowheads="1"/>
              </p:cNvSpPr>
              <p:nvPr/>
            </p:nvSpPr>
            <p:spPr bwMode="auto">
              <a:xfrm>
                <a:off x="1979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88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94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第六趟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i=6)</a:t>
            </a:r>
          </a:p>
        </p:txBody>
      </p:sp>
      <p:grpSp>
        <p:nvGrpSpPr>
          <p:cNvPr id="95" name="Group 40"/>
          <p:cNvGrpSpPr>
            <a:grpSpLocks/>
          </p:cNvGrpSpPr>
          <p:nvPr/>
        </p:nvGrpSpPr>
        <p:grpSpPr bwMode="auto">
          <a:xfrm>
            <a:off x="9640029" y="4672324"/>
            <a:ext cx="572117" cy="609600"/>
            <a:chOff x="1728" y="2976"/>
            <a:chExt cx="288" cy="384"/>
          </a:xfrm>
        </p:grpSpPr>
        <p:sp>
          <p:nvSpPr>
            <p:cNvPr id="96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j=6</a:t>
              </a:r>
            </a:p>
          </p:txBody>
        </p:sp>
        <p:sp>
          <p:nvSpPr>
            <p:cNvPr id="97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98" name="Line 36"/>
          <p:cNvSpPr>
            <a:spLocks noChangeShapeType="1"/>
          </p:cNvSpPr>
          <p:nvPr/>
        </p:nvSpPr>
        <p:spPr bwMode="auto">
          <a:xfrm>
            <a:off x="8186165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9" name="Line 36"/>
          <p:cNvSpPr>
            <a:spLocks noChangeShapeType="1"/>
          </p:cNvSpPr>
          <p:nvPr/>
        </p:nvSpPr>
        <p:spPr bwMode="auto">
          <a:xfrm>
            <a:off x="853224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0" name="Line 36"/>
          <p:cNvSpPr>
            <a:spLocks noChangeShapeType="1"/>
          </p:cNvSpPr>
          <p:nvPr/>
        </p:nvSpPr>
        <p:spPr bwMode="auto">
          <a:xfrm>
            <a:off x="8848839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1" name="Line 36"/>
          <p:cNvSpPr>
            <a:spLocks noChangeShapeType="1"/>
          </p:cNvSpPr>
          <p:nvPr/>
        </p:nvSpPr>
        <p:spPr bwMode="auto">
          <a:xfrm>
            <a:off x="9170990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" name="Line 36"/>
          <p:cNvSpPr>
            <a:spLocks noChangeShapeType="1"/>
          </p:cNvSpPr>
          <p:nvPr/>
        </p:nvSpPr>
        <p:spPr bwMode="auto">
          <a:xfrm>
            <a:off x="9522092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" name="AutoShape 41"/>
          <p:cNvSpPr>
            <a:spLocks noChangeArrowheads="1"/>
          </p:cNvSpPr>
          <p:nvPr/>
        </p:nvSpPr>
        <p:spPr bwMode="auto">
          <a:xfrm>
            <a:off x="6917243" y="2597397"/>
            <a:ext cx="2426245" cy="484658"/>
          </a:xfrm>
          <a:prstGeom prst="wedgeEllipseCallout">
            <a:avLst>
              <a:gd name="adj1" fmla="val 57843"/>
              <a:gd name="adj2" fmla="val 22916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5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模式串结束</a:t>
            </a:r>
          </a:p>
        </p:txBody>
      </p:sp>
      <p:sp>
        <p:nvSpPr>
          <p:cNvPr id="104" name="矩形 103"/>
          <p:cNvSpPr/>
          <p:nvPr/>
        </p:nvSpPr>
        <p:spPr>
          <a:xfrm>
            <a:off x="3027319" y="2051162"/>
            <a:ext cx="42035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问题：② 匹配成功的标志？</a:t>
            </a:r>
          </a:p>
        </p:txBody>
      </p:sp>
      <p:sp>
        <p:nvSpPr>
          <p:cNvPr id="105" name="矩形 104"/>
          <p:cNvSpPr/>
          <p:nvPr/>
        </p:nvSpPr>
        <p:spPr>
          <a:xfrm>
            <a:off x="4087053" y="2658098"/>
            <a:ext cx="1596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j&gt;</a:t>
            </a:r>
            <a:r>
              <a:rPr lang="en-US" altLang="zh-CN" dirty="0" err="1">
                <a:latin typeface="Times New Roman" pitchFamily="18" charset="0"/>
              </a:rPr>
              <a:t>StrLength</a:t>
            </a:r>
            <a:r>
              <a:rPr lang="en-US" altLang="zh-CN" dirty="0">
                <a:latin typeface="Times New Roman" pitchFamily="18" charset="0"/>
              </a:rPr>
              <a:t>(T)</a:t>
            </a:r>
            <a:endParaRPr lang="zh-CN" altLang="en-US" dirty="0"/>
          </a:p>
        </p:txBody>
      </p:sp>
      <p:grpSp>
        <p:nvGrpSpPr>
          <p:cNvPr id="106" name="Group 37"/>
          <p:cNvGrpSpPr>
            <a:grpSpLocks/>
          </p:cNvGrpSpPr>
          <p:nvPr/>
        </p:nvGrpSpPr>
        <p:grpSpPr bwMode="auto">
          <a:xfrm>
            <a:off x="9478894" y="2597397"/>
            <a:ext cx="801802" cy="609600"/>
            <a:chOff x="1536" y="1536"/>
            <a:chExt cx="288" cy="384"/>
          </a:xfrm>
        </p:grpSpPr>
        <p:sp>
          <p:nvSpPr>
            <p:cNvPr id="107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8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i=11</a:t>
              </a:r>
            </a:p>
          </p:txBody>
        </p:sp>
      </p:grpSp>
      <p:sp>
        <p:nvSpPr>
          <p:cNvPr id="109" name="矩形 108"/>
          <p:cNvSpPr/>
          <p:nvPr/>
        </p:nvSpPr>
        <p:spPr>
          <a:xfrm>
            <a:off x="7559874" y="1875729"/>
            <a:ext cx="2031326" cy="4062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模式匹配成功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E648D18B-2016-41F3-8C0B-BBE894D9A688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01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50" name="Group 34"/>
          <p:cNvGrpSpPr>
            <a:grpSpLocks/>
          </p:cNvGrpSpPr>
          <p:nvPr/>
        </p:nvGrpSpPr>
        <p:grpSpPr bwMode="auto">
          <a:xfrm>
            <a:off x="4800600" y="3259965"/>
            <a:ext cx="5832566" cy="457200"/>
            <a:chOff x="768" y="2064"/>
            <a:chExt cx="3456" cy="288"/>
          </a:xfrm>
        </p:grpSpPr>
        <p:grpSp>
          <p:nvGrpSpPr>
            <p:cNvPr id="51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53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4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5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6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57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58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59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0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1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2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63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64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65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52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66" name="Group 35"/>
          <p:cNvGrpSpPr>
            <a:grpSpLocks/>
          </p:cNvGrpSpPr>
          <p:nvPr/>
        </p:nvGrpSpPr>
        <p:grpSpPr bwMode="auto">
          <a:xfrm>
            <a:off x="4800601" y="4250565"/>
            <a:ext cx="5023868" cy="457200"/>
            <a:chOff x="768" y="2688"/>
            <a:chExt cx="1595" cy="288"/>
          </a:xfrm>
        </p:grpSpPr>
        <p:grpSp>
          <p:nvGrpSpPr>
            <p:cNvPr id="67" name="Group 18"/>
            <p:cNvGrpSpPr>
              <a:grpSpLocks/>
            </p:cNvGrpSpPr>
            <p:nvPr/>
          </p:nvGrpSpPr>
          <p:grpSpPr bwMode="auto">
            <a:xfrm>
              <a:off x="1746" y="2720"/>
              <a:ext cx="617" cy="208"/>
              <a:chOff x="1554" y="2192"/>
              <a:chExt cx="617" cy="208"/>
            </a:xfrm>
          </p:grpSpPr>
          <p:sp>
            <p:nvSpPr>
              <p:cNvPr id="69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0" name="Rectangle 20"/>
              <p:cNvSpPr>
                <a:spLocks noChangeArrowheads="1"/>
              </p:cNvSpPr>
              <p:nvPr/>
            </p:nvSpPr>
            <p:spPr bwMode="auto">
              <a:xfrm>
                <a:off x="1673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71" name="Rectangle 21"/>
              <p:cNvSpPr>
                <a:spLocks noChangeArrowheads="1"/>
              </p:cNvSpPr>
              <p:nvPr/>
            </p:nvSpPr>
            <p:spPr bwMode="auto">
              <a:xfrm>
                <a:off x="1768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72" name="Rectangle 22"/>
              <p:cNvSpPr>
                <a:spLocks noChangeArrowheads="1"/>
              </p:cNvSpPr>
              <p:nvPr/>
            </p:nvSpPr>
            <p:spPr bwMode="auto">
              <a:xfrm>
                <a:off x="187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3" name="Rectangle 23"/>
              <p:cNvSpPr>
                <a:spLocks noChangeArrowheads="1"/>
              </p:cNvSpPr>
              <p:nvPr/>
            </p:nvSpPr>
            <p:spPr bwMode="auto">
              <a:xfrm>
                <a:off x="1979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68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74" name="Text Box 32"/>
          <p:cNvSpPr txBox="1">
            <a:spLocks noChangeArrowheads="1"/>
          </p:cNvSpPr>
          <p:nvPr/>
        </p:nvSpPr>
        <p:spPr bwMode="auto">
          <a:xfrm>
            <a:off x="6096000" y="5393565"/>
            <a:ext cx="30480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第六趟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(初始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i=6)</a:t>
            </a:r>
          </a:p>
        </p:txBody>
      </p:sp>
      <p:sp>
        <p:nvSpPr>
          <p:cNvPr id="75" name="Line 36"/>
          <p:cNvSpPr>
            <a:spLocks noChangeShapeType="1"/>
          </p:cNvSpPr>
          <p:nvPr/>
        </p:nvSpPr>
        <p:spPr bwMode="auto">
          <a:xfrm>
            <a:off x="8186165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" name="Line 36"/>
          <p:cNvSpPr>
            <a:spLocks noChangeShapeType="1"/>
          </p:cNvSpPr>
          <p:nvPr/>
        </p:nvSpPr>
        <p:spPr bwMode="auto">
          <a:xfrm>
            <a:off x="8532247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" name="Line 36"/>
          <p:cNvSpPr>
            <a:spLocks noChangeShapeType="1"/>
          </p:cNvSpPr>
          <p:nvPr/>
        </p:nvSpPr>
        <p:spPr bwMode="auto">
          <a:xfrm>
            <a:off x="8848839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" name="Line 36"/>
          <p:cNvSpPr>
            <a:spLocks noChangeShapeType="1"/>
          </p:cNvSpPr>
          <p:nvPr/>
        </p:nvSpPr>
        <p:spPr bwMode="auto">
          <a:xfrm>
            <a:off x="9170990" y="3717165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0" name="Line 36"/>
          <p:cNvSpPr>
            <a:spLocks noChangeShapeType="1"/>
          </p:cNvSpPr>
          <p:nvPr/>
        </p:nvSpPr>
        <p:spPr bwMode="auto">
          <a:xfrm>
            <a:off x="9522092" y="3710327"/>
            <a:ext cx="0" cy="68580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>
            <a:off x="3027319" y="2051162"/>
            <a:ext cx="42035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问题：③ 匹配成功的返回值？</a:t>
            </a:r>
          </a:p>
        </p:txBody>
      </p:sp>
      <p:sp>
        <p:nvSpPr>
          <p:cNvPr id="114" name="矩形 113"/>
          <p:cNvSpPr/>
          <p:nvPr/>
        </p:nvSpPr>
        <p:spPr>
          <a:xfrm>
            <a:off x="4087053" y="2658098"/>
            <a:ext cx="1505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i–</a:t>
            </a:r>
            <a:r>
              <a:rPr lang="en-US" altLang="zh-CN" dirty="0" err="1">
                <a:latin typeface="Times New Roman" pitchFamily="18" charset="0"/>
              </a:rPr>
              <a:t>Strlength</a:t>
            </a:r>
            <a:r>
              <a:rPr lang="en-US" altLang="zh-CN" dirty="0">
                <a:latin typeface="Times New Roman" pitchFamily="18" charset="0"/>
              </a:rPr>
              <a:t>(T)</a:t>
            </a:r>
            <a:endParaRPr lang="zh-CN" altLang="en-US" dirty="0"/>
          </a:p>
        </p:txBody>
      </p:sp>
      <p:sp>
        <p:nvSpPr>
          <p:cNvPr id="115" name="Line 38"/>
          <p:cNvSpPr>
            <a:spLocks noChangeShapeType="1"/>
          </p:cNvSpPr>
          <p:nvPr/>
        </p:nvSpPr>
        <p:spPr bwMode="auto">
          <a:xfrm>
            <a:off x="8186165" y="2810705"/>
            <a:ext cx="0" cy="449263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16" name="Group 40"/>
          <p:cNvGrpSpPr>
            <a:grpSpLocks/>
          </p:cNvGrpSpPr>
          <p:nvPr/>
        </p:nvGrpSpPr>
        <p:grpSpPr bwMode="auto">
          <a:xfrm>
            <a:off x="9640029" y="4672324"/>
            <a:ext cx="572117" cy="609600"/>
            <a:chOff x="1728" y="2976"/>
            <a:chExt cx="288" cy="384"/>
          </a:xfrm>
        </p:grpSpPr>
        <p:sp>
          <p:nvSpPr>
            <p:cNvPr id="117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j=6</a:t>
              </a:r>
            </a:p>
          </p:txBody>
        </p:sp>
        <p:sp>
          <p:nvSpPr>
            <p:cNvPr id="118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19" name="Group 37"/>
          <p:cNvGrpSpPr>
            <a:grpSpLocks/>
          </p:cNvGrpSpPr>
          <p:nvPr/>
        </p:nvGrpSpPr>
        <p:grpSpPr bwMode="auto">
          <a:xfrm>
            <a:off x="9478894" y="2597397"/>
            <a:ext cx="801802" cy="609600"/>
            <a:chOff x="1536" y="1536"/>
            <a:chExt cx="288" cy="384"/>
          </a:xfrm>
        </p:grpSpPr>
        <p:sp>
          <p:nvSpPr>
            <p:cNvPr id="120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1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i=11</a:t>
              </a:r>
            </a:p>
          </p:txBody>
        </p:sp>
      </p:grpSp>
      <p:sp>
        <p:nvSpPr>
          <p:cNvPr id="123" name="AutoShape 41"/>
          <p:cNvSpPr>
            <a:spLocks noChangeArrowheads="1"/>
          </p:cNvSpPr>
          <p:nvPr/>
        </p:nvSpPr>
        <p:spPr bwMode="auto">
          <a:xfrm>
            <a:off x="6917243" y="2597397"/>
            <a:ext cx="2426245" cy="484658"/>
          </a:xfrm>
          <a:prstGeom prst="wedgeEllipseCallout">
            <a:avLst>
              <a:gd name="adj1" fmla="val 57843"/>
              <a:gd name="adj2" fmla="val 22916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5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模式串结束</a:t>
            </a:r>
          </a:p>
        </p:txBody>
      </p:sp>
      <p:sp>
        <p:nvSpPr>
          <p:cNvPr id="124" name="矩形 123"/>
          <p:cNvSpPr/>
          <p:nvPr/>
        </p:nvSpPr>
        <p:spPr>
          <a:xfrm>
            <a:off x="7559874" y="1875729"/>
            <a:ext cx="2031326" cy="4062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模式匹配成功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E1EC3276-09E2-4354-8673-3A83D7DD7835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39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1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46" name="Group 34"/>
          <p:cNvGrpSpPr>
            <a:grpSpLocks/>
          </p:cNvGrpSpPr>
          <p:nvPr/>
        </p:nvGrpSpPr>
        <p:grpSpPr bwMode="auto">
          <a:xfrm>
            <a:off x="1985011" y="3259965"/>
            <a:ext cx="5832566" cy="457200"/>
            <a:chOff x="768" y="2064"/>
            <a:chExt cx="3456" cy="288"/>
          </a:xfrm>
        </p:grpSpPr>
        <p:grpSp>
          <p:nvGrpSpPr>
            <p:cNvPr id="47" name="Group 4"/>
            <p:cNvGrpSpPr>
              <a:grpSpLocks/>
            </p:cNvGrpSpPr>
            <p:nvPr/>
          </p:nvGrpSpPr>
          <p:grpSpPr bwMode="auto">
            <a:xfrm>
              <a:off x="1728" y="2112"/>
              <a:ext cx="2496" cy="192"/>
              <a:chOff x="1536" y="1776"/>
              <a:chExt cx="2496" cy="192"/>
            </a:xfrm>
          </p:grpSpPr>
          <p:sp>
            <p:nvSpPr>
              <p:cNvPr id="49" name="Rectangle 5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9" name="Rectangle 6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1" name="Rectangle 8"/>
              <p:cNvSpPr>
                <a:spLocks noChangeArrowheads="1"/>
              </p:cNvSpPr>
              <p:nvPr/>
            </p:nvSpPr>
            <p:spPr bwMode="auto">
              <a:xfrm>
                <a:off x="211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2" name="Rectangle 9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3" name="Rectangle 10"/>
              <p:cNvSpPr>
                <a:spLocks noChangeArrowheads="1"/>
              </p:cNvSpPr>
              <p:nvPr/>
            </p:nvSpPr>
            <p:spPr bwMode="auto">
              <a:xfrm>
                <a:off x="249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4" name="Rectangle 11"/>
              <p:cNvSpPr>
                <a:spLocks noChangeArrowheads="1"/>
              </p:cNvSpPr>
              <p:nvPr/>
            </p:nvSpPr>
            <p:spPr bwMode="auto">
              <a:xfrm>
                <a:off x="268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5" name="Rectangle 12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86" name="Rectangle 13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7" name="Rectangle 14"/>
              <p:cNvSpPr>
                <a:spLocks noChangeArrowheads="1"/>
              </p:cNvSpPr>
              <p:nvPr/>
            </p:nvSpPr>
            <p:spPr bwMode="auto">
              <a:xfrm>
                <a:off x="3264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8" name="Rectangle 15"/>
              <p:cNvSpPr>
                <a:spLocks noChangeArrowheads="1"/>
              </p:cNvSpPr>
              <p:nvPr/>
            </p:nvSpPr>
            <p:spPr bwMode="auto">
              <a:xfrm>
                <a:off x="3456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89" name="Rectangle 16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0" name="Rectangle 17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48" name="Text Box 24"/>
            <p:cNvSpPr txBox="1">
              <a:spLocks noChangeArrowheads="1"/>
            </p:cNvSpPr>
            <p:nvPr/>
          </p:nvSpPr>
          <p:spPr bwMode="auto">
            <a:xfrm>
              <a:off x="768" y="206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主串：</a:t>
              </a:r>
            </a:p>
          </p:txBody>
        </p:sp>
      </p:grpSp>
      <p:grpSp>
        <p:nvGrpSpPr>
          <p:cNvPr id="91" name="Group 35"/>
          <p:cNvGrpSpPr>
            <a:grpSpLocks/>
          </p:cNvGrpSpPr>
          <p:nvPr/>
        </p:nvGrpSpPr>
        <p:grpSpPr bwMode="auto">
          <a:xfrm>
            <a:off x="1985014" y="4250565"/>
            <a:ext cx="8462553" cy="457200"/>
            <a:chOff x="768" y="2688"/>
            <a:chExt cx="1595" cy="288"/>
          </a:xfrm>
        </p:grpSpPr>
        <p:grpSp>
          <p:nvGrpSpPr>
            <p:cNvPr id="92" name="Group 18"/>
            <p:cNvGrpSpPr>
              <a:grpSpLocks/>
            </p:cNvGrpSpPr>
            <p:nvPr/>
          </p:nvGrpSpPr>
          <p:grpSpPr bwMode="auto">
            <a:xfrm>
              <a:off x="1746" y="2720"/>
              <a:ext cx="617" cy="208"/>
              <a:chOff x="1554" y="2192"/>
              <a:chExt cx="617" cy="208"/>
            </a:xfrm>
          </p:grpSpPr>
          <p:sp>
            <p:nvSpPr>
              <p:cNvPr id="94" name="Rectangle 19"/>
              <p:cNvSpPr>
                <a:spLocks noChangeArrowheads="1"/>
              </p:cNvSpPr>
              <p:nvPr/>
            </p:nvSpPr>
            <p:spPr bwMode="auto">
              <a:xfrm>
                <a:off x="1554" y="220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5" name="Rectangle 20"/>
              <p:cNvSpPr>
                <a:spLocks noChangeArrowheads="1"/>
              </p:cNvSpPr>
              <p:nvPr/>
            </p:nvSpPr>
            <p:spPr bwMode="auto">
              <a:xfrm>
                <a:off x="1673" y="22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96" name="Rectangle 21"/>
              <p:cNvSpPr>
                <a:spLocks noChangeArrowheads="1"/>
              </p:cNvSpPr>
              <p:nvPr/>
            </p:nvSpPr>
            <p:spPr bwMode="auto">
              <a:xfrm>
                <a:off x="1768" y="2204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97" name="Rectangle 22"/>
              <p:cNvSpPr>
                <a:spLocks noChangeArrowheads="1"/>
              </p:cNvSpPr>
              <p:nvPr/>
            </p:nvSpPr>
            <p:spPr bwMode="auto">
              <a:xfrm>
                <a:off x="1870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98" name="Rectangle 23"/>
              <p:cNvSpPr>
                <a:spLocks noChangeArrowheads="1"/>
              </p:cNvSpPr>
              <p:nvPr/>
            </p:nvSpPr>
            <p:spPr bwMode="auto">
              <a:xfrm>
                <a:off x="1979" y="21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tIns="0" rIns="18000" bIns="0" anchor="ctr"/>
              <a:lstStyle/>
              <a:p>
                <a:pPr algn="ctr"/>
                <a:r>
                  <a:rPr kumimoji="1" lang="en-US" altLang="zh-CN" sz="2800" dirty="0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93" name="Text Box 25"/>
            <p:cNvSpPr txBox="1">
              <a:spLocks noChangeArrowheads="1"/>
            </p:cNvSpPr>
            <p:nvPr/>
          </p:nvSpPr>
          <p:spPr bwMode="auto">
            <a:xfrm>
              <a:off x="768" y="26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子串：</a:t>
              </a:r>
            </a:p>
          </p:txBody>
        </p:sp>
      </p:grpSp>
      <p:sp>
        <p:nvSpPr>
          <p:cNvPr id="99" name="AutoShape 41"/>
          <p:cNvSpPr>
            <a:spLocks noChangeArrowheads="1"/>
          </p:cNvSpPr>
          <p:nvPr/>
        </p:nvSpPr>
        <p:spPr bwMode="auto">
          <a:xfrm>
            <a:off x="8222535" y="3156307"/>
            <a:ext cx="2426245" cy="484658"/>
          </a:xfrm>
          <a:prstGeom prst="wedgeEllipseCallout">
            <a:avLst>
              <a:gd name="adj1" fmla="val -70420"/>
              <a:gd name="adj2" fmla="val 12938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5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模式串结束</a:t>
            </a:r>
          </a:p>
        </p:txBody>
      </p:sp>
      <p:sp>
        <p:nvSpPr>
          <p:cNvPr id="100" name="矩形 99"/>
          <p:cNvSpPr/>
          <p:nvPr/>
        </p:nvSpPr>
        <p:spPr>
          <a:xfrm>
            <a:off x="2567611" y="2051162"/>
            <a:ext cx="42035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问题：④ 匹配失败的条件？</a:t>
            </a:r>
          </a:p>
        </p:txBody>
      </p:sp>
      <p:sp>
        <p:nvSpPr>
          <p:cNvPr id="101" name="矩形 100"/>
          <p:cNvSpPr/>
          <p:nvPr/>
        </p:nvSpPr>
        <p:spPr>
          <a:xfrm>
            <a:off x="3253358" y="2698729"/>
            <a:ext cx="3619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i &gt; </a:t>
            </a:r>
            <a:r>
              <a:rPr lang="en-US" altLang="zh-CN" dirty="0" err="1">
                <a:latin typeface="Times New Roman" pitchFamily="18" charset="0"/>
              </a:rPr>
              <a:t>Strlength</a:t>
            </a:r>
            <a:r>
              <a:rPr lang="en-US" altLang="zh-CN" dirty="0">
                <a:latin typeface="Times New Roman" pitchFamily="18" charset="0"/>
              </a:rPr>
              <a:t>(S) &amp;&amp; j&lt;= </a:t>
            </a:r>
            <a:r>
              <a:rPr lang="en-US" altLang="zh-CN" dirty="0" err="1">
                <a:latin typeface="Times New Roman" pitchFamily="18" charset="0"/>
              </a:rPr>
              <a:t>Strlength</a:t>
            </a:r>
            <a:r>
              <a:rPr lang="en-US" altLang="zh-CN" dirty="0">
                <a:latin typeface="Times New Roman" pitchFamily="18" charset="0"/>
              </a:rPr>
              <a:t>(T)</a:t>
            </a:r>
            <a:endParaRPr lang="zh-CN" altLang="en-US" dirty="0"/>
          </a:p>
        </p:txBody>
      </p:sp>
      <p:grpSp>
        <p:nvGrpSpPr>
          <p:cNvPr id="102" name="Group 40"/>
          <p:cNvGrpSpPr>
            <a:grpSpLocks/>
          </p:cNvGrpSpPr>
          <p:nvPr/>
        </p:nvGrpSpPr>
        <p:grpSpPr bwMode="auto">
          <a:xfrm>
            <a:off x="8114848" y="4824724"/>
            <a:ext cx="572117" cy="609600"/>
            <a:chOff x="1728" y="2976"/>
            <a:chExt cx="288" cy="384"/>
          </a:xfrm>
        </p:grpSpPr>
        <p:sp>
          <p:nvSpPr>
            <p:cNvPr id="103" name="Text Box 41"/>
            <p:cNvSpPr txBox="1">
              <a:spLocks noChangeArrowheads="1"/>
            </p:cNvSpPr>
            <p:nvPr/>
          </p:nvSpPr>
          <p:spPr bwMode="auto">
            <a:xfrm>
              <a:off x="172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j=2</a:t>
              </a:r>
            </a:p>
          </p:txBody>
        </p:sp>
        <p:sp>
          <p:nvSpPr>
            <p:cNvPr id="104" name="Line 42"/>
            <p:cNvSpPr>
              <a:spLocks noChangeShapeType="1"/>
            </p:cNvSpPr>
            <p:nvPr/>
          </p:nvSpPr>
          <p:spPr bwMode="auto">
            <a:xfrm flipV="1">
              <a:off x="1824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5" name="Group 37"/>
          <p:cNvGrpSpPr>
            <a:grpSpLocks/>
          </p:cNvGrpSpPr>
          <p:nvPr/>
        </p:nvGrpSpPr>
        <p:grpSpPr bwMode="auto">
          <a:xfrm>
            <a:off x="7655561" y="2610861"/>
            <a:ext cx="801802" cy="609600"/>
            <a:chOff x="1536" y="1536"/>
            <a:chExt cx="288" cy="384"/>
          </a:xfrm>
        </p:grpSpPr>
        <p:sp>
          <p:nvSpPr>
            <p:cNvPr id="106" name="Line 38"/>
            <p:cNvSpPr>
              <a:spLocks noChangeShapeType="1"/>
            </p:cNvSpPr>
            <p:nvPr/>
          </p:nvSpPr>
          <p:spPr bwMode="auto">
            <a:xfrm>
              <a:off x="1632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7" name="Text Box 39"/>
            <p:cNvSpPr txBox="1">
              <a:spLocks noChangeArrowheads="1"/>
            </p:cNvSpPr>
            <p:nvPr/>
          </p:nvSpPr>
          <p:spPr bwMode="auto">
            <a:xfrm>
              <a:off x="1536" y="1536"/>
              <a:ext cx="28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itchFamily="18" charset="0"/>
                </a:rPr>
                <a:t>i=12</a:t>
              </a:r>
            </a:p>
          </p:txBody>
        </p:sp>
      </p:grpSp>
      <p:sp>
        <p:nvSpPr>
          <p:cNvPr id="108" name="Text Box 43"/>
          <p:cNvSpPr txBox="1">
            <a:spLocks noChangeArrowheads="1"/>
          </p:cNvSpPr>
          <p:nvPr/>
        </p:nvSpPr>
        <p:spPr bwMode="auto">
          <a:xfrm>
            <a:off x="7476129" y="3717165"/>
            <a:ext cx="38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ahoma" pitchFamily="34" charset="0"/>
              </a:rPr>
              <a:t>？</a:t>
            </a:r>
          </a:p>
        </p:txBody>
      </p:sp>
      <p:sp>
        <p:nvSpPr>
          <p:cNvPr id="109" name="AutoShape 45"/>
          <p:cNvSpPr>
            <a:spLocks noChangeArrowheads="1"/>
          </p:cNvSpPr>
          <p:nvPr/>
        </p:nvSpPr>
        <p:spPr bwMode="auto">
          <a:xfrm>
            <a:off x="5225325" y="4453765"/>
            <a:ext cx="1371600" cy="609600"/>
          </a:xfrm>
          <a:prstGeom prst="wedgeEllipseCallout">
            <a:avLst>
              <a:gd name="adj1" fmla="val 118906"/>
              <a:gd name="adj2" fmla="val -11430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不同</a:t>
            </a:r>
          </a:p>
        </p:txBody>
      </p:sp>
      <p:sp>
        <p:nvSpPr>
          <p:cNvPr id="112" name="矩形 111"/>
          <p:cNvSpPr/>
          <p:nvPr/>
        </p:nvSpPr>
        <p:spPr>
          <a:xfrm>
            <a:off x="8413214" y="3818835"/>
            <a:ext cx="2031325" cy="4062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模式匹配失败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BE095E9-3B2C-4467-911D-70E9C44D1B18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15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1" grpId="0"/>
      <p:bldP spid="109" grpId="0" animBg="1"/>
      <p:bldP spid="1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495600" y="2135535"/>
            <a:ext cx="772177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Times New Roman" pitchFamily="18" charset="0"/>
              </a:rPr>
              <a:t>int</a:t>
            </a:r>
            <a:r>
              <a:rPr lang="en-US" altLang="zh-CN" dirty="0">
                <a:latin typeface="Times New Roman" pitchFamily="18" charset="0"/>
              </a:rPr>
              <a:t> Index(</a:t>
            </a:r>
            <a:r>
              <a:rPr lang="en-US" altLang="zh-CN" dirty="0" err="1">
                <a:latin typeface="Times New Roman" pitchFamily="18" charset="0"/>
              </a:rPr>
              <a:t>SString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 err="1">
                <a:latin typeface="Times New Roman" pitchFamily="18" charset="0"/>
              </a:rPr>
              <a:t>S,SString</a:t>
            </a:r>
            <a:r>
              <a:rPr lang="en-US" altLang="zh-CN" dirty="0">
                <a:latin typeface="Times New Roman" pitchFamily="18" charset="0"/>
              </a:rPr>
              <a:t> T, </a:t>
            </a:r>
            <a:r>
              <a:rPr lang="en-US" altLang="zh-CN" dirty="0" err="1">
                <a:latin typeface="Times New Roman" pitchFamily="18" charset="0"/>
              </a:rPr>
              <a:t>int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 err="1">
                <a:latin typeface="Times New Roman" pitchFamily="18" charset="0"/>
              </a:rPr>
              <a:t>pos</a:t>
            </a:r>
            <a:r>
              <a:rPr lang="en-US" altLang="zh-CN" dirty="0">
                <a:latin typeface="Times New Roman" pitchFamily="18" charset="0"/>
              </a:rPr>
              <a:t>)</a:t>
            </a:r>
          </a:p>
          <a:p>
            <a:r>
              <a:rPr lang="en-US" altLang="zh-CN" dirty="0">
                <a:latin typeface="Times New Roman" pitchFamily="18" charset="0"/>
              </a:rPr>
              <a:t>{</a:t>
            </a:r>
          </a:p>
          <a:p>
            <a:r>
              <a:rPr lang="en-US" altLang="zh-CN" dirty="0">
                <a:latin typeface="Times New Roman" pitchFamily="18" charset="0"/>
              </a:rPr>
              <a:t>            //</a:t>
            </a:r>
            <a:r>
              <a:rPr lang="zh-CN" altLang="en-US" dirty="0">
                <a:latin typeface="Times New Roman" pitchFamily="18" charset="0"/>
              </a:rPr>
              <a:t>返回子串</a:t>
            </a:r>
            <a:r>
              <a:rPr lang="en-US" altLang="zh-CN" dirty="0">
                <a:latin typeface="Times New Roman" pitchFamily="18" charset="0"/>
              </a:rPr>
              <a:t>T</a:t>
            </a:r>
            <a:r>
              <a:rPr lang="zh-CN" altLang="en-US" dirty="0">
                <a:latin typeface="Times New Roman" pitchFamily="18" charset="0"/>
              </a:rPr>
              <a:t>在主串</a:t>
            </a:r>
            <a:r>
              <a:rPr lang="en-US" altLang="zh-CN" dirty="0">
                <a:latin typeface="Times New Roman" pitchFamily="18" charset="0"/>
              </a:rPr>
              <a:t>S</a:t>
            </a:r>
            <a:r>
              <a:rPr lang="zh-CN" altLang="en-US" dirty="0">
                <a:latin typeface="Times New Roman" pitchFamily="18" charset="0"/>
              </a:rPr>
              <a:t>中从第</a:t>
            </a:r>
            <a:r>
              <a:rPr lang="en-US" altLang="zh-CN" dirty="0" err="1">
                <a:latin typeface="Times New Roman" pitchFamily="18" charset="0"/>
              </a:rPr>
              <a:t>pos</a:t>
            </a:r>
            <a:r>
              <a:rPr lang="zh-CN" altLang="en-US" dirty="0">
                <a:latin typeface="Times New Roman" pitchFamily="18" charset="0"/>
              </a:rPr>
              <a:t>个字符开始的位置</a:t>
            </a:r>
            <a:endParaRPr lang="en-US" altLang="zh-CN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            //要求</a:t>
            </a:r>
            <a:r>
              <a:rPr lang="en-US" altLang="zh-CN" dirty="0">
                <a:latin typeface="Times New Roman" pitchFamily="18" charset="0"/>
              </a:rPr>
              <a:t>T</a:t>
            </a:r>
            <a:r>
              <a:rPr lang="zh-CN" altLang="en-US" dirty="0">
                <a:latin typeface="Times New Roman" pitchFamily="18" charset="0"/>
              </a:rPr>
              <a:t>非空，1≤</a:t>
            </a:r>
            <a:r>
              <a:rPr lang="en-US" altLang="zh-CN" dirty="0" err="1">
                <a:latin typeface="Times New Roman" pitchFamily="18" charset="0"/>
              </a:rPr>
              <a:t>pos</a:t>
            </a:r>
            <a:r>
              <a:rPr lang="en-US" altLang="zh-CN" dirty="0">
                <a:latin typeface="Times New Roman" pitchFamily="18" charset="0"/>
              </a:rPr>
              <a:t> ≤</a:t>
            </a:r>
            <a:r>
              <a:rPr lang="en-US" altLang="zh-CN" dirty="0" err="1">
                <a:latin typeface="Times New Roman" pitchFamily="18" charset="0"/>
              </a:rPr>
              <a:t>Strlength</a:t>
            </a:r>
            <a:r>
              <a:rPr lang="en-US" altLang="zh-CN" dirty="0">
                <a:latin typeface="Times New Roman" pitchFamily="18" charset="0"/>
              </a:rPr>
              <a:t>(S)</a:t>
            </a:r>
          </a:p>
          <a:p>
            <a:r>
              <a:rPr lang="en-US" altLang="zh-CN" dirty="0">
                <a:latin typeface="Times New Roman" pitchFamily="18" charset="0"/>
              </a:rPr>
              <a:t>             i = </a:t>
            </a:r>
            <a:r>
              <a:rPr lang="en-US" altLang="zh-CN" dirty="0" err="1">
                <a:latin typeface="Times New Roman" pitchFamily="18" charset="0"/>
              </a:rPr>
              <a:t>pos</a:t>
            </a:r>
            <a:r>
              <a:rPr lang="en-US" altLang="zh-CN" dirty="0">
                <a:latin typeface="Times New Roman" pitchFamily="18" charset="0"/>
              </a:rPr>
              <a:t>;  j = 1;</a:t>
            </a:r>
          </a:p>
          <a:p>
            <a:r>
              <a:rPr lang="en-US" altLang="zh-CN" dirty="0">
                <a:latin typeface="Times New Roman" pitchFamily="18" charset="0"/>
              </a:rPr>
              <a:t>            while (i &lt;= </a:t>
            </a:r>
            <a:r>
              <a:rPr lang="en-US" altLang="zh-CN" dirty="0" err="1">
                <a:latin typeface="Times New Roman" pitchFamily="18" charset="0"/>
              </a:rPr>
              <a:t>Strlength</a:t>
            </a:r>
            <a:r>
              <a:rPr lang="en-US" altLang="zh-CN" dirty="0">
                <a:latin typeface="Times New Roman" pitchFamily="18" charset="0"/>
              </a:rPr>
              <a:t>(S) &amp;&amp; j &lt;= </a:t>
            </a:r>
            <a:r>
              <a:rPr lang="en-US" altLang="zh-CN" dirty="0" err="1">
                <a:latin typeface="Times New Roman" pitchFamily="18" charset="0"/>
              </a:rPr>
              <a:t>Strlength</a:t>
            </a:r>
            <a:r>
              <a:rPr lang="en-US" altLang="zh-CN" dirty="0">
                <a:latin typeface="Times New Roman" pitchFamily="18" charset="0"/>
              </a:rPr>
              <a:t>(T)) {</a:t>
            </a:r>
          </a:p>
          <a:p>
            <a:r>
              <a:rPr lang="en-US" altLang="zh-CN" dirty="0">
                <a:latin typeface="Times New Roman" pitchFamily="18" charset="0"/>
              </a:rPr>
              <a:t>                         if (S[i]==T[j]) {++i; ++j;}</a:t>
            </a:r>
          </a:p>
          <a:p>
            <a:r>
              <a:rPr lang="en-US" altLang="zh-CN" dirty="0">
                <a:latin typeface="Times New Roman" pitchFamily="18" charset="0"/>
              </a:rPr>
              <a:t>                        else {i = i-j+2;  j = 1;}</a:t>
            </a:r>
          </a:p>
          <a:p>
            <a:r>
              <a:rPr lang="en-US" altLang="zh-CN" dirty="0">
                <a:latin typeface="Times New Roman" pitchFamily="18" charset="0"/>
              </a:rPr>
              <a:t>            }// while</a:t>
            </a:r>
          </a:p>
          <a:p>
            <a:r>
              <a:rPr lang="en-US" altLang="zh-CN" dirty="0">
                <a:latin typeface="Times New Roman" pitchFamily="18" charset="0"/>
              </a:rPr>
              <a:t>            if ( j&gt; </a:t>
            </a:r>
            <a:r>
              <a:rPr lang="en-US" altLang="zh-CN" dirty="0" err="1">
                <a:latin typeface="Times New Roman" pitchFamily="18" charset="0"/>
              </a:rPr>
              <a:t>Strlength</a:t>
            </a:r>
            <a:r>
              <a:rPr lang="en-US" altLang="zh-CN" dirty="0">
                <a:latin typeface="Times New Roman" pitchFamily="18" charset="0"/>
              </a:rPr>
              <a:t>(T) )  return  (i–</a:t>
            </a:r>
            <a:r>
              <a:rPr lang="en-US" altLang="zh-CN" dirty="0" err="1">
                <a:latin typeface="Times New Roman" pitchFamily="18" charset="0"/>
              </a:rPr>
              <a:t>Strlength</a:t>
            </a:r>
            <a:r>
              <a:rPr lang="en-US" altLang="zh-CN" dirty="0">
                <a:latin typeface="Times New Roman" pitchFamily="18" charset="0"/>
              </a:rPr>
              <a:t>(T));</a:t>
            </a:r>
          </a:p>
          <a:p>
            <a:r>
              <a:rPr lang="en-US" altLang="zh-CN" dirty="0">
                <a:latin typeface="Times New Roman" pitchFamily="18" charset="0"/>
              </a:rPr>
              <a:t>            return 0;</a:t>
            </a:r>
          </a:p>
          <a:p>
            <a:r>
              <a:rPr lang="en-US" altLang="zh-CN" dirty="0">
                <a:latin typeface="Times New Roman" pitchFamily="18" charset="0"/>
              </a:rPr>
              <a:t>} //Index</a:t>
            </a:r>
            <a:endParaRPr lang="zh-CN" altLang="en-US" dirty="0"/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1729896" y="5606689"/>
            <a:ext cx="2481262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latin typeface="Times New Roman" pitchFamily="18" charset="0"/>
              </a:rPr>
              <a:t>算法时间复杂度?</a:t>
            </a:r>
          </a:p>
        </p:txBody>
      </p:sp>
      <p:sp>
        <p:nvSpPr>
          <p:cNvPr id="43" name="Rectangle 6"/>
          <p:cNvSpPr>
            <a:spLocks noChangeArrowheads="1"/>
          </p:cNvSpPr>
          <p:nvPr/>
        </p:nvSpPr>
        <p:spPr bwMode="auto">
          <a:xfrm>
            <a:off x="4517365" y="5606689"/>
            <a:ext cx="5913437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latin typeface="Times New Roman" pitchFamily="18" charset="0"/>
              </a:rPr>
              <a:t>O(n*m)</a:t>
            </a:r>
            <a:r>
              <a:rPr lang="zh-CN" altLang="en-US" sz="2400" b="1" dirty="0">
                <a:latin typeface="Times New Roman" pitchFamily="18" charset="0"/>
              </a:rPr>
              <a:t>，其中</a:t>
            </a:r>
            <a:r>
              <a:rPr lang="en-US" altLang="zh-CN" sz="2400" b="1" dirty="0">
                <a:latin typeface="Times New Roman" pitchFamily="18" charset="0"/>
              </a:rPr>
              <a:t>n</a:t>
            </a:r>
            <a:r>
              <a:rPr lang="zh-CN" altLang="en-US" sz="2400" b="1" dirty="0">
                <a:latin typeface="Times New Roman" pitchFamily="18" charset="0"/>
              </a:rPr>
              <a:t>、</a:t>
            </a:r>
            <a:r>
              <a:rPr lang="en-US" altLang="zh-CN" sz="2400" b="1" dirty="0">
                <a:latin typeface="Times New Roman" pitchFamily="18" charset="0"/>
              </a:rPr>
              <a:t>m</a:t>
            </a:r>
            <a:r>
              <a:rPr lang="zh-CN" altLang="en-US" sz="2400" b="1" dirty="0">
                <a:latin typeface="Times New Roman" pitchFamily="18" charset="0"/>
              </a:rPr>
              <a:t>分别为主串和子串长度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D039626-8BF2-4A26-BCBB-391782893077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69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24CF3-C470-6E69-72B8-4DCA15A9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>
            <a:extLst>
              <a:ext uri="{FF2B5EF4-FFF2-40B4-BE49-F238E27FC236}">
                <a16:creationId xmlns:a16="http://schemas.microsoft.com/office/drawing/2014/main" id="{0ADC51A3-F534-FD80-4136-26CA9766B420}"/>
              </a:ext>
            </a:extLst>
          </p:cNvPr>
          <p:cNvSpPr/>
          <p:nvPr/>
        </p:nvSpPr>
        <p:spPr>
          <a:xfrm>
            <a:off x="3978868" y="300823"/>
            <a:ext cx="42342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3000" b="1" dirty="0">
                <a:latin typeface="黑体" pitchFamily="49" charset="-122"/>
                <a:ea typeface="黑体" pitchFamily="49" charset="-122"/>
                <a:cs typeface="经典粗黑简" pitchFamily="49" charset="-122"/>
              </a:rPr>
              <a:t>4.3 串的模式匹配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598B32-D11D-8D63-C06F-4BAEC8062A59}"/>
              </a:ext>
            </a:extLst>
          </p:cNvPr>
          <p:cNvSpPr/>
          <p:nvPr/>
        </p:nvSpPr>
        <p:spPr>
          <a:xfrm>
            <a:off x="2107477" y="1311131"/>
            <a:ext cx="53731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.</a:t>
            </a:r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 算法二  </a:t>
            </a:r>
            <a:r>
              <a:rPr lang="zh-CN" altLang="en-US" sz="24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朴素的串匹配算法</a:t>
            </a:r>
            <a:endParaRPr lang="zh-CN" altLang="en-US" sz="24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C90F9B43-7E50-E158-70B5-CC61CBE1C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602" y="6325399"/>
            <a:ext cx="2481262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latin typeface="Times New Roman" pitchFamily="18" charset="0"/>
              </a:rPr>
              <a:t>算法时间复杂度?</a:t>
            </a:r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6125C0BD-4192-3104-EEED-F16FC7F0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071" y="6325399"/>
            <a:ext cx="5913437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latin typeface="Times New Roman" pitchFamily="18" charset="0"/>
              </a:rPr>
              <a:t>O(n*m)</a:t>
            </a:r>
            <a:r>
              <a:rPr lang="zh-CN" altLang="en-US" sz="2400" b="1" dirty="0">
                <a:latin typeface="Times New Roman" pitchFamily="18" charset="0"/>
              </a:rPr>
              <a:t>，其中</a:t>
            </a:r>
            <a:r>
              <a:rPr lang="en-US" altLang="zh-CN" sz="2400" b="1" dirty="0">
                <a:latin typeface="Times New Roman" pitchFamily="18" charset="0"/>
              </a:rPr>
              <a:t>n</a:t>
            </a:r>
            <a:r>
              <a:rPr lang="zh-CN" altLang="en-US" sz="2400" b="1" dirty="0">
                <a:latin typeface="Times New Roman" pitchFamily="18" charset="0"/>
              </a:rPr>
              <a:t>、</a:t>
            </a:r>
            <a:r>
              <a:rPr lang="en-US" altLang="zh-CN" sz="2400" b="1" dirty="0">
                <a:latin typeface="Times New Roman" pitchFamily="18" charset="0"/>
              </a:rPr>
              <a:t>m</a:t>
            </a:r>
            <a:r>
              <a:rPr lang="zh-CN" altLang="en-US" sz="2400" b="1" dirty="0">
                <a:latin typeface="Times New Roman" pitchFamily="18" charset="0"/>
              </a:rPr>
              <a:t>分别为主串和子串长度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D9BBC97-E97C-18D6-6554-125E32C1634A}"/>
              </a:ext>
            </a:extLst>
          </p:cNvPr>
          <p:cNvCxnSpPr>
            <a:cxnSpLocks/>
          </p:cNvCxnSpPr>
          <p:nvPr/>
        </p:nvCxnSpPr>
        <p:spPr>
          <a:xfrm>
            <a:off x="0" y="1010194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11C6E3D4-3587-E342-B34C-1482DB2B2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7477" y="1863389"/>
            <a:ext cx="8534398" cy="44329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44000" bIns="144000">
            <a:spAutoFit/>
          </a:bodyPr>
          <a:lstStyle/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kumimoji="1" lang="en-US" altLang="zh-CN" sz="16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BF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SqString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s</a:t>
            </a:r>
            <a:r>
              <a:rPr kumimoji="1" lang="zh-CN" altLang="en-US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SqString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t)</a:t>
            </a:r>
          </a:p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</a:t>
            </a:r>
            <a:r>
              <a:rPr kumimoji="1" lang="zh-CN" altLang="en-US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j=0;</a:t>
            </a:r>
          </a:p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&amp;&amp; j&lt;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</a:t>
            </a:r>
          </a:p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if (</a:t>
            </a:r>
            <a:r>
              <a:rPr kumimoji="1" lang="en-US" altLang="zh-CN" sz="1600" dirty="0" err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s.data</a:t>
            </a:r>
            <a:r>
              <a:rPr kumimoji="1" lang="en-US" altLang="zh-CN" sz="16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kumimoji="1" lang="en-US" altLang="zh-CN" sz="1600" dirty="0" err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16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]==</a:t>
            </a:r>
            <a:r>
              <a:rPr kumimoji="1" lang="en-US" altLang="zh-CN" sz="1600" dirty="0" err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t.data</a:t>
            </a:r>
            <a:r>
              <a:rPr kumimoji="1" lang="en-US" altLang="zh-CN" sz="16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[j]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kumimoji="1" lang="zh-CN" altLang="en-US" sz="16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</a:pPr>
            <a:r>
              <a:rPr kumimoji="1" lang="zh-CN" altLang="en-US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++;	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主串和子串依次匹配下一个字符</a:t>
            </a:r>
          </a:p>
          <a:p>
            <a:pPr algn="l">
              <a:lnSpc>
                <a:spcPts val="1900"/>
              </a:lnSpc>
            </a:pPr>
            <a:r>
              <a:rPr kumimoji="1" lang="zh-CN" altLang="en-US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j++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</a:p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else	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主串、子串指针回溯重新开始下一次匹配</a:t>
            </a:r>
          </a:p>
          <a:p>
            <a:pPr algn="l">
              <a:lnSpc>
                <a:spcPts val="1900"/>
              </a:lnSpc>
            </a:pPr>
            <a:r>
              <a:rPr kumimoji="1" lang="zh-CN" altLang="en-US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=i-j+1;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主串从下一个位置开始匹配</a:t>
            </a:r>
          </a:p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j=0; 	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子串从头开始匹配</a:t>
            </a:r>
          </a:p>
          <a:p>
            <a:pPr algn="l">
              <a:lnSpc>
                <a:spcPts val="1900"/>
              </a:lnSpc>
            </a:pPr>
            <a:r>
              <a:rPr kumimoji="1" lang="zh-CN" altLang="en-US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</a:p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(j&gt;=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或者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(j==</a:t>
            </a:r>
            <a:r>
              <a:rPr kumimoji="1" lang="en-US" altLang="zh-CN" sz="1600" dirty="0" err="1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t.length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</a:p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return(</a:t>
            </a:r>
            <a:r>
              <a:rPr kumimoji="1" lang="en-US" altLang="zh-CN" sz="1600" dirty="0" err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i-t.length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返回匹配的第一个字符的下标</a:t>
            </a:r>
          </a:p>
          <a:p>
            <a:pPr algn="l">
              <a:lnSpc>
                <a:spcPts val="1900"/>
              </a:lnSpc>
            </a:pPr>
            <a:r>
              <a:rPr kumimoji="1" lang="zh-CN" altLang="en-US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else</a:t>
            </a:r>
          </a:p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return(-1);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模式匹配不成功</a:t>
            </a:r>
          </a:p>
          <a:p>
            <a:pPr algn="l">
              <a:lnSpc>
                <a:spcPts val="1900"/>
              </a:lnSpc>
            </a:pPr>
            <a:r>
              <a:rPr kumimoji="1" lang="en-US" altLang="zh-CN" sz="1600" dirty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59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8462</Words>
  <Application>Microsoft Office PowerPoint</Application>
  <PresentationFormat>宽屏</PresentationFormat>
  <Paragraphs>1377</Paragraphs>
  <Slides>63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9" baseType="lpstr">
      <vt:lpstr>方正兰亭超细黑简体</vt:lpstr>
      <vt:lpstr>方正启体简体</vt:lpstr>
      <vt:lpstr>仿宋</vt:lpstr>
      <vt:lpstr>黑体</vt:lpstr>
      <vt:lpstr>经典粗黑简</vt:lpstr>
      <vt:lpstr>楷体</vt:lpstr>
      <vt:lpstr>宋体</vt:lpstr>
      <vt:lpstr>微软雅黑</vt:lpstr>
      <vt:lpstr>Arial</vt:lpstr>
      <vt:lpstr>Calibri</vt:lpstr>
      <vt:lpstr>Consolas</vt:lpstr>
      <vt:lpstr>Symbol</vt:lpstr>
      <vt:lpstr>Tahoma</vt:lpstr>
      <vt:lpstr>Times New Roman</vt:lpstr>
      <vt:lpstr>Wingdings</vt:lpstr>
      <vt:lpstr>Office 主题​​</vt:lpstr>
      <vt:lpstr>第4章 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 Data Structure</dc:title>
  <dc:creator>Fenghc</dc:creator>
  <cp:lastModifiedBy>User</cp:lastModifiedBy>
  <cp:revision>48</cp:revision>
  <dcterms:created xsi:type="dcterms:W3CDTF">2021-02-25T03:49:55Z</dcterms:created>
  <dcterms:modified xsi:type="dcterms:W3CDTF">2025-10-09T11:08:43Z</dcterms:modified>
</cp:coreProperties>
</file>