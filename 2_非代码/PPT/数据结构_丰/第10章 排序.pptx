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9" r:id="rId2"/>
    <p:sldId id="881" r:id="rId3"/>
    <p:sldId id="706" r:id="rId4"/>
    <p:sldId id="883" r:id="rId5"/>
    <p:sldId id="884" r:id="rId6"/>
    <p:sldId id="885" r:id="rId7"/>
    <p:sldId id="707" r:id="rId8"/>
    <p:sldId id="709" r:id="rId9"/>
    <p:sldId id="871" r:id="rId10"/>
    <p:sldId id="710" r:id="rId11"/>
    <p:sldId id="712" r:id="rId12"/>
    <p:sldId id="713" r:id="rId13"/>
    <p:sldId id="886" r:id="rId14"/>
    <p:sldId id="714" r:id="rId15"/>
    <p:sldId id="887" r:id="rId16"/>
    <p:sldId id="888" r:id="rId17"/>
    <p:sldId id="873" r:id="rId18"/>
    <p:sldId id="889" r:id="rId19"/>
    <p:sldId id="890" r:id="rId20"/>
    <p:sldId id="715" r:id="rId21"/>
    <p:sldId id="716" r:id="rId22"/>
    <p:sldId id="717" r:id="rId23"/>
    <p:sldId id="718" r:id="rId24"/>
    <p:sldId id="891" r:id="rId25"/>
    <p:sldId id="845" r:id="rId26"/>
    <p:sldId id="869" r:id="rId27"/>
    <p:sldId id="846" r:id="rId28"/>
    <p:sldId id="847" r:id="rId29"/>
    <p:sldId id="848" r:id="rId30"/>
    <p:sldId id="849" r:id="rId31"/>
    <p:sldId id="850" r:id="rId32"/>
    <p:sldId id="851" r:id="rId33"/>
    <p:sldId id="852" r:id="rId34"/>
    <p:sldId id="853" r:id="rId35"/>
    <p:sldId id="854" r:id="rId36"/>
    <p:sldId id="855" r:id="rId37"/>
    <p:sldId id="856" r:id="rId38"/>
    <p:sldId id="857" r:id="rId39"/>
    <p:sldId id="858" r:id="rId40"/>
    <p:sldId id="859" r:id="rId41"/>
    <p:sldId id="860" r:id="rId42"/>
    <p:sldId id="861" r:id="rId43"/>
    <p:sldId id="862" r:id="rId44"/>
    <p:sldId id="863" r:id="rId45"/>
    <p:sldId id="864" r:id="rId46"/>
    <p:sldId id="865" r:id="rId47"/>
    <p:sldId id="867" r:id="rId48"/>
    <p:sldId id="866" r:id="rId49"/>
    <p:sldId id="870" r:id="rId50"/>
    <p:sldId id="868" r:id="rId51"/>
    <p:sldId id="892" r:id="rId52"/>
    <p:sldId id="893" r:id="rId53"/>
    <p:sldId id="756" r:id="rId54"/>
    <p:sldId id="874" r:id="rId55"/>
    <p:sldId id="894" r:id="rId56"/>
    <p:sldId id="757" r:id="rId57"/>
    <p:sldId id="758" r:id="rId58"/>
    <p:sldId id="759" r:id="rId59"/>
    <p:sldId id="818" r:id="rId60"/>
    <p:sldId id="765" r:id="rId61"/>
    <p:sldId id="766" r:id="rId62"/>
    <p:sldId id="819" r:id="rId63"/>
    <p:sldId id="823" r:id="rId64"/>
    <p:sldId id="827" r:id="rId65"/>
    <p:sldId id="828" r:id="rId66"/>
    <p:sldId id="829" r:id="rId67"/>
    <p:sldId id="830" r:id="rId68"/>
    <p:sldId id="831" r:id="rId69"/>
    <p:sldId id="836" r:id="rId70"/>
    <p:sldId id="837" r:id="rId71"/>
    <p:sldId id="840" r:id="rId72"/>
    <p:sldId id="838" r:id="rId73"/>
    <p:sldId id="841" r:id="rId74"/>
    <p:sldId id="842" r:id="rId75"/>
    <p:sldId id="771" r:id="rId76"/>
    <p:sldId id="843" r:id="rId77"/>
    <p:sldId id="875" r:id="rId78"/>
    <p:sldId id="777" r:id="rId79"/>
    <p:sldId id="779" r:id="rId80"/>
    <p:sldId id="782" r:id="rId81"/>
    <p:sldId id="783" r:id="rId82"/>
    <p:sldId id="785" r:id="rId83"/>
    <p:sldId id="895" r:id="rId84"/>
    <p:sldId id="897" r:id="rId85"/>
    <p:sldId id="896" r:id="rId86"/>
    <p:sldId id="787" r:id="rId87"/>
    <p:sldId id="788" r:id="rId88"/>
    <p:sldId id="898" r:id="rId89"/>
    <p:sldId id="789" r:id="rId90"/>
    <p:sldId id="899" r:id="rId91"/>
    <p:sldId id="790" r:id="rId92"/>
    <p:sldId id="791" r:id="rId93"/>
    <p:sldId id="792" r:id="rId94"/>
    <p:sldId id="793" r:id="rId95"/>
    <p:sldId id="794" r:id="rId96"/>
    <p:sldId id="900" r:id="rId97"/>
    <p:sldId id="901" r:id="rId98"/>
    <p:sldId id="876" r:id="rId99"/>
    <p:sldId id="902" r:id="rId100"/>
    <p:sldId id="903" r:id="rId10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47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3E4B5A-F0DA-45DB-8057-EA84829C2A07}" type="datetimeFigureOut">
              <a:rPr lang="zh-CN" altLang="en-US" smtClean="0"/>
              <a:t>2025/10/18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3F6518-B1A6-4D8A-B838-759C894BA8CF}" type="slidenum">
              <a:rPr lang="zh-CN" altLang="en-US" smtClean="0"/>
              <a:t>‹#›</a:t>
            </a:fld>
            <a:endParaRPr lang="zh-CN" altLang="en-US"/>
          </a:p>
        </p:txBody>
      </p:sp>
    </p:spTree>
    <p:extLst>
      <p:ext uri="{BB962C8B-B14F-4D97-AF65-F5344CB8AC3E}">
        <p14:creationId xmlns:p14="http://schemas.microsoft.com/office/powerpoint/2010/main" val="47144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73</a:t>
            </a:fld>
            <a:endParaRPr lang="zh-CN" altLang="en-US"/>
          </a:p>
        </p:txBody>
      </p:sp>
    </p:spTree>
    <p:extLst>
      <p:ext uri="{BB962C8B-B14F-4D97-AF65-F5344CB8AC3E}">
        <p14:creationId xmlns:p14="http://schemas.microsoft.com/office/powerpoint/2010/main" val="1400381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74</a:t>
            </a:fld>
            <a:endParaRPr lang="zh-CN" altLang="en-US"/>
          </a:p>
        </p:txBody>
      </p:sp>
    </p:spTree>
    <p:extLst>
      <p:ext uri="{BB962C8B-B14F-4D97-AF65-F5344CB8AC3E}">
        <p14:creationId xmlns:p14="http://schemas.microsoft.com/office/powerpoint/2010/main" val="1400381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2025/10/18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8.wmf"/><Relationship Id="rId4" Type="http://schemas.openxmlformats.org/officeDocument/2006/relationships/oleObject" Target="../embeddings/oleObject2.bin"/></Relationships>
</file>

<file path=ppt/slides/_rels/slide6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9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0" y="1419497"/>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Rectangle 2"/>
          <p:cNvSpPr txBox="1">
            <a:spLocks noChangeArrowheads="1"/>
          </p:cNvSpPr>
          <p:nvPr/>
        </p:nvSpPr>
        <p:spPr bwMode="auto">
          <a:xfrm>
            <a:off x="2963652" y="473994"/>
            <a:ext cx="6264696" cy="866775"/>
          </a:xfrm>
          <a:prstGeom prst="rect">
            <a:avLst/>
          </a:prstGeom>
          <a:solidFill>
            <a:srgbClr val="FFFFFF"/>
          </a:solidFill>
          <a:ln>
            <a:solidFill>
              <a:schemeClr val="bg1"/>
            </a:solidFill>
            <a:miter lim="800000"/>
            <a:headEnd/>
            <a:tailEnd/>
          </a:ln>
        </p:spPr>
        <p:txBody>
          <a:bodyPr vert="horz" wrap="square" lIns="91440" tIns="45720" rIns="91440" bIns="45720" numCol="1" rtlCol="0" anchor="t" anchorCtr="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5400" b="1" dirty="0">
                <a:latin typeface="黑体" pitchFamily="49" charset="-122"/>
                <a:ea typeface="黑体" pitchFamily="49" charset="-122"/>
                <a:cs typeface="+mn-cs"/>
              </a:rPr>
              <a:t>第</a:t>
            </a:r>
            <a:r>
              <a:rPr lang="en-US" altLang="zh-CN" sz="5400" b="1" dirty="0">
                <a:latin typeface="黑体" pitchFamily="49" charset="-122"/>
                <a:ea typeface="黑体" pitchFamily="49" charset="-122"/>
                <a:cs typeface="+mn-cs"/>
              </a:rPr>
              <a:t>10</a:t>
            </a:r>
            <a:r>
              <a:rPr lang="zh-CN" altLang="en-US" sz="5400" b="1" dirty="0">
                <a:latin typeface="黑体" pitchFamily="49" charset="-122"/>
                <a:ea typeface="黑体" pitchFamily="49" charset="-122"/>
                <a:cs typeface="+mn-cs"/>
              </a:rPr>
              <a:t>章 内部排序</a:t>
            </a:r>
          </a:p>
        </p:txBody>
      </p:sp>
      <p:sp>
        <p:nvSpPr>
          <p:cNvPr id="9" name="Rectangle 2"/>
          <p:cNvSpPr txBox="1">
            <a:spLocks noChangeArrowheads="1"/>
          </p:cNvSpPr>
          <p:nvPr/>
        </p:nvSpPr>
        <p:spPr bwMode="auto">
          <a:xfrm>
            <a:off x="4007768" y="1667648"/>
            <a:ext cx="4177354"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10.1 </a:t>
            </a:r>
            <a:r>
              <a:rPr lang="zh-CN" altLang="en-US" dirty="0"/>
              <a:t>排序的基本概念</a:t>
            </a:r>
          </a:p>
        </p:txBody>
      </p:sp>
      <p:sp>
        <p:nvSpPr>
          <p:cNvPr id="10" name="Rectangle 2"/>
          <p:cNvSpPr txBox="1">
            <a:spLocks noChangeArrowheads="1"/>
          </p:cNvSpPr>
          <p:nvPr/>
        </p:nvSpPr>
        <p:spPr bwMode="auto">
          <a:xfrm>
            <a:off x="4007768" y="2281729"/>
            <a:ext cx="3096344" cy="584775"/>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10.2 </a:t>
            </a:r>
            <a:r>
              <a:rPr lang="zh-CN" altLang="en-US" dirty="0"/>
              <a:t>插入排序</a:t>
            </a:r>
          </a:p>
        </p:txBody>
      </p:sp>
      <p:sp>
        <p:nvSpPr>
          <p:cNvPr id="11" name="Rectangle 2"/>
          <p:cNvSpPr txBox="1">
            <a:spLocks noChangeArrowheads="1"/>
          </p:cNvSpPr>
          <p:nvPr/>
        </p:nvSpPr>
        <p:spPr bwMode="auto">
          <a:xfrm>
            <a:off x="4009740" y="2895810"/>
            <a:ext cx="3096344" cy="584775"/>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10.3 </a:t>
            </a:r>
            <a:r>
              <a:rPr lang="zh-CN" altLang="en-US" dirty="0"/>
              <a:t>交换排序</a:t>
            </a:r>
          </a:p>
        </p:txBody>
      </p:sp>
      <p:sp>
        <p:nvSpPr>
          <p:cNvPr id="12" name="Rectangle 2"/>
          <p:cNvSpPr txBox="1">
            <a:spLocks noChangeArrowheads="1"/>
          </p:cNvSpPr>
          <p:nvPr/>
        </p:nvSpPr>
        <p:spPr bwMode="auto">
          <a:xfrm>
            <a:off x="4007768" y="3509891"/>
            <a:ext cx="3096344" cy="584775"/>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10.4 </a:t>
            </a:r>
            <a:r>
              <a:rPr lang="zh-CN" altLang="en-US" dirty="0"/>
              <a:t>选择排序</a:t>
            </a:r>
          </a:p>
        </p:txBody>
      </p:sp>
      <p:sp>
        <p:nvSpPr>
          <p:cNvPr id="13" name="Rectangle 2"/>
          <p:cNvSpPr txBox="1">
            <a:spLocks noChangeArrowheads="1"/>
          </p:cNvSpPr>
          <p:nvPr/>
        </p:nvSpPr>
        <p:spPr bwMode="auto">
          <a:xfrm>
            <a:off x="4007768" y="4123972"/>
            <a:ext cx="3096344" cy="584775"/>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10.5 </a:t>
            </a:r>
            <a:r>
              <a:rPr lang="zh-CN" altLang="en-US" dirty="0"/>
              <a:t>归并排序</a:t>
            </a:r>
          </a:p>
        </p:txBody>
      </p:sp>
      <p:sp>
        <p:nvSpPr>
          <p:cNvPr id="14" name="Rectangle 2"/>
          <p:cNvSpPr txBox="1">
            <a:spLocks noChangeArrowheads="1"/>
          </p:cNvSpPr>
          <p:nvPr/>
        </p:nvSpPr>
        <p:spPr bwMode="auto">
          <a:xfrm>
            <a:off x="4007768" y="4738053"/>
            <a:ext cx="3096344" cy="584775"/>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10.6 </a:t>
            </a:r>
            <a:r>
              <a:rPr lang="zh-CN" altLang="en-US" dirty="0"/>
              <a:t>基数排序</a:t>
            </a:r>
          </a:p>
        </p:txBody>
      </p:sp>
      <p:sp>
        <p:nvSpPr>
          <p:cNvPr id="2" name="Rectangle 2">
            <a:extLst>
              <a:ext uri="{FF2B5EF4-FFF2-40B4-BE49-F238E27FC236}">
                <a16:creationId xmlns:a16="http://schemas.microsoft.com/office/drawing/2014/main" id="{8B42D7A4-762C-5F81-1415-EB08DAEDD0AB}"/>
              </a:ext>
            </a:extLst>
          </p:cNvPr>
          <p:cNvSpPr txBox="1">
            <a:spLocks noChangeArrowheads="1"/>
          </p:cNvSpPr>
          <p:nvPr/>
        </p:nvSpPr>
        <p:spPr bwMode="auto">
          <a:xfrm>
            <a:off x="4007768" y="5352134"/>
            <a:ext cx="6480720" cy="584775"/>
          </a:xfrm>
          <a:prstGeom prst="rect">
            <a:avLst/>
          </a:prstGeom>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3200">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10.7 </a:t>
            </a:r>
            <a:r>
              <a:rPr lang="zh-CN" altLang="en-US" dirty="0"/>
              <a:t>各种内排序方法的比较和选择</a:t>
            </a:r>
          </a:p>
        </p:txBody>
      </p:sp>
    </p:spTree>
    <p:extLst>
      <p:ext uri="{BB962C8B-B14F-4D97-AF65-F5344CB8AC3E}">
        <p14:creationId xmlns:p14="http://schemas.microsoft.com/office/powerpoint/2010/main" val="301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E963B-4915-C37C-5FCA-03D54B8D1B44}"/>
            </a:ext>
          </a:extLst>
        </p:cNvPr>
        <p:cNvGrpSpPr/>
        <p:nvPr/>
      </p:nvGrpSpPr>
      <p:grpSpPr>
        <a:xfrm>
          <a:off x="0" y="0"/>
          <a:ext cx="0" cy="0"/>
          <a:chOff x="0" y="0"/>
          <a:chExt cx="0" cy="0"/>
        </a:xfrm>
      </p:grpSpPr>
      <p:sp>
        <p:nvSpPr>
          <p:cNvPr id="9" name="Rectangle 3">
            <a:extLst>
              <a:ext uri="{FF2B5EF4-FFF2-40B4-BE49-F238E27FC236}">
                <a16:creationId xmlns:a16="http://schemas.microsoft.com/office/drawing/2014/main" id="{3947AF20-4C59-63BF-7198-F24F632C10A6}"/>
              </a:ext>
            </a:extLst>
          </p:cNvPr>
          <p:cNvSpPr txBox="1">
            <a:spLocks noChangeArrowheads="1"/>
          </p:cNvSpPr>
          <p:nvPr/>
        </p:nvSpPr>
        <p:spPr bwMode="auto">
          <a:xfrm>
            <a:off x="1343472" y="1858179"/>
            <a:ext cx="9721080" cy="7920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kumimoji="1" lang="zh-CN" altLang="en-US" sz="2400" dirty="0">
                <a:solidFill>
                  <a:srgbClr val="FF0000"/>
                </a:solidFill>
                <a:latin typeface="微软雅黑" pitchFamily="34" charset="-122"/>
                <a:ea typeface="微软雅黑" pitchFamily="34" charset="-122"/>
                <a:cs typeface="经典粗黑简" pitchFamily="49" charset="-122"/>
              </a:rPr>
              <a:t>排序</a:t>
            </a:r>
            <a:r>
              <a:rPr kumimoji="1" lang="en-US" altLang="zh-CN"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Times New Roman" pitchFamily="18" charset="0"/>
                <a:ea typeface="隶书" pitchFamily="49" charset="-122"/>
                <a:cs typeface="Times New Roman" pitchFamily="18" charset="0"/>
              </a:rPr>
              <a:t>sorting</a:t>
            </a:r>
            <a:r>
              <a:rPr kumimoji="1" lang="en-US" altLang="zh-CN" sz="2400" dirty="0">
                <a:solidFill>
                  <a:schemeClr val="tx1"/>
                </a:solidFill>
                <a:latin typeface="微软雅黑" pitchFamily="34" charset="-122"/>
                <a:ea typeface="微软雅黑" pitchFamily="34" charset="-122"/>
                <a:cs typeface="经典粗黑简" pitchFamily="49" charset="-122"/>
              </a:rPr>
              <a:t>)</a:t>
            </a:r>
            <a:r>
              <a:rPr kumimoji="1" lang="zh-CN" altLang="en-US" sz="2400" dirty="0">
                <a:solidFill>
                  <a:schemeClr val="tx1"/>
                </a:solidFill>
                <a:latin typeface="微软雅黑" pitchFamily="34" charset="-122"/>
                <a:ea typeface="微软雅黑" pitchFamily="34" charset="-122"/>
                <a:cs typeface="经典粗黑简" pitchFamily="49" charset="-122"/>
              </a:rPr>
              <a:t>：将一个数据元素的任意序列重新排列称一个按关键字有序的序列。</a:t>
            </a:r>
          </a:p>
        </p:txBody>
      </p:sp>
      <p:sp>
        <p:nvSpPr>
          <p:cNvPr id="3" name="矩形 2">
            <a:extLst>
              <a:ext uri="{FF2B5EF4-FFF2-40B4-BE49-F238E27FC236}">
                <a16:creationId xmlns:a16="http://schemas.microsoft.com/office/drawing/2014/main" id="{9CBEFA4A-5BDC-F22C-48FC-7BD9DF65A100}"/>
              </a:ext>
            </a:extLst>
          </p:cNvPr>
          <p:cNvSpPr/>
          <p:nvPr/>
        </p:nvSpPr>
        <p:spPr>
          <a:xfrm>
            <a:off x="1343472" y="2578259"/>
            <a:ext cx="9505056" cy="1446550"/>
          </a:xfrm>
          <a:prstGeom prst="rect">
            <a:avLst/>
          </a:prstGeom>
        </p:spPr>
        <p:txBody>
          <a:bodyPr wrap="square">
            <a:spAutoFit/>
          </a:bodyPr>
          <a:lstStyle/>
          <a:p>
            <a:r>
              <a:rPr kumimoji="1" lang="zh-CN" altLang="en-US" sz="2200" dirty="0">
                <a:latin typeface="微软雅黑" pitchFamily="34" charset="-122"/>
                <a:ea typeface="微软雅黑" pitchFamily="34" charset="-122"/>
                <a:cs typeface="经典粗黑简" pitchFamily="49" charset="-122"/>
              </a:rPr>
              <a:t>       假设</a:t>
            </a:r>
            <a:r>
              <a:rPr kumimoji="1" lang="en-US" altLang="zh-CN" sz="2200" dirty="0">
                <a:latin typeface="微软雅黑" pitchFamily="34" charset="-122"/>
                <a:ea typeface="微软雅黑" pitchFamily="34" charset="-122"/>
                <a:cs typeface="经典粗黑简" pitchFamily="49" charset="-122"/>
              </a:rPr>
              <a:t>n</a:t>
            </a:r>
            <a:r>
              <a:rPr kumimoji="1" lang="zh-CN" altLang="en-US" sz="2200" dirty="0">
                <a:latin typeface="微软雅黑" pitchFamily="34" charset="-122"/>
                <a:ea typeface="微软雅黑" pitchFamily="34" charset="-122"/>
                <a:cs typeface="经典粗黑简" pitchFamily="49" charset="-122"/>
              </a:rPr>
              <a:t>个元素的序列</a:t>
            </a:r>
            <a:r>
              <a:rPr lang="en-US" altLang="zh-CN" sz="2200" dirty="0">
                <a:latin typeface="Times New Roman" pitchFamily="18" charset="0"/>
                <a:ea typeface="隶书" pitchFamily="49" charset="-122"/>
                <a:cs typeface="Times New Roman" pitchFamily="18" charset="0"/>
                <a:sym typeface="Wingdings" pitchFamily="2" charset="2"/>
              </a:rPr>
              <a:t>{R</a:t>
            </a:r>
            <a:r>
              <a:rPr kumimoji="1" lang="en-US" altLang="zh-CN" sz="2400" baseline="-25000" dirty="0">
                <a:latin typeface="微软雅黑" pitchFamily="34" charset="-122"/>
                <a:ea typeface="微软雅黑" pitchFamily="34" charset="-122"/>
                <a:cs typeface="经典粗黑简" pitchFamily="49" charset="-122"/>
                <a:sym typeface="Wingdings" pitchFamily="2" charset="2"/>
              </a:rPr>
              <a:t>1</a:t>
            </a:r>
            <a:r>
              <a:rPr lang="en-US" altLang="zh-CN" sz="2200" dirty="0">
                <a:latin typeface="Times New Roman" pitchFamily="18" charset="0"/>
                <a:ea typeface="隶书" pitchFamily="49" charset="-122"/>
                <a:cs typeface="Times New Roman" pitchFamily="18" charset="0"/>
                <a:sym typeface="Wingdings" pitchFamily="2" charset="2"/>
              </a:rPr>
              <a:t>,R</a:t>
            </a:r>
            <a:r>
              <a:rPr kumimoji="1" lang="en-US" altLang="zh-CN" sz="2400" baseline="-25000" dirty="0">
                <a:latin typeface="微软雅黑" pitchFamily="34" charset="-122"/>
                <a:ea typeface="微软雅黑" pitchFamily="34" charset="-122"/>
                <a:cs typeface="经典粗黑简" pitchFamily="49" charset="-122"/>
                <a:sym typeface="Wingdings" pitchFamily="2" charset="2"/>
              </a:rPr>
              <a:t>2</a:t>
            </a:r>
            <a:r>
              <a:rPr lang="en-US" altLang="zh-CN" sz="2200" dirty="0">
                <a:latin typeface="Times New Roman" pitchFamily="18" charset="0"/>
                <a:ea typeface="隶书" pitchFamily="49" charset="-122"/>
                <a:cs typeface="Times New Roman" pitchFamily="18" charset="0"/>
                <a:sym typeface="Wingdings" pitchFamily="2" charset="2"/>
              </a:rPr>
              <a:t>,...,</a:t>
            </a:r>
            <a:r>
              <a:rPr lang="en-US" altLang="zh-CN" sz="2200" dirty="0" err="1">
                <a:latin typeface="Times New Roman" pitchFamily="18" charset="0"/>
                <a:ea typeface="隶书" pitchFamily="49" charset="-122"/>
                <a:cs typeface="Times New Roman" pitchFamily="18" charset="0"/>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n</a:t>
            </a:r>
            <a:r>
              <a:rPr lang="en-US" altLang="zh-CN" sz="2200" dirty="0">
                <a:latin typeface="Times New Roman" pitchFamily="18" charset="0"/>
                <a:ea typeface="隶书" pitchFamily="49" charset="-122"/>
                <a:cs typeface="Times New Roman" pitchFamily="18" charset="0"/>
                <a:sym typeface="Wingdings" pitchFamily="2" charset="2"/>
              </a:rPr>
              <a:t>}</a:t>
            </a:r>
            <a:r>
              <a:rPr kumimoji="1" lang="zh-CN" altLang="en-US" sz="2200" dirty="0">
                <a:latin typeface="微软雅黑" pitchFamily="34" charset="-122"/>
                <a:ea typeface="微软雅黑" pitchFamily="34" charset="-122"/>
                <a:cs typeface="经典粗黑简" pitchFamily="49" charset="-122"/>
                <a:sym typeface="Wingdings" pitchFamily="2" charset="2"/>
              </a:rPr>
              <a:t>，相应的关键字序列为</a:t>
            </a:r>
            <a:r>
              <a:rPr kumimoji="1" lang="en-US" altLang="zh-CN" sz="2200" dirty="0">
                <a:latin typeface="微软雅黑" pitchFamily="34" charset="-122"/>
                <a:ea typeface="微软雅黑" pitchFamily="34" charset="-122"/>
                <a:cs typeface="经典粗黑简" pitchFamily="49" charset="-122"/>
                <a:sym typeface="Wingdings" pitchFamily="2" charset="2"/>
              </a:rPr>
              <a:t>{</a:t>
            </a:r>
            <a:r>
              <a:rPr lang="en-US" altLang="zh-CN" sz="2200" dirty="0">
                <a:latin typeface="Times New Roman" pitchFamily="18" charset="0"/>
                <a:ea typeface="隶书" pitchFamily="49" charset="-122"/>
                <a:cs typeface="Times New Roman" pitchFamily="18" charset="0"/>
                <a:sym typeface="Wingdings" pitchFamily="2" charset="2"/>
              </a:rPr>
              <a:t>k</a:t>
            </a:r>
            <a:r>
              <a:rPr kumimoji="1" lang="en-US" altLang="zh-CN" sz="2400" baseline="-25000" dirty="0">
                <a:latin typeface="微软雅黑" pitchFamily="34" charset="-122"/>
                <a:ea typeface="微软雅黑" pitchFamily="34" charset="-122"/>
                <a:cs typeface="经典粗黑简" pitchFamily="49" charset="-122"/>
                <a:sym typeface="Wingdings" pitchFamily="2" charset="2"/>
              </a:rPr>
              <a:t>1</a:t>
            </a:r>
            <a:r>
              <a:rPr lang="en-US" altLang="zh-CN" sz="2200" dirty="0">
                <a:latin typeface="Times New Roman" pitchFamily="18" charset="0"/>
                <a:ea typeface="隶书" pitchFamily="49" charset="-122"/>
                <a:cs typeface="Times New Roman" pitchFamily="18" charset="0"/>
                <a:sym typeface="Wingdings" pitchFamily="2" charset="2"/>
              </a:rPr>
              <a:t>, k</a:t>
            </a:r>
            <a:r>
              <a:rPr kumimoji="1" lang="en-US" altLang="zh-CN" sz="2400" baseline="-25000" dirty="0">
                <a:latin typeface="微软雅黑" pitchFamily="34" charset="-122"/>
                <a:ea typeface="微软雅黑" pitchFamily="34" charset="-122"/>
                <a:cs typeface="经典粗黑简" pitchFamily="49" charset="-122"/>
                <a:sym typeface="Wingdings" pitchFamily="2" charset="2"/>
              </a:rPr>
              <a:t>2</a:t>
            </a:r>
            <a:r>
              <a:rPr lang="en-US" altLang="zh-CN" sz="2200" dirty="0">
                <a:latin typeface="Times New Roman" pitchFamily="18" charset="0"/>
                <a:ea typeface="隶书" pitchFamily="49" charset="-122"/>
                <a:cs typeface="Times New Roman" pitchFamily="18" charset="0"/>
                <a:sym typeface="Wingdings" pitchFamily="2" charset="2"/>
              </a:rPr>
              <a:t>,..., </a:t>
            </a:r>
            <a:r>
              <a:rPr lang="en-US" altLang="zh-CN" sz="2200" dirty="0" err="1">
                <a:latin typeface="Times New Roman" pitchFamily="18" charset="0"/>
                <a:ea typeface="隶书" pitchFamily="49" charset="-122"/>
                <a:cs typeface="Times New Roman" pitchFamily="18" charset="0"/>
                <a:sym typeface="Wingdings" pitchFamily="2" charset="2"/>
              </a:rPr>
              <a:t>k</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n</a:t>
            </a:r>
            <a:r>
              <a:rPr kumimoji="1" lang="en-US" altLang="zh-CN" sz="2200" dirty="0">
                <a:latin typeface="微软雅黑" pitchFamily="34" charset="-122"/>
                <a:ea typeface="微软雅黑" pitchFamily="34" charset="-122"/>
                <a:cs typeface="经典粗黑简" pitchFamily="49" charset="-122"/>
                <a:sym typeface="Wingdings" pitchFamily="2" charset="2"/>
              </a:rPr>
              <a:t>}</a:t>
            </a:r>
            <a:r>
              <a:rPr kumimoji="1" lang="zh-CN" altLang="en-US" sz="2200" dirty="0">
                <a:latin typeface="微软雅黑" pitchFamily="34" charset="-122"/>
                <a:ea typeface="微软雅黑" pitchFamily="34" charset="-122"/>
                <a:cs typeface="经典粗黑简" pitchFamily="49" charset="-122"/>
                <a:sym typeface="Wingdings" pitchFamily="2" charset="2"/>
              </a:rPr>
              <a:t>，确定</a:t>
            </a:r>
            <a:r>
              <a:rPr kumimoji="1" lang="en-US" altLang="zh-CN" sz="2200" dirty="0">
                <a:latin typeface="微软雅黑" pitchFamily="34" charset="-122"/>
                <a:ea typeface="微软雅黑" pitchFamily="34" charset="-122"/>
                <a:cs typeface="经典粗黑简" pitchFamily="49" charset="-122"/>
                <a:sym typeface="Wingdings" pitchFamily="2" charset="2"/>
              </a:rPr>
              <a:t>1,2,...,n</a:t>
            </a:r>
            <a:r>
              <a:rPr kumimoji="1" lang="zh-CN" altLang="en-US" sz="2200" dirty="0">
                <a:latin typeface="微软雅黑" pitchFamily="34" charset="-122"/>
                <a:ea typeface="微软雅黑" pitchFamily="34" charset="-122"/>
                <a:cs typeface="经典粗黑简" pitchFamily="49" charset="-122"/>
                <a:sym typeface="Wingdings" pitchFamily="2" charset="2"/>
              </a:rPr>
              <a:t>的</a:t>
            </a:r>
            <a:r>
              <a:rPr kumimoji="1" lang="zh-CN" altLang="en-US" sz="2200" dirty="0">
                <a:latin typeface="微软雅黑" pitchFamily="34" charset="-122"/>
                <a:ea typeface="微软雅黑" pitchFamily="34" charset="-122"/>
                <a:cs typeface="经典粗黑简" pitchFamily="49" charset="-122"/>
              </a:rPr>
              <a:t>一种排列</a:t>
            </a:r>
            <a:r>
              <a:rPr lang="en-US" altLang="zh-CN" sz="2200" dirty="0">
                <a:latin typeface="Times New Roman" pitchFamily="18" charset="0"/>
                <a:ea typeface="隶书" pitchFamily="49" charset="-122"/>
                <a:cs typeface="Times New Roman" pitchFamily="18" charset="0"/>
                <a:sym typeface="Wingdings" pitchFamily="2" charset="2"/>
              </a:rPr>
              <a:t>p1,p2,...,</a:t>
            </a:r>
            <a:r>
              <a:rPr lang="en-US" altLang="zh-CN" sz="2200" dirty="0" err="1">
                <a:latin typeface="Times New Roman" pitchFamily="18" charset="0"/>
                <a:ea typeface="隶书" pitchFamily="49" charset="-122"/>
                <a:cs typeface="Times New Roman" pitchFamily="18" charset="0"/>
                <a:sym typeface="Wingdings" pitchFamily="2" charset="2"/>
              </a:rPr>
              <a:t>pn</a:t>
            </a:r>
            <a:r>
              <a:rPr lang="en-US" altLang="zh-CN" sz="2200" dirty="0">
                <a:latin typeface="Times New Roman" pitchFamily="18" charset="0"/>
                <a:ea typeface="隶书" pitchFamily="49" charset="-122"/>
                <a:cs typeface="Times New Roman" pitchFamily="18" charset="0"/>
              </a:rPr>
              <a:t> </a:t>
            </a:r>
            <a:r>
              <a:rPr kumimoji="1" lang="zh-CN" altLang="en-US" sz="2200" dirty="0">
                <a:latin typeface="微软雅黑" pitchFamily="34" charset="-122"/>
                <a:ea typeface="微软雅黑" pitchFamily="34" charset="-122"/>
                <a:cs typeface="经典粗黑简" pitchFamily="49" charset="-122"/>
              </a:rPr>
              <a:t>，使相应的关键字满足非递减</a:t>
            </a:r>
            <a:r>
              <a:rPr kumimoji="1" lang="en-US" altLang="zh-CN" sz="2200" dirty="0">
                <a:latin typeface="微软雅黑" pitchFamily="34" charset="-122"/>
                <a:ea typeface="微软雅黑" pitchFamily="34" charset="-122"/>
                <a:cs typeface="经典粗黑简" pitchFamily="49" charset="-122"/>
              </a:rPr>
              <a:t>(</a:t>
            </a:r>
            <a:r>
              <a:rPr kumimoji="1" lang="zh-CN" altLang="en-US" sz="2200" dirty="0">
                <a:latin typeface="微软雅黑" pitchFamily="34" charset="-122"/>
                <a:ea typeface="微软雅黑" pitchFamily="34" charset="-122"/>
                <a:cs typeface="经典粗黑简" pitchFamily="49" charset="-122"/>
              </a:rPr>
              <a:t>或非递增</a:t>
            </a:r>
            <a:r>
              <a:rPr kumimoji="1" lang="en-US" altLang="zh-CN" sz="2200" dirty="0">
                <a:latin typeface="微软雅黑" pitchFamily="34" charset="-122"/>
                <a:ea typeface="微软雅黑" pitchFamily="34" charset="-122"/>
                <a:cs typeface="经典粗黑简" pitchFamily="49" charset="-122"/>
              </a:rPr>
              <a:t>)</a:t>
            </a:r>
            <a:r>
              <a:rPr kumimoji="1" lang="zh-CN" altLang="en-US" sz="2200" dirty="0">
                <a:latin typeface="微软雅黑" pitchFamily="34" charset="-122"/>
                <a:ea typeface="微软雅黑" pitchFamily="34" charset="-122"/>
                <a:cs typeface="经典粗黑简" pitchFamily="49" charset="-122"/>
              </a:rPr>
              <a:t>关系</a:t>
            </a:r>
            <a:r>
              <a:rPr lang="en-US" altLang="zh-CN" sz="2200" dirty="0">
                <a:latin typeface="Times New Roman" pitchFamily="18" charset="0"/>
                <a:ea typeface="隶书" pitchFamily="49" charset="-122"/>
                <a:cs typeface="Times New Roman" pitchFamily="18" charset="0"/>
                <a:sym typeface="Wingdings" pitchFamily="2" charset="2"/>
              </a:rPr>
              <a:t>kp1,kp2,...,</a:t>
            </a:r>
            <a:r>
              <a:rPr lang="en-US" altLang="zh-CN" sz="2200" dirty="0" err="1">
                <a:latin typeface="Times New Roman" pitchFamily="18" charset="0"/>
                <a:ea typeface="隶书" pitchFamily="49" charset="-122"/>
                <a:cs typeface="Times New Roman" pitchFamily="18" charset="0"/>
                <a:sym typeface="Wingdings" pitchFamily="2" charset="2"/>
              </a:rPr>
              <a:t>kpn</a:t>
            </a:r>
            <a:r>
              <a:rPr kumimoji="1" lang="zh-CN" altLang="en-US" sz="2200" dirty="0">
                <a:latin typeface="微软雅黑" pitchFamily="34" charset="-122"/>
                <a:ea typeface="微软雅黑" pitchFamily="34" charset="-122"/>
                <a:cs typeface="经典粗黑简" pitchFamily="49" charset="-122"/>
              </a:rPr>
              <a:t>，从而得到一个按照关键字有序的序列。这样的一个操作过程就是排序。</a:t>
            </a:r>
          </a:p>
        </p:txBody>
      </p:sp>
      <p:sp>
        <p:nvSpPr>
          <p:cNvPr id="14" name="矩形 13">
            <a:extLst>
              <a:ext uri="{FF2B5EF4-FFF2-40B4-BE49-F238E27FC236}">
                <a16:creationId xmlns:a16="http://schemas.microsoft.com/office/drawing/2014/main" id="{7B48D315-DF65-90FB-32BD-C4F6F0430B65}"/>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10.1 </a:t>
            </a:r>
            <a:r>
              <a:rPr lang="zh-CN" altLang="en-US" sz="3000" b="1" dirty="0">
                <a:latin typeface="黑体" pitchFamily="49" charset="-122"/>
                <a:ea typeface="黑体" pitchFamily="49" charset="-122"/>
                <a:cs typeface="经典粗黑简" pitchFamily="49" charset="-122"/>
              </a:rPr>
              <a:t>排序的基本概念</a:t>
            </a:r>
          </a:p>
        </p:txBody>
      </p:sp>
      <p:sp>
        <p:nvSpPr>
          <p:cNvPr id="15" name="矩形 14">
            <a:extLst>
              <a:ext uri="{FF2B5EF4-FFF2-40B4-BE49-F238E27FC236}">
                <a16:creationId xmlns:a16="http://schemas.microsoft.com/office/drawing/2014/main" id="{43E044E2-4CCC-BFC9-414A-DBEB5E1B4818}"/>
              </a:ext>
            </a:extLst>
          </p:cNvPr>
          <p:cNvSpPr/>
          <p:nvPr/>
        </p:nvSpPr>
        <p:spPr>
          <a:xfrm>
            <a:off x="695400" y="1099192"/>
            <a:ext cx="28083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a:t>
            </a:r>
            <a:r>
              <a:rPr lang="zh-CN" altLang="en-US" sz="2800" b="1" dirty="0">
                <a:solidFill>
                  <a:schemeClr val="bg1"/>
                </a:solidFill>
                <a:latin typeface="经典粗黑简" pitchFamily="49" charset="-122"/>
                <a:ea typeface="经典粗黑简" pitchFamily="49" charset="-122"/>
                <a:cs typeface="经典粗黑简" pitchFamily="49" charset="-122"/>
              </a:rPr>
              <a:t>、什么是排序</a:t>
            </a:r>
          </a:p>
        </p:txBody>
      </p:sp>
      <p:cxnSp>
        <p:nvCxnSpPr>
          <p:cNvPr id="10" name="直接连接符 9">
            <a:extLst>
              <a:ext uri="{FF2B5EF4-FFF2-40B4-BE49-F238E27FC236}">
                <a16:creationId xmlns:a16="http://schemas.microsoft.com/office/drawing/2014/main" id="{6391882D-A122-5960-5E56-FFBE69F6C9BD}"/>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3">
            <a:extLst>
              <a:ext uri="{FF2B5EF4-FFF2-40B4-BE49-F238E27FC236}">
                <a16:creationId xmlns:a16="http://schemas.microsoft.com/office/drawing/2014/main" id="{DC8EBDE2-A815-EE0D-A8B9-7208295BD364}"/>
              </a:ext>
            </a:extLst>
          </p:cNvPr>
          <p:cNvSpPr txBox="1">
            <a:spLocks noChangeArrowheads="1"/>
          </p:cNvSpPr>
          <p:nvPr/>
        </p:nvSpPr>
        <p:spPr bwMode="auto">
          <a:xfrm>
            <a:off x="1867701" y="6162310"/>
            <a:ext cx="7988304" cy="502702"/>
          </a:xfrm>
          <a:prstGeom prst="rect">
            <a:avLst/>
          </a:prstGeom>
          <a:noFill/>
          <a:ln w="9525">
            <a:noFill/>
            <a:miter lim="800000"/>
            <a:headEnd/>
            <a:tailEnd/>
          </a:ln>
          <a:effectLst/>
        </p:spPr>
        <p:txBody>
          <a:bodyPr wrap="square">
            <a:spAutoFit/>
          </a:bodyPr>
          <a:lstStyle/>
          <a:p>
            <a:pPr>
              <a:lnSpc>
                <a:spcPts val="3200"/>
              </a:lnSpc>
              <a:spcBef>
                <a:spcPct val="50000"/>
              </a:spcBef>
            </a:pPr>
            <a:r>
              <a:rPr lang="zh-CN" altLang="en-US" sz="2000" dirty="0">
                <a:solidFill>
                  <a:srgbClr val="FF0000"/>
                </a:solidFill>
                <a:latin typeface="Consolas" pitchFamily="49" charset="0"/>
                <a:ea typeface="华文中宋" pitchFamily="2" charset="-122"/>
                <a:cs typeface="Consolas" pitchFamily="49" charset="0"/>
              </a:rPr>
              <a:t>说明：</a:t>
            </a:r>
            <a:r>
              <a:rPr lang="zh-CN" altLang="en-US" sz="2000" dirty="0">
                <a:latin typeface="Consolas" pitchFamily="49" charset="0"/>
                <a:ea typeface="华文中宋" pitchFamily="2" charset="-122"/>
                <a:cs typeface="Consolas" pitchFamily="49" charset="0"/>
              </a:rPr>
              <a:t>排序数据中可以存在相同关键字的元素。本章仅考虑</a:t>
            </a:r>
            <a:r>
              <a:rPr lang="zh-CN" altLang="en-US" sz="2000" dirty="0">
                <a:solidFill>
                  <a:srgbClr val="FF00FF"/>
                </a:solidFill>
                <a:latin typeface="Consolas" pitchFamily="49" charset="0"/>
                <a:ea typeface="华文中宋" pitchFamily="2" charset="-122"/>
                <a:cs typeface="Consolas" pitchFamily="49" charset="0"/>
              </a:rPr>
              <a:t>递增</a:t>
            </a:r>
            <a:r>
              <a:rPr lang="zh-CN" altLang="en-US" sz="2000" dirty="0">
                <a:latin typeface="Consolas" pitchFamily="49" charset="0"/>
                <a:ea typeface="华文中宋" pitchFamily="2" charset="-122"/>
                <a:cs typeface="Consolas" pitchFamily="49" charset="0"/>
              </a:rPr>
              <a:t>排序。</a:t>
            </a:r>
          </a:p>
        </p:txBody>
      </p:sp>
      <p:sp>
        <p:nvSpPr>
          <p:cNvPr id="4" name="TextBox 5">
            <a:extLst>
              <a:ext uri="{FF2B5EF4-FFF2-40B4-BE49-F238E27FC236}">
                <a16:creationId xmlns:a16="http://schemas.microsoft.com/office/drawing/2014/main" id="{C763B837-5CFA-E797-7146-09742EA2E237}"/>
              </a:ext>
            </a:extLst>
          </p:cNvPr>
          <p:cNvSpPr txBox="1"/>
          <p:nvPr/>
        </p:nvSpPr>
        <p:spPr>
          <a:xfrm>
            <a:off x="1415480" y="4038408"/>
            <a:ext cx="8429684" cy="502702"/>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nSpc>
                <a:spcPts val="3200"/>
              </a:lnSpc>
            </a:pPr>
            <a:r>
              <a:rPr kumimoji="1" lang="en-US" altLang="zh-CN" sz="2000">
                <a:solidFill>
                  <a:srgbClr val="050507"/>
                </a:solidFill>
                <a:ea typeface="楷体" pitchFamily="49" charset="-122"/>
                <a:cs typeface="Times New Roman" pitchFamily="18" charset="0"/>
              </a:rPr>
              <a:t> </a:t>
            </a:r>
            <a:r>
              <a:rPr kumimoji="1" lang="zh-CN" altLang="en-US" sz="2000">
                <a:ea typeface="楷体" pitchFamily="49" charset="-122"/>
                <a:cs typeface="Times New Roman" pitchFamily="18" charset="0"/>
              </a:rPr>
              <a:t>所谓</a:t>
            </a:r>
            <a:r>
              <a:rPr kumimoji="1" lang="zh-CN" altLang="en-US" sz="2000">
                <a:solidFill>
                  <a:srgbClr val="FF0000"/>
                </a:solidFill>
                <a:latin typeface="方正启体简体" pitchFamily="65" charset="-122"/>
                <a:ea typeface="方正启体简体" pitchFamily="65" charset="-122"/>
                <a:cs typeface="Times New Roman" pitchFamily="18" charset="0"/>
              </a:rPr>
              <a:t>排序</a:t>
            </a:r>
            <a:r>
              <a:rPr kumimoji="1" lang="zh-CN" altLang="en-US" sz="2000">
                <a:ea typeface="楷体" pitchFamily="49" charset="-122"/>
                <a:cs typeface="Times New Roman" pitchFamily="18" charset="0"/>
              </a:rPr>
              <a:t>，是整理</a:t>
            </a:r>
            <a:r>
              <a:rPr kumimoji="1" lang="zh-CN" altLang="en-US" sz="2000" dirty="0">
                <a:ea typeface="楷体" pitchFamily="49" charset="-122"/>
                <a:cs typeface="Times New Roman" pitchFamily="18" charset="0"/>
              </a:rPr>
              <a:t>表</a:t>
            </a:r>
            <a:r>
              <a:rPr kumimoji="1" lang="zh-CN" altLang="en-US" sz="2000">
                <a:ea typeface="楷体" pitchFamily="49" charset="-122"/>
                <a:cs typeface="Times New Roman" pitchFamily="18" charset="0"/>
              </a:rPr>
              <a:t>中的元素，使</a:t>
            </a:r>
            <a:r>
              <a:rPr kumimoji="1" lang="zh-CN" altLang="en-US" sz="2000" dirty="0">
                <a:ea typeface="楷体" pitchFamily="49" charset="-122"/>
                <a:cs typeface="Times New Roman" pitchFamily="18" charset="0"/>
              </a:rPr>
              <a:t>之按关键字递增（或递减）</a:t>
            </a:r>
            <a:r>
              <a:rPr kumimoji="1" lang="zh-CN" altLang="en-US" sz="2000">
                <a:ea typeface="楷体" pitchFamily="49" charset="-122"/>
                <a:cs typeface="Times New Roman" pitchFamily="18" charset="0"/>
              </a:rPr>
              <a:t>有序排列：</a:t>
            </a:r>
            <a:endParaRPr lang="zh-CN" altLang="en-US" sz="2000" dirty="0"/>
          </a:p>
        </p:txBody>
      </p:sp>
      <p:grpSp>
        <p:nvGrpSpPr>
          <p:cNvPr id="6" name="组合 5">
            <a:extLst>
              <a:ext uri="{FF2B5EF4-FFF2-40B4-BE49-F238E27FC236}">
                <a16:creationId xmlns:a16="http://schemas.microsoft.com/office/drawing/2014/main" id="{3C7DE0C9-00AC-CD75-6C5A-C7128524A5AF}"/>
              </a:ext>
            </a:extLst>
          </p:cNvPr>
          <p:cNvGrpSpPr/>
          <p:nvPr/>
        </p:nvGrpSpPr>
        <p:grpSpPr>
          <a:xfrm>
            <a:off x="2571390" y="4633631"/>
            <a:ext cx="7265244" cy="1416388"/>
            <a:chOff x="3135692" y="2238273"/>
            <a:chExt cx="6429420" cy="1416388"/>
          </a:xfrm>
        </p:grpSpPr>
        <p:sp>
          <p:nvSpPr>
            <p:cNvPr id="13" name="TextBox 11">
              <a:extLst>
                <a:ext uri="{FF2B5EF4-FFF2-40B4-BE49-F238E27FC236}">
                  <a16:creationId xmlns:a16="http://schemas.microsoft.com/office/drawing/2014/main" id="{FEEA949A-7CD6-C804-D3D3-2EF18D8E7D9C}"/>
                </a:ext>
              </a:extLst>
            </p:cNvPr>
            <p:cNvSpPr txBox="1"/>
            <p:nvPr/>
          </p:nvSpPr>
          <p:spPr>
            <a:xfrm>
              <a:off x="3142668" y="2238273"/>
              <a:ext cx="6366201" cy="425758"/>
            </a:xfrm>
            <a:prstGeom prst="rect">
              <a:avLst/>
            </a:prstGeom>
            <a:noFill/>
          </p:spPr>
          <p:txBody>
            <a:bodyPr wrap="square" rtlCol="0">
              <a:spAutoFit/>
            </a:bodyPr>
            <a:lstStyle/>
            <a:p>
              <a:pPr>
                <a:lnSpc>
                  <a:spcPts val="2600"/>
                </a:lnSpc>
              </a:pPr>
              <a:r>
                <a:rPr kumimoji="1" lang="en-US" altLang="zh-CN" sz="2000" i="1" dirty="0">
                  <a:latin typeface="Consolas" pitchFamily="49" charset="0"/>
                  <a:ea typeface="仿宋" pitchFamily="49" charset="-122"/>
                  <a:cs typeface="Consolas" pitchFamily="49" charset="0"/>
                </a:rPr>
                <a:t>n</a:t>
              </a:r>
              <a:r>
                <a:rPr kumimoji="1" lang="zh-CN" altLang="en-US" sz="2000" dirty="0">
                  <a:latin typeface="Consolas" pitchFamily="49" charset="0"/>
                  <a:ea typeface="仿宋" pitchFamily="49" charset="-122"/>
                  <a:cs typeface="Consolas" pitchFamily="49" charset="0"/>
                </a:rPr>
                <a:t>个元素，</a:t>
              </a:r>
              <a:r>
                <a:rPr kumimoji="1" lang="en-US" altLang="zh-CN" sz="2000" i="1" dirty="0">
                  <a:latin typeface="Consolas" pitchFamily="49" charset="0"/>
                  <a:ea typeface="仿宋" pitchFamily="49" charset="-122"/>
                  <a:cs typeface="Consolas" pitchFamily="49" charset="0"/>
                </a:rPr>
                <a:t>R</a:t>
              </a:r>
              <a:r>
                <a:rPr kumimoji="1" lang="en-US" altLang="zh-CN" sz="2000" baseline="-30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R</a:t>
              </a:r>
              <a:r>
                <a:rPr kumimoji="1" lang="en-US" altLang="zh-CN" sz="2000" baseline="-30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a:t>
              </a:r>
              <a:r>
                <a:rPr kumimoji="1" lang="en-US" altLang="zh-CN" sz="2000" dirty="0">
                  <a:latin typeface="宋体" pitchFamily="2" charset="-122"/>
                  <a:ea typeface="宋体" pitchFamily="2" charset="-122"/>
                  <a:cs typeface="Consolas" pitchFamily="49" charset="0"/>
                </a:rPr>
                <a:t>…</a:t>
              </a:r>
              <a:r>
                <a:rPr kumimoji="1" lang="zh-CN" altLang="en-US"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R</a:t>
              </a:r>
              <a:r>
                <a:rPr kumimoji="1" lang="en-US" altLang="zh-CN" sz="2000" i="1" baseline="-30000" dirty="0">
                  <a:latin typeface="Consolas" pitchFamily="49" charset="0"/>
                  <a:ea typeface="仿宋" pitchFamily="49" charset="-122"/>
                  <a:cs typeface="Consolas" pitchFamily="49" charset="0"/>
                </a:rPr>
                <a:t>n</a:t>
              </a:r>
              <a:r>
                <a:rPr kumimoji="1" lang="en-US" altLang="zh-CN" sz="2000" baseline="-30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，关键字分别为</a:t>
              </a:r>
              <a:r>
                <a:rPr kumimoji="1" lang="en-US" altLang="zh-CN" sz="2000" i="1" dirty="0">
                  <a:latin typeface="Consolas" pitchFamily="49" charset="0"/>
                  <a:ea typeface="仿宋" pitchFamily="49" charset="-122"/>
                  <a:cs typeface="Consolas" pitchFamily="49" charset="0"/>
                </a:rPr>
                <a:t>k</a:t>
              </a:r>
              <a:r>
                <a:rPr kumimoji="1" lang="en-US" altLang="zh-CN" sz="2000" baseline="-30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k</a:t>
              </a:r>
              <a:r>
                <a:rPr kumimoji="1" lang="en-US" altLang="zh-CN" sz="2000" baseline="-30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a:t>
              </a:r>
              <a:r>
                <a:rPr kumimoji="1" lang="en-US" altLang="zh-CN" sz="2000" dirty="0">
                  <a:latin typeface="宋体" pitchFamily="2" charset="-122"/>
                  <a:ea typeface="宋体" pitchFamily="2" charset="-122"/>
                  <a:cs typeface="Consolas" pitchFamily="49" charset="0"/>
                </a:rPr>
                <a:t>…</a:t>
              </a:r>
              <a:r>
                <a:rPr kumimoji="1" lang="zh-CN" altLang="en-US"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k</a:t>
              </a:r>
              <a:r>
                <a:rPr kumimoji="1" lang="en-US" altLang="zh-CN" sz="2000" i="1" baseline="-30000" dirty="0">
                  <a:latin typeface="Consolas" pitchFamily="49" charset="0"/>
                  <a:ea typeface="仿宋" pitchFamily="49" charset="-122"/>
                  <a:cs typeface="Consolas" pitchFamily="49" charset="0"/>
                </a:rPr>
                <a:t>n</a:t>
              </a:r>
              <a:r>
                <a:rPr kumimoji="1" lang="en-US" altLang="zh-CN" sz="2000" baseline="-30000" dirty="0">
                  <a:latin typeface="Consolas" pitchFamily="49" charset="0"/>
                  <a:ea typeface="仿宋" pitchFamily="49" charset="-122"/>
                  <a:cs typeface="Consolas" pitchFamily="49" charset="0"/>
                </a:rPr>
                <a:t>-1</a:t>
              </a:r>
              <a:endParaRPr lang="zh-CN" altLang="en-US" sz="2000" dirty="0">
                <a:latin typeface="Consolas" pitchFamily="49" charset="0"/>
                <a:ea typeface="仿宋" pitchFamily="49" charset="-122"/>
                <a:cs typeface="Consolas" pitchFamily="49" charset="0"/>
              </a:endParaRPr>
            </a:p>
          </p:txBody>
        </p:sp>
        <p:sp>
          <p:nvSpPr>
            <p:cNvPr id="16" name="TextBox 12">
              <a:extLst>
                <a:ext uri="{FF2B5EF4-FFF2-40B4-BE49-F238E27FC236}">
                  <a16:creationId xmlns:a16="http://schemas.microsoft.com/office/drawing/2014/main" id="{4D3D660F-2506-C53C-1D81-81A57BFFA747}"/>
                </a:ext>
              </a:extLst>
            </p:cNvPr>
            <p:cNvSpPr txBox="1"/>
            <p:nvPr/>
          </p:nvSpPr>
          <p:spPr>
            <a:xfrm>
              <a:off x="3135692" y="2895479"/>
              <a:ext cx="6429420" cy="759182"/>
            </a:xfrm>
            <a:prstGeom prst="rect">
              <a:avLst/>
            </a:prstGeom>
            <a:noFill/>
          </p:spPr>
          <p:txBody>
            <a:bodyPr wrap="square" rtlCol="0">
              <a:spAutoFit/>
            </a:bodyPr>
            <a:lstStyle/>
            <a:p>
              <a:pPr>
                <a:lnSpc>
                  <a:spcPts val="2600"/>
                </a:lnSpc>
              </a:pPr>
              <a:r>
                <a:rPr kumimoji="1" lang="en-US" altLang="zh-CN" sz="2000" i="1" dirty="0">
                  <a:latin typeface="Consolas" pitchFamily="49" charset="0"/>
                  <a:ea typeface="仿宋" pitchFamily="49" charset="-122"/>
                  <a:cs typeface="Consolas" pitchFamily="49" charset="0"/>
                </a:rPr>
                <a:t>R</a:t>
              </a:r>
              <a:r>
                <a:rPr kumimoji="1" lang="en-US" altLang="zh-CN" sz="2000" i="1" baseline="-25000" dirty="0">
                  <a:latin typeface="Consolas" pitchFamily="49" charset="0"/>
                  <a:ea typeface="仿宋" pitchFamily="49" charset="-122"/>
                  <a:cs typeface="Consolas" pitchFamily="49" charset="0"/>
                </a:rPr>
                <a:t>i</a:t>
              </a:r>
              <a:r>
                <a:rPr kumimoji="1" lang="en-US" altLang="zh-CN" sz="2000" baseline="-25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R</a:t>
              </a:r>
              <a:r>
                <a:rPr kumimoji="1" lang="en-US" altLang="zh-CN" sz="2000" i="1" baseline="-25000" dirty="0">
                  <a:latin typeface="Consolas" pitchFamily="49" charset="0"/>
                  <a:ea typeface="仿宋" pitchFamily="49" charset="-122"/>
                  <a:cs typeface="Consolas" pitchFamily="49" charset="0"/>
                </a:rPr>
                <a:t>i</a:t>
              </a:r>
              <a:r>
                <a:rPr kumimoji="1" lang="en-US" altLang="zh-CN" sz="2000" baseline="-25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a:t>
              </a:r>
              <a:r>
                <a:rPr kumimoji="1" lang="en-US" altLang="zh-CN" sz="2000" dirty="0">
                  <a:latin typeface="宋体" pitchFamily="2" charset="-122"/>
                  <a:ea typeface="宋体" pitchFamily="2" charset="-122"/>
                  <a:cs typeface="Consolas" pitchFamily="49" charset="0"/>
                </a:rPr>
                <a:t>…</a:t>
              </a:r>
              <a:r>
                <a:rPr kumimoji="1" lang="zh-CN" altLang="en-US" sz="2000" dirty="0">
                  <a:latin typeface="Consolas" pitchFamily="49" charset="0"/>
                  <a:ea typeface="仿宋" pitchFamily="49" charset="-122"/>
                  <a:cs typeface="Consolas" pitchFamily="49" charset="0"/>
                </a:rPr>
                <a:t>，</a:t>
              </a:r>
              <a:r>
                <a:rPr kumimoji="1" lang="en-US" altLang="zh-CN" sz="2000" i="1" dirty="0">
                  <a:latin typeface="Consolas" pitchFamily="49" charset="0"/>
                  <a:ea typeface="仿宋" pitchFamily="49" charset="-122"/>
                  <a:cs typeface="Consolas" pitchFamily="49" charset="0"/>
                </a:rPr>
                <a:t>R</a:t>
              </a:r>
              <a:r>
                <a:rPr kumimoji="1" lang="en-US" altLang="zh-CN" sz="2000" i="1" baseline="-25000" dirty="0">
                  <a:latin typeface="Consolas" pitchFamily="49" charset="0"/>
                  <a:ea typeface="仿宋" pitchFamily="49" charset="-122"/>
                  <a:cs typeface="Consolas" pitchFamily="49" charset="0"/>
                </a:rPr>
                <a:t>i</a:t>
              </a:r>
              <a:r>
                <a:rPr kumimoji="1" lang="en-US" altLang="zh-CN" sz="2000" baseline="-25000" dirty="0">
                  <a:latin typeface="Consolas" pitchFamily="49" charset="0"/>
                  <a:ea typeface="仿宋" pitchFamily="49" charset="-122"/>
                  <a:cs typeface="Consolas" pitchFamily="49" charset="0"/>
                </a:rPr>
                <a:t>,</a:t>
              </a:r>
              <a:r>
                <a:rPr kumimoji="1" lang="en-US" altLang="zh-CN" sz="2000" i="1" baseline="-25000" dirty="0">
                  <a:latin typeface="Consolas" pitchFamily="49" charset="0"/>
                  <a:ea typeface="仿宋" pitchFamily="49" charset="-122"/>
                  <a:cs typeface="Consolas" pitchFamily="49" charset="0"/>
                </a:rPr>
                <a:t>n</a:t>
              </a:r>
              <a:r>
                <a:rPr kumimoji="1" lang="en-US" altLang="zh-CN" sz="2000" baseline="-25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，使得递增</a:t>
              </a:r>
              <a:r>
                <a:rPr kumimoji="1" lang="en-US" altLang="zh-CN" sz="2000" i="1" dirty="0">
                  <a:solidFill>
                    <a:srgbClr val="FF00FF"/>
                  </a:solidFill>
                  <a:latin typeface="Consolas" pitchFamily="49" charset="0"/>
                  <a:ea typeface="仿宋" pitchFamily="49" charset="-122"/>
                  <a:cs typeface="Consolas" pitchFamily="49" charset="0"/>
                </a:rPr>
                <a:t>k</a:t>
              </a:r>
              <a:r>
                <a:rPr kumimoji="1" lang="en-US" altLang="zh-CN" sz="2000" i="1" baseline="-25000" dirty="0">
                  <a:solidFill>
                    <a:srgbClr val="FF00FF"/>
                  </a:solidFill>
                  <a:latin typeface="Consolas" pitchFamily="49" charset="0"/>
                  <a:ea typeface="仿宋" pitchFamily="49" charset="-122"/>
                  <a:cs typeface="Consolas" pitchFamily="49" charset="0"/>
                </a:rPr>
                <a:t>i,</a:t>
              </a:r>
              <a:r>
                <a:rPr kumimoji="1" lang="en-US" altLang="zh-CN" sz="2000" baseline="-25000" dirty="0">
                  <a:solidFill>
                    <a:srgbClr val="FF00FF"/>
                  </a:solidFill>
                  <a:latin typeface="Consolas" pitchFamily="49" charset="0"/>
                  <a:ea typeface="仿宋" pitchFamily="49" charset="-122"/>
                  <a:cs typeface="Consolas" pitchFamily="49" charset="0"/>
                </a:rPr>
                <a:t>0</a:t>
              </a:r>
              <a:r>
                <a:rPr kumimoji="1" lang="en-US" altLang="zh-CN" sz="2000" baseline="-25000" dirty="0">
                  <a:solidFill>
                    <a:srgbClr val="FF00FF"/>
                  </a:solidFill>
                  <a:latin typeface="宋体" pitchFamily="2" charset="-122"/>
                  <a:ea typeface="宋体" pitchFamily="2" charset="-122"/>
                  <a:cs typeface="Consolas" pitchFamily="49" charset="0"/>
                </a:rPr>
                <a:t> </a:t>
              </a:r>
              <a:r>
                <a:rPr kumimoji="1" lang="en-US" altLang="zh-CN" sz="2000" dirty="0">
                  <a:solidFill>
                    <a:srgbClr val="FF00FF"/>
                  </a:solidFill>
                  <a:latin typeface="宋体" pitchFamily="2" charset="-122"/>
                  <a:ea typeface="宋体" pitchFamily="2" charset="-122"/>
                  <a:cs typeface="Consolas" pitchFamily="49" charset="0"/>
                </a:rPr>
                <a:t>≤</a:t>
              </a:r>
              <a:r>
                <a:rPr kumimoji="1" lang="en-US" altLang="zh-CN" sz="2000" dirty="0">
                  <a:solidFill>
                    <a:srgbClr val="FF00FF"/>
                  </a:solidFill>
                  <a:latin typeface="Consolas" pitchFamily="49" charset="0"/>
                  <a:ea typeface="仿宋" pitchFamily="49" charset="-122"/>
                  <a:cs typeface="Consolas" pitchFamily="49" charset="0"/>
                </a:rPr>
                <a:t> </a:t>
              </a:r>
              <a:r>
                <a:rPr kumimoji="1" lang="en-US" altLang="zh-CN" sz="2000" i="1" dirty="0">
                  <a:solidFill>
                    <a:srgbClr val="FF00FF"/>
                  </a:solidFill>
                  <a:latin typeface="Consolas" pitchFamily="49" charset="0"/>
                  <a:ea typeface="仿宋" pitchFamily="49" charset="-122"/>
                  <a:cs typeface="Consolas" pitchFamily="49" charset="0"/>
                </a:rPr>
                <a:t>k</a:t>
              </a:r>
              <a:r>
                <a:rPr kumimoji="1" lang="en-US" altLang="zh-CN" sz="2000" i="1" baseline="-25000" dirty="0">
                  <a:solidFill>
                    <a:srgbClr val="FF00FF"/>
                  </a:solidFill>
                  <a:latin typeface="Consolas" pitchFamily="49" charset="0"/>
                  <a:ea typeface="仿宋" pitchFamily="49" charset="-122"/>
                  <a:cs typeface="Consolas" pitchFamily="49" charset="0"/>
                </a:rPr>
                <a:t>i</a:t>
              </a:r>
              <a:r>
                <a:rPr kumimoji="1" lang="zh-CN" altLang="en-US" sz="2000" baseline="-25000" dirty="0">
                  <a:solidFill>
                    <a:srgbClr val="FF00FF"/>
                  </a:solidFill>
                  <a:latin typeface="Consolas" pitchFamily="49" charset="0"/>
                  <a:ea typeface="仿宋" pitchFamily="49" charset="-122"/>
                  <a:cs typeface="Consolas" pitchFamily="49" charset="0"/>
                </a:rPr>
                <a:t>，</a:t>
              </a:r>
              <a:r>
                <a:rPr kumimoji="1" lang="en-US" altLang="zh-CN" sz="2000" baseline="-25000" dirty="0">
                  <a:solidFill>
                    <a:srgbClr val="FF00FF"/>
                  </a:solidFill>
                  <a:latin typeface="Consolas" pitchFamily="49" charset="0"/>
                  <a:ea typeface="仿宋" pitchFamily="49" charset="-122"/>
                  <a:cs typeface="Consolas" pitchFamily="49" charset="0"/>
                </a:rPr>
                <a:t>1 </a:t>
              </a:r>
              <a:r>
                <a:rPr kumimoji="1" lang="en-US" altLang="zh-CN" sz="2000" dirty="0">
                  <a:solidFill>
                    <a:srgbClr val="FF00FF"/>
                  </a:solidFill>
                  <a:latin typeface="宋体" pitchFamily="2" charset="-122"/>
                  <a:ea typeface="宋体" pitchFamily="2" charset="-122"/>
                  <a:cs typeface="Consolas" pitchFamily="49" charset="0"/>
                </a:rPr>
                <a:t>≤ … ≤</a:t>
              </a:r>
              <a:r>
                <a:rPr kumimoji="1" lang="en-US" altLang="zh-CN" sz="2000" i="1" dirty="0">
                  <a:solidFill>
                    <a:srgbClr val="FF00FF"/>
                  </a:solidFill>
                  <a:latin typeface="Consolas" pitchFamily="49" charset="0"/>
                  <a:ea typeface="仿宋" pitchFamily="49" charset="-122"/>
                  <a:cs typeface="Consolas" pitchFamily="49" charset="0"/>
                </a:rPr>
                <a:t>k</a:t>
              </a:r>
              <a:r>
                <a:rPr kumimoji="1" lang="en-US" altLang="zh-CN" sz="2000" i="1" baseline="-25000" dirty="0">
                  <a:solidFill>
                    <a:srgbClr val="FF00FF"/>
                  </a:solidFill>
                  <a:latin typeface="Consolas" pitchFamily="49" charset="0"/>
                  <a:ea typeface="仿宋" pitchFamily="49" charset="-122"/>
                  <a:cs typeface="Consolas" pitchFamily="49" charset="0"/>
                </a:rPr>
                <a:t>i</a:t>
              </a:r>
              <a:r>
                <a:rPr kumimoji="1" lang="en-US" altLang="zh-CN" sz="2000" baseline="-25000" dirty="0">
                  <a:solidFill>
                    <a:srgbClr val="FF00FF"/>
                  </a:solidFill>
                  <a:latin typeface="Consolas" pitchFamily="49" charset="0"/>
                  <a:ea typeface="仿宋" pitchFamily="49" charset="-122"/>
                  <a:cs typeface="Consolas" pitchFamily="49" charset="0"/>
                </a:rPr>
                <a:t>,</a:t>
              </a:r>
              <a:r>
                <a:rPr kumimoji="1" lang="en-US" altLang="zh-CN" sz="2000" i="1" baseline="-25000" dirty="0">
                  <a:solidFill>
                    <a:srgbClr val="FF00FF"/>
                  </a:solidFill>
                  <a:latin typeface="Consolas" pitchFamily="49" charset="0"/>
                  <a:ea typeface="仿宋" pitchFamily="49" charset="-122"/>
                  <a:cs typeface="Consolas" pitchFamily="49" charset="0"/>
                </a:rPr>
                <a:t>n</a:t>
              </a:r>
              <a:r>
                <a:rPr kumimoji="1" lang="en-US" altLang="zh-CN" sz="2000" baseline="-25000" dirty="0">
                  <a:solidFill>
                    <a:srgbClr val="FF00FF"/>
                  </a:solidFill>
                  <a:latin typeface="Consolas" pitchFamily="49" charset="0"/>
                  <a:ea typeface="仿宋" pitchFamily="49" charset="-122"/>
                  <a:cs typeface="Consolas" pitchFamily="49" charset="0"/>
                </a:rPr>
                <a:t>-1</a:t>
              </a:r>
              <a:r>
                <a:rPr kumimoji="1" lang="en-US" altLang="zh-CN" sz="2000" b="0" dirty="0">
                  <a:latin typeface="Consolas" pitchFamily="49" charset="0"/>
                  <a:ea typeface="仿宋" pitchFamily="49" charset="-122"/>
                  <a:cs typeface="Consolas" pitchFamily="49" charset="0"/>
                </a:rPr>
                <a:t> </a:t>
              </a:r>
              <a:r>
                <a:rPr kumimoji="1" lang="zh-CN" altLang="en-US" sz="2000" dirty="0">
                  <a:latin typeface="Consolas" pitchFamily="49" charset="0"/>
                  <a:ea typeface="仿宋" pitchFamily="49" charset="-122"/>
                  <a:cs typeface="Consolas" pitchFamily="49" charset="0"/>
                </a:rPr>
                <a:t>（或递减</a:t>
              </a:r>
              <a:r>
                <a:rPr kumimoji="1" lang="en-US" altLang="zh-CN" sz="2000" i="1" dirty="0">
                  <a:solidFill>
                    <a:srgbClr val="008000"/>
                  </a:solidFill>
                  <a:latin typeface="Consolas" pitchFamily="49" charset="0"/>
                  <a:ea typeface="仿宋" pitchFamily="49" charset="-122"/>
                  <a:cs typeface="Consolas" pitchFamily="49" charset="0"/>
                </a:rPr>
                <a:t>k</a:t>
              </a:r>
              <a:r>
                <a:rPr kumimoji="1" lang="en-US" altLang="zh-CN" sz="2000" i="1" baseline="-25000" dirty="0">
                  <a:solidFill>
                    <a:srgbClr val="008000"/>
                  </a:solidFill>
                  <a:latin typeface="Consolas" pitchFamily="49" charset="0"/>
                  <a:ea typeface="仿宋" pitchFamily="49" charset="-122"/>
                  <a:cs typeface="Consolas" pitchFamily="49" charset="0"/>
                </a:rPr>
                <a:t>i</a:t>
              </a:r>
              <a:r>
                <a:rPr kumimoji="1" lang="en-US" altLang="zh-CN" sz="2000" baseline="-25000" dirty="0">
                  <a:solidFill>
                    <a:srgbClr val="008000"/>
                  </a:solidFill>
                  <a:latin typeface="Consolas" pitchFamily="49" charset="0"/>
                  <a:ea typeface="仿宋" pitchFamily="49" charset="-122"/>
                  <a:cs typeface="Consolas" pitchFamily="49" charset="0"/>
                </a:rPr>
                <a:t>,0</a:t>
              </a:r>
              <a:r>
                <a:rPr kumimoji="1" lang="en-US" altLang="zh-CN" sz="2000" dirty="0">
                  <a:solidFill>
                    <a:srgbClr val="008000"/>
                  </a:solidFill>
                  <a:latin typeface="宋体" pitchFamily="2" charset="-122"/>
                  <a:ea typeface="宋体" pitchFamily="2" charset="-122"/>
                  <a:cs typeface="Consolas" pitchFamily="49" charset="0"/>
                </a:rPr>
                <a:t>≥</a:t>
              </a:r>
              <a:r>
                <a:rPr kumimoji="1" lang="en-US" altLang="zh-CN" sz="2000" i="1" dirty="0">
                  <a:solidFill>
                    <a:srgbClr val="008000"/>
                  </a:solidFill>
                  <a:latin typeface="Consolas" pitchFamily="49" charset="0"/>
                  <a:ea typeface="仿宋" pitchFamily="49" charset="-122"/>
                  <a:cs typeface="Consolas" pitchFamily="49" charset="0"/>
                </a:rPr>
                <a:t>k</a:t>
              </a:r>
              <a:r>
                <a:rPr kumimoji="1" lang="en-US" altLang="zh-CN" sz="2000" i="1" baseline="-25000" dirty="0">
                  <a:solidFill>
                    <a:srgbClr val="008000"/>
                  </a:solidFill>
                  <a:latin typeface="Consolas" pitchFamily="49" charset="0"/>
                  <a:ea typeface="仿宋" pitchFamily="49" charset="-122"/>
                  <a:cs typeface="Consolas" pitchFamily="49" charset="0"/>
                </a:rPr>
                <a:t>i</a:t>
              </a:r>
              <a:r>
                <a:rPr kumimoji="1" lang="en-US" altLang="zh-CN" sz="2000" baseline="-25000" dirty="0">
                  <a:solidFill>
                    <a:srgbClr val="008000"/>
                  </a:solidFill>
                  <a:latin typeface="Consolas" pitchFamily="49" charset="0"/>
                  <a:ea typeface="仿宋" pitchFamily="49" charset="-122"/>
                  <a:cs typeface="Consolas" pitchFamily="49" charset="0"/>
                </a:rPr>
                <a:t>,1</a:t>
              </a:r>
              <a:r>
                <a:rPr kumimoji="1" lang="en-US" altLang="zh-CN" sz="2000" dirty="0">
                  <a:solidFill>
                    <a:srgbClr val="008000"/>
                  </a:solidFill>
                  <a:latin typeface="宋体" pitchFamily="2" charset="-122"/>
                  <a:ea typeface="宋体" pitchFamily="2" charset="-122"/>
                  <a:cs typeface="Consolas" pitchFamily="49" charset="0"/>
                </a:rPr>
                <a:t>≥ …≥</a:t>
              </a:r>
              <a:r>
                <a:rPr kumimoji="1" lang="en-US" altLang="zh-CN" sz="2000" i="1" dirty="0">
                  <a:solidFill>
                    <a:srgbClr val="008000"/>
                  </a:solidFill>
                  <a:latin typeface="Consolas" pitchFamily="49" charset="0"/>
                  <a:ea typeface="仿宋" pitchFamily="49" charset="-122"/>
                  <a:cs typeface="Consolas" pitchFamily="49" charset="0"/>
                </a:rPr>
                <a:t>k</a:t>
              </a:r>
              <a:r>
                <a:rPr kumimoji="1" lang="en-US" altLang="zh-CN" sz="2000" i="1" baseline="-25000" dirty="0">
                  <a:solidFill>
                    <a:srgbClr val="008000"/>
                  </a:solidFill>
                  <a:latin typeface="Consolas" pitchFamily="49" charset="0"/>
                  <a:ea typeface="仿宋" pitchFamily="49" charset="-122"/>
                  <a:cs typeface="Consolas" pitchFamily="49" charset="0"/>
                </a:rPr>
                <a:t>i</a:t>
              </a:r>
              <a:r>
                <a:rPr kumimoji="1" lang="en-US" altLang="zh-CN" sz="2000" baseline="-25000" dirty="0">
                  <a:solidFill>
                    <a:srgbClr val="008000"/>
                  </a:solidFill>
                  <a:latin typeface="Consolas" pitchFamily="49" charset="0"/>
                  <a:ea typeface="仿宋" pitchFamily="49" charset="-122"/>
                  <a:cs typeface="Consolas" pitchFamily="49" charset="0"/>
                </a:rPr>
                <a:t>,</a:t>
              </a:r>
              <a:r>
                <a:rPr kumimoji="1" lang="en-US" altLang="zh-CN" sz="2000" i="1" baseline="-25000" dirty="0">
                  <a:solidFill>
                    <a:srgbClr val="008000"/>
                  </a:solidFill>
                  <a:latin typeface="Consolas" pitchFamily="49" charset="0"/>
                  <a:ea typeface="仿宋" pitchFamily="49" charset="-122"/>
                  <a:cs typeface="Consolas" pitchFamily="49" charset="0"/>
                </a:rPr>
                <a:t>n</a:t>
              </a:r>
              <a:r>
                <a:rPr kumimoji="1" lang="en-US" altLang="zh-CN" sz="2000" baseline="-25000" dirty="0">
                  <a:solidFill>
                    <a:srgbClr val="008000"/>
                  </a:solidFill>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a:t>
              </a:r>
            </a:p>
          </p:txBody>
        </p:sp>
      </p:grpSp>
    </p:spTree>
    <p:extLst>
      <p:ext uri="{BB962C8B-B14F-4D97-AF65-F5344CB8AC3E}">
        <p14:creationId xmlns:p14="http://schemas.microsoft.com/office/powerpoint/2010/main" val="219831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15"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17" dur="80"/>
                                        <p:tgtEl>
                                          <p:spTgt spid="4">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D844D29-70A0-30F1-DB7D-0DA2B5064F67}"/>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10.1 </a:t>
            </a:r>
            <a:r>
              <a:rPr lang="zh-CN" altLang="en-US" sz="3000" b="1" dirty="0">
                <a:latin typeface="黑体" pitchFamily="49" charset="-122"/>
                <a:ea typeface="黑体" pitchFamily="49" charset="-122"/>
                <a:cs typeface="经典粗黑简" pitchFamily="49" charset="-122"/>
              </a:rPr>
              <a:t>排序的基本概念</a:t>
            </a:r>
          </a:p>
        </p:txBody>
      </p:sp>
      <p:sp>
        <p:nvSpPr>
          <p:cNvPr id="3" name="矩形 2">
            <a:extLst>
              <a:ext uri="{FF2B5EF4-FFF2-40B4-BE49-F238E27FC236}">
                <a16:creationId xmlns:a16="http://schemas.microsoft.com/office/drawing/2014/main" id="{4B993B3B-5DDA-0EEE-F38F-12118F893A9D}"/>
              </a:ext>
            </a:extLst>
          </p:cNvPr>
          <p:cNvSpPr/>
          <p:nvPr/>
        </p:nvSpPr>
        <p:spPr>
          <a:xfrm>
            <a:off x="695400" y="1099192"/>
            <a:ext cx="417646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2</a:t>
            </a:r>
            <a:r>
              <a:rPr lang="zh-CN" altLang="en-US" sz="2800" b="1" dirty="0">
                <a:solidFill>
                  <a:schemeClr val="bg1"/>
                </a:solidFill>
                <a:latin typeface="经典粗黑简" pitchFamily="49" charset="-122"/>
                <a:ea typeface="经典粗黑简" pitchFamily="49" charset="-122"/>
                <a:cs typeface="经典粗黑简" pitchFamily="49" charset="-122"/>
              </a:rPr>
              <a:t>、内部排序和外部排序</a:t>
            </a:r>
          </a:p>
        </p:txBody>
      </p:sp>
      <p:cxnSp>
        <p:nvCxnSpPr>
          <p:cNvPr id="4" name="直接连接符 3">
            <a:extLst>
              <a:ext uri="{FF2B5EF4-FFF2-40B4-BE49-F238E27FC236}">
                <a16:creationId xmlns:a16="http://schemas.microsoft.com/office/drawing/2014/main" id="{29DA979B-CDAD-FDB1-C59B-2E7C7C29996B}"/>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6675B4C7-40E1-EDAD-FFFB-A8CEFBB3FC43}"/>
              </a:ext>
            </a:extLst>
          </p:cNvPr>
          <p:cNvSpPr txBox="1"/>
          <p:nvPr/>
        </p:nvSpPr>
        <p:spPr>
          <a:xfrm>
            <a:off x="2135560" y="2917778"/>
            <a:ext cx="7920880" cy="830997"/>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待排序的记录数量很大，以致内存一次不能容纳全部记录，在排序过程中需要访问外存的排序过程称为</a:t>
            </a:r>
            <a:r>
              <a:rPr kumimoji="1" lang="zh-CN" altLang="en-US" sz="2400" dirty="0">
                <a:solidFill>
                  <a:srgbClr val="FF0000"/>
                </a:solidFill>
                <a:latin typeface="微软雅黑" pitchFamily="34" charset="-122"/>
                <a:ea typeface="微软雅黑" pitchFamily="34" charset="-122"/>
                <a:cs typeface="经典粗黑简" pitchFamily="49" charset="-122"/>
              </a:rPr>
              <a:t>外部排序</a:t>
            </a:r>
            <a:endParaRPr lang="zh-CN" altLang="en-US" sz="2400" dirty="0">
              <a:solidFill>
                <a:srgbClr val="FF0000"/>
              </a:solidFill>
            </a:endParaRPr>
          </a:p>
        </p:txBody>
      </p:sp>
      <p:sp>
        <p:nvSpPr>
          <p:cNvPr id="15" name="文本框 14">
            <a:extLst>
              <a:ext uri="{FF2B5EF4-FFF2-40B4-BE49-F238E27FC236}">
                <a16:creationId xmlns:a16="http://schemas.microsoft.com/office/drawing/2014/main" id="{87ED2E24-9F18-563C-C268-24BF7092388E}"/>
              </a:ext>
            </a:extLst>
          </p:cNvPr>
          <p:cNvSpPr txBox="1"/>
          <p:nvPr/>
        </p:nvSpPr>
        <p:spPr>
          <a:xfrm>
            <a:off x="2102020" y="1998309"/>
            <a:ext cx="7920879" cy="830997"/>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待排序的记录存放再计算机的内存中所进行的排序操作称为</a:t>
            </a:r>
            <a:r>
              <a:rPr kumimoji="1" lang="zh-CN" altLang="en-US" sz="2400" dirty="0">
                <a:solidFill>
                  <a:srgbClr val="FF0000"/>
                </a:solidFill>
                <a:latin typeface="微软雅黑" pitchFamily="34" charset="-122"/>
                <a:ea typeface="微软雅黑" pitchFamily="34" charset="-122"/>
                <a:cs typeface="经典粗黑简" pitchFamily="49" charset="-122"/>
              </a:rPr>
              <a:t>内部排序</a:t>
            </a:r>
            <a:r>
              <a:rPr kumimoji="1" lang="zh-CN" altLang="en-US" sz="2400" dirty="0">
                <a:latin typeface="微软雅黑" pitchFamily="34" charset="-122"/>
                <a:ea typeface="微软雅黑" pitchFamily="34" charset="-122"/>
                <a:cs typeface="经典粗黑简" pitchFamily="49" charset="-122"/>
              </a:rPr>
              <a:t>。</a:t>
            </a:r>
          </a:p>
        </p:txBody>
      </p:sp>
      <p:grpSp>
        <p:nvGrpSpPr>
          <p:cNvPr id="16" name="组合 15">
            <a:extLst>
              <a:ext uri="{FF2B5EF4-FFF2-40B4-BE49-F238E27FC236}">
                <a16:creationId xmlns:a16="http://schemas.microsoft.com/office/drawing/2014/main" id="{C4B7A799-F578-D7AB-F40E-F5FD77D2243F}"/>
              </a:ext>
            </a:extLst>
          </p:cNvPr>
          <p:cNvGrpSpPr/>
          <p:nvPr/>
        </p:nvGrpSpPr>
        <p:grpSpPr>
          <a:xfrm>
            <a:off x="5450261" y="4201366"/>
            <a:ext cx="1143008" cy="2000264"/>
            <a:chOff x="3929058" y="3571876"/>
            <a:chExt cx="1143008" cy="2000264"/>
          </a:xfrm>
        </p:grpSpPr>
        <p:sp>
          <p:nvSpPr>
            <p:cNvPr id="17" name="圆柱形 3">
              <a:extLst>
                <a:ext uri="{FF2B5EF4-FFF2-40B4-BE49-F238E27FC236}">
                  <a16:creationId xmlns:a16="http://schemas.microsoft.com/office/drawing/2014/main" id="{52F93B37-6F04-BC08-4E82-7533B0D68B94}"/>
                </a:ext>
              </a:extLst>
            </p:cNvPr>
            <p:cNvSpPr/>
            <p:nvPr/>
          </p:nvSpPr>
          <p:spPr>
            <a:xfrm>
              <a:off x="4000496" y="4857760"/>
              <a:ext cx="1071570" cy="714380"/>
            </a:xfrm>
            <a:prstGeom prst="ca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a:solidFill>
                    <a:srgbClr val="1000E4"/>
                  </a:solidFill>
                  <a:latin typeface="楷体" pitchFamily="49" charset="-122"/>
                  <a:ea typeface="楷体" pitchFamily="49" charset="-122"/>
                </a:rPr>
                <a:t>文件</a:t>
              </a:r>
            </a:p>
          </p:txBody>
        </p:sp>
        <p:sp>
          <p:nvSpPr>
            <p:cNvPr id="18" name="圆角矩形 4">
              <a:extLst>
                <a:ext uri="{FF2B5EF4-FFF2-40B4-BE49-F238E27FC236}">
                  <a16:creationId xmlns:a16="http://schemas.microsoft.com/office/drawing/2014/main" id="{234D8220-8D9B-23F8-F3C2-DB3EC9C2488A}"/>
                </a:ext>
              </a:extLst>
            </p:cNvPr>
            <p:cNvSpPr/>
            <p:nvPr/>
          </p:nvSpPr>
          <p:spPr>
            <a:xfrm>
              <a:off x="3929058" y="3571876"/>
              <a:ext cx="1143008" cy="785818"/>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a:latin typeface="楷体" pitchFamily="49" charset="-122"/>
                  <a:ea typeface="楷体" pitchFamily="49" charset="-122"/>
                </a:rPr>
                <a:t>内存</a:t>
              </a:r>
            </a:p>
          </p:txBody>
        </p:sp>
        <p:sp>
          <p:nvSpPr>
            <p:cNvPr id="19" name="上下箭头 5">
              <a:extLst>
                <a:ext uri="{FF2B5EF4-FFF2-40B4-BE49-F238E27FC236}">
                  <a16:creationId xmlns:a16="http://schemas.microsoft.com/office/drawing/2014/main" id="{5DD67A26-0BE5-2901-89C0-2DC9ED093B22}"/>
                </a:ext>
              </a:extLst>
            </p:cNvPr>
            <p:cNvSpPr/>
            <p:nvPr/>
          </p:nvSpPr>
          <p:spPr>
            <a:xfrm>
              <a:off x="4429124" y="4365632"/>
              <a:ext cx="142876" cy="500066"/>
            </a:xfrm>
            <a:prstGeom prst="upDownArrow">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000"/>
            </a:p>
          </p:txBody>
        </p:sp>
      </p:grpSp>
      <p:sp>
        <p:nvSpPr>
          <p:cNvPr id="20" name="左弧形箭头 7">
            <a:extLst>
              <a:ext uri="{FF2B5EF4-FFF2-40B4-BE49-F238E27FC236}">
                <a16:creationId xmlns:a16="http://schemas.microsoft.com/office/drawing/2014/main" id="{B311D253-A05D-C942-BAC6-2ECA89833989}"/>
              </a:ext>
            </a:extLst>
          </p:cNvPr>
          <p:cNvSpPr/>
          <p:nvPr/>
        </p:nvSpPr>
        <p:spPr>
          <a:xfrm>
            <a:off x="4878757" y="3844176"/>
            <a:ext cx="357190" cy="1214446"/>
          </a:xfrm>
          <a:prstGeom prst="curved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sz="1800">
              <a:solidFill>
                <a:schemeClr val="tx1"/>
              </a:solidFill>
            </a:endParaRPr>
          </a:p>
        </p:txBody>
      </p:sp>
    </p:spTree>
    <p:extLst>
      <p:ext uri="{BB962C8B-B14F-4D97-AF65-F5344CB8AC3E}">
        <p14:creationId xmlns:p14="http://schemas.microsoft.com/office/powerpoint/2010/main" val="182657742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A5A3-DA56-6DC2-E635-21D67197FB8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54D365B-3FBF-444C-D1A2-524D3A1B4614}"/>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10.1 </a:t>
            </a:r>
            <a:r>
              <a:rPr lang="zh-CN" altLang="en-US" sz="3000" b="1" dirty="0">
                <a:latin typeface="黑体" pitchFamily="49" charset="-122"/>
                <a:ea typeface="黑体" pitchFamily="49" charset="-122"/>
                <a:cs typeface="经典粗黑简" pitchFamily="49" charset="-122"/>
              </a:rPr>
              <a:t>排序的基本概念</a:t>
            </a:r>
          </a:p>
        </p:txBody>
      </p:sp>
      <p:sp>
        <p:nvSpPr>
          <p:cNvPr id="3" name="矩形 2">
            <a:extLst>
              <a:ext uri="{FF2B5EF4-FFF2-40B4-BE49-F238E27FC236}">
                <a16:creationId xmlns:a16="http://schemas.microsoft.com/office/drawing/2014/main" id="{C56E6627-701C-A033-75F9-E5D576B3CC17}"/>
              </a:ext>
            </a:extLst>
          </p:cNvPr>
          <p:cNvSpPr/>
          <p:nvPr/>
        </p:nvSpPr>
        <p:spPr>
          <a:xfrm>
            <a:off x="695400" y="1099192"/>
            <a:ext cx="37444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3</a:t>
            </a:r>
            <a:r>
              <a:rPr lang="zh-CN" altLang="en-US" sz="2800" b="1" dirty="0">
                <a:solidFill>
                  <a:schemeClr val="bg1"/>
                </a:solidFill>
                <a:latin typeface="经典粗黑简" pitchFamily="49" charset="-122"/>
                <a:ea typeface="经典粗黑简" pitchFamily="49" charset="-122"/>
                <a:cs typeface="经典粗黑简" pitchFamily="49" charset="-122"/>
              </a:rPr>
              <a:t>、内部排序的分类</a:t>
            </a:r>
          </a:p>
        </p:txBody>
      </p:sp>
      <p:cxnSp>
        <p:nvCxnSpPr>
          <p:cNvPr id="4" name="直接连接符 3">
            <a:extLst>
              <a:ext uri="{FF2B5EF4-FFF2-40B4-BE49-F238E27FC236}">
                <a16:creationId xmlns:a16="http://schemas.microsoft.com/office/drawing/2014/main" id="{1C52BD06-E794-AB3B-26A4-BABBBD83C13F}"/>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47636F0C-40EA-5E21-E847-655982FD5F09}"/>
              </a:ext>
            </a:extLst>
          </p:cNvPr>
          <p:cNvSpPr txBox="1"/>
          <p:nvPr/>
        </p:nvSpPr>
        <p:spPr>
          <a:xfrm>
            <a:off x="2102020" y="1998309"/>
            <a:ext cx="7920879" cy="830997"/>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待排序的记录存放再计算机的内存中所进行的排序操作称为</a:t>
            </a:r>
            <a:r>
              <a:rPr kumimoji="1" lang="zh-CN" altLang="en-US" sz="2400" dirty="0">
                <a:solidFill>
                  <a:srgbClr val="FF0000"/>
                </a:solidFill>
                <a:latin typeface="微软雅黑" pitchFamily="34" charset="-122"/>
                <a:ea typeface="微软雅黑" pitchFamily="34" charset="-122"/>
                <a:cs typeface="经典粗黑简" pitchFamily="49" charset="-122"/>
              </a:rPr>
              <a:t>内部排序</a:t>
            </a:r>
            <a:r>
              <a:rPr kumimoji="1" lang="zh-CN" altLang="en-US" sz="2400" dirty="0">
                <a:latin typeface="微软雅黑" pitchFamily="34" charset="-122"/>
                <a:ea typeface="微软雅黑" pitchFamily="34" charset="-122"/>
                <a:cs typeface="经典粗黑简" pitchFamily="49" charset="-122"/>
              </a:rPr>
              <a:t>。</a:t>
            </a:r>
          </a:p>
        </p:txBody>
      </p:sp>
      <p:sp>
        <p:nvSpPr>
          <p:cNvPr id="5" name="Text Box 6">
            <a:extLst>
              <a:ext uri="{FF2B5EF4-FFF2-40B4-BE49-F238E27FC236}">
                <a16:creationId xmlns:a16="http://schemas.microsoft.com/office/drawing/2014/main" id="{8D2D0DC1-76D1-E020-518D-963C11E2ECBA}"/>
              </a:ext>
            </a:extLst>
          </p:cNvPr>
          <p:cNvSpPr txBox="1">
            <a:spLocks noChangeArrowheads="1"/>
          </p:cNvSpPr>
          <p:nvPr/>
        </p:nvSpPr>
        <p:spPr bwMode="auto">
          <a:xfrm>
            <a:off x="3278468" y="3723041"/>
            <a:ext cx="1143000" cy="40011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defPPr>
              <a:defRPr lang="zh-CN"/>
            </a:defPPr>
            <a:lvl1pPr algn="ctr">
              <a:spcBef>
                <a:spcPct val="50000"/>
              </a:spcBef>
              <a:buFontTx/>
              <a:buNone/>
              <a:defRPr kumimoji="1" sz="2400" b="0">
                <a:latin typeface="微软雅黑" pitchFamily="34" charset="-122"/>
                <a:ea typeface="微软雅黑" pitchFamily="34" charset="-122"/>
                <a:cs typeface="经典粗黑简" pitchFamily="49" charset="-122"/>
              </a:defRPr>
            </a:lvl1pPr>
            <a:lvl2pPr marL="742950" indent="-285750" eaLnBrk="0" hangingPunct="0">
              <a:defRPr sz="2000" b="1">
                <a:latin typeface="Arial" charset="0"/>
                <a:ea typeface="宋体" pitchFamily="2" charset="-122"/>
              </a:defRPr>
            </a:lvl2pPr>
            <a:lvl3pPr marL="1143000" indent="-228600" eaLnBrk="0" hangingPunct="0">
              <a:defRPr sz="2000" b="1">
                <a:latin typeface="Arial" charset="0"/>
                <a:ea typeface="宋体" pitchFamily="2" charset="-122"/>
              </a:defRPr>
            </a:lvl3pPr>
            <a:lvl4pPr marL="1600200" indent="-228600" eaLnBrk="0" hangingPunct="0">
              <a:defRPr sz="2000" b="1">
                <a:latin typeface="Arial" charset="0"/>
                <a:ea typeface="宋体" pitchFamily="2" charset="-122"/>
              </a:defRPr>
            </a:lvl4pPr>
            <a:lvl5pPr marL="2057400" indent="-228600" eaLnBrk="0" hangingPunct="0">
              <a:defRPr sz="2000" b="1">
                <a:latin typeface="Arial" charset="0"/>
                <a:ea typeface="宋体" pitchFamily="2" charset="-122"/>
              </a:defRPr>
            </a:lvl5pPr>
            <a:lvl6pPr marL="2514600" indent="-228600" eaLnBrk="0" fontAlgn="base" hangingPunct="0">
              <a:spcBef>
                <a:spcPct val="20000"/>
              </a:spcBef>
              <a:spcAft>
                <a:spcPct val="0"/>
              </a:spcAft>
              <a:buChar char="•"/>
              <a:defRPr sz="2000" b="1">
                <a:latin typeface="Arial" charset="0"/>
                <a:ea typeface="宋体" pitchFamily="2" charset="-122"/>
              </a:defRPr>
            </a:lvl6pPr>
            <a:lvl7pPr marL="2971800" indent="-228600" eaLnBrk="0" fontAlgn="base" hangingPunct="0">
              <a:spcBef>
                <a:spcPct val="20000"/>
              </a:spcBef>
              <a:spcAft>
                <a:spcPct val="0"/>
              </a:spcAft>
              <a:buChar char="•"/>
              <a:defRPr sz="2000" b="1">
                <a:latin typeface="Arial" charset="0"/>
                <a:ea typeface="宋体" pitchFamily="2" charset="-122"/>
              </a:defRPr>
            </a:lvl7pPr>
            <a:lvl8pPr marL="3429000" indent="-228600" eaLnBrk="0" fontAlgn="base" hangingPunct="0">
              <a:spcBef>
                <a:spcPct val="20000"/>
              </a:spcBef>
              <a:spcAft>
                <a:spcPct val="0"/>
              </a:spcAft>
              <a:buChar char="•"/>
              <a:defRPr sz="2000" b="1">
                <a:latin typeface="Arial" charset="0"/>
                <a:ea typeface="宋体" pitchFamily="2" charset="-122"/>
              </a:defRPr>
            </a:lvl8pPr>
            <a:lvl9pPr marL="3886200" indent="-228600" eaLnBrk="0" fontAlgn="base" hangingPunct="0">
              <a:spcBef>
                <a:spcPct val="20000"/>
              </a:spcBef>
              <a:spcAft>
                <a:spcPct val="0"/>
              </a:spcAft>
              <a:buChar char="•"/>
              <a:defRPr sz="2000" b="1">
                <a:latin typeface="Arial" charset="0"/>
                <a:ea typeface="宋体" pitchFamily="2" charset="-122"/>
              </a:defRPr>
            </a:lvl9pPr>
          </a:lstStyle>
          <a:p>
            <a:r>
              <a:rPr lang="zh-CN" altLang="en-US" sz="2000" dirty="0"/>
              <a:t>内部排序</a:t>
            </a:r>
          </a:p>
        </p:txBody>
      </p:sp>
      <p:sp>
        <p:nvSpPr>
          <p:cNvPr id="6" name="Text Box 8">
            <a:extLst>
              <a:ext uri="{FF2B5EF4-FFF2-40B4-BE49-F238E27FC236}">
                <a16:creationId xmlns:a16="http://schemas.microsoft.com/office/drawing/2014/main" id="{8EE97CF4-DBAA-519D-4BFF-EB2540EEDF22}"/>
              </a:ext>
            </a:extLst>
          </p:cNvPr>
          <p:cNvSpPr txBox="1">
            <a:spLocks noChangeArrowheads="1"/>
          </p:cNvSpPr>
          <p:nvPr/>
        </p:nvSpPr>
        <p:spPr bwMode="auto">
          <a:xfrm>
            <a:off x="3278468" y="5877272"/>
            <a:ext cx="1143000" cy="40011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pPr>
            <a:r>
              <a:rPr kumimoji="1" lang="zh-CN" altLang="en-US" b="0" dirty="0">
                <a:latin typeface="微软雅黑" pitchFamily="34" charset="-122"/>
                <a:ea typeface="微软雅黑" pitchFamily="34" charset="-122"/>
                <a:cs typeface="经典粗黑简" pitchFamily="49" charset="-122"/>
              </a:rPr>
              <a:t>外部排序</a:t>
            </a:r>
          </a:p>
        </p:txBody>
      </p:sp>
      <p:sp>
        <p:nvSpPr>
          <p:cNvPr id="7" name="Text Box 11">
            <a:extLst>
              <a:ext uri="{FF2B5EF4-FFF2-40B4-BE49-F238E27FC236}">
                <a16:creationId xmlns:a16="http://schemas.microsoft.com/office/drawing/2014/main" id="{2CA31A85-B0E3-4A02-34FC-053F313AAB7C}"/>
              </a:ext>
            </a:extLst>
          </p:cNvPr>
          <p:cNvSpPr txBox="1">
            <a:spLocks noChangeArrowheads="1"/>
          </p:cNvSpPr>
          <p:nvPr/>
        </p:nvSpPr>
        <p:spPr bwMode="auto">
          <a:xfrm>
            <a:off x="4550948" y="2519975"/>
            <a:ext cx="539688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插入排序（直插排序、二分排序、希尔排序） </a:t>
            </a:r>
          </a:p>
        </p:txBody>
      </p:sp>
      <p:sp>
        <p:nvSpPr>
          <p:cNvPr id="8" name="Text Box 12">
            <a:extLst>
              <a:ext uri="{FF2B5EF4-FFF2-40B4-BE49-F238E27FC236}">
                <a16:creationId xmlns:a16="http://schemas.microsoft.com/office/drawing/2014/main" id="{F8A6BDC5-9145-F6F5-7295-FA25FBB971DB}"/>
              </a:ext>
            </a:extLst>
          </p:cNvPr>
          <p:cNvSpPr txBox="1">
            <a:spLocks noChangeArrowheads="1"/>
          </p:cNvSpPr>
          <p:nvPr/>
        </p:nvSpPr>
        <p:spPr bwMode="auto">
          <a:xfrm>
            <a:off x="4550948" y="3129575"/>
            <a:ext cx="424475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交换排序（冒泡排序、快速排序） </a:t>
            </a:r>
          </a:p>
        </p:txBody>
      </p:sp>
      <p:sp>
        <p:nvSpPr>
          <p:cNvPr id="10" name="Text Box 13">
            <a:extLst>
              <a:ext uri="{FF2B5EF4-FFF2-40B4-BE49-F238E27FC236}">
                <a16:creationId xmlns:a16="http://schemas.microsoft.com/office/drawing/2014/main" id="{67899243-36B5-8DF5-01BA-C87B8BC6DCDE}"/>
              </a:ext>
            </a:extLst>
          </p:cNvPr>
          <p:cNvSpPr txBox="1">
            <a:spLocks noChangeArrowheads="1"/>
          </p:cNvSpPr>
          <p:nvPr/>
        </p:nvSpPr>
        <p:spPr bwMode="auto">
          <a:xfrm>
            <a:off x="4550948" y="3645024"/>
            <a:ext cx="525286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选择排序 （直选排序、树型排序、堆排序）</a:t>
            </a:r>
          </a:p>
        </p:txBody>
      </p:sp>
      <p:sp>
        <p:nvSpPr>
          <p:cNvPr id="11" name="Text Box 14">
            <a:extLst>
              <a:ext uri="{FF2B5EF4-FFF2-40B4-BE49-F238E27FC236}">
                <a16:creationId xmlns:a16="http://schemas.microsoft.com/office/drawing/2014/main" id="{E928BFDB-96D5-CC07-64E0-9499BBCC1303}"/>
              </a:ext>
            </a:extLst>
          </p:cNvPr>
          <p:cNvSpPr txBox="1">
            <a:spLocks noChangeArrowheads="1"/>
          </p:cNvSpPr>
          <p:nvPr/>
        </p:nvSpPr>
        <p:spPr bwMode="auto">
          <a:xfrm>
            <a:off x="4550948" y="4149080"/>
            <a:ext cx="50368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归并排序（二路归并排序、多路归并排序） </a:t>
            </a:r>
          </a:p>
        </p:txBody>
      </p:sp>
      <p:sp>
        <p:nvSpPr>
          <p:cNvPr id="12" name="Text Box 15">
            <a:extLst>
              <a:ext uri="{FF2B5EF4-FFF2-40B4-BE49-F238E27FC236}">
                <a16:creationId xmlns:a16="http://schemas.microsoft.com/office/drawing/2014/main" id="{7558661C-FBE4-2A94-4D58-FDCD8E129D1D}"/>
              </a:ext>
            </a:extLst>
          </p:cNvPr>
          <p:cNvSpPr txBox="1">
            <a:spLocks noChangeArrowheads="1"/>
          </p:cNvSpPr>
          <p:nvPr/>
        </p:nvSpPr>
        <p:spPr bwMode="auto">
          <a:xfrm>
            <a:off x="4550948" y="4725144"/>
            <a:ext cx="467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分配排序 （多关键字排序、基数排序）</a:t>
            </a:r>
          </a:p>
        </p:txBody>
      </p:sp>
      <p:sp>
        <p:nvSpPr>
          <p:cNvPr id="13" name="AutoShape 16">
            <a:extLst>
              <a:ext uri="{FF2B5EF4-FFF2-40B4-BE49-F238E27FC236}">
                <a16:creationId xmlns:a16="http://schemas.microsoft.com/office/drawing/2014/main" id="{B8E369A8-DB18-03F9-A02E-B86D58569A0E}"/>
              </a:ext>
            </a:extLst>
          </p:cNvPr>
          <p:cNvSpPr>
            <a:spLocks/>
          </p:cNvSpPr>
          <p:nvPr/>
        </p:nvSpPr>
        <p:spPr bwMode="auto">
          <a:xfrm>
            <a:off x="4474748" y="2748575"/>
            <a:ext cx="304800" cy="2336609"/>
          </a:xfrm>
          <a:prstGeom prst="leftBrace">
            <a:avLst>
              <a:gd name="adj1" fmla="val 68750"/>
              <a:gd name="adj2" fmla="val 50000"/>
            </a:avLst>
          </a:prstGeom>
          <a:noFill/>
          <a:ln w="381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7">
            <a:extLst>
              <a:ext uri="{FF2B5EF4-FFF2-40B4-BE49-F238E27FC236}">
                <a16:creationId xmlns:a16="http://schemas.microsoft.com/office/drawing/2014/main" id="{A7B2FF9F-3467-E7D8-60F1-DCCBA4D50EE3}"/>
              </a:ext>
            </a:extLst>
          </p:cNvPr>
          <p:cNvSpPr>
            <a:spLocks/>
          </p:cNvSpPr>
          <p:nvPr/>
        </p:nvSpPr>
        <p:spPr bwMode="auto">
          <a:xfrm>
            <a:off x="4550948" y="5359152"/>
            <a:ext cx="228600" cy="1295400"/>
          </a:xfrm>
          <a:prstGeom prst="leftBrace">
            <a:avLst>
              <a:gd name="adj1" fmla="val 47222"/>
              <a:gd name="adj2" fmla="val 50000"/>
            </a:avLst>
          </a:prstGeom>
          <a:noFill/>
          <a:ln w="381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8">
            <a:extLst>
              <a:ext uri="{FF2B5EF4-FFF2-40B4-BE49-F238E27FC236}">
                <a16:creationId xmlns:a16="http://schemas.microsoft.com/office/drawing/2014/main" id="{BA35DA1C-792F-786D-27CC-933632F7F3D7}"/>
              </a:ext>
            </a:extLst>
          </p:cNvPr>
          <p:cNvSpPr txBox="1">
            <a:spLocks noChangeArrowheads="1"/>
          </p:cNvSpPr>
          <p:nvPr/>
        </p:nvSpPr>
        <p:spPr bwMode="auto">
          <a:xfrm>
            <a:off x="4550948" y="5206752"/>
            <a:ext cx="25165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多路平衡归并排序 </a:t>
            </a:r>
          </a:p>
        </p:txBody>
      </p:sp>
      <p:sp>
        <p:nvSpPr>
          <p:cNvPr id="22" name="Text Box 19">
            <a:extLst>
              <a:ext uri="{FF2B5EF4-FFF2-40B4-BE49-F238E27FC236}">
                <a16:creationId xmlns:a16="http://schemas.microsoft.com/office/drawing/2014/main" id="{6F18F53C-B0BB-0148-C332-6AB8B5D8B91F}"/>
              </a:ext>
            </a:extLst>
          </p:cNvPr>
          <p:cNvSpPr txBox="1">
            <a:spLocks noChangeArrowheads="1"/>
          </p:cNvSpPr>
          <p:nvPr/>
        </p:nvSpPr>
        <p:spPr bwMode="auto">
          <a:xfrm>
            <a:off x="4550948" y="5740152"/>
            <a:ext cx="23005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置换－选择排序 </a:t>
            </a:r>
          </a:p>
        </p:txBody>
      </p:sp>
      <p:sp>
        <p:nvSpPr>
          <p:cNvPr id="23" name="Text Box 20">
            <a:extLst>
              <a:ext uri="{FF2B5EF4-FFF2-40B4-BE49-F238E27FC236}">
                <a16:creationId xmlns:a16="http://schemas.microsoft.com/office/drawing/2014/main" id="{0D661BB9-DD8B-15F1-2FA7-7A4C2C7C80A0}"/>
              </a:ext>
            </a:extLst>
          </p:cNvPr>
          <p:cNvSpPr txBox="1">
            <a:spLocks noChangeArrowheads="1"/>
          </p:cNvSpPr>
          <p:nvPr/>
        </p:nvSpPr>
        <p:spPr bwMode="auto">
          <a:xfrm>
            <a:off x="4550948" y="6273552"/>
            <a:ext cx="1868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sz="2400" dirty="0">
                <a:latin typeface="楷体_GB2312" pitchFamily="49" charset="-122"/>
                <a:ea typeface="楷体_GB2312" pitchFamily="49" charset="-122"/>
              </a:rPr>
              <a:t> </a:t>
            </a:r>
            <a:r>
              <a:rPr kumimoji="1" lang="zh-CN" altLang="en-US" b="0" dirty="0">
                <a:latin typeface="微软雅黑" pitchFamily="34" charset="-122"/>
                <a:ea typeface="微软雅黑" pitchFamily="34" charset="-122"/>
                <a:cs typeface="经典粗黑简" pitchFamily="49" charset="-122"/>
              </a:rPr>
              <a:t>最佳归并树</a:t>
            </a:r>
          </a:p>
        </p:txBody>
      </p:sp>
      <p:sp>
        <p:nvSpPr>
          <p:cNvPr id="24" name="Text Box 21">
            <a:extLst>
              <a:ext uri="{FF2B5EF4-FFF2-40B4-BE49-F238E27FC236}">
                <a16:creationId xmlns:a16="http://schemas.microsoft.com/office/drawing/2014/main" id="{570633C2-AF75-7CC3-4F69-1D0C5C7ECF0F}"/>
              </a:ext>
            </a:extLst>
          </p:cNvPr>
          <p:cNvSpPr txBox="1">
            <a:spLocks noChangeArrowheads="1"/>
          </p:cNvSpPr>
          <p:nvPr/>
        </p:nvSpPr>
        <p:spPr bwMode="auto">
          <a:xfrm>
            <a:off x="2081299" y="4939265"/>
            <a:ext cx="838200" cy="40011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排序</a:t>
            </a:r>
          </a:p>
        </p:txBody>
      </p:sp>
      <p:sp>
        <p:nvSpPr>
          <p:cNvPr id="25" name="AutoShape 22">
            <a:extLst>
              <a:ext uri="{FF2B5EF4-FFF2-40B4-BE49-F238E27FC236}">
                <a16:creationId xmlns:a16="http://schemas.microsoft.com/office/drawing/2014/main" id="{595BC982-7CF4-86D6-20C4-637A3A9D9466}"/>
              </a:ext>
            </a:extLst>
          </p:cNvPr>
          <p:cNvSpPr>
            <a:spLocks/>
          </p:cNvSpPr>
          <p:nvPr/>
        </p:nvSpPr>
        <p:spPr bwMode="auto">
          <a:xfrm>
            <a:off x="2897468" y="3960135"/>
            <a:ext cx="381000" cy="2133161"/>
          </a:xfrm>
          <a:prstGeom prst="leftBrace">
            <a:avLst>
              <a:gd name="adj1" fmla="val 60000"/>
              <a:gd name="adj2" fmla="val 50000"/>
            </a:avLst>
          </a:prstGeom>
          <a:noFill/>
          <a:ln w="381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233042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1000"/>
                                  </p:stCondLst>
                                  <p:childTnLst>
                                    <p:set>
                                      <p:cBhvr>
                                        <p:cTn id="6" dur="1" fill="hold">
                                          <p:stCondLst>
                                            <p:cond delay="0"/>
                                          </p:stCondLst>
                                        </p:cTn>
                                        <p:tgtEl>
                                          <p:spTgt spid="13"/>
                                        </p:tgtEl>
                                        <p:attrNameLst>
                                          <p:attrName>style.visibility</p:attrName>
                                        </p:attrNameLst>
                                      </p:cBhvr>
                                      <p:to>
                                        <p:strVal val="visible"/>
                                      </p:to>
                                    </p:set>
                                    <p:animEffect transition="in" filter="slide(fromLeft)">
                                      <p:cBhvr>
                                        <p:cTn id="7" dur="500"/>
                                        <p:tgtEl>
                                          <p:spTgt spid="13"/>
                                        </p:tgtEl>
                                      </p:cBhvr>
                                    </p:animEffect>
                                  </p:childTnLst>
                                </p:cTn>
                              </p:par>
                            </p:childTnLst>
                          </p:cTn>
                        </p:par>
                        <p:par>
                          <p:cTn id="8" fill="hold">
                            <p:stCondLst>
                              <p:cond delay="1500"/>
                            </p:stCondLst>
                            <p:childTnLst>
                              <p:par>
                                <p:cTn id="9" presetID="12" presetClass="entr" presetSubtype="4" fill="hold" grpId="0" nodeType="after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slide(fromBottom)">
                                      <p:cBhvr>
                                        <p:cTn id="11" dur="500"/>
                                        <p:tgtEl>
                                          <p:spTgt spid="7"/>
                                        </p:tgtEl>
                                      </p:cBhvr>
                                    </p:animEffect>
                                  </p:childTnLst>
                                </p:cTn>
                              </p:par>
                            </p:childTnLst>
                          </p:cTn>
                        </p:par>
                        <p:par>
                          <p:cTn id="12" fill="hold">
                            <p:stCondLst>
                              <p:cond delay="3000"/>
                            </p:stCondLst>
                            <p:childTnLst>
                              <p:par>
                                <p:cTn id="13" presetID="12" presetClass="entr" presetSubtype="4" fill="hold" grpId="0" nodeType="afterEffect">
                                  <p:stCondLst>
                                    <p:cond delay="1000"/>
                                  </p:stCondLst>
                                  <p:childTnLst>
                                    <p:set>
                                      <p:cBhvr>
                                        <p:cTn id="14" dur="1" fill="hold">
                                          <p:stCondLst>
                                            <p:cond delay="0"/>
                                          </p:stCondLst>
                                        </p:cTn>
                                        <p:tgtEl>
                                          <p:spTgt spid="8"/>
                                        </p:tgtEl>
                                        <p:attrNameLst>
                                          <p:attrName>style.visibility</p:attrName>
                                        </p:attrNameLst>
                                      </p:cBhvr>
                                      <p:to>
                                        <p:strVal val="visible"/>
                                      </p:to>
                                    </p:set>
                                    <p:animEffect transition="in" filter="slide(fromBottom)">
                                      <p:cBhvr>
                                        <p:cTn id="15" dur="500"/>
                                        <p:tgtEl>
                                          <p:spTgt spid="8"/>
                                        </p:tgtEl>
                                      </p:cBhvr>
                                    </p:animEffect>
                                  </p:childTnLst>
                                </p:cTn>
                              </p:par>
                            </p:childTnLst>
                          </p:cTn>
                        </p:par>
                        <p:par>
                          <p:cTn id="16" fill="hold">
                            <p:stCondLst>
                              <p:cond delay="4500"/>
                            </p:stCondLst>
                            <p:childTnLst>
                              <p:par>
                                <p:cTn id="17" presetID="12" presetClass="entr" presetSubtype="4" fill="hold" grpId="0" nodeType="afterEffect">
                                  <p:stCondLst>
                                    <p:cond delay="1000"/>
                                  </p:stCondLst>
                                  <p:childTnLst>
                                    <p:set>
                                      <p:cBhvr>
                                        <p:cTn id="18" dur="1" fill="hold">
                                          <p:stCondLst>
                                            <p:cond delay="0"/>
                                          </p:stCondLst>
                                        </p:cTn>
                                        <p:tgtEl>
                                          <p:spTgt spid="10"/>
                                        </p:tgtEl>
                                        <p:attrNameLst>
                                          <p:attrName>style.visibility</p:attrName>
                                        </p:attrNameLst>
                                      </p:cBhvr>
                                      <p:to>
                                        <p:strVal val="visible"/>
                                      </p:to>
                                    </p:set>
                                    <p:animEffect transition="in" filter="slide(fromBottom)">
                                      <p:cBhvr>
                                        <p:cTn id="19" dur="500"/>
                                        <p:tgtEl>
                                          <p:spTgt spid="10"/>
                                        </p:tgtEl>
                                      </p:cBhvr>
                                    </p:animEffect>
                                  </p:childTnLst>
                                </p:cTn>
                              </p:par>
                            </p:childTnLst>
                          </p:cTn>
                        </p:par>
                        <p:par>
                          <p:cTn id="20" fill="hold">
                            <p:stCondLst>
                              <p:cond delay="6000"/>
                            </p:stCondLst>
                            <p:childTnLst>
                              <p:par>
                                <p:cTn id="21" presetID="12" presetClass="entr" presetSubtype="4" fill="hold" grpId="0" nodeType="afterEffect">
                                  <p:stCondLst>
                                    <p:cond delay="1000"/>
                                  </p:stCondLst>
                                  <p:childTnLst>
                                    <p:set>
                                      <p:cBhvr>
                                        <p:cTn id="22" dur="1" fill="hold">
                                          <p:stCondLst>
                                            <p:cond delay="0"/>
                                          </p:stCondLst>
                                        </p:cTn>
                                        <p:tgtEl>
                                          <p:spTgt spid="11"/>
                                        </p:tgtEl>
                                        <p:attrNameLst>
                                          <p:attrName>style.visibility</p:attrName>
                                        </p:attrNameLst>
                                      </p:cBhvr>
                                      <p:to>
                                        <p:strVal val="visible"/>
                                      </p:to>
                                    </p:set>
                                    <p:animEffect transition="in" filter="slide(fromBottom)">
                                      <p:cBhvr>
                                        <p:cTn id="23" dur="500"/>
                                        <p:tgtEl>
                                          <p:spTgt spid="11"/>
                                        </p:tgtEl>
                                      </p:cBhvr>
                                    </p:animEffect>
                                  </p:childTnLst>
                                </p:cTn>
                              </p:par>
                            </p:childTnLst>
                          </p:cTn>
                        </p:par>
                        <p:par>
                          <p:cTn id="24" fill="hold">
                            <p:stCondLst>
                              <p:cond delay="7500"/>
                            </p:stCondLst>
                            <p:childTnLst>
                              <p:par>
                                <p:cTn id="25" presetID="12" presetClass="entr" presetSubtype="4" fill="hold" grpId="0" nodeType="afterEffect">
                                  <p:stCondLst>
                                    <p:cond delay="1000"/>
                                  </p:stCondLst>
                                  <p:childTnLst>
                                    <p:set>
                                      <p:cBhvr>
                                        <p:cTn id="26" dur="1" fill="hold">
                                          <p:stCondLst>
                                            <p:cond delay="0"/>
                                          </p:stCondLst>
                                        </p:cTn>
                                        <p:tgtEl>
                                          <p:spTgt spid="12"/>
                                        </p:tgtEl>
                                        <p:attrNameLst>
                                          <p:attrName>style.visibility</p:attrName>
                                        </p:attrNameLst>
                                      </p:cBhvr>
                                      <p:to>
                                        <p:strVal val="visible"/>
                                      </p:to>
                                    </p:set>
                                    <p:animEffect transition="in" filter="slide(fromBottom)">
                                      <p:cBhvr>
                                        <p:cTn id="27" dur="500"/>
                                        <p:tgtEl>
                                          <p:spTgt spid="12"/>
                                        </p:tgtEl>
                                      </p:cBhvr>
                                    </p:animEffect>
                                  </p:childTnLst>
                                </p:cTn>
                              </p:par>
                            </p:childTnLst>
                          </p:cTn>
                        </p:par>
                        <p:par>
                          <p:cTn id="28" fill="hold">
                            <p:stCondLst>
                              <p:cond delay="9000"/>
                            </p:stCondLst>
                            <p:childTnLst>
                              <p:par>
                                <p:cTn id="29" presetID="12" presetClass="entr" presetSubtype="8" fill="hold" grpId="0" nodeType="afterEffect">
                                  <p:stCondLst>
                                    <p:cond delay="1000"/>
                                  </p:stCondLst>
                                  <p:childTnLst>
                                    <p:set>
                                      <p:cBhvr>
                                        <p:cTn id="30" dur="1" fill="hold">
                                          <p:stCondLst>
                                            <p:cond delay="0"/>
                                          </p:stCondLst>
                                        </p:cTn>
                                        <p:tgtEl>
                                          <p:spTgt spid="14"/>
                                        </p:tgtEl>
                                        <p:attrNameLst>
                                          <p:attrName>style.visibility</p:attrName>
                                        </p:attrNameLst>
                                      </p:cBhvr>
                                      <p:to>
                                        <p:strVal val="visible"/>
                                      </p:to>
                                    </p:set>
                                    <p:animEffect transition="in" filter="slide(fromLeft)">
                                      <p:cBhvr>
                                        <p:cTn id="31" dur="500"/>
                                        <p:tgtEl>
                                          <p:spTgt spid="14"/>
                                        </p:tgtEl>
                                      </p:cBhvr>
                                    </p:animEffect>
                                  </p:childTnLst>
                                </p:cTn>
                              </p:par>
                            </p:childTnLst>
                          </p:cTn>
                        </p:par>
                        <p:par>
                          <p:cTn id="32" fill="hold">
                            <p:stCondLst>
                              <p:cond delay="10500"/>
                            </p:stCondLst>
                            <p:childTnLst>
                              <p:par>
                                <p:cTn id="33" presetID="12" presetClass="entr" presetSubtype="4" fill="hold" grpId="0" nodeType="afterEffect">
                                  <p:stCondLst>
                                    <p:cond delay="1000"/>
                                  </p:stCondLst>
                                  <p:childTnLst>
                                    <p:set>
                                      <p:cBhvr>
                                        <p:cTn id="34" dur="1" fill="hold">
                                          <p:stCondLst>
                                            <p:cond delay="0"/>
                                          </p:stCondLst>
                                        </p:cTn>
                                        <p:tgtEl>
                                          <p:spTgt spid="21"/>
                                        </p:tgtEl>
                                        <p:attrNameLst>
                                          <p:attrName>style.visibility</p:attrName>
                                        </p:attrNameLst>
                                      </p:cBhvr>
                                      <p:to>
                                        <p:strVal val="visible"/>
                                      </p:to>
                                    </p:set>
                                    <p:animEffect transition="in" filter="slide(fromBottom)">
                                      <p:cBhvr>
                                        <p:cTn id="35" dur="500"/>
                                        <p:tgtEl>
                                          <p:spTgt spid="21"/>
                                        </p:tgtEl>
                                      </p:cBhvr>
                                    </p:animEffect>
                                  </p:childTnLst>
                                </p:cTn>
                              </p:par>
                            </p:childTnLst>
                          </p:cTn>
                        </p:par>
                        <p:par>
                          <p:cTn id="36" fill="hold">
                            <p:stCondLst>
                              <p:cond delay="12000"/>
                            </p:stCondLst>
                            <p:childTnLst>
                              <p:par>
                                <p:cTn id="37" presetID="12" presetClass="entr" presetSubtype="4" fill="hold" grpId="0" nodeType="afterEffect">
                                  <p:stCondLst>
                                    <p:cond delay="1000"/>
                                  </p:stCondLst>
                                  <p:childTnLst>
                                    <p:set>
                                      <p:cBhvr>
                                        <p:cTn id="38" dur="1" fill="hold">
                                          <p:stCondLst>
                                            <p:cond delay="0"/>
                                          </p:stCondLst>
                                        </p:cTn>
                                        <p:tgtEl>
                                          <p:spTgt spid="22"/>
                                        </p:tgtEl>
                                        <p:attrNameLst>
                                          <p:attrName>style.visibility</p:attrName>
                                        </p:attrNameLst>
                                      </p:cBhvr>
                                      <p:to>
                                        <p:strVal val="visible"/>
                                      </p:to>
                                    </p:set>
                                    <p:animEffect transition="in" filter="slide(fromBottom)">
                                      <p:cBhvr>
                                        <p:cTn id="39" dur="500"/>
                                        <p:tgtEl>
                                          <p:spTgt spid="22"/>
                                        </p:tgtEl>
                                      </p:cBhvr>
                                    </p:animEffect>
                                  </p:childTnLst>
                                </p:cTn>
                              </p:par>
                            </p:childTnLst>
                          </p:cTn>
                        </p:par>
                        <p:par>
                          <p:cTn id="40" fill="hold">
                            <p:stCondLst>
                              <p:cond delay="13500"/>
                            </p:stCondLst>
                            <p:childTnLst>
                              <p:par>
                                <p:cTn id="41" presetID="12" presetClass="entr" presetSubtype="4" fill="hold" grpId="0" nodeType="afterEffect">
                                  <p:stCondLst>
                                    <p:cond delay="1000"/>
                                  </p:stCondLst>
                                  <p:childTnLst>
                                    <p:set>
                                      <p:cBhvr>
                                        <p:cTn id="42" dur="1" fill="hold">
                                          <p:stCondLst>
                                            <p:cond delay="0"/>
                                          </p:stCondLst>
                                        </p:cTn>
                                        <p:tgtEl>
                                          <p:spTgt spid="23"/>
                                        </p:tgtEl>
                                        <p:attrNameLst>
                                          <p:attrName>style.visibility</p:attrName>
                                        </p:attrNameLst>
                                      </p:cBhvr>
                                      <p:to>
                                        <p:strVal val="visible"/>
                                      </p:to>
                                    </p:set>
                                    <p:animEffect transition="in" filter="slide(fromBottom)">
                                      <p:cBhvr>
                                        <p:cTn id="4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10" grpId="0" autoUpdateAnimBg="0"/>
      <p:bldP spid="11" grpId="0" autoUpdateAnimBg="0"/>
      <p:bldP spid="12" grpId="0" autoUpdateAnimBg="0"/>
      <p:bldP spid="13" grpId="0" animBg="1"/>
      <p:bldP spid="14" grpId="0" animBg="1"/>
      <p:bldP spid="21" grpId="0" autoUpdateAnimBg="0"/>
      <p:bldP spid="22" grpId="0" autoUpdateAnimBg="0"/>
      <p:bldP spid="2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B54A6-652D-1777-98EB-21BF52E4592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5CE8BE8-C442-6367-91DE-95D4857E954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10.1 </a:t>
            </a:r>
            <a:r>
              <a:rPr lang="zh-CN" altLang="en-US" sz="3000" b="1" dirty="0">
                <a:latin typeface="黑体" pitchFamily="49" charset="-122"/>
                <a:ea typeface="黑体" pitchFamily="49" charset="-122"/>
                <a:cs typeface="经典粗黑简" pitchFamily="49" charset="-122"/>
              </a:rPr>
              <a:t>排序的基本概念</a:t>
            </a:r>
          </a:p>
        </p:txBody>
      </p:sp>
      <p:sp>
        <p:nvSpPr>
          <p:cNvPr id="3" name="矩形 2">
            <a:extLst>
              <a:ext uri="{FF2B5EF4-FFF2-40B4-BE49-F238E27FC236}">
                <a16:creationId xmlns:a16="http://schemas.microsoft.com/office/drawing/2014/main" id="{0C1EBE96-7000-E7A7-EC53-D048EF4A633C}"/>
              </a:ext>
            </a:extLst>
          </p:cNvPr>
          <p:cNvSpPr/>
          <p:nvPr/>
        </p:nvSpPr>
        <p:spPr>
          <a:xfrm>
            <a:off x="695400" y="1099192"/>
            <a:ext cx="37444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4</a:t>
            </a:r>
            <a:r>
              <a:rPr lang="zh-CN" altLang="en-US" sz="2800" b="1" dirty="0">
                <a:solidFill>
                  <a:schemeClr val="bg1"/>
                </a:solidFill>
                <a:latin typeface="经典粗黑简" pitchFamily="49" charset="-122"/>
                <a:ea typeface="经典粗黑简" pitchFamily="49" charset="-122"/>
                <a:cs typeface="经典粗黑简" pitchFamily="49" charset="-122"/>
              </a:rPr>
              <a:t>、内部排序的稳定性</a:t>
            </a:r>
          </a:p>
        </p:txBody>
      </p:sp>
      <p:cxnSp>
        <p:nvCxnSpPr>
          <p:cNvPr id="4" name="直接连接符 3">
            <a:extLst>
              <a:ext uri="{FF2B5EF4-FFF2-40B4-BE49-F238E27FC236}">
                <a16:creationId xmlns:a16="http://schemas.microsoft.com/office/drawing/2014/main" id="{A638BCD4-21E4-6365-2ED6-720408F1560D}"/>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415480" y="2132856"/>
            <a:ext cx="9361040" cy="1138773"/>
          </a:xfrm>
          <a:prstGeom prst="rect">
            <a:avLst/>
          </a:prstGeom>
        </p:spPr>
        <p:txBody>
          <a:bodyPr wrap="square">
            <a:spAutoFit/>
          </a:bodyPr>
          <a:lstStyle/>
          <a:p>
            <a:r>
              <a:rPr kumimoji="1" lang="zh-CN" altLang="en-US" sz="2200" dirty="0">
                <a:latin typeface="微软雅黑" pitchFamily="34" charset="-122"/>
                <a:ea typeface="微软雅黑" pitchFamily="34" charset="-122"/>
                <a:cs typeface="经典粗黑简" pitchFamily="49" charset="-122"/>
              </a:rPr>
              <a:t>      若</a:t>
            </a:r>
            <a:r>
              <a:rPr kumimoji="1" lang="en-US" altLang="zh-CN" sz="2200" dirty="0" err="1">
                <a:solidFill>
                  <a:srgbClr val="FF0000"/>
                </a:solidFill>
                <a:latin typeface="微软雅黑" pitchFamily="34" charset="-122"/>
                <a:ea typeface="微软雅黑" pitchFamily="34" charset="-122"/>
                <a:cs typeface="经典粗黑简" pitchFamily="49" charset="-122"/>
                <a:sym typeface="Wingdings" pitchFamily="2" charset="2"/>
              </a:rPr>
              <a:t>k</a:t>
            </a:r>
            <a:r>
              <a:rPr kumimoji="1" lang="en-US" altLang="zh-CN" sz="2400" baseline="-25000" dirty="0" err="1">
                <a:solidFill>
                  <a:srgbClr val="FF0000"/>
                </a:solidFill>
                <a:latin typeface="微软雅黑" pitchFamily="34" charset="-122"/>
                <a:ea typeface="微软雅黑" pitchFamily="34" charset="-122"/>
                <a:cs typeface="经典粗黑简" pitchFamily="49" charset="-122"/>
                <a:sym typeface="Wingdings" pitchFamily="2" charset="2"/>
              </a:rPr>
              <a:t>i</a:t>
            </a:r>
            <a:r>
              <a:rPr kumimoji="1" lang="zh-CN" altLang="en-US" sz="2200" dirty="0">
                <a:solidFill>
                  <a:srgbClr val="FF0000"/>
                </a:solidFill>
                <a:latin typeface="微软雅黑" pitchFamily="34" charset="-122"/>
                <a:ea typeface="微软雅黑" pitchFamily="34" charset="-122"/>
                <a:cs typeface="经典粗黑简" pitchFamily="49" charset="-122"/>
              </a:rPr>
              <a:t>＝</a:t>
            </a:r>
            <a:r>
              <a:rPr kumimoji="1" lang="en-US" altLang="zh-CN" sz="2200" dirty="0" err="1">
                <a:solidFill>
                  <a:srgbClr val="FF0000"/>
                </a:solidFill>
                <a:latin typeface="微软雅黑" pitchFamily="34" charset="-122"/>
                <a:ea typeface="微软雅黑" pitchFamily="34" charset="-122"/>
                <a:cs typeface="经典粗黑简" pitchFamily="49" charset="-122"/>
                <a:sym typeface="Wingdings" pitchFamily="2" charset="2"/>
              </a:rPr>
              <a:t>k</a:t>
            </a:r>
            <a:r>
              <a:rPr kumimoji="1" lang="en-US" altLang="zh-CN" sz="2400" baseline="-25000" dirty="0" err="1">
                <a:solidFill>
                  <a:srgbClr val="FF0000"/>
                </a:solidFill>
                <a:latin typeface="微软雅黑" pitchFamily="34" charset="-122"/>
                <a:ea typeface="微软雅黑" pitchFamily="34" charset="-122"/>
                <a:cs typeface="经典粗黑简" pitchFamily="49" charset="-122"/>
                <a:sym typeface="Wingdings" pitchFamily="2" charset="2"/>
              </a:rPr>
              <a:t>j</a:t>
            </a:r>
            <a:r>
              <a:rPr kumimoji="1" lang="zh-CN" altLang="en-US" sz="2200" dirty="0">
                <a:latin typeface="微软雅黑" pitchFamily="34" charset="-122"/>
                <a:ea typeface="微软雅黑" pitchFamily="34" charset="-122"/>
                <a:cs typeface="经典粗黑简" pitchFamily="49" charset="-122"/>
              </a:rPr>
              <a:t>，且排序前的序列中</a:t>
            </a:r>
            <a:r>
              <a:rPr kumimoji="1" lang="en-US" altLang="zh-CN" sz="2200" dirty="0" err="1">
                <a:latin typeface="微软雅黑" pitchFamily="34" charset="-122"/>
                <a:ea typeface="微软雅黑" pitchFamily="34" charset="-122"/>
                <a:cs typeface="经典粗黑简" pitchFamily="49" charset="-122"/>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i</a:t>
            </a:r>
            <a:r>
              <a:rPr kumimoji="1" lang="zh-CN" altLang="en-US" sz="2200" dirty="0">
                <a:latin typeface="微软雅黑" pitchFamily="34" charset="-122"/>
                <a:ea typeface="微软雅黑" pitchFamily="34" charset="-122"/>
                <a:cs typeface="经典粗黑简" pitchFamily="49" charset="-122"/>
                <a:sym typeface="Wingdings" pitchFamily="2" charset="2"/>
              </a:rPr>
              <a:t>领先于</a:t>
            </a:r>
            <a:r>
              <a:rPr kumimoji="1" lang="en-US" altLang="zh-CN" sz="2200" dirty="0" err="1">
                <a:latin typeface="微软雅黑" pitchFamily="34" charset="-122"/>
                <a:ea typeface="微软雅黑" pitchFamily="34" charset="-122"/>
                <a:cs typeface="经典粗黑简" pitchFamily="49" charset="-122"/>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j</a:t>
            </a:r>
            <a:r>
              <a:rPr kumimoji="1" lang="zh-CN" altLang="en-US" sz="2200" dirty="0">
                <a:latin typeface="微软雅黑" pitchFamily="34" charset="-122"/>
                <a:ea typeface="微软雅黑" pitchFamily="34" charset="-122"/>
                <a:cs typeface="经典粗黑简" pitchFamily="49" charset="-122"/>
              </a:rPr>
              <a:t>，排序后</a:t>
            </a:r>
            <a:r>
              <a:rPr kumimoji="1" lang="en-US" altLang="zh-CN" sz="2200" dirty="0" err="1">
                <a:latin typeface="微软雅黑" pitchFamily="34" charset="-122"/>
                <a:ea typeface="微软雅黑" pitchFamily="34" charset="-122"/>
                <a:cs typeface="经典粗黑简" pitchFamily="49" charset="-122"/>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i</a:t>
            </a:r>
            <a:r>
              <a:rPr kumimoji="1" lang="zh-CN" altLang="en-US" sz="2200" dirty="0">
                <a:latin typeface="微软雅黑" pitchFamily="34" charset="-122"/>
                <a:ea typeface="微软雅黑" pitchFamily="34" charset="-122"/>
                <a:cs typeface="经典粗黑简" pitchFamily="49" charset="-122"/>
                <a:sym typeface="Wingdings" pitchFamily="2" charset="2"/>
              </a:rPr>
              <a:t>仍领先于</a:t>
            </a:r>
            <a:r>
              <a:rPr kumimoji="1" lang="en-US" altLang="zh-CN" sz="2200" dirty="0" err="1">
                <a:latin typeface="微软雅黑" pitchFamily="34" charset="-122"/>
                <a:ea typeface="微软雅黑" pitchFamily="34" charset="-122"/>
                <a:cs typeface="经典粗黑简" pitchFamily="49" charset="-122"/>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j</a:t>
            </a:r>
            <a:r>
              <a:rPr kumimoji="1" lang="zh-CN" altLang="en-US" sz="2200" dirty="0">
                <a:latin typeface="微软雅黑" pitchFamily="34" charset="-122"/>
                <a:ea typeface="微软雅黑" pitchFamily="34" charset="-122"/>
                <a:cs typeface="经典粗黑简" pitchFamily="49" charset="-122"/>
              </a:rPr>
              <a:t>，则称所用的排序方法是</a:t>
            </a:r>
            <a:r>
              <a:rPr kumimoji="1" lang="zh-CN" altLang="en-US" sz="2200" dirty="0">
                <a:solidFill>
                  <a:srgbClr val="FF0000"/>
                </a:solidFill>
                <a:latin typeface="微软雅黑" pitchFamily="34" charset="-122"/>
                <a:ea typeface="微软雅黑" pitchFamily="34" charset="-122"/>
                <a:cs typeface="经典粗黑简" pitchFamily="49" charset="-122"/>
              </a:rPr>
              <a:t>稳定的</a:t>
            </a:r>
            <a:r>
              <a:rPr kumimoji="1" lang="zh-CN" altLang="en-US" sz="2200" dirty="0">
                <a:latin typeface="微软雅黑" pitchFamily="34" charset="-122"/>
                <a:ea typeface="微软雅黑" pitchFamily="34" charset="-122"/>
                <a:cs typeface="经典粗黑简" pitchFamily="49" charset="-122"/>
              </a:rPr>
              <a:t>；反之，若可能使排序后的序列中</a:t>
            </a:r>
            <a:r>
              <a:rPr kumimoji="1" lang="en-US" altLang="zh-CN" sz="2200" dirty="0" err="1">
                <a:latin typeface="微软雅黑" pitchFamily="34" charset="-122"/>
                <a:ea typeface="微软雅黑" pitchFamily="34" charset="-122"/>
                <a:cs typeface="经典粗黑简" pitchFamily="49" charset="-122"/>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j</a:t>
            </a:r>
            <a:r>
              <a:rPr kumimoji="1" lang="zh-CN" altLang="en-US" sz="2200" dirty="0">
                <a:latin typeface="微软雅黑" pitchFamily="34" charset="-122"/>
                <a:ea typeface="微软雅黑" pitchFamily="34" charset="-122"/>
                <a:cs typeface="经典粗黑简" pitchFamily="49" charset="-122"/>
                <a:sym typeface="Wingdings" pitchFamily="2" charset="2"/>
              </a:rPr>
              <a:t>仍领先于</a:t>
            </a:r>
            <a:r>
              <a:rPr kumimoji="1" lang="en-US" altLang="zh-CN" sz="2200" dirty="0" err="1">
                <a:latin typeface="微软雅黑" pitchFamily="34" charset="-122"/>
                <a:ea typeface="微软雅黑" pitchFamily="34" charset="-122"/>
                <a:cs typeface="经典粗黑简" pitchFamily="49" charset="-122"/>
                <a:sym typeface="Wingdings" pitchFamily="2" charset="2"/>
              </a:rPr>
              <a:t>R</a:t>
            </a:r>
            <a:r>
              <a:rPr kumimoji="1" lang="en-US" altLang="zh-CN" sz="2400" baseline="-25000" dirty="0" err="1">
                <a:latin typeface="微软雅黑" pitchFamily="34" charset="-122"/>
                <a:ea typeface="微软雅黑" pitchFamily="34" charset="-122"/>
                <a:cs typeface="经典粗黑简" pitchFamily="49" charset="-122"/>
                <a:sym typeface="Wingdings" pitchFamily="2" charset="2"/>
              </a:rPr>
              <a:t>i</a:t>
            </a:r>
            <a:r>
              <a:rPr kumimoji="1" lang="en-US" altLang="zh-CN" sz="2200" dirty="0">
                <a:latin typeface="微软雅黑" pitchFamily="34" charset="-122"/>
                <a:ea typeface="微软雅黑" pitchFamily="34" charset="-122"/>
                <a:cs typeface="经典粗黑简" pitchFamily="49" charset="-122"/>
                <a:sym typeface="Wingdings" pitchFamily="2" charset="2"/>
              </a:rPr>
              <a:t> </a:t>
            </a:r>
            <a:r>
              <a:rPr kumimoji="1" lang="zh-CN" altLang="en-US" sz="2200" dirty="0">
                <a:latin typeface="微软雅黑" pitchFamily="34" charset="-122"/>
                <a:ea typeface="微软雅黑" pitchFamily="34" charset="-122"/>
                <a:cs typeface="经典粗黑简" pitchFamily="49" charset="-122"/>
              </a:rPr>
              <a:t>，则称所用的排序方法是</a:t>
            </a:r>
            <a:r>
              <a:rPr kumimoji="1" lang="zh-CN" altLang="en-US" sz="2200" dirty="0">
                <a:solidFill>
                  <a:srgbClr val="FF0000"/>
                </a:solidFill>
                <a:latin typeface="微软雅黑" pitchFamily="34" charset="-122"/>
                <a:ea typeface="微软雅黑" pitchFamily="34" charset="-122"/>
                <a:cs typeface="经典粗黑简" pitchFamily="49" charset="-122"/>
              </a:rPr>
              <a:t>不稳定的</a:t>
            </a:r>
            <a:r>
              <a:rPr kumimoji="1" lang="zh-CN" altLang="en-US" sz="2200" dirty="0">
                <a:latin typeface="微软雅黑" pitchFamily="34" charset="-122"/>
                <a:ea typeface="微软雅黑" pitchFamily="34" charset="-122"/>
                <a:cs typeface="经典粗黑简" pitchFamily="49" charset="-122"/>
              </a:rPr>
              <a:t>。</a:t>
            </a:r>
          </a:p>
        </p:txBody>
      </p:sp>
      <p:sp>
        <p:nvSpPr>
          <p:cNvPr id="18" name="矩形 17">
            <a:extLst>
              <a:ext uri="{FF2B5EF4-FFF2-40B4-BE49-F238E27FC236}">
                <a16:creationId xmlns:a16="http://schemas.microsoft.com/office/drawing/2014/main" id="{721DE585-37CA-1041-CD0D-53FDD756B7B6}"/>
              </a:ext>
            </a:extLst>
          </p:cNvPr>
          <p:cNvSpPr/>
          <p:nvPr/>
        </p:nvSpPr>
        <p:spPr>
          <a:xfrm>
            <a:off x="695400" y="3429000"/>
            <a:ext cx="39890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5</a:t>
            </a:r>
            <a:r>
              <a:rPr lang="zh-CN" altLang="en-US" sz="2800" b="1" dirty="0">
                <a:solidFill>
                  <a:schemeClr val="bg1"/>
                </a:solidFill>
                <a:latin typeface="经典粗黑简" pitchFamily="49" charset="-122"/>
                <a:ea typeface="经典粗黑简" pitchFamily="49" charset="-122"/>
                <a:cs typeface="经典粗黑简" pitchFamily="49" charset="-122"/>
              </a:rPr>
              <a:t>、正序与逆序（反序）</a:t>
            </a:r>
          </a:p>
        </p:txBody>
      </p:sp>
      <p:sp>
        <p:nvSpPr>
          <p:cNvPr id="19" name="Text Box 4">
            <a:extLst>
              <a:ext uri="{FF2B5EF4-FFF2-40B4-BE49-F238E27FC236}">
                <a16:creationId xmlns:a16="http://schemas.microsoft.com/office/drawing/2014/main" id="{E35FB31B-33D5-2DD6-5650-7A8A1B5B4198}"/>
              </a:ext>
            </a:extLst>
          </p:cNvPr>
          <p:cNvSpPr txBox="1">
            <a:spLocks noChangeArrowheads="1"/>
          </p:cNvSpPr>
          <p:nvPr/>
        </p:nvSpPr>
        <p:spPr bwMode="auto">
          <a:xfrm>
            <a:off x="1228076" y="4070683"/>
            <a:ext cx="9289032" cy="1556361"/>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nSpc>
                <a:spcPct val="120000"/>
              </a:lnSpc>
              <a:spcBef>
                <a:spcPts val="1200"/>
              </a:spcBef>
              <a:buBlip>
                <a:blip r:embed="rId2"/>
              </a:buBlip>
            </a:pPr>
            <a:r>
              <a:rPr kumimoji="1" lang="zh-CN" altLang="en-US" sz="2200" dirty="0">
                <a:solidFill>
                  <a:schemeClr val="tx1"/>
                </a:solidFill>
                <a:latin typeface="微软雅黑" pitchFamily="34" charset="-122"/>
                <a:ea typeface="微软雅黑" pitchFamily="34" charset="-122"/>
                <a:cs typeface="经典粗黑简" pitchFamily="49" charset="-122"/>
              </a:rPr>
              <a:t>若待排序的表中元素已按关键字排好序，称此表中元素为</a:t>
            </a:r>
            <a:r>
              <a:rPr kumimoji="1" lang="zh-CN" altLang="en-US" sz="2200" dirty="0">
                <a:solidFill>
                  <a:srgbClr val="FF0000"/>
                </a:solidFill>
                <a:latin typeface="微软雅黑" pitchFamily="34" charset="-122"/>
                <a:ea typeface="微软雅黑" pitchFamily="34" charset="-122"/>
                <a:cs typeface="经典粗黑简" pitchFamily="49" charset="-122"/>
              </a:rPr>
              <a:t>正序</a:t>
            </a:r>
            <a:r>
              <a:rPr kumimoji="1" lang="zh-CN" altLang="en-US" sz="2200" dirty="0">
                <a:solidFill>
                  <a:schemeClr val="tx1"/>
                </a:solidFill>
                <a:latin typeface="微软雅黑" pitchFamily="34" charset="-122"/>
                <a:ea typeface="微软雅黑" pitchFamily="34" charset="-122"/>
                <a:cs typeface="经典粗黑简" pitchFamily="49" charset="-122"/>
              </a:rPr>
              <a:t>；</a:t>
            </a:r>
          </a:p>
          <a:p>
            <a:pPr marL="457200" indent="-457200">
              <a:lnSpc>
                <a:spcPct val="120000"/>
              </a:lnSpc>
              <a:spcBef>
                <a:spcPts val="1200"/>
              </a:spcBef>
              <a:buBlip>
                <a:blip r:embed="rId2"/>
              </a:buBlip>
            </a:pPr>
            <a:r>
              <a:rPr kumimoji="1" lang="zh-CN" altLang="en-US" sz="2200" dirty="0">
                <a:solidFill>
                  <a:schemeClr val="tx1"/>
                </a:solidFill>
                <a:latin typeface="微软雅黑" pitchFamily="34" charset="-122"/>
                <a:ea typeface="微软雅黑" pitchFamily="34" charset="-122"/>
                <a:cs typeface="经典粗黑简" pitchFamily="49" charset="-122"/>
              </a:rPr>
              <a:t>若待排序的表中元素的关键字顺序正好和排好序的顺序相反，称此表中元素为</a:t>
            </a:r>
            <a:r>
              <a:rPr kumimoji="1" lang="zh-CN" altLang="en-US" sz="2200" dirty="0">
                <a:solidFill>
                  <a:srgbClr val="FF0000"/>
                </a:solidFill>
                <a:latin typeface="微软雅黑" pitchFamily="34" charset="-122"/>
                <a:ea typeface="微软雅黑" pitchFamily="34" charset="-122"/>
                <a:cs typeface="经典粗黑简" pitchFamily="49" charset="-122"/>
              </a:rPr>
              <a:t>反序</a:t>
            </a:r>
            <a:r>
              <a:rPr kumimoji="1" lang="zh-CN" altLang="en-US" sz="2200" dirty="0">
                <a:solidFill>
                  <a:schemeClr val="tx1"/>
                </a:solidFill>
                <a:latin typeface="微软雅黑" pitchFamily="34" charset="-122"/>
                <a:ea typeface="微软雅黑" pitchFamily="34" charset="-122"/>
                <a:cs typeface="经典粗黑简" pitchFamily="49" charset="-122"/>
              </a:rPr>
              <a:t>。</a:t>
            </a:r>
          </a:p>
        </p:txBody>
      </p:sp>
      <p:sp>
        <p:nvSpPr>
          <p:cNvPr id="20" name="TextBox 5">
            <a:extLst>
              <a:ext uri="{FF2B5EF4-FFF2-40B4-BE49-F238E27FC236}">
                <a16:creationId xmlns:a16="http://schemas.microsoft.com/office/drawing/2014/main" id="{AA78639F-A819-0176-B4F6-92886D7939F2}"/>
              </a:ext>
            </a:extLst>
          </p:cNvPr>
          <p:cNvSpPr txBox="1"/>
          <p:nvPr/>
        </p:nvSpPr>
        <p:spPr>
          <a:xfrm>
            <a:off x="1732132" y="5684675"/>
            <a:ext cx="8784976" cy="873188"/>
          </a:xfrm>
          <a:prstGeom prst="rect">
            <a:avLst/>
          </a:prstGeom>
          <a:noFill/>
        </p:spPr>
        <p:txBody>
          <a:bodyPr wrap="square" rtlCol="0">
            <a:spAutoFit/>
          </a:bodyPr>
          <a:lstStyle/>
          <a:p>
            <a:pPr>
              <a:lnSpc>
                <a:spcPts val="3200"/>
              </a:lnSpc>
            </a:pPr>
            <a:r>
              <a:rPr kumimoji="1" lang="zh-CN" altLang="en-US" sz="2200" dirty="0">
                <a:latin typeface="微软雅黑" pitchFamily="34" charset="-122"/>
                <a:ea typeface="微软雅黑" pitchFamily="34" charset="-122"/>
                <a:cs typeface="经典粗黑简" pitchFamily="49" charset="-122"/>
              </a:rPr>
              <a:t>有一些排序算法与初始序列的正序或反序有关，另一些排序算法与初始序列的情况无关。</a:t>
            </a:r>
          </a:p>
        </p:txBody>
      </p:sp>
    </p:spTree>
    <p:extLst>
      <p:ext uri="{BB962C8B-B14F-4D97-AF65-F5344CB8AC3E}">
        <p14:creationId xmlns:p14="http://schemas.microsoft.com/office/powerpoint/2010/main" val="237287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7086-BA0E-3202-54F4-C6F54F1A751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FE7C342-2444-C44A-07A2-C91C4B856AB7}"/>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10.1 </a:t>
            </a:r>
            <a:r>
              <a:rPr lang="zh-CN" altLang="en-US" sz="3000" b="1" dirty="0">
                <a:latin typeface="黑体" pitchFamily="49" charset="-122"/>
                <a:ea typeface="黑体" pitchFamily="49" charset="-122"/>
                <a:cs typeface="经典粗黑简" pitchFamily="49" charset="-122"/>
              </a:rPr>
              <a:t>排序的基本概念</a:t>
            </a:r>
          </a:p>
        </p:txBody>
      </p:sp>
      <p:sp>
        <p:nvSpPr>
          <p:cNvPr id="3" name="矩形 2">
            <a:extLst>
              <a:ext uri="{FF2B5EF4-FFF2-40B4-BE49-F238E27FC236}">
                <a16:creationId xmlns:a16="http://schemas.microsoft.com/office/drawing/2014/main" id="{CFEAA4A4-D7AE-3D07-7854-4C6819327DE8}"/>
              </a:ext>
            </a:extLst>
          </p:cNvPr>
          <p:cNvSpPr/>
          <p:nvPr/>
        </p:nvSpPr>
        <p:spPr>
          <a:xfrm>
            <a:off x="695400" y="1099192"/>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6</a:t>
            </a:r>
            <a:r>
              <a:rPr lang="zh-CN" altLang="en-US" sz="2800" b="1" dirty="0">
                <a:solidFill>
                  <a:schemeClr val="bg1"/>
                </a:solidFill>
                <a:latin typeface="经典粗黑简" pitchFamily="49" charset="-122"/>
                <a:ea typeface="经典粗黑简" pitchFamily="49" charset="-122"/>
                <a:cs typeface="经典粗黑简" pitchFamily="49" charset="-122"/>
              </a:rPr>
              <a:t>、内部排序数据的组织</a:t>
            </a:r>
          </a:p>
        </p:txBody>
      </p:sp>
      <p:cxnSp>
        <p:nvCxnSpPr>
          <p:cNvPr id="4" name="直接连接符 3">
            <a:extLst>
              <a:ext uri="{FF2B5EF4-FFF2-40B4-BE49-F238E27FC236}">
                <a16:creationId xmlns:a16="http://schemas.microsoft.com/office/drawing/2014/main" id="{BCC4A655-226C-60EA-463E-6E57CC1492B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713FE8B6-F522-6558-B0B8-157E55DF169D}"/>
              </a:ext>
            </a:extLst>
          </p:cNvPr>
          <p:cNvSpPr txBox="1">
            <a:spLocks noChangeArrowheads="1"/>
          </p:cNvSpPr>
          <p:nvPr/>
        </p:nvSpPr>
        <p:spPr bwMode="auto">
          <a:xfrm>
            <a:off x="2063552" y="2636912"/>
            <a:ext cx="7818464" cy="2302508"/>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80000" tIns="180000" rIns="180000" bIns="180000">
            <a:spAutoFit/>
          </a:bodyPr>
          <a:lstStyle/>
          <a:p>
            <a:pPr>
              <a:spcBef>
                <a:spcPct val="50000"/>
              </a:spcBef>
            </a:pPr>
            <a:r>
              <a:rPr kumimoji="1" lang="en-US" altLang="zh-CN" sz="1800" dirty="0" err="1">
                <a:solidFill>
                  <a:srgbClr val="1000E4"/>
                </a:solidFill>
                <a:latin typeface="Consolas" pitchFamily="49" charset="0"/>
                <a:ea typeface="仿宋" pitchFamily="49" charset="-122"/>
                <a:cs typeface="Consolas" pitchFamily="49" charset="0"/>
              </a:rPr>
              <a:t>typedef</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int</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KeyType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定义关键字类型</a:t>
            </a:r>
          </a:p>
          <a:p>
            <a:pPr algn="just">
              <a:spcBef>
                <a:spcPct val="50000"/>
              </a:spcBef>
            </a:pPr>
            <a:r>
              <a:rPr kumimoji="1" lang="en-US" altLang="zh-CN" sz="1800" dirty="0" err="1">
                <a:solidFill>
                  <a:srgbClr val="1000E4"/>
                </a:solidFill>
                <a:latin typeface="Consolas" pitchFamily="49" charset="0"/>
                <a:ea typeface="仿宋" pitchFamily="49" charset="-122"/>
                <a:cs typeface="Consolas" pitchFamily="49" charset="0"/>
              </a:rPr>
              <a:t>typedef</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struct</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a:solidFill>
                  <a:srgbClr val="00B0F0"/>
                </a:solidFill>
                <a:latin typeface="Consolas" pitchFamily="49" charset="0"/>
                <a:ea typeface="仿宋" pitchFamily="49" charset="-122"/>
                <a:cs typeface="Consolas" pitchFamily="49" charset="0"/>
              </a:rPr>
              <a:t>元素类</a:t>
            </a:r>
            <a:r>
              <a:rPr kumimoji="1" lang="zh-CN" altLang="en-US" sz="1800" dirty="0">
                <a:solidFill>
                  <a:srgbClr val="00B0F0"/>
                </a:solidFill>
                <a:latin typeface="Consolas" pitchFamily="49" charset="0"/>
                <a:ea typeface="仿宋" pitchFamily="49" charset="-122"/>
                <a:cs typeface="Consolas" pitchFamily="49" charset="0"/>
              </a:rPr>
              <a:t>型</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KeyType </a:t>
            </a:r>
            <a:r>
              <a:rPr kumimoji="1" lang="en-US" altLang="zh-CN" sz="1800" dirty="0">
                <a:solidFill>
                  <a:srgbClr val="FF00FF"/>
                </a:solidFill>
                <a:latin typeface="Consolas" pitchFamily="49" charset="0"/>
                <a:ea typeface="仿宋" pitchFamily="49" charset="-122"/>
                <a:cs typeface="Consolas" pitchFamily="49" charset="0"/>
              </a:rPr>
              <a:t>key;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关键字项</a:t>
            </a:r>
          </a:p>
          <a:p>
            <a:pPr algn="just">
              <a:spcBef>
                <a:spcPct val="5000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InfoType </a:t>
            </a:r>
            <a:r>
              <a:rPr kumimoji="1" lang="en-US" altLang="zh-CN" sz="1800" dirty="0">
                <a:solidFill>
                  <a:srgbClr val="1000E4"/>
                </a:solidFill>
                <a:latin typeface="Consolas" pitchFamily="49" charset="0"/>
                <a:ea typeface="仿宋" pitchFamily="49" charset="-122"/>
                <a:cs typeface="Consolas" pitchFamily="49" charset="0"/>
              </a:rPr>
              <a:t>data;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a:solidFill>
                  <a:srgbClr val="00B0F0"/>
                </a:solidFill>
                <a:latin typeface="Consolas" pitchFamily="49" charset="0"/>
                <a:ea typeface="仿宋" pitchFamily="49" charset="-122"/>
                <a:cs typeface="Consolas" pitchFamily="49" charset="0"/>
              </a:rPr>
              <a:t>其他数据项，类型</a:t>
            </a:r>
            <a:r>
              <a:rPr kumimoji="1" lang="zh-CN" altLang="en-US" sz="1800" dirty="0">
                <a:solidFill>
                  <a:srgbClr val="00B0F0"/>
                </a:solidFill>
                <a:latin typeface="Consolas" pitchFamily="49" charset="0"/>
                <a:ea typeface="仿宋" pitchFamily="49" charset="-122"/>
                <a:cs typeface="Consolas" pitchFamily="49" charset="0"/>
              </a:rPr>
              <a:t>为</a:t>
            </a:r>
            <a:r>
              <a:rPr kumimoji="1" lang="en-US" altLang="zh-CN" sz="1800" dirty="0" err="1">
                <a:solidFill>
                  <a:srgbClr val="00B0F0"/>
                </a:solidFill>
                <a:latin typeface="Consolas" pitchFamily="49" charset="0"/>
                <a:ea typeface="仿宋" pitchFamily="49" charset="-122"/>
                <a:cs typeface="Consolas" pitchFamily="49" charset="0"/>
              </a:rPr>
              <a:t>InfoType</a:t>
            </a:r>
            <a:endParaRPr kumimoji="1" lang="en-US" altLang="zh-CN" sz="1800" dirty="0">
              <a:solidFill>
                <a:srgbClr val="00B0F0"/>
              </a:solidFill>
              <a:latin typeface="Consolas" pitchFamily="49" charset="0"/>
              <a:ea typeface="仿宋" pitchFamily="49" charset="-122"/>
              <a:cs typeface="Consolas" pitchFamily="49" charset="0"/>
            </a:endParaRPr>
          </a:p>
          <a:p>
            <a:pPr>
              <a:spcBef>
                <a:spcPct val="5000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排</a:t>
            </a:r>
            <a:r>
              <a:rPr kumimoji="1" lang="zh-CN" altLang="en-US" sz="1800">
                <a:solidFill>
                  <a:srgbClr val="00B0F0"/>
                </a:solidFill>
                <a:latin typeface="Consolas" pitchFamily="49" charset="0"/>
                <a:ea typeface="仿宋" pitchFamily="49" charset="-122"/>
                <a:cs typeface="Consolas" pitchFamily="49" charset="0"/>
              </a:rPr>
              <a:t>序的元素类</a:t>
            </a:r>
            <a:r>
              <a:rPr kumimoji="1" lang="zh-CN" altLang="en-US" sz="1800" dirty="0">
                <a:solidFill>
                  <a:srgbClr val="00B0F0"/>
                </a:solidFill>
                <a:latin typeface="Consolas" pitchFamily="49" charset="0"/>
                <a:ea typeface="仿宋" pitchFamily="49" charset="-122"/>
                <a:cs typeface="Consolas" pitchFamily="49" charset="0"/>
              </a:rPr>
              <a:t>型定义 </a:t>
            </a:r>
          </a:p>
        </p:txBody>
      </p:sp>
      <p:sp>
        <p:nvSpPr>
          <p:cNvPr id="6" name="Text Box 4">
            <a:extLst>
              <a:ext uri="{FF2B5EF4-FFF2-40B4-BE49-F238E27FC236}">
                <a16:creationId xmlns:a16="http://schemas.microsoft.com/office/drawing/2014/main" id="{3112B6D5-767A-3E24-EAA7-78718BF42A76}"/>
              </a:ext>
            </a:extLst>
          </p:cNvPr>
          <p:cNvSpPr txBox="1">
            <a:spLocks noChangeArrowheads="1"/>
          </p:cNvSpPr>
          <p:nvPr/>
        </p:nvSpPr>
        <p:spPr bwMode="auto">
          <a:xfrm>
            <a:off x="1888955" y="1922532"/>
            <a:ext cx="5532447" cy="430887"/>
          </a:xfrm>
          <a:prstGeom prst="rect">
            <a:avLst/>
          </a:prstGeom>
          <a:noFill/>
          <a:ln w="9525">
            <a:noFill/>
            <a:miter lim="800000"/>
            <a:headEnd/>
            <a:tailEnd/>
          </a:ln>
          <a:effectLst/>
        </p:spPr>
        <p:txBody>
          <a:bodyPr wrap="square">
            <a:spAutoFit/>
          </a:bodyPr>
          <a:lstStyle/>
          <a:p>
            <a:pPr>
              <a:spcBef>
                <a:spcPct val="50000"/>
              </a:spcBef>
            </a:pPr>
            <a:r>
              <a:rPr kumimoji="1" lang="en-US" altLang="zh-CN" sz="2000" dirty="0">
                <a:solidFill>
                  <a:srgbClr val="3333FF"/>
                </a:solidFill>
                <a:latin typeface="楷体" pitchFamily="49" charset="-122"/>
                <a:ea typeface="楷体" pitchFamily="49" charset="-122"/>
              </a:rPr>
              <a:t> </a:t>
            </a:r>
            <a:r>
              <a:rPr kumimoji="1" lang="zh-CN" altLang="en-US" sz="2200" dirty="0">
                <a:latin typeface="微软雅黑" pitchFamily="34" charset="-122"/>
                <a:ea typeface="微软雅黑" pitchFamily="34" charset="-122"/>
                <a:cs typeface="经典粗黑简" pitchFamily="49" charset="-122"/>
              </a:rPr>
              <a:t>待排序的顺序表的数据元素类型声明如下：</a:t>
            </a:r>
          </a:p>
        </p:txBody>
      </p:sp>
    </p:spTree>
    <p:extLst>
      <p:ext uri="{BB962C8B-B14F-4D97-AF65-F5344CB8AC3E}">
        <p14:creationId xmlns:p14="http://schemas.microsoft.com/office/powerpoint/2010/main" val="37970988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27448" y="4326196"/>
            <a:ext cx="9145016" cy="830997"/>
          </a:xfrm>
          <a:prstGeom prst="rect">
            <a:avLst/>
          </a:prstGeom>
        </p:spPr>
        <p:txBody>
          <a:bodyPr wrap="square">
            <a:spAutoFit/>
          </a:bodyPr>
          <a:lstStyle/>
          <a:p>
            <a:pPr marL="742950" lvl="1" indent="-285750">
              <a:buClr>
                <a:schemeClr val="folHlink"/>
              </a:buClr>
              <a:buSzPct val="75000"/>
              <a:buFont typeface="Wingdings" pitchFamily="2" charset="2"/>
              <a:buChar char="Ø"/>
            </a:pPr>
            <a:r>
              <a:rPr kumimoji="1" lang="zh-CN" altLang="en-US" sz="2400" dirty="0">
                <a:latin typeface="微软雅黑" pitchFamily="34" charset="-122"/>
                <a:ea typeface="微软雅黑" pitchFamily="34" charset="-122"/>
                <a:cs typeface="经典粗黑简" pitchFamily="49" charset="-122"/>
              </a:rPr>
              <a:t>针对一种排序方法，不仅要分析它的</a:t>
            </a:r>
            <a:r>
              <a:rPr kumimoji="1" lang="zh-CN" altLang="en-US" sz="2400" dirty="0">
                <a:solidFill>
                  <a:srgbClr val="FF0000"/>
                </a:solidFill>
                <a:latin typeface="微软雅黑" pitchFamily="34" charset="-122"/>
                <a:ea typeface="微软雅黑" pitchFamily="34" charset="-122"/>
                <a:cs typeface="经典粗黑简" pitchFamily="49" charset="-122"/>
              </a:rPr>
              <a:t>时间复杂性</a:t>
            </a:r>
            <a:r>
              <a:rPr kumimoji="1" lang="zh-CN" altLang="en-US" sz="2400" dirty="0">
                <a:latin typeface="微软雅黑" pitchFamily="34" charset="-122"/>
                <a:ea typeface="微软雅黑" pitchFamily="34" charset="-122"/>
                <a:cs typeface="经典粗黑简" pitchFamily="49" charset="-122"/>
              </a:rPr>
              <a:t>，而且要分析它的</a:t>
            </a:r>
            <a:r>
              <a:rPr kumimoji="1" lang="zh-CN" altLang="en-US" sz="2400" dirty="0">
                <a:solidFill>
                  <a:srgbClr val="FF0000"/>
                </a:solidFill>
                <a:latin typeface="微软雅黑" pitchFamily="34" charset="-122"/>
                <a:ea typeface="微软雅黑" pitchFamily="34" charset="-122"/>
                <a:cs typeface="经典粗黑简" pitchFamily="49" charset="-122"/>
              </a:rPr>
              <a:t>空间复杂性</a:t>
            </a:r>
            <a:r>
              <a:rPr kumimoji="1" lang="zh-CN" altLang="en-US" sz="2400" dirty="0">
                <a:latin typeface="微软雅黑" pitchFamily="34" charset="-122"/>
                <a:ea typeface="微软雅黑" pitchFamily="34" charset="-122"/>
                <a:cs typeface="经典粗黑简" pitchFamily="49" charset="-122"/>
              </a:rPr>
              <a:t>、</a:t>
            </a:r>
            <a:r>
              <a:rPr kumimoji="1" lang="zh-CN" altLang="en-US" sz="2400" dirty="0">
                <a:solidFill>
                  <a:srgbClr val="FF0000"/>
                </a:solidFill>
                <a:latin typeface="微软雅黑" pitchFamily="34" charset="-122"/>
                <a:ea typeface="微软雅黑" pitchFamily="34" charset="-122"/>
                <a:cs typeface="经典粗黑简" pitchFamily="49" charset="-122"/>
              </a:rPr>
              <a:t>稳定性</a:t>
            </a:r>
            <a:r>
              <a:rPr kumimoji="1" lang="zh-CN" altLang="en-US" sz="2400" dirty="0">
                <a:latin typeface="微软雅黑" pitchFamily="34" charset="-122"/>
                <a:ea typeface="微软雅黑" pitchFamily="34" charset="-122"/>
                <a:cs typeface="经典粗黑简" pitchFamily="49" charset="-122"/>
              </a:rPr>
              <a:t>和</a:t>
            </a:r>
            <a:r>
              <a:rPr kumimoji="1" lang="zh-CN" altLang="en-US" sz="2400" dirty="0">
                <a:solidFill>
                  <a:srgbClr val="FF0000"/>
                </a:solidFill>
                <a:latin typeface="微软雅黑" pitchFamily="34" charset="-122"/>
                <a:ea typeface="微软雅黑" pitchFamily="34" charset="-122"/>
                <a:cs typeface="经典粗黑简" pitchFamily="49" charset="-122"/>
              </a:rPr>
              <a:t>简单性</a:t>
            </a:r>
            <a:r>
              <a:rPr kumimoji="1" lang="zh-CN" altLang="en-US" sz="2400" dirty="0">
                <a:latin typeface="微软雅黑" pitchFamily="34" charset="-122"/>
                <a:ea typeface="微软雅黑" pitchFamily="34" charset="-122"/>
                <a:cs typeface="经典粗黑简" pitchFamily="49" charset="-122"/>
              </a:rPr>
              <a:t>等。</a:t>
            </a:r>
          </a:p>
        </p:txBody>
      </p:sp>
      <p:sp>
        <p:nvSpPr>
          <p:cNvPr id="6" name="矩形 5"/>
          <p:cNvSpPr/>
          <p:nvPr/>
        </p:nvSpPr>
        <p:spPr>
          <a:xfrm>
            <a:off x="1055441" y="2302911"/>
            <a:ext cx="9001002" cy="1938992"/>
          </a:xfrm>
          <a:prstGeom prst="rect">
            <a:avLst/>
          </a:prstGeom>
        </p:spPr>
        <p:txBody>
          <a:bodyPr wrap="square">
            <a:spAutoFit/>
          </a:bodyPr>
          <a:lstStyle/>
          <a:p>
            <a:pPr marL="742950" lvl="1" indent="-285750">
              <a:buClr>
                <a:schemeClr val="folHlink"/>
              </a:buClr>
              <a:buSzPct val="75000"/>
              <a:buFont typeface="Wingdings" pitchFamily="2" charset="2"/>
              <a:buChar char="Ø"/>
            </a:pPr>
            <a:r>
              <a:rPr kumimoji="1" lang="zh-CN" altLang="en-US" sz="2400" dirty="0">
                <a:latin typeface="微软雅黑" pitchFamily="34" charset="-122"/>
                <a:ea typeface="微软雅黑" pitchFamily="34" charset="-122"/>
                <a:cs typeface="经典粗黑简" pitchFamily="49" charset="-122"/>
              </a:rPr>
              <a:t>排序过程主要是进行记录的关键字</a:t>
            </a:r>
            <a:r>
              <a:rPr kumimoji="1" lang="zh-CN" altLang="en-US" sz="2400" dirty="0">
                <a:solidFill>
                  <a:srgbClr val="FF0000"/>
                </a:solidFill>
                <a:latin typeface="微软雅黑" pitchFamily="34" charset="-122"/>
                <a:ea typeface="微软雅黑" pitchFamily="34" charset="-122"/>
                <a:cs typeface="经典粗黑简" pitchFamily="49" charset="-122"/>
              </a:rPr>
              <a:t>比较</a:t>
            </a:r>
            <a:r>
              <a:rPr kumimoji="1" lang="zh-CN" altLang="en-US" sz="2400" dirty="0">
                <a:latin typeface="微软雅黑" pitchFamily="34" charset="-122"/>
                <a:ea typeface="微软雅黑" pitchFamily="34" charset="-122"/>
                <a:cs typeface="经典粗黑简" pitchFamily="49" charset="-122"/>
              </a:rPr>
              <a:t>和记录的</a:t>
            </a:r>
            <a:r>
              <a:rPr kumimoji="1" lang="zh-CN" altLang="en-US" sz="2400" dirty="0">
                <a:solidFill>
                  <a:srgbClr val="FF0000"/>
                </a:solidFill>
                <a:latin typeface="微软雅黑" pitchFamily="34" charset="-122"/>
                <a:ea typeface="微软雅黑" pitchFamily="34" charset="-122"/>
                <a:cs typeface="经典粗黑简" pitchFamily="49" charset="-122"/>
              </a:rPr>
              <a:t>移动</a:t>
            </a:r>
            <a:r>
              <a:rPr kumimoji="1" lang="zh-CN" altLang="en-US" sz="2400" dirty="0">
                <a:latin typeface="微软雅黑" pitchFamily="34" charset="-122"/>
                <a:ea typeface="微软雅黑" pitchFamily="34" charset="-122"/>
                <a:cs typeface="经典粗黑简" pitchFamily="49" charset="-122"/>
              </a:rPr>
              <a:t>。因此排序的时间复杂性可以算法执行中的数据比较次数及数据移动次数来衡量。当一种排序方法使排序过程在最坏或平均情况下所进行的比较和移动次数越少，则认为该方法的时间复杂性就越好。</a:t>
            </a:r>
          </a:p>
        </p:txBody>
      </p:sp>
      <p:sp>
        <p:nvSpPr>
          <p:cNvPr id="2" name="矩形 1">
            <a:extLst>
              <a:ext uri="{FF2B5EF4-FFF2-40B4-BE49-F238E27FC236}">
                <a16:creationId xmlns:a16="http://schemas.microsoft.com/office/drawing/2014/main" id="{1FBE0576-A021-0FD6-33EE-A4EEE6B0573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10.1 </a:t>
            </a:r>
            <a:r>
              <a:rPr lang="zh-CN" altLang="en-US" sz="3000" b="1" dirty="0">
                <a:latin typeface="黑体" pitchFamily="49" charset="-122"/>
                <a:ea typeface="黑体" pitchFamily="49" charset="-122"/>
                <a:cs typeface="经典粗黑简" pitchFamily="49" charset="-122"/>
              </a:rPr>
              <a:t>排序的基本概念</a:t>
            </a:r>
          </a:p>
        </p:txBody>
      </p:sp>
      <p:sp>
        <p:nvSpPr>
          <p:cNvPr id="3" name="矩形 2">
            <a:extLst>
              <a:ext uri="{FF2B5EF4-FFF2-40B4-BE49-F238E27FC236}">
                <a16:creationId xmlns:a16="http://schemas.microsoft.com/office/drawing/2014/main" id="{10488854-2668-E844-B9EE-B6C0C60ED6FF}"/>
              </a:ext>
            </a:extLst>
          </p:cNvPr>
          <p:cNvSpPr/>
          <p:nvPr/>
        </p:nvSpPr>
        <p:spPr>
          <a:xfrm>
            <a:off x="695400" y="1099192"/>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7</a:t>
            </a:r>
            <a:r>
              <a:rPr lang="zh-CN" altLang="en-US" sz="2800" b="1" dirty="0">
                <a:solidFill>
                  <a:schemeClr val="bg1"/>
                </a:solidFill>
                <a:latin typeface="经典粗黑简" pitchFamily="49" charset="-122"/>
                <a:ea typeface="经典粗黑简" pitchFamily="49" charset="-122"/>
                <a:cs typeface="经典粗黑简" pitchFamily="49" charset="-122"/>
              </a:rPr>
              <a:t>、排序方法度量</a:t>
            </a:r>
          </a:p>
        </p:txBody>
      </p:sp>
      <p:cxnSp>
        <p:nvCxnSpPr>
          <p:cNvPr id="4" name="直接连接符 3">
            <a:extLst>
              <a:ext uri="{FF2B5EF4-FFF2-40B4-BE49-F238E27FC236}">
                <a16:creationId xmlns:a16="http://schemas.microsoft.com/office/drawing/2014/main" id="{D4B1FBB6-86F1-515D-EBBA-6E87CECA51F5}"/>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6581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15480" y="1844421"/>
            <a:ext cx="8568952" cy="1569660"/>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将待排序表看做是左、右两部分，其中左边为有序区，右边为无序区，整个排序过程就是将右边无序区中的记录依次按关键字大小逐个插入到左边有序区中，以构成新的有序区，直到全部记录都排好序。</a:t>
            </a:r>
          </a:p>
        </p:txBody>
      </p:sp>
      <p:sp>
        <p:nvSpPr>
          <p:cNvPr id="13" name="矩形 12"/>
          <p:cNvSpPr/>
          <p:nvPr/>
        </p:nvSpPr>
        <p:spPr>
          <a:xfrm>
            <a:off x="1426323" y="3861048"/>
            <a:ext cx="4317753" cy="1569660"/>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三种插入排序方法：</a:t>
            </a:r>
            <a:endParaRPr kumimoji="1" lang="en-US" altLang="zh-CN" sz="2400" dirty="0">
              <a:latin typeface="微软雅黑" pitchFamily="34" charset="-122"/>
              <a:ea typeface="微软雅黑" pitchFamily="34" charset="-122"/>
              <a:cs typeface="经典粗黑简" pitchFamily="49" charset="-122"/>
            </a:endParaRPr>
          </a:p>
          <a:p>
            <a:pPr lvl="2">
              <a:defRPr/>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）直接插入排序</a:t>
            </a:r>
            <a:endParaRPr kumimoji="1" lang="en-US" altLang="zh-CN" sz="2400" dirty="0">
              <a:latin typeface="微软雅黑" pitchFamily="34" charset="-122"/>
              <a:ea typeface="微软雅黑" pitchFamily="34" charset="-122"/>
              <a:cs typeface="经典粗黑简" pitchFamily="49" charset="-122"/>
            </a:endParaRPr>
          </a:p>
          <a:p>
            <a:pPr lvl="2">
              <a:defRPr/>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）折半插入排序</a:t>
            </a:r>
            <a:endParaRPr kumimoji="1" lang="en-US" altLang="zh-CN" sz="2400" dirty="0">
              <a:latin typeface="微软雅黑" pitchFamily="34" charset="-122"/>
              <a:ea typeface="微软雅黑" pitchFamily="34" charset="-122"/>
              <a:cs typeface="经典粗黑简" pitchFamily="49" charset="-122"/>
            </a:endParaRPr>
          </a:p>
          <a:p>
            <a:pPr lvl="2">
              <a:defRPr/>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）希尔排序</a:t>
            </a:r>
            <a:endParaRPr lang="zh-CN" altLang="en-US" dirty="0"/>
          </a:p>
        </p:txBody>
      </p:sp>
      <p:sp>
        <p:nvSpPr>
          <p:cNvPr id="2" name="矩形 1">
            <a:extLst>
              <a:ext uri="{FF2B5EF4-FFF2-40B4-BE49-F238E27FC236}">
                <a16:creationId xmlns:a16="http://schemas.microsoft.com/office/drawing/2014/main" id="{468293DD-9049-A2F3-A0C7-158EBBA4B87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cxnSp>
        <p:nvCxnSpPr>
          <p:cNvPr id="5" name="直接连接符 4">
            <a:extLst>
              <a:ext uri="{FF2B5EF4-FFF2-40B4-BE49-F238E27FC236}">
                <a16:creationId xmlns:a16="http://schemas.microsoft.com/office/drawing/2014/main" id="{B6C41089-8005-BCAF-8595-35594B5A352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E3100B2-10F4-F3F6-1F04-252A427A5083}"/>
              </a:ext>
            </a:extLst>
          </p:cNvPr>
          <p:cNvSpPr txBox="1"/>
          <p:nvPr/>
        </p:nvSpPr>
        <p:spPr>
          <a:xfrm>
            <a:off x="1415480" y="1325446"/>
            <a:ext cx="1657547" cy="461665"/>
          </a:xfrm>
          <a:prstGeom prst="rect">
            <a:avLst/>
          </a:prstGeom>
          <a:noFill/>
        </p:spPr>
        <p:txBody>
          <a:bodyPr wrap="square">
            <a:spAutoFit/>
          </a:bodyPr>
          <a:lstStyle/>
          <a:p>
            <a:r>
              <a:rPr kumimoji="1" lang="zh-CN" altLang="en-US" sz="2400" dirty="0">
                <a:solidFill>
                  <a:srgbClr val="FF0000"/>
                </a:solidFill>
                <a:latin typeface="微软雅黑" pitchFamily="34" charset="-122"/>
                <a:ea typeface="微软雅黑" pitchFamily="34" charset="-122"/>
                <a:cs typeface="经典粗黑简" pitchFamily="49" charset="-122"/>
              </a:rPr>
              <a:t>基本思想：</a:t>
            </a:r>
          </a:p>
        </p:txBody>
      </p:sp>
    </p:spTree>
    <p:extLst>
      <p:ext uri="{BB962C8B-B14F-4D97-AF65-F5344CB8AC3E}">
        <p14:creationId xmlns:p14="http://schemas.microsoft.com/office/powerpoint/2010/main" val="8848575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87488" y="2852936"/>
            <a:ext cx="9145016" cy="1938992"/>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       把</a:t>
            </a:r>
            <a:r>
              <a:rPr kumimoji="1" lang="en-US" altLang="zh-CN" sz="2400" dirty="0">
                <a:latin typeface="微软雅黑" pitchFamily="34" charset="-122"/>
                <a:ea typeface="微软雅黑" pitchFamily="34" charset="-122"/>
                <a:cs typeface="经典粗黑简" pitchFamily="49" charset="-122"/>
              </a:rPr>
              <a:t>n</a:t>
            </a:r>
            <a:r>
              <a:rPr kumimoji="1" lang="zh-CN" altLang="en-US" sz="2400" dirty="0">
                <a:latin typeface="微软雅黑" pitchFamily="34" charset="-122"/>
                <a:ea typeface="微软雅黑" pitchFamily="34" charset="-122"/>
                <a:cs typeface="经典粗黑简" pitchFamily="49" charset="-122"/>
              </a:rPr>
              <a:t>个待排序的元素看作由两部分组成：一个</a:t>
            </a:r>
            <a:r>
              <a:rPr kumimoji="1" lang="zh-CN" altLang="en-US" sz="2400" dirty="0">
                <a:solidFill>
                  <a:srgbClr val="FF0000"/>
                </a:solidFill>
                <a:latin typeface="微软雅黑" pitchFamily="34" charset="-122"/>
                <a:ea typeface="微软雅黑" pitchFamily="34" charset="-122"/>
                <a:cs typeface="经典粗黑简" pitchFamily="49" charset="-122"/>
              </a:rPr>
              <a:t>有序表</a:t>
            </a:r>
            <a:r>
              <a:rPr kumimoji="1" lang="zh-CN" altLang="en-US" sz="2400" dirty="0">
                <a:latin typeface="微软雅黑" pitchFamily="34" charset="-122"/>
                <a:ea typeface="微软雅黑" pitchFamily="34" charset="-122"/>
                <a:cs typeface="经典粗黑简" pitchFamily="49" charset="-122"/>
              </a:rPr>
              <a:t>和一个</a:t>
            </a:r>
            <a:r>
              <a:rPr kumimoji="1" lang="zh-CN" altLang="en-US" sz="2400" dirty="0">
                <a:solidFill>
                  <a:srgbClr val="FF0000"/>
                </a:solidFill>
                <a:latin typeface="微软雅黑" pitchFamily="34" charset="-122"/>
                <a:ea typeface="微软雅黑" pitchFamily="34" charset="-122"/>
                <a:cs typeface="经典粗黑简" pitchFamily="49" charset="-122"/>
              </a:rPr>
              <a:t>无序表</a:t>
            </a:r>
            <a:r>
              <a:rPr kumimoji="1" lang="zh-CN" altLang="en-US" sz="2400" dirty="0">
                <a:latin typeface="微软雅黑" pitchFamily="34" charset="-122"/>
                <a:ea typeface="微软雅黑" pitchFamily="34" charset="-122"/>
                <a:cs typeface="经典粗黑简" pitchFamily="49" charset="-122"/>
              </a:rPr>
              <a:t>。开始时有序表中只包含一个元素，无序表中包含有</a:t>
            </a:r>
            <a:r>
              <a:rPr kumimoji="1" lang="en-US" altLang="zh-CN" sz="2400" dirty="0">
                <a:latin typeface="微软雅黑" pitchFamily="34" charset="-122"/>
                <a:ea typeface="微软雅黑" pitchFamily="34" charset="-122"/>
                <a:cs typeface="经典粗黑简" pitchFamily="49" charset="-122"/>
              </a:rPr>
              <a:t>n-1</a:t>
            </a:r>
            <a:r>
              <a:rPr kumimoji="1" lang="zh-CN" altLang="en-US" sz="2400" dirty="0">
                <a:latin typeface="微软雅黑" pitchFamily="34" charset="-122"/>
                <a:ea typeface="微软雅黑" pitchFamily="34" charset="-122"/>
                <a:cs typeface="经典粗黑简" pitchFamily="49" charset="-122"/>
              </a:rPr>
              <a:t>个元素。排序过程中，每次从无序表中取出第一个元素，令其关键字依次与有序表元素的关键字进行比较，将其插入到有序表中的适当位置，使有序表的长度不断加长，完成排序过程。</a:t>
            </a:r>
          </a:p>
        </p:txBody>
      </p:sp>
      <p:sp>
        <p:nvSpPr>
          <p:cNvPr id="8" name="矩形 7"/>
          <p:cNvSpPr/>
          <p:nvPr/>
        </p:nvSpPr>
        <p:spPr>
          <a:xfrm>
            <a:off x="1415480" y="2021453"/>
            <a:ext cx="7200799" cy="461665"/>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直接插入排序</a:t>
            </a:r>
            <a:r>
              <a:rPr kumimoji="1" lang="en-US" altLang="zh-CN" sz="2400" dirty="0">
                <a:latin typeface="微软雅黑" pitchFamily="34" charset="-122"/>
                <a:ea typeface="微软雅黑" pitchFamily="34" charset="-122"/>
                <a:cs typeface="经典粗黑简" pitchFamily="49" charset="-122"/>
              </a:rPr>
              <a:t>(</a:t>
            </a:r>
            <a:r>
              <a:rPr lang="en-US" altLang="zh-CN" sz="2400" dirty="0">
                <a:latin typeface="Times New Roman" pitchFamily="18" charset="0"/>
                <a:ea typeface="隶书" pitchFamily="49" charset="-122"/>
                <a:cs typeface="Times New Roman" pitchFamily="18" charset="0"/>
              </a:rPr>
              <a:t>Straight Insertion Sorting</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的基本思想是：</a:t>
            </a:r>
          </a:p>
        </p:txBody>
      </p:sp>
      <p:sp>
        <p:nvSpPr>
          <p:cNvPr id="3" name="矩形 2">
            <a:extLst>
              <a:ext uri="{FF2B5EF4-FFF2-40B4-BE49-F238E27FC236}">
                <a16:creationId xmlns:a16="http://schemas.microsoft.com/office/drawing/2014/main" id="{633E64F7-BFFC-5630-E0D8-72C2E3EE7B18}"/>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10.2.1 </a:t>
            </a:r>
            <a:r>
              <a:rPr lang="zh-CN" altLang="en-US" sz="2800" b="1" dirty="0">
                <a:solidFill>
                  <a:schemeClr val="bg1"/>
                </a:solidFill>
                <a:latin typeface="经典粗黑简" pitchFamily="49" charset="-122"/>
                <a:ea typeface="经典粗黑简" pitchFamily="49" charset="-122"/>
                <a:cs typeface="经典粗黑简" pitchFamily="49" charset="-122"/>
              </a:rPr>
              <a:t>直接插入排序</a:t>
            </a:r>
          </a:p>
        </p:txBody>
      </p:sp>
      <p:cxnSp>
        <p:nvCxnSpPr>
          <p:cNvPr id="4" name="直接连接符 3">
            <a:extLst>
              <a:ext uri="{FF2B5EF4-FFF2-40B4-BE49-F238E27FC236}">
                <a16:creationId xmlns:a16="http://schemas.microsoft.com/office/drawing/2014/main" id="{43C1407F-C3A8-873D-CDE7-82504FE3CA6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63F205EC-D2D9-1847-2355-D383FDE0E2C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7666428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8543926" y="1977282"/>
            <a:ext cx="1971675" cy="4349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lgn="ctr">
              <a:lnSpc>
                <a:spcPct val="90000"/>
              </a:lnSpc>
              <a:spcBef>
                <a:spcPct val="50000"/>
              </a:spcBef>
              <a:buNone/>
            </a:pPr>
            <a:r>
              <a:rPr kumimoji="1" lang="zh-CN" altLang="en-US" sz="2000" dirty="0">
                <a:latin typeface="微软雅黑" pitchFamily="34" charset="-122"/>
                <a:ea typeface="微软雅黑" pitchFamily="34" charset="-122"/>
                <a:cs typeface="经典粗黑简" pitchFamily="49" charset="-122"/>
              </a:rPr>
              <a:t>初始关键字序列</a:t>
            </a:r>
          </a:p>
        </p:txBody>
      </p:sp>
      <p:sp>
        <p:nvSpPr>
          <p:cNvPr id="6148" name="Rectangle 4"/>
          <p:cNvSpPr>
            <a:spLocks noChangeArrowheads="1"/>
          </p:cNvSpPr>
          <p:nvPr/>
        </p:nvSpPr>
        <p:spPr bwMode="auto">
          <a:xfrm>
            <a:off x="335280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149" name="Rectangle 5"/>
          <p:cNvSpPr>
            <a:spLocks noChangeArrowheads="1"/>
          </p:cNvSpPr>
          <p:nvPr/>
        </p:nvSpPr>
        <p:spPr bwMode="auto">
          <a:xfrm>
            <a:off x="398145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12</a:t>
            </a:r>
          </a:p>
        </p:txBody>
      </p:sp>
      <p:sp>
        <p:nvSpPr>
          <p:cNvPr id="6150" name="Rectangle 6"/>
          <p:cNvSpPr>
            <a:spLocks noChangeArrowheads="1"/>
          </p:cNvSpPr>
          <p:nvPr/>
        </p:nvSpPr>
        <p:spPr bwMode="auto">
          <a:xfrm>
            <a:off x="461010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151" name="Rectangle 7"/>
          <p:cNvSpPr>
            <a:spLocks noChangeArrowheads="1"/>
          </p:cNvSpPr>
          <p:nvPr/>
        </p:nvSpPr>
        <p:spPr bwMode="auto">
          <a:xfrm>
            <a:off x="523875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28</a:t>
            </a:r>
          </a:p>
        </p:txBody>
      </p:sp>
      <p:sp>
        <p:nvSpPr>
          <p:cNvPr id="6152" name="Rectangle 8"/>
          <p:cNvSpPr>
            <a:spLocks noChangeArrowheads="1"/>
          </p:cNvSpPr>
          <p:nvPr/>
        </p:nvSpPr>
        <p:spPr bwMode="auto">
          <a:xfrm>
            <a:off x="586740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6153" name="Rectangle 9"/>
          <p:cNvSpPr>
            <a:spLocks noChangeArrowheads="1"/>
          </p:cNvSpPr>
          <p:nvPr/>
        </p:nvSpPr>
        <p:spPr bwMode="auto">
          <a:xfrm>
            <a:off x="649605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6154" name="Rectangle 10"/>
          <p:cNvSpPr>
            <a:spLocks noChangeArrowheads="1"/>
          </p:cNvSpPr>
          <p:nvPr/>
        </p:nvSpPr>
        <p:spPr bwMode="auto">
          <a:xfrm>
            <a:off x="712470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6155" name="Rectangle 11"/>
          <p:cNvSpPr>
            <a:spLocks noChangeArrowheads="1"/>
          </p:cNvSpPr>
          <p:nvPr/>
        </p:nvSpPr>
        <p:spPr bwMode="auto">
          <a:xfrm>
            <a:off x="7753350" y="2021732"/>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grpSp>
        <p:nvGrpSpPr>
          <p:cNvPr id="6156" name="Group 12"/>
          <p:cNvGrpSpPr>
            <a:grpSpLocks/>
          </p:cNvGrpSpPr>
          <p:nvPr/>
        </p:nvGrpSpPr>
        <p:grpSpPr bwMode="auto">
          <a:xfrm>
            <a:off x="3352800" y="1700808"/>
            <a:ext cx="5029200" cy="381000"/>
            <a:chOff x="1440" y="1488"/>
            <a:chExt cx="3168" cy="432"/>
          </a:xfrm>
        </p:grpSpPr>
        <p:sp>
          <p:nvSpPr>
            <p:cNvPr id="6260" name="Rectangle 13"/>
            <p:cNvSpPr>
              <a:spLocks noChangeArrowheads="1"/>
            </p:cNvSpPr>
            <p:nvPr/>
          </p:nvSpPr>
          <p:spPr bwMode="auto">
            <a:xfrm>
              <a:off x="1440"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6261" name="Rectangle 14"/>
            <p:cNvSpPr>
              <a:spLocks noChangeArrowheads="1"/>
            </p:cNvSpPr>
            <p:nvPr/>
          </p:nvSpPr>
          <p:spPr bwMode="auto">
            <a:xfrm>
              <a:off x="1836"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6262" name="Rectangle 15"/>
            <p:cNvSpPr>
              <a:spLocks noChangeArrowheads="1"/>
            </p:cNvSpPr>
            <p:nvPr/>
          </p:nvSpPr>
          <p:spPr bwMode="auto">
            <a:xfrm>
              <a:off x="2232"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6263" name="Rectangle 16"/>
            <p:cNvSpPr>
              <a:spLocks noChangeArrowheads="1"/>
            </p:cNvSpPr>
            <p:nvPr/>
          </p:nvSpPr>
          <p:spPr bwMode="auto">
            <a:xfrm>
              <a:off x="2628"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6264" name="Rectangle 17"/>
            <p:cNvSpPr>
              <a:spLocks noChangeArrowheads="1"/>
            </p:cNvSpPr>
            <p:nvPr/>
          </p:nvSpPr>
          <p:spPr bwMode="auto">
            <a:xfrm>
              <a:off x="3024"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6265" name="Rectangle 18"/>
            <p:cNvSpPr>
              <a:spLocks noChangeArrowheads="1"/>
            </p:cNvSpPr>
            <p:nvPr/>
          </p:nvSpPr>
          <p:spPr bwMode="auto">
            <a:xfrm>
              <a:off x="3420"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6266" name="Rectangle 19"/>
            <p:cNvSpPr>
              <a:spLocks noChangeArrowheads="1"/>
            </p:cNvSpPr>
            <p:nvPr/>
          </p:nvSpPr>
          <p:spPr bwMode="auto">
            <a:xfrm>
              <a:off x="3816"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dirty="0">
                  <a:latin typeface="Times New Roman" pitchFamily="18" charset="0"/>
                </a:rPr>
                <a:t>7</a:t>
              </a:r>
            </a:p>
          </p:txBody>
        </p:sp>
        <p:sp>
          <p:nvSpPr>
            <p:cNvPr id="6267" name="Rectangle 20"/>
            <p:cNvSpPr>
              <a:spLocks noChangeArrowheads="1"/>
            </p:cNvSpPr>
            <p:nvPr/>
          </p:nvSpPr>
          <p:spPr bwMode="auto">
            <a:xfrm>
              <a:off x="4212"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grpSp>
      <p:sp>
        <p:nvSpPr>
          <p:cNvPr id="6157" name="Rectangle 21"/>
          <p:cNvSpPr>
            <a:spLocks noChangeArrowheads="1"/>
          </p:cNvSpPr>
          <p:nvPr/>
        </p:nvSpPr>
        <p:spPr bwMode="auto">
          <a:xfrm>
            <a:off x="2724150" y="2021732"/>
            <a:ext cx="628650" cy="3762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sp>
        <p:nvSpPr>
          <p:cNvPr id="6158" name="Rectangle 22"/>
          <p:cNvSpPr>
            <a:spLocks noChangeArrowheads="1"/>
          </p:cNvSpPr>
          <p:nvPr/>
        </p:nvSpPr>
        <p:spPr bwMode="auto">
          <a:xfrm>
            <a:off x="2724150" y="1700808"/>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dirty="0">
                <a:latin typeface="Times New Roman" pitchFamily="18" charset="0"/>
              </a:rPr>
              <a:t>0</a:t>
            </a:r>
          </a:p>
        </p:txBody>
      </p:sp>
      <p:sp>
        <p:nvSpPr>
          <p:cNvPr id="6159" name="Text Box 23"/>
          <p:cNvSpPr txBox="1">
            <a:spLocks noChangeArrowheads="1"/>
          </p:cNvSpPr>
          <p:nvPr/>
        </p:nvSpPr>
        <p:spPr bwMode="auto">
          <a:xfrm>
            <a:off x="1524000" y="2116981"/>
            <a:ext cx="990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lnSpc>
                <a:spcPct val="90000"/>
              </a:lnSpc>
              <a:spcBef>
                <a:spcPct val="50000"/>
              </a:spcBef>
              <a:buFont typeface="Wingdings" pitchFamily="2" charset="2"/>
              <a:buNone/>
            </a:pPr>
            <a:r>
              <a:rPr kumimoji="1" lang="zh-CN" altLang="en-US" b="0" dirty="0">
                <a:latin typeface="微软雅黑" pitchFamily="34" charset="-122"/>
                <a:ea typeface="微软雅黑" pitchFamily="34" charset="-122"/>
                <a:cs typeface="经典粗黑简" pitchFamily="49" charset="-122"/>
              </a:rPr>
              <a:t>监视哨</a:t>
            </a:r>
          </a:p>
        </p:txBody>
      </p:sp>
      <p:sp>
        <p:nvSpPr>
          <p:cNvPr id="6160" name="Line 29"/>
          <p:cNvSpPr>
            <a:spLocks noChangeShapeType="1"/>
          </p:cNvSpPr>
          <p:nvPr/>
        </p:nvSpPr>
        <p:spPr bwMode="auto">
          <a:xfrm>
            <a:off x="2438400" y="2245568"/>
            <a:ext cx="304800" cy="1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619571" name="Group 51"/>
          <p:cNvGrpSpPr>
            <a:grpSpLocks/>
          </p:cNvGrpSpPr>
          <p:nvPr/>
        </p:nvGrpSpPr>
        <p:grpSpPr bwMode="auto">
          <a:xfrm>
            <a:off x="2743200" y="2636912"/>
            <a:ext cx="6705600" cy="381000"/>
            <a:chOff x="768" y="1473"/>
            <a:chExt cx="4224" cy="351"/>
          </a:xfrm>
        </p:grpSpPr>
        <p:sp>
          <p:nvSpPr>
            <p:cNvPr id="6250" name="Rectangle 30"/>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i=2</a:t>
              </a:r>
            </a:p>
          </p:txBody>
        </p:sp>
        <p:sp>
          <p:nvSpPr>
            <p:cNvPr id="6251" name="Rectangle 31"/>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252" name="Rectangle 32"/>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253" name="Rectangle 33"/>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254" name="Rectangle 34"/>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28</a:t>
              </a:r>
            </a:p>
          </p:txBody>
        </p:sp>
        <p:sp>
          <p:nvSpPr>
            <p:cNvPr id="6255" name="Rectangle 35"/>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6256" name="Rectangle 36"/>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6257" name="Rectangle 37"/>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6258" name="Rectangle 38"/>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259" name="Rectangle 48"/>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12</a:t>
              </a:r>
            </a:p>
          </p:txBody>
        </p:sp>
      </p:grpSp>
      <p:grpSp>
        <p:nvGrpSpPr>
          <p:cNvPr id="619572" name="Group 52"/>
          <p:cNvGrpSpPr>
            <a:grpSpLocks/>
          </p:cNvGrpSpPr>
          <p:nvPr/>
        </p:nvGrpSpPr>
        <p:grpSpPr bwMode="auto">
          <a:xfrm>
            <a:off x="2743200" y="3174504"/>
            <a:ext cx="6705600" cy="407988"/>
            <a:chOff x="768" y="1473"/>
            <a:chExt cx="4224" cy="351"/>
          </a:xfrm>
        </p:grpSpPr>
        <p:sp>
          <p:nvSpPr>
            <p:cNvPr id="6240" name="Rectangle 53"/>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i=3</a:t>
              </a:r>
            </a:p>
          </p:txBody>
        </p:sp>
        <p:sp>
          <p:nvSpPr>
            <p:cNvPr id="6241" name="Rectangle 54"/>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242" name="Rectangle 55"/>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243" name="Rectangle 56"/>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endParaRPr kumimoji="1" lang="en-US" altLang="zh-CN" sz="2400">
                <a:latin typeface="Times New Roman" pitchFamily="18" charset="0"/>
              </a:endParaRPr>
            </a:p>
          </p:txBody>
        </p:sp>
        <p:sp>
          <p:nvSpPr>
            <p:cNvPr id="6244" name="Rectangle 57"/>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28</a:t>
              </a:r>
            </a:p>
          </p:txBody>
        </p:sp>
        <p:sp>
          <p:nvSpPr>
            <p:cNvPr id="6245" name="Rectangle 58"/>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6246" name="Rectangle 59"/>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6247" name="Rectangle 60"/>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6248" name="Rectangle 61"/>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249" name="Rectangle 62"/>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grpSp>
      <p:grpSp>
        <p:nvGrpSpPr>
          <p:cNvPr id="619586" name="Group 66"/>
          <p:cNvGrpSpPr>
            <a:grpSpLocks/>
          </p:cNvGrpSpPr>
          <p:nvPr/>
        </p:nvGrpSpPr>
        <p:grpSpPr bwMode="auto">
          <a:xfrm>
            <a:off x="3733800" y="2397969"/>
            <a:ext cx="609600" cy="277813"/>
            <a:chOff x="1392" y="1313"/>
            <a:chExt cx="384" cy="175"/>
          </a:xfrm>
        </p:grpSpPr>
        <p:sp>
          <p:nvSpPr>
            <p:cNvPr id="6237" name="Line 63"/>
            <p:cNvSpPr>
              <a:spLocks noChangeShapeType="1"/>
            </p:cNvSpPr>
            <p:nvPr/>
          </p:nvSpPr>
          <p:spPr bwMode="auto">
            <a:xfrm>
              <a:off x="1776" y="1313"/>
              <a:ext cx="0"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38" name="Line 64"/>
            <p:cNvSpPr>
              <a:spLocks noChangeShapeType="1"/>
            </p:cNvSpPr>
            <p:nvPr/>
          </p:nvSpPr>
          <p:spPr bwMode="auto">
            <a:xfrm flipH="1">
              <a:off x="1392" y="139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39" name="Line 65"/>
            <p:cNvSpPr>
              <a:spLocks noChangeShapeType="1"/>
            </p:cNvSpPr>
            <p:nvPr/>
          </p:nvSpPr>
          <p:spPr bwMode="auto">
            <a:xfrm>
              <a:off x="1392" y="1392"/>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sp>
        <p:nvSpPr>
          <p:cNvPr id="619587" name="Line 67"/>
          <p:cNvSpPr>
            <a:spLocks noChangeShapeType="1"/>
          </p:cNvSpPr>
          <p:nvPr/>
        </p:nvSpPr>
        <p:spPr bwMode="auto">
          <a:xfrm>
            <a:off x="4953000" y="2945904"/>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619588" name="Group 68"/>
          <p:cNvGrpSpPr>
            <a:grpSpLocks/>
          </p:cNvGrpSpPr>
          <p:nvPr/>
        </p:nvGrpSpPr>
        <p:grpSpPr bwMode="auto">
          <a:xfrm>
            <a:off x="4343400" y="3521968"/>
            <a:ext cx="1219200" cy="277812"/>
            <a:chOff x="1392" y="1313"/>
            <a:chExt cx="384" cy="175"/>
          </a:xfrm>
        </p:grpSpPr>
        <p:sp>
          <p:nvSpPr>
            <p:cNvPr id="6234" name="Line 69"/>
            <p:cNvSpPr>
              <a:spLocks noChangeShapeType="1"/>
            </p:cNvSpPr>
            <p:nvPr/>
          </p:nvSpPr>
          <p:spPr bwMode="auto">
            <a:xfrm>
              <a:off x="1776" y="1313"/>
              <a:ext cx="0"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35" name="Line 70"/>
            <p:cNvSpPr>
              <a:spLocks noChangeShapeType="1"/>
            </p:cNvSpPr>
            <p:nvPr/>
          </p:nvSpPr>
          <p:spPr bwMode="auto">
            <a:xfrm flipH="1">
              <a:off x="1392" y="139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36" name="Line 71"/>
            <p:cNvSpPr>
              <a:spLocks noChangeShapeType="1"/>
            </p:cNvSpPr>
            <p:nvPr/>
          </p:nvSpPr>
          <p:spPr bwMode="auto">
            <a:xfrm>
              <a:off x="1392" y="1392"/>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19592" name="Group 72"/>
          <p:cNvGrpSpPr>
            <a:grpSpLocks/>
          </p:cNvGrpSpPr>
          <p:nvPr/>
        </p:nvGrpSpPr>
        <p:grpSpPr bwMode="auto">
          <a:xfrm>
            <a:off x="2743200" y="3799780"/>
            <a:ext cx="6705600" cy="431800"/>
            <a:chOff x="768" y="1473"/>
            <a:chExt cx="4224" cy="351"/>
          </a:xfrm>
        </p:grpSpPr>
        <p:sp>
          <p:nvSpPr>
            <p:cNvPr id="6224" name="Rectangle 73"/>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i=4</a:t>
              </a:r>
            </a:p>
          </p:txBody>
        </p:sp>
        <p:sp>
          <p:nvSpPr>
            <p:cNvPr id="6225" name="Rectangle 74"/>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226" name="Rectangle 75"/>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6227" name="Rectangle 76"/>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endParaRPr kumimoji="1" lang="en-US" altLang="zh-CN" sz="2400">
                <a:latin typeface="Times New Roman" pitchFamily="18" charset="0"/>
              </a:endParaRPr>
            </a:p>
          </p:txBody>
        </p:sp>
        <p:sp>
          <p:nvSpPr>
            <p:cNvPr id="6228" name="Rectangle 77"/>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6229" name="Rectangle 78"/>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6230" name="Rectangle 79"/>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6231" name="Rectangle 80"/>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6232" name="Rectangle 81"/>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233" name="Rectangle 82"/>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28</a:t>
              </a:r>
            </a:p>
          </p:txBody>
        </p:sp>
      </p:grpSp>
      <p:grpSp>
        <p:nvGrpSpPr>
          <p:cNvPr id="619603" name="Group 83"/>
          <p:cNvGrpSpPr>
            <a:grpSpLocks/>
          </p:cNvGrpSpPr>
          <p:nvPr/>
        </p:nvGrpSpPr>
        <p:grpSpPr bwMode="auto">
          <a:xfrm>
            <a:off x="4953000" y="4170040"/>
            <a:ext cx="1219200" cy="228600"/>
            <a:chOff x="1392" y="1313"/>
            <a:chExt cx="384" cy="175"/>
          </a:xfrm>
        </p:grpSpPr>
        <p:sp>
          <p:nvSpPr>
            <p:cNvPr id="6221" name="Line 84"/>
            <p:cNvSpPr>
              <a:spLocks noChangeShapeType="1"/>
            </p:cNvSpPr>
            <p:nvPr/>
          </p:nvSpPr>
          <p:spPr bwMode="auto">
            <a:xfrm>
              <a:off x="1776" y="1313"/>
              <a:ext cx="0"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22" name="Line 85"/>
            <p:cNvSpPr>
              <a:spLocks noChangeShapeType="1"/>
            </p:cNvSpPr>
            <p:nvPr/>
          </p:nvSpPr>
          <p:spPr bwMode="auto">
            <a:xfrm flipH="1">
              <a:off x="1392" y="139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23" name="Line 86"/>
            <p:cNvSpPr>
              <a:spLocks noChangeShapeType="1"/>
            </p:cNvSpPr>
            <p:nvPr/>
          </p:nvSpPr>
          <p:spPr bwMode="auto">
            <a:xfrm>
              <a:off x="1392" y="1392"/>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19607" name="Group 87"/>
          <p:cNvGrpSpPr>
            <a:grpSpLocks/>
          </p:cNvGrpSpPr>
          <p:nvPr/>
        </p:nvGrpSpPr>
        <p:grpSpPr bwMode="auto">
          <a:xfrm>
            <a:off x="2743200" y="4386064"/>
            <a:ext cx="6705600" cy="381000"/>
            <a:chOff x="768" y="1473"/>
            <a:chExt cx="4224" cy="351"/>
          </a:xfrm>
        </p:grpSpPr>
        <p:sp>
          <p:nvSpPr>
            <p:cNvPr id="6211" name="Rectangle 88"/>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i=5</a:t>
              </a:r>
            </a:p>
          </p:txBody>
        </p:sp>
        <p:sp>
          <p:nvSpPr>
            <p:cNvPr id="6212" name="Rectangle 89"/>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213" name="Rectangle 90"/>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6214" name="Rectangle 91"/>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6215" name="Rectangle 92"/>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216" name="Rectangle 93"/>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6217" name="Rectangle 94"/>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6218" name="Rectangle 95"/>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6219" name="Rectangle 96"/>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220" name="Rectangle 97"/>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grpSp>
      <p:sp>
        <p:nvSpPr>
          <p:cNvPr id="619618" name="Line 98"/>
          <p:cNvSpPr>
            <a:spLocks noChangeShapeType="1"/>
          </p:cNvSpPr>
          <p:nvPr/>
        </p:nvSpPr>
        <p:spPr bwMode="auto">
          <a:xfrm>
            <a:off x="6858000" y="4767064"/>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619619" name="Group 99"/>
          <p:cNvGrpSpPr>
            <a:grpSpLocks/>
          </p:cNvGrpSpPr>
          <p:nvPr/>
        </p:nvGrpSpPr>
        <p:grpSpPr bwMode="auto">
          <a:xfrm>
            <a:off x="2743200" y="4890120"/>
            <a:ext cx="6705600" cy="431800"/>
            <a:chOff x="768" y="1473"/>
            <a:chExt cx="4224" cy="351"/>
          </a:xfrm>
        </p:grpSpPr>
        <p:sp>
          <p:nvSpPr>
            <p:cNvPr id="6201" name="Rectangle 100"/>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i=6</a:t>
              </a:r>
            </a:p>
          </p:txBody>
        </p:sp>
        <p:sp>
          <p:nvSpPr>
            <p:cNvPr id="6202" name="Rectangle 101"/>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203" name="Rectangle 102"/>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6204" name="Rectangle 103"/>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6205" name="Rectangle 104"/>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206" name="Rectangle 105"/>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6207" name="Rectangle 106"/>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52</a:t>
              </a:r>
              <a:endParaRPr kumimoji="1" lang="en-US" altLang="zh-CN" sz="2400">
                <a:latin typeface="Times New Roman" pitchFamily="18" charset="0"/>
              </a:endParaRPr>
            </a:p>
          </p:txBody>
        </p:sp>
        <p:sp>
          <p:nvSpPr>
            <p:cNvPr id="6208" name="Rectangle 107"/>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6209" name="Rectangle 108"/>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210" name="Rectangle 109"/>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grpSp>
      <p:grpSp>
        <p:nvGrpSpPr>
          <p:cNvPr id="619630" name="Group 110"/>
          <p:cNvGrpSpPr>
            <a:grpSpLocks/>
          </p:cNvGrpSpPr>
          <p:nvPr/>
        </p:nvGrpSpPr>
        <p:grpSpPr bwMode="auto">
          <a:xfrm>
            <a:off x="6858000" y="5309220"/>
            <a:ext cx="609600" cy="266700"/>
            <a:chOff x="1392" y="1313"/>
            <a:chExt cx="384" cy="175"/>
          </a:xfrm>
        </p:grpSpPr>
        <p:sp>
          <p:nvSpPr>
            <p:cNvPr id="6198" name="Line 111"/>
            <p:cNvSpPr>
              <a:spLocks noChangeShapeType="1"/>
            </p:cNvSpPr>
            <p:nvPr/>
          </p:nvSpPr>
          <p:spPr bwMode="auto">
            <a:xfrm>
              <a:off x="1776" y="1313"/>
              <a:ext cx="0"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199" name="Line 112"/>
            <p:cNvSpPr>
              <a:spLocks noChangeShapeType="1"/>
            </p:cNvSpPr>
            <p:nvPr/>
          </p:nvSpPr>
          <p:spPr bwMode="auto">
            <a:xfrm flipH="1">
              <a:off x="1392" y="139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00" name="Line 113"/>
            <p:cNvSpPr>
              <a:spLocks noChangeShapeType="1"/>
            </p:cNvSpPr>
            <p:nvPr/>
          </p:nvSpPr>
          <p:spPr bwMode="auto">
            <a:xfrm>
              <a:off x="1392" y="1392"/>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19634" name="Group 114"/>
          <p:cNvGrpSpPr>
            <a:grpSpLocks/>
          </p:cNvGrpSpPr>
          <p:nvPr/>
        </p:nvGrpSpPr>
        <p:grpSpPr bwMode="auto">
          <a:xfrm>
            <a:off x="2743200" y="5466184"/>
            <a:ext cx="6705600" cy="431800"/>
            <a:chOff x="768" y="1473"/>
            <a:chExt cx="4224" cy="351"/>
          </a:xfrm>
        </p:grpSpPr>
        <p:sp>
          <p:nvSpPr>
            <p:cNvPr id="6188" name="Rectangle 115"/>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i=7</a:t>
              </a:r>
            </a:p>
          </p:txBody>
        </p:sp>
        <p:sp>
          <p:nvSpPr>
            <p:cNvPr id="6189" name="Rectangle 116"/>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190" name="Rectangle 117"/>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6191" name="Rectangle 118"/>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6192" name="Rectangle 119"/>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193" name="Rectangle 120"/>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6194" name="Rectangle 121"/>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51</a:t>
              </a:r>
              <a:endParaRPr kumimoji="1" lang="en-US" altLang="zh-CN" sz="2400">
                <a:latin typeface="Times New Roman" pitchFamily="18" charset="0"/>
              </a:endParaRPr>
            </a:p>
          </p:txBody>
        </p:sp>
        <p:sp>
          <p:nvSpPr>
            <p:cNvPr id="6195" name="Rectangle 122"/>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52</a:t>
              </a:r>
              <a:endParaRPr kumimoji="1" lang="en-US" altLang="zh-CN" sz="2400">
                <a:latin typeface="Times New Roman" pitchFamily="18" charset="0"/>
              </a:endParaRPr>
            </a:p>
          </p:txBody>
        </p:sp>
        <p:sp>
          <p:nvSpPr>
            <p:cNvPr id="6196" name="Rectangle 123"/>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6197" name="Rectangle 124"/>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grpSp>
      <p:grpSp>
        <p:nvGrpSpPr>
          <p:cNvPr id="619645" name="Group 125"/>
          <p:cNvGrpSpPr>
            <a:grpSpLocks/>
          </p:cNvGrpSpPr>
          <p:nvPr/>
        </p:nvGrpSpPr>
        <p:grpSpPr bwMode="auto">
          <a:xfrm>
            <a:off x="6858000" y="5826225"/>
            <a:ext cx="1219200" cy="277813"/>
            <a:chOff x="1392" y="1313"/>
            <a:chExt cx="384" cy="175"/>
          </a:xfrm>
        </p:grpSpPr>
        <p:sp>
          <p:nvSpPr>
            <p:cNvPr id="6185" name="Line 126"/>
            <p:cNvSpPr>
              <a:spLocks noChangeShapeType="1"/>
            </p:cNvSpPr>
            <p:nvPr/>
          </p:nvSpPr>
          <p:spPr bwMode="auto">
            <a:xfrm>
              <a:off x="1776" y="1313"/>
              <a:ext cx="0"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186" name="Line 127"/>
            <p:cNvSpPr>
              <a:spLocks noChangeShapeType="1"/>
            </p:cNvSpPr>
            <p:nvPr/>
          </p:nvSpPr>
          <p:spPr bwMode="auto">
            <a:xfrm flipH="1">
              <a:off x="1392" y="139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187" name="Line 128"/>
            <p:cNvSpPr>
              <a:spLocks noChangeShapeType="1"/>
            </p:cNvSpPr>
            <p:nvPr/>
          </p:nvSpPr>
          <p:spPr bwMode="auto">
            <a:xfrm>
              <a:off x="1392" y="1392"/>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19649" name="Group 129"/>
          <p:cNvGrpSpPr>
            <a:grpSpLocks/>
          </p:cNvGrpSpPr>
          <p:nvPr/>
        </p:nvGrpSpPr>
        <p:grpSpPr bwMode="auto">
          <a:xfrm>
            <a:off x="2743200" y="6055072"/>
            <a:ext cx="6705600" cy="431800"/>
            <a:chOff x="768" y="1473"/>
            <a:chExt cx="4224" cy="351"/>
          </a:xfrm>
        </p:grpSpPr>
        <p:sp>
          <p:nvSpPr>
            <p:cNvPr id="6175" name="Rectangle 130"/>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i=8</a:t>
              </a:r>
            </a:p>
          </p:txBody>
        </p:sp>
        <p:sp>
          <p:nvSpPr>
            <p:cNvPr id="6176" name="Rectangle 131"/>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6177" name="Rectangle 132"/>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6178" name="Rectangle 133"/>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6179" name="Rectangle 134"/>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6180" name="Rectangle 135"/>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6181" name="Rectangle 136"/>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6182" name="Rectangle 137"/>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51</a:t>
              </a:r>
              <a:endParaRPr kumimoji="1" lang="en-US" altLang="zh-CN" sz="2400">
                <a:latin typeface="Times New Roman" pitchFamily="18" charset="0"/>
              </a:endParaRPr>
            </a:p>
          </p:txBody>
        </p:sp>
        <p:sp>
          <p:nvSpPr>
            <p:cNvPr id="6183" name="Rectangle 138"/>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52</a:t>
              </a:r>
              <a:endParaRPr kumimoji="1" lang="en-US" altLang="zh-CN" sz="2400">
                <a:latin typeface="Times New Roman" pitchFamily="18" charset="0"/>
              </a:endParaRPr>
            </a:p>
          </p:txBody>
        </p:sp>
        <p:sp>
          <p:nvSpPr>
            <p:cNvPr id="6184" name="Rectangle 139"/>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grpSp>
      <p:sp>
        <p:nvSpPr>
          <p:cNvPr id="2" name="矩形 1">
            <a:extLst>
              <a:ext uri="{FF2B5EF4-FFF2-40B4-BE49-F238E27FC236}">
                <a16:creationId xmlns:a16="http://schemas.microsoft.com/office/drawing/2014/main" id="{7975CB38-A7EE-DE34-355D-842BF9777FFE}"/>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10.2.1 </a:t>
            </a:r>
            <a:r>
              <a:rPr lang="zh-CN" altLang="en-US" sz="2800" b="1" dirty="0">
                <a:solidFill>
                  <a:schemeClr val="bg1"/>
                </a:solidFill>
                <a:latin typeface="经典粗黑简" pitchFamily="49" charset="-122"/>
                <a:ea typeface="经典粗黑简" pitchFamily="49" charset="-122"/>
                <a:cs typeface="经典粗黑简" pitchFamily="49" charset="-122"/>
              </a:rPr>
              <a:t>直接插入排序</a:t>
            </a:r>
          </a:p>
        </p:txBody>
      </p:sp>
      <p:cxnSp>
        <p:nvCxnSpPr>
          <p:cNvPr id="3" name="直接连接符 2">
            <a:extLst>
              <a:ext uri="{FF2B5EF4-FFF2-40B4-BE49-F238E27FC236}">
                <a16:creationId xmlns:a16="http://schemas.microsoft.com/office/drawing/2014/main" id="{F51C33C9-B70D-B213-9E09-4D16659A1B4D}"/>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2D245517-6977-CE42-A89C-104050943F63}"/>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18360356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19586"/>
                                        </p:tgtEl>
                                        <p:attrNameLst>
                                          <p:attrName>style.visibility</p:attrName>
                                        </p:attrNameLst>
                                      </p:cBhvr>
                                      <p:to>
                                        <p:strVal val="visible"/>
                                      </p:to>
                                    </p:set>
                                    <p:animEffect transition="in" filter="wipe(up)">
                                      <p:cBhvr>
                                        <p:cTn id="7" dur="500"/>
                                        <p:tgtEl>
                                          <p:spTgt spid="619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619571"/>
                                        </p:tgtEl>
                                        <p:attrNameLst>
                                          <p:attrName>style.visibility</p:attrName>
                                        </p:attrNameLst>
                                      </p:cBhvr>
                                      <p:to>
                                        <p:strVal val="visible"/>
                                      </p:to>
                                    </p:set>
                                    <p:animEffect transition="in" filter="slide(fromBottom)">
                                      <p:cBhvr>
                                        <p:cTn id="12" dur="500"/>
                                        <p:tgtEl>
                                          <p:spTgt spid="6195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19587"/>
                                        </p:tgtEl>
                                        <p:attrNameLst>
                                          <p:attrName>style.visibility</p:attrName>
                                        </p:attrNameLst>
                                      </p:cBhvr>
                                      <p:to>
                                        <p:strVal val="visible"/>
                                      </p:to>
                                    </p:set>
                                    <p:animEffect transition="in" filter="wipe(up)">
                                      <p:cBhvr>
                                        <p:cTn id="17" dur="500"/>
                                        <p:tgtEl>
                                          <p:spTgt spid="6195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619572"/>
                                        </p:tgtEl>
                                        <p:attrNameLst>
                                          <p:attrName>style.visibility</p:attrName>
                                        </p:attrNameLst>
                                      </p:cBhvr>
                                      <p:to>
                                        <p:strVal val="visible"/>
                                      </p:to>
                                    </p:set>
                                    <p:animEffect transition="in" filter="slide(fromBottom)">
                                      <p:cBhvr>
                                        <p:cTn id="22" dur="500"/>
                                        <p:tgtEl>
                                          <p:spTgt spid="6195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19588"/>
                                        </p:tgtEl>
                                        <p:attrNameLst>
                                          <p:attrName>style.visibility</p:attrName>
                                        </p:attrNameLst>
                                      </p:cBhvr>
                                      <p:to>
                                        <p:strVal val="visible"/>
                                      </p:to>
                                    </p:set>
                                    <p:animEffect transition="in" filter="wipe(up)">
                                      <p:cBhvr>
                                        <p:cTn id="27" dur="500"/>
                                        <p:tgtEl>
                                          <p:spTgt spid="6195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619592"/>
                                        </p:tgtEl>
                                        <p:attrNameLst>
                                          <p:attrName>style.visibility</p:attrName>
                                        </p:attrNameLst>
                                      </p:cBhvr>
                                      <p:to>
                                        <p:strVal val="visible"/>
                                      </p:to>
                                    </p:set>
                                    <p:animEffect transition="in" filter="slide(fromBottom)">
                                      <p:cBhvr>
                                        <p:cTn id="32" dur="500"/>
                                        <p:tgtEl>
                                          <p:spTgt spid="6195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619603"/>
                                        </p:tgtEl>
                                        <p:attrNameLst>
                                          <p:attrName>style.visibility</p:attrName>
                                        </p:attrNameLst>
                                      </p:cBhvr>
                                      <p:to>
                                        <p:strVal val="visible"/>
                                      </p:to>
                                    </p:set>
                                    <p:animEffect transition="in" filter="wipe(up)">
                                      <p:cBhvr>
                                        <p:cTn id="37" dur="500"/>
                                        <p:tgtEl>
                                          <p:spTgt spid="6196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619607"/>
                                        </p:tgtEl>
                                        <p:attrNameLst>
                                          <p:attrName>style.visibility</p:attrName>
                                        </p:attrNameLst>
                                      </p:cBhvr>
                                      <p:to>
                                        <p:strVal val="visible"/>
                                      </p:to>
                                    </p:set>
                                    <p:animEffect transition="in" filter="slide(fromBottom)">
                                      <p:cBhvr>
                                        <p:cTn id="42" dur="500"/>
                                        <p:tgtEl>
                                          <p:spTgt spid="6196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619618"/>
                                        </p:tgtEl>
                                        <p:attrNameLst>
                                          <p:attrName>style.visibility</p:attrName>
                                        </p:attrNameLst>
                                      </p:cBhvr>
                                      <p:to>
                                        <p:strVal val="visible"/>
                                      </p:to>
                                    </p:set>
                                    <p:animEffect transition="in" filter="wipe(up)">
                                      <p:cBhvr>
                                        <p:cTn id="47" dur="500"/>
                                        <p:tgtEl>
                                          <p:spTgt spid="6196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619619"/>
                                        </p:tgtEl>
                                        <p:attrNameLst>
                                          <p:attrName>style.visibility</p:attrName>
                                        </p:attrNameLst>
                                      </p:cBhvr>
                                      <p:to>
                                        <p:strVal val="visible"/>
                                      </p:to>
                                    </p:set>
                                    <p:animEffect transition="in" filter="slide(fromBottom)">
                                      <p:cBhvr>
                                        <p:cTn id="52" dur="500"/>
                                        <p:tgtEl>
                                          <p:spTgt spid="61961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619630"/>
                                        </p:tgtEl>
                                        <p:attrNameLst>
                                          <p:attrName>style.visibility</p:attrName>
                                        </p:attrNameLst>
                                      </p:cBhvr>
                                      <p:to>
                                        <p:strVal val="visible"/>
                                      </p:to>
                                    </p:set>
                                    <p:animEffect transition="in" filter="wipe(up)">
                                      <p:cBhvr>
                                        <p:cTn id="57" dur="500"/>
                                        <p:tgtEl>
                                          <p:spTgt spid="61963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childTnLst>
                                    <p:set>
                                      <p:cBhvr>
                                        <p:cTn id="61" dur="1" fill="hold">
                                          <p:stCondLst>
                                            <p:cond delay="0"/>
                                          </p:stCondLst>
                                        </p:cTn>
                                        <p:tgtEl>
                                          <p:spTgt spid="619634"/>
                                        </p:tgtEl>
                                        <p:attrNameLst>
                                          <p:attrName>style.visibility</p:attrName>
                                        </p:attrNameLst>
                                      </p:cBhvr>
                                      <p:to>
                                        <p:strVal val="visible"/>
                                      </p:to>
                                    </p:set>
                                    <p:animEffect transition="in" filter="slide(fromBottom)">
                                      <p:cBhvr>
                                        <p:cTn id="62" dur="500"/>
                                        <p:tgtEl>
                                          <p:spTgt spid="61963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619645"/>
                                        </p:tgtEl>
                                        <p:attrNameLst>
                                          <p:attrName>style.visibility</p:attrName>
                                        </p:attrNameLst>
                                      </p:cBhvr>
                                      <p:to>
                                        <p:strVal val="visible"/>
                                      </p:to>
                                    </p:set>
                                    <p:animEffect transition="in" filter="wipe(up)">
                                      <p:cBhvr>
                                        <p:cTn id="67" dur="500"/>
                                        <p:tgtEl>
                                          <p:spTgt spid="61964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nodeType="clickEffect">
                                  <p:stCondLst>
                                    <p:cond delay="0"/>
                                  </p:stCondLst>
                                  <p:childTnLst>
                                    <p:set>
                                      <p:cBhvr>
                                        <p:cTn id="71" dur="1" fill="hold">
                                          <p:stCondLst>
                                            <p:cond delay="0"/>
                                          </p:stCondLst>
                                        </p:cTn>
                                        <p:tgtEl>
                                          <p:spTgt spid="619649"/>
                                        </p:tgtEl>
                                        <p:attrNameLst>
                                          <p:attrName>style.visibility</p:attrName>
                                        </p:attrNameLst>
                                      </p:cBhvr>
                                      <p:to>
                                        <p:strVal val="visible"/>
                                      </p:to>
                                    </p:set>
                                    <p:animEffect transition="in" filter="slide(fromBottom)">
                                      <p:cBhvr>
                                        <p:cTn id="72" dur="500"/>
                                        <p:tgtEl>
                                          <p:spTgt spid="619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87" grpId="0" animBg="1"/>
      <p:bldP spid="6196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bwMode="auto">
          <a:xfrm>
            <a:off x="1425808" y="1762258"/>
            <a:ext cx="5110336" cy="457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SzPct val="75000"/>
              <a:buNone/>
            </a:pPr>
            <a:r>
              <a:rPr kumimoji="1" lang="zh-CN" altLang="en-US" sz="2000" dirty="0">
                <a:latin typeface="微软雅黑" pitchFamily="34" charset="-122"/>
                <a:ea typeface="微软雅黑" pitchFamily="34" charset="-122"/>
                <a:cs typeface="经典粗黑简" pitchFamily="49" charset="-122"/>
              </a:rPr>
              <a:t>以顺序表作为存储结构的直接插入排序算法</a:t>
            </a:r>
          </a:p>
        </p:txBody>
      </p:sp>
      <p:sp>
        <p:nvSpPr>
          <p:cNvPr id="621573" name="Rectangle 5"/>
          <p:cNvSpPr>
            <a:spLocks noChangeArrowheads="1"/>
          </p:cNvSpPr>
          <p:nvPr/>
        </p:nvSpPr>
        <p:spPr bwMode="auto">
          <a:xfrm>
            <a:off x="8046897" y="2933430"/>
            <a:ext cx="3520988" cy="69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folHlink"/>
              </a:buClr>
              <a:buSzPct val="75000"/>
            </a:pPr>
            <a:r>
              <a:rPr kumimoji="1" lang="zh-CN" altLang="en-US" sz="2000" dirty="0">
                <a:latin typeface="微软雅黑" pitchFamily="34" charset="-122"/>
                <a:ea typeface="微软雅黑" pitchFamily="34" charset="-122"/>
                <a:cs typeface="经典粗黑简" pitchFamily="49" charset="-122"/>
              </a:rPr>
              <a:t>分析直接插入排序算法中关键字的比较次数和记录移动次数</a:t>
            </a:r>
          </a:p>
        </p:txBody>
      </p:sp>
      <p:sp>
        <p:nvSpPr>
          <p:cNvPr id="3" name="矩形 2"/>
          <p:cNvSpPr/>
          <p:nvPr/>
        </p:nvSpPr>
        <p:spPr>
          <a:xfrm>
            <a:off x="8149616" y="4725144"/>
            <a:ext cx="2736304" cy="923330"/>
          </a:xfrm>
          <a:prstGeom prst="rect">
            <a:avLst/>
          </a:prstGeom>
        </p:spPr>
        <p:txBody>
          <a:bodyPr wrap="square">
            <a:spAutoFit/>
          </a:bodyPr>
          <a:lstStyle/>
          <a:p>
            <a:pPr>
              <a:spcBef>
                <a:spcPct val="0"/>
              </a:spcBef>
              <a:buFontTx/>
              <a:buNone/>
            </a:pPr>
            <a:r>
              <a:rPr kumimoji="1" lang="zh-CN" altLang="en-US" dirty="0">
                <a:latin typeface="微软雅黑" pitchFamily="34" charset="-122"/>
                <a:ea typeface="微软雅黑" pitchFamily="34" charset="-122"/>
                <a:cs typeface="经典粗黑简" pitchFamily="49" charset="-122"/>
              </a:rPr>
              <a:t>最好情况下</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正序</a:t>
            </a:r>
            <a:r>
              <a:rPr kumimoji="1" lang="en-US" altLang="zh-CN" dirty="0">
                <a:latin typeface="微软雅黑" pitchFamily="34" charset="-122"/>
                <a:ea typeface="微软雅黑" pitchFamily="34" charset="-122"/>
                <a:cs typeface="经典粗黑简" pitchFamily="49" charset="-122"/>
              </a:rPr>
              <a:t>)</a:t>
            </a:r>
          </a:p>
          <a:p>
            <a:pPr>
              <a:spcBef>
                <a:spcPct val="0"/>
              </a:spcBef>
              <a:buFontTx/>
              <a:buNone/>
            </a:pPr>
            <a:r>
              <a:rPr kumimoji="1" lang="zh-CN" altLang="en-US" dirty="0">
                <a:latin typeface="微软雅黑" pitchFamily="34" charset="-122"/>
                <a:ea typeface="微软雅黑" pitchFamily="34" charset="-122"/>
                <a:cs typeface="经典粗黑简" pitchFamily="49" charset="-122"/>
              </a:rPr>
              <a:t>元素的比较次数为</a:t>
            </a:r>
            <a:r>
              <a:rPr kumimoji="1" lang="en-US" altLang="zh-CN" dirty="0">
                <a:latin typeface="微软雅黑" pitchFamily="34" charset="-122"/>
                <a:ea typeface="微软雅黑" pitchFamily="34" charset="-122"/>
                <a:cs typeface="经典粗黑简" pitchFamily="49" charset="-122"/>
              </a:rPr>
              <a:t>: n - 1 </a:t>
            </a:r>
          </a:p>
          <a:p>
            <a:pPr>
              <a:spcBef>
                <a:spcPct val="0"/>
              </a:spcBef>
              <a:buFontTx/>
              <a:buNone/>
            </a:pPr>
            <a:r>
              <a:rPr kumimoji="1" lang="zh-CN" altLang="en-US" dirty="0">
                <a:latin typeface="微软雅黑" pitchFamily="34" charset="-122"/>
                <a:ea typeface="微软雅黑" pitchFamily="34" charset="-122"/>
                <a:cs typeface="经典粗黑简" pitchFamily="49" charset="-122"/>
              </a:rPr>
              <a:t>元素的移动次数为</a:t>
            </a:r>
            <a:r>
              <a:rPr kumimoji="1" lang="en-US" altLang="zh-CN" dirty="0">
                <a:latin typeface="微软雅黑" pitchFamily="34" charset="-122"/>
                <a:ea typeface="微软雅黑" pitchFamily="34" charset="-122"/>
                <a:cs typeface="经典粗黑简" pitchFamily="49" charset="-122"/>
              </a:rPr>
              <a:t>:0</a:t>
            </a:r>
          </a:p>
        </p:txBody>
      </p:sp>
      <p:sp>
        <p:nvSpPr>
          <p:cNvPr id="4" name="矩形 3"/>
          <p:cNvSpPr/>
          <p:nvPr/>
        </p:nvSpPr>
        <p:spPr>
          <a:xfrm>
            <a:off x="8149607" y="3717838"/>
            <a:ext cx="3747492" cy="923330"/>
          </a:xfrm>
          <a:prstGeom prst="rect">
            <a:avLst/>
          </a:prstGeom>
        </p:spPr>
        <p:txBody>
          <a:bodyPr wrap="square">
            <a:spAutoFit/>
          </a:bodyPr>
          <a:lstStyle/>
          <a:p>
            <a:pPr>
              <a:spcBef>
                <a:spcPct val="0"/>
              </a:spcBef>
            </a:pPr>
            <a:r>
              <a:rPr kumimoji="1" lang="zh-CN" altLang="en-US" dirty="0">
                <a:latin typeface="微软雅黑" pitchFamily="34" charset="-122"/>
                <a:ea typeface="微软雅黑" pitchFamily="34" charset="-122"/>
                <a:cs typeface="经典粗黑简" pitchFamily="49" charset="-122"/>
              </a:rPr>
              <a:t>最坏情况下</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逆序</a:t>
            </a:r>
            <a:r>
              <a:rPr kumimoji="1" lang="en-US" altLang="zh-CN" dirty="0">
                <a:latin typeface="微软雅黑" pitchFamily="34" charset="-122"/>
                <a:ea typeface="微软雅黑" pitchFamily="34" charset="-122"/>
                <a:cs typeface="经典粗黑简" pitchFamily="49" charset="-122"/>
              </a:rPr>
              <a:t>)</a:t>
            </a:r>
          </a:p>
          <a:p>
            <a:pPr>
              <a:spcBef>
                <a:spcPct val="0"/>
              </a:spcBef>
            </a:pPr>
            <a:r>
              <a:rPr kumimoji="1" lang="zh-CN" altLang="en-US" dirty="0">
                <a:latin typeface="微软雅黑" pitchFamily="34" charset="-122"/>
                <a:ea typeface="微软雅黑" pitchFamily="34" charset="-122"/>
                <a:cs typeface="经典粗黑简" pitchFamily="49" charset="-122"/>
              </a:rPr>
              <a:t>元素的比较次数</a:t>
            </a:r>
            <a:r>
              <a:rPr kumimoji="1" lang="en-US" altLang="zh-CN" dirty="0">
                <a:latin typeface="微软雅黑" pitchFamily="34" charset="-122"/>
                <a:ea typeface="微软雅黑" pitchFamily="34" charset="-122"/>
                <a:cs typeface="经典粗黑简" pitchFamily="49" charset="-122"/>
              </a:rPr>
              <a:t>:   </a:t>
            </a:r>
            <a:r>
              <a:rPr kumimoji="1" lang="en-US" altLang="zh-CN" dirty="0">
                <a:latin typeface="微软雅黑" pitchFamily="34" charset="-122"/>
                <a:ea typeface="微软雅黑" pitchFamily="34" charset="-122"/>
                <a:cs typeface="经典粗黑简" pitchFamily="49" charset="-122"/>
                <a:sym typeface="Wingdings" pitchFamily="2" charset="2"/>
              </a:rPr>
              <a:t>(n+2)(n-1)/2</a:t>
            </a:r>
            <a:endParaRPr kumimoji="1" lang="en-US" altLang="zh-CN" dirty="0">
              <a:latin typeface="微软雅黑" pitchFamily="34" charset="-122"/>
              <a:ea typeface="微软雅黑" pitchFamily="34" charset="-122"/>
              <a:cs typeface="经典粗黑简" pitchFamily="49" charset="-122"/>
            </a:endParaRPr>
          </a:p>
          <a:p>
            <a:pPr>
              <a:spcBef>
                <a:spcPct val="0"/>
              </a:spcBef>
            </a:pPr>
            <a:r>
              <a:rPr kumimoji="1" lang="zh-CN" altLang="en-US" dirty="0">
                <a:latin typeface="微软雅黑" pitchFamily="34" charset="-122"/>
                <a:ea typeface="微软雅黑" pitchFamily="34" charset="-122"/>
                <a:cs typeface="经典粗黑简" pitchFamily="49" charset="-122"/>
              </a:rPr>
              <a:t>元素的移动次数为：</a:t>
            </a:r>
            <a:r>
              <a:rPr kumimoji="1" lang="zh-CN" altLang="en-US" dirty="0">
                <a:latin typeface="微软雅黑" pitchFamily="34" charset="-122"/>
                <a:ea typeface="微软雅黑" pitchFamily="34" charset="-122"/>
                <a:cs typeface="经典粗黑简" pitchFamily="49" charset="-122"/>
                <a:sym typeface="Wingdings" pitchFamily="2" charset="2"/>
              </a:rPr>
              <a:t> </a:t>
            </a:r>
            <a:r>
              <a:rPr kumimoji="1" lang="en-US" altLang="zh-CN" dirty="0">
                <a:latin typeface="微软雅黑" pitchFamily="34" charset="-122"/>
                <a:ea typeface="微软雅黑" pitchFamily="34" charset="-122"/>
                <a:cs typeface="经典粗黑简" pitchFamily="49" charset="-122"/>
                <a:sym typeface="Wingdings" pitchFamily="2" charset="2"/>
              </a:rPr>
              <a:t>(n+4)(n-1)/2 </a:t>
            </a:r>
          </a:p>
        </p:txBody>
      </p:sp>
      <p:sp>
        <p:nvSpPr>
          <p:cNvPr id="2" name="矩形 1">
            <a:extLst>
              <a:ext uri="{FF2B5EF4-FFF2-40B4-BE49-F238E27FC236}">
                <a16:creationId xmlns:a16="http://schemas.microsoft.com/office/drawing/2014/main" id="{64D548E8-30E3-E57C-0152-FA417CC61D3A}"/>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10.2.1 </a:t>
            </a:r>
            <a:r>
              <a:rPr lang="zh-CN" altLang="en-US" sz="2800" b="1" dirty="0">
                <a:solidFill>
                  <a:schemeClr val="bg1"/>
                </a:solidFill>
                <a:latin typeface="经典粗黑简" pitchFamily="49" charset="-122"/>
                <a:ea typeface="经典粗黑简" pitchFamily="49" charset="-122"/>
                <a:cs typeface="经典粗黑简" pitchFamily="49" charset="-122"/>
              </a:rPr>
              <a:t>直接插入排序</a:t>
            </a:r>
          </a:p>
        </p:txBody>
      </p:sp>
      <p:cxnSp>
        <p:nvCxnSpPr>
          <p:cNvPr id="5" name="直接连接符 4">
            <a:extLst>
              <a:ext uri="{FF2B5EF4-FFF2-40B4-BE49-F238E27FC236}">
                <a16:creationId xmlns:a16="http://schemas.microsoft.com/office/drawing/2014/main" id="{8C64F0E8-98A2-8C20-F613-5BFA1E8AAFA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20F3048C-9A2B-7F3C-03F6-5D499F75513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7" name="Text Box 2">
            <a:extLst>
              <a:ext uri="{FF2B5EF4-FFF2-40B4-BE49-F238E27FC236}">
                <a16:creationId xmlns:a16="http://schemas.microsoft.com/office/drawing/2014/main" id="{83B52B08-641A-D902-F50B-566A9616994C}"/>
              </a:ext>
            </a:extLst>
          </p:cNvPr>
          <p:cNvSpPr txBox="1">
            <a:spLocks noChangeArrowheads="1"/>
          </p:cNvSpPr>
          <p:nvPr/>
        </p:nvSpPr>
        <p:spPr bwMode="auto">
          <a:xfrm>
            <a:off x="209768" y="2224633"/>
            <a:ext cx="7542416" cy="4448998"/>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216000" rIns="144000" bIns="108000">
            <a:spAutoFit/>
          </a:bodyPr>
          <a:lstStyle/>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void </a:t>
            </a:r>
            <a:r>
              <a:rPr kumimoji="1" lang="en-US" altLang="zh-CN" sz="1600" dirty="0" err="1">
                <a:solidFill>
                  <a:srgbClr val="FF0000"/>
                </a:solidFill>
                <a:latin typeface="Consolas" pitchFamily="49" charset="0"/>
                <a:ea typeface="仿宋" pitchFamily="49" charset="-122"/>
                <a:cs typeface="Consolas" pitchFamily="49" charset="0"/>
              </a:rPr>
              <a:t>InsertSort</a:t>
            </a:r>
            <a:r>
              <a:rPr kumimoji="1" lang="en-US" altLang="zh-CN" sz="1600" dirty="0">
                <a:solidFill>
                  <a:srgbClr val="1000E4"/>
                </a:solidFill>
                <a:latin typeface="Consolas" pitchFamily="49" charset="0"/>
                <a:ea typeface="仿宋" pitchFamily="49" charset="-122"/>
                <a:cs typeface="Consolas" pitchFamily="49" charset="0"/>
              </a:rPr>
              <a:t>(</a:t>
            </a:r>
            <a:r>
              <a:rPr kumimoji="1" lang="en-US" altLang="zh-CN" sz="1600" dirty="0" err="1">
                <a:solidFill>
                  <a:srgbClr val="1000E4"/>
                </a:solidFill>
                <a:latin typeface="Consolas" pitchFamily="49" charset="0"/>
                <a:ea typeface="仿宋" pitchFamily="49" charset="-122"/>
                <a:cs typeface="Consolas" pitchFamily="49" charset="0"/>
              </a:rPr>
              <a:t>RecType</a:t>
            </a:r>
            <a:r>
              <a:rPr kumimoji="1" lang="en-US" altLang="zh-CN" sz="1600" dirty="0">
                <a:solidFill>
                  <a:srgbClr val="1000E4"/>
                </a:solidFill>
                <a:latin typeface="Consolas" pitchFamily="49" charset="0"/>
                <a:ea typeface="仿宋" pitchFamily="49" charset="-122"/>
                <a:cs typeface="Consolas" pitchFamily="49" charset="0"/>
              </a:rPr>
              <a:t> R[]</a:t>
            </a:r>
            <a:r>
              <a:rPr kumimoji="1" lang="zh-CN" altLang="en-US" sz="1600" dirty="0">
                <a:solidFill>
                  <a:srgbClr val="1000E4"/>
                </a:solidFill>
                <a:latin typeface="Consolas" pitchFamily="49" charset="0"/>
                <a:ea typeface="仿宋" pitchFamily="49" charset="-122"/>
                <a:cs typeface="Consolas" pitchFamily="49" charset="0"/>
              </a:rPr>
              <a:t>，</a:t>
            </a:r>
            <a:r>
              <a:rPr kumimoji="1" lang="en-US" altLang="zh-CN" sz="1600" dirty="0">
                <a:solidFill>
                  <a:srgbClr val="1000E4"/>
                </a:solidFill>
                <a:latin typeface="Consolas" pitchFamily="49" charset="0"/>
                <a:ea typeface="仿宋" pitchFamily="49" charset="-122"/>
                <a:cs typeface="Consolas" pitchFamily="49" charset="0"/>
              </a:rPr>
              <a:t>int n) </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int </a:t>
            </a:r>
            <a:r>
              <a:rPr kumimoji="1" lang="en-US" altLang="zh-CN" sz="1600" dirty="0" err="1">
                <a:solidFill>
                  <a:srgbClr val="1000E4"/>
                </a:solidFill>
                <a:latin typeface="Consolas" pitchFamily="49" charset="0"/>
                <a:ea typeface="仿宋" pitchFamily="49" charset="-122"/>
                <a:cs typeface="Consolas" pitchFamily="49" charset="0"/>
              </a:rPr>
              <a:t>i</a:t>
            </a:r>
            <a:r>
              <a:rPr kumimoji="1" lang="zh-CN" altLang="en-US" sz="1600" dirty="0">
                <a:solidFill>
                  <a:srgbClr val="1000E4"/>
                </a:solidFill>
                <a:latin typeface="Consolas" pitchFamily="49" charset="0"/>
                <a:ea typeface="仿宋" pitchFamily="49" charset="-122"/>
                <a:cs typeface="Consolas" pitchFamily="49" charset="0"/>
              </a:rPr>
              <a:t>，</a:t>
            </a:r>
            <a:r>
              <a:rPr kumimoji="1" lang="en-US" altLang="zh-CN" sz="1600" dirty="0">
                <a:solidFill>
                  <a:srgbClr val="1000E4"/>
                </a:solidFill>
                <a:latin typeface="Consolas" pitchFamily="49" charset="0"/>
                <a:ea typeface="仿宋" pitchFamily="49" charset="-122"/>
                <a:cs typeface="Consolas" pitchFamily="49" charset="0"/>
              </a:rPr>
              <a:t> j;   </a:t>
            </a:r>
            <a:r>
              <a:rPr kumimoji="1" lang="en-US" altLang="zh-CN" sz="1600" dirty="0" err="1">
                <a:solidFill>
                  <a:srgbClr val="1000E4"/>
                </a:solidFill>
                <a:latin typeface="Consolas" pitchFamily="49" charset="0"/>
                <a:ea typeface="仿宋" pitchFamily="49" charset="-122"/>
                <a:cs typeface="Consolas" pitchFamily="49" charset="0"/>
              </a:rPr>
              <a:t>RecType</a:t>
            </a:r>
            <a:r>
              <a:rPr kumimoji="1" lang="en-US" altLang="zh-CN" sz="1600" dirty="0">
                <a:solidFill>
                  <a:srgbClr val="1000E4"/>
                </a:solidFill>
                <a:latin typeface="Consolas" pitchFamily="49" charset="0"/>
                <a:ea typeface="仿宋" pitchFamily="49" charset="-122"/>
                <a:cs typeface="Consolas" pitchFamily="49" charset="0"/>
              </a:rPr>
              <a:t> </a:t>
            </a:r>
            <a:r>
              <a:rPr kumimoji="1" lang="en-US" altLang="zh-CN" sz="1600" dirty="0" err="1">
                <a:solidFill>
                  <a:srgbClr val="1000E4"/>
                </a:solidFill>
                <a:latin typeface="Consolas" pitchFamily="49" charset="0"/>
                <a:ea typeface="仿宋" pitchFamily="49" charset="-122"/>
                <a:cs typeface="Consolas" pitchFamily="49" charset="0"/>
              </a:rPr>
              <a:t>tmp</a:t>
            </a:r>
            <a:r>
              <a:rPr kumimoji="1" lang="en-US" altLang="zh-CN" sz="1600" dirty="0">
                <a:solidFill>
                  <a:srgbClr val="1000E4"/>
                </a:solidFill>
                <a:latin typeface="Consolas" pitchFamily="49" charset="0"/>
                <a:ea typeface="仿宋" pitchFamily="49" charset="-122"/>
                <a:cs typeface="Consolas" pitchFamily="49" charset="0"/>
              </a:rPr>
              <a:t>;</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for (</a:t>
            </a:r>
            <a:r>
              <a:rPr kumimoji="1" lang="en-US" altLang="zh-CN" sz="1600" dirty="0" err="1">
                <a:solidFill>
                  <a:srgbClr val="1000E4"/>
                </a:solidFill>
                <a:latin typeface="Consolas" pitchFamily="49" charset="0"/>
                <a:ea typeface="仿宋" pitchFamily="49" charset="-122"/>
                <a:cs typeface="Consolas" pitchFamily="49" charset="0"/>
              </a:rPr>
              <a:t>i</a:t>
            </a:r>
            <a:r>
              <a:rPr kumimoji="1" lang="en-US" altLang="zh-CN" sz="1600" dirty="0">
                <a:solidFill>
                  <a:srgbClr val="1000E4"/>
                </a:solidFill>
                <a:latin typeface="Consolas" pitchFamily="49" charset="0"/>
                <a:ea typeface="仿宋" pitchFamily="49" charset="-122"/>
                <a:cs typeface="Consolas" pitchFamily="49" charset="0"/>
              </a:rPr>
              <a:t>=1;i&lt;</a:t>
            </a:r>
            <a:r>
              <a:rPr kumimoji="1" lang="en-US" altLang="zh-CN" sz="1600" dirty="0" err="1">
                <a:solidFill>
                  <a:srgbClr val="1000E4"/>
                </a:solidFill>
                <a:latin typeface="Consolas" pitchFamily="49" charset="0"/>
                <a:ea typeface="仿宋" pitchFamily="49" charset="-122"/>
                <a:cs typeface="Consolas" pitchFamily="49" charset="0"/>
              </a:rPr>
              <a:t>n;i</a:t>
            </a:r>
            <a:r>
              <a:rPr kumimoji="1" lang="en-US" altLang="zh-CN" sz="1600" dirty="0">
                <a:solidFill>
                  <a:srgbClr val="1000E4"/>
                </a:solidFill>
                <a:latin typeface="Consolas" pitchFamily="49" charset="0"/>
                <a:ea typeface="仿宋" pitchFamily="49" charset="-122"/>
                <a:cs typeface="Consolas" pitchFamily="49" charset="0"/>
              </a:rPr>
              <a:t>++) </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  if (</a:t>
            </a:r>
            <a:r>
              <a:rPr kumimoji="1" lang="en-US" altLang="zh-CN" sz="1600" dirty="0">
                <a:solidFill>
                  <a:srgbClr val="C00000"/>
                </a:solidFill>
                <a:latin typeface="Consolas" pitchFamily="49" charset="0"/>
                <a:ea typeface="仿宋" pitchFamily="49" charset="-122"/>
                <a:cs typeface="Consolas" pitchFamily="49" charset="0"/>
              </a:rPr>
              <a:t>R[</a:t>
            </a:r>
            <a:r>
              <a:rPr kumimoji="1" lang="en-US" altLang="zh-CN" sz="1600" dirty="0" err="1">
                <a:solidFill>
                  <a:srgbClr val="C00000"/>
                </a:solidFill>
                <a:latin typeface="Consolas" pitchFamily="49" charset="0"/>
                <a:ea typeface="仿宋" pitchFamily="49" charset="-122"/>
                <a:cs typeface="Consolas" pitchFamily="49" charset="0"/>
              </a:rPr>
              <a:t>i</a:t>
            </a:r>
            <a:r>
              <a:rPr kumimoji="1" lang="en-US" altLang="zh-CN" sz="1600" dirty="0">
                <a:solidFill>
                  <a:srgbClr val="C00000"/>
                </a:solidFill>
                <a:latin typeface="Consolas" pitchFamily="49" charset="0"/>
                <a:ea typeface="仿宋" pitchFamily="49" charset="-122"/>
                <a:cs typeface="Consolas" pitchFamily="49" charset="0"/>
              </a:rPr>
              <a:t>].key&lt;R[i-1].key]</a:t>
            </a:r>
            <a:r>
              <a:rPr kumimoji="1" lang="en-US" altLang="zh-CN" sz="1600" dirty="0">
                <a:solidFill>
                  <a:srgbClr val="1000E4"/>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反序时</a:t>
            </a:r>
            <a:endParaRPr kumimoji="1" lang="en-US" altLang="zh-CN" sz="1600" dirty="0">
              <a:solidFill>
                <a:srgbClr val="00B0F0"/>
              </a:solidFill>
              <a:latin typeface="Consolas" pitchFamily="49" charset="0"/>
              <a:ea typeface="仿宋" pitchFamily="49" charset="-122"/>
              <a:cs typeface="Consolas" pitchFamily="49" charset="0"/>
            </a:endParaRP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  </a:t>
            </a:r>
            <a:r>
              <a:rPr kumimoji="1" lang="en-US" altLang="zh-CN" sz="1600" dirty="0" err="1">
                <a:solidFill>
                  <a:srgbClr val="1000E4"/>
                </a:solidFill>
                <a:latin typeface="Consolas" pitchFamily="49" charset="0"/>
                <a:ea typeface="仿宋" pitchFamily="49" charset="-122"/>
                <a:cs typeface="Consolas" pitchFamily="49" charset="0"/>
              </a:rPr>
              <a:t>tmp</a:t>
            </a:r>
            <a:r>
              <a:rPr kumimoji="1" lang="en-US" altLang="zh-CN" sz="1600" dirty="0">
                <a:solidFill>
                  <a:srgbClr val="1000E4"/>
                </a:solidFill>
                <a:latin typeface="Consolas" pitchFamily="49" charset="0"/>
                <a:ea typeface="仿宋" pitchFamily="49" charset="-122"/>
                <a:cs typeface="Consolas" pitchFamily="49" charset="0"/>
              </a:rPr>
              <a:t>=R[</a:t>
            </a:r>
            <a:r>
              <a:rPr kumimoji="1" lang="en-US" altLang="zh-CN" sz="1600" dirty="0" err="1">
                <a:solidFill>
                  <a:srgbClr val="1000E4"/>
                </a:solidFill>
                <a:latin typeface="Consolas" pitchFamily="49" charset="0"/>
                <a:ea typeface="仿宋" pitchFamily="49" charset="-122"/>
                <a:cs typeface="Consolas" pitchFamily="49" charset="0"/>
              </a:rPr>
              <a:t>i</a:t>
            </a:r>
            <a:r>
              <a:rPr kumimoji="1" lang="en-US" altLang="zh-CN" sz="1600" dirty="0">
                <a:solidFill>
                  <a:srgbClr val="1000E4"/>
                </a:solidFill>
                <a:latin typeface="Consolas" pitchFamily="49" charset="0"/>
                <a:ea typeface="仿宋" pitchFamily="49" charset="-122"/>
                <a:cs typeface="Consolas" pitchFamily="49" charset="0"/>
              </a:rPr>
              <a:t>];</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a:t>
            </a:r>
            <a:r>
              <a:rPr kumimoji="1" lang="en-US" altLang="zh-CN" sz="1600" dirty="0">
                <a:solidFill>
                  <a:srgbClr val="FF00FF"/>
                </a:solidFill>
                <a:latin typeface="Consolas" pitchFamily="49" charset="0"/>
                <a:ea typeface="仿宋" pitchFamily="49" charset="-122"/>
                <a:cs typeface="Consolas" pitchFamily="49" charset="0"/>
              </a:rPr>
              <a:t>j=i-1; </a:t>
            </a:r>
            <a:endParaRPr kumimoji="1" lang="zh-CN" altLang="en-US" sz="1600" dirty="0">
              <a:solidFill>
                <a:srgbClr val="FF00FF"/>
              </a:solidFill>
              <a:latin typeface="Consolas" pitchFamily="49" charset="0"/>
              <a:ea typeface="仿宋" pitchFamily="49" charset="-122"/>
              <a:cs typeface="Consolas" pitchFamily="49" charset="0"/>
            </a:endParaRPr>
          </a:p>
          <a:p>
            <a:pPr algn="just">
              <a:lnSpc>
                <a:spcPts val="1400"/>
              </a:lnSpc>
              <a:spcBef>
                <a:spcPct val="50000"/>
              </a:spcBef>
            </a:pPr>
            <a:r>
              <a:rPr kumimoji="1" lang="zh-CN" altLang="en-US" sz="1600" dirty="0">
                <a:solidFill>
                  <a:srgbClr val="FF00FF"/>
                </a:solidFill>
                <a:latin typeface="Consolas" pitchFamily="49" charset="0"/>
                <a:ea typeface="仿宋" pitchFamily="49" charset="-122"/>
                <a:cs typeface="Consolas" pitchFamily="49" charset="0"/>
              </a:rPr>
              <a:t>         </a:t>
            </a:r>
            <a:r>
              <a:rPr kumimoji="1" lang="en-US" altLang="zh-CN" sz="1600" dirty="0">
                <a:solidFill>
                  <a:srgbClr val="FF00FF"/>
                </a:solidFill>
                <a:latin typeface="Consolas" pitchFamily="49" charset="0"/>
                <a:ea typeface="仿宋" pitchFamily="49" charset="-122"/>
                <a:cs typeface="Consolas" pitchFamily="49" charset="0"/>
              </a:rPr>
              <a:t>do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找</a:t>
            </a:r>
            <a:r>
              <a:rPr kumimoji="1" lang="en-US" altLang="zh-CN" sz="1600" dirty="0">
                <a:solidFill>
                  <a:srgbClr val="00B0F0"/>
                </a:solidFill>
                <a:latin typeface="Consolas" pitchFamily="49" charset="0"/>
                <a:ea typeface="仿宋" pitchFamily="49" charset="-122"/>
                <a:cs typeface="Consolas" pitchFamily="49" charset="0"/>
              </a:rPr>
              <a:t>R[</a:t>
            </a:r>
            <a:r>
              <a:rPr kumimoji="1" lang="en-US" altLang="zh-CN" sz="1600" dirty="0" err="1">
                <a:solidFill>
                  <a:srgbClr val="00B0F0"/>
                </a:solidFill>
                <a:latin typeface="Consolas" pitchFamily="49" charset="0"/>
                <a:ea typeface="仿宋" pitchFamily="49" charset="-122"/>
                <a:cs typeface="Consolas" pitchFamily="49" charset="0"/>
              </a:rPr>
              <a:t>i</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的插入位置</a:t>
            </a:r>
            <a:endParaRPr kumimoji="1" lang="en-US" altLang="zh-CN" sz="1600" dirty="0">
              <a:solidFill>
                <a:srgbClr val="00B0F0"/>
              </a:solidFill>
              <a:latin typeface="Consolas" pitchFamily="49" charset="0"/>
              <a:ea typeface="仿宋" pitchFamily="49" charset="-122"/>
              <a:cs typeface="Consolas" pitchFamily="49" charset="0"/>
            </a:endParaRPr>
          </a:p>
          <a:p>
            <a:pPr algn="just">
              <a:lnSpc>
                <a:spcPts val="1400"/>
              </a:lnSpc>
              <a:spcBef>
                <a:spcPct val="50000"/>
              </a:spcBef>
            </a:pPr>
            <a:r>
              <a:rPr kumimoji="1" lang="en-US" altLang="zh-CN" sz="1600" dirty="0">
                <a:solidFill>
                  <a:srgbClr val="FF00FF"/>
                </a:solidFill>
                <a:latin typeface="Consolas" pitchFamily="49" charset="0"/>
                <a:ea typeface="仿宋" pitchFamily="49" charset="-122"/>
                <a:cs typeface="Consolas" pitchFamily="49" charset="0"/>
              </a:rPr>
              <a:t>         {  R[j+1]=R[j];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将关键字大于</a:t>
            </a:r>
            <a:r>
              <a:rPr kumimoji="1" lang="en-US" altLang="zh-CN" sz="1600" dirty="0">
                <a:solidFill>
                  <a:srgbClr val="00B0F0"/>
                </a:solidFill>
                <a:latin typeface="Consolas" pitchFamily="49" charset="0"/>
                <a:ea typeface="仿宋" pitchFamily="49" charset="-122"/>
                <a:cs typeface="Consolas" pitchFamily="49" charset="0"/>
              </a:rPr>
              <a:t>R[</a:t>
            </a:r>
            <a:r>
              <a:rPr kumimoji="1" lang="en-US" altLang="zh-CN" sz="1600" dirty="0" err="1">
                <a:solidFill>
                  <a:srgbClr val="00B0F0"/>
                </a:solidFill>
                <a:latin typeface="Consolas" pitchFamily="49" charset="0"/>
                <a:ea typeface="仿宋" pitchFamily="49" charset="-122"/>
                <a:cs typeface="Consolas" pitchFamily="49" charset="0"/>
              </a:rPr>
              <a:t>i</a:t>
            </a:r>
            <a:r>
              <a:rPr kumimoji="1" lang="en-US" altLang="zh-CN" sz="1600" dirty="0">
                <a:solidFill>
                  <a:srgbClr val="00B0F0"/>
                </a:solidFill>
                <a:latin typeface="Consolas" pitchFamily="49" charset="0"/>
                <a:ea typeface="仿宋" pitchFamily="49" charset="-122"/>
                <a:cs typeface="Consolas" pitchFamily="49" charset="0"/>
              </a:rPr>
              <a:t>].key</a:t>
            </a:r>
            <a:r>
              <a:rPr kumimoji="1" lang="zh-CN" altLang="en-US" sz="1600" dirty="0">
                <a:solidFill>
                  <a:srgbClr val="00B0F0"/>
                </a:solidFill>
                <a:latin typeface="Consolas" pitchFamily="49" charset="0"/>
                <a:ea typeface="仿宋" pitchFamily="49" charset="-122"/>
                <a:cs typeface="Consolas" pitchFamily="49" charset="0"/>
              </a:rPr>
              <a:t>的元素后移</a:t>
            </a:r>
          </a:p>
          <a:p>
            <a:pPr algn="just">
              <a:lnSpc>
                <a:spcPts val="1400"/>
              </a:lnSpc>
              <a:spcBef>
                <a:spcPct val="50000"/>
              </a:spcBef>
            </a:pPr>
            <a:r>
              <a:rPr kumimoji="1" lang="zh-CN" altLang="en-US" sz="1600" dirty="0">
                <a:solidFill>
                  <a:srgbClr val="FF00FF"/>
                </a:solidFill>
                <a:latin typeface="Consolas" pitchFamily="49" charset="0"/>
                <a:ea typeface="仿宋" pitchFamily="49" charset="-122"/>
                <a:cs typeface="Consolas" pitchFamily="49" charset="0"/>
              </a:rPr>
              <a:t>            </a:t>
            </a:r>
            <a:r>
              <a:rPr kumimoji="1" lang="en-US" altLang="zh-CN" sz="1600" dirty="0">
                <a:solidFill>
                  <a:srgbClr val="FF00FF"/>
                </a:solidFill>
                <a:latin typeface="Consolas" pitchFamily="49" charset="0"/>
                <a:ea typeface="仿宋" pitchFamily="49" charset="-122"/>
                <a:cs typeface="Consolas" pitchFamily="49" charset="0"/>
              </a:rPr>
              <a:t>j--;</a:t>
            </a:r>
          </a:p>
          <a:p>
            <a:pPr algn="just">
              <a:lnSpc>
                <a:spcPts val="1400"/>
              </a:lnSpc>
              <a:spcBef>
                <a:spcPct val="50000"/>
              </a:spcBef>
            </a:pPr>
            <a:r>
              <a:rPr kumimoji="1" lang="en-US" altLang="zh-CN" sz="1600" dirty="0">
                <a:solidFill>
                  <a:srgbClr val="FF00FF"/>
                </a:solidFill>
                <a:latin typeface="Consolas" pitchFamily="49" charset="0"/>
                <a:ea typeface="仿宋" pitchFamily="49" charset="-122"/>
                <a:cs typeface="Consolas" pitchFamily="49" charset="0"/>
              </a:rPr>
              <a:t>         }  while  (j&gt;=0 &amp;&amp; R[j].key&gt;</a:t>
            </a:r>
            <a:r>
              <a:rPr kumimoji="1" lang="en-US" altLang="zh-CN" sz="1600" dirty="0" err="1">
                <a:solidFill>
                  <a:srgbClr val="FF00FF"/>
                </a:solidFill>
                <a:latin typeface="Consolas" pitchFamily="49" charset="0"/>
                <a:ea typeface="仿宋" pitchFamily="49" charset="-122"/>
                <a:cs typeface="Consolas" pitchFamily="49" charset="0"/>
              </a:rPr>
              <a:t>tmp.key</a:t>
            </a:r>
            <a:r>
              <a:rPr kumimoji="1" lang="en-US" altLang="zh-CN" sz="1600" dirty="0">
                <a:solidFill>
                  <a:srgbClr val="FF00FF"/>
                </a:solidFill>
                <a:latin typeface="Consolas" pitchFamily="49" charset="0"/>
                <a:ea typeface="仿宋" pitchFamily="49" charset="-122"/>
                <a:cs typeface="Consolas" pitchFamily="49" charset="0"/>
              </a:rPr>
              <a:t>)</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R[j+1]=</a:t>
            </a:r>
            <a:r>
              <a:rPr kumimoji="1" lang="en-US" altLang="zh-CN" sz="1600" dirty="0" err="1">
                <a:solidFill>
                  <a:srgbClr val="1000E4"/>
                </a:solidFill>
                <a:latin typeface="Consolas" pitchFamily="49" charset="0"/>
                <a:ea typeface="仿宋" pitchFamily="49" charset="-122"/>
                <a:cs typeface="Consolas" pitchFamily="49" charset="0"/>
              </a:rPr>
              <a:t>tmp</a:t>
            </a:r>
            <a:r>
              <a:rPr kumimoji="1" lang="en-US" altLang="zh-CN" sz="1600" dirty="0">
                <a:solidFill>
                  <a:srgbClr val="1000E4"/>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在</a:t>
            </a:r>
            <a:r>
              <a:rPr kumimoji="1" lang="en-US" altLang="zh-CN" sz="1600" dirty="0" err="1">
                <a:solidFill>
                  <a:srgbClr val="00B0F0"/>
                </a:solidFill>
                <a:latin typeface="Consolas" pitchFamily="49" charset="0"/>
                <a:ea typeface="仿宋" pitchFamily="49" charset="-122"/>
                <a:cs typeface="Consolas" pitchFamily="49" charset="0"/>
              </a:rPr>
              <a:t>j+1</a:t>
            </a:r>
            <a:r>
              <a:rPr kumimoji="1" lang="zh-CN" altLang="en-US" sz="1600" dirty="0">
                <a:solidFill>
                  <a:srgbClr val="00B0F0"/>
                </a:solidFill>
                <a:latin typeface="Consolas" pitchFamily="49" charset="0"/>
                <a:ea typeface="仿宋" pitchFamily="49" charset="-122"/>
                <a:cs typeface="Consolas" pitchFamily="49" charset="0"/>
              </a:rPr>
              <a:t>处插入</a:t>
            </a:r>
            <a:r>
              <a:rPr kumimoji="1" lang="en-US" altLang="zh-CN" sz="1600" dirty="0">
                <a:solidFill>
                  <a:srgbClr val="00B0F0"/>
                </a:solidFill>
                <a:latin typeface="Consolas" pitchFamily="49" charset="0"/>
                <a:ea typeface="仿宋" pitchFamily="49" charset="-122"/>
                <a:cs typeface="Consolas" pitchFamily="49" charset="0"/>
              </a:rPr>
              <a:t>R[</a:t>
            </a:r>
            <a:r>
              <a:rPr kumimoji="1" lang="en-US" altLang="zh-CN" sz="1600" dirty="0" err="1">
                <a:solidFill>
                  <a:srgbClr val="00B0F0"/>
                </a:solidFill>
                <a:latin typeface="Consolas" pitchFamily="49" charset="0"/>
                <a:ea typeface="仿宋" pitchFamily="49" charset="-122"/>
                <a:cs typeface="Consolas" pitchFamily="49" charset="0"/>
              </a:rPr>
              <a:t>i</a:t>
            </a:r>
            <a:r>
              <a:rPr kumimoji="1" lang="en-US" altLang="zh-CN" sz="1600" dirty="0">
                <a:solidFill>
                  <a:srgbClr val="00B0F0"/>
                </a:solidFill>
                <a:latin typeface="Consolas" pitchFamily="49" charset="0"/>
                <a:ea typeface="仿宋" pitchFamily="49" charset="-122"/>
                <a:cs typeface="Consolas" pitchFamily="49" charset="0"/>
              </a:rPr>
              <a:t>]</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   }</a:t>
            </a:r>
          </a:p>
          <a:p>
            <a:pPr algn="just">
              <a:lnSpc>
                <a:spcPts val="1400"/>
              </a:lnSpc>
              <a:spcBef>
                <a:spcPct val="50000"/>
              </a:spcBef>
            </a:pPr>
            <a:r>
              <a:rPr kumimoji="1" lang="en-US" altLang="zh-CN" sz="1600" dirty="0">
                <a:solidFill>
                  <a:srgbClr val="1000E4"/>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2113544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1573"/>
                                        </p:tgtEl>
                                        <p:attrNameLst>
                                          <p:attrName>style.visibility</p:attrName>
                                        </p:attrNameLst>
                                      </p:cBhvr>
                                      <p:to>
                                        <p:strVal val="visible"/>
                                      </p:to>
                                    </p:set>
                                    <p:animEffect transition="in" filter="wipe(left)">
                                      <p:cBhvr>
                                        <p:cTn id="7" dur="500"/>
                                        <p:tgtEl>
                                          <p:spTgt spid="62157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7">
                                            <p:txEl>
                                              <p:pRg st="8" end="8"/>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3" grpId="0" autoUpdateAnimBg="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2497832" y="2139642"/>
            <a:ext cx="5110336" cy="457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75000"/>
              <a:buNone/>
            </a:pPr>
            <a:r>
              <a:rPr kumimoji="1" lang="zh-CN" altLang="en-US" sz="2000" dirty="0">
                <a:latin typeface="微软雅黑" pitchFamily="34" charset="-122"/>
                <a:ea typeface="微软雅黑" pitchFamily="34" charset="-122"/>
                <a:cs typeface="经典粗黑简" pitchFamily="49" charset="-122"/>
              </a:rPr>
              <a:t>以顺序表作为存储结构的直接插入排序算法</a:t>
            </a:r>
          </a:p>
        </p:txBody>
      </p:sp>
      <p:sp>
        <p:nvSpPr>
          <p:cNvPr id="11" name="矩形 10"/>
          <p:cNvSpPr/>
          <p:nvPr/>
        </p:nvSpPr>
        <p:spPr>
          <a:xfrm>
            <a:off x="2497832" y="2533114"/>
            <a:ext cx="2533066"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时间复杂度：</a:t>
            </a:r>
            <a:r>
              <a:rPr kumimoji="1" lang="en-US" altLang="zh-CN" sz="2000" dirty="0">
                <a:latin typeface="微软雅黑" pitchFamily="34" charset="-122"/>
                <a:ea typeface="微软雅黑" pitchFamily="34" charset="-122"/>
                <a:cs typeface="经典粗黑简" pitchFamily="49" charset="-122"/>
              </a:rPr>
              <a:t>O(n</a:t>
            </a:r>
            <a:r>
              <a:rPr kumimoji="1" lang="en-US" altLang="zh-CN" sz="2000" baseline="30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a:t>
            </a:r>
            <a:endParaRPr lang="zh-CN" altLang="en-US" sz="2000" dirty="0"/>
          </a:p>
        </p:txBody>
      </p:sp>
      <p:sp>
        <p:nvSpPr>
          <p:cNvPr id="2" name="矩形 1">
            <a:extLst>
              <a:ext uri="{FF2B5EF4-FFF2-40B4-BE49-F238E27FC236}">
                <a16:creationId xmlns:a16="http://schemas.microsoft.com/office/drawing/2014/main" id="{A8DF9351-FF92-0449-4334-B604F0829D63}"/>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10.2.1 </a:t>
            </a:r>
            <a:r>
              <a:rPr lang="zh-CN" altLang="en-US" sz="2800" b="1" dirty="0">
                <a:solidFill>
                  <a:schemeClr val="bg1"/>
                </a:solidFill>
                <a:latin typeface="经典粗黑简" pitchFamily="49" charset="-122"/>
                <a:ea typeface="经典粗黑简" pitchFamily="49" charset="-122"/>
                <a:cs typeface="经典粗黑简" pitchFamily="49" charset="-122"/>
              </a:rPr>
              <a:t>直接插入排序</a:t>
            </a:r>
          </a:p>
        </p:txBody>
      </p:sp>
      <p:cxnSp>
        <p:nvCxnSpPr>
          <p:cNvPr id="3" name="直接连接符 2">
            <a:extLst>
              <a:ext uri="{FF2B5EF4-FFF2-40B4-BE49-F238E27FC236}">
                <a16:creationId xmlns:a16="http://schemas.microsoft.com/office/drawing/2014/main" id="{B50E271A-A1D4-DE59-64E6-980FD041551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5E1249D-EDDE-AE2F-6C7C-18DFAEBE2624}"/>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5" name="Text Box 3">
            <a:extLst>
              <a:ext uri="{FF2B5EF4-FFF2-40B4-BE49-F238E27FC236}">
                <a16:creationId xmlns:a16="http://schemas.microsoft.com/office/drawing/2014/main" id="{1D3DAE83-F543-C3D1-B30E-1C15E9F43982}"/>
              </a:ext>
            </a:extLst>
          </p:cNvPr>
          <p:cNvSpPr txBox="1">
            <a:spLocks noChangeArrowheads="1"/>
          </p:cNvSpPr>
          <p:nvPr/>
        </p:nvSpPr>
        <p:spPr bwMode="auto">
          <a:xfrm>
            <a:off x="3021212" y="2964838"/>
            <a:ext cx="5549917"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none" tIns="72000" bIns="72000">
            <a:spAutoFit/>
          </a:bodyPr>
          <a:lstStyle/>
          <a:p>
            <a:pPr marL="457200" indent="-457200" algn="l">
              <a:buBlip>
                <a:blip r:embed="rId2"/>
              </a:buBlip>
            </a:pPr>
            <a:r>
              <a:rPr kumimoji="1" lang="zh-CN" altLang="en-US" sz="2000" dirty="0">
                <a:solidFill>
                  <a:srgbClr val="008000"/>
                </a:solidFill>
                <a:latin typeface="Consolas" pitchFamily="49" charset="0"/>
                <a:ea typeface="楷体" pitchFamily="49" charset="-122"/>
                <a:cs typeface="Consolas" pitchFamily="49" charset="0"/>
              </a:rPr>
              <a:t>最好的情况（关键</a:t>
            </a:r>
            <a:r>
              <a:rPr kumimoji="1" lang="zh-CN" altLang="en-US" sz="2000">
                <a:solidFill>
                  <a:srgbClr val="008000"/>
                </a:solidFill>
                <a:latin typeface="Consolas" pitchFamily="49" charset="0"/>
                <a:ea typeface="楷体" pitchFamily="49" charset="-122"/>
                <a:cs typeface="Consolas" pitchFamily="49" charset="0"/>
              </a:rPr>
              <a:t>字在元素序</a:t>
            </a:r>
            <a:r>
              <a:rPr kumimoji="1" lang="zh-CN" altLang="en-US" sz="2000" dirty="0">
                <a:solidFill>
                  <a:srgbClr val="008000"/>
                </a:solidFill>
                <a:latin typeface="Consolas" pitchFamily="49" charset="0"/>
                <a:ea typeface="楷体" pitchFamily="49" charset="-122"/>
                <a:cs typeface="Consolas" pitchFamily="49" charset="0"/>
              </a:rPr>
              <a:t>列中正序）：</a:t>
            </a:r>
          </a:p>
        </p:txBody>
      </p:sp>
      <p:grpSp>
        <p:nvGrpSpPr>
          <p:cNvPr id="6" name="组合 13">
            <a:extLst>
              <a:ext uri="{FF2B5EF4-FFF2-40B4-BE49-F238E27FC236}">
                <a16:creationId xmlns:a16="http://schemas.microsoft.com/office/drawing/2014/main" id="{F1FB62A1-5B71-43FE-F522-83DBFD67BF39}"/>
              </a:ext>
            </a:extLst>
          </p:cNvPr>
          <p:cNvGrpSpPr/>
          <p:nvPr/>
        </p:nvGrpSpPr>
        <p:grpSpPr>
          <a:xfrm>
            <a:off x="2711624" y="3510947"/>
            <a:ext cx="7759189" cy="1254563"/>
            <a:chOff x="785786" y="3271850"/>
            <a:chExt cx="7759189" cy="1254563"/>
          </a:xfrm>
        </p:grpSpPr>
        <p:sp>
          <p:nvSpPr>
            <p:cNvPr id="7" name="Text Box 4">
              <a:extLst>
                <a:ext uri="{FF2B5EF4-FFF2-40B4-BE49-F238E27FC236}">
                  <a16:creationId xmlns:a16="http://schemas.microsoft.com/office/drawing/2014/main" id="{185BFFA1-BEC5-38D3-3A09-AB77643325C0}"/>
                </a:ext>
              </a:extLst>
            </p:cNvPr>
            <p:cNvSpPr txBox="1">
              <a:spLocks noChangeArrowheads="1"/>
            </p:cNvSpPr>
            <p:nvPr/>
          </p:nvSpPr>
          <p:spPr bwMode="auto">
            <a:xfrm>
              <a:off x="785786" y="3275025"/>
              <a:ext cx="2249334" cy="400110"/>
            </a:xfrm>
            <a:prstGeom prst="rect">
              <a:avLst/>
            </a:prstGeom>
            <a:noFill/>
            <a:ln w="9525">
              <a:noFill/>
              <a:miter lim="800000"/>
              <a:headEnd/>
              <a:tailEnd/>
            </a:ln>
            <a:effectLst/>
          </p:spPr>
          <p:txBody>
            <a:bodyPr wrap="none">
              <a:spAutoFit/>
            </a:bodyPr>
            <a:lstStyle/>
            <a:p>
              <a:pPr algn="l"/>
              <a:r>
                <a:rPr kumimoji="1" lang="en-US" altLang="zh-CN" sz="2000" dirty="0">
                  <a:latin typeface="仿宋" pitchFamily="49" charset="-122"/>
                  <a:ea typeface="仿宋" pitchFamily="49" charset="-122"/>
                  <a:cs typeface="Consolas" pitchFamily="49" charset="0"/>
                </a:rPr>
                <a:t>“</a:t>
              </a:r>
              <a:r>
                <a:rPr kumimoji="1" lang="zh-CN" altLang="en-US" sz="2000" dirty="0">
                  <a:latin typeface="仿宋" pitchFamily="49" charset="-122"/>
                  <a:ea typeface="仿宋" pitchFamily="49" charset="-122"/>
                  <a:cs typeface="Consolas" pitchFamily="49" charset="0"/>
                </a:rPr>
                <a:t>比较”的次数：</a:t>
              </a:r>
            </a:p>
          </p:txBody>
        </p:sp>
        <p:sp>
          <p:nvSpPr>
            <p:cNvPr id="9" name="Text Box 8">
              <a:extLst>
                <a:ext uri="{FF2B5EF4-FFF2-40B4-BE49-F238E27FC236}">
                  <a16:creationId xmlns:a16="http://schemas.microsoft.com/office/drawing/2014/main" id="{99744F2A-EBCE-B0BA-776F-684C8F978E40}"/>
                </a:ext>
              </a:extLst>
            </p:cNvPr>
            <p:cNvSpPr txBox="1">
              <a:spLocks noChangeArrowheads="1"/>
            </p:cNvSpPr>
            <p:nvPr/>
          </p:nvSpPr>
          <p:spPr bwMode="auto">
            <a:xfrm>
              <a:off x="4429124" y="3886146"/>
              <a:ext cx="487369" cy="400110"/>
            </a:xfrm>
            <a:prstGeom prst="rect">
              <a:avLst/>
            </a:prstGeom>
            <a:noFill/>
            <a:ln w="9525">
              <a:noFill/>
              <a:miter lim="800000"/>
              <a:headEnd/>
              <a:tailEnd/>
            </a:ln>
            <a:effectLst/>
          </p:spPr>
          <p:txBody>
            <a:bodyPr wrap="square">
              <a:spAutoFit/>
            </a:bodyPr>
            <a:lstStyle/>
            <a:p>
              <a:pPr algn="l"/>
              <a:r>
                <a:rPr kumimoji="1" lang="en-US" altLang="zh-CN" sz="2000">
                  <a:solidFill>
                    <a:schemeClr val="tx1"/>
                  </a:solidFill>
                  <a:latin typeface="Consolas" pitchFamily="49" charset="0"/>
                  <a:ea typeface="宋体" pitchFamily="2" charset="-122"/>
                  <a:cs typeface="Consolas" pitchFamily="49" charset="0"/>
                </a:rPr>
                <a:t>0</a:t>
              </a:r>
              <a:endParaRPr kumimoji="1" lang="en-US" altLang="zh-CN" sz="2000" dirty="0">
                <a:solidFill>
                  <a:schemeClr val="tx1"/>
                </a:solidFill>
                <a:latin typeface="Consolas" pitchFamily="49" charset="0"/>
                <a:ea typeface="宋体" pitchFamily="2" charset="-122"/>
                <a:cs typeface="Consolas" pitchFamily="49" charset="0"/>
              </a:endParaRPr>
            </a:p>
          </p:txBody>
        </p:sp>
        <p:sp>
          <p:nvSpPr>
            <p:cNvPr id="10" name="Rectangle 10">
              <a:extLst>
                <a:ext uri="{FF2B5EF4-FFF2-40B4-BE49-F238E27FC236}">
                  <a16:creationId xmlns:a16="http://schemas.microsoft.com/office/drawing/2014/main" id="{46FAAD01-E84B-BB65-EFD7-E15763771AA1}"/>
                </a:ext>
              </a:extLst>
            </p:cNvPr>
            <p:cNvSpPr>
              <a:spLocks noChangeArrowheads="1"/>
            </p:cNvSpPr>
            <p:nvPr/>
          </p:nvSpPr>
          <p:spPr bwMode="auto">
            <a:xfrm>
              <a:off x="3758629" y="3271850"/>
              <a:ext cx="2249334" cy="400110"/>
            </a:xfrm>
            <a:prstGeom prst="rect">
              <a:avLst/>
            </a:prstGeom>
            <a:noFill/>
            <a:ln w="9525">
              <a:noFill/>
              <a:miter lim="800000"/>
              <a:headEnd/>
              <a:tailEnd/>
            </a:ln>
            <a:effectLst/>
          </p:spPr>
          <p:txBody>
            <a:bodyPr wrap="none">
              <a:spAutoFit/>
            </a:bodyPr>
            <a:lstStyle/>
            <a:p>
              <a:pPr algn="l"/>
              <a:r>
                <a:rPr kumimoji="1" lang="en-US" altLang="zh-CN" sz="2000" dirty="0">
                  <a:latin typeface="仿宋" pitchFamily="49" charset="-122"/>
                  <a:ea typeface="仿宋" pitchFamily="49" charset="-122"/>
                  <a:cs typeface="Consolas" pitchFamily="49" charset="0"/>
                </a:rPr>
                <a:t>“</a:t>
              </a:r>
              <a:r>
                <a:rPr kumimoji="1" lang="zh-CN" altLang="en-US" sz="2000" dirty="0">
                  <a:latin typeface="仿宋" pitchFamily="49" charset="-122"/>
                  <a:ea typeface="仿宋" pitchFamily="49" charset="-122"/>
                  <a:cs typeface="Consolas" pitchFamily="49" charset="0"/>
                </a:rPr>
                <a:t>移动”的次数：</a:t>
              </a:r>
            </a:p>
          </p:txBody>
        </p:sp>
        <p:sp>
          <p:nvSpPr>
            <p:cNvPr id="15" name="TextBox 19">
              <a:extLst>
                <a:ext uri="{FF2B5EF4-FFF2-40B4-BE49-F238E27FC236}">
                  <a16:creationId xmlns:a16="http://schemas.microsoft.com/office/drawing/2014/main" id="{B0097BB0-1045-F72E-3A78-60CCC0901BFC}"/>
                </a:ext>
              </a:extLst>
            </p:cNvPr>
            <p:cNvSpPr txBox="1"/>
            <p:nvPr/>
          </p:nvSpPr>
          <p:spPr>
            <a:xfrm>
              <a:off x="6901901" y="3857628"/>
              <a:ext cx="1643074" cy="400110"/>
            </a:xfrm>
            <a:prstGeom prst="rect">
              <a:avLst/>
            </a:prstGeom>
            <a:noFill/>
          </p:spPr>
          <p:txBody>
            <a:bodyPr wrap="square" rtlCol="0">
              <a:spAutoFit/>
            </a:bodyPr>
            <a:lstStyle/>
            <a:p>
              <a:r>
                <a:rPr lang="zh-CN" altLang="en-US" sz="2000" dirty="0">
                  <a:solidFill>
                    <a:srgbClr val="FF0000"/>
                  </a:solidFill>
                  <a:latin typeface="Consolas" pitchFamily="49" charset="0"/>
                  <a:ea typeface="楷体" pitchFamily="49" charset="-122"/>
                  <a:cs typeface="Consolas" pitchFamily="49" charset="0"/>
                </a:rPr>
                <a:t>最好：</a:t>
              </a:r>
              <a:r>
                <a:rPr lang="en-US" altLang="zh-CN" sz="2000" dirty="0">
                  <a:solidFill>
                    <a:srgbClr val="FF0000"/>
                  </a:solidFill>
                  <a:latin typeface="Consolas" pitchFamily="49" charset="0"/>
                  <a:ea typeface="楷体" pitchFamily="49" charset="-122"/>
                  <a:cs typeface="Consolas" pitchFamily="49" charset="0"/>
                </a:rPr>
                <a:t>O(</a:t>
              </a:r>
              <a:r>
                <a:rPr lang="en-US" altLang="zh-CN" sz="2000" i="1" dirty="0">
                  <a:solidFill>
                    <a:srgbClr val="FF0000"/>
                  </a:solidFill>
                  <a:latin typeface="Consolas" pitchFamily="49" charset="0"/>
                  <a:ea typeface="楷体" pitchFamily="49" charset="-122"/>
                  <a:cs typeface="Consolas" pitchFamily="49" charset="0"/>
                </a:rPr>
                <a:t>n</a:t>
              </a:r>
              <a:r>
                <a:rPr lang="en-US" altLang="zh-CN" sz="2000" dirty="0">
                  <a:solidFill>
                    <a:srgbClr val="FF0000"/>
                  </a:solidFill>
                  <a:latin typeface="Consolas" pitchFamily="49" charset="0"/>
                  <a:ea typeface="楷体" pitchFamily="49" charset="-122"/>
                  <a:cs typeface="Consolas" pitchFamily="49" charset="0"/>
                </a:rPr>
                <a:t>)</a:t>
              </a:r>
              <a:endParaRPr lang="zh-CN" altLang="en-US" sz="2000" dirty="0">
                <a:solidFill>
                  <a:srgbClr val="FF0000"/>
                </a:solidFill>
                <a:latin typeface="Consolas" pitchFamily="49" charset="0"/>
                <a:ea typeface="楷体" pitchFamily="49" charset="-122"/>
                <a:cs typeface="Consolas" pitchFamily="49" charset="0"/>
              </a:endParaRPr>
            </a:p>
          </p:txBody>
        </p:sp>
        <p:pic>
          <p:nvPicPr>
            <p:cNvPr id="17" name="Picture 1">
              <a:extLst>
                <a:ext uri="{FF2B5EF4-FFF2-40B4-BE49-F238E27FC236}">
                  <a16:creationId xmlns:a16="http://schemas.microsoft.com/office/drawing/2014/main" id="{527FCBD6-8226-9BE2-00A7-EC84969D900A}"/>
                </a:ext>
              </a:extLst>
            </p:cNvPr>
            <p:cNvPicPr>
              <a:picLocks noChangeAspect="1" noChangeArrowheads="1"/>
            </p:cNvPicPr>
            <p:nvPr/>
          </p:nvPicPr>
          <p:blipFill>
            <a:blip r:embed="rId3" cstate="print"/>
            <a:srcRect/>
            <a:stretch>
              <a:fillRect/>
            </a:stretch>
          </p:blipFill>
          <p:spPr bwMode="auto">
            <a:xfrm>
              <a:off x="1129587" y="3740595"/>
              <a:ext cx="1319052" cy="785818"/>
            </a:xfrm>
            <a:prstGeom prst="rect">
              <a:avLst/>
            </a:prstGeom>
            <a:noFill/>
            <a:ln w="9525">
              <a:noFill/>
              <a:miter lim="800000"/>
              <a:headEnd/>
              <a:tailEnd/>
            </a:ln>
          </p:spPr>
        </p:pic>
      </p:grpSp>
      <p:sp>
        <p:nvSpPr>
          <p:cNvPr id="19" name="Text Box 5">
            <a:extLst>
              <a:ext uri="{FF2B5EF4-FFF2-40B4-BE49-F238E27FC236}">
                <a16:creationId xmlns:a16="http://schemas.microsoft.com/office/drawing/2014/main" id="{4A182793-A33E-059F-B885-245FF45EF9B1}"/>
              </a:ext>
            </a:extLst>
          </p:cNvPr>
          <p:cNvSpPr txBox="1">
            <a:spLocks noChangeArrowheads="1"/>
          </p:cNvSpPr>
          <p:nvPr/>
        </p:nvSpPr>
        <p:spPr bwMode="auto">
          <a:xfrm>
            <a:off x="3021211" y="4882543"/>
            <a:ext cx="5549917"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none" tIns="72000" bIns="72000">
            <a:spAutoFit/>
          </a:bodyPr>
          <a:lstStyle/>
          <a:p>
            <a:pPr marL="457200" indent="-457200" algn="l">
              <a:buBlip>
                <a:blip r:embed="rId2"/>
              </a:buBlip>
            </a:pPr>
            <a:r>
              <a:rPr kumimoji="1" lang="zh-CN" altLang="en-US" sz="2000" dirty="0">
                <a:solidFill>
                  <a:srgbClr val="008000"/>
                </a:solidFill>
                <a:latin typeface="Consolas" pitchFamily="49" charset="0"/>
                <a:ea typeface="楷体" pitchFamily="49" charset="-122"/>
                <a:cs typeface="Consolas" pitchFamily="49" charset="0"/>
              </a:rPr>
              <a:t>最坏的情况（关键</a:t>
            </a:r>
            <a:r>
              <a:rPr kumimoji="1" lang="zh-CN" altLang="en-US" sz="2000">
                <a:solidFill>
                  <a:srgbClr val="008000"/>
                </a:solidFill>
                <a:latin typeface="Consolas" pitchFamily="49" charset="0"/>
                <a:ea typeface="楷体" pitchFamily="49" charset="-122"/>
                <a:cs typeface="Consolas" pitchFamily="49" charset="0"/>
              </a:rPr>
              <a:t>字在元素序</a:t>
            </a:r>
            <a:r>
              <a:rPr kumimoji="1" lang="zh-CN" altLang="en-US" sz="2000" dirty="0">
                <a:solidFill>
                  <a:srgbClr val="008000"/>
                </a:solidFill>
                <a:latin typeface="Consolas" pitchFamily="49" charset="0"/>
                <a:ea typeface="楷体" pitchFamily="49" charset="-122"/>
                <a:cs typeface="Consolas" pitchFamily="49" charset="0"/>
              </a:rPr>
              <a:t>列中反序）：</a:t>
            </a:r>
          </a:p>
        </p:txBody>
      </p:sp>
      <p:grpSp>
        <p:nvGrpSpPr>
          <p:cNvPr id="24" name="组合 15">
            <a:extLst>
              <a:ext uri="{FF2B5EF4-FFF2-40B4-BE49-F238E27FC236}">
                <a16:creationId xmlns:a16="http://schemas.microsoft.com/office/drawing/2014/main" id="{4FE5E588-1A32-C292-940A-2931D193CB94}"/>
              </a:ext>
            </a:extLst>
          </p:cNvPr>
          <p:cNvGrpSpPr/>
          <p:nvPr/>
        </p:nvGrpSpPr>
        <p:grpSpPr>
          <a:xfrm>
            <a:off x="2969823" y="5434791"/>
            <a:ext cx="7500990" cy="1228858"/>
            <a:chOff x="500034" y="5447015"/>
            <a:chExt cx="7500990" cy="1228858"/>
          </a:xfrm>
        </p:grpSpPr>
        <p:sp>
          <p:nvSpPr>
            <p:cNvPr id="25" name="Text Box 6">
              <a:extLst>
                <a:ext uri="{FF2B5EF4-FFF2-40B4-BE49-F238E27FC236}">
                  <a16:creationId xmlns:a16="http://schemas.microsoft.com/office/drawing/2014/main" id="{00837BB9-5F6D-7A7A-A4E1-81A0DC0375F7}"/>
                </a:ext>
              </a:extLst>
            </p:cNvPr>
            <p:cNvSpPr txBox="1">
              <a:spLocks noChangeArrowheads="1"/>
            </p:cNvSpPr>
            <p:nvPr/>
          </p:nvSpPr>
          <p:spPr bwMode="auto">
            <a:xfrm>
              <a:off x="500034" y="5447015"/>
              <a:ext cx="2249334" cy="400110"/>
            </a:xfrm>
            <a:prstGeom prst="rect">
              <a:avLst/>
            </a:prstGeom>
            <a:noFill/>
            <a:ln w="9525">
              <a:noFill/>
              <a:miter lim="800000"/>
              <a:headEnd/>
              <a:tailEnd/>
            </a:ln>
            <a:effectLst/>
          </p:spPr>
          <p:txBody>
            <a:bodyPr wrap="none">
              <a:spAutoFit/>
            </a:bodyPr>
            <a:lstStyle/>
            <a:p>
              <a:pPr algn="l"/>
              <a:r>
                <a:rPr kumimoji="1" lang="en-US" altLang="zh-CN" sz="2000" dirty="0">
                  <a:latin typeface="仿宋" pitchFamily="49" charset="-122"/>
                  <a:ea typeface="仿宋" pitchFamily="49" charset="-122"/>
                  <a:cs typeface="Consolas" pitchFamily="49" charset="0"/>
                </a:rPr>
                <a:t>“</a:t>
              </a:r>
              <a:r>
                <a:rPr kumimoji="1" lang="zh-CN" altLang="en-US" sz="2000" dirty="0">
                  <a:latin typeface="仿宋" pitchFamily="49" charset="-122"/>
                  <a:ea typeface="仿宋" pitchFamily="49" charset="-122"/>
                  <a:cs typeface="Consolas" pitchFamily="49" charset="0"/>
                </a:rPr>
                <a:t>比较”的次数：</a:t>
              </a:r>
            </a:p>
          </p:txBody>
        </p:sp>
        <p:sp>
          <p:nvSpPr>
            <p:cNvPr id="26" name="Rectangle 11">
              <a:extLst>
                <a:ext uri="{FF2B5EF4-FFF2-40B4-BE49-F238E27FC236}">
                  <a16:creationId xmlns:a16="http://schemas.microsoft.com/office/drawing/2014/main" id="{754EDC2F-3988-B2E9-2B17-71C37DA328A2}"/>
                </a:ext>
              </a:extLst>
            </p:cNvPr>
            <p:cNvSpPr>
              <a:spLocks noChangeArrowheads="1"/>
            </p:cNvSpPr>
            <p:nvPr/>
          </p:nvSpPr>
          <p:spPr bwMode="auto">
            <a:xfrm>
              <a:off x="3472877" y="5447015"/>
              <a:ext cx="2249334" cy="400110"/>
            </a:xfrm>
            <a:prstGeom prst="rect">
              <a:avLst/>
            </a:prstGeom>
            <a:noFill/>
            <a:ln w="9525">
              <a:noFill/>
              <a:miter lim="800000"/>
              <a:headEnd/>
              <a:tailEnd/>
            </a:ln>
            <a:effectLst/>
          </p:spPr>
          <p:txBody>
            <a:bodyPr wrap="none">
              <a:spAutoFit/>
            </a:bodyPr>
            <a:lstStyle/>
            <a:p>
              <a:pPr algn="l"/>
              <a:r>
                <a:rPr kumimoji="1" lang="en-US" altLang="zh-CN" sz="2000" dirty="0">
                  <a:latin typeface="仿宋" pitchFamily="49" charset="-122"/>
                  <a:ea typeface="仿宋" pitchFamily="49" charset="-122"/>
                  <a:cs typeface="Consolas" pitchFamily="49" charset="0"/>
                </a:rPr>
                <a:t>“</a:t>
              </a:r>
              <a:r>
                <a:rPr kumimoji="1" lang="zh-CN" altLang="en-US" sz="2000" dirty="0">
                  <a:latin typeface="仿宋" pitchFamily="49" charset="-122"/>
                  <a:ea typeface="仿宋" pitchFamily="49" charset="-122"/>
                  <a:cs typeface="Consolas" pitchFamily="49" charset="0"/>
                </a:rPr>
                <a:t>移动”的次数：</a:t>
              </a:r>
            </a:p>
          </p:txBody>
        </p:sp>
        <p:sp>
          <p:nvSpPr>
            <p:cNvPr id="27" name="TextBox 20">
              <a:extLst>
                <a:ext uri="{FF2B5EF4-FFF2-40B4-BE49-F238E27FC236}">
                  <a16:creationId xmlns:a16="http://schemas.microsoft.com/office/drawing/2014/main" id="{B7E4A746-4F55-5FD0-9536-FF65372E9C17}"/>
                </a:ext>
              </a:extLst>
            </p:cNvPr>
            <p:cNvSpPr txBox="1"/>
            <p:nvPr/>
          </p:nvSpPr>
          <p:spPr>
            <a:xfrm>
              <a:off x="6357950" y="5975599"/>
              <a:ext cx="1643074" cy="400110"/>
            </a:xfrm>
            <a:prstGeom prst="rect">
              <a:avLst/>
            </a:prstGeom>
            <a:noFill/>
          </p:spPr>
          <p:txBody>
            <a:bodyPr wrap="square" rtlCol="0">
              <a:spAutoFit/>
            </a:bodyPr>
            <a:lstStyle/>
            <a:p>
              <a:r>
                <a:rPr lang="zh-CN" altLang="en-US" sz="2000" dirty="0">
                  <a:solidFill>
                    <a:srgbClr val="FF0000"/>
                  </a:solidFill>
                  <a:latin typeface="Consolas" pitchFamily="49" charset="0"/>
                  <a:ea typeface="楷体" pitchFamily="49" charset="-122"/>
                  <a:cs typeface="Consolas" pitchFamily="49" charset="0"/>
                </a:rPr>
                <a:t>最坏：</a:t>
              </a:r>
              <a:r>
                <a:rPr lang="en-US" altLang="zh-CN" sz="2000" dirty="0">
                  <a:solidFill>
                    <a:srgbClr val="FF0000"/>
                  </a:solidFill>
                  <a:latin typeface="Consolas" pitchFamily="49" charset="0"/>
                  <a:ea typeface="楷体" pitchFamily="49" charset="-122"/>
                  <a:cs typeface="Consolas" pitchFamily="49" charset="0"/>
                </a:rPr>
                <a:t>O(</a:t>
              </a:r>
              <a:r>
                <a:rPr lang="en-US" altLang="zh-CN" sz="2000" i="1" dirty="0" err="1">
                  <a:solidFill>
                    <a:srgbClr val="FF0000"/>
                  </a:solidFill>
                  <a:latin typeface="Consolas" pitchFamily="49" charset="0"/>
                  <a:ea typeface="楷体" pitchFamily="49" charset="-122"/>
                  <a:cs typeface="Consolas" pitchFamily="49" charset="0"/>
                </a:rPr>
                <a:t>n</a:t>
              </a:r>
              <a:r>
                <a:rPr lang="en-US" altLang="zh-CN" sz="2000" baseline="30000" dirty="0" err="1">
                  <a:solidFill>
                    <a:srgbClr val="FF0000"/>
                  </a:solidFill>
                  <a:latin typeface="Consolas" pitchFamily="49" charset="0"/>
                  <a:ea typeface="楷体" pitchFamily="49" charset="-122"/>
                  <a:cs typeface="Consolas" pitchFamily="49" charset="0"/>
                </a:rPr>
                <a:t>2</a:t>
              </a:r>
              <a:r>
                <a:rPr lang="en-US" altLang="zh-CN" sz="2000" dirty="0">
                  <a:solidFill>
                    <a:srgbClr val="FF0000"/>
                  </a:solidFill>
                  <a:latin typeface="Consolas" pitchFamily="49" charset="0"/>
                  <a:ea typeface="楷体" pitchFamily="49" charset="-122"/>
                  <a:cs typeface="Consolas" pitchFamily="49" charset="0"/>
                </a:rPr>
                <a:t>)</a:t>
              </a:r>
              <a:endParaRPr lang="zh-CN" altLang="en-US" sz="2000" dirty="0">
                <a:solidFill>
                  <a:srgbClr val="FF0000"/>
                </a:solidFill>
                <a:latin typeface="Consolas" pitchFamily="49" charset="0"/>
                <a:ea typeface="楷体" pitchFamily="49" charset="-122"/>
                <a:cs typeface="Consolas" pitchFamily="49" charset="0"/>
              </a:endParaRPr>
            </a:p>
          </p:txBody>
        </p:sp>
        <p:pic>
          <p:nvPicPr>
            <p:cNvPr id="28" name="Picture 1">
              <a:extLst>
                <a:ext uri="{FF2B5EF4-FFF2-40B4-BE49-F238E27FC236}">
                  <a16:creationId xmlns:a16="http://schemas.microsoft.com/office/drawing/2014/main" id="{92E6FAA9-A5E8-0AD3-3F07-648FDE73632D}"/>
                </a:ext>
              </a:extLst>
            </p:cNvPr>
            <p:cNvPicPr>
              <a:picLocks noChangeAspect="1" noChangeArrowheads="1"/>
            </p:cNvPicPr>
            <p:nvPr/>
          </p:nvPicPr>
          <p:blipFill>
            <a:blip r:embed="rId4" cstate="print"/>
            <a:srcRect/>
            <a:stretch>
              <a:fillRect/>
            </a:stretch>
          </p:blipFill>
          <p:spPr bwMode="auto">
            <a:xfrm>
              <a:off x="785786" y="5857892"/>
              <a:ext cx="1643074" cy="817981"/>
            </a:xfrm>
            <a:prstGeom prst="rect">
              <a:avLst/>
            </a:prstGeom>
            <a:noFill/>
            <a:ln w="9525">
              <a:noFill/>
              <a:miter lim="800000"/>
              <a:headEnd/>
              <a:tailEnd/>
            </a:ln>
          </p:spPr>
        </p:pic>
        <p:pic>
          <p:nvPicPr>
            <p:cNvPr id="29" name="Picture 2">
              <a:extLst>
                <a:ext uri="{FF2B5EF4-FFF2-40B4-BE49-F238E27FC236}">
                  <a16:creationId xmlns:a16="http://schemas.microsoft.com/office/drawing/2014/main" id="{9816FE06-FFCF-4C7A-8DFC-22F3F30496FA}"/>
                </a:ext>
              </a:extLst>
            </p:cNvPr>
            <p:cNvPicPr>
              <a:picLocks noChangeAspect="1" noChangeArrowheads="1"/>
            </p:cNvPicPr>
            <p:nvPr/>
          </p:nvPicPr>
          <p:blipFill>
            <a:blip r:embed="rId5" cstate="print"/>
            <a:srcRect/>
            <a:stretch>
              <a:fillRect/>
            </a:stretch>
          </p:blipFill>
          <p:spPr bwMode="auto">
            <a:xfrm>
              <a:off x="3571868" y="5857892"/>
              <a:ext cx="2571768" cy="798135"/>
            </a:xfrm>
            <a:prstGeom prst="rect">
              <a:avLst/>
            </a:prstGeom>
            <a:noFill/>
            <a:ln w="9525">
              <a:noFill/>
              <a:miter lim="800000"/>
              <a:headEnd/>
              <a:tailEnd/>
            </a:ln>
          </p:spPr>
        </p:pic>
      </p:grpSp>
    </p:spTree>
    <p:extLst>
      <p:ext uri="{BB962C8B-B14F-4D97-AF65-F5344CB8AC3E}">
        <p14:creationId xmlns:p14="http://schemas.microsoft.com/office/powerpoint/2010/main" val="10680644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7CD0-4E8E-B2F7-424A-31D3147C2BF8}"/>
            </a:ext>
          </a:extLst>
        </p:cNvPr>
        <p:cNvGrpSpPr/>
        <p:nvPr/>
      </p:nvGrpSpPr>
      <p:grpSpPr>
        <a:xfrm>
          <a:off x="0" y="0"/>
          <a:ext cx="0" cy="0"/>
          <a:chOff x="0" y="0"/>
          <a:chExt cx="0" cy="0"/>
        </a:xfrm>
      </p:grpSpPr>
      <p:sp>
        <p:nvSpPr>
          <p:cNvPr id="8" name="Rectangle 3">
            <a:extLst>
              <a:ext uri="{FF2B5EF4-FFF2-40B4-BE49-F238E27FC236}">
                <a16:creationId xmlns:a16="http://schemas.microsoft.com/office/drawing/2014/main" id="{32C03369-1614-DD59-B242-8A77825B8FF6}"/>
              </a:ext>
            </a:extLst>
          </p:cNvPr>
          <p:cNvSpPr txBox="1">
            <a:spLocks noChangeArrowheads="1"/>
          </p:cNvSpPr>
          <p:nvPr/>
        </p:nvSpPr>
        <p:spPr bwMode="auto">
          <a:xfrm>
            <a:off x="2497832" y="2139642"/>
            <a:ext cx="5110336" cy="457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75000"/>
              <a:buNone/>
            </a:pPr>
            <a:r>
              <a:rPr kumimoji="1" lang="zh-CN" altLang="en-US" sz="2000" dirty="0">
                <a:latin typeface="微软雅黑" pitchFamily="34" charset="-122"/>
                <a:ea typeface="微软雅黑" pitchFamily="34" charset="-122"/>
                <a:cs typeface="经典粗黑简" pitchFamily="49" charset="-122"/>
              </a:rPr>
              <a:t>以顺序表作为存储结构的直接插入排序算法</a:t>
            </a:r>
          </a:p>
        </p:txBody>
      </p:sp>
      <p:sp>
        <p:nvSpPr>
          <p:cNvPr id="11" name="矩形 10">
            <a:extLst>
              <a:ext uri="{FF2B5EF4-FFF2-40B4-BE49-F238E27FC236}">
                <a16:creationId xmlns:a16="http://schemas.microsoft.com/office/drawing/2014/main" id="{D7869B40-174F-32BF-9C38-45771A9D85A6}"/>
              </a:ext>
            </a:extLst>
          </p:cNvPr>
          <p:cNvSpPr/>
          <p:nvPr/>
        </p:nvSpPr>
        <p:spPr>
          <a:xfrm>
            <a:off x="2497831" y="2595073"/>
            <a:ext cx="2533066"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时间复杂度：</a:t>
            </a:r>
            <a:r>
              <a:rPr kumimoji="1" lang="en-US" altLang="zh-CN" sz="2000" dirty="0">
                <a:latin typeface="微软雅黑" pitchFamily="34" charset="-122"/>
                <a:ea typeface="微软雅黑" pitchFamily="34" charset="-122"/>
                <a:cs typeface="经典粗黑简" pitchFamily="49" charset="-122"/>
              </a:rPr>
              <a:t>O(n</a:t>
            </a:r>
            <a:r>
              <a:rPr kumimoji="1" lang="en-US" altLang="zh-CN" sz="2000" baseline="30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a:t>
            </a:r>
            <a:endParaRPr lang="zh-CN" altLang="en-US" sz="2000" dirty="0"/>
          </a:p>
        </p:txBody>
      </p:sp>
      <p:sp>
        <p:nvSpPr>
          <p:cNvPr id="14" name="矩形 13">
            <a:extLst>
              <a:ext uri="{FF2B5EF4-FFF2-40B4-BE49-F238E27FC236}">
                <a16:creationId xmlns:a16="http://schemas.microsoft.com/office/drawing/2014/main" id="{D48D68A1-D63B-2286-88B7-CD2079C0E831}"/>
              </a:ext>
            </a:extLst>
          </p:cNvPr>
          <p:cNvSpPr/>
          <p:nvPr/>
        </p:nvSpPr>
        <p:spPr>
          <a:xfrm>
            <a:off x="2497832" y="3118137"/>
            <a:ext cx="5290231" cy="400110"/>
          </a:xfrm>
          <a:prstGeom prst="rect">
            <a:avLst/>
          </a:prstGeom>
        </p:spPr>
        <p:txBody>
          <a:bodyPr wrap="none">
            <a:spAutoFit/>
          </a:bodyPr>
          <a:lstStyle/>
          <a:p>
            <a:pPr marL="0" lvl="2"/>
            <a:r>
              <a:rPr kumimoji="1" lang="zh-CN" altLang="en-US" sz="2000" dirty="0">
                <a:latin typeface="微软雅黑" pitchFamily="34" charset="-122"/>
                <a:ea typeface="微软雅黑" pitchFamily="34" charset="-122"/>
                <a:cs typeface="经典粗黑简" pitchFamily="49" charset="-122"/>
              </a:rPr>
              <a:t>空间复杂度：</a:t>
            </a:r>
            <a:r>
              <a:rPr kumimoji="1" lang="en-US" altLang="zh-CN" sz="2000" dirty="0">
                <a:latin typeface="微软雅黑" pitchFamily="34" charset="-122"/>
                <a:ea typeface="微软雅黑" pitchFamily="34" charset="-122"/>
                <a:cs typeface="经典粗黑简" pitchFamily="49" charset="-122"/>
              </a:rPr>
              <a:t>O(1</a:t>
            </a:r>
            <a:r>
              <a:rPr kumimoji="1" lang="zh-CN" altLang="en-US" sz="2000" dirty="0">
                <a:latin typeface="微软雅黑" pitchFamily="34" charset="-122"/>
                <a:ea typeface="微软雅黑" pitchFamily="34" charset="-122"/>
                <a:cs typeface="经典粗黑简" pitchFamily="49" charset="-122"/>
              </a:rPr>
              <a:t>）：只需要 </a:t>
            </a:r>
            <a:r>
              <a:rPr kumimoji="1" lang="en-US" altLang="zh-CN" sz="2000" dirty="0">
                <a:latin typeface="微软雅黑" pitchFamily="34" charset="-122"/>
                <a:ea typeface="微软雅黑" pitchFamily="34" charset="-122"/>
                <a:cs typeface="经典粗黑简" pitchFamily="49" charset="-122"/>
              </a:rPr>
              <a:t>1 </a:t>
            </a:r>
            <a:r>
              <a:rPr kumimoji="1" lang="zh-CN" altLang="en-US" sz="2000" dirty="0">
                <a:latin typeface="微软雅黑" pitchFamily="34" charset="-122"/>
                <a:ea typeface="微软雅黑" pitchFamily="34" charset="-122"/>
                <a:cs typeface="经典粗黑简" pitchFamily="49" charset="-122"/>
              </a:rPr>
              <a:t>个辅助单元；</a:t>
            </a:r>
          </a:p>
        </p:txBody>
      </p:sp>
      <p:sp>
        <p:nvSpPr>
          <p:cNvPr id="16" name="矩形 15">
            <a:extLst>
              <a:ext uri="{FF2B5EF4-FFF2-40B4-BE49-F238E27FC236}">
                <a16:creationId xmlns:a16="http://schemas.microsoft.com/office/drawing/2014/main" id="{CF3BC702-BDF2-7B1C-D584-F37B49649AEC}"/>
              </a:ext>
            </a:extLst>
          </p:cNvPr>
          <p:cNvSpPr/>
          <p:nvPr/>
        </p:nvSpPr>
        <p:spPr>
          <a:xfrm>
            <a:off x="2497831" y="3645391"/>
            <a:ext cx="2236510"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稳定的排序方法；</a:t>
            </a:r>
          </a:p>
        </p:txBody>
      </p:sp>
      <p:sp>
        <p:nvSpPr>
          <p:cNvPr id="18" name="矩形 17">
            <a:extLst>
              <a:ext uri="{FF2B5EF4-FFF2-40B4-BE49-F238E27FC236}">
                <a16:creationId xmlns:a16="http://schemas.microsoft.com/office/drawing/2014/main" id="{F7EF638E-CB75-0AAB-05EA-56132C0061C8}"/>
              </a:ext>
            </a:extLst>
          </p:cNvPr>
          <p:cNvSpPr/>
          <p:nvPr/>
        </p:nvSpPr>
        <p:spPr>
          <a:xfrm>
            <a:off x="2497831" y="4172647"/>
            <a:ext cx="6596678"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适用情况：元素数目少，或者元素的初始序列基本有序。</a:t>
            </a:r>
          </a:p>
        </p:txBody>
      </p:sp>
      <p:sp>
        <p:nvSpPr>
          <p:cNvPr id="2" name="矩形 1">
            <a:extLst>
              <a:ext uri="{FF2B5EF4-FFF2-40B4-BE49-F238E27FC236}">
                <a16:creationId xmlns:a16="http://schemas.microsoft.com/office/drawing/2014/main" id="{4631FDA1-DCE9-4EC0-49A1-4EB3B10C5D88}"/>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10.2.1 </a:t>
            </a:r>
            <a:r>
              <a:rPr lang="zh-CN" altLang="en-US" sz="2800" b="1" dirty="0">
                <a:solidFill>
                  <a:schemeClr val="bg1"/>
                </a:solidFill>
                <a:latin typeface="经典粗黑简" pitchFamily="49" charset="-122"/>
                <a:ea typeface="经典粗黑简" pitchFamily="49" charset="-122"/>
                <a:cs typeface="经典粗黑简" pitchFamily="49" charset="-122"/>
              </a:rPr>
              <a:t>直接插入排序</a:t>
            </a:r>
          </a:p>
        </p:txBody>
      </p:sp>
      <p:cxnSp>
        <p:nvCxnSpPr>
          <p:cNvPr id="3" name="直接连接符 2">
            <a:extLst>
              <a:ext uri="{FF2B5EF4-FFF2-40B4-BE49-F238E27FC236}">
                <a16:creationId xmlns:a16="http://schemas.microsoft.com/office/drawing/2014/main" id="{6AD16D16-8A12-7CC8-B915-B31C9352AAC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03C9FBE-BEB9-3A43-8B9C-C07086FA8E98}"/>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4011729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4" grpId="0"/>
      <p:bldP spid="16"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87488" y="5601054"/>
            <a:ext cx="9217024"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       在寻找插入位置时采用二分查找，则称为折半插入排序，</a:t>
            </a: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路插入排序在此基础上增加了辅助空间、减少了记录的移动。</a:t>
            </a:r>
            <a:endParaRPr lang="zh-CN" altLang="en-US" sz="2400" dirty="0"/>
          </a:p>
        </p:txBody>
      </p:sp>
      <p:sp>
        <p:nvSpPr>
          <p:cNvPr id="2" name="矩形 1">
            <a:extLst>
              <a:ext uri="{FF2B5EF4-FFF2-40B4-BE49-F238E27FC236}">
                <a16:creationId xmlns:a16="http://schemas.microsoft.com/office/drawing/2014/main" id="{E5CD9019-1425-D239-C3EC-C86D1A976DF3}"/>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10.2.2 </a:t>
            </a:r>
            <a:r>
              <a:rPr lang="zh-CN" altLang="en-US" sz="2800" b="1" dirty="0">
                <a:solidFill>
                  <a:schemeClr val="bg1"/>
                </a:solidFill>
                <a:latin typeface="经典粗黑简" pitchFamily="49" charset="-122"/>
                <a:ea typeface="经典粗黑简" pitchFamily="49" charset="-122"/>
                <a:cs typeface="经典粗黑简" pitchFamily="49" charset="-122"/>
              </a:rPr>
              <a:t>折半插入排序</a:t>
            </a:r>
          </a:p>
        </p:txBody>
      </p:sp>
      <p:cxnSp>
        <p:nvCxnSpPr>
          <p:cNvPr id="4" name="直接连接符 3">
            <a:extLst>
              <a:ext uri="{FF2B5EF4-FFF2-40B4-BE49-F238E27FC236}">
                <a16:creationId xmlns:a16="http://schemas.microsoft.com/office/drawing/2014/main" id="{DFB297F1-8881-DC8A-D8FB-03176E620140}"/>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6AA8B67-5B16-86BE-054D-D419F39AAFD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6" name="Text Box 6">
            <a:extLst>
              <a:ext uri="{FF2B5EF4-FFF2-40B4-BE49-F238E27FC236}">
                <a16:creationId xmlns:a16="http://schemas.microsoft.com/office/drawing/2014/main" id="{C82B7CE9-EB7F-E829-E5AA-0E69CEDC7305}"/>
              </a:ext>
            </a:extLst>
          </p:cNvPr>
          <p:cNvSpPr txBox="1">
            <a:spLocks noChangeArrowheads="1"/>
          </p:cNvSpPr>
          <p:nvPr/>
        </p:nvSpPr>
        <p:spPr bwMode="auto">
          <a:xfrm>
            <a:off x="1343472" y="2421981"/>
            <a:ext cx="7423144" cy="400110"/>
          </a:xfrm>
          <a:prstGeom prst="rect">
            <a:avLst/>
          </a:prstGeom>
          <a:noFill/>
          <a:ln w="9525">
            <a:noFill/>
            <a:miter lim="800000"/>
            <a:headEnd/>
            <a:tailEnd/>
          </a:ln>
          <a:effectLst/>
        </p:spPr>
        <p:txBody>
          <a:bodyPr wrap="square">
            <a:spAutoFit/>
          </a:bodyPr>
          <a:lstStyle/>
          <a:p>
            <a:pPr algn="l">
              <a:spcBef>
                <a:spcPct val="50000"/>
              </a:spcBef>
            </a:pPr>
            <a:r>
              <a:rPr lang="zh-CN" altLang="en-US" sz="2000">
                <a:latin typeface="Consolas" pitchFamily="49" charset="0"/>
                <a:ea typeface="楷体" pitchFamily="49" charset="-122"/>
                <a:cs typeface="Consolas" pitchFamily="49" charset="0"/>
              </a:rPr>
              <a:t>查找采用折半查找方法，称为</a:t>
            </a:r>
            <a:r>
              <a:rPr lang="zh-CN" altLang="en-US" sz="2000">
                <a:solidFill>
                  <a:srgbClr val="FF0000"/>
                </a:solidFill>
                <a:latin typeface="微软雅黑" pitchFamily="34" charset="-122"/>
                <a:ea typeface="微软雅黑" pitchFamily="34" charset="-122"/>
                <a:cs typeface="Consolas" pitchFamily="49" charset="0"/>
              </a:rPr>
              <a:t>二分插入排序</a:t>
            </a:r>
            <a:r>
              <a:rPr lang="zh-CN" altLang="en-US" sz="2000">
                <a:latin typeface="Consolas" pitchFamily="49" charset="0"/>
                <a:ea typeface="楷体" pitchFamily="49" charset="-122"/>
                <a:cs typeface="Consolas" pitchFamily="49" charset="0"/>
              </a:rPr>
              <a:t>或</a:t>
            </a:r>
            <a:r>
              <a:rPr lang="zh-CN" altLang="en-US" sz="2000">
                <a:solidFill>
                  <a:srgbClr val="FF0000"/>
                </a:solidFill>
                <a:latin typeface="微软雅黑" pitchFamily="34" charset="-122"/>
                <a:ea typeface="微软雅黑" pitchFamily="34" charset="-122"/>
                <a:cs typeface="Consolas" pitchFamily="49" charset="0"/>
              </a:rPr>
              <a:t>折半插入排序</a:t>
            </a:r>
            <a:r>
              <a:rPr lang="zh-CN" altLang="en-US" sz="2000">
                <a:latin typeface="Consolas" pitchFamily="49" charset="0"/>
                <a:ea typeface="楷体" pitchFamily="49" charset="-122"/>
                <a:cs typeface="Consolas" pitchFamily="49" charset="0"/>
              </a:rPr>
              <a:t>。</a:t>
            </a:r>
          </a:p>
        </p:txBody>
      </p:sp>
      <p:sp>
        <p:nvSpPr>
          <p:cNvPr id="7" name="Text Box 7">
            <a:extLst>
              <a:ext uri="{FF2B5EF4-FFF2-40B4-BE49-F238E27FC236}">
                <a16:creationId xmlns:a16="http://schemas.microsoft.com/office/drawing/2014/main" id="{F9F5B053-09DA-CA46-C0E8-2E4E7BF58CB8}"/>
              </a:ext>
            </a:extLst>
          </p:cNvPr>
          <p:cNvSpPr txBox="1">
            <a:spLocks noChangeArrowheads="1"/>
          </p:cNvSpPr>
          <p:nvPr/>
        </p:nvSpPr>
        <p:spPr bwMode="auto">
          <a:xfrm>
            <a:off x="2669156" y="2992859"/>
            <a:ext cx="1150937" cy="369332"/>
          </a:xfrm>
          <a:prstGeom prst="rect">
            <a:avLst/>
          </a:prstGeom>
          <a:noFill/>
          <a:ln w="9525">
            <a:noFill/>
            <a:miter lim="800000"/>
            <a:headEnd/>
            <a:tailEnd/>
          </a:ln>
          <a:effectLst/>
        </p:spPr>
        <p:txBody>
          <a:bodyPr>
            <a:spAutoFit/>
          </a:bodyPr>
          <a:lstStyle/>
          <a:p>
            <a:pPr algn="l">
              <a:spcBef>
                <a:spcPct val="50000"/>
              </a:spcBef>
            </a:pPr>
            <a:r>
              <a:rPr lang="zh-CN" altLang="en-US" sz="1800" dirty="0">
                <a:latin typeface="Consolas" pitchFamily="49" charset="0"/>
                <a:ea typeface="仿宋" pitchFamily="49" charset="-122"/>
                <a:cs typeface="Consolas" pitchFamily="49" charset="0"/>
              </a:rPr>
              <a:t>有序区</a:t>
            </a:r>
          </a:p>
        </p:txBody>
      </p:sp>
      <p:sp>
        <p:nvSpPr>
          <p:cNvPr id="8" name="Rectangle 8">
            <a:extLst>
              <a:ext uri="{FF2B5EF4-FFF2-40B4-BE49-F238E27FC236}">
                <a16:creationId xmlns:a16="http://schemas.microsoft.com/office/drawing/2014/main" id="{EB29FB08-7180-54A6-BF37-032E9A82E429}"/>
              </a:ext>
            </a:extLst>
          </p:cNvPr>
          <p:cNvSpPr>
            <a:spLocks noChangeArrowheads="1"/>
          </p:cNvSpPr>
          <p:nvPr/>
        </p:nvSpPr>
        <p:spPr bwMode="auto">
          <a:xfrm>
            <a:off x="1661093" y="3532673"/>
            <a:ext cx="3095625" cy="50323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800" i="1" dirty="0">
                <a:solidFill>
                  <a:srgbClr val="1000E4"/>
                </a:solidFill>
                <a:latin typeface="Consolas" pitchFamily="49" charset="0"/>
                <a:ea typeface="楷体" pitchFamily="49" charset="-122"/>
                <a:cs typeface="Consolas" pitchFamily="49" charset="0"/>
              </a:rPr>
              <a:t>  </a:t>
            </a:r>
            <a:r>
              <a:rPr lang="en-US" altLang="zh-CN" sz="1800" i="1">
                <a:solidFill>
                  <a:srgbClr val="1000E4"/>
                </a:solidFill>
                <a:latin typeface="Consolas" pitchFamily="49" charset="0"/>
                <a:ea typeface="楷体" pitchFamily="49" charset="-122"/>
                <a:cs typeface="Consolas" pitchFamily="49" charset="0"/>
              </a:rPr>
              <a:t>R</a:t>
            </a:r>
            <a:r>
              <a:rPr lang="en-US" altLang="zh-CN" sz="1800">
                <a:solidFill>
                  <a:srgbClr val="1000E4"/>
                </a:solidFill>
                <a:latin typeface="Consolas" pitchFamily="49" charset="0"/>
                <a:ea typeface="楷体" pitchFamily="49" charset="-122"/>
                <a:cs typeface="Consolas" pitchFamily="49" charset="0"/>
              </a:rPr>
              <a:t>[0]     </a:t>
            </a:r>
            <a:r>
              <a:rPr lang="en-US" altLang="zh-CN" sz="1800">
                <a:solidFill>
                  <a:srgbClr val="1000E4"/>
                </a:solidFill>
                <a:latin typeface="+mn-ea"/>
                <a:cs typeface="Consolas" pitchFamily="49" charset="0"/>
              </a:rPr>
              <a:t>……</a:t>
            </a:r>
            <a:r>
              <a:rPr lang="en-US" altLang="zh-CN" sz="1800">
                <a:solidFill>
                  <a:srgbClr val="1000E4"/>
                </a:solidFill>
                <a:latin typeface="Consolas" pitchFamily="49" charset="0"/>
                <a:ea typeface="楷体" pitchFamily="49" charset="-122"/>
                <a:cs typeface="Consolas" pitchFamily="49" charset="0"/>
              </a:rPr>
              <a:t>    </a:t>
            </a:r>
            <a:r>
              <a:rPr lang="en-US" altLang="zh-CN" sz="1800" i="1" dirty="0">
                <a:solidFill>
                  <a:srgbClr val="1000E4"/>
                </a:solidFill>
                <a:latin typeface="Consolas" pitchFamily="49" charset="0"/>
                <a:ea typeface="楷体" pitchFamily="49" charset="-122"/>
                <a:cs typeface="Consolas" pitchFamily="49" charset="0"/>
              </a:rPr>
              <a:t>R</a:t>
            </a:r>
            <a:r>
              <a:rPr lang="en-US" altLang="zh-CN" sz="1800" dirty="0">
                <a:solidFill>
                  <a:srgbClr val="1000E4"/>
                </a:solidFill>
                <a:latin typeface="Consolas" pitchFamily="49" charset="0"/>
                <a:ea typeface="楷体" pitchFamily="49" charset="-122"/>
                <a:cs typeface="Consolas" pitchFamily="49" charset="0"/>
              </a:rPr>
              <a:t>[</a:t>
            </a:r>
            <a:r>
              <a:rPr lang="en-US" altLang="zh-CN" sz="1800" i="1" dirty="0" err="1">
                <a:solidFill>
                  <a:srgbClr val="1000E4"/>
                </a:solidFill>
                <a:latin typeface="Consolas" pitchFamily="49" charset="0"/>
                <a:ea typeface="楷体" pitchFamily="49" charset="-122"/>
                <a:cs typeface="Consolas" pitchFamily="49" charset="0"/>
              </a:rPr>
              <a:t>i</a:t>
            </a:r>
            <a:r>
              <a:rPr lang="en-US" altLang="zh-CN" sz="1800" dirty="0">
                <a:solidFill>
                  <a:srgbClr val="1000E4"/>
                </a:solidFill>
                <a:latin typeface="Consolas" pitchFamily="49" charset="0"/>
                <a:cs typeface="Consolas" pitchFamily="49" charset="0"/>
              </a:rPr>
              <a:t>-</a:t>
            </a:r>
            <a:r>
              <a:rPr lang="en-US" altLang="zh-CN" sz="1800" dirty="0">
                <a:solidFill>
                  <a:srgbClr val="1000E4"/>
                </a:solidFill>
                <a:latin typeface="Consolas" pitchFamily="49" charset="0"/>
                <a:ea typeface="楷体" pitchFamily="49" charset="-122"/>
                <a:cs typeface="Consolas" pitchFamily="49" charset="0"/>
              </a:rPr>
              <a:t>1]</a:t>
            </a:r>
          </a:p>
        </p:txBody>
      </p:sp>
      <p:sp>
        <p:nvSpPr>
          <p:cNvPr id="9" name="Text Box 9">
            <a:extLst>
              <a:ext uri="{FF2B5EF4-FFF2-40B4-BE49-F238E27FC236}">
                <a16:creationId xmlns:a16="http://schemas.microsoft.com/office/drawing/2014/main" id="{025176D3-799A-0A1A-ECEA-A1DA57572FB8}"/>
              </a:ext>
            </a:extLst>
          </p:cNvPr>
          <p:cNvSpPr txBox="1">
            <a:spLocks noChangeArrowheads="1"/>
          </p:cNvSpPr>
          <p:nvPr/>
        </p:nvSpPr>
        <p:spPr bwMode="auto">
          <a:xfrm>
            <a:off x="5693343" y="2992859"/>
            <a:ext cx="1150938"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仿宋" pitchFamily="49" charset="-122"/>
                <a:cs typeface="Consolas" pitchFamily="49" charset="0"/>
              </a:rPr>
              <a:t>无序区</a:t>
            </a:r>
          </a:p>
        </p:txBody>
      </p:sp>
      <p:sp>
        <p:nvSpPr>
          <p:cNvPr id="14" name="Rectangle 10">
            <a:extLst>
              <a:ext uri="{FF2B5EF4-FFF2-40B4-BE49-F238E27FC236}">
                <a16:creationId xmlns:a16="http://schemas.microsoft.com/office/drawing/2014/main" id="{B71062E2-1573-1486-C2FD-3379E429E9CB}"/>
              </a:ext>
            </a:extLst>
          </p:cNvPr>
          <p:cNvSpPr>
            <a:spLocks noChangeArrowheads="1"/>
          </p:cNvSpPr>
          <p:nvPr/>
        </p:nvSpPr>
        <p:spPr bwMode="auto">
          <a:xfrm>
            <a:off x="4972618" y="3532673"/>
            <a:ext cx="3168650" cy="50323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800" i="1" dirty="0">
                <a:solidFill>
                  <a:srgbClr val="1000E4"/>
                </a:solidFill>
                <a:latin typeface="Consolas" pitchFamily="49" charset="0"/>
                <a:ea typeface="楷体" pitchFamily="49" charset="-122"/>
                <a:cs typeface="Consolas" pitchFamily="49" charset="0"/>
              </a:rPr>
              <a:t>  </a:t>
            </a:r>
            <a:r>
              <a:rPr lang="en-US" altLang="zh-CN" sz="1800" i="1" dirty="0">
                <a:solidFill>
                  <a:srgbClr val="FF0000"/>
                </a:solidFill>
                <a:latin typeface="Consolas" pitchFamily="49" charset="0"/>
                <a:ea typeface="楷体" pitchFamily="49" charset="-122"/>
                <a:cs typeface="Consolas" pitchFamily="49" charset="0"/>
              </a:rPr>
              <a:t>R</a:t>
            </a:r>
            <a:r>
              <a:rPr lang="en-US" altLang="zh-CN" sz="1800" dirty="0">
                <a:solidFill>
                  <a:srgbClr val="FF0000"/>
                </a:solidFill>
                <a:latin typeface="Consolas" pitchFamily="49" charset="0"/>
                <a:ea typeface="楷体" pitchFamily="49" charset="-122"/>
                <a:cs typeface="Consolas" pitchFamily="49" charset="0"/>
              </a:rPr>
              <a:t>[</a:t>
            </a:r>
            <a:r>
              <a:rPr lang="en-US" altLang="zh-CN" sz="1800" i="1" dirty="0" err="1">
                <a:solidFill>
                  <a:srgbClr val="FF0000"/>
                </a:solidFill>
                <a:latin typeface="Consolas" pitchFamily="49" charset="0"/>
                <a:ea typeface="楷体" pitchFamily="49" charset="-122"/>
                <a:cs typeface="Consolas" pitchFamily="49" charset="0"/>
              </a:rPr>
              <a:t>i</a:t>
            </a:r>
            <a:r>
              <a:rPr lang="en-US" altLang="zh-CN" sz="1800">
                <a:solidFill>
                  <a:srgbClr val="FF0000"/>
                </a:solidFill>
                <a:latin typeface="Consolas" pitchFamily="49" charset="0"/>
                <a:ea typeface="楷体" pitchFamily="49" charset="-122"/>
                <a:cs typeface="Consolas" pitchFamily="49" charset="0"/>
              </a:rPr>
              <a:t>]</a:t>
            </a:r>
            <a:r>
              <a:rPr lang="en-US" altLang="zh-CN" sz="1800">
                <a:solidFill>
                  <a:srgbClr val="1000E4"/>
                </a:solidFill>
                <a:latin typeface="Consolas" pitchFamily="49" charset="0"/>
                <a:ea typeface="楷体" pitchFamily="49" charset="-122"/>
                <a:cs typeface="Consolas" pitchFamily="49" charset="0"/>
              </a:rPr>
              <a:t>     </a:t>
            </a:r>
            <a:r>
              <a:rPr lang="en-US" altLang="zh-CN" sz="1800">
                <a:solidFill>
                  <a:srgbClr val="1000E4"/>
                </a:solidFill>
                <a:latin typeface="+mn-ea"/>
                <a:cs typeface="Consolas" pitchFamily="49" charset="0"/>
              </a:rPr>
              <a:t>……</a:t>
            </a:r>
            <a:r>
              <a:rPr lang="en-US" altLang="zh-CN" sz="1800">
                <a:solidFill>
                  <a:srgbClr val="1000E4"/>
                </a:solidFill>
                <a:latin typeface="Consolas" pitchFamily="49" charset="0"/>
                <a:ea typeface="楷体" pitchFamily="49" charset="-122"/>
                <a:cs typeface="Consolas" pitchFamily="49" charset="0"/>
              </a:rPr>
              <a:t>    </a:t>
            </a:r>
            <a:r>
              <a:rPr lang="en-US" altLang="zh-CN" sz="1800" i="1" dirty="0">
                <a:solidFill>
                  <a:srgbClr val="1000E4"/>
                </a:solidFill>
                <a:latin typeface="Consolas" pitchFamily="49" charset="0"/>
                <a:ea typeface="楷体" pitchFamily="49" charset="-122"/>
                <a:cs typeface="Consolas" pitchFamily="49" charset="0"/>
              </a:rPr>
              <a:t>R</a:t>
            </a:r>
            <a:r>
              <a:rPr lang="en-US" altLang="zh-CN" sz="1800" dirty="0">
                <a:solidFill>
                  <a:srgbClr val="1000E4"/>
                </a:solidFill>
                <a:latin typeface="Consolas" pitchFamily="49" charset="0"/>
                <a:ea typeface="楷体" pitchFamily="49" charset="-122"/>
                <a:cs typeface="Consolas" pitchFamily="49" charset="0"/>
              </a:rPr>
              <a:t>[</a:t>
            </a:r>
            <a:r>
              <a:rPr lang="en-US" altLang="zh-CN" sz="1800" i="1" dirty="0">
                <a:solidFill>
                  <a:srgbClr val="1000E4"/>
                </a:solidFill>
                <a:latin typeface="Consolas" pitchFamily="49" charset="0"/>
                <a:ea typeface="楷体" pitchFamily="49" charset="-122"/>
                <a:cs typeface="Consolas" pitchFamily="49" charset="0"/>
              </a:rPr>
              <a:t>n</a:t>
            </a:r>
            <a:r>
              <a:rPr lang="en-US" altLang="zh-CN" sz="1800" dirty="0">
                <a:solidFill>
                  <a:srgbClr val="1000E4"/>
                </a:solidFill>
                <a:latin typeface="Consolas" pitchFamily="49" charset="0"/>
                <a:cs typeface="Consolas" pitchFamily="49" charset="0"/>
              </a:rPr>
              <a:t>-</a:t>
            </a:r>
            <a:r>
              <a:rPr lang="en-US" altLang="zh-CN" sz="1800" dirty="0">
                <a:solidFill>
                  <a:srgbClr val="1000E4"/>
                </a:solidFill>
                <a:latin typeface="Consolas" pitchFamily="49" charset="0"/>
                <a:ea typeface="楷体" pitchFamily="49" charset="-122"/>
                <a:cs typeface="Consolas" pitchFamily="49" charset="0"/>
              </a:rPr>
              <a:t>1]</a:t>
            </a:r>
          </a:p>
        </p:txBody>
      </p:sp>
      <p:grpSp>
        <p:nvGrpSpPr>
          <p:cNvPr id="15" name="组合 11">
            <a:extLst>
              <a:ext uri="{FF2B5EF4-FFF2-40B4-BE49-F238E27FC236}">
                <a16:creationId xmlns:a16="http://schemas.microsoft.com/office/drawing/2014/main" id="{BAB06964-1AE0-ADF5-3D20-1EAAC0383421}"/>
              </a:ext>
            </a:extLst>
          </p:cNvPr>
          <p:cNvGrpSpPr/>
          <p:nvPr/>
        </p:nvGrpSpPr>
        <p:grpSpPr>
          <a:xfrm>
            <a:off x="3475593" y="4107350"/>
            <a:ext cx="2879725" cy="1065075"/>
            <a:chOff x="2786050" y="3400483"/>
            <a:chExt cx="2879725" cy="1065075"/>
          </a:xfrm>
        </p:grpSpPr>
        <p:sp>
          <p:nvSpPr>
            <p:cNvPr id="16" name="Text Box 17">
              <a:extLst>
                <a:ext uri="{FF2B5EF4-FFF2-40B4-BE49-F238E27FC236}">
                  <a16:creationId xmlns:a16="http://schemas.microsoft.com/office/drawing/2014/main" id="{08E2DDD0-0AAB-0425-C538-69E847DBF637}"/>
                </a:ext>
              </a:extLst>
            </p:cNvPr>
            <p:cNvSpPr txBox="1">
              <a:spLocks noChangeArrowheads="1"/>
            </p:cNvSpPr>
            <p:nvPr/>
          </p:nvSpPr>
          <p:spPr bwMode="auto">
            <a:xfrm>
              <a:off x="2786050" y="3757672"/>
              <a:ext cx="2879725" cy="707886"/>
            </a:xfrm>
            <a:prstGeom prst="rect">
              <a:avLst/>
            </a:prstGeom>
            <a:noFill/>
            <a:ln w="9525">
              <a:noFill/>
              <a:miter lim="800000"/>
              <a:headEnd/>
              <a:tailEnd/>
            </a:ln>
            <a:effectLst/>
          </p:spPr>
          <p:txBody>
            <a:bodyPr>
              <a:spAutoFit/>
            </a:bodyPr>
            <a:lstStyle/>
            <a:p>
              <a:pPr>
                <a:spcBef>
                  <a:spcPct val="50000"/>
                </a:spcBef>
              </a:pPr>
              <a:r>
                <a:rPr lang="zh-CN" altLang="en-US" sz="2000" dirty="0">
                  <a:latin typeface="Consolas" pitchFamily="49" charset="0"/>
                  <a:ea typeface="仿宋" pitchFamily="49" charset="-122"/>
                  <a:cs typeface="Consolas" pitchFamily="49" charset="0"/>
                </a:rPr>
                <a:t>采用</a:t>
              </a:r>
              <a:r>
                <a:rPr lang="zh-CN" altLang="en-US" sz="2000" dirty="0">
                  <a:solidFill>
                    <a:srgbClr val="FF00FF"/>
                  </a:solidFill>
                  <a:latin typeface="Consolas" pitchFamily="49" charset="0"/>
                  <a:ea typeface="仿宋" pitchFamily="49" charset="-122"/>
                  <a:cs typeface="Consolas" pitchFamily="49" charset="0"/>
                </a:rPr>
                <a:t>折半查找</a:t>
              </a:r>
              <a:r>
                <a:rPr lang="zh-CN" altLang="en-US" sz="2000" dirty="0">
                  <a:latin typeface="Consolas" pitchFamily="49" charset="0"/>
                  <a:ea typeface="仿宋" pitchFamily="49" charset="-122"/>
                  <a:cs typeface="Consolas" pitchFamily="49" charset="0"/>
                </a:rPr>
                <a:t>在有序区找到插入的位置</a:t>
              </a:r>
            </a:p>
          </p:txBody>
        </p:sp>
        <p:sp>
          <p:nvSpPr>
            <p:cNvPr id="17" name="右弧形箭头 10">
              <a:extLst>
                <a:ext uri="{FF2B5EF4-FFF2-40B4-BE49-F238E27FC236}">
                  <a16:creationId xmlns:a16="http://schemas.microsoft.com/office/drawing/2014/main" id="{E404CECB-B01A-F8DD-C754-66DBD64A9256}"/>
                </a:ext>
              </a:extLst>
            </p:cNvPr>
            <p:cNvSpPr/>
            <p:nvPr/>
          </p:nvSpPr>
          <p:spPr>
            <a:xfrm rot="5400000">
              <a:off x="3929058" y="3186169"/>
              <a:ext cx="357190" cy="785818"/>
            </a:xfrm>
            <a:prstGeom prst="curvedLef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2000">
                <a:solidFill>
                  <a:schemeClr val="tx1"/>
                </a:solidFill>
                <a:latin typeface="Consolas" pitchFamily="49" charset="0"/>
                <a:ea typeface="仿宋" pitchFamily="49" charset="-122"/>
                <a:cs typeface="Consolas" pitchFamily="49" charset="0"/>
              </a:endParaRPr>
            </a:p>
          </p:txBody>
        </p:sp>
      </p:grpSp>
      <p:sp>
        <p:nvSpPr>
          <p:cNvPr id="18" name="TextBox 12">
            <a:extLst>
              <a:ext uri="{FF2B5EF4-FFF2-40B4-BE49-F238E27FC236}">
                <a16:creationId xmlns:a16="http://schemas.microsoft.com/office/drawing/2014/main" id="{BA5DBF42-AE90-2946-826C-B8140D792F6D}"/>
              </a:ext>
            </a:extLst>
          </p:cNvPr>
          <p:cNvSpPr txBox="1"/>
          <p:nvPr/>
        </p:nvSpPr>
        <p:spPr>
          <a:xfrm>
            <a:off x="1343472" y="1817107"/>
            <a:ext cx="1643074" cy="461665"/>
          </a:xfrm>
          <a:prstGeom prst="rect">
            <a:avLst/>
          </a:prstGeom>
          <a:noFill/>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基本思路</a:t>
            </a:r>
          </a:p>
        </p:txBody>
      </p:sp>
    </p:spTree>
    <p:extLst>
      <p:ext uri="{BB962C8B-B14F-4D97-AF65-F5344CB8AC3E}">
        <p14:creationId xmlns:p14="http://schemas.microsoft.com/office/powerpoint/2010/main" val="10355247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A2169-6C42-C3B0-4679-2789F4A23B5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1BC2428-8418-2D32-FC4A-5B407A0D7ADB}"/>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10.2.2 </a:t>
            </a:r>
            <a:r>
              <a:rPr lang="zh-CN" altLang="en-US" sz="2800" b="1" dirty="0">
                <a:solidFill>
                  <a:schemeClr val="bg1"/>
                </a:solidFill>
                <a:latin typeface="经典粗黑简" pitchFamily="49" charset="-122"/>
                <a:ea typeface="经典粗黑简" pitchFamily="49" charset="-122"/>
                <a:cs typeface="经典粗黑简" pitchFamily="49" charset="-122"/>
              </a:rPr>
              <a:t>折半插入排序</a:t>
            </a:r>
          </a:p>
        </p:txBody>
      </p:sp>
      <p:cxnSp>
        <p:nvCxnSpPr>
          <p:cNvPr id="4" name="直接连接符 3">
            <a:extLst>
              <a:ext uri="{FF2B5EF4-FFF2-40B4-BE49-F238E27FC236}">
                <a16:creationId xmlns:a16="http://schemas.microsoft.com/office/drawing/2014/main" id="{DCDB4DB7-E3CE-0D00-2AEE-4BCCAF5E4B5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C4060E31-20A2-E62F-C6C0-B90CCA2B331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10" name="TextBox 2">
            <a:extLst>
              <a:ext uri="{FF2B5EF4-FFF2-40B4-BE49-F238E27FC236}">
                <a16:creationId xmlns:a16="http://schemas.microsoft.com/office/drawing/2014/main" id="{F7C5E73D-0FEC-AF55-091F-6780029CE77F}"/>
              </a:ext>
            </a:extLst>
          </p:cNvPr>
          <p:cNvSpPr txBox="1"/>
          <p:nvPr/>
        </p:nvSpPr>
        <p:spPr>
          <a:xfrm>
            <a:off x="1345752" y="2238258"/>
            <a:ext cx="8429684" cy="400110"/>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在</a:t>
            </a:r>
            <a:r>
              <a:rPr lang="en-US" altLang="zh-CN" sz="2000" i="1" dirty="0">
                <a:latin typeface="Consolas" pitchFamily="49" charset="0"/>
                <a:ea typeface="仿宋" pitchFamily="49" charset="-122"/>
                <a:cs typeface="Consolas" pitchFamily="49" charset="0"/>
              </a:rPr>
              <a:t>R</a:t>
            </a:r>
            <a:r>
              <a:rPr lang="en-US" altLang="zh-CN" sz="2000" dirty="0">
                <a:solidFill>
                  <a:srgbClr val="C00000"/>
                </a:solidFill>
                <a:latin typeface="Consolas" pitchFamily="49" charset="0"/>
                <a:ea typeface="仿宋" pitchFamily="49" charset="-122"/>
                <a:cs typeface="Consolas" pitchFamily="49" charset="0"/>
              </a:rPr>
              <a:t>[</a:t>
            </a:r>
            <a:r>
              <a:rPr lang="en-US" altLang="zh-CN" sz="2000" dirty="0" err="1">
                <a:solidFill>
                  <a:srgbClr val="C00000"/>
                </a:solidFill>
                <a:latin typeface="Consolas" pitchFamily="49" charset="0"/>
                <a:ea typeface="仿宋" pitchFamily="49" charset="-122"/>
                <a:cs typeface="Consolas" pitchFamily="49" charset="0"/>
              </a:rPr>
              <a:t>low..high</a:t>
            </a:r>
            <a:r>
              <a:rPr lang="en-US" altLang="zh-CN" sz="2000" dirty="0">
                <a:solidFill>
                  <a:srgbClr val="C00000"/>
                </a:solidFill>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中查找</a:t>
            </a:r>
            <a:r>
              <a:rPr lang="en-US" altLang="zh-CN" sz="2000" dirty="0">
                <a:latin typeface="+mn-ea"/>
                <a:ea typeface="+mn-ea"/>
                <a:cs typeface="Consolas" pitchFamily="49" charset="0"/>
              </a:rPr>
              <a:t>≥</a:t>
            </a:r>
            <a:r>
              <a:rPr lang="en-US" altLang="zh-CN" sz="2000" i="1" dirty="0">
                <a:latin typeface="Consolas" pitchFamily="49" charset="0"/>
                <a:ea typeface="仿宋" pitchFamily="49" charset="-122"/>
                <a:cs typeface="Consolas" pitchFamily="49" charset="0"/>
              </a:rPr>
              <a:t>R</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].key</a:t>
            </a:r>
            <a:r>
              <a:rPr lang="zh-CN" altLang="en-US"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k</a:t>
            </a:r>
            <a:r>
              <a:rPr lang="en-US" altLang="zh-CN" sz="2000" dirty="0">
                <a:latin typeface="Consolas" pitchFamily="49" charset="0"/>
                <a:ea typeface="仿宋" pitchFamily="49" charset="-122"/>
                <a:cs typeface="Consolas" pitchFamily="49" charset="0"/>
              </a:rPr>
              <a:t>=</a:t>
            </a:r>
            <a:r>
              <a:rPr lang="en-US" altLang="zh-CN" sz="2000" i="1" dirty="0">
                <a:latin typeface="Consolas" pitchFamily="49" charset="0"/>
                <a:ea typeface="仿宋" pitchFamily="49" charset="-122"/>
                <a:cs typeface="Consolas" pitchFamily="49" charset="0"/>
              </a:rPr>
              <a:t>R</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].key</a:t>
            </a:r>
            <a:r>
              <a:rPr lang="zh-CN" altLang="en-US" sz="2000" dirty="0">
                <a:latin typeface="Consolas" pitchFamily="49" charset="0"/>
                <a:ea typeface="仿宋" pitchFamily="49" charset="-122"/>
                <a:cs typeface="Consolas" pitchFamily="49" charset="0"/>
              </a:rPr>
              <a:t>）的</a:t>
            </a:r>
            <a:r>
              <a:rPr lang="zh-CN" altLang="en-US" sz="2000" dirty="0">
                <a:solidFill>
                  <a:srgbClr val="FF00FF"/>
                </a:solidFill>
                <a:latin typeface="Consolas" pitchFamily="49" charset="0"/>
                <a:ea typeface="仿宋" pitchFamily="49" charset="-122"/>
                <a:cs typeface="Consolas" pitchFamily="49" charset="0"/>
              </a:rPr>
              <a:t>最后的位置</a:t>
            </a:r>
            <a:r>
              <a:rPr lang="en-US" altLang="zh-CN" sz="2000" dirty="0">
                <a:solidFill>
                  <a:srgbClr val="FF00FF"/>
                </a:solidFill>
                <a:latin typeface="Consolas" pitchFamily="49" charset="0"/>
                <a:ea typeface="仿宋" pitchFamily="49" charset="-122"/>
                <a:cs typeface="Consolas" pitchFamily="49" charset="0"/>
              </a:rPr>
              <a:t>high</a:t>
            </a:r>
            <a:endParaRPr lang="zh-CN" altLang="en-US" sz="2000" dirty="0">
              <a:solidFill>
                <a:srgbClr val="FF00FF"/>
              </a:solidFill>
              <a:latin typeface="Consolas" pitchFamily="49" charset="0"/>
              <a:ea typeface="仿宋" pitchFamily="49" charset="-122"/>
              <a:cs typeface="Consolas" pitchFamily="49" charset="0"/>
            </a:endParaRPr>
          </a:p>
        </p:txBody>
      </p:sp>
      <p:sp>
        <p:nvSpPr>
          <p:cNvPr id="11" name="TextBox 3">
            <a:extLst>
              <a:ext uri="{FF2B5EF4-FFF2-40B4-BE49-F238E27FC236}">
                <a16:creationId xmlns:a16="http://schemas.microsoft.com/office/drawing/2014/main" id="{A0B58550-C6A3-6494-9990-DC9D6F4BB8FD}"/>
              </a:ext>
            </a:extLst>
          </p:cNvPr>
          <p:cNvSpPr txBox="1"/>
          <p:nvPr/>
        </p:nvSpPr>
        <p:spPr>
          <a:xfrm>
            <a:off x="1633267" y="2715282"/>
            <a:ext cx="3571900"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r>
              <a:rPr lang="zh-CN" altLang="en-US" sz="2000">
                <a:solidFill>
                  <a:srgbClr val="1000E4"/>
                </a:solidFill>
                <a:latin typeface="Consolas" pitchFamily="49" charset="0"/>
                <a:ea typeface="仿宋" pitchFamily="49" charset="-122"/>
                <a:cs typeface="Consolas" pitchFamily="49" charset="0"/>
                <a:sym typeface="Wingdings"/>
              </a:rPr>
              <a:t> </a:t>
            </a:r>
            <a:r>
              <a:rPr lang="zh-CN" altLang="en-US" sz="2000">
                <a:solidFill>
                  <a:srgbClr val="1000E4"/>
                </a:solidFill>
                <a:latin typeface="Consolas" pitchFamily="49" charset="0"/>
                <a:ea typeface="仿宋" pitchFamily="49" charset="-122"/>
                <a:cs typeface="Consolas" pitchFamily="49" charset="0"/>
              </a:rPr>
              <a:t>如果</a:t>
            </a:r>
            <a:r>
              <a:rPr lang="en-US" altLang="zh-CN" sz="2000" i="1">
                <a:solidFill>
                  <a:srgbClr val="1000E4"/>
                </a:solidFill>
                <a:latin typeface="Consolas" pitchFamily="49" charset="0"/>
                <a:ea typeface="仿宋" pitchFamily="49" charset="-122"/>
                <a:cs typeface="Consolas" pitchFamily="49" charset="0"/>
              </a:rPr>
              <a:t>R</a:t>
            </a:r>
            <a:r>
              <a:rPr lang="en-US" altLang="zh-CN" sz="2000">
                <a:solidFill>
                  <a:srgbClr val="1000E4"/>
                </a:solidFill>
                <a:latin typeface="Consolas" pitchFamily="49" charset="0"/>
                <a:ea typeface="仿宋" pitchFamily="49" charset="-122"/>
                <a:cs typeface="Consolas" pitchFamily="49" charset="0"/>
              </a:rPr>
              <a:t>[low..high]</a:t>
            </a:r>
            <a:r>
              <a:rPr lang="zh-CN" altLang="en-US" sz="2000">
                <a:solidFill>
                  <a:srgbClr val="1000E4"/>
                </a:solidFill>
                <a:latin typeface="Consolas" pitchFamily="49" charset="0"/>
                <a:ea typeface="仿宋" pitchFamily="49" charset="-122"/>
                <a:cs typeface="Consolas" pitchFamily="49" charset="0"/>
              </a:rPr>
              <a:t>不空：</a:t>
            </a:r>
          </a:p>
        </p:txBody>
      </p:sp>
      <p:sp>
        <p:nvSpPr>
          <p:cNvPr id="12" name="TextBox 4">
            <a:extLst>
              <a:ext uri="{FF2B5EF4-FFF2-40B4-BE49-F238E27FC236}">
                <a16:creationId xmlns:a16="http://schemas.microsoft.com/office/drawing/2014/main" id="{944C026D-F2D3-8B80-2C20-02150A682068}"/>
              </a:ext>
            </a:extLst>
          </p:cNvPr>
          <p:cNvSpPr txBox="1"/>
          <p:nvPr/>
        </p:nvSpPr>
        <p:spPr>
          <a:xfrm>
            <a:off x="3560330" y="3265215"/>
            <a:ext cx="2428892"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800">
                <a:solidFill>
                  <a:schemeClr val="bg1"/>
                </a:solidFill>
                <a:latin typeface="Consolas" pitchFamily="49" charset="0"/>
                <a:cs typeface="Consolas" pitchFamily="49" charset="0"/>
              </a:rPr>
              <a:t>mid=(low+high)/2</a:t>
            </a:r>
            <a:endParaRPr lang="zh-CN" altLang="en-US" sz="1800">
              <a:solidFill>
                <a:schemeClr val="bg1"/>
              </a:solidFill>
              <a:latin typeface="Consolas" pitchFamily="49" charset="0"/>
              <a:cs typeface="Consolas" pitchFamily="49" charset="0"/>
            </a:endParaRPr>
          </a:p>
        </p:txBody>
      </p:sp>
      <p:sp>
        <p:nvSpPr>
          <p:cNvPr id="13" name="TextBox 5">
            <a:extLst>
              <a:ext uri="{FF2B5EF4-FFF2-40B4-BE49-F238E27FC236}">
                <a16:creationId xmlns:a16="http://schemas.microsoft.com/office/drawing/2014/main" id="{78B4C1A4-2806-4F90-C7DE-6EEBA13A5F3E}"/>
              </a:ext>
            </a:extLst>
          </p:cNvPr>
          <p:cNvSpPr txBox="1"/>
          <p:nvPr/>
        </p:nvSpPr>
        <p:spPr>
          <a:xfrm>
            <a:off x="1775520" y="4556656"/>
            <a:ext cx="3096344"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altLang="zh-CN" sz="1800" i="1" dirty="0">
                <a:solidFill>
                  <a:srgbClr val="3333FF"/>
                </a:solidFill>
                <a:latin typeface="Consolas" pitchFamily="49" charset="0"/>
                <a:cs typeface="Consolas" pitchFamily="49" charset="0"/>
              </a:rPr>
              <a:t>R</a:t>
            </a:r>
            <a:r>
              <a:rPr lang="en-US" altLang="zh-CN" sz="1800" dirty="0">
                <a:solidFill>
                  <a:srgbClr val="3333FF"/>
                </a:solidFill>
                <a:latin typeface="Consolas" pitchFamily="49" charset="0"/>
                <a:cs typeface="Consolas" pitchFamily="49" charset="0"/>
              </a:rPr>
              <a:t>[low..</a:t>
            </a:r>
            <a:r>
              <a:rPr lang="en-US" altLang="zh-CN" sz="1800" dirty="0">
                <a:solidFill>
                  <a:srgbClr val="FF0000"/>
                </a:solidFill>
                <a:latin typeface="Consolas" pitchFamily="49" charset="0"/>
                <a:cs typeface="Consolas" pitchFamily="49" charset="0"/>
              </a:rPr>
              <a:t>mid-1</a:t>
            </a:r>
            <a:r>
              <a:rPr lang="en-US" altLang="zh-CN" sz="1800" dirty="0">
                <a:solidFill>
                  <a:srgbClr val="3333FF"/>
                </a:solidFill>
                <a:latin typeface="Consolas" pitchFamily="49" charset="0"/>
                <a:cs typeface="Consolas" pitchFamily="49" charset="0"/>
              </a:rPr>
              <a:t>] &lt; </a:t>
            </a:r>
            <a:r>
              <a:rPr lang="en-US" altLang="zh-CN" sz="1800" i="1" dirty="0">
                <a:solidFill>
                  <a:srgbClr val="3333FF"/>
                </a:solidFill>
                <a:latin typeface="Consolas" pitchFamily="49" charset="0"/>
                <a:cs typeface="Consolas" pitchFamily="49" charset="0"/>
              </a:rPr>
              <a:t>k</a:t>
            </a:r>
            <a:endParaRPr lang="zh-CN" altLang="en-US" sz="1800" i="1" dirty="0">
              <a:solidFill>
                <a:srgbClr val="3333FF"/>
              </a:solidFill>
              <a:latin typeface="Consolas" pitchFamily="49" charset="0"/>
              <a:cs typeface="Consolas" pitchFamily="49" charset="0"/>
            </a:endParaRPr>
          </a:p>
        </p:txBody>
      </p:sp>
      <p:sp>
        <p:nvSpPr>
          <p:cNvPr id="19" name="TextBox 6">
            <a:extLst>
              <a:ext uri="{FF2B5EF4-FFF2-40B4-BE49-F238E27FC236}">
                <a16:creationId xmlns:a16="http://schemas.microsoft.com/office/drawing/2014/main" id="{FDEF4099-243D-B3A3-6C21-2DF27EF2F490}"/>
              </a:ext>
            </a:extLst>
          </p:cNvPr>
          <p:cNvSpPr txBox="1"/>
          <p:nvPr/>
        </p:nvSpPr>
        <p:spPr>
          <a:xfrm>
            <a:off x="5086180" y="4537910"/>
            <a:ext cx="3197992"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altLang="zh-CN" sz="1800" i="1" dirty="0">
                <a:solidFill>
                  <a:srgbClr val="3333FF"/>
                </a:solidFill>
                <a:latin typeface="Consolas" pitchFamily="49" charset="0"/>
                <a:cs typeface="Consolas" pitchFamily="49" charset="0"/>
              </a:rPr>
              <a:t>R</a:t>
            </a:r>
            <a:r>
              <a:rPr lang="en-US" altLang="zh-CN" sz="1800" dirty="0">
                <a:solidFill>
                  <a:srgbClr val="3333FF"/>
                </a:solidFill>
                <a:latin typeface="Consolas" pitchFamily="49" charset="0"/>
                <a:cs typeface="Consolas" pitchFamily="49" charset="0"/>
              </a:rPr>
              <a:t>[</a:t>
            </a:r>
            <a:r>
              <a:rPr lang="en-US" altLang="zh-CN" sz="1800" dirty="0">
                <a:solidFill>
                  <a:srgbClr val="FF0000"/>
                </a:solidFill>
                <a:latin typeface="Consolas" pitchFamily="49" charset="0"/>
                <a:cs typeface="Consolas" pitchFamily="49" charset="0"/>
              </a:rPr>
              <a:t>mid+1</a:t>
            </a:r>
            <a:r>
              <a:rPr lang="en-US" altLang="zh-CN" sz="1800" dirty="0">
                <a:solidFill>
                  <a:srgbClr val="3333FF"/>
                </a:solidFill>
                <a:latin typeface="Consolas" pitchFamily="49" charset="0"/>
                <a:cs typeface="Consolas" pitchFamily="49" charset="0"/>
              </a:rPr>
              <a:t>..high]</a:t>
            </a:r>
            <a:r>
              <a:rPr lang="en-US" altLang="zh-CN" sz="1800" dirty="0">
                <a:solidFill>
                  <a:srgbClr val="1000E4"/>
                </a:solidFill>
                <a:latin typeface="+mj-ea"/>
                <a:ea typeface="+mj-ea"/>
                <a:cs typeface="Consolas" pitchFamily="49" charset="0"/>
              </a:rPr>
              <a:t>≥</a:t>
            </a:r>
            <a:r>
              <a:rPr lang="en-US" altLang="zh-CN" sz="1800" dirty="0">
                <a:solidFill>
                  <a:srgbClr val="1000E4"/>
                </a:solidFill>
                <a:latin typeface="Consolas" pitchFamily="49" charset="0"/>
                <a:cs typeface="Consolas" pitchFamily="49" charset="0"/>
              </a:rPr>
              <a:t> </a:t>
            </a:r>
            <a:r>
              <a:rPr lang="en-US" altLang="zh-CN" sz="1800" i="1" dirty="0">
                <a:solidFill>
                  <a:srgbClr val="3333FF"/>
                </a:solidFill>
                <a:latin typeface="Consolas" pitchFamily="49" charset="0"/>
                <a:cs typeface="Consolas" pitchFamily="49" charset="0"/>
              </a:rPr>
              <a:t>k</a:t>
            </a:r>
            <a:endParaRPr lang="zh-CN" altLang="en-US" sz="1800" i="1" dirty="0">
              <a:solidFill>
                <a:srgbClr val="3333FF"/>
              </a:solidFill>
              <a:latin typeface="Consolas" pitchFamily="49" charset="0"/>
              <a:cs typeface="Consolas" pitchFamily="49" charset="0"/>
            </a:endParaRPr>
          </a:p>
        </p:txBody>
      </p:sp>
      <p:cxnSp>
        <p:nvCxnSpPr>
          <p:cNvPr id="20" name="直接箭头连接符 19">
            <a:extLst>
              <a:ext uri="{FF2B5EF4-FFF2-40B4-BE49-F238E27FC236}">
                <a16:creationId xmlns:a16="http://schemas.microsoft.com/office/drawing/2014/main" id="{415D2AA9-3B9A-81D8-1029-2774BD430706}"/>
              </a:ext>
            </a:extLst>
          </p:cNvPr>
          <p:cNvCxnSpPr/>
          <p:nvPr/>
        </p:nvCxnSpPr>
        <p:spPr>
          <a:xfrm rot="5400000">
            <a:off x="3596052" y="3801001"/>
            <a:ext cx="928691" cy="571503"/>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21" name="TextBox 8">
            <a:extLst>
              <a:ext uri="{FF2B5EF4-FFF2-40B4-BE49-F238E27FC236}">
                <a16:creationId xmlns:a16="http://schemas.microsoft.com/office/drawing/2014/main" id="{877E5E56-F5F8-9DAD-53F7-A650BE65C589}"/>
              </a:ext>
            </a:extLst>
          </p:cNvPr>
          <p:cNvSpPr txBox="1"/>
          <p:nvPr/>
        </p:nvSpPr>
        <p:spPr>
          <a:xfrm>
            <a:off x="2345884" y="3836719"/>
            <a:ext cx="1785950" cy="369332"/>
          </a:xfrm>
          <a:prstGeom prst="rect">
            <a:avLst/>
          </a:prstGeom>
          <a:noFill/>
        </p:spPr>
        <p:txBody>
          <a:bodyPr wrap="square" rtlCol="0">
            <a:spAutoFit/>
          </a:bodyPr>
          <a:lstStyle/>
          <a:p>
            <a:r>
              <a:rPr lang="en-US" altLang="zh-CN" sz="1800" i="1">
                <a:latin typeface="Consolas" pitchFamily="49" charset="0"/>
                <a:cs typeface="Consolas" pitchFamily="49" charset="0"/>
              </a:rPr>
              <a:t>k</a:t>
            </a:r>
            <a:r>
              <a:rPr lang="en-US" altLang="zh-CN" sz="1800">
                <a:latin typeface="Consolas" pitchFamily="49" charset="0"/>
                <a:cs typeface="Consolas" pitchFamily="49" charset="0"/>
              </a:rPr>
              <a:t>&lt;</a:t>
            </a:r>
            <a:r>
              <a:rPr lang="en-US" altLang="zh-CN" sz="1800" i="1">
                <a:latin typeface="Consolas" pitchFamily="49" charset="0"/>
                <a:cs typeface="Consolas" pitchFamily="49" charset="0"/>
              </a:rPr>
              <a:t>R</a:t>
            </a:r>
            <a:r>
              <a:rPr lang="en-US" altLang="zh-CN" sz="1800">
                <a:latin typeface="Consolas" pitchFamily="49" charset="0"/>
                <a:cs typeface="Consolas" pitchFamily="49" charset="0"/>
              </a:rPr>
              <a:t>[mid].key</a:t>
            </a:r>
            <a:endParaRPr lang="zh-CN" altLang="en-US" sz="1800">
              <a:latin typeface="Consolas" pitchFamily="49" charset="0"/>
              <a:cs typeface="Consolas" pitchFamily="49" charset="0"/>
            </a:endParaRPr>
          </a:p>
        </p:txBody>
      </p:sp>
      <p:cxnSp>
        <p:nvCxnSpPr>
          <p:cNvPr id="22" name="直接箭头连接符 21">
            <a:extLst>
              <a:ext uri="{FF2B5EF4-FFF2-40B4-BE49-F238E27FC236}">
                <a16:creationId xmlns:a16="http://schemas.microsoft.com/office/drawing/2014/main" id="{70DC16F4-8CE2-5075-B075-B08F8F1D14A8}"/>
              </a:ext>
            </a:extLst>
          </p:cNvPr>
          <p:cNvCxnSpPr/>
          <p:nvPr/>
        </p:nvCxnSpPr>
        <p:spPr>
          <a:xfrm rot="16200000" flipH="1">
            <a:off x="4990787" y="3835026"/>
            <a:ext cx="925302" cy="500064"/>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23" name="TextBox 10">
            <a:extLst>
              <a:ext uri="{FF2B5EF4-FFF2-40B4-BE49-F238E27FC236}">
                <a16:creationId xmlns:a16="http://schemas.microsoft.com/office/drawing/2014/main" id="{12E3CD44-D5D8-EDC0-A625-A9CD41E76B4D}"/>
              </a:ext>
            </a:extLst>
          </p:cNvPr>
          <p:cNvSpPr txBox="1"/>
          <p:nvPr/>
        </p:nvSpPr>
        <p:spPr>
          <a:xfrm>
            <a:off x="5417718" y="3836719"/>
            <a:ext cx="2000264" cy="369332"/>
          </a:xfrm>
          <a:prstGeom prst="rect">
            <a:avLst/>
          </a:prstGeom>
          <a:noFill/>
        </p:spPr>
        <p:txBody>
          <a:bodyPr wrap="square" rtlCol="0">
            <a:spAutoFit/>
          </a:bodyPr>
          <a:lstStyle/>
          <a:p>
            <a:r>
              <a:rPr lang="en-US" altLang="zh-CN" sz="1800" i="1">
                <a:latin typeface="Consolas" pitchFamily="49" charset="0"/>
                <a:cs typeface="Consolas" pitchFamily="49" charset="0"/>
              </a:rPr>
              <a:t>k</a:t>
            </a:r>
            <a:r>
              <a:rPr lang="en-US" altLang="zh-CN" sz="1800">
                <a:latin typeface="+mn-ea"/>
                <a:ea typeface="+mn-ea"/>
                <a:cs typeface="Consolas" pitchFamily="49" charset="0"/>
              </a:rPr>
              <a:t>≥</a:t>
            </a:r>
            <a:r>
              <a:rPr lang="en-US" altLang="zh-CN" sz="1800" i="1">
                <a:latin typeface="Consolas" pitchFamily="49" charset="0"/>
                <a:cs typeface="Consolas" pitchFamily="49" charset="0"/>
              </a:rPr>
              <a:t>R</a:t>
            </a:r>
            <a:r>
              <a:rPr lang="en-US" altLang="zh-CN" sz="1800">
                <a:latin typeface="Consolas" pitchFamily="49" charset="0"/>
                <a:cs typeface="Consolas" pitchFamily="49" charset="0"/>
              </a:rPr>
              <a:t>[mid].key</a:t>
            </a:r>
            <a:endParaRPr lang="zh-CN" altLang="en-US" sz="1800">
              <a:latin typeface="Consolas" pitchFamily="49" charset="0"/>
              <a:cs typeface="Consolas" pitchFamily="49" charset="0"/>
            </a:endParaRPr>
          </a:p>
        </p:txBody>
      </p:sp>
      <p:sp>
        <p:nvSpPr>
          <p:cNvPr id="24" name="TextBox 11">
            <a:extLst>
              <a:ext uri="{FF2B5EF4-FFF2-40B4-BE49-F238E27FC236}">
                <a16:creationId xmlns:a16="http://schemas.microsoft.com/office/drawing/2014/main" id="{B04A56F7-A7F3-44E8-5FBE-119C8C1FD843}"/>
              </a:ext>
            </a:extLst>
          </p:cNvPr>
          <p:cNvSpPr txBox="1"/>
          <p:nvPr/>
        </p:nvSpPr>
        <p:spPr>
          <a:xfrm>
            <a:off x="1635446" y="5334379"/>
            <a:ext cx="3143272"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r>
              <a:rPr lang="zh-CN" altLang="en-US" sz="2000">
                <a:solidFill>
                  <a:srgbClr val="1000E4"/>
                </a:solidFill>
                <a:latin typeface="Consolas" pitchFamily="49" charset="0"/>
                <a:ea typeface="仿宋" pitchFamily="49" charset="-122"/>
                <a:cs typeface="Consolas" pitchFamily="49" charset="0"/>
                <a:sym typeface="Wingdings"/>
              </a:rPr>
              <a:t> </a:t>
            </a:r>
            <a:r>
              <a:rPr lang="zh-CN" altLang="en-US" sz="2000">
                <a:solidFill>
                  <a:srgbClr val="1000E4"/>
                </a:solidFill>
                <a:latin typeface="Consolas" pitchFamily="49" charset="0"/>
                <a:ea typeface="仿宋" pitchFamily="49" charset="-122"/>
                <a:cs typeface="Consolas" pitchFamily="49" charset="0"/>
              </a:rPr>
              <a:t>如果</a:t>
            </a:r>
            <a:r>
              <a:rPr lang="en-US" altLang="zh-CN" sz="2000" i="1">
                <a:solidFill>
                  <a:srgbClr val="1000E4"/>
                </a:solidFill>
                <a:latin typeface="Consolas" pitchFamily="49" charset="0"/>
                <a:ea typeface="仿宋" pitchFamily="49" charset="-122"/>
                <a:cs typeface="Consolas" pitchFamily="49" charset="0"/>
              </a:rPr>
              <a:t>R</a:t>
            </a:r>
            <a:r>
              <a:rPr lang="en-US" altLang="zh-CN" sz="2000">
                <a:solidFill>
                  <a:srgbClr val="1000E4"/>
                </a:solidFill>
                <a:latin typeface="Consolas" pitchFamily="49" charset="0"/>
                <a:ea typeface="仿宋" pitchFamily="49" charset="-122"/>
                <a:cs typeface="Consolas" pitchFamily="49" charset="0"/>
              </a:rPr>
              <a:t>[low..high]</a:t>
            </a:r>
            <a:r>
              <a:rPr lang="zh-CN" altLang="en-US" sz="2000">
                <a:solidFill>
                  <a:srgbClr val="1000E4"/>
                </a:solidFill>
                <a:latin typeface="Consolas" pitchFamily="49" charset="0"/>
                <a:ea typeface="仿宋" pitchFamily="49" charset="-122"/>
                <a:cs typeface="Consolas" pitchFamily="49" charset="0"/>
              </a:rPr>
              <a:t>空：</a:t>
            </a:r>
          </a:p>
        </p:txBody>
      </p:sp>
      <p:sp>
        <p:nvSpPr>
          <p:cNvPr id="25" name="TextBox 12">
            <a:extLst>
              <a:ext uri="{FF2B5EF4-FFF2-40B4-BE49-F238E27FC236}">
                <a16:creationId xmlns:a16="http://schemas.microsoft.com/office/drawing/2014/main" id="{4AB66F4F-B002-CDE9-780E-21FEF587B653}"/>
              </a:ext>
            </a:extLst>
          </p:cNvPr>
          <p:cNvSpPr txBox="1"/>
          <p:nvPr/>
        </p:nvSpPr>
        <p:spPr>
          <a:xfrm>
            <a:off x="5086180" y="5379546"/>
            <a:ext cx="3571900" cy="369332"/>
          </a:xfrm>
          <a:prstGeom prst="rect">
            <a:avLst/>
          </a:prstGeom>
          <a:noFill/>
        </p:spPr>
        <p:txBody>
          <a:bodyPr wrap="square" rtlCol="0">
            <a:spAutoFit/>
          </a:bodyPr>
          <a:lstStyle/>
          <a:p>
            <a:r>
              <a:rPr lang="en-US" altLang="zh-CN" sz="1800" i="1" dirty="0">
                <a:latin typeface="Consolas" pitchFamily="49" charset="0"/>
                <a:cs typeface="Consolas" pitchFamily="49" charset="0"/>
              </a:rPr>
              <a:t>R</a:t>
            </a:r>
            <a:r>
              <a:rPr lang="en-US" altLang="zh-CN" sz="1800" dirty="0">
                <a:latin typeface="Consolas" pitchFamily="49" charset="0"/>
                <a:cs typeface="Consolas" pitchFamily="49" charset="0"/>
              </a:rPr>
              <a:t>[</a:t>
            </a:r>
            <a:r>
              <a:rPr lang="en-US" altLang="zh-CN" sz="1800" dirty="0" err="1">
                <a:latin typeface="Consolas" pitchFamily="49" charset="0"/>
                <a:cs typeface="Consolas" pitchFamily="49" charset="0"/>
              </a:rPr>
              <a:t>low..high</a:t>
            </a:r>
            <a:r>
              <a:rPr lang="en-US" altLang="zh-CN" sz="1800" dirty="0">
                <a:latin typeface="Consolas" pitchFamily="49" charset="0"/>
                <a:cs typeface="Consolas" pitchFamily="49" charset="0"/>
              </a:rPr>
              <a:t>] </a:t>
            </a:r>
            <a:r>
              <a:rPr lang="en-US" altLang="zh-CN" sz="1800" i="1" dirty="0">
                <a:latin typeface="Consolas" pitchFamily="49" charset="0"/>
                <a:cs typeface="Consolas" pitchFamily="49" charset="0"/>
              </a:rPr>
              <a:t>R</a:t>
            </a:r>
            <a:r>
              <a:rPr lang="en-US" altLang="zh-CN" sz="1800" dirty="0">
                <a:latin typeface="Consolas" pitchFamily="49" charset="0"/>
                <a:cs typeface="Consolas" pitchFamily="49" charset="0"/>
              </a:rPr>
              <a:t>[</a:t>
            </a:r>
            <a:r>
              <a:rPr lang="en-US" altLang="zh-CN" sz="1800" dirty="0">
                <a:solidFill>
                  <a:srgbClr val="FF0000"/>
                </a:solidFill>
                <a:latin typeface="Consolas" pitchFamily="49" charset="0"/>
                <a:cs typeface="Consolas" pitchFamily="49" charset="0"/>
              </a:rPr>
              <a:t>high+1..*</a:t>
            </a:r>
            <a:r>
              <a:rPr lang="en-US" altLang="zh-CN" sz="1800" dirty="0">
                <a:latin typeface="Consolas" pitchFamily="49" charset="0"/>
                <a:cs typeface="Consolas" pitchFamily="49" charset="0"/>
              </a:rPr>
              <a:t>]</a:t>
            </a:r>
            <a:endParaRPr lang="zh-CN" altLang="en-US" sz="1800" dirty="0">
              <a:latin typeface="Consolas" pitchFamily="49" charset="0"/>
              <a:cs typeface="Consolas" pitchFamily="49" charset="0"/>
            </a:endParaRPr>
          </a:p>
        </p:txBody>
      </p:sp>
      <p:grpSp>
        <p:nvGrpSpPr>
          <p:cNvPr id="26" name="组合 13">
            <a:extLst>
              <a:ext uri="{FF2B5EF4-FFF2-40B4-BE49-F238E27FC236}">
                <a16:creationId xmlns:a16="http://schemas.microsoft.com/office/drawing/2014/main" id="{2E6CCC57-7B2F-3837-267A-BF51BC41CFF6}"/>
              </a:ext>
            </a:extLst>
          </p:cNvPr>
          <p:cNvGrpSpPr/>
          <p:nvPr/>
        </p:nvGrpSpPr>
        <p:grpSpPr>
          <a:xfrm>
            <a:off x="7086444" y="5737530"/>
            <a:ext cx="785818" cy="735253"/>
            <a:chOff x="3071802" y="5215744"/>
            <a:chExt cx="785818" cy="735253"/>
          </a:xfrm>
        </p:grpSpPr>
        <p:cxnSp>
          <p:nvCxnSpPr>
            <p:cNvPr id="27" name="直接箭头连接符 26">
              <a:extLst>
                <a:ext uri="{FF2B5EF4-FFF2-40B4-BE49-F238E27FC236}">
                  <a16:creationId xmlns:a16="http://schemas.microsoft.com/office/drawing/2014/main" id="{7F1023B0-56E8-CAD0-B3F9-4F4391624CD2}"/>
                </a:ext>
              </a:extLst>
            </p:cNvPr>
            <p:cNvCxnSpPr/>
            <p:nvPr/>
          </p:nvCxnSpPr>
          <p:spPr>
            <a:xfrm rot="5400000" flipH="1" flipV="1">
              <a:off x="3286116" y="5357826"/>
              <a:ext cx="285752"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28" name="TextBox 15">
              <a:extLst>
                <a:ext uri="{FF2B5EF4-FFF2-40B4-BE49-F238E27FC236}">
                  <a16:creationId xmlns:a16="http://schemas.microsoft.com/office/drawing/2014/main" id="{9EFD631D-B0B9-C466-6419-06D64ADBF0EA}"/>
                </a:ext>
              </a:extLst>
            </p:cNvPr>
            <p:cNvSpPr txBox="1"/>
            <p:nvPr/>
          </p:nvSpPr>
          <p:spPr>
            <a:xfrm>
              <a:off x="3071802" y="5550887"/>
              <a:ext cx="785818" cy="400110"/>
            </a:xfrm>
            <a:prstGeom prst="rect">
              <a:avLst/>
            </a:prstGeom>
            <a:noFill/>
          </p:spPr>
          <p:txBody>
            <a:bodyPr wrap="square" rtlCol="0">
              <a:spAutoFit/>
            </a:bodyPr>
            <a:lstStyle/>
            <a:p>
              <a:r>
                <a:rPr lang="en-US" altLang="zh-CN" sz="2000" i="1">
                  <a:solidFill>
                    <a:srgbClr val="008000"/>
                  </a:solidFill>
                  <a:latin typeface="Consolas" pitchFamily="49" charset="0"/>
                  <a:ea typeface="+mj-ea"/>
                  <a:cs typeface="Consolas" pitchFamily="49" charset="0"/>
                </a:rPr>
                <a:t>R</a:t>
              </a:r>
              <a:r>
                <a:rPr lang="en-US" altLang="zh-CN" sz="2000">
                  <a:solidFill>
                    <a:srgbClr val="008000"/>
                  </a:solidFill>
                  <a:latin typeface="Consolas" pitchFamily="49" charset="0"/>
                  <a:ea typeface="+mj-ea"/>
                  <a:cs typeface="Consolas" pitchFamily="49" charset="0"/>
                </a:rPr>
                <a:t>[</a:t>
              </a:r>
              <a:r>
                <a:rPr lang="en-US" altLang="zh-CN" sz="2000" i="1">
                  <a:solidFill>
                    <a:srgbClr val="008000"/>
                  </a:solidFill>
                  <a:latin typeface="Consolas" pitchFamily="49" charset="0"/>
                  <a:ea typeface="+mj-ea"/>
                  <a:cs typeface="Consolas" pitchFamily="49" charset="0"/>
                </a:rPr>
                <a:t>i</a:t>
              </a:r>
              <a:r>
                <a:rPr lang="en-US" altLang="zh-CN" sz="2000">
                  <a:solidFill>
                    <a:srgbClr val="008000"/>
                  </a:solidFill>
                  <a:latin typeface="Consolas" pitchFamily="49" charset="0"/>
                  <a:ea typeface="+mj-ea"/>
                  <a:cs typeface="Consolas" pitchFamily="49" charset="0"/>
                </a:rPr>
                <a:t>]</a:t>
              </a:r>
              <a:endParaRPr lang="zh-CN" altLang="en-US" sz="2000">
                <a:solidFill>
                  <a:srgbClr val="008000"/>
                </a:solidFill>
                <a:latin typeface="Consolas" pitchFamily="49" charset="0"/>
                <a:ea typeface="方正启体简体" pitchFamily="65" charset="-122"/>
                <a:cs typeface="Consolas" pitchFamily="49" charset="0"/>
              </a:endParaRPr>
            </a:p>
          </p:txBody>
        </p:sp>
      </p:grpSp>
      <p:sp>
        <p:nvSpPr>
          <p:cNvPr id="29" name="TextBox 16">
            <a:extLst>
              <a:ext uri="{FF2B5EF4-FFF2-40B4-BE49-F238E27FC236}">
                <a16:creationId xmlns:a16="http://schemas.microsoft.com/office/drawing/2014/main" id="{EB11BB27-268D-4F29-D40B-2241631BDA84}"/>
              </a:ext>
            </a:extLst>
          </p:cNvPr>
          <p:cNvSpPr txBox="1"/>
          <p:nvPr/>
        </p:nvSpPr>
        <p:spPr>
          <a:xfrm>
            <a:off x="1345752" y="1706856"/>
            <a:ext cx="5429288" cy="400110"/>
          </a:xfrm>
          <a:prstGeom prst="rect">
            <a:avLst/>
          </a:prstGeom>
          <a:noFill/>
        </p:spPr>
        <p:txBody>
          <a:bodyPr wrap="square" rtlCol="0">
            <a:spAutoFit/>
          </a:bodyPr>
          <a:lstStyle/>
          <a:p>
            <a:pPr algn="l"/>
            <a:r>
              <a:rPr lang="zh-CN" altLang="en-US" sz="2000">
                <a:solidFill>
                  <a:srgbClr val="FF0000"/>
                </a:solidFill>
                <a:latin typeface="Consolas" pitchFamily="49" charset="0"/>
                <a:ea typeface="华文中宋" pitchFamily="2" charset="-122"/>
                <a:cs typeface="Consolas" pitchFamily="49" charset="0"/>
              </a:rPr>
              <a:t>如何在</a:t>
            </a:r>
            <a:r>
              <a:rPr lang="en-US" altLang="zh-CN" sz="2000" i="1">
                <a:solidFill>
                  <a:srgbClr val="FF0000"/>
                </a:solidFill>
                <a:latin typeface="Consolas" pitchFamily="49" charset="0"/>
                <a:ea typeface="华文中宋" pitchFamily="2" charset="-122"/>
                <a:cs typeface="Consolas" pitchFamily="49" charset="0"/>
              </a:rPr>
              <a:t>R</a:t>
            </a:r>
            <a:r>
              <a:rPr lang="en-US" altLang="zh-CN" sz="2000">
                <a:solidFill>
                  <a:srgbClr val="FF0000"/>
                </a:solidFill>
                <a:latin typeface="Consolas" pitchFamily="49" charset="0"/>
                <a:ea typeface="华文中宋" pitchFamily="2" charset="-122"/>
                <a:cs typeface="Consolas" pitchFamily="49" charset="0"/>
              </a:rPr>
              <a:t>[low..high]</a:t>
            </a:r>
            <a:r>
              <a:rPr lang="zh-CN" altLang="en-US" sz="2000">
                <a:solidFill>
                  <a:srgbClr val="FF0000"/>
                </a:solidFill>
                <a:latin typeface="Consolas" pitchFamily="49" charset="0"/>
                <a:ea typeface="华文中宋" pitchFamily="2" charset="-122"/>
                <a:cs typeface="Consolas" pitchFamily="49" charset="0"/>
              </a:rPr>
              <a:t>中查找插入</a:t>
            </a:r>
            <a:r>
              <a:rPr lang="en-US" altLang="zh-CN" sz="2000" i="1">
                <a:solidFill>
                  <a:srgbClr val="008000"/>
                </a:solidFill>
                <a:latin typeface="Consolas" pitchFamily="49" charset="0"/>
                <a:ea typeface="华文中宋" pitchFamily="2" charset="-122"/>
                <a:cs typeface="Consolas" pitchFamily="49" charset="0"/>
              </a:rPr>
              <a:t>R</a:t>
            </a:r>
            <a:r>
              <a:rPr lang="en-US" altLang="zh-CN" sz="2000">
                <a:solidFill>
                  <a:srgbClr val="008000"/>
                </a:solidFill>
                <a:latin typeface="Consolas" pitchFamily="49" charset="0"/>
                <a:ea typeface="华文中宋" pitchFamily="2" charset="-122"/>
                <a:cs typeface="Consolas" pitchFamily="49" charset="0"/>
              </a:rPr>
              <a:t>[</a:t>
            </a:r>
            <a:r>
              <a:rPr lang="en-US" altLang="zh-CN" sz="2000" i="1">
                <a:solidFill>
                  <a:srgbClr val="008000"/>
                </a:solidFill>
                <a:latin typeface="Consolas" pitchFamily="49" charset="0"/>
                <a:ea typeface="华文中宋" pitchFamily="2" charset="-122"/>
                <a:cs typeface="Consolas" pitchFamily="49" charset="0"/>
              </a:rPr>
              <a:t>i</a:t>
            </a:r>
            <a:r>
              <a:rPr lang="en-US" altLang="zh-CN" sz="2000">
                <a:solidFill>
                  <a:srgbClr val="008000"/>
                </a:solidFill>
                <a:latin typeface="Consolas" pitchFamily="49" charset="0"/>
                <a:ea typeface="华文中宋" pitchFamily="2" charset="-122"/>
                <a:cs typeface="Consolas" pitchFamily="49" charset="0"/>
              </a:rPr>
              <a:t>]</a:t>
            </a:r>
            <a:r>
              <a:rPr lang="zh-CN" altLang="en-US" sz="2000">
                <a:solidFill>
                  <a:srgbClr val="FF0000"/>
                </a:solidFill>
                <a:latin typeface="Consolas" pitchFamily="49" charset="0"/>
                <a:ea typeface="华文中宋" pitchFamily="2" charset="-122"/>
                <a:cs typeface="Consolas" pitchFamily="49" charset="0"/>
              </a:rPr>
              <a:t>的位置？</a:t>
            </a:r>
          </a:p>
        </p:txBody>
      </p:sp>
    </p:spTree>
    <p:extLst>
      <p:ext uri="{BB962C8B-B14F-4D97-AF65-F5344CB8AC3E}">
        <p14:creationId xmlns:p14="http://schemas.microsoft.com/office/powerpoint/2010/main" val="28294553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3" grpId="0" animBg="1"/>
      <p:bldP spid="19" grpId="0" animBg="1"/>
      <p:bldP spid="21" grpId="0"/>
      <p:bldP spid="23" grpId="0"/>
      <p:bldP spid="24" grpId="0" animBg="1"/>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56BD8-B2A0-D5F4-361D-7A7394D665F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D264906-3EC1-EF06-CD12-EB774AD161CE}"/>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10.2.2 </a:t>
            </a:r>
            <a:r>
              <a:rPr lang="zh-CN" altLang="en-US" sz="2800" b="1" dirty="0">
                <a:solidFill>
                  <a:schemeClr val="bg1"/>
                </a:solidFill>
                <a:latin typeface="经典粗黑简" pitchFamily="49" charset="-122"/>
                <a:ea typeface="经典粗黑简" pitchFamily="49" charset="-122"/>
                <a:cs typeface="经典粗黑简" pitchFamily="49" charset="-122"/>
              </a:rPr>
              <a:t>折半插入排序</a:t>
            </a:r>
          </a:p>
        </p:txBody>
      </p:sp>
      <p:cxnSp>
        <p:nvCxnSpPr>
          <p:cNvPr id="4" name="直接连接符 3">
            <a:extLst>
              <a:ext uri="{FF2B5EF4-FFF2-40B4-BE49-F238E27FC236}">
                <a16:creationId xmlns:a16="http://schemas.microsoft.com/office/drawing/2014/main" id="{90EF7109-2E27-C1FF-E05D-FFEDB5D60AD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DDBD33EE-F7B7-374F-11F8-6E62FD2B8C1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3" name="Text Box 3">
            <a:extLst>
              <a:ext uri="{FF2B5EF4-FFF2-40B4-BE49-F238E27FC236}">
                <a16:creationId xmlns:a16="http://schemas.microsoft.com/office/drawing/2014/main" id="{FFEB9838-D542-985E-F2A2-7C31A93D06E1}"/>
              </a:ext>
            </a:extLst>
          </p:cNvPr>
          <p:cNvSpPr txBox="1">
            <a:spLocks noChangeArrowheads="1"/>
          </p:cNvSpPr>
          <p:nvPr/>
        </p:nvSpPr>
        <p:spPr bwMode="auto">
          <a:xfrm>
            <a:off x="3503712" y="1772816"/>
            <a:ext cx="8352928" cy="4907461"/>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08000" tIns="144000" bIns="144000">
            <a:spAutoFit/>
          </a:bodyPr>
          <a:lstStyle/>
          <a:p>
            <a:pPr algn="l">
              <a:lnSpc>
                <a:spcPts val="1800"/>
              </a:lnSpc>
            </a:pPr>
            <a:r>
              <a:rPr lang="en-US" altLang="zh-CN" sz="1600" dirty="0">
                <a:solidFill>
                  <a:srgbClr val="1000E4"/>
                </a:solidFill>
                <a:latin typeface="Consolas" pitchFamily="49" charset="0"/>
                <a:ea typeface="仿宋" pitchFamily="49" charset="-122"/>
                <a:cs typeface="Consolas" pitchFamily="49" charset="0"/>
              </a:rPr>
              <a:t>void </a:t>
            </a:r>
            <a:r>
              <a:rPr lang="en-US" altLang="zh-CN" sz="1600" dirty="0" err="1">
                <a:solidFill>
                  <a:srgbClr val="FF0000"/>
                </a:solidFill>
                <a:latin typeface="Consolas" pitchFamily="49" charset="0"/>
                <a:ea typeface="仿宋" pitchFamily="49" charset="-122"/>
                <a:cs typeface="Consolas" pitchFamily="49" charset="0"/>
              </a:rPr>
              <a:t>BinInsertSort</a:t>
            </a:r>
            <a:r>
              <a:rPr lang="en-US" altLang="zh-CN" sz="1600" dirty="0">
                <a:solidFill>
                  <a:srgbClr val="1000E4"/>
                </a:solidFill>
                <a:latin typeface="Consolas" pitchFamily="49" charset="0"/>
                <a:ea typeface="仿宋" pitchFamily="49" charset="-122"/>
                <a:cs typeface="Consolas" pitchFamily="49" charset="0"/>
              </a:rPr>
              <a:t>(</a:t>
            </a:r>
            <a:r>
              <a:rPr lang="en-US" altLang="zh-CN" sz="1600" dirty="0" err="1">
                <a:solidFill>
                  <a:srgbClr val="1000E4"/>
                </a:solidFill>
                <a:latin typeface="Consolas" pitchFamily="49" charset="0"/>
                <a:ea typeface="仿宋" pitchFamily="49" charset="-122"/>
                <a:cs typeface="Consolas" pitchFamily="49" charset="0"/>
              </a:rPr>
              <a:t>RecType</a:t>
            </a:r>
            <a:r>
              <a:rPr lang="en-US" altLang="zh-CN" sz="1600" dirty="0">
                <a:solidFill>
                  <a:srgbClr val="1000E4"/>
                </a:solidFill>
                <a:latin typeface="Consolas" pitchFamily="49" charset="0"/>
                <a:ea typeface="仿宋" pitchFamily="49" charset="-122"/>
                <a:cs typeface="Consolas" pitchFamily="49" charset="0"/>
              </a:rPr>
              <a:t> R[]</a:t>
            </a:r>
            <a:r>
              <a:rPr lang="zh-CN" altLang="en-US" sz="1600" dirty="0">
                <a:solidFill>
                  <a:srgbClr val="1000E4"/>
                </a:solidFill>
                <a:latin typeface="Consolas" pitchFamily="49" charset="0"/>
                <a:ea typeface="仿宋" pitchFamily="49" charset="-122"/>
                <a:cs typeface="Consolas" pitchFamily="49" charset="0"/>
              </a:rPr>
              <a:t>，</a:t>
            </a:r>
            <a:r>
              <a:rPr lang="en-US" altLang="zh-CN" sz="1600" dirty="0">
                <a:solidFill>
                  <a:srgbClr val="1000E4"/>
                </a:solidFill>
                <a:latin typeface="Consolas" pitchFamily="49" charset="0"/>
                <a:ea typeface="仿宋" pitchFamily="49" charset="-122"/>
                <a:cs typeface="Consolas" pitchFamily="49" charset="0"/>
              </a:rPr>
              <a:t>int n)</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int </a:t>
            </a:r>
            <a:r>
              <a:rPr lang="en-US" altLang="zh-CN" sz="1600" dirty="0" err="1">
                <a:solidFill>
                  <a:srgbClr val="1000E4"/>
                </a:solidFill>
                <a:latin typeface="Consolas" pitchFamily="49" charset="0"/>
                <a:ea typeface="仿宋" pitchFamily="49" charset="-122"/>
                <a:cs typeface="Consolas" pitchFamily="49" charset="0"/>
              </a:rPr>
              <a:t>i</a:t>
            </a:r>
            <a:r>
              <a:rPr lang="zh-CN" altLang="en-US" sz="1600" dirty="0">
                <a:solidFill>
                  <a:srgbClr val="1000E4"/>
                </a:solidFill>
                <a:latin typeface="Consolas" pitchFamily="49" charset="0"/>
                <a:ea typeface="仿宋" pitchFamily="49" charset="-122"/>
                <a:cs typeface="Consolas" pitchFamily="49" charset="0"/>
              </a:rPr>
              <a:t>，</a:t>
            </a:r>
            <a:r>
              <a:rPr lang="en-US" altLang="zh-CN" sz="1600" dirty="0">
                <a:solidFill>
                  <a:srgbClr val="1000E4"/>
                </a:solidFill>
                <a:latin typeface="Consolas" pitchFamily="49" charset="0"/>
                <a:ea typeface="仿宋" pitchFamily="49" charset="-122"/>
                <a:cs typeface="Consolas" pitchFamily="49" charset="0"/>
              </a:rPr>
              <a:t>j</a:t>
            </a:r>
            <a:r>
              <a:rPr lang="zh-CN" altLang="en-US" sz="1600" dirty="0">
                <a:solidFill>
                  <a:srgbClr val="1000E4"/>
                </a:solidFill>
                <a:latin typeface="Consolas" pitchFamily="49" charset="0"/>
                <a:ea typeface="仿宋" pitchFamily="49" charset="-122"/>
                <a:cs typeface="Consolas" pitchFamily="49" charset="0"/>
              </a:rPr>
              <a:t>，</a:t>
            </a:r>
            <a:r>
              <a:rPr lang="en-US" altLang="zh-CN" sz="1600" dirty="0">
                <a:solidFill>
                  <a:srgbClr val="1000E4"/>
                </a:solidFill>
                <a:latin typeface="Consolas" pitchFamily="49" charset="0"/>
                <a:ea typeface="仿宋" pitchFamily="49" charset="-122"/>
                <a:cs typeface="Consolas" pitchFamily="49" charset="0"/>
              </a:rPr>
              <a:t>low</a:t>
            </a:r>
            <a:r>
              <a:rPr lang="zh-CN" altLang="en-US" sz="1600" dirty="0">
                <a:solidFill>
                  <a:srgbClr val="1000E4"/>
                </a:solidFill>
                <a:latin typeface="Consolas" pitchFamily="49" charset="0"/>
                <a:ea typeface="仿宋" pitchFamily="49" charset="-122"/>
                <a:cs typeface="Consolas" pitchFamily="49" charset="0"/>
              </a:rPr>
              <a:t>，</a:t>
            </a:r>
            <a:r>
              <a:rPr lang="en-US" altLang="zh-CN" sz="1600" dirty="0">
                <a:solidFill>
                  <a:srgbClr val="1000E4"/>
                </a:solidFill>
                <a:latin typeface="Consolas" pitchFamily="49" charset="0"/>
                <a:ea typeface="仿宋" pitchFamily="49" charset="-122"/>
                <a:cs typeface="Consolas" pitchFamily="49" charset="0"/>
              </a:rPr>
              <a:t>high</a:t>
            </a:r>
            <a:r>
              <a:rPr lang="zh-CN" altLang="en-US" sz="1600" dirty="0">
                <a:solidFill>
                  <a:srgbClr val="1000E4"/>
                </a:solidFill>
                <a:latin typeface="Consolas" pitchFamily="49" charset="0"/>
                <a:ea typeface="仿宋" pitchFamily="49" charset="-122"/>
                <a:cs typeface="Consolas" pitchFamily="49" charset="0"/>
              </a:rPr>
              <a:t>，</a:t>
            </a:r>
            <a:r>
              <a:rPr lang="en-US" altLang="zh-CN" sz="1600" dirty="0">
                <a:solidFill>
                  <a:srgbClr val="1000E4"/>
                </a:solidFill>
                <a:latin typeface="Consolas" pitchFamily="49" charset="0"/>
                <a:ea typeface="仿宋" pitchFamily="49" charset="-122"/>
                <a:cs typeface="Consolas" pitchFamily="49" charset="0"/>
              </a:rPr>
              <a:t>mid;</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a:t>
            </a:r>
            <a:r>
              <a:rPr lang="en-US" altLang="zh-CN" sz="1600" dirty="0" err="1">
                <a:solidFill>
                  <a:srgbClr val="1000E4"/>
                </a:solidFill>
                <a:latin typeface="Consolas" pitchFamily="49" charset="0"/>
                <a:ea typeface="仿宋" pitchFamily="49" charset="-122"/>
                <a:cs typeface="Consolas" pitchFamily="49" charset="0"/>
              </a:rPr>
              <a:t>RecType</a:t>
            </a:r>
            <a:r>
              <a:rPr lang="en-US" altLang="zh-CN" sz="1600" dirty="0">
                <a:solidFill>
                  <a:srgbClr val="1000E4"/>
                </a:solidFill>
                <a:latin typeface="Consolas" pitchFamily="49" charset="0"/>
                <a:ea typeface="仿宋" pitchFamily="49" charset="-122"/>
                <a:cs typeface="Consolas" pitchFamily="49" charset="0"/>
              </a:rPr>
              <a:t> </a:t>
            </a:r>
            <a:r>
              <a:rPr lang="en-US" altLang="zh-CN" sz="1600" dirty="0" err="1">
                <a:solidFill>
                  <a:srgbClr val="1000E4"/>
                </a:solidFill>
                <a:latin typeface="Consolas" pitchFamily="49" charset="0"/>
                <a:ea typeface="仿宋" pitchFamily="49" charset="-122"/>
                <a:cs typeface="Consolas" pitchFamily="49" charset="0"/>
              </a:rPr>
              <a:t>tmp</a:t>
            </a:r>
            <a:r>
              <a:rPr lang="en-US" altLang="zh-CN" sz="1600" dirty="0">
                <a:solidFill>
                  <a:srgbClr val="1000E4"/>
                </a:solidFill>
                <a:latin typeface="Consolas" pitchFamily="49" charset="0"/>
                <a:ea typeface="仿宋" pitchFamily="49" charset="-122"/>
                <a:cs typeface="Consolas" pitchFamily="49" charset="0"/>
              </a:rPr>
              <a:t>;</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for (</a:t>
            </a:r>
            <a:r>
              <a:rPr lang="en-US" altLang="zh-CN" sz="1600" dirty="0" err="1">
                <a:solidFill>
                  <a:srgbClr val="1000E4"/>
                </a:solidFill>
                <a:latin typeface="Consolas" pitchFamily="49" charset="0"/>
                <a:ea typeface="仿宋" pitchFamily="49" charset="-122"/>
                <a:cs typeface="Consolas" pitchFamily="49" charset="0"/>
              </a:rPr>
              <a:t>i</a:t>
            </a:r>
            <a:r>
              <a:rPr lang="en-US" altLang="zh-CN" sz="1600" dirty="0">
                <a:solidFill>
                  <a:srgbClr val="1000E4"/>
                </a:solidFill>
                <a:latin typeface="Consolas" pitchFamily="49" charset="0"/>
                <a:ea typeface="仿宋" pitchFamily="49" charset="-122"/>
                <a:cs typeface="Consolas" pitchFamily="49" charset="0"/>
              </a:rPr>
              <a:t>=1;i&lt;</a:t>
            </a:r>
            <a:r>
              <a:rPr lang="en-US" altLang="zh-CN" sz="1600" dirty="0" err="1">
                <a:solidFill>
                  <a:srgbClr val="1000E4"/>
                </a:solidFill>
                <a:latin typeface="Consolas" pitchFamily="49" charset="0"/>
                <a:ea typeface="仿宋" pitchFamily="49" charset="-122"/>
                <a:cs typeface="Consolas" pitchFamily="49" charset="0"/>
              </a:rPr>
              <a:t>n;i</a:t>
            </a:r>
            <a:r>
              <a:rPr lang="en-US" altLang="zh-CN" sz="1600" dirty="0">
                <a:solidFill>
                  <a:srgbClr val="1000E4"/>
                </a:solidFill>
                <a:latin typeface="Consolas" pitchFamily="49" charset="0"/>
                <a:ea typeface="仿宋" pitchFamily="49" charset="-122"/>
                <a:cs typeface="Consolas" pitchFamily="49" charset="0"/>
              </a:rPr>
              <a:t>++) </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  </a:t>
            </a:r>
            <a:r>
              <a:rPr kumimoji="1" lang="en-US" altLang="zh-CN" sz="1600" dirty="0">
                <a:solidFill>
                  <a:srgbClr val="1000E4"/>
                </a:solidFill>
                <a:latin typeface="Consolas" pitchFamily="49" charset="0"/>
                <a:ea typeface="仿宋" pitchFamily="49" charset="-122"/>
                <a:cs typeface="Consolas" pitchFamily="49" charset="0"/>
              </a:rPr>
              <a:t>if (</a:t>
            </a:r>
            <a:r>
              <a:rPr kumimoji="1" lang="en-US" altLang="zh-CN" sz="1600" dirty="0">
                <a:solidFill>
                  <a:srgbClr val="C00000"/>
                </a:solidFill>
                <a:latin typeface="Consolas" pitchFamily="49" charset="0"/>
                <a:ea typeface="仿宋" pitchFamily="49" charset="-122"/>
                <a:cs typeface="Consolas" pitchFamily="49" charset="0"/>
              </a:rPr>
              <a:t>R[</a:t>
            </a:r>
            <a:r>
              <a:rPr kumimoji="1" lang="en-US" altLang="zh-CN" sz="1600" dirty="0" err="1">
                <a:solidFill>
                  <a:srgbClr val="C00000"/>
                </a:solidFill>
                <a:latin typeface="Consolas" pitchFamily="49" charset="0"/>
                <a:ea typeface="仿宋" pitchFamily="49" charset="-122"/>
                <a:cs typeface="Consolas" pitchFamily="49" charset="0"/>
              </a:rPr>
              <a:t>i</a:t>
            </a:r>
            <a:r>
              <a:rPr kumimoji="1" lang="en-US" altLang="zh-CN" sz="1600" dirty="0">
                <a:solidFill>
                  <a:srgbClr val="C00000"/>
                </a:solidFill>
                <a:latin typeface="Consolas" pitchFamily="49" charset="0"/>
                <a:ea typeface="仿宋" pitchFamily="49" charset="-122"/>
                <a:cs typeface="Consolas" pitchFamily="49" charset="0"/>
              </a:rPr>
              <a:t>].key&lt;R[i-1].key]</a:t>
            </a:r>
            <a:r>
              <a:rPr kumimoji="1" lang="en-US" altLang="zh-CN" sz="1600" dirty="0">
                <a:solidFill>
                  <a:srgbClr val="1000E4"/>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反序时</a:t>
            </a:r>
            <a:endParaRPr lang="en-US" altLang="zh-CN" sz="1600" dirty="0">
              <a:solidFill>
                <a:srgbClr val="1000E4"/>
              </a:solidFill>
              <a:latin typeface="Consolas" pitchFamily="49" charset="0"/>
              <a:ea typeface="仿宋" pitchFamily="49" charset="-122"/>
              <a:cs typeface="Consolas" pitchFamily="49" charset="0"/>
            </a:endParaRP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  </a:t>
            </a:r>
            <a:r>
              <a:rPr lang="en-US" altLang="zh-CN" sz="1600" dirty="0" err="1">
                <a:solidFill>
                  <a:srgbClr val="1000E4"/>
                </a:solidFill>
                <a:latin typeface="Consolas" pitchFamily="49" charset="0"/>
                <a:ea typeface="仿宋" pitchFamily="49" charset="-122"/>
                <a:cs typeface="Consolas" pitchFamily="49" charset="0"/>
              </a:rPr>
              <a:t>tmp</a:t>
            </a:r>
            <a:r>
              <a:rPr lang="en-US" altLang="zh-CN" sz="1600" dirty="0">
                <a:solidFill>
                  <a:srgbClr val="1000E4"/>
                </a:solidFill>
                <a:latin typeface="Consolas" pitchFamily="49" charset="0"/>
                <a:ea typeface="仿宋" pitchFamily="49" charset="-122"/>
                <a:cs typeface="Consolas" pitchFamily="49" charset="0"/>
              </a:rPr>
              <a:t>=R[</a:t>
            </a:r>
            <a:r>
              <a:rPr lang="en-US" altLang="zh-CN" sz="1600" dirty="0" err="1">
                <a:solidFill>
                  <a:srgbClr val="1000E4"/>
                </a:solidFill>
                <a:latin typeface="Consolas" pitchFamily="49" charset="0"/>
                <a:ea typeface="仿宋" pitchFamily="49" charset="-122"/>
                <a:cs typeface="Consolas" pitchFamily="49" charset="0"/>
              </a:rPr>
              <a:t>i</a:t>
            </a:r>
            <a:r>
              <a:rPr lang="en-US" altLang="zh-CN" sz="1600" dirty="0">
                <a:solidFill>
                  <a:srgbClr val="1000E4"/>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将</a:t>
            </a:r>
            <a:r>
              <a:rPr lang="en-US" altLang="zh-CN" sz="1600" dirty="0">
                <a:solidFill>
                  <a:srgbClr val="00B0F0"/>
                </a:solidFill>
                <a:latin typeface="Consolas" pitchFamily="49" charset="0"/>
                <a:ea typeface="仿宋" pitchFamily="49" charset="-122"/>
                <a:cs typeface="Consolas" pitchFamily="49" charset="0"/>
              </a:rPr>
              <a:t>R[</a:t>
            </a:r>
            <a:r>
              <a:rPr lang="en-US" altLang="zh-CN" sz="1600" dirty="0" err="1">
                <a:solidFill>
                  <a:srgbClr val="00B0F0"/>
                </a:solidFill>
                <a:latin typeface="Consolas" pitchFamily="49" charset="0"/>
                <a:ea typeface="仿宋" pitchFamily="49" charset="-122"/>
                <a:cs typeface="Consolas" pitchFamily="49" charset="0"/>
              </a:rPr>
              <a:t>i</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保存到</a:t>
            </a:r>
            <a:r>
              <a:rPr lang="en-US" altLang="zh-CN" sz="1600" dirty="0" err="1">
                <a:solidFill>
                  <a:srgbClr val="00B0F0"/>
                </a:solidFill>
                <a:latin typeface="Consolas" pitchFamily="49" charset="0"/>
                <a:ea typeface="仿宋" pitchFamily="49" charset="-122"/>
                <a:cs typeface="Consolas" pitchFamily="49" charset="0"/>
              </a:rPr>
              <a:t>tmp</a:t>
            </a:r>
            <a:r>
              <a:rPr lang="zh-CN" altLang="en-US" sz="1600" dirty="0">
                <a:solidFill>
                  <a:srgbClr val="00B0F0"/>
                </a:solidFill>
                <a:latin typeface="Consolas" pitchFamily="49" charset="0"/>
                <a:ea typeface="仿宋" pitchFamily="49" charset="-122"/>
                <a:cs typeface="Consolas" pitchFamily="49" charset="0"/>
              </a:rPr>
              <a:t>中</a:t>
            </a:r>
          </a:p>
          <a:p>
            <a:pPr algn="l">
              <a:lnSpc>
                <a:spcPts val="1800"/>
              </a:lnSpc>
            </a:pPr>
            <a:r>
              <a:rPr lang="zh-CN" altLang="en-US" sz="1600" dirty="0">
                <a:solidFill>
                  <a:srgbClr val="1000E4"/>
                </a:solidFill>
                <a:latin typeface="Consolas" pitchFamily="49" charset="0"/>
                <a:ea typeface="仿宋" pitchFamily="49" charset="-122"/>
                <a:cs typeface="Consolas" pitchFamily="49" charset="0"/>
              </a:rPr>
              <a:t>	  </a:t>
            </a:r>
            <a:r>
              <a:rPr lang="en-US" altLang="zh-CN" sz="1600" dirty="0">
                <a:solidFill>
                  <a:srgbClr val="FF00FF"/>
                </a:solidFill>
                <a:latin typeface="Consolas" pitchFamily="49" charset="0"/>
                <a:ea typeface="仿宋" pitchFamily="49" charset="-122"/>
                <a:cs typeface="Consolas" pitchFamily="49" charset="0"/>
              </a:rPr>
              <a:t>low=0; high=i-1;</a:t>
            </a:r>
          </a:p>
          <a:p>
            <a:pPr algn="l">
              <a:lnSpc>
                <a:spcPts val="1800"/>
              </a:lnSpc>
            </a:pPr>
            <a:r>
              <a:rPr lang="en-US" altLang="zh-CN" sz="1600" dirty="0">
                <a:solidFill>
                  <a:srgbClr val="FF00FF"/>
                </a:solidFill>
                <a:latin typeface="Consolas" pitchFamily="49" charset="0"/>
                <a:ea typeface="仿宋" pitchFamily="49" charset="-122"/>
                <a:cs typeface="Consolas" pitchFamily="49" charset="0"/>
              </a:rPr>
              <a:t>	  while (low&lt;=high)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在</a:t>
            </a:r>
            <a:r>
              <a:rPr lang="en-US" altLang="zh-CN" sz="1600" dirty="0">
                <a:solidFill>
                  <a:srgbClr val="00B0F0"/>
                </a:solidFill>
                <a:latin typeface="Consolas" pitchFamily="49" charset="0"/>
                <a:ea typeface="仿宋" pitchFamily="49" charset="-122"/>
                <a:cs typeface="Consolas" pitchFamily="49" charset="0"/>
              </a:rPr>
              <a:t>R[low..high]</a:t>
            </a:r>
            <a:r>
              <a:rPr lang="zh-CN" altLang="en-US" sz="1600" dirty="0">
                <a:solidFill>
                  <a:srgbClr val="00B0F0"/>
                </a:solidFill>
                <a:latin typeface="Consolas" pitchFamily="49" charset="0"/>
                <a:ea typeface="仿宋" pitchFamily="49" charset="-122"/>
                <a:cs typeface="Consolas" pitchFamily="49" charset="0"/>
              </a:rPr>
              <a:t>中查找插入的位置</a:t>
            </a:r>
          </a:p>
          <a:p>
            <a:pPr algn="l">
              <a:lnSpc>
                <a:spcPts val="1800"/>
              </a:lnSpc>
            </a:pPr>
            <a:r>
              <a:rPr lang="zh-CN" altLang="en-US" sz="1600" dirty="0">
                <a:solidFill>
                  <a:srgbClr val="FF00FF"/>
                </a:solidFill>
                <a:latin typeface="Consolas" pitchFamily="49" charset="0"/>
                <a:ea typeface="仿宋" pitchFamily="49" charset="-122"/>
                <a:cs typeface="Consolas" pitchFamily="49" charset="0"/>
              </a:rPr>
              <a:t>	  </a:t>
            </a:r>
            <a:r>
              <a:rPr lang="en-US" altLang="zh-CN" sz="1600" dirty="0">
                <a:solidFill>
                  <a:srgbClr val="FF00FF"/>
                </a:solidFill>
                <a:latin typeface="Consolas" pitchFamily="49" charset="0"/>
                <a:ea typeface="仿宋" pitchFamily="49" charset="-122"/>
                <a:cs typeface="Consolas" pitchFamily="49" charset="0"/>
              </a:rPr>
              <a:t>{  mid=(</a:t>
            </a:r>
            <a:r>
              <a:rPr lang="en-US" altLang="zh-CN" sz="1600" dirty="0" err="1">
                <a:solidFill>
                  <a:srgbClr val="FF00FF"/>
                </a:solidFill>
                <a:latin typeface="Consolas" pitchFamily="49" charset="0"/>
                <a:ea typeface="仿宋" pitchFamily="49" charset="-122"/>
                <a:cs typeface="Consolas" pitchFamily="49" charset="0"/>
              </a:rPr>
              <a:t>low+high</a:t>
            </a:r>
            <a:r>
              <a:rPr lang="en-US" altLang="zh-CN" sz="1600" dirty="0">
                <a:solidFill>
                  <a:srgbClr val="FF00FF"/>
                </a:solidFill>
                <a:latin typeface="Consolas" pitchFamily="49" charset="0"/>
                <a:ea typeface="仿宋" pitchFamily="49" charset="-122"/>
                <a:cs typeface="Consolas" pitchFamily="49" charset="0"/>
              </a:rPr>
              <a:t>)/2;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取中间位置</a:t>
            </a:r>
          </a:p>
          <a:p>
            <a:pPr algn="l">
              <a:lnSpc>
                <a:spcPts val="1800"/>
              </a:lnSpc>
            </a:pPr>
            <a:r>
              <a:rPr lang="zh-CN" altLang="en-US" sz="1600" dirty="0">
                <a:solidFill>
                  <a:srgbClr val="FF00FF"/>
                </a:solidFill>
                <a:latin typeface="Consolas" pitchFamily="49" charset="0"/>
                <a:ea typeface="仿宋" pitchFamily="49" charset="-122"/>
                <a:cs typeface="Consolas" pitchFamily="49" charset="0"/>
              </a:rPr>
              <a:t>	     </a:t>
            </a:r>
            <a:r>
              <a:rPr lang="en-US" altLang="zh-CN" sz="1600" dirty="0">
                <a:solidFill>
                  <a:srgbClr val="FF00FF"/>
                </a:solidFill>
                <a:latin typeface="Consolas" pitchFamily="49" charset="0"/>
                <a:ea typeface="仿宋" pitchFamily="49" charset="-122"/>
                <a:cs typeface="Consolas" pitchFamily="49" charset="0"/>
              </a:rPr>
              <a:t>if (</a:t>
            </a:r>
            <a:r>
              <a:rPr lang="en-US" altLang="zh-CN" sz="1600" dirty="0" err="1">
                <a:solidFill>
                  <a:srgbClr val="FF00FF"/>
                </a:solidFill>
                <a:latin typeface="Consolas" pitchFamily="49" charset="0"/>
                <a:ea typeface="仿宋" pitchFamily="49" charset="-122"/>
                <a:cs typeface="Consolas" pitchFamily="49" charset="0"/>
              </a:rPr>
              <a:t>tmp.key</a:t>
            </a:r>
            <a:r>
              <a:rPr lang="en-US" altLang="zh-CN" sz="1600" dirty="0">
                <a:solidFill>
                  <a:srgbClr val="FF00FF"/>
                </a:solidFill>
                <a:latin typeface="Consolas" pitchFamily="49" charset="0"/>
                <a:ea typeface="仿宋" pitchFamily="49" charset="-122"/>
                <a:cs typeface="Consolas" pitchFamily="49" charset="0"/>
              </a:rPr>
              <a:t>&lt;R[mid].key)</a:t>
            </a:r>
          </a:p>
          <a:p>
            <a:pPr algn="l">
              <a:lnSpc>
                <a:spcPts val="1800"/>
              </a:lnSpc>
            </a:pPr>
            <a:r>
              <a:rPr lang="en-US" altLang="zh-CN" sz="1600" dirty="0">
                <a:solidFill>
                  <a:srgbClr val="FF00FF"/>
                </a:solidFill>
                <a:latin typeface="Consolas" pitchFamily="49" charset="0"/>
                <a:ea typeface="仿宋" pitchFamily="49" charset="-122"/>
                <a:cs typeface="Consolas" pitchFamily="49" charset="0"/>
              </a:rPr>
              <a:t>	        high=mid-1;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插入点在左半区</a:t>
            </a:r>
          </a:p>
          <a:p>
            <a:pPr algn="l">
              <a:lnSpc>
                <a:spcPts val="1800"/>
              </a:lnSpc>
            </a:pPr>
            <a:r>
              <a:rPr lang="zh-CN" altLang="en-US" sz="1600" dirty="0">
                <a:solidFill>
                  <a:srgbClr val="FF00FF"/>
                </a:solidFill>
                <a:latin typeface="Consolas" pitchFamily="49" charset="0"/>
                <a:ea typeface="仿宋" pitchFamily="49" charset="-122"/>
                <a:cs typeface="Consolas" pitchFamily="49" charset="0"/>
              </a:rPr>
              <a:t>	     </a:t>
            </a:r>
            <a:r>
              <a:rPr lang="en-US" altLang="zh-CN" sz="1600" dirty="0">
                <a:solidFill>
                  <a:srgbClr val="FF00FF"/>
                </a:solidFill>
                <a:latin typeface="Consolas" pitchFamily="49" charset="0"/>
                <a:ea typeface="仿宋" pitchFamily="49" charset="-122"/>
                <a:cs typeface="Consolas" pitchFamily="49" charset="0"/>
              </a:rPr>
              <a:t>else</a:t>
            </a:r>
          </a:p>
          <a:p>
            <a:pPr algn="l">
              <a:lnSpc>
                <a:spcPts val="1800"/>
              </a:lnSpc>
            </a:pPr>
            <a:r>
              <a:rPr lang="en-US" altLang="zh-CN" sz="1600" dirty="0">
                <a:solidFill>
                  <a:srgbClr val="FF00FF"/>
                </a:solidFill>
                <a:latin typeface="Consolas" pitchFamily="49" charset="0"/>
                <a:ea typeface="仿宋" pitchFamily="49" charset="-122"/>
                <a:cs typeface="Consolas" pitchFamily="49" charset="0"/>
              </a:rPr>
              <a:t>	        low=mid+1;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插入点在右半区</a:t>
            </a:r>
          </a:p>
          <a:p>
            <a:pPr algn="l">
              <a:lnSpc>
                <a:spcPts val="1800"/>
              </a:lnSpc>
            </a:pPr>
            <a:r>
              <a:rPr lang="zh-CN" altLang="en-US" sz="1600" dirty="0">
                <a:solidFill>
                  <a:srgbClr val="FF00FF"/>
                </a:solidFill>
                <a:latin typeface="Consolas" pitchFamily="49" charset="0"/>
                <a:ea typeface="仿宋" pitchFamily="49" charset="-122"/>
                <a:cs typeface="Consolas" pitchFamily="49" charset="0"/>
              </a:rPr>
              <a:t>	  </a:t>
            </a:r>
            <a:r>
              <a:rPr lang="en-US" altLang="zh-CN" sz="1600" dirty="0">
                <a:solidFill>
                  <a:srgbClr val="FF00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 //</a:t>
            </a:r>
            <a:r>
              <a:rPr lang="zh-CN" altLang="en-US" sz="1600" dirty="0">
                <a:solidFill>
                  <a:srgbClr val="00B0F0"/>
                </a:solidFill>
                <a:latin typeface="Consolas" pitchFamily="49" charset="0"/>
                <a:ea typeface="仿宋" pitchFamily="49" charset="-122"/>
                <a:cs typeface="Consolas" pitchFamily="49" charset="0"/>
              </a:rPr>
              <a:t>找位置</a:t>
            </a:r>
            <a:r>
              <a:rPr lang="en-US" altLang="zh-CN" sz="1600" dirty="0">
                <a:solidFill>
                  <a:srgbClr val="C00000"/>
                </a:solidFill>
                <a:latin typeface="Consolas" pitchFamily="49" charset="0"/>
                <a:ea typeface="仿宋" pitchFamily="49" charset="-122"/>
                <a:cs typeface="Consolas" pitchFamily="49" charset="0"/>
              </a:rPr>
              <a:t>high+1</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for (j=i-1;j&gt;=high+1;j--)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元素后移</a:t>
            </a:r>
          </a:p>
          <a:p>
            <a:pPr algn="l">
              <a:lnSpc>
                <a:spcPts val="1800"/>
              </a:lnSpc>
            </a:pPr>
            <a:r>
              <a:rPr lang="zh-CN" altLang="en-US" sz="1600" dirty="0">
                <a:solidFill>
                  <a:srgbClr val="1000E4"/>
                </a:solidFill>
                <a:latin typeface="Consolas" pitchFamily="49" charset="0"/>
                <a:ea typeface="仿宋" pitchFamily="49" charset="-122"/>
                <a:cs typeface="Consolas" pitchFamily="49" charset="0"/>
              </a:rPr>
              <a:t>	     </a:t>
            </a:r>
            <a:r>
              <a:rPr lang="en-US" altLang="zh-CN" sz="1600" dirty="0">
                <a:solidFill>
                  <a:srgbClr val="1000E4"/>
                </a:solidFill>
                <a:latin typeface="Consolas" pitchFamily="49" charset="0"/>
                <a:ea typeface="仿宋" pitchFamily="49" charset="-122"/>
                <a:cs typeface="Consolas" pitchFamily="49" charset="0"/>
              </a:rPr>
              <a:t>R[j+1]=R[j];</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R[</a:t>
            </a:r>
            <a:r>
              <a:rPr lang="en-US" altLang="zh-CN" sz="1600" dirty="0">
                <a:solidFill>
                  <a:srgbClr val="C00000"/>
                </a:solidFill>
                <a:latin typeface="Consolas" pitchFamily="49" charset="0"/>
                <a:ea typeface="仿宋" pitchFamily="49" charset="-122"/>
                <a:cs typeface="Consolas" pitchFamily="49" charset="0"/>
              </a:rPr>
              <a:t>high</a:t>
            </a:r>
            <a:r>
              <a:rPr lang="en-US" altLang="zh-CN" sz="1600" dirty="0">
                <a:solidFill>
                  <a:srgbClr val="008000"/>
                </a:solidFill>
                <a:latin typeface="Consolas" pitchFamily="49" charset="0"/>
                <a:ea typeface="仿宋" pitchFamily="49" charset="-122"/>
                <a:cs typeface="Consolas" pitchFamily="49" charset="0"/>
              </a:rPr>
              <a:t>+1</a:t>
            </a:r>
            <a:r>
              <a:rPr lang="en-US" altLang="zh-CN" sz="1600" dirty="0">
                <a:solidFill>
                  <a:srgbClr val="1000E4"/>
                </a:solidFill>
                <a:latin typeface="Consolas" pitchFamily="49" charset="0"/>
                <a:ea typeface="仿宋" pitchFamily="49" charset="-122"/>
                <a:cs typeface="Consolas" pitchFamily="49" charset="0"/>
              </a:rPr>
              <a:t>]=</a:t>
            </a:r>
            <a:r>
              <a:rPr lang="en-US" altLang="zh-CN" sz="1600" dirty="0" err="1">
                <a:solidFill>
                  <a:srgbClr val="1000E4"/>
                </a:solidFill>
                <a:latin typeface="Consolas" pitchFamily="49" charset="0"/>
                <a:ea typeface="仿宋" pitchFamily="49" charset="-122"/>
                <a:cs typeface="Consolas" pitchFamily="49" charset="0"/>
              </a:rPr>
              <a:t>tmp</a:t>
            </a:r>
            <a:r>
              <a:rPr lang="en-US" altLang="zh-CN" sz="1600" dirty="0">
                <a:solidFill>
                  <a:srgbClr val="1000E4"/>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插入</a:t>
            </a:r>
            <a:r>
              <a:rPr lang="en-US" altLang="zh-CN" sz="1600" dirty="0" err="1">
                <a:solidFill>
                  <a:srgbClr val="00B0F0"/>
                </a:solidFill>
                <a:latin typeface="Consolas" pitchFamily="49" charset="0"/>
                <a:ea typeface="仿宋" pitchFamily="49" charset="-122"/>
                <a:cs typeface="Consolas" pitchFamily="49" charset="0"/>
              </a:rPr>
              <a:t>tmp</a:t>
            </a:r>
            <a:endParaRPr lang="zh-CN" altLang="en-US" sz="1600" dirty="0">
              <a:solidFill>
                <a:srgbClr val="00B0F0"/>
              </a:solidFill>
              <a:latin typeface="Consolas" pitchFamily="49" charset="0"/>
              <a:ea typeface="仿宋" pitchFamily="49" charset="-122"/>
              <a:cs typeface="Consolas" pitchFamily="49" charset="0"/>
            </a:endParaRPr>
          </a:p>
          <a:p>
            <a:pPr algn="l">
              <a:lnSpc>
                <a:spcPts val="1800"/>
              </a:lnSpc>
            </a:pPr>
            <a:r>
              <a:rPr lang="zh-CN" altLang="en-US" sz="1600" dirty="0">
                <a:solidFill>
                  <a:srgbClr val="1000E4"/>
                </a:solidFill>
                <a:latin typeface="Consolas" pitchFamily="49" charset="0"/>
                <a:ea typeface="仿宋" pitchFamily="49" charset="-122"/>
                <a:cs typeface="Consolas" pitchFamily="49" charset="0"/>
              </a:rPr>
              <a:t>      </a:t>
            </a:r>
            <a:r>
              <a:rPr lang="en-US" altLang="zh-CN" sz="1600" dirty="0">
                <a:solidFill>
                  <a:srgbClr val="1000E4"/>
                </a:solidFill>
                <a:latin typeface="Consolas" pitchFamily="49" charset="0"/>
                <a:ea typeface="仿宋" pitchFamily="49" charset="-122"/>
                <a:cs typeface="Consolas" pitchFamily="49" charset="0"/>
              </a:rPr>
              <a:t>}</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   }</a:t>
            </a:r>
          </a:p>
          <a:p>
            <a:pPr algn="l">
              <a:lnSpc>
                <a:spcPts val="1800"/>
              </a:lnSpc>
            </a:pPr>
            <a:r>
              <a:rPr lang="en-US" altLang="zh-CN" sz="1600" dirty="0">
                <a:solidFill>
                  <a:srgbClr val="1000E4"/>
                </a:solidFill>
                <a:latin typeface="Consolas" pitchFamily="49" charset="0"/>
                <a:ea typeface="仿宋" pitchFamily="49" charset="-122"/>
                <a:cs typeface="Consolas" pitchFamily="49" charset="0"/>
              </a:rPr>
              <a:t>}</a:t>
            </a:r>
          </a:p>
        </p:txBody>
      </p:sp>
      <p:sp>
        <p:nvSpPr>
          <p:cNvPr id="7" name="Text Box 4">
            <a:extLst>
              <a:ext uri="{FF2B5EF4-FFF2-40B4-BE49-F238E27FC236}">
                <a16:creationId xmlns:a16="http://schemas.microsoft.com/office/drawing/2014/main" id="{39E7B506-F87C-45E1-DD6F-2A27E5777A02}"/>
              </a:ext>
            </a:extLst>
          </p:cNvPr>
          <p:cNvSpPr txBox="1">
            <a:spLocks noChangeArrowheads="1"/>
          </p:cNvSpPr>
          <p:nvPr/>
        </p:nvSpPr>
        <p:spPr bwMode="auto">
          <a:xfrm>
            <a:off x="688480" y="1916832"/>
            <a:ext cx="2664296" cy="461665"/>
          </a:xfrm>
          <a:prstGeom prst="rect">
            <a:avLst/>
          </a:prstGeom>
          <a:noFill/>
          <a:ln w="9525">
            <a:noFill/>
            <a:miter lim="800000"/>
            <a:headEnd/>
            <a:tailEnd/>
          </a:ln>
          <a:effectLst/>
        </p:spPr>
        <p:txBody>
          <a:bodyPr wrap="square">
            <a:spAutoFit/>
          </a:bodyPr>
          <a:lstStyle/>
          <a:p>
            <a:pPr algn="l">
              <a:spcBef>
                <a:spcPct val="50000"/>
              </a:spcBef>
            </a:pPr>
            <a:r>
              <a:rPr kumimoji="1" lang="zh-CN" altLang="en-US" sz="2400" dirty="0">
                <a:latin typeface="微软雅黑" pitchFamily="34" charset="-122"/>
                <a:ea typeface="微软雅黑" pitchFamily="34" charset="-122"/>
                <a:cs typeface="经典粗黑简" pitchFamily="49" charset="-122"/>
              </a:rPr>
              <a:t>折半插入排序算法：</a:t>
            </a:r>
          </a:p>
        </p:txBody>
      </p:sp>
    </p:spTree>
    <p:extLst>
      <p:ext uri="{BB962C8B-B14F-4D97-AF65-F5344CB8AC3E}">
        <p14:creationId xmlns:p14="http://schemas.microsoft.com/office/powerpoint/2010/main" val="6481048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a:xfrm>
            <a:off x="1487488" y="2276872"/>
            <a:ext cx="8780249" cy="36724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kumimoji="1" lang="zh-CN" altLang="en-US" sz="2400" dirty="0">
                <a:latin typeface="微软雅黑" pitchFamily="34" charset="-122"/>
                <a:ea typeface="微软雅黑" pitchFamily="34" charset="-122"/>
                <a:cs typeface="经典粗黑简" pitchFamily="49" charset="-122"/>
              </a:rPr>
              <a:t>采用折半插入排序法，可减少关键字的比较次数。每插入一个元素，需要比较的次数最多为折半查找判定树的深度</a:t>
            </a:r>
          </a:p>
          <a:p>
            <a:pPr>
              <a:defRPr/>
            </a:pPr>
            <a:r>
              <a:rPr kumimoji="1" lang="zh-CN" altLang="en-US" sz="2400" dirty="0">
                <a:latin typeface="微软雅黑" pitchFamily="34" charset="-122"/>
                <a:ea typeface="微软雅黑" pitchFamily="34" charset="-122"/>
                <a:cs typeface="经典粗黑简" pitchFamily="49" charset="-122"/>
              </a:rPr>
              <a:t>如插入第</a:t>
            </a:r>
            <a:r>
              <a:rPr kumimoji="1" lang="en-US" altLang="zh-CN" sz="2400" dirty="0">
                <a:latin typeface="微软雅黑" pitchFamily="34" charset="-122"/>
                <a:ea typeface="微软雅黑" pitchFamily="34" charset="-122"/>
                <a:cs typeface="经典粗黑简" pitchFamily="49" charset="-122"/>
              </a:rPr>
              <a:t>i</a:t>
            </a:r>
            <a:r>
              <a:rPr kumimoji="1" lang="zh-CN" altLang="en-US" sz="2400" dirty="0">
                <a:latin typeface="微软雅黑" pitchFamily="34" charset="-122"/>
                <a:ea typeface="微软雅黑" pitchFamily="34" charset="-122"/>
                <a:cs typeface="经典粗黑简" pitchFamily="49" charset="-122"/>
              </a:rPr>
              <a:t>个元素时，则需进行</a:t>
            </a:r>
            <a:r>
              <a:rPr kumimoji="1" lang="en-US" altLang="zh-CN" sz="2400" dirty="0">
                <a:latin typeface="微软雅黑" pitchFamily="34" charset="-122"/>
                <a:ea typeface="微软雅黑" pitchFamily="34" charset="-122"/>
                <a:cs typeface="经典粗黑简" pitchFamily="49" charset="-122"/>
              </a:rPr>
              <a:t>log</a:t>
            </a:r>
            <a:r>
              <a:rPr kumimoji="1" lang="en-US" altLang="zh-CN" sz="2400" baseline="-25000" dirty="0">
                <a:latin typeface="微软雅黑" pitchFamily="34" charset="-122"/>
                <a:ea typeface="微软雅黑" pitchFamily="34" charset="-122"/>
                <a:cs typeface="经典粗黑简" pitchFamily="49" charset="-122"/>
              </a:rPr>
              <a:t>2</a:t>
            </a:r>
            <a:r>
              <a:rPr kumimoji="1" lang="en-US" altLang="zh-CN" sz="2400" dirty="0">
                <a:latin typeface="微软雅黑" pitchFamily="34" charset="-122"/>
                <a:ea typeface="微软雅黑" pitchFamily="34" charset="-122"/>
                <a:cs typeface="经典粗黑简" pitchFamily="49" charset="-122"/>
              </a:rPr>
              <a:t>i</a:t>
            </a:r>
            <a:r>
              <a:rPr kumimoji="1" lang="zh-CN" altLang="en-US" sz="2400" dirty="0">
                <a:latin typeface="微软雅黑" pitchFamily="34" charset="-122"/>
                <a:ea typeface="微软雅黑" pitchFamily="34" charset="-122"/>
                <a:cs typeface="经典粗黑简" pitchFamily="49" charset="-122"/>
              </a:rPr>
              <a:t>次比较，因此插入</a:t>
            </a:r>
            <a:r>
              <a:rPr kumimoji="1" lang="en-US" altLang="zh-CN" sz="2400" dirty="0">
                <a:latin typeface="微软雅黑" pitchFamily="34" charset="-122"/>
                <a:ea typeface="微软雅黑" pitchFamily="34" charset="-122"/>
                <a:cs typeface="经典粗黑简" pitchFamily="49" charset="-122"/>
              </a:rPr>
              <a:t>n</a:t>
            </a:r>
            <a:r>
              <a:rPr kumimoji="1" lang="en-US" altLang="zh-CN" sz="2400" dirty="0">
                <a:latin typeface="微软雅黑" pitchFamily="34" charset="-122"/>
                <a:ea typeface="微软雅黑" pitchFamily="34" charset="-122"/>
                <a:cs typeface="经典粗黑简" pitchFamily="49" charset="-122"/>
                <a:sym typeface="Symbol" pitchFamily="18" charset="2"/>
              </a:rPr>
              <a:t></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个元素的平均比较次数为</a:t>
            </a:r>
            <a:r>
              <a:rPr kumimoji="1" lang="en-US" altLang="zh-CN" sz="2400" dirty="0">
                <a:latin typeface="微软雅黑" pitchFamily="34" charset="-122"/>
                <a:ea typeface="微软雅黑" pitchFamily="34" charset="-122"/>
                <a:cs typeface="经典粗黑简" pitchFamily="49" charset="-122"/>
              </a:rPr>
              <a:t>O(nlog</a:t>
            </a:r>
            <a:r>
              <a:rPr kumimoji="1" lang="en-US" altLang="zh-CN" sz="2400" baseline="-25000" dirty="0">
                <a:latin typeface="微软雅黑" pitchFamily="34" charset="-122"/>
                <a:ea typeface="微软雅黑" pitchFamily="34" charset="-122"/>
                <a:cs typeface="经典粗黑简" pitchFamily="49" charset="-122"/>
              </a:rPr>
              <a:t>2</a:t>
            </a:r>
            <a:r>
              <a:rPr kumimoji="1" lang="en-US" altLang="zh-CN" sz="2400" dirty="0">
                <a:latin typeface="微软雅黑" pitchFamily="34" charset="-122"/>
                <a:ea typeface="微软雅黑" pitchFamily="34" charset="-122"/>
                <a:cs typeface="经典粗黑简" pitchFamily="49" charset="-122"/>
              </a:rPr>
              <a:t>n)</a:t>
            </a:r>
            <a:r>
              <a:rPr kumimoji="1" lang="zh-CN" altLang="en-US" sz="2400" dirty="0">
                <a:latin typeface="微软雅黑" pitchFamily="34" charset="-122"/>
                <a:ea typeface="微软雅黑" pitchFamily="34" charset="-122"/>
                <a:cs typeface="经典粗黑简" pitchFamily="49" charset="-122"/>
              </a:rPr>
              <a:t>。</a:t>
            </a:r>
          </a:p>
          <a:p>
            <a:pPr>
              <a:defRPr/>
            </a:pPr>
            <a:r>
              <a:rPr kumimoji="1" lang="zh-CN" altLang="en-US" sz="2400" dirty="0">
                <a:latin typeface="微软雅黑" pitchFamily="34" charset="-122"/>
                <a:ea typeface="微软雅黑" pitchFamily="34" charset="-122"/>
                <a:cs typeface="经典粗黑简" pitchFamily="49" charset="-122"/>
              </a:rPr>
              <a:t>折半插入排序法与直接插入排序法相比较，虽然改善了算法中比较次数的数量级为</a:t>
            </a:r>
            <a:r>
              <a:rPr kumimoji="1" lang="en-US" altLang="zh-CN" sz="2400" dirty="0">
                <a:latin typeface="微软雅黑" pitchFamily="34" charset="-122"/>
                <a:ea typeface="微软雅黑" pitchFamily="34" charset="-122"/>
                <a:cs typeface="经典粗黑简" pitchFamily="49" charset="-122"/>
              </a:rPr>
              <a:t>O(nlog</a:t>
            </a:r>
            <a:r>
              <a:rPr kumimoji="1" lang="en-US" altLang="zh-CN" sz="2400" baseline="-25000" dirty="0">
                <a:latin typeface="微软雅黑" pitchFamily="34" charset="-122"/>
                <a:ea typeface="微软雅黑" pitchFamily="34" charset="-122"/>
                <a:cs typeface="经典粗黑简" pitchFamily="49" charset="-122"/>
              </a:rPr>
              <a:t>2</a:t>
            </a:r>
            <a:r>
              <a:rPr kumimoji="1" lang="en-US" altLang="zh-CN" sz="2400" dirty="0">
                <a:latin typeface="微软雅黑" pitchFamily="34" charset="-122"/>
                <a:ea typeface="微软雅黑" pitchFamily="34" charset="-122"/>
                <a:cs typeface="经典粗黑简" pitchFamily="49" charset="-122"/>
              </a:rPr>
              <a:t>n)</a:t>
            </a:r>
            <a:r>
              <a:rPr kumimoji="1" lang="zh-CN" altLang="en-US" sz="2400" dirty="0">
                <a:latin typeface="微软雅黑" pitchFamily="34" charset="-122"/>
                <a:ea typeface="微软雅黑" pitchFamily="34" charset="-122"/>
                <a:cs typeface="经典粗黑简" pitchFamily="49" charset="-122"/>
              </a:rPr>
              <a:t>，但其并未改变移动元素的时间耗费，所以折半插入排序总的时间复杂度仍然是</a:t>
            </a:r>
            <a:r>
              <a:rPr kumimoji="1" lang="en-US" altLang="zh-CN" sz="2400" dirty="0">
                <a:latin typeface="微软雅黑" pitchFamily="34" charset="-122"/>
                <a:ea typeface="微软雅黑" pitchFamily="34" charset="-122"/>
                <a:cs typeface="经典粗黑简" pitchFamily="49" charset="-122"/>
              </a:rPr>
              <a:t>O(n</a:t>
            </a:r>
            <a:r>
              <a:rPr kumimoji="1" lang="en-US" altLang="zh-CN" sz="2400" baseline="30000" dirty="0">
                <a:latin typeface="微软雅黑" pitchFamily="34" charset="-122"/>
                <a:ea typeface="微软雅黑" pitchFamily="34" charset="-122"/>
                <a:cs typeface="经典粗黑简" pitchFamily="49" charset="-122"/>
              </a:rPr>
              <a:t>2</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a:t>
            </a:r>
          </a:p>
        </p:txBody>
      </p:sp>
      <p:sp>
        <p:nvSpPr>
          <p:cNvPr id="2" name="矩形 1">
            <a:extLst>
              <a:ext uri="{FF2B5EF4-FFF2-40B4-BE49-F238E27FC236}">
                <a16:creationId xmlns:a16="http://schemas.microsoft.com/office/drawing/2014/main" id="{41D324DE-D665-B339-D9C4-581226EAF14B}"/>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10.2.2 </a:t>
            </a:r>
            <a:r>
              <a:rPr lang="zh-CN" altLang="en-US" sz="2800" b="1" dirty="0">
                <a:solidFill>
                  <a:schemeClr val="bg1"/>
                </a:solidFill>
                <a:latin typeface="经典粗黑简" pitchFamily="49" charset="-122"/>
                <a:ea typeface="经典粗黑简" pitchFamily="49" charset="-122"/>
                <a:cs typeface="经典粗黑简" pitchFamily="49" charset="-122"/>
              </a:rPr>
              <a:t>折半插入排序</a:t>
            </a:r>
          </a:p>
        </p:txBody>
      </p:sp>
      <p:cxnSp>
        <p:nvCxnSpPr>
          <p:cNvPr id="3" name="直接连接符 2">
            <a:extLst>
              <a:ext uri="{FF2B5EF4-FFF2-40B4-BE49-F238E27FC236}">
                <a16:creationId xmlns:a16="http://schemas.microsoft.com/office/drawing/2014/main" id="{23E3CEC2-03B9-E5DB-9A83-42D5671DCE9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2C4B3A1-831C-502F-7467-22396679F11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78358473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3800-4D33-F7CC-6BEA-C31DA4DDFE2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32B148D-8AF8-56F1-7EDB-CEB8F9286118}"/>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10.2.2 </a:t>
            </a:r>
            <a:r>
              <a:rPr lang="zh-CN" altLang="en-US" sz="2800" b="1" dirty="0">
                <a:solidFill>
                  <a:schemeClr val="bg1"/>
                </a:solidFill>
                <a:latin typeface="经典粗黑简" pitchFamily="49" charset="-122"/>
                <a:ea typeface="经典粗黑简" pitchFamily="49" charset="-122"/>
                <a:cs typeface="经典粗黑简" pitchFamily="49" charset="-122"/>
              </a:rPr>
              <a:t>折半插入排序</a:t>
            </a:r>
          </a:p>
        </p:txBody>
      </p:sp>
      <p:cxnSp>
        <p:nvCxnSpPr>
          <p:cNvPr id="4" name="直接连接符 3">
            <a:extLst>
              <a:ext uri="{FF2B5EF4-FFF2-40B4-BE49-F238E27FC236}">
                <a16:creationId xmlns:a16="http://schemas.microsoft.com/office/drawing/2014/main" id="{2A7B7194-6231-4098-85E2-E5B65DB6F1E5}"/>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F8BE502D-78D4-D4B5-BC79-30B06BF74D0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6" name="Rectangle 6">
            <a:extLst>
              <a:ext uri="{FF2B5EF4-FFF2-40B4-BE49-F238E27FC236}">
                <a16:creationId xmlns:a16="http://schemas.microsoft.com/office/drawing/2014/main" id="{63242391-BD2F-77AF-4B3E-E333A904BFAB}"/>
              </a:ext>
            </a:extLst>
          </p:cNvPr>
          <p:cNvSpPr>
            <a:spLocks noChangeArrowheads="1"/>
          </p:cNvSpPr>
          <p:nvPr/>
        </p:nvSpPr>
        <p:spPr bwMode="auto">
          <a:xfrm>
            <a:off x="915446" y="4626704"/>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8" name="Text Box 4">
            <a:extLst>
              <a:ext uri="{FF2B5EF4-FFF2-40B4-BE49-F238E27FC236}">
                <a16:creationId xmlns:a16="http://schemas.microsoft.com/office/drawing/2014/main" id="{875BEDB0-89CD-1C14-D474-E2BC3B470CE2}"/>
              </a:ext>
            </a:extLst>
          </p:cNvPr>
          <p:cNvSpPr txBox="1">
            <a:spLocks noChangeArrowheads="1"/>
          </p:cNvSpPr>
          <p:nvPr/>
        </p:nvSpPr>
        <p:spPr bwMode="auto">
          <a:xfrm>
            <a:off x="1415480" y="2522313"/>
            <a:ext cx="8215370" cy="1407950"/>
          </a:xfrm>
          <a:prstGeom prst="rect">
            <a:avLst/>
          </a:prstGeom>
          <a:noFill/>
          <a:ln w="9525">
            <a:noFill/>
            <a:miter lim="800000"/>
            <a:headEnd/>
            <a:tailEnd/>
          </a:ln>
          <a:effectLst/>
        </p:spPr>
        <p:txBody>
          <a:bodyPr wrap="square">
            <a:spAutoFit/>
          </a:bodyPr>
          <a:lstStyle/>
          <a:p>
            <a:pPr marL="342900" indent="-342900" algn="l">
              <a:lnSpc>
                <a:spcPct val="130000"/>
              </a:lnSpc>
              <a:spcBef>
                <a:spcPct val="50000"/>
              </a:spcBef>
              <a:buBlip>
                <a:blip r:embed="rId2"/>
              </a:buBlip>
            </a:pPr>
            <a:r>
              <a:rPr lang="zh-CN" altLang="en-US" sz="2000">
                <a:latin typeface="Consolas" pitchFamily="49" charset="0"/>
                <a:ea typeface="仿宋" pitchFamily="49" charset="-122"/>
                <a:cs typeface="Consolas" pitchFamily="49" charset="0"/>
              </a:rPr>
              <a:t>在</a:t>
            </a:r>
            <a:r>
              <a:rPr lang="en-US" altLang="zh-CN" sz="2000" i="1" dirty="0">
                <a:latin typeface="Consolas" pitchFamily="49" charset="0"/>
                <a:ea typeface="仿宋" pitchFamily="49" charset="-122"/>
                <a:cs typeface="Consolas" pitchFamily="49" charset="0"/>
              </a:rPr>
              <a:t>R</a:t>
            </a:r>
            <a:r>
              <a:rPr lang="en-US" altLang="zh-CN" sz="2000" dirty="0">
                <a:latin typeface="Consolas" pitchFamily="49" charset="0"/>
                <a:ea typeface="仿宋" pitchFamily="49" charset="-122"/>
                <a:cs typeface="Consolas" pitchFamily="49" charset="0"/>
              </a:rPr>
              <a:t>[</a:t>
            </a:r>
            <a:r>
              <a:rPr lang="en-US" altLang="zh-CN" sz="2000" dirty="0" err="1">
                <a:latin typeface="Consolas" pitchFamily="49" charset="0"/>
                <a:ea typeface="仿宋" pitchFamily="49" charset="-122"/>
                <a:cs typeface="Consolas" pitchFamily="49" charset="0"/>
              </a:rPr>
              <a:t>0..</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中查找插入</a:t>
            </a:r>
            <a:r>
              <a:rPr lang="en-US" altLang="zh-CN" sz="2000" i="1" dirty="0">
                <a:latin typeface="Consolas" pitchFamily="49" charset="0"/>
                <a:ea typeface="仿宋" pitchFamily="49" charset="-122"/>
                <a:cs typeface="Consolas" pitchFamily="49" charset="0"/>
              </a:rPr>
              <a:t>R</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的位置，折半</a:t>
            </a:r>
            <a:r>
              <a:rPr lang="zh-CN" altLang="en-US" sz="2000" dirty="0">
                <a:latin typeface="Consolas" pitchFamily="49" charset="0"/>
                <a:ea typeface="仿宋" pitchFamily="49" charset="-122"/>
                <a:cs typeface="Consolas" pitchFamily="49" charset="0"/>
              </a:rPr>
              <a:t>查找的平均关键字比较次数为</a:t>
            </a:r>
            <a:r>
              <a:rPr lang="en-US" altLang="zh-CN" sz="2000" dirty="0" err="1">
                <a:latin typeface="Consolas" pitchFamily="49" charset="0"/>
                <a:ea typeface="仿宋" pitchFamily="49" charset="-122"/>
                <a:cs typeface="Consolas" pitchFamily="49" charset="0"/>
              </a:rPr>
              <a:t>log</a:t>
            </a:r>
            <a:r>
              <a:rPr lang="en-US" altLang="zh-CN" sz="2000" baseline="-25000" dirty="0" err="1">
                <a:latin typeface="Consolas" pitchFamily="49" charset="0"/>
                <a:ea typeface="仿宋" pitchFamily="49" charset="-122"/>
                <a:cs typeface="Consolas" pitchFamily="49" charset="0"/>
              </a:rPr>
              <a:t>2</a:t>
            </a:r>
            <a:r>
              <a:rPr lang="en-US" altLang="zh-CN" sz="2000" dirty="0">
                <a:latin typeface="Consolas" pitchFamily="49" charset="0"/>
                <a:ea typeface="仿宋" pitchFamily="49" charset="-122"/>
                <a:cs typeface="Consolas" pitchFamily="49" charset="0"/>
              </a:rPr>
              <a:t>(</a:t>
            </a:r>
            <a:r>
              <a:rPr lang="en-US" altLang="zh-CN" sz="2000" i="1" dirty="0" err="1">
                <a:latin typeface="Consolas" pitchFamily="49" charset="0"/>
                <a:ea typeface="仿宋" pitchFamily="49" charset="-122"/>
                <a:cs typeface="Consolas" pitchFamily="49" charset="0"/>
              </a:rPr>
              <a:t>i</a:t>
            </a:r>
            <a:r>
              <a:rPr lang="en-US" altLang="zh-CN" sz="2000" dirty="0" err="1">
                <a:latin typeface="Consolas" pitchFamily="49" charset="0"/>
                <a:ea typeface="仿宋" pitchFamily="49" charset="-122"/>
                <a:cs typeface="Consolas" pitchFamily="49" charset="0"/>
              </a:rPr>
              <a:t>+1</a:t>
            </a:r>
            <a:r>
              <a:rPr lang="en-US" altLang="zh-CN" sz="2000">
                <a:latin typeface="Consolas" pitchFamily="49" charset="0"/>
                <a:ea typeface="仿宋" pitchFamily="49" charset="-122"/>
                <a:cs typeface="Consolas" pitchFamily="49" charset="0"/>
              </a:rPr>
              <a:t>)-1</a:t>
            </a:r>
            <a:r>
              <a:rPr lang="zh-CN" altLang="en-US" sz="2000">
                <a:latin typeface="Consolas" pitchFamily="49" charset="0"/>
                <a:ea typeface="仿宋" pitchFamily="49" charset="-122"/>
                <a:cs typeface="Consolas" pitchFamily="49" charset="0"/>
              </a:rPr>
              <a:t>。</a:t>
            </a:r>
            <a:endParaRPr lang="en-US" altLang="zh-CN" sz="2000">
              <a:latin typeface="Consolas" pitchFamily="49" charset="0"/>
              <a:ea typeface="仿宋" pitchFamily="49" charset="-122"/>
              <a:cs typeface="Consolas" pitchFamily="49" charset="0"/>
            </a:endParaRPr>
          </a:p>
          <a:p>
            <a:pPr marL="342900" indent="-342900" algn="l">
              <a:lnSpc>
                <a:spcPct val="130000"/>
              </a:lnSpc>
              <a:spcBef>
                <a:spcPct val="50000"/>
              </a:spcBef>
              <a:buBlip>
                <a:blip r:embed="rId2"/>
              </a:buBlip>
            </a:pPr>
            <a:r>
              <a:rPr lang="zh-CN" altLang="en-US" sz="2000">
                <a:latin typeface="Consolas" pitchFamily="49" charset="0"/>
                <a:ea typeface="仿宋" pitchFamily="49" charset="-122"/>
                <a:cs typeface="Consolas" pitchFamily="49" charset="0"/>
              </a:rPr>
              <a:t>平均</a:t>
            </a:r>
            <a:r>
              <a:rPr lang="zh-CN" altLang="en-US" sz="2000" dirty="0">
                <a:latin typeface="Consolas" pitchFamily="49" charset="0"/>
                <a:ea typeface="仿宋" pitchFamily="49" charset="-122"/>
                <a:cs typeface="Consolas" pitchFamily="49" charset="0"/>
              </a:rPr>
              <a:t>移动元素的次数</a:t>
            </a:r>
            <a:r>
              <a:rPr lang="zh-CN" altLang="en-US" sz="2000">
                <a:latin typeface="Consolas" pitchFamily="49" charset="0"/>
                <a:ea typeface="仿宋" pitchFamily="49" charset="-122"/>
                <a:cs typeface="Consolas" pitchFamily="49" charset="0"/>
              </a:rPr>
              <a:t>为</a:t>
            </a:r>
            <a:r>
              <a:rPr lang="en-US" altLang="zh-CN" sz="2000" i="1">
                <a:latin typeface="Consolas" pitchFamily="49" charset="0"/>
                <a:ea typeface="仿宋" pitchFamily="49" charset="-122"/>
                <a:cs typeface="Consolas" pitchFamily="49" charset="0"/>
              </a:rPr>
              <a:t>i</a:t>
            </a:r>
            <a:r>
              <a:rPr lang="en-US" altLang="zh-CN" sz="2000">
                <a:latin typeface="Consolas" pitchFamily="49" charset="0"/>
                <a:ea typeface="仿宋" pitchFamily="49" charset="-122"/>
                <a:cs typeface="Consolas" pitchFamily="49" charset="0"/>
              </a:rPr>
              <a:t>/2+2</a:t>
            </a:r>
            <a:r>
              <a:rPr lang="zh-CN" altLang="en-US" sz="2000">
                <a:latin typeface="Consolas" pitchFamily="49" charset="0"/>
                <a:ea typeface="仿宋" pitchFamily="49" charset="-122"/>
                <a:cs typeface="Consolas" pitchFamily="49" charset="0"/>
              </a:rPr>
              <a:t>。</a:t>
            </a:r>
            <a:endParaRPr lang="zh-CN" altLang="en-US" sz="2000" dirty="0">
              <a:latin typeface="Consolas" pitchFamily="49" charset="0"/>
              <a:ea typeface="仿宋" pitchFamily="49" charset="-122"/>
              <a:cs typeface="Consolas" pitchFamily="49" charset="0"/>
            </a:endParaRPr>
          </a:p>
        </p:txBody>
      </p:sp>
      <p:sp>
        <p:nvSpPr>
          <p:cNvPr id="9" name="Text Box 2">
            <a:extLst>
              <a:ext uri="{FF2B5EF4-FFF2-40B4-BE49-F238E27FC236}">
                <a16:creationId xmlns:a16="http://schemas.microsoft.com/office/drawing/2014/main" id="{BF882742-62AD-5596-575B-CECC3CC0F123}"/>
              </a:ext>
            </a:extLst>
          </p:cNvPr>
          <p:cNvSpPr txBox="1">
            <a:spLocks noChangeArrowheads="1"/>
          </p:cNvSpPr>
          <p:nvPr/>
        </p:nvSpPr>
        <p:spPr bwMode="auto">
          <a:xfrm>
            <a:off x="1486918" y="1807933"/>
            <a:ext cx="1785950" cy="40011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kumimoji="1" lang="zh-CN" altLang="en-US" sz="2000" dirty="0">
                <a:solidFill>
                  <a:srgbClr val="F92D37"/>
                </a:solidFill>
                <a:latin typeface="微软雅黑" pitchFamily="34" charset="-122"/>
                <a:ea typeface="微软雅黑" pitchFamily="34" charset="-122"/>
              </a:rPr>
              <a:t>算法分析</a:t>
            </a:r>
          </a:p>
        </p:txBody>
      </p:sp>
      <p:sp>
        <p:nvSpPr>
          <p:cNvPr id="10" name="TextBox 6">
            <a:extLst>
              <a:ext uri="{FF2B5EF4-FFF2-40B4-BE49-F238E27FC236}">
                <a16:creationId xmlns:a16="http://schemas.microsoft.com/office/drawing/2014/main" id="{0D6E24DB-68AA-4C2F-A299-7F5F7D552011}"/>
              </a:ext>
            </a:extLst>
          </p:cNvPr>
          <p:cNvSpPr txBox="1"/>
          <p:nvPr/>
        </p:nvSpPr>
        <p:spPr>
          <a:xfrm>
            <a:off x="1631504" y="5100013"/>
            <a:ext cx="8568952" cy="92497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342900" indent="-342900" algn="l">
              <a:lnSpc>
                <a:spcPts val="3200"/>
              </a:lnSpc>
              <a:buBlip>
                <a:blip r:embed="rId3"/>
              </a:buBlip>
            </a:pPr>
            <a:r>
              <a:rPr lang="zh-CN" altLang="en-US" sz="2000">
                <a:latin typeface="Consolas" pitchFamily="49" charset="0"/>
                <a:ea typeface="仿宋" pitchFamily="49" charset="-122"/>
                <a:cs typeface="Consolas" pitchFamily="49" charset="0"/>
              </a:rPr>
              <a:t>折半</a:t>
            </a:r>
            <a:r>
              <a:rPr lang="zh-CN" altLang="en-US" sz="2000" dirty="0">
                <a:latin typeface="Consolas" pitchFamily="49" charset="0"/>
                <a:ea typeface="仿宋" pitchFamily="49" charset="-122"/>
                <a:cs typeface="Consolas" pitchFamily="49" charset="0"/>
              </a:rPr>
              <a:t>插入排序采用</a:t>
            </a:r>
            <a:r>
              <a:rPr lang="zh-CN" altLang="en-US" sz="2000">
                <a:latin typeface="Consolas" pitchFamily="49" charset="0"/>
                <a:ea typeface="仿宋" pitchFamily="49" charset="-122"/>
                <a:cs typeface="Consolas" pitchFamily="49" charset="0"/>
              </a:rPr>
              <a:t>折半查找，查找效率提高，即关键字比较次数减少了。</a:t>
            </a:r>
            <a:endParaRPr lang="en-US" altLang="zh-CN" sz="2000">
              <a:latin typeface="Consolas" pitchFamily="49" charset="0"/>
              <a:ea typeface="仿宋" pitchFamily="49" charset="-122"/>
              <a:cs typeface="Consolas" pitchFamily="49" charset="0"/>
            </a:endParaRPr>
          </a:p>
          <a:p>
            <a:pPr marL="342900" indent="-342900" algn="l">
              <a:lnSpc>
                <a:spcPts val="3200"/>
              </a:lnSpc>
              <a:buBlip>
                <a:blip r:embed="rId3"/>
              </a:buBlip>
            </a:pPr>
            <a:r>
              <a:rPr lang="zh-CN" altLang="en-US" sz="2000">
                <a:latin typeface="Consolas" pitchFamily="49" charset="0"/>
                <a:ea typeface="仿宋" pitchFamily="49" charset="-122"/>
                <a:cs typeface="Consolas" pitchFamily="49" charset="0"/>
              </a:rPr>
              <a:t>但元素移动次数不变，仅仅将分散移动改为</a:t>
            </a:r>
            <a:r>
              <a:rPr lang="zh-CN" altLang="en-US" sz="2000" dirty="0">
                <a:latin typeface="Consolas" pitchFamily="49" charset="0"/>
                <a:ea typeface="仿宋" pitchFamily="49" charset="-122"/>
                <a:cs typeface="Consolas" pitchFamily="49" charset="0"/>
              </a:rPr>
              <a:t>集合移动。</a:t>
            </a:r>
          </a:p>
        </p:txBody>
      </p:sp>
      <p:pic>
        <p:nvPicPr>
          <p:cNvPr id="11" name="Picture 6">
            <a:extLst>
              <a:ext uri="{FF2B5EF4-FFF2-40B4-BE49-F238E27FC236}">
                <a16:creationId xmlns:a16="http://schemas.microsoft.com/office/drawing/2014/main" id="{E748F7C9-D072-99B8-1E3C-AF8C814F656A}"/>
              </a:ext>
            </a:extLst>
          </p:cNvPr>
          <p:cNvPicPr>
            <a:picLocks noChangeAspect="1" noChangeArrowheads="1"/>
          </p:cNvPicPr>
          <p:nvPr/>
        </p:nvPicPr>
        <p:blipFill>
          <a:blip r:embed="rId4" cstate="print"/>
          <a:srcRect/>
          <a:stretch>
            <a:fillRect/>
          </a:stretch>
        </p:blipFill>
        <p:spPr bwMode="auto">
          <a:xfrm>
            <a:off x="2701364" y="4075415"/>
            <a:ext cx="3857652" cy="913240"/>
          </a:xfrm>
          <a:prstGeom prst="rect">
            <a:avLst/>
          </a:prstGeom>
          <a:noFill/>
          <a:ln w="9525">
            <a:noFill/>
            <a:miter lim="800000"/>
            <a:headEnd/>
            <a:tailEnd/>
          </a:ln>
        </p:spPr>
      </p:pic>
    </p:spTree>
    <p:extLst>
      <p:ext uri="{BB962C8B-B14F-4D97-AF65-F5344CB8AC3E}">
        <p14:creationId xmlns:p14="http://schemas.microsoft.com/office/powerpoint/2010/main" val="37791543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C79A-25B4-1EDB-8730-8F27D0DB2D1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C5C3EC5-CC04-2B82-3171-9A3ACC16673D}"/>
              </a:ext>
            </a:extLst>
          </p:cNvPr>
          <p:cNvSpPr/>
          <p:nvPr/>
        </p:nvSpPr>
        <p:spPr>
          <a:xfrm>
            <a:off x="335360" y="1082555"/>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10.2.2 </a:t>
            </a:r>
            <a:r>
              <a:rPr lang="zh-CN" altLang="en-US" sz="2800" b="1" dirty="0">
                <a:solidFill>
                  <a:schemeClr val="bg1"/>
                </a:solidFill>
                <a:latin typeface="经典粗黑简" pitchFamily="49" charset="-122"/>
                <a:ea typeface="经典粗黑简" pitchFamily="49" charset="-122"/>
                <a:cs typeface="经典粗黑简" pitchFamily="49" charset="-122"/>
              </a:rPr>
              <a:t>折半插入排序</a:t>
            </a:r>
          </a:p>
        </p:txBody>
      </p:sp>
      <p:cxnSp>
        <p:nvCxnSpPr>
          <p:cNvPr id="4" name="直接连接符 3">
            <a:extLst>
              <a:ext uri="{FF2B5EF4-FFF2-40B4-BE49-F238E27FC236}">
                <a16:creationId xmlns:a16="http://schemas.microsoft.com/office/drawing/2014/main" id="{204668F8-ABBD-9D0D-C493-7E753CF3D365}"/>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50143EC1-2A83-ACAE-5CD6-68EC401FA395}"/>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3" name="Text Box 3">
            <a:extLst>
              <a:ext uri="{FF2B5EF4-FFF2-40B4-BE49-F238E27FC236}">
                <a16:creationId xmlns:a16="http://schemas.microsoft.com/office/drawing/2014/main" id="{0F8EF5A4-6099-53CD-320E-9180D5A15B41}"/>
              </a:ext>
            </a:extLst>
          </p:cNvPr>
          <p:cNvSpPr txBox="1">
            <a:spLocks noChangeArrowheads="1"/>
          </p:cNvSpPr>
          <p:nvPr/>
        </p:nvSpPr>
        <p:spPr bwMode="auto">
          <a:xfrm>
            <a:off x="3059885" y="5025229"/>
            <a:ext cx="3929090"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solidFill>
                  <a:srgbClr val="FF3300"/>
                </a:solidFill>
                <a:latin typeface="Consolas" pitchFamily="49" charset="0"/>
                <a:ea typeface="楷体" pitchFamily="49" charset="-122"/>
                <a:cs typeface="Consolas" pitchFamily="49" charset="0"/>
              </a:rPr>
              <a:t>说明：本题为</a:t>
            </a:r>
            <a:r>
              <a:rPr lang="en-US" altLang="zh-CN" sz="2000" dirty="0">
                <a:solidFill>
                  <a:srgbClr val="FF3300"/>
                </a:solidFill>
                <a:latin typeface="Consolas" pitchFamily="49" charset="0"/>
                <a:ea typeface="楷体" pitchFamily="49" charset="-122"/>
                <a:cs typeface="Consolas" pitchFamily="49" charset="0"/>
              </a:rPr>
              <a:t>2012</a:t>
            </a:r>
            <a:r>
              <a:rPr lang="zh-CN" altLang="en-US" sz="2000" dirty="0">
                <a:solidFill>
                  <a:srgbClr val="FF3300"/>
                </a:solidFill>
                <a:latin typeface="Consolas" pitchFamily="49" charset="0"/>
                <a:ea typeface="楷体" pitchFamily="49" charset="-122"/>
                <a:cs typeface="Consolas" pitchFamily="49" charset="0"/>
              </a:rPr>
              <a:t>年全国考研题 </a:t>
            </a:r>
          </a:p>
        </p:txBody>
      </p:sp>
      <p:sp>
        <p:nvSpPr>
          <p:cNvPr id="7" name="TextBox 5">
            <a:extLst>
              <a:ext uri="{FF2B5EF4-FFF2-40B4-BE49-F238E27FC236}">
                <a16:creationId xmlns:a16="http://schemas.microsoft.com/office/drawing/2014/main" id="{3EC30BE4-FD50-01D9-F0E4-B093ADE9177F}"/>
              </a:ext>
            </a:extLst>
          </p:cNvPr>
          <p:cNvSpPr txBox="1"/>
          <p:nvPr/>
        </p:nvSpPr>
        <p:spPr>
          <a:xfrm>
            <a:off x="2059753" y="2024833"/>
            <a:ext cx="8072494" cy="2808333"/>
          </a:xfrm>
          <a:prstGeom prst="rect">
            <a:avLst/>
          </a:prstGeom>
          <a:noFill/>
        </p:spPr>
        <p:txBody>
          <a:bodyPr wrap="square" rtlCol="0">
            <a:spAutoFit/>
          </a:bodyPr>
          <a:lstStyle/>
          <a:p>
            <a:pPr algn="l">
              <a:lnSpc>
                <a:spcPct val="150000"/>
              </a:lnSpc>
            </a:pPr>
            <a:r>
              <a:rPr lang="zh-CN" altLang="en-US" sz="2000">
                <a:latin typeface="Consolas" pitchFamily="49" charset="0"/>
                <a:ea typeface="楷体" pitchFamily="49" charset="-122"/>
                <a:cs typeface="Consolas" pitchFamily="49" charset="0"/>
              </a:rPr>
              <a:t>   对</a:t>
            </a:r>
            <a:r>
              <a:rPr lang="zh-CN" altLang="en-US" sz="2000" dirty="0">
                <a:latin typeface="Consolas" pitchFamily="49" charset="0"/>
                <a:ea typeface="楷体" pitchFamily="49" charset="-122"/>
                <a:cs typeface="Consolas" pitchFamily="49" charset="0"/>
              </a:rPr>
              <a:t>同一待排序序列分别进行折半插入排序和</a:t>
            </a:r>
            <a:r>
              <a:rPr lang="zh-CN" altLang="en-US" sz="2000">
                <a:latin typeface="Consolas" pitchFamily="49" charset="0"/>
                <a:ea typeface="楷体" pitchFamily="49" charset="-122"/>
                <a:cs typeface="Consolas" pitchFamily="49" charset="0"/>
              </a:rPr>
              <a:t>直接插入排序，两者</a:t>
            </a:r>
            <a:r>
              <a:rPr lang="zh-CN" altLang="en-US" sz="2000" dirty="0">
                <a:latin typeface="Consolas" pitchFamily="49" charset="0"/>
                <a:ea typeface="楷体" pitchFamily="49" charset="-122"/>
                <a:cs typeface="Consolas" pitchFamily="49" charset="0"/>
              </a:rPr>
              <a:t>之间可能的不同之</a:t>
            </a:r>
            <a:r>
              <a:rPr lang="zh-CN" altLang="en-US" sz="2000">
                <a:latin typeface="Consolas" pitchFamily="49" charset="0"/>
                <a:ea typeface="楷体" pitchFamily="49" charset="-122"/>
                <a:cs typeface="Consolas" pitchFamily="49" charset="0"/>
              </a:rPr>
              <a:t>处是（  ）。</a:t>
            </a:r>
            <a:endParaRPr lang="zh-CN" altLang="en-US" sz="2000" dirty="0">
              <a:latin typeface="Consolas" pitchFamily="49" charset="0"/>
              <a:ea typeface="楷体" pitchFamily="49" charset="-122"/>
              <a:cs typeface="Consolas" pitchFamily="49" charset="0"/>
            </a:endParaRPr>
          </a:p>
          <a:p>
            <a:pPr algn="l">
              <a:lnSpc>
                <a:spcPct val="150000"/>
              </a:lnSpc>
            </a:pPr>
            <a:r>
              <a:rPr lang="pt-BR" sz="2000">
                <a:latin typeface="Consolas" pitchFamily="49" charset="0"/>
                <a:ea typeface="仿宋" pitchFamily="49" charset="-122"/>
                <a:cs typeface="Consolas" pitchFamily="49" charset="0"/>
              </a:rPr>
              <a:t>   A</a:t>
            </a:r>
            <a:r>
              <a:rPr lang="pt-BR"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排序的总趟数</a:t>
            </a:r>
            <a:r>
              <a:rPr lang="pt-BR" sz="2000" dirty="0">
                <a:latin typeface="Consolas" pitchFamily="49" charset="0"/>
                <a:ea typeface="仿宋" pitchFamily="49" charset="-122"/>
                <a:cs typeface="Consolas" pitchFamily="49" charset="0"/>
              </a:rPr>
              <a:t>				</a:t>
            </a:r>
            <a:r>
              <a:rPr lang="pt-BR" sz="2000">
                <a:latin typeface="Consolas" pitchFamily="49" charset="0"/>
                <a:ea typeface="仿宋" pitchFamily="49" charset="-122"/>
                <a:cs typeface="Consolas" pitchFamily="49" charset="0"/>
              </a:rPr>
              <a:t>	</a:t>
            </a:r>
            <a:endParaRPr lang="pt-BR" sz="2000" dirty="0">
              <a:latin typeface="Consolas" pitchFamily="49" charset="0"/>
              <a:ea typeface="仿宋" pitchFamily="49" charset="-122"/>
              <a:cs typeface="Consolas" pitchFamily="49" charset="0"/>
            </a:endParaRPr>
          </a:p>
          <a:p>
            <a:pPr algn="l">
              <a:lnSpc>
                <a:spcPct val="150000"/>
              </a:lnSpc>
            </a:pPr>
            <a:r>
              <a:rPr lang="pt-BR" sz="2000">
                <a:latin typeface="Consolas" pitchFamily="49" charset="0"/>
                <a:ea typeface="仿宋" pitchFamily="49" charset="-122"/>
                <a:cs typeface="Consolas" pitchFamily="49" charset="0"/>
              </a:rPr>
              <a:t>   B</a:t>
            </a:r>
            <a:r>
              <a:rPr lang="pt-BR"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元素的移动次数</a:t>
            </a:r>
          </a:p>
          <a:p>
            <a:pPr algn="l">
              <a:lnSpc>
                <a:spcPct val="150000"/>
              </a:lnSpc>
            </a:pPr>
            <a:r>
              <a:rPr lang="pt-BR" sz="2000">
                <a:latin typeface="Consolas" pitchFamily="49" charset="0"/>
                <a:ea typeface="仿宋" pitchFamily="49" charset="-122"/>
                <a:cs typeface="Consolas" pitchFamily="49" charset="0"/>
              </a:rPr>
              <a:t>   C</a:t>
            </a:r>
            <a:r>
              <a:rPr lang="pt-BR" sz="2000" dirty="0">
                <a:latin typeface="Consolas" pitchFamily="49" charset="0"/>
                <a:ea typeface="仿宋" pitchFamily="49" charset="-122"/>
                <a:cs typeface="Consolas" pitchFamily="49" charset="0"/>
              </a:rPr>
              <a:t>.</a:t>
            </a:r>
            <a:r>
              <a:rPr lang="zh-CN" altLang="en-US" sz="2000" dirty="0">
                <a:latin typeface="Consolas" pitchFamily="49" charset="0"/>
                <a:ea typeface="仿宋" pitchFamily="49" charset="-122"/>
                <a:cs typeface="Consolas" pitchFamily="49" charset="0"/>
              </a:rPr>
              <a:t>使用辅助空间的数量</a:t>
            </a:r>
            <a:r>
              <a:rPr lang="pt-BR" sz="2000" dirty="0">
                <a:latin typeface="Consolas" pitchFamily="49" charset="0"/>
                <a:ea typeface="仿宋" pitchFamily="49" charset="-122"/>
                <a:cs typeface="Consolas" pitchFamily="49" charset="0"/>
              </a:rPr>
              <a:t>				</a:t>
            </a:r>
          </a:p>
          <a:p>
            <a:pPr algn="l">
              <a:lnSpc>
                <a:spcPct val="150000"/>
              </a:lnSpc>
            </a:pPr>
            <a:r>
              <a:rPr lang="pt-BR" sz="2000">
                <a:latin typeface="Consolas" pitchFamily="49" charset="0"/>
                <a:ea typeface="仿宋" pitchFamily="49" charset="-122"/>
                <a:cs typeface="Consolas" pitchFamily="49" charset="0"/>
              </a:rPr>
              <a:t>   </a:t>
            </a:r>
            <a:r>
              <a:rPr lang="pt-BR" sz="2000">
                <a:solidFill>
                  <a:srgbClr val="FF00FF"/>
                </a:solidFill>
                <a:latin typeface="Consolas" pitchFamily="49" charset="0"/>
                <a:ea typeface="仿宋" pitchFamily="49" charset="-122"/>
                <a:cs typeface="Consolas" pitchFamily="49" charset="0"/>
              </a:rPr>
              <a:t>D</a:t>
            </a:r>
            <a:r>
              <a:rPr lang="pt-BR" sz="2000" dirty="0">
                <a:solidFill>
                  <a:srgbClr val="FF00FF"/>
                </a:solidFill>
                <a:latin typeface="Consolas" pitchFamily="49" charset="0"/>
                <a:ea typeface="仿宋" pitchFamily="49" charset="-122"/>
                <a:cs typeface="Consolas" pitchFamily="49" charset="0"/>
              </a:rPr>
              <a:t>.</a:t>
            </a:r>
            <a:r>
              <a:rPr lang="zh-CN" altLang="en-US" sz="2000" dirty="0">
                <a:solidFill>
                  <a:srgbClr val="FF00FF"/>
                </a:solidFill>
                <a:latin typeface="Consolas" pitchFamily="49" charset="0"/>
                <a:ea typeface="仿宋" pitchFamily="49" charset="-122"/>
                <a:cs typeface="Consolas" pitchFamily="49" charset="0"/>
              </a:rPr>
              <a:t>元素之间的比较次数</a:t>
            </a:r>
          </a:p>
        </p:txBody>
      </p:sp>
    </p:spTree>
    <p:extLst>
      <p:ext uri="{BB962C8B-B14F-4D97-AF65-F5344CB8AC3E}">
        <p14:creationId xmlns:p14="http://schemas.microsoft.com/office/powerpoint/2010/main" val="110320516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23592" y="2060848"/>
            <a:ext cx="7128792" cy="830997"/>
          </a:xfrm>
          <a:prstGeom prst="rect">
            <a:avLst/>
          </a:prstGeom>
        </p:spPr>
        <p:txBody>
          <a:bodyPr wrap="square">
            <a:spAutoFit/>
          </a:bodyPr>
          <a:lstStyle/>
          <a:p>
            <a:pPr>
              <a:buSzPct val="75000"/>
            </a:pPr>
            <a:r>
              <a:rPr kumimoji="1" lang="zh-CN" altLang="en-US" sz="2400" dirty="0">
                <a:solidFill>
                  <a:prstClr val="black"/>
                </a:solidFill>
                <a:latin typeface="微软雅黑" pitchFamily="34" charset="-122"/>
                <a:ea typeface="微软雅黑" pitchFamily="34" charset="-122"/>
                <a:cs typeface="经典粗黑简" pitchFamily="49" charset="-122"/>
              </a:rPr>
              <a:t>希尔排序</a:t>
            </a:r>
            <a:r>
              <a:rPr kumimoji="1" lang="en-US" altLang="zh-CN" sz="2400" dirty="0">
                <a:solidFill>
                  <a:prstClr val="black"/>
                </a:solidFill>
                <a:latin typeface="微软雅黑" pitchFamily="34" charset="-122"/>
                <a:ea typeface="微软雅黑" pitchFamily="34" charset="-122"/>
                <a:cs typeface="经典粗黑简" pitchFamily="49" charset="-122"/>
              </a:rPr>
              <a:t>(</a:t>
            </a:r>
            <a:r>
              <a:rPr lang="en-US" altLang="zh-CN" sz="2400" dirty="0">
                <a:latin typeface="Times New Roman" pitchFamily="18" charset="0"/>
                <a:ea typeface="隶书" pitchFamily="49" charset="-122"/>
                <a:cs typeface="Times New Roman" pitchFamily="18" charset="0"/>
              </a:rPr>
              <a:t>Shell’s Sort</a:t>
            </a:r>
            <a:r>
              <a:rPr kumimoji="1" lang="en-US" altLang="zh-CN" sz="2400" dirty="0">
                <a:solidFill>
                  <a:prstClr val="black"/>
                </a:solidFill>
                <a:latin typeface="微软雅黑" pitchFamily="34" charset="-122"/>
                <a:ea typeface="微软雅黑" pitchFamily="34" charset="-122"/>
                <a:cs typeface="经典粗黑简" pitchFamily="49" charset="-122"/>
              </a:rPr>
              <a:t>)</a:t>
            </a:r>
            <a:r>
              <a:rPr kumimoji="1" lang="zh-CN" altLang="en-US" sz="2400" dirty="0">
                <a:solidFill>
                  <a:prstClr val="black"/>
                </a:solidFill>
                <a:latin typeface="微软雅黑" pitchFamily="34" charset="-122"/>
                <a:ea typeface="微软雅黑" pitchFamily="34" charset="-122"/>
                <a:cs typeface="经典粗黑简" pitchFamily="49" charset="-122"/>
              </a:rPr>
              <a:t>也称为</a:t>
            </a:r>
            <a:r>
              <a:rPr kumimoji="1" lang="zh-CN" altLang="en-US" sz="2400" dirty="0">
                <a:solidFill>
                  <a:srgbClr val="FF0000"/>
                </a:solidFill>
                <a:latin typeface="微软雅黑" pitchFamily="34" charset="-122"/>
                <a:ea typeface="微软雅黑" pitchFamily="34" charset="-122"/>
                <a:cs typeface="经典粗黑简" pitchFamily="49" charset="-122"/>
              </a:rPr>
              <a:t>缩小增量</a:t>
            </a:r>
            <a:r>
              <a:rPr kumimoji="1" lang="zh-CN" altLang="en-US" sz="2400" dirty="0">
                <a:solidFill>
                  <a:prstClr val="black"/>
                </a:solidFill>
                <a:latin typeface="微软雅黑" pitchFamily="34" charset="-122"/>
                <a:ea typeface="微软雅黑" pitchFamily="34" charset="-122"/>
                <a:cs typeface="经典粗黑简" pitchFamily="49" charset="-122"/>
              </a:rPr>
              <a:t>排序，其改进原理主要基于以下两点：</a:t>
            </a:r>
          </a:p>
        </p:txBody>
      </p:sp>
      <p:sp>
        <p:nvSpPr>
          <p:cNvPr id="8" name="矩形 7"/>
          <p:cNvSpPr/>
          <p:nvPr/>
        </p:nvSpPr>
        <p:spPr>
          <a:xfrm>
            <a:off x="3071664" y="2937137"/>
            <a:ext cx="7200800"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、元素基本有序时，直接插入排序的时间复杂度接近于</a:t>
            </a:r>
            <a:r>
              <a:rPr kumimoji="1" lang="en-US" altLang="zh-CN" sz="2000" dirty="0">
                <a:latin typeface="微软雅黑" pitchFamily="34" charset="-122"/>
                <a:ea typeface="微软雅黑" pitchFamily="34" charset="-122"/>
                <a:cs typeface="经典粗黑简" pitchFamily="49" charset="-122"/>
              </a:rPr>
              <a:t>O(n</a:t>
            </a:r>
            <a:r>
              <a:rPr kumimoji="1" lang="zh-CN" altLang="en-US" sz="2000" dirty="0">
                <a:latin typeface="微软雅黑" pitchFamily="34" charset="-122"/>
                <a:ea typeface="微软雅黑" pitchFamily="34" charset="-122"/>
                <a:cs typeface="经典粗黑简" pitchFamily="49" charset="-122"/>
              </a:rPr>
              <a:t>）；</a:t>
            </a:r>
          </a:p>
        </p:txBody>
      </p:sp>
      <p:sp>
        <p:nvSpPr>
          <p:cNvPr id="9" name="矩形 8"/>
          <p:cNvSpPr/>
          <p:nvPr/>
        </p:nvSpPr>
        <p:spPr>
          <a:xfrm>
            <a:off x="3071664" y="3528302"/>
            <a:ext cx="5880136" cy="400110"/>
          </a:xfrm>
          <a:prstGeom prst="rect">
            <a:avLst/>
          </a:prstGeom>
        </p:spPr>
        <p:txBody>
          <a:bodyPr wrap="none">
            <a:spAutoFit/>
          </a:bodyPr>
          <a:lstStyle/>
          <a:p>
            <a:pPr marL="0" lvl="1"/>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、元素数目</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较少时，直接插入排序的效率较高；</a:t>
            </a:r>
          </a:p>
        </p:txBody>
      </p:sp>
      <p:sp>
        <p:nvSpPr>
          <p:cNvPr id="11" name="矩形 10"/>
          <p:cNvSpPr/>
          <p:nvPr/>
        </p:nvSpPr>
        <p:spPr>
          <a:xfrm>
            <a:off x="2423593" y="4149080"/>
            <a:ext cx="3366119" cy="461665"/>
          </a:xfrm>
          <a:prstGeom prst="rect">
            <a:avLst/>
          </a:prstGeom>
        </p:spPr>
        <p:txBody>
          <a:bodyPr wrap="square">
            <a:spAutoFit/>
          </a:bodyPr>
          <a:lstStyle/>
          <a:p>
            <a:pPr lvl="0">
              <a:buClr>
                <a:srgbClr val="800080"/>
              </a:buClr>
              <a:buSzPct val="75000"/>
            </a:pPr>
            <a:r>
              <a:rPr kumimoji="1" lang="zh-CN" altLang="en-US" sz="2400" dirty="0">
                <a:solidFill>
                  <a:prstClr val="black"/>
                </a:solidFill>
                <a:latin typeface="微软雅黑" pitchFamily="34" charset="-122"/>
                <a:ea typeface="微软雅黑" pitchFamily="34" charset="-122"/>
                <a:cs typeface="经典粗黑简" pitchFamily="49" charset="-122"/>
              </a:rPr>
              <a:t>希尔排序的算法思想：</a:t>
            </a:r>
          </a:p>
        </p:txBody>
      </p:sp>
      <p:sp>
        <p:nvSpPr>
          <p:cNvPr id="12" name="矩形 11"/>
          <p:cNvSpPr/>
          <p:nvPr/>
        </p:nvSpPr>
        <p:spPr>
          <a:xfrm>
            <a:off x="2557146" y="4725144"/>
            <a:ext cx="7110536" cy="1323439"/>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      先将整个待排序元素序列分割成若干个子序列（由相隔某个“增量”的元素组成的），分别进行直接插入排序，待整个序列中的元素基本有序（增量足够小）时，再对全体元素进行一次直接插入排序。</a:t>
            </a:r>
          </a:p>
        </p:txBody>
      </p:sp>
      <p:sp>
        <p:nvSpPr>
          <p:cNvPr id="2" name="矩形 1">
            <a:extLst>
              <a:ext uri="{FF2B5EF4-FFF2-40B4-BE49-F238E27FC236}">
                <a16:creationId xmlns:a16="http://schemas.microsoft.com/office/drawing/2014/main" id="{D22A802C-1E7A-6AFD-FF4B-EEF3F08DA71F}"/>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10.2.3 </a:t>
            </a:r>
            <a:r>
              <a:rPr lang="zh-CN" altLang="en-US" sz="2800" b="1" dirty="0">
                <a:solidFill>
                  <a:schemeClr val="bg1"/>
                </a:solidFill>
                <a:latin typeface="经典粗黑简" pitchFamily="49" charset="-122"/>
                <a:ea typeface="经典粗黑简" pitchFamily="49" charset="-122"/>
                <a:cs typeface="经典粗黑简" pitchFamily="49" charset="-122"/>
              </a:rPr>
              <a:t>希尔排序</a:t>
            </a:r>
          </a:p>
        </p:txBody>
      </p:sp>
      <p:cxnSp>
        <p:nvCxnSpPr>
          <p:cNvPr id="4" name="直接连接符 3">
            <a:extLst>
              <a:ext uri="{FF2B5EF4-FFF2-40B4-BE49-F238E27FC236}">
                <a16:creationId xmlns:a16="http://schemas.microsoft.com/office/drawing/2014/main" id="{502636C9-48CC-D42C-608A-BC7D23796ED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DCC7ADD-5998-09FF-1C56-55E33C04FE75}"/>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9531716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bwMode="auto">
          <a:xfrm>
            <a:off x="1595214" y="2144216"/>
            <a:ext cx="2268538" cy="457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Tx/>
              <a:buNone/>
            </a:pPr>
            <a:r>
              <a:rPr kumimoji="1" lang="zh-CN" altLang="en-US" sz="2000" dirty="0">
                <a:latin typeface="微软雅黑" pitchFamily="34" charset="-122"/>
                <a:ea typeface="微软雅黑" pitchFamily="34" charset="-122"/>
                <a:cs typeface="经典粗黑简" pitchFamily="49" charset="-122"/>
              </a:rPr>
              <a:t>初始关键字序列：</a:t>
            </a:r>
          </a:p>
        </p:txBody>
      </p:sp>
      <p:grpSp>
        <p:nvGrpSpPr>
          <p:cNvPr id="12292" name="Group 149"/>
          <p:cNvGrpSpPr>
            <a:grpSpLocks/>
          </p:cNvGrpSpPr>
          <p:nvPr/>
        </p:nvGrpSpPr>
        <p:grpSpPr bwMode="auto">
          <a:xfrm>
            <a:off x="3810000" y="1839416"/>
            <a:ext cx="6286500" cy="762000"/>
            <a:chOff x="624" y="720"/>
            <a:chExt cx="3960" cy="480"/>
          </a:xfrm>
        </p:grpSpPr>
        <p:sp>
          <p:nvSpPr>
            <p:cNvPr id="12409" name="Rectangle 4"/>
            <p:cNvSpPr>
              <a:spLocks noChangeArrowheads="1"/>
            </p:cNvSpPr>
            <p:nvPr/>
          </p:nvSpPr>
          <p:spPr bwMode="auto">
            <a:xfrm>
              <a:off x="62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410" name="Rectangle 5"/>
            <p:cNvSpPr>
              <a:spLocks noChangeArrowheads="1"/>
            </p:cNvSpPr>
            <p:nvPr/>
          </p:nvSpPr>
          <p:spPr bwMode="auto">
            <a:xfrm>
              <a:off x="102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2411" name="Rectangle 6"/>
            <p:cNvSpPr>
              <a:spLocks noChangeArrowheads="1"/>
            </p:cNvSpPr>
            <p:nvPr/>
          </p:nvSpPr>
          <p:spPr bwMode="auto">
            <a:xfrm>
              <a:off x="141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65</a:t>
              </a:r>
            </a:p>
          </p:txBody>
        </p:sp>
        <p:sp>
          <p:nvSpPr>
            <p:cNvPr id="12412" name="Rectangle 7"/>
            <p:cNvSpPr>
              <a:spLocks noChangeArrowheads="1"/>
            </p:cNvSpPr>
            <p:nvPr/>
          </p:nvSpPr>
          <p:spPr bwMode="auto">
            <a:xfrm>
              <a:off x="1812"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97</a:t>
              </a:r>
            </a:p>
          </p:txBody>
        </p:sp>
        <p:sp>
          <p:nvSpPr>
            <p:cNvPr id="12413" name="Rectangle 8"/>
            <p:cNvSpPr>
              <a:spLocks noChangeArrowheads="1"/>
            </p:cNvSpPr>
            <p:nvPr/>
          </p:nvSpPr>
          <p:spPr bwMode="auto">
            <a:xfrm>
              <a:off x="2208"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76</a:t>
              </a:r>
            </a:p>
          </p:txBody>
        </p:sp>
        <p:sp>
          <p:nvSpPr>
            <p:cNvPr id="12414" name="Rectangle 9"/>
            <p:cNvSpPr>
              <a:spLocks noChangeArrowheads="1"/>
            </p:cNvSpPr>
            <p:nvPr/>
          </p:nvSpPr>
          <p:spPr bwMode="auto">
            <a:xfrm>
              <a:off x="260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2415" name="Rectangle 10"/>
            <p:cNvSpPr>
              <a:spLocks noChangeArrowheads="1"/>
            </p:cNvSpPr>
            <p:nvPr/>
          </p:nvSpPr>
          <p:spPr bwMode="auto">
            <a:xfrm>
              <a:off x="300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2416" name="Rectangle 11"/>
            <p:cNvSpPr>
              <a:spLocks noChangeArrowheads="1"/>
            </p:cNvSpPr>
            <p:nvPr/>
          </p:nvSpPr>
          <p:spPr bwMode="auto">
            <a:xfrm>
              <a:off x="339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417" name="Rectangle 13"/>
            <p:cNvSpPr>
              <a:spLocks noChangeArrowheads="1"/>
            </p:cNvSpPr>
            <p:nvPr/>
          </p:nvSpPr>
          <p:spPr bwMode="auto">
            <a:xfrm>
              <a:off x="62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12418" name="Rectangle 14"/>
            <p:cNvSpPr>
              <a:spLocks noChangeArrowheads="1"/>
            </p:cNvSpPr>
            <p:nvPr/>
          </p:nvSpPr>
          <p:spPr bwMode="auto">
            <a:xfrm>
              <a:off x="102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12419" name="Rectangle 15"/>
            <p:cNvSpPr>
              <a:spLocks noChangeArrowheads="1"/>
            </p:cNvSpPr>
            <p:nvPr/>
          </p:nvSpPr>
          <p:spPr bwMode="auto">
            <a:xfrm>
              <a:off x="141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12420" name="Rectangle 16"/>
            <p:cNvSpPr>
              <a:spLocks noChangeArrowheads="1"/>
            </p:cNvSpPr>
            <p:nvPr/>
          </p:nvSpPr>
          <p:spPr bwMode="auto">
            <a:xfrm>
              <a:off x="1812"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12421" name="Rectangle 17"/>
            <p:cNvSpPr>
              <a:spLocks noChangeArrowheads="1"/>
            </p:cNvSpPr>
            <p:nvPr/>
          </p:nvSpPr>
          <p:spPr bwMode="auto">
            <a:xfrm>
              <a:off x="2208"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12422" name="Rectangle 18"/>
            <p:cNvSpPr>
              <a:spLocks noChangeArrowheads="1"/>
            </p:cNvSpPr>
            <p:nvPr/>
          </p:nvSpPr>
          <p:spPr bwMode="auto">
            <a:xfrm>
              <a:off x="260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12423" name="Rectangle 19"/>
            <p:cNvSpPr>
              <a:spLocks noChangeArrowheads="1"/>
            </p:cNvSpPr>
            <p:nvPr/>
          </p:nvSpPr>
          <p:spPr bwMode="auto">
            <a:xfrm>
              <a:off x="300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12424" name="Rectangle 20"/>
            <p:cNvSpPr>
              <a:spLocks noChangeArrowheads="1"/>
            </p:cNvSpPr>
            <p:nvPr/>
          </p:nvSpPr>
          <p:spPr bwMode="auto">
            <a:xfrm>
              <a:off x="339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12425" name="Rectangle 126"/>
            <p:cNvSpPr>
              <a:spLocks noChangeArrowheads="1"/>
            </p:cNvSpPr>
            <p:nvPr/>
          </p:nvSpPr>
          <p:spPr bwMode="auto">
            <a:xfrm>
              <a:off x="3792"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55</a:t>
              </a:r>
            </a:p>
          </p:txBody>
        </p:sp>
        <p:sp>
          <p:nvSpPr>
            <p:cNvPr id="12426" name="Rectangle 127"/>
            <p:cNvSpPr>
              <a:spLocks noChangeArrowheads="1"/>
            </p:cNvSpPr>
            <p:nvPr/>
          </p:nvSpPr>
          <p:spPr bwMode="auto">
            <a:xfrm>
              <a:off x="4188"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04</a:t>
              </a:r>
            </a:p>
          </p:txBody>
        </p:sp>
        <p:sp>
          <p:nvSpPr>
            <p:cNvPr id="12427" name="Rectangle 128"/>
            <p:cNvSpPr>
              <a:spLocks noChangeArrowheads="1"/>
            </p:cNvSpPr>
            <p:nvPr/>
          </p:nvSpPr>
          <p:spPr bwMode="auto">
            <a:xfrm>
              <a:off x="3768"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sp>
          <p:nvSpPr>
            <p:cNvPr id="12428" name="Rectangle 129"/>
            <p:cNvSpPr>
              <a:spLocks noChangeArrowheads="1"/>
            </p:cNvSpPr>
            <p:nvPr/>
          </p:nvSpPr>
          <p:spPr bwMode="auto">
            <a:xfrm>
              <a:off x="416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a:t>
              </a:r>
            </a:p>
          </p:txBody>
        </p:sp>
      </p:grpSp>
      <p:grpSp>
        <p:nvGrpSpPr>
          <p:cNvPr id="627843" name="Group 131"/>
          <p:cNvGrpSpPr>
            <a:grpSpLocks/>
          </p:cNvGrpSpPr>
          <p:nvPr/>
        </p:nvGrpSpPr>
        <p:grpSpPr bwMode="auto">
          <a:xfrm>
            <a:off x="4191000" y="2601416"/>
            <a:ext cx="3048000" cy="152400"/>
            <a:chOff x="864" y="1200"/>
            <a:chExt cx="1920" cy="144"/>
          </a:xfrm>
        </p:grpSpPr>
        <p:sp>
          <p:nvSpPr>
            <p:cNvPr id="12406" name="Line 124"/>
            <p:cNvSpPr>
              <a:spLocks noChangeShapeType="1"/>
            </p:cNvSpPr>
            <p:nvPr/>
          </p:nvSpPr>
          <p:spPr bwMode="auto">
            <a:xfrm>
              <a:off x="864" y="1200"/>
              <a:ext cx="0" cy="144"/>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407" name="Line 125"/>
            <p:cNvSpPr>
              <a:spLocks noChangeShapeType="1"/>
            </p:cNvSpPr>
            <p:nvPr/>
          </p:nvSpPr>
          <p:spPr bwMode="auto">
            <a:xfrm>
              <a:off x="864" y="1344"/>
              <a:ext cx="1920"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408" name="Line 130"/>
            <p:cNvSpPr>
              <a:spLocks noChangeShapeType="1"/>
            </p:cNvSpPr>
            <p:nvPr/>
          </p:nvSpPr>
          <p:spPr bwMode="auto">
            <a:xfrm flipV="1">
              <a:off x="2784" y="1200"/>
              <a:ext cx="0" cy="144"/>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27844" name="Group 132"/>
          <p:cNvGrpSpPr>
            <a:grpSpLocks/>
          </p:cNvGrpSpPr>
          <p:nvPr/>
        </p:nvGrpSpPr>
        <p:grpSpPr bwMode="auto">
          <a:xfrm>
            <a:off x="4800600" y="2601416"/>
            <a:ext cx="3048000" cy="304800"/>
            <a:chOff x="864" y="1200"/>
            <a:chExt cx="1920" cy="144"/>
          </a:xfrm>
        </p:grpSpPr>
        <p:sp>
          <p:nvSpPr>
            <p:cNvPr id="12403" name="Line 133"/>
            <p:cNvSpPr>
              <a:spLocks noChangeShapeType="1"/>
            </p:cNvSpPr>
            <p:nvPr/>
          </p:nvSpPr>
          <p:spPr bwMode="auto">
            <a:xfrm>
              <a:off x="864" y="1200"/>
              <a:ext cx="0" cy="14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404" name="Line 134"/>
            <p:cNvSpPr>
              <a:spLocks noChangeShapeType="1"/>
            </p:cNvSpPr>
            <p:nvPr/>
          </p:nvSpPr>
          <p:spPr bwMode="auto">
            <a:xfrm>
              <a:off x="864" y="1344"/>
              <a:ext cx="192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405" name="Line 135"/>
            <p:cNvSpPr>
              <a:spLocks noChangeShapeType="1"/>
            </p:cNvSpPr>
            <p:nvPr/>
          </p:nvSpPr>
          <p:spPr bwMode="auto">
            <a:xfrm flipV="1">
              <a:off x="2784" y="1200"/>
              <a:ext cx="0" cy="14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27848" name="Group 136"/>
          <p:cNvGrpSpPr>
            <a:grpSpLocks/>
          </p:cNvGrpSpPr>
          <p:nvPr/>
        </p:nvGrpSpPr>
        <p:grpSpPr bwMode="auto">
          <a:xfrm>
            <a:off x="5410200" y="2601416"/>
            <a:ext cx="3048000" cy="457200"/>
            <a:chOff x="864" y="1200"/>
            <a:chExt cx="1920" cy="144"/>
          </a:xfrm>
        </p:grpSpPr>
        <p:sp>
          <p:nvSpPr>
            <p:cNvPr id="12400" name="Line 137"/>
            <p:cNvSpPr>
              <a:spLocks noChangeShapeType="1"/>
            </p:cNvSpPr>
            <p:nvPr/>
          </p:nvSpPr>
          <p:spPr bwMode="auto">
            <a:xfrm>
              <a:off x="864" y="120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401" name="Line 138"/>
            <p:cNvSpPr>
              <a:spLocks noChangeShapeType="1"/>
            </p:cNvSpPr>
            <p:nvPr/>
          </p:nvSpPr>
          <p:spPr bwMode="auto">
            <a:xfrm>
              <a:off x="864" y="1344"/>
              <a:ext cx="19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402" name="Line 139"/>
            <p:cNvSpPr>
              <a:spLocks noChangeShapeType="1"/>
            </p:cNvSpPr>
            <p:nvPr/>
          </p:nvSpPr>
          <p:spPr bwMode="auto">
            <a:xfrm flipV="1">
              <a:off x="2784" y="120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27852" name="Group 140"/>
          <p:cNvGrpSpPr>
            <a:grpSpLocks/>
          </p:cNvGrpSpPr>
          <p:nvPr/>
        </p:nvGrpSpPr>
        <p:grpSpPr bwMode="auto">
          <a:xfrm>
            <a:off x="6096000" y="2601416"/>
            <a:ext cx="3048000" cy="609600"/>
            <a:chOff x="864" y="1200"/>
            <a:chExt cx="1920" cy="144"/>
          </a:xfrm>
        </p:grpSpPr>
        <p:sp>
          <p:nvSpPr>
            <p:cNvPr id="12397" name="Line 141"/>
            <p:cNvSpPr>
              <a:spLocks noChangeShapeType="1"/>
            </p:cNvSpPr>
            <p:nvPr/>
          </p:nvSpPr>
          <p:spPr bwMode="auto">
            <a:xfrm>
              <a:off x="864" y="1200"/>
              <a:ext cx="0" cy="14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98" name="Line 142"/>
            <p:cNvSpPr>
              <a:spLocks noChangeShapeType="1"/>
            </p:cNvSpPr>
            <p:nvPr/>
          </p:nvSpPr>
          <p:spPr bwMode="auto">
            <a:xfrm>
              <a:off x="864" y="1344"/>
              <a:ext cx="192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99" name="Line 143"/>
            <p:cNvSpPr>
              <a:spLocks noChangeShapeType="1"/>
            </p:cNvSpPr>
            <p:nvPr/>
          </p:nvSpPr>
          <p:spPr bwMode="auto">
            <a:xfrm flipV="1">
              <a:off x="2784" y="1200"/>
              <a:ext cx="0" cy="14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27856" name="Group 144"/>
          <p:cNvGrpSpPr>
            <a:grpSpLocks/>
          </p:cNvGrpSpPr>
          <p:nvPr/>
        </p:nvGrpSpPr>
        <p:grpSpPr bwMode="auto">
          <a:xfrm>
            <a:off x="6705600" y="2601416"/>
            <a:ext cx="3048000" cy="762000"/>
            <a:chOff x="864" y="1200"/>
            <a:chExt cx="1920" cy="144"/>
          </a:xfrm>
        </p:grpSpPr>
        <p:sp>
          <p:nvSpPr>
            <p:cNvPr id="12394" name="Line 145"/>
            <p:cNvSpPr>
              <a:spLocks noChangeShapeType="1"/>
            </p:cNvSpPr>
            <p:nvPr/>
          </p:nvSpPr>
          <p:spPr bwMode="auto">
            <a:xfrm>
              <a:off x="864" y="1200"/>
              <a:ext cx="0" cy="144"/>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95" name="Line 146"/>
            <p:cNvSpPr>
              <a:spLocks noChangeShapeType="1"/>
            </p:cNvSpPr>
            <p:nvPr/>
          </p:nvSpPr>
          <p:spPr bwMode="auto">
            <a:xfrm>
              <a:off x="864" y="1344"/>
              <a:ext cx="1920" cy="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96" name="Line 147"/>
            <p:cNvSpPr>
              <a:spLocks noChangeShapeType="1"/>
            </p:cNvSpPr>
            <p:nvPr/>
          </p:nvSpPr>
          <p:spPr bwMode="auto">
            <a:xfrm flipV="1">
              <a:off x="2784" y="1200"/>
              <a:ext cx="0" cy="144"/>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sp>
        <p:nvSpPr>
          <p:cNvPr id="627860" name="Rectangle 148"/>
          <p:cNvSpPr>
            <a:spLocks noChangeArrowheads="1"/>
          </p:cNvSpPr>
          <p:nvPr/>
        </p:nvSpPr>
        <p:spPr bwMode="auto">
          <a:xfrm>
            <a:off x="3733800" y="2982416"/>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增量</a:t>
            </a:r>
            <a:r>
              <a:rPr kumimoji="1" lang="en-US" altLang="zh-CN" sz="2000" dirty="0">
                <a:latin typeface="微软雅黑" pitchFamily="34" charset="-122"/>
                <a:ea typeface="微软雅黑" pitchFamily="34" charset="-122"/>
                <a:cs typeface="经典粗黑简" pitchFamily="49" charset="-122"/>
              </a:rPr>
              <a:t>d</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5</a:t>
            </a:r>
          </a:p>
        </p:txBody>
      </p:sp>
      <p:grpSp>
        <p:nvGrpSpPr>
          <p:cNvPr id="627862" name="Group 150"/>
          <p:cNvGrpSpPr>
            <a:grpSpLocks/>
          </p:cNvGrpSpPr>
          <p:nvPr/>
        </p:nvGrpSpPr>
        <p:grpSpPr bwMode="auto">
          <a:xfrm>
            <a:off x="3810000" y="3429000"/>
            <a:ext cx="6286500" cy="762000"/>
            <a:chOff x="624" y="720"/>
            <a:chExt cx="3960" cy="480"/>
          </a:xfrm>
        </p:grpSpPr>
        <p:sp>
          <p:nvSpPr>
            <p:cNvPr id="12374" name="Rectangle 151"/>
            <p:cNvSpPr>
              <a:spLocks noChangeArrowheads="1"/>
            </p:cNvSpPr>
            <p:nvPr/>
          </p:nvSpPr>
          <p:spPr bwMode="auto">
            <a:xfrm>
              <a:off x="62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13</a:t>
              </a:r>
            </a:p>
          </p:txBody>
        </p:sp>
        <p:sp>
          <p:nvSpPr>
            <p:cNvPr id="12375" name="Rectangle 152"/>
            <p:cNvSpPr>
              <a:spLocks noChangeArrowheads="1"/>
            </p:cNvSpPr>
            <p:nvPr/>
          </p:nvSpPr>
          <p:spPr bwMode="auto">
            <a:xfrm>
              <a:off x="102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27</a:t>
              </a:r>
            </a:p>
          </p:txBody>
        </p:sp>
        <p:sp>
          <p:nvSpPr>
            <p:cNvPr id="12376" name="Rectangle 153"/>
            <p:cNvSpPr>
              <a:spLocks noChangeArrowheads="1"/>
            </p:cNvSpPr>
            <p:nvPr/>
          </p:nvSpPr>
          <p:spPr bwMode="auto">
            <a:xfrm>
              <a:off x="141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12377" name="Rectangle 154"/>
            <p:cNvSpPr>
              <a:spLocks noChangeArrowheads="1"/>
            </p:cNvSpPr>
            <p:nvPr/>
          </p:nvSpPr>
          <p:spPr bwMode="auto">
            <a:xfrm>
              <a:off x="1812"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55</a:t>
              </a:r>
            </a:p>
          </p:txBody>
        </p:sp>
        <p:sp>
          <p:nvSpPr>
            <p:cNvPr id="12378" name="Rectangle 155"/>
            <p:cNvSpPr>
              <a:spLocks noChangeArrowheads="1"/>
            </p:cNvSpPr>
            <p:nvPr/>
          </p:nvSpPr>
          <p:spPr bwMode="auto">
            <a:xfrm>
              <a:off x="2208"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04</a:t>
              </a:r>
            </a:p>
          </p:txBody>
        </p:sp>
        <p:sp>
          <p:nvSpPr>
            <p:cNvPr id="12379" name="Rectangle 156"/>
            <p:cNvSpPr>
              <a:spLocks noChangeArrowheads="1"/>
            </p:cNvSpPr>
            <p:nvPr/>
          </p:nvSpPr>
          <p:spPr bwMode="auto">
            <a:xfrm>
              <a:off x="260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380" name="Rectangle 157"/>
            <p:cNvSpPr>
              <a:spLocks noChangeArrowheads="1"/>
            </p:cNvSpPr>
            <p:nvPr/>
          </p:nvSpPr>
          <p:spPr bwMode="auto">
            <a:xfrm>
              <a:off x="300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2381" name="Rectangle 158"/>
            <p:cNvSpPr>
              <a:spLocks noChangeArrowheads="1"/>
            </p:cNvSpPr>
            <p:nvPr/>
          </p:nvSpPr>
          <p:spPr bwMode="auto">
            <a:xfrm>
              <a:off x="339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65</a:t>
              </a:r>
            </a:p>
          </p:txBody>
        </p:sp>
        <p:sp>
          <p:nvSpPr>
            <p:cNvPr id="12382" name="Rectangle 159"/>
            <p:cNvSpPr>
              <a:spLocks noChangeArrowheads="1"/>
            </p:cNvSpPr>
            <p:nvPr/>
          </p:nvSpPr>
          <p:spPr bwMode="auto">
            <a:xfrm>
              <a:off x="62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12383" name="Rectangle 160"/>
            <p:cNvSpPr>
              <a:spLocks noChangeArrowheads="1"/>
            </p:cNvSpPr>
            <p:nvPr/>
          </p:nvSpPr>
          <p:spPr bwMode="auto">
            <a:xfrm>
              <a:off x="102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12384" name="Rectangle 161"/>
            <p:cNvSpPr>
              <a:spLocks noChangeArrowheads="1"/>
            </p:cNvSpPr>
            <p:nvPr/>
          </p:nvSpPr>
          <p:spPr bwMode="auto">
            <a:xfrm>
              <a:off x="141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12385" name="Rectangle 162"/>
            <p:cNvSpPr>
              <a:spLocks noChangeArrowheads="1"/>
            </p:cNvSpPr>
            <p:nvPr/>
          </p:nvSpPr>
          <p:spPr bwMode="auto">
            <a:xfrm>
              <a:off x="1812"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12386" name="Rectangle 163"/>
            <p:cNvSpPr>
              <a:spLocks noChangeArrowheads="1"/>
            </p:cNvSpPr>
            <p:nvPr/>
          </p:nvSpPr>
          <p:spPr bwMode="auto">
            <a:xfrm>
              <a:off x="2208"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12387" name="Rectangle 164"/>
            <p:cNvSpPr>
              <a:spLocks noChangeArrowheads="1"/>
            </p:cNvSpPr>
            <p:nvPr/>
          </p:nvSpPr>
          <p:spPr bwMode="auto">
            <a:xfrm>
              <a:off x="260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12388" name="Rectangle 165"/>
            <p:cNvSpPr>
              <a:spLocks noChangeArrowheads="1"/>
            </p:cNvSpPr>
            <p:nvPr/>
          </p:nvSpPr>
          <p:spPr bwMode="auto">
            <a:xfrm>
              <a:off x="300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12389" name="Rectangle 166"/>
            <p:cNvSpPr>
              <a:spLocks noChangeArrowheads="1"/>
            </p:cNvSpPr>
            <p:nvPr/>
          </p:nvSpPr>
          <p:spPr bwMode="auto">
            <a:xfrm>
              <a:off x="339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12390" name="Rectangle 167"/>
            <p:cNvSpPr>
              <a:spLocks noChangeArrowheads="1"/>
            </p:cNvSpPr>
            <p:nvPr/>
          </p:nvSpPr>
          <p:spPr bwMode="auto">
            <a:xfrm>
              <a:off x="3792"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97</a:t>
              </a:r>
            </a:p>
          </p:txBody>
        </p:sp>
        <p:sp>
          <p:nvSpPr>
            <p:cNvPr id="12391" name="Rectangle 168"/>
            <p:cNvSpPr>
              <a:spLocks noChangeArrowheads="1"/>
            </p:cNvSpPr>
            <p:nvPr/>
          </p:nvSpPr>
          <p:spPr bwMode="auto">
            <a:xfrm>
              <a:off x="4188"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76</a:t>
              </a:r>
            </a:p>
          </p:txBody>
        </p:sp>
        <p:sp>
          <p:nvSpPr>
            <p:cNvPr id="12392" name="Rectangle 169"/>
            <p:cNvSpPr>
              <a:spLocks noChangeArrowheads="1"/>
            </p:cNvSpPr>
            <p:nvPr/>
          </p:nvSpPr>
          <p:spPr bwMode="auto">
            <a:xfrm>
              <a:off x="3768"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sp>
          <p:nvSpPr>
            <p:cNvPr id="12393" name="Rectangle 170"/>
            <p:cNvSpPr>
              <a:spLocks noChangeArrowheads="1"/>
            </p:cNvSpPr>
            <p:nvPr/>
          </p:nvSpPr>
          <p:spPr bwMode="auto">
            <a:xfrm>
              <a:off x="416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a:t>
              </a:r>
            </a:p>
          </p:txBody>
        </p:sp>
      </p:grpSp>
      <p:sp>
        <p:nvSpPr>
          <p:cNvPr id="627903" name="Rectangle 191"/>
          <p:cNvSpPr>
            <a:spLocks noChangeArrowheads="1"/>
          </p:cNvSpPr>
          <p:nvPr/>
        </p:nvSpPr>
        <p:spPr bwMode="auto">
          <a:xfrm>
            <a:off x="1595214" y="37338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第一趟排序结果：</a:t>
            </a:r>
          </a:p>
        </p:txBody>
      </p:sp>
      <p:sp>
        <p:nvSpPr>
          <p:cNvPr id="627904" name="Rectangle 192"/>
          <p:cNvSpPr>
            <a:spLocks noChangeArrowheads="1"/>
          </p:cNvSpPr>
          <p:nvPr/>
        </p:nvSpPr>
        <p:spPr bwMode="auto">
          <a:xfrm>
            <a:off x="3733800" y="44958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增量</a:t>
            </a:r>
            <a:r>
              <a:rPr kumimoji="1" lang="en-US" altLang="zh-CN" sz="2000" dirty="0">
                <a:latin typeface="微软雅黑" pitchFamily="34" charset="-122"/>
                <a:ea typeface="微软雅黑" pitchFamily="34" charset="-122"/>
                <a:cs typeface="经典粗黑简" pitchFamily="49" charset="-122"/>
              </a:rPr>
              <a:t>d</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3</a:t>
            </a:r>
          </a:p>
        </p:txBody>
      </p:sp>
      <p:grpSp>
        <p:nvGrpSpPr>
          <p:cNvPr id="627927" name="Group 215"/>
          <p:cNvGrpSpPr>
            <a:grpSpLocks/>
          </p:cNvGrpSpPr>
          <p:nvPr/>
        </p:nvGrpSpPr>
        <p:grpSpPr bwMode="auto">
          <a:xfrm>
            <a:off x="4724400" y="4191000"/>
            <a:ext cx="3810000" cy="304800"/>
            <a:chOff x="1632" y="2304"/>
            <a:chExt cx="2400" cy="96"/>
          </a:xfrm>
        </p:grpSpPr>
        <p:sp>
          <p:nvSpPr>
            <p:cNvPr id="12370" name="Line 216"/>
            <p:cNvSpPr>
              <a:spLocks noChangeShapeType="1"/>
            </p:cNvSpPr>
            <p:nvPr/>
          </p:nvSpPr>
          <p:spPr bwMode="auto">
            <a:xfrm>
              <a:off x="1632" y="2304"/>
              <a:ext cx="0" cy="9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71" name="Line 217"/>
            <p:cNvSpPr>
              <a:spLocks noChangeShapeType="1"/>
            </p:cNvSpPr>
            <p:nvPr/>
          </p:nvSpPr>
          <p:spPr bwMode="auto">
            <a:xfrm>
              <a:off x="1632" y="2400"/>
              <a:ext cx="24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72" name="Line 218"/>
            <p:cNvSpPr>
              <a:spLocks noChangeShapeType="1"/>
            </p:cNvSpPr>
            <p:nvPr/>
          </p:nvSpPr>
          <p:spPr bwMode="auto">
            <a:xfrm flipV="1">
              <a:off x="4032" y="2304"/>
              <a:ext cx="0" cy="9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73" name="Line 219"/>
            <p:cNvSpPr>
              <a:spLocks noChangeShapeType="1"/>
            </p:cNvSpPr>
            <p:nvPr/>
          </p:nvSpPr>
          <p:spPr bwMode="auto">
            <a:xfrm flipV="1">
              <a:off x="2832" y="2304"/>
              <a:ext cx="0" cy="9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27932" name="Group 220"/>
          <p:cNvGrpSpPr>
            <a:grpSpLocks/>
          </p:cNvGrpSpPr>
          <p:nvPr/>
        </p:nvGrpSpPr>
        <p:grpSpPr bwMode="auto">
          <a:xfrm>
            <a:off x="5334000" y="4191000"/>
            <a:ext cx="3810000" cy="457200"/>
            <a:chOff x="1632" y="2304"/>
            <a:chExt cx="2400" cy="96"/>
          </a:xfrm>
        </p:grpSpPr>
        <p:sp>
          <p:nvSpPr>
            <p:cNvPr id="12366" name="Line 221"/>
            <p:cNvSpPr>
              <a:spLocks noChangeShapeType="1"/>
            </p:cNvSpPr>
            <p:nvPr/>
          </p:nvSpPr>
          <p:spPr bwMode="auto">
            <a:xfrm>
              <a:off x="1632" y="2304"/>
              <a:ext cx="0" cy="96"/>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7" name="Line 222"/>
            <p:cNvSpPr>
              <a:spLocks noChangeShapeType="1"/>
            </p:cNvSpPr>
            <p:nvPr/>
          </p:nvSpPr>
          <p:spPr bwMode="auto">
            <a:xfrm>
              <a:off x="1632" y="2400"/>
              <a:ext cx="24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8" name="Line 223"/>
            <p:cNvSpPr>
              <a:spLocks noChangeShapeType="1"/>
            </p:cNvSpPr>
            <p:nvPr/>
          </p:nvSpPr>
          <p:spPr bwMode="auto">
            <a:xfrm flipV="1">
              <a:off x="4032" y="2304"/>
              <a:ext cx="0" cy="96"/>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9" name="Line 224"/>
            <p:cNvSpPr>
              <a:spLocks noChangeShapeType="1"/>
            </p:cNvSpPr>
            <p:nvPr/>
          </p:nvSpPr>
          <p:spPr bwMode="auto">
            <a:xfrm flipV="1">
              <a:off x="2832" y="2304"/>
              <a:ext cx="0" cy="96"/>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27943" name="Group 231"/>
          <p:cNvGrpSpPr>
            <a:grpSpLocks/>
          </p:cNvGrpSpPr>
          <p:nvPr/>
        </p:nvGrpSpPr>
        <p:grpSpPr bwMode="auto">
          <a:xfrm>
            <a:off x="4114800" y="4191000"/>
            <a:ext cx="5638800" cy="152400"/>
            <a:chOff x="1632" y="2304"/>
            <a:chExt cx="3552" cy="96"/>
          </a:xfrm>
        </p:grpSpPr>
        <p:sp>
          <p:nvSpPr>
            <p:cNvPr id="12361" name="Line 194"/>
            <p:cNvSpPr>
              <a:spLocks noChangeShapeType="1"/>
            </p:cNvSpPr>
            <p:nvPr/>
          </p:nvSpPr>
          <p:spPr bwMode="auto">
            <a:xfrm>
              <a:off x="1632" y="2304"/>
              <a:ext cx="0" cy="96"/>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2" name="Line 195"/>
            <p:cNvSpPr>
              <a:spLocks noChangeShapeType="1"/>
            </p:cNvSpPr>
            <p:nvPr/>
          </p:nvSpPr>
          <p:spPr bwMode="auto">
            <a:xfrm>
              <a:off x="1632" y="2400"/>
              <a:ext cx="3552"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3" name="Line 196"/>
            <p:cNvSpPr>
              <a:spLocks noChangeShapeType="1"/>
            </p:cNvSpPr>
            <p:nvPr/>
          </p:nvSpPr>
          <p:spPr bwMode="auto">
            <a:xfrm flipV="1">
              <a:off x="4032" y="2304"/>
              <a:ext cx="0" cy="96"/>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4" name="Line 213"/>
            <p:cNvSpPr>
              <a:spLocks noChangeShapeType="1"/>
            </p:cNvSpPr>
            <p:nvPr/>
          </p:nvSpPr>
          <p:spPr bwMode="auto">
            <a:xfrm flipV="1">
              <a:off x="2832" y="2304"/>
              <a:ext cx="0" cy="96"/>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365" name="Line 230"/>
            <p:cNvSpPr>
              <a:spLocks noChangeShapeType="1"/>
            </p:cNvSpPr>
            <p:nvPr/>
          </p:nvSpPr>
          <p:spPr bwMode="auto">
            <a:xfrm flipV="1">
              <a:off x="5184" y="2304"/>
              <a:ext cx="0" cy="96"/>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sp>
        <p:nvSpPr>
          <p:cNvPr id="627944" name="Rectangle 232"/>
          <p:cNvSpPr>
            <a:spLocks noChangeArrowheads="1"/>
          </p:cNvSpPr>
          <p:nvPr/>
        </p:nvSpPr>
        <p:spPr bwMode="auto">
          <a:xfrm>
            <a:off x="1595214" y="513204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第二趟排序结果：</a:t>
            </a:r>
          </a:p>
        </p:txBody>
      </p:sp>
      <p:grpSp>
        <p:nvGrpSpPr>
          <p:cNvPr id="627945" name="Group 233"/>
          <p:cNvGrpSpPr>
            <a:grpSpLocks/>
          </p:cNvGrpSpPr>
          <p:nvPr/>
        </p:nvGrpSpPr>
        <p:grpSpPr bwMode="auto">
          <a:xfrm>
            <a:off x="3810000" y="4827240"/>
            <a:ext cx="6286500" cy="762000"/>
            <a:chOff x="624" y="720"/>
            <a:chExt cx="3960" cy="480"/>
          </a:xfrm>
        </p:grpSpPr>
        <p:sp>
          <p:nvSpPr>
            <p:cNvPr id="12341" name="Rectangle 234"/>
            <p:cNvSpPr>
              <a:spLocks noChangeArrowheads="1"/>
            </p:cNvSpPr>
            <p:nvPr/>
          </p:nvSpPr>
          <p:spPr bwMode="auto">
            <a:xfrm>
              <a:off x="62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13</a:t>
              </a:r>
            </a:p>
          </p:txBody>
        </p:sp>
        <p:sp>
          <p:nvSpPr>
            <p:cNvPr id="12342" name="Rectangle 235"/>
            <p:cNvSpPr>
              <a:spLocks noChangeArrowheads="1"/>
            </p:cNvSpPr>
            <p:nvPr/>
          </p:nvSpPr>
          <p:spPr bwMode="auto">
            <a:xfrm>
              <a:off x="102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04</a:t>
              </a:r>
            </a:p>
          </p:txBody>
        </p:sp>
        <p:sp>
          <p:nvSpPr>
            <p:cNvPr id="12343" name="Rectangle 236"/>
            <p:cNvSpPr>
              <a:spLocks noChangeArrowheads="1"/>
            </p:cNvSpPr>
            <p:nvPr/>
          </p:nvSpPr>
          <p:spPr bwMode="auto">
            <a:xfrm>
              <a:off x="141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rgbClr val="663300"/>
                  </a:solidFill>
                  <a:latin typeface="Times New Roman" pitchFamily="18" charset="0"/>
                </a:rPr>
                <a:t>49*</a:t>
              </a:r>
            </a:p>
          </p:txBody>
        </p:sp>
        <p:sp>
          <p:nvSpPr>
            <p:cNvPr id="12344" name="Rectangle 237"/>
            <p:cNvSpPr>
              <a:spLocks noChangeArrowheads="1"/>
            </p:cNvSpPr>
            <p:nvPr/>
          </p:nvSpPr>
          <p:spPr bwMode="auto">
            <a:xfrm>
              <a:off x="1812"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38</a:t>
              </a:r>
            </a:p>
          </p:txBody>
        </p:sp>
        <p:sp>
          <p:nvSpPr>
            <p:cNvPr id="12345" name="Rectangle 238"/>
            <p:cNvSpPr>
              <a:spLocks noChangeArrowheads="1"/>
            </p:cNvSpPr>
            <p:nvPr/>
          </p:nvSpPr>
          <p:spPr bwMode="auto">
            <a:xfrm>
              <a:off x="2208"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27</a:t>
              </a:r>
            </a:p>
          </p:txBody>
        </p:sp>
        <p:sp>
          <p:nvSpPr>
            <p:cNvPr id="12346" name="Rectangle 239"/>
            <p:cNvSpPr>
              <a:spLocks noChangeArrowheads="1"/>
            </p:cNvSpPr>
            <p:nvPr/>
          </p:nvSpPr>
          <p:spPr bwMode="auto">
            <a:xfrm>
              <a:off x="260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rgbClr val="663300"/>
                  </a:solidFill>
                  <a:latin typeface="Times New Roman" pitchFamily="18" charset="0"/>
                </a:rPr>
                <a:t>49</a:t>
              </a:r>
            </a:p>
          </p:txBody>
        </p:sp>
        <p:sp>
          <p:nvSpPr>
            <p:cNvPr id="12347" name="Rectangle 240"/>
            <p:cNvSpPr>
              <a:spLocks noChangeArrowheads="1"/>
            </p:cNvSpPr>
            <p:nvPr/>
          </p:nvSpPr>
          <p:spPr bwMode="auto">
            <a:xfrm>
              <a:off x="300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55</a:t>
              </a:r>
            </a:p>
          </p:txBody>
        </p:sp>
        <p:sp>
          <p:nvSpPr>
            <p:cNvPr id="12348" name="Rectangle 241"/>
            <p:cNvSpPr>
              <a:spLocks noChangeArrowheads="1"/>
            </p:cNvSpPr>
            <p:nvPr/>
          </p:nvSpPr>
          <p:spPr bwMode="auto">
            <a:xfrm>
              <a:off x="339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65</a:t>
              </a:r>
            </a:p>
          </p:txBody>
        </p:sp>
        <p:sp>
          <p:nvSpPr>
            <p:cNvPr id="12349" name="Rectangle 242"/>
            <p:cNvSpPr>
              <a:spLocks noChangeArrowheads="1"/>
            </p:cNvSpPr>
            <p:nvPr/>
          </p:nvSpPr>
          <p:spPr bwMode="auto">
            <a:xfrm>
              <a:off x="62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12350" name="Rectangle 243"/>
            <p:cNvSpPr>
              <a:spLocks noChangeArrowheads="1"/>
            </p:cNvSpPr>
            <p:nvPr/>
          </p:nvSpPr>
          <p:spPr bwMode="auto">
            <a:xfrm>
              <a:off x="102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12351" name="Rectangle 244"/>
            <p:cNvSpPr>
              <a:spLocks noChangeArrowheads="1"/>
            </p:cNvSpPr>
            <p:nvPr/>
          </p:nvSpPr>
          <p:spPr bwMode="auto">
            <a:xfrm>
              <a:off x="141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12352" name="Rectangle 245"/>
            <p:cNvSpPr>
              <a:spLocks noChangeArrowheads="1"/>
            </p:cNvSpPr>
            <p:nvPr/>
          </p:nvSpPr>
          <p:spPr bwMode="auto">
            <a:xfrm>
              <a:off x="1812"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12353" name="Rectangle 246"/>
            <p:cNvSpPr>
              <a:spLocks noChangeArrowheads="1"/>
            </p:cNvSpPr>
            <p:nvPr/>
          </p:nvSpPr>
          <p:spPr bwMode="auto">
            <a:xfrm>
              <a:off x="2208"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12354" name="Rectangle 247"/>
            <p:cNvSpPr>
              <a:spLocks noChangeArrowheads="1"/>
            </p:cNvSpPr>
            <p:nvPr/>
          </p:nvSpPr>
          <p:spPr bwMode="auto">
            <a:xfrm>
              <a:off x="260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12355" name="Rectangle 248"/>
            <p:cNvSpPr>
              <a:spLocks noChangeArrowheads="1"/>
            </p:cNvSpPr>
            <p:nvPr/>
          </p:nvSpPr>
          <p:spPr bwMode="auto">
            <a:xfrm>
              <a:off x="300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12356" name="Rectangle 249"/>
            <p:cNvSpPr>
              <a:spLocks noChangeArrowheads="1"/>
            </p:cNvSpPr>
            <p:nvPr/>
          </p:nvSpPr>
          <p:spPr bwMode="auto">
            <a:xfrm>
              <a:off x="339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12357" name="Rectangle 250"/>
            <p:cNvSpPr>
              <a:spLocks noChangeArrowheads="1"/>
            </p:cNvSpPr>
            <p:nvPr/>
          </p:nvSpPr>
          <p:spPr bwMode="auto">
            <a:xfrm>
              <a:off x="3792"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97</a:t>
              </a:r>
            </a:p>
          </p:txBody>
        </p:sp>
        <p:sp>
          <p:nvSpPr>
            <p:cNvPr id="12358" name="Rectangle 251"/>
            <p:cNvSpPr>
              <a:spLocks noChangeArrowheads="1"/>
            </p:cNvSpPr>
            <p:nvPr/>
          </p:nvSpPr>
          <p:spPr bwMode="auto">
            <a:xfrm>
              <a:off x="4188"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76</a:t>
              </a:r>
            </a:p>
          </p:txBody>
        </p:sp>
        <p:sp>
          <p:nvSpPr>
            <p:cNvPr id="12359" name="Rectangle 252"/>
            <p:cNvSpPr>
              <a:spLocks noChangeArrowheads="1"/>
            </p:cNvSpPr>
            <p:nvPr/>
          </p:nvSpPr>
          <p:spPr bwMode="auto">
            <a:xfrm>
              <a:off x="3768"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sp>
          <p:nvSpPr>
            <p:cNvPr id="12360" name="Rectangle 253"/>
            <p:cNvSpPr>
              <a:spLocks noChangeArrowheads="1"/>
            </p:cNvSpPr>
            <p:nvPr/>
          </p:nvSpPr>
          <p:spPr bwMode="auto">
            <a:xfrm>
              <a:off x="416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a:t>
              </a:r>
            </a:p>
          </p:txBody>
        </p:sp>
      </p:grpSp>
      <p:sp>
        <p:nvSpPr>
          <p:cNvPr id="627966" name="Rectangle 254"/>
          <p:cNvSpPr>
            <a:spLocks noChangeArrowheads="1"/>
          </p:cNvSpPr>
          <p:nvPr/>
        </p:nvSpPr>
        <p:spPr bwMode="auto">
          <a:xfrm>
            <a:off x="3733800" y="558924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增量</a:t>
            </a:r>
            <a:r>
              <a:rPr kumimoji="1" lang="en-US" altLang="zh-CN" sz="2000" dirty="0">
                <a:latin typeface="微软雅黑" pitchFamily="34" charset="-122"/>
                <a:ea typeface="微软雅黑" pitchFamily="34" charset="-122"/>
                <a:cs typeface="经典粗黑简" pitchFamily="49" charset="-122"/>
              </a:rPr>
              <a:t>d</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a:t>
            </a:r>
          </a:p>
        </p:txBody>
      </p:sp>
      <p:sp>
        <p:nvSpPr>
          <p:cNvPr id="627967" name="Rectangle 255"/>
          <p:cNvSpPr>
            <a:spLocks noChangeArrowheads="1"/>
          </p:cNvSpPr>
          <p:nvPr/>
        </p:nvSpPr>
        <p:spPr bwMode="auto">
          <a:xfrm>
            <a:off x="1595214" y="625408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第三趟排序结果：</a:t>
            </a:r>
          </a:p>
        </p:txBody>
      </p:sp>
      <p:grpSp>
        <p:nvGrpSpPr>
          <p:cNvPr id="627968" name="Group 256"/>
          <p:cNvGrpSpPr>
            <a:grpSpLocks/>
          </p:cNvGrpSpPr>
          <p:nvPr/>
        </p:nvGrpSpPr>
        <p:grpSpPr bwMode="auto">
          <a:xfrm>
            <a:off x="3810000" y="5949280"/>
            <a:ext cx="6286500" cy="762000"/>
            <a:chOff x="624" y="720"/>
            <a:chExt cx="3960" cy="480"/>
          </a:xfrm>
        </p:grpSpPr>
        <p:sp>
          <p:nvSpPr>
            <p:cNvPr id="12321" name="Rectangle 257"/>
            <p:cNvSpPr>
              <a:spLocks noChangeArrowheads="1"/>
            </p:cNvSpPr>
            <p:nvPr/>
          </p:nvSpPr>
          <p:spPr bwMode="auto">
            <a:xfrm>
              <a:off x="62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04</a:t>
              </a:r>
            </a:p>
          </p:txBody>
        </p:sp>
        <p:sp>
          <p:nvSpPr>
            <p:cNvPr id="12322" name="Rectangle 258"/>
            <p:cNvSpPr>
              <a:spLocks noChangeArrowheads="1"/>
            </p:cNvSpPr>
            <p:nvPr/>
          </p:nvSpPr>
          <p:spPr bwMode="auto">
            <a:xfrm>
              <a:off x="102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2323" name="Rectangle 259"/>
            <p:cNvSpPr>
              <a:spLocks noChangeArrowheads="1"/>
            </p:cNvSpPr>
            <p:nvPr/>
          </p:nvSpPr>
          <p:spPr bwMode="auto">
            <a:xfrm>
              <a:off x="141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2324" name="Rectangle 260"/>
            <p:cNvSpPr>
              <a:spLocks noChangeArrowheads="1"/>
            </p:cNvSpPr>
            <p:nvPr/>
          </p:nvSpPr>
          <p:spPr bwMode="auto">
            <a:xfrm>
              <a:off x="1812"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2325" name="Rectangle 261"/>
            <p:cNvSpPr>
              <a:spLocks noChangeArrowheads="1"/>
            </p:cNvSpPr>
            <p:nvPr/>
          </p:nvSpPr>
          <p:spPr bwMode="auto">
            <a:xfrm>
              <a:off x="2208"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326" name="Rectangle 262"/>
            <p:cNvSpPr>
              <a:spLocks noChangeArrowheads="1"/>
            </p:cNvSpPr>
            <p:nvPr/>
          </p:nvSpPr>
          <p:spPr bwMode="auto">
            <a:xfrm>
              <a:off x="2604"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327" name="Rectangle 263"/>
            <p:cNvSpPr>
              <a:spLocks noChangeArrowheads="1"/>
            </p:cNvSpPr>
            <p:nvPr/>
          </p:nvSpPr>
          <p:spPr bwMode="auto">
            <a:xfrm>
              <a:off x="3000"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55</a:t>
              </a:r>
            </a:p>
          </p:txBody>
        </p:sp>
        <p:sp>
          <p:nvSpPr>
            <p:cNvPr id="12328" name="Rectangle 264"/>
            <p:cNvSpPr>
              <a:spLocks noChangeArrowheads="1"/>
            </p:cNvSpPr>
            <p:nvPr/>
          </p:nvSpPr>
          <p:spPr bwMode="auto">
            <a:xfrm>
              <a:off x="3396" y="963"/>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65</a:t>
              </a:r>
            </a:p>
          </p:txBody>
        </p:sp>
        <p:sp>
          <p:nvSpPr>
            <p:cNvPr id="12329" name="Rectangle 265"/>
            <p:cNvSpPr>
              <a:spLocks noChangeArrowheads="1"/>
            </p:cNvSpPr>
            <p:nvPr/>
          </p:nvSpPr>
          <p:spPr bwMode="auto">
            <a:xfrm>
              <a:off x="62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12330" name="Rectangle 266"/>
            <p:cNvSpPr>
              <a:spLocks noChangeArrowheads="1"/>
            </p:cNvSpPr>
            <p:nvPr/>
          </p:nvSpPr>
          <p:spPr bwMode="auto">
            <a:xfrm>
              <a:off x="102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12331" name="Rectangle 267"/>
            <p:cNvSpPr>
              <a:spLocks noChangeArrowheads="1"/>
            </p:cNvSpPr>
            <p:nvPr/>
          </p:nvSpPr>
          <p:spPr bwMode="auto">
            <a:xfrm>
              <a:off x="141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12332" name="Rectangle 268"/>
            <p:cNvSpPr>
              <a:spLocks noChangeArrowheads="1"/>
            </p:cNvSpPr>
            <p:nvPr/>
          </p:nvSpPr>
          <p:spPr bwMode="auto">
            <a:xfrm>
              <a:off x="1812"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12333" name="Rectangle 269"/>
            <p:cNvSpPr>
              <a:spLocks noChangeArrowheads="1"/>
            </p:cNvSpPr>
            <p:nvPr/>
          </p:nvSpPr>
          <p:spPr bwMode="auto">
            <a:xfrm>
              <a:off x="2208"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12334" name="Rectangle 270"/>
            <p:cNvSpPr>
              <a:spLocks noChangeArrowheads="1"/>
            </p:cNvSpPr>
            <p:nvPr/>
          </p:nvSpPr>
          <p:spPr bwMode="auto">
            <a:xfrm>
              <a:off x="2604"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12335" name="Rectangle 271"/>
            <p:cNvSpPr>
              <a:spLocks noChangeArrowheads="1"/>
            </p:cNvSpPr>
            <p:nvPr/>
          </p:nvSpPr>
          <p:spPr bwMode="auto">
            <a:xfrm>
              <a:off x="3000"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12336" name="Rectangle 272"/>
            <p:cNvSpPr>
              <a:spLocks noChangeArrowheads="1"/>
            </p:cNvSpPr>
            <p:nvPr/>
          </p:nvSpPr>
          <p:spPr bwMode="auto">
            <a:xfrm>
              <a:off x="3396" y="723"/>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12337" name="Rectangle 273"/>
            <p:cNvSpPr>
              <a:spLocks noChangeArrowheads="1"/>
            </p:cNvSpPr>
            <p:nvPr/>
          </p:nvSpPr>
          <p:spPr bwMode="auto">
            <a:xfrm>
              <a:off x="3792"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76</a:t>
              </a:r>
            </a:p>
          </p:txBody>
        </p:sp>
        <p:sp>
          <p:nvSpPr>
            <p:cNvPr id="12338" name="Rectangle 274"/>
            <p:cNvSpPr>
              <a:spLocks noChangeArrowheads="1"/>
            </p:cNvSpPr>
            <p:nvPr/>
          </p:nvSpPr>
          <p:spPr bwMode="auto">
            <a:xfrm>
              <a:off x="4188" y="960"/>
              <a:ext cx="39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97</a:t>
              </a:r>
            </a:p>
          </p:txBody>
        </p:sp>
        <p:sp>
          <p:nvSpPr>
            <p:cNvPr id="12339" name="Rectangle 275"/>
            <p:cNvSpPr>
              <a:spLocks noChangeArrowheads="1"/>
            </p:cNvSpPr>
            <p:nvPr/>
          </p:nvSpPr>
          <p:spPr bwMode="auto">
            <a:xfrm>
              <a:off x="3768"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sp>
          <p:nvSpPr>
            <p:cNvPr id="12340" name="Rectangle 276"/>
            <p:cNvSpPr>
              <a:spLocks noChangeArrowheads="1"/>
            </p:cNvSpPr>
            <p:nvPr/>
          </p:nvSpPr>
          <p:spPr bwMode="auto">
            <a:xfrm>
              <a:off x="416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a:t>
              </a:r>
            </a:p>
          </p:txBody>
        </p:sp>
      </p:grpSp>
      <p:grpSp>
        <p:nvGrpSpPr>
          <p:cNvPr id="627989" name="Group 277"/>
          <p:cNvGrpSpPr>
            <a:grpSpLocks/>
          </p:cNvGrpSpPr>
          <p:nvPr/>
        </p:nvGrpSpPr>
        <p:grpSpPr bwMode="auto">
          <a:xfrm>
            <a:off x="3810000" y="3810000"/>
            <a:ext cx="6286500" cy="381000"/>
            <a:chOff x="624" y="2064"/>
            <a:chExt cx="3960" cy="240"/>
          </a:xfrm>
        </p:grpSpPr>
        <p:sp>
          <p:nvSpPr>
            <p:cNvPr id="12311" name="Rectangle 278"/>
            <p:cNvSpPr>
              <a:spLocks noChangeArrowheads="1"/>
            </p:cNvSpPr>
            <p:nvPr/>
          </p:nvSpPr>
          <p:spPr bwMode="auto">
            <a:xfrm>
              <a:off x="624"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13</a:t>
              </a:r>
            </a:p>
          </p:txBody>
        </p:sp>
        <p:sp>
          <p:nvSpPr>
            <p:cNvPr id="12312" name="Rectangle 279"/>
            <p:cNvSpPr>
              <a:spLocks noChangeArrowheads="1"/>
            </p:cNvSpPr>
            <p:nvPr/>
          </p:nvSpPr>
          <p:spPr bwMode="auto">
            <a:xfrm>
              <a:off x="1020"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tx2"/>
                  </a:solidFill>
                  <a:latin typeface="Times New Roman" pitchFamily="18" charset="0"/>
                </a:rPr>
                <a:t>27</a:t>
              </a:r>
            </a:p>
          </p:txBody>
        </p:sp>
        <p:sp>
          <p:nvSpPr>
            <p:cNvPr id="12313" name="Rectangle 280"/>
            <p:cNvSpPr>
              <a:spLocks noChangeArrowheads="1"/>
            </p:cNvSpPr>
            <p:nvPr/>
          </p:nvSpPr>
          <p:spPr bwMode="auto">
            <a:xfrm>
              <a:off x="1416"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314" name="Rectangle 281"/>
            <p:cNvSpPr>
              <a:spLocks noChangeArrowheads="1"/>
            </p:cNvSpPr>
            <p:nvPr/>
          </p:nvSpPr>
          <p:spPr bwMode="auto">
            <a:xfrm>
              <a:off x="1812"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55</a:t>
              </a:r>
            </a:p>
          </p:txBody>
        </p:sp>
        <p:sp>
          <p:nvSpPr>
            <p:cNvPr id="12315" name="Rectangle 282"/>
            <p:cNvSpPr>
              <a:spLocks noChangeArrowheads="1"/>
            </p:cNvSpPr>
            <p:nvPr/>
          </p:nvSpPr>
          <p:spPr bwMode="auto">
            <a:xfrm>
              <a:off x="2208"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tx2"/>
                  </a:solidFill>
                  <a:latin typeface="Times New Roman" pitchFamily="18" charset="0"/>
                </a:rPr>
                <a:t>04</a:t>
              </a:r>
            </a:p>
          </p:txBody>
        </p:sp>
        <p:sp>
          <p:nvSpPr>
            <p:cNvPr id="12316" name="Rectangle 283"/>
            <p:cNvSpPr>
              <a:spLocks noChangeArrowheads="1"/>
            </p:cNvSpPr>
            <p:nvPr/>
          </p:nvSpPr>
          <p:spPr bwMode="auto">
            <a:xfrm>
              <a:off x="2604"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2317" name="Rectangle 284"/>
            <p:cNvSpPr>
              <a:spLocks noChangeArrowheads="1"/>
            </p:cNvSpPr>
            <p:nvPr/>
          </p:nvSpPr>
          <p:spPr bwMode="auto">
            <a:xfrm>
              <a:off x="3000"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38</a:t>
              </a:r>
            </a:p>
          </p:txBody>
        </p:sp>
        <p:sp>
          <p:nvSpPr>
            <p:cNvPr id="12318" name="Rectangle 285"/>
            <p:cNvSpPr>
              <a:spLocks noChangeArrowheads="1"/>
            </p:cNvSpPr>
            <p:nvPr/>
          </p:nvSpPr>
          <p:spPr bwMode="auto">
            <a:xfrm>
              <a:off x="3396" y="2067"/>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tx2"/>
                  </a:solidFill>
                  <a:latin typeface="Times New Roman" pitchFamily="18" charset="0"/>
                </a:rPr>
                <a:t>65</a:t>
              </a:r>
            </a:p>
          </p:txBody>
        </p:sp>
        <p:sp>
          <p:nvSpPr>
            <p:cNvPr id="12319" name="Rectangle 286"/>
            <p:cNvSpPr>
              <a:spLocks noChangeArrowheads="1"/>
            </p:cNvSpPr>
            <p:nvPr/>
          </p:nvSpPr>
          <p:spPr bwMode="auto">
            <a:xfrm>
              <a:off x="3792" y="2064"/>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97</a:t>
              </a:r>
            </a:p>
          </p:txBody>
        </p:sp>
        <p:sp>
          <p:nvSpPr>
            <p:cNvPr id="12320" name="Rectangle 287"/>
            <p:cNvSpPr>
              <a:spLocks noChangeArrowheads="1"/>
            </p:cNvSpPr>
            <p:nvPr/>
          </p:nvSpPr>
          <p:spPr bwMode="auto">
            <a:xfrm>
              <a:off x="4188" y="2064"/>
              <a:ext cx="396"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hlink"/>
                  </a:solidFill>
                  <a:latin typeface="Times New Roman" pitchFamily="18" charset="0"/>
                </a:rPr>
                <a:t>76</a:t>
              </a:r>
            </a:p>
          </p:txBody>
        </p:sp>
      </p:grpSp>
      <p:sp>
        <p:nvSpPr>
          <p:cNvPr id="2" name="矩形 1">
            <a:extLst>
              <a:ext uri="{FF2B5EF4-FFF2-40B4-BE49-F238E27FC236}">
                <a16:creationId xmlns:a16="http://schemas.microsoft.com/office/drawing/2014/main" id="{261ECF34-CB53-9FE4-2398-AFFB9C98869C}"/>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10.2.3 </a:t>
            </a:r>
            <a:r>
              <a:rPr lang="zh-CN" altLang="en-US" sz="2800" b="1" dirty="0">
                <a:solidFill>
                  <a:schemeClr val="bg1"/>
                </a:solidFill>
                <a:latin typeface="经典粗黑简" pitchFamily="49" charset="-122"/>
                <a:ea typeface="经典粗黑简" pitchFamily="49" charset="-122"/>
                <a:cs typeface="经典粗黑简" pitchFamily="49" charset="-122"/>
              </a:rPr>
              <a:t>希尔排序</a:t>
            </a:r>
          </a:p>
        </p:txBody>
      </p:sp>
      <p:cxnSp>
        <p:nvCxnSpPr>
          <p:cNvPr id="3" name="直接连接符 2">
            <a:extLst>
              <a:ext uri="{FF2B5EF4-FFF2-40B4-BE49-F238E27FC236}">
                <a16:creationId xmlns:a16="http://schemas.microsoft.com/office/drawing/2014/main" id="{CB19C0A2-BD91-E5DC-C505-6A7E310117B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33D3E63-38B3-9866-6245-670F5CE4E5E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23757526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27860"/>
                                        </p:tgtEl>
                                        <p:attrNameLst>
                                          <p:attrName>style.visibility</p:attrName>
                                        </p:attrNameLst>
                                      </p:cBhvr>
                                      <p:to>
                                        <p:strVal val="visible"/>
                                      </p:to>
                                    </p:set>
                                    <p:animEffect transition="in" filter="slide(fromBottom)">
                                      <p:cBhvr>
                                        <p:cTn id="7" dur="500"/>
                                        <p:tgtEl>
                                          <p:spTgt spid="6278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7843"/>
                                        </p:tgtEl>
                                        <p:attrNameLst>
                                          <p:attrName>style.visibility</p:attrName>
                                        </p:attrNameLst>
                                      </p:cBhvr>
                                      <p:to>
                                        <p:strVal val="visible"/>
                                      </p:to>
                                    </p:set>
                                    <p:animEffect transition="in" filter="wipe(left)">
                                      <p:cBhvr>
                                        <p:cTn id="12" dur="500"/>
                                        <p:tgtEl>
                                          <p:spTgt spid="627843"/>
                                        </p:tgtEl>
                                      </p:cBhvr>
                                    </p:animEffect>
                                  </p:childTnLst>
                                </p:cTn>
                              </p:par>
                            </p:childTnLst>
                          </p:cTn>
                        </p:par>
                        <p:par>
                          <p:cTn id="13" fill="hold" nodeType="afterGroup">
                            <p:stCondLst>
                              <p:cond delay="500"/>
                            </p:stCondLst>
                            <p:childTnLst>
                              <p:par>
                                <p:cTn id="14" presetID="22" presetClass="entr" presetSubtype="8" fill="hold" nodeType="afterEffect">
                                  <p:stCondLst>
                                    <p:cond delay="1000"/>
                                  </p:stCondLst>
                                  <p:childTnLst>
                                    <p:set>
                                      <p:cBhvr>
                                        <p:cTn id="15" dur="1" fill="hold">
                                          <p:stCondLst>
                                            <p:cond delay="0"/>
                                          </p:stCondLst>
                                        </p:cTn>
                                        <p:tgtEl>
                                          <p:spTgt spid="627844"/>
                                        </p:tgtEl>
                                        <p:attrNameLst>
                                          <p:attrName>style.visibility</p:attrName>
                                        </p:attrNameLst>
                                      </p:cBhvr>
                                      <p:to>
                                        <p:strVal val="visible"/>
                                      </p:to>
                                    </p:set>
                                    <p:animEffect transition="in" filter="wipe(left)">
                                      <p:cBhvr>
                                        <p:cTn id="16" dur="500"/>
                                        <p:tgtEl>
                                          <p:spTgt spid="627844"/>
                                        </p:tgtEl>
                                      </p:cBhvr>
                                    </p:animEffect>
                                  </p:childTnLst>
                                </p:cTn>
                              </p:par>
                            </p:childTnLst>
                          </p:cTn>
                        </p:par>
                        <p:par>
                          <p:cTn id="17" fill="hold" nodeType="afterGroup">
                            <p:stCondLst>
                              <p:cond delay="2000"/>
                            </p:stCondLst>
                            <p:childTnLst>
                              <p:par>
                                <p:cTn id="18" presetID="22" presetClass="entr" presetSubtype="4" fill="hold" nodeType="afterEffect">
                                  <p:stCondLst>
                                    <p:cond delay="1000"/>
                                  </p:stCondLst>
                                  <p:childTnLst>
                                    <p:set>
                                      <p:cBhvr>
                                        <p:cTn id="19" dur="1" fill="hold">
                                          <p:stCondLst>
                                            <p:cond delay="0"/>
                                          </p:stCondLst>
                                        </p:cTn>
                                        <p:tgtEl>
                                          <p:spTgt spid="627848"/>
                                        </p:tgtEl>
                                        <p:attrNameLst>
                                          <p:attrName>style.visibility</p:attrName>
                                        </p:attrNameLst>
                                      </p:cBhvr>
                                      <p:to>
                                        <p:strVal val="visible"/>
                                      </p:to>
                                    </p:set>
                                    <p:animEffect transition="in" filter="wipe(down)">
                                      <p:cBhvr>
                                        <p:cTn id="20" dur="500"/>
                                        <p:tgtEl>
                                          <p:spTgt spid="627848"/>
                                        </p:tgtEl>
                                      </p:cBhvr>
                                    </p:animEffect>
                                  </p:childTnLst>
                                </p:cTn>
                              </p:par>
                            </p:childTnLst>
                          </p:cTn>
                        </p:par>
                        <p:par>
                          <p:cTn id="21" fill="hold" nodeType="afterGroup">
                            <p:stCondLst>
                              <p:cond delay="3500"/>
                            </p:stCondLst>
                            <p:childTnLst>
                              <p:par>
                                <p:cTn id="22" presetID="22" presetClass="entr" presetSubtype="8" fill="hold" nodeType="afterEffect">
                                  <p:stCondLst>
                                    <p:cond delay="1000"/>
                                  </p:stCondLst>
                                  <p:childTnLst>
                                    <p:set>
                                      <p:cBhvr>
                                        <p:cTn id="23" dur="1" fill="hold">
                                          <p:stCondLst>
                                            <p:cond delay="0"/>
                                          </p:stCondLst>
                                        </p:cTn>
                                        <p:tgtEl>
                                          <p:spTgt spid="627852"/>
                                        </p:tgtEl>
                                        <p:attrNameLst>
                                          <p:attrName>style.visibility</p:attrName>
                                        </p:attrNameLst>
                                      </p:cBhvr>
                                      <p:to>
                                        <p:strVal val="visible"/>
                                      </p:to>
                                    </p:set>
                                    <p:animEffect transition="in" filter="wipe(left)">
                                      <p:cBhvr>
                                        <p:cTn id="24" dur="500"/>
                                        <p:tgtEl>
                                          <p:spTgt spid="627852"/>
                                        </p:tgtEl>
                                      </p:cBhvr>
                                    </p:animEffect>
                                  </p:childTnLst>
                                </p:cTn>
                              </p:par>
                            </p:childTnLst>
                          </p:cTn>
                        </p:par>
                        <p:par>
                          <p:cTn id="25" fill="hold" nodeType="afterGroup">
                            <p:stCondLst>
                              <p:cond delay="5000"/>
                            </p:stCondLst>
                            <p:childTnLst>
                              <p:par>
                                <p:cTn id="26" presetID="22" presetClass="entr" presetSubtype="8" fill="hold" nodeType="afterEffect">
                                  <p:stCondLst>
                                    <p:cond delay="1000"/>
                                  </p:stCondLst>
                                  <p:childTnLst>
                                    <p:set>
                                      <p:cBhvr>
                                        <p:cTn id="27" dur="1" fill="hold">
                                          <p:stCondLst>
                                            <p:cond delay="0"/>
                                          </p:stCondLst>
                                        </p:cTn>
                                        <p:tgtEl>
                                          <p:spTgt spid="627856"/>
                                        </p:tgtEl>
                                        <p:attrNameLst>
                                          <p:attrName>style.visibility</p:attrName>
                                        </p:attrNameLst>
                                      </p:cBhvr>
                                      <p:to>
                                        <p:strVal val="visible"/>
                                      </p:to>
                                    </p:set>
                                    <p:animEffect transition="in" filter="wipe(left)">
                                      <p:cBhvr>
                                        <p:cTn id="28" dur="500"/>
                                        <p:tgtEl>
                                          <p:spTgt spid="6278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627903"/>
                                        </p:tgtEl>
                                        <p:attrNameLst>
                                          <p:attrName>style.visibility</p:attrName>
                                        </p:attrNameLst>
                                      </p:cBhvr>
                                      <p:to>
                                        <p:strVal val="visible"/>
                                      </p:to>
                                    </p:set>
                                    <p:animEffect transition="in" filter="slide(fromBottom)">
                                      <p:cBhvr>
                                        <p:cTn id="33" dur="500"/>
                                        <p:tgtEl>
                                          <p:spTgt spid="627903"/>
                                        </p:tgtEl>
                                      </p:cBhvr>
                                    </p:animEffect>
                                  </p:childTnLst>
                                </p:cTn>
                              </p:par>
                            </p:childTnLst>
                          </p:cTn>
                        </p:par>
                        <p:par>
                          <p:cTn id="34" fill="hold" nodeType="afterGroup">
                            <p:stCondLst>
                              <p:cond delay="500"/>
                            </p:stCondLst>
                            <p:childTnLst>
                              <p:par>
                                <p:cTn id="35" presetID="12" presetClass="entr" presetSubtype="4" fill="hold" nodeType="afterEffect">
                                  <p:stCondLst>
                                    <p:cond delay="0"/>
                                  </p:stCondLst>
                                  <p:childTnLst>
                                    <p:set>
                                      <p:cBhvr>
                                        <p:cTn id="36" dur="1" fill="hold">
                                          <p:stCondLst>
                                            <p:cond delay="0"/>
                                          </p:stCondLst>
                                        </p:cTn>
                                        <p:tgtEl>
                                          <p:spTgt spid="627862"/>
                                        </p:tgtEl>
                                        <p:attrNameLst>
                                          <p:attrName>style.visibility</p:attrName>
                                        </p:attrNameLst>
                                      </p:cBhvr>
                                      <p:to>
                                        <p:strVal val="visible"/>
                                      </p:to>
                                    </p:set>
                                    <p:animEffect transition="in" filter="slide(fromBottom)">
                                      <p:cBhvr>
                                        <p:cTn id="37" dur="500"/>
                                        <p:tgtEl>
                                          <p:spTgt spid="6278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627904"/>
                                        </p:tgtEl>
                                        <p:attrNameLst>
                                          <p:attrName>style.visibility</p:attrName>
                                        </p:attrNameLst>
                                      </p:cBhvr>
                                      <p:to>
                                        <p:strVal val="visible"/>
                                      </p:to>
                                    </p:set>
                                    <p:animEffect transition="in" filter="slide(fromBottom)">
                                      <p:cBhvr>
                                        <p:cTn id="42" dur="500"/>
                                        <p:tgtEl>
                                          <p:spTgt spid="6279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27989"/>
                                        </p:tgtEl>
                                        <p:attrNameLst>
                                          <p:attrName>style.visibility</p:attrName>
                                        </p:attrNameLst>
                                      </p:cBhvr>
                                      <p:to>
                                        <p:strVal val="visible"/>
                                      </p:to>
                                    </p:set>
                                    <p:animEffect transition="in" filter="wipe(left)">
                                      <p:cBhvr>
                                        <p:cTn id="47" dur="500"/>
                                        <p:tgtEl>
                                          <p:spTgt spid="6279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27943"/>
                                        </p:tgtEl>
                                        <p:attrNameLst>
                                          <p:attrName>style.visibility</p:attrName>
                                        </p:attrNameLst>
                                      </p:cBhvr>
                                      <p:to>
                                        <p:strVal val="visible"/>
                                      </p:to>
                                    </p:set>
                                    <p:animEffect transition="in" filter="wipe(left)">
                                      <p:cBhvr>
                                        <p:cTn id="52" dur="500"/>
                                        <p:tgtEl>
                                          <p:spTgt spid="627943"/>
                                        </p:tgtEl>
                                      </p:cBhvr>
                                    </p:animEffect>
                                  </p:childTnLst>
                                </p:cTn>
                              </p:par>
                            </p:childTnLst>
                          </p:cTn>
                        </p:par>
                        <p:par>
                          <p:cTn id="53" fill="hold" nodeType="afterGroup">
                            <p:stCondLst>
                              <p:cond delay="500"/>
                            </p:stCondLst>
                            <p:childTnLst>
                              <p:par>
                                <p:cTn id="54" presetID="22" presetClass="entr" presetSubtype="4" fill="hold" nodeType="afterEffect">
                                  <p:stCondLst>
                                    <p:cond delay="1000"/>
                                  </p:stCondLst>
                                  <p:childTnLst>
                                    <p:set>
                                      <p:cBhvr>
                                        <p:cTn id="55" dur="1" fill="hold">
                                          <p:stCondLst>
                                            <p:cond delay="0"/>
                                          </p:stCondLst>
                                        </p:cTn>
                                        <p:tgtEl>
                                          <p:spTgt spid="627927"/>
                                        </p:tgtEl>
                                        <p:attrNameLst>
                                          <p:attrName>style.visibility</p:attrName>
                                        </p:attrNameLst>
                                      </p:cBhvr>
                                      <p:to>
                                        <p:strVal val="visible"/>
                                      </p:to>
                                    </p:set>
                                    <p:animEffect transition="in" filter="wipe(down)">
                                      <p:cBhvr>
                                        <p:cTn id="56" dur="500"/>
                                        <p:tgtEl>
                                          <p:spTgt spid="627927"/>
                                        </p:tgtEl>
                                      </p:cBhvr>
                                    </p:animEffect>
                                  </p:childTnLst>
                                </p:cTn>
                              </p:par>
                            </p:childTnLst>
                          </p:cTn>
                        </p:par>
                        <p:par>
                          <p:cTn id="57" fill="hold" nodeType="afterGroup">
                            <p:stCondLst>
                              <p:cond delay="2000"/>
                            </p:stCondLst>
                            <p:childTnLst>
                              <p:par>
                                <p:cTn id="58" presetID="22" presetClass="entr" presetSubtype="8" fill="hold" nodeType="afterEffect">
                                  <p:stCondLst>
                                    <p:cond delay="1000"/>
                                  </p:stCondLst>
                                  <p:childTnLst>
                                    <p:set>
                                      <p:cBhvr>
                                        <p:cTn id="59" dur="1" fill="hold">
                                          <p:stCondLst>
                                            <p:cond delay="0"/>
                                          </p:stCondLst>
                                        </p:cTn>
                                        <p:tgtEl>
                                          <p:spTgt spid="627932"/>
                                        </p:tgtEl>
                                        <p:attrNameLst>
                                          <p:attrName>style.visibility</p:attrName>
                                        </p:attrNameLst>
                                      </p:cBhvr>
                                      <p:to>
                                        <p:strVal val="visible"/>
                                      </p:to>
                                    </p:set>
                                    <p:animEffect transition="in" filter="wipe(left)">
                                      <p:cBhvr>
                                        <p:cTn id="60" dur="500"/>
                                        <p:tgtEl>
                                          <p:spTgt spid="62793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627944"/>
                                        </p:tgtEl>
                                        <p:attrNameLst>
                                          <p:attrName>style.visibility</p:attrName>
                                        </p:attrNameLst>
                                      </p:cBhvr>
                                      <p:to>
                                        <p:strVal val="visible"/>
                                      </p:to>
                                    </p:set>
                                    <p:animEffect transition="in" filter="slide(fromBottom)">
                                      <p:cBhvr>
                                        <p:cTn id="65" dur="500"/>
                                        <p:tgtEl>
                                          <p:spTgt spid="627944"/>
                                        </p:tgtEl>
                                      </p:cBhvr>
                                    </p:animEffect>
                                  </p:childTnLst>
                                </p:cTn>
                              </p:par>
                            </p:childTnLst>
                          </p:cTn>
                        </p:par>
                        <p:par>
                          <p:cTn id="66" fill="hold" nodeType="afterGroup">
                            <p:stCondLst>
                              <p:cond delay="500"/>
                            </p:stCondLst>
                            <p:childTnLst>
                              <p:par>
                                <p:cTn id="67" presetID="12" presetClass="entr" presetSubtype="4" fill="hold" nodeType="afterEffect">
                                  <p:stCondLst>
                                    <p:cond delay="0"/>
                                  </p:stCondLst>
                                  <p:childTnLst>
                                    <p:set>
                                      <p:cBhvr>
                                        <p:cTn id="68" dur="1" fill="hold">
                                          <p:stCondLst>
                                            <p:cond delay="0"/>
                                          </p:stCondLst>
                                        </p:cTn>
                                        <p:tgtEl>
                                          <p:spTgt spid="627945"/>
                                        </p:tgtEl>
                                        <p:attrNameLst>
                                          <p:attrName>style.visibility</p:attrName>
                                        </p:attrNameLst>
                                      </p:cBhvr>
                                      <p:to>
                                        <p:strVal val="visible"/>
                                      </p:to>
                                    </p:set>
                                    <p:animEffect transition="in" filter="slide(fromBottom)">
                                      <p:cBhvr>
                                        <p:cTn id="69" dur="500"/>
                                        <p:tgtEl>
                                          <p:spTgt spid="62794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4" fill="hold" grpId="0" nodeType="clickEffect">
                                  <p:stCondLst>
                                    <p:cond delay="0"/>
                                  </p:stCondLst>
                                  <p:childTnLst>
                                    <p:set>
                                      <p:cBhvr>
                                        <p:cTn id="73" dur="1" fill="hold">
                                          <p:stCondLst>
                                            <p:cond delay="0"/>
                                          </p:stCondLst>
                                        </p:cTn>
                                        <p:tgtEl>
                                          <p:spTgt spid="627966"/>
                                        </p:tgtEl>
                                        <p:attrNameLst>
                                          <p:attrName>style.visibility</p:attrName>
                                        </p:attrNameLst>
                                      </p:cBhvr>
                                      <p:to>
                                        <p:strVal val="visible"/>
                                      </p:to>
                                    </p:set>
                                    <p:animEffect transition="in" filter="slide(fromBottom)">
                                      <p:cBhvr>
                                        <p:cTn id="74" dur="500"/>
                                        <p:tgtEl>
                                          <p:spTgt spid="62796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627967"/>
                                        </p:tgtEl>
                                        <p:attrNameLst>
                                          <p:attrName>style.visibility</p:attrName>
                                        </p:attrNameLst>
                                      </p:cBhvr>
                                      <p:to>
                                        <p:strVal val="visible"/>
                                      </p:to>
                                    </p:set>
                                    <p:animEffect transition="in" filter="slide(fromBottom)">
                                      <p:cBhvr>
                                        <p:cTn id="79" dur="500"/>
                                        <p:tgtEl>
                                          <p:spTgt spid="627967"/>
                                        </p:tgtEl>
                                      </p:cBhvr>
                                    </p:animEffect>
                                  </p:childTnLst>
                                </p:cTn>
                              </p:par>
                            </p:childTnLst>
                          </p:cTn>
                        </p:par>
                        <p:par>
                          <p:cTn id="80" fill="hold" nodeType="afterGroup">
                            <p:stCondLst>
                              <p:cond delay="500"/>
                            </p:stCondLst>
                            <p:childTnLst>
                              <p:par>
                                <p:cTn id="81" presetID="12" presetClass="entr" presetSubtype="4" fill="hold" nodeType="afterEffect">
                                  <p:stCondLst>
                                    <p:cond delay="0"/>
                                  </p:stCondLst>
                                  <p:childTnLst>
                                    <p:set>
                                      <p:cBhvr>
                                        <p:cTn id="82" dur="1" fill="hold">
                                          <p:stCondLst>
                                            <p:cond delay="0"/>
                                          </p:stCondLst>
                                        </p:cTn>
                                        <p:tgtEl>
                                          <p:spTgt spid="627968"/>
                                        </p:tgtEl>
                                        <p:attrNameLst>
                                          <p:attrName>style.visibility</p:attrName>
                                        </p:attrNameLst>
                                      </p:cBhvr>
                                      <p:to>
                                        <p:strVal val="visible"/>
                                      </p:to>
                                    </p:set>
                                    <p:animEffect transition="in" filter="slide(fromBottom)">
                                      <p:cBhvr>
                                        <p:cTn id="83" dur="500"/>
                                        <p:tgtEl>
                                          <p:spTgt spid="627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860" grpId="0" autoUpdateAnimBg="0"/>
      <p:bldP spid="627903" grpId="0" autoUpdateAnimBg="0"/>
      <p:bldP spid="627904" grpId="0" autoUpdateAnimBg="0"/>
      <p:bldP spid="627944" grpId="0" autoUpdateAnimBg="0"/>
      <p:bldP spid="627966" grpId="0" autoUpdateAnimBg="0"/>
      <p:bldP spid="62796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246FCFB-61C7-A3F9-5464-2CAC4ED3DF70}"/>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10.2.3 </a:t>
            </a:r>
            <a:r>
              <a:rPr lang="zh-CN" altLang="en-US" sz="2800" b="1" dirty="0">
                <a:solidFill>
                  <a:schemeClr val="bg1"/>
                </a:solidFill>
                <a:latin typeface="经典粗黑简" pitchFamily="49" charset="-122"/>
                <a:ea typeface="经典粗黑简" pitchFamily="49" charset="-122"/>
                <a:cs typeface="经典粗黑简" pitchFamily="49" charset="-122"/>
              </a:rPr>
              <a:t>希尔排序</a:t>
            </a:r>
          </a:p>
        </p:txBody>
      </p:sp>
      <p:cxnSp>
        <p:nvCxnSpPr>
          <p:cNvPr id="3" name="直接连接符 2">
            <a:extLst>
              <a:ext uri="{FF2B5EF4-FFF2-40B4-BE49-F238E27FC236}">
                <a16:creationId xmlns:a16="http://schemas.microsoft.com/office/drawing/2014/main" id="{6AFDC760-9860-0CC8-6C7F-0877F35CB10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9B516E9-69A2-60EF-F6E6-12648A5C7DC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5" name="Text Box 2">
            <a:extLst>
              <a:ext uri="{FF2B5EF4-FFF2-40B4-BE49-F238E27FC236}">
                <a16:creationId xmlns:a16="http://schemas.microsoft.com/office/drawing/2014/main" id="{12AE6D5C-20AB-6407-E8F6-A166549E92DA}"/>
              </a:ext>
            </a:extLst>
          </p:cNvPr>
          <p:cNvSpPr txBox="1">
            <a:spLocks noChangeArrowheads="1"/>
          </p:cNvSpPr>
          <p:nvPr/>
        </p:nvSpPr>
        <p:spPr bwMode="auto">
          <a:xfrm>
            <a:off x="1131661" y="1813445"/>
            <a:ext cx="5464182" cy="4907461"/>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44000" tIns="144000" bIns="144000">
            <a:spAutoFit/>
          </a:bodyPr>
          <a:lstStyle/>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err="1">
                <a:solidFill>
                  <a:srgbClr val="FF0000"/>
                </a:solidFill>
                <a:latin typeface="Consolas" pitchFamily="49" charset="0"/>
                <a:ea typeface="仿宋" pitchFamily="49" charset="-122"/>
                <a:cs typeface="Consolas" pitchFamily="49" charset="0"/>
              </a:rPr>
              <a:t>ShellSort</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R[]</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int n)</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int </a:t>
            </a:r>
            <a:r>
              <a:rPr kumimoji="1" lang="en-US" altLang="zh-CN" sz="1800" dirty="0" err="1">
                <a:solidFill>
                  <a:srgbClr val="1000E4"/>
                </a:solidFill>
                <a:latin typeface="Consolas" pitchFamily="49" charset="0"/>
                <a:ea typeface="仿宋" pitchFamily="49" charset="-122"/>
                <a:cs typeface="Consolas" pitchFamily="49" charset="0"/>
              </a:rPr>
              <a:t>i</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 j</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 d;</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tmp</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d=n/2;	 </a:t>
            </a:r>
            <a:r>
              <a:rPr kumimoji="1" lang="en-US" altLang="zh-CN" sz="1800" dirty="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增量置初值</a:t>
            </a:r>
          </a:p>
          <a:p>
            <a:pPr algn="l">
              <a:lnSpc>
                <a:spcPts val="2000"/>
              </a:lnSpc>
            </a:pP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while (</a:t>
            </a:r>
            <a:r>
              <a:rPr kumimoji="1" lang="en-US" altLang="zh-CN" sz="1800" dirty="0">
                <a:solidFill>
                  <a:srgbClr val="FF00FF"/>
                </a:solidFill>
                <a:latin typeface="Consolas" pitchFamily="49" charset="0"/>
                <a:ea typeface="仿宋" pitchFamily="49" charset="-122"/>
                <a:cs typeface="Consolas" pitchFamily="49" charset="0"/>
              </a:rPr>
              <a:t>d&gt;0</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  for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d;i</a:t>
            </a:r>
            <a:r>
              <a:rPr kumimoji="1" lang="en-US" altLang="zh-CN" sz="1800" dirty="0">
                <a:solidFill>
                  <a:srgbClr val="1000E4"/>
                </a:solidFill>
                <a:latin typeface="Consolas" pitchFamily="49" charset="0"/>
                <a:ea typeface="仿宋" pitchFamily="49" charset="-122"/>
                <a:cs typeface="Consolas" pitchFamily="49" charset="0"/>
              </a:rPr>
              <a:t>&lt;</a:t>
            </a:r>
            <a:r>
              <a:rPr kumimoji="1" lang="en-US" altLang="zh-CN" sz="1800" dirty="0" err="1">
                <a:solidFill>
                  <a:srgbClr val="1000E4"/>
                </a:solidFill>
                <a:latin typeface="Consolas" pitchFamily="49" charset="0"/>
                <a:ea typeface="仿宋" pitchFamily="49" charset="-122"/>
                <a:cs typeface="Consolas" pitchFamily="49" charset="0"/>
              </a:rPr>
              <a:t>n;i</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对相隔</a:t>
            </a:r>
            <a:r>
              <a:rPr kumimoji="1" lang="en-US" altLang="zh-CN" sz="1800" i="1" dirty="0">
                <a:solidFill>
                  <a:srgbClr val="00B0F0"/>
                </a:solidFill>
                <a:latin typeface="Consolas" pitchFamily="49" charset="0"/>
                <a:ea typeface="仿宋" pitchFamily="49" charset="-122"/>
                <a:cs typeface="Consolas" pitchFamily="49" charset="0"/>
              </a:rPr>
              <a:t>d</a:t>
            </a:r>
            <a:r>
              <a:rPr kumimoji="1" lang="zh-CN" altLang="en-US" sz="1800" dirty="0">
                <a:solidFill>
                  <a:srgbClr val="00B0F0"/>
                </a:solidFill>
                <a:latin typeface="Consolas" pitchFamily="49" charset="0"/>
                <a:ea typeface="仿宋" pitchFamily="49" charset="-122"/>
                <a:cs typeface="Consolas" pitchFamily="49" charset="0"/>
              </a:rPr>
              <a:t>位置的元素组直接插入排序</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tmp</a:t>
            </a:r>
            <a:r>
              <a:rPr kumimoji="1" lang="en-US" altLang="zh-CN" sz="1800" dirty="0">
                <a:solidFill>
                  <a:srgbClr val="1000E4"/>
                </a:solidFill>
                <a:latin typeface="Consolas" pitchFamily="49" charset="0"/>
                <a:ea typeface="仿宋" pitchFamily="49" charset="-122"/>
                <a:cs typeface="Consolas" pitchFamily="49" charset="0"/>
              </a:rPr>
              <a:t>=R[</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j=</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err="1">
                <a:solidFill>
                  <a:srgbClr val="FF00FF"/>
                </a:solidFill>
                <a:latin typeface="Consolas" pitchFamily="49" charset="0"/>
                <a:ea typeface="仿宋" pitchFamily="49" charset="-122"/>
                <a:cs typeface="Consolas" pitchFamily="49" charset="0"/>
              </a:rPr>
              <a:t>d</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while (j&gt;=0 &amp;&amp; </a:t>
            </a:r>
            <a:r>
              <a:rPr kumimoji="1" lang="en-US" altLang="zh-CN" sz="1800" dirty="0" err="1">
                <a:solidFill>
                  <a:srgbClr val="1000E4"/>
                </a:solidFill>
                <a:latin typeface="Consolas" pitchFamily="49" charset="0"/>
                <a:ea typeface="仿宋" pitchFamily="49" charset="-122"/>
                <a:cs typeface="Consolas" pitchFamily="49" charset="0"/>
              </a:rPr>
              <a:t>tmp.key</a:t>
            </a:r>
            <a:r>
              <a:rPr kumimoji="1" lang="en-US" altLang="zh-CN" sz="1800" dirty="0">
                <a:solidFill>
                  <a:srgbClr val="1000E4"/>
                </a:solidFill>
                <a:latin typeface="Consolas" pitchFamily="49" charset="0"/>
                <a:ea typeface="仿宋" pitchFamily="49" charset="-122"/>
                <a:cs typeface="Consolas" pitchFamily="49" charset="0"/>
              </a:rPr>
              <a:t>&lt;R[j].key)</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  R[</a:t>
            </a:r>
            <a:r>
              <a:rPr kumimoji="1" lang="en-US" altLang="zh-CN" sz="1800" dirty="0" err="1">
                <a:solidFill>
                  <a:srgbClr val="1000E4"/>
                </a:solidFill>
                <a:latin typeface="Consolas" pitchFamily="49" charset="0"/>
                <a:ea typeface="仿宋" pitchFamily="49" charset="-122"/>
                <a:cs typeface="Consolas" pitchFamily="49" charset="0"/>
              </a:rPr>
              <a:t>j+</a:t>
            </a:r>
            <a:r>
              <a:rPr kumimoji="1" lang="en-US" altLang="zh-CN" sz="1800" dirty="0" err="1">
                <a:solidFill>
                  <a:srgbClr val="FF00FF"/>
                </a:solidFill>
                <a:latin typeface="Consolas" pitchFamily="49" charset="0"/>
                <a:ea typeface="仿宋" pitchFamily="49" charset="-122"/>
                <a:cs typeface="Consolas" pitchFamily="49" charset="0"/>
              </a:rPr>
              <a:t>d</a:t>
            </a:r>
            <a:r>
              <a:rPr kumimoji="1" lang="en-US" altLang="zh-CN" sz="1800" dirty="0">
                <a:solidFill>
                  <a:srgbClr val="1000E4"/>
                </a:solidFill>
                <a:latin typeface="Consolas" pitchFamily="49" charset="0"/>
                <a:ea typeface="仿宋" pitchFamily="49" charset="-122"/>
                <a:cs typeface="Consolas" pitchFamily="49" charset="0"/>
              </a:rPr>
              <a:t>]=R[j];</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j=j-</a:t>
            </a:r>
            <a:r>
              <a:rPr kumimoji="1" lang="en-US" altLang="zh-CN" sz="1800" dirty="0">
                <a:solidFill>
                  <a:srgbClr val="FF00FF"/>
                </a:solidFill>
                <a:latin typeface="Consolas" pitchFamily="49" charset="0"/>
                <a:ea typeface="仿宋" pitchFamily="49" charset="-122"/>
                <a:cs typeface="Consolas" pitchFamily="49" charset="0"/>
              </a:rPr>
              <a:t>d</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R[</a:t>
            </a:r>
            <a:r>
              <a:rPr kumimoji="1" lang="en-US" altLang="zh-CN" sz="1800" dirty="0" err="1">
                <a:solidFill>
                  <a:srgbClr val="1000E4"/>
                </a:solidFill>
                <a:latin typeface="Consolas" pitchFamily="49" charset="0"/>
                <a:ea typeface="仿宋" pitchFamily="49" charset="-122"/>
                <a:cs typeface="Consolas" pitchFamily="49" charset="0"/>
              </a:rPr>
              <a:t>j+</a:t>
            </a:r>
            <a:r>
              <a:rPr kumimoji="1" lang="en-US" altLang="zh-CN" sz="1800" dirty="0" err="1">
                <a:solidFill>
                  <a:srgbClr val="FF00FF"/>
                </a:solidFill>
                <a:latin typeface="Consolas" pitchFamily="49" charset="0"/>
                <a:ea typeface="仿宋" pitchFamily="49" charset="-122"/>
                <a:cs typeface="Consolas" pitchFamily="49" charset="0"/>
              </a:rPr>
              <a:t>d</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tmp</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      d=d/2;	</a:t>
            </a:r>
            <a:r>
              <a:rPr kumimoji="1" lang="en-US" altLang="zh-CN" sz="1800" dirty="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减小增量</a:t>
            </a:r>
          </a:p>
          <a:p>
            <a:pPr algn="l">
              <a:lnSpc>
                <a:spcPts val="2000"/>
              </a:lnSpc>
            </a:pP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a:t>
            </a:r>
          </a:p>
          <a:p>
            <a:pPr algn="l">
              <a:lnSpc>
                <a:spcPts val="2000"/>
              </a:lnSpc>
            </a:pPr>
            <a:r>
              <a:rPr kumimoji="1" lang="en-US" altLang="zh-CN" sz="1800" dirty="0">
                <a:solidFill>
                  <a:srgbClr val="1000E4"/>
                </a:solidFill>
                <a:latin typeface="Consolas" pitchFamily="49" charset="0"/>
                <a:ea typeface="仿宋" pitchFamily="49" charset="-122"/>
                <a:cs typeface="Consolas" pitchFamily="49" charset="0"/>
              </a:rPr>
              <a:t>}</a:t>
            </a:r>
          </a:p>
        </p:txBody>
      </p:sp>
      <p:sp>
        <p:nvSpPr>
          <p:cNvPr id="7" name="Text Box 4">
            <a:extLst>
              <a:ext uri="{FF2B5EF4-FFF2-40B4-BE49-F238E27FC236}">
                <a16:creationId xmlns:a16="http://schemas.microsoft.com/office/drawing/2014/main" id="{A5C4F1B6-E582-47F1-0D89-5FEF839666AC}"/>
              </a:ext>
            </a:extLst>
          </p:cNvPr>
          <p:cNvSpPr txBox="1">
            <a:spLocks noChangeArrowheads="1"/>
          </p:cNvSpPr>
          <p:nvPr/>
        </p:nvSpPr>
        <p:spPr bwMode="auto">
          <a:xfrm>
            <a:off x="7334565" y="3144678"/>
            <a:ext cx="3178166" cy="3060802"/>
          </a:xfrm>
          <a:prstGeom prst="rect">
            <a:avLst/>
          </a:prstGeom>
          <a:solidFill>
            <a:schemeClr val="accent6">
              <a:lumMod val="20000"/>
              <a:lumOff val="80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1"/>
          </a:lnRef>
          <a:fillRef idx="2">
            <a:schemeClr val="accent1"/>
          </a:fillRef>
          <a:effectRef idx="1">
            <a:schemeClr val="accent1"/>
          </a:effectRef>
          <a:fontRef idx="minor">
            <a:schemeClr val="dk1"/>
          </a:fontRef>
        </p:style>
        <p:txBody>
          <a:bodyPr wrap="square" lIns="108000" tIns="144000" bIns="144000">
            <a:spAutoFit/>
          </a:bodyPr>
          <a:lstStyle/>
          <a:p>
            <a:pPr algn="l"/>
            <a:r>
              <a:rPr kumimoji="1" lang="en-US" altLang="zh-CN" sz="1800" dirty="0">
                <a:solidFill>
                  <a:srgbClr val="1000E4"/>
                </a:solidFill>
                <a:latin typeface="Consolas" pitchFamily="49" charset="0"/>
                <a:ea typeface="仿宋" pitchFamily="49" charset="-122"/>
                <a:cs typeface="Consolas" pitchFamily="49" charset="0"/>
              </a:rPr>
              <a:t>for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1;i</a:t>
            </a:r>
            <a:r>
              <a:rPr kumimoji="1" lang="en-US" altLang="zh-CN" sz="1800" dirty="0">
                <a:solidFill>
                  <a:srgbClr val="1000E4"/>
                </a:solidFill>
                <a:latin typeface="Consolas" pitchFamily="49" charset="0"/>
                <a:ea typeface="仿宋" pitchFamily="49" charset="-122"/>
                <a:cs typeface="Consolas" pitchFamily="49" charset="0"/>
              </a:rPr>
              <a:t>&lt;</a:t>
            </a:r>
            <a:r>
              <a:rPr kumimoji="1" lang="en-US" altLang="zh-CN" sz="1800" dirty="0" err="1">
                <a:solidFill>
                  <a:srgbClr val="1000E4"/>
                </a:solidFill>
                <a:latin typeface="Consolas" pitchFamily="49" charset="0"/>
                <a:ea typeface="仿宋" pitchFamily="49" charset="-122"/>
                <a:cs typeface="Consolas" pitchFamily="49" charset="0"/>
              </a:rPr>
              <a:t>n;i</a:t>
            </a:r>
            <a:r>
              <a:rPr kumimoji="1" lang="en-US" altLang="zh-CN" sz="1800" dirty="0">
                <a:solidFill>
                  <a:srgbClr val="1000E4"/>
                </a:solidFill>
                <a:latin typeface="Consolas" pitchFamily="49" charset="0"/>
                <a:ea typeface="仿宋" pitchFamily="49" charset="-122"/>
                <a:cs typeface="Consolas" pitchFamily="49" charset="0"/>
              </a:rPr>
              <a:t>++) </a:t>
            </a:r>
          </a:p>
          <a:p>
            <a:pPr algn="l"/>
            <a:r>
              <a:rPr kumimoji="1" lang="en-US" altLang="zh-CN" sz="1800">
                <a:solidFill>
                  <a:srgbClr val="1000E4"/>
                </a:solidFill>
                <a:latin typeface="Consolas" pitchFamily="49" charset="0"/>
                <a:ea typeface="仿宋" pitchFamily="49" charset="-122"/>
                <a:cs typeface="Consolas" pitchFamily="49" charset="0"/>
              </a:rPr>
              <a:t>{  tmp=R[i</a:t>
            </a:r>
            <a:r>
              <a:rPr kumimoji="1" lang="en-US" altLang="zh-CN" sz="1800" dirty="0">
                <a:solidFill>
                  <a:srgbClr val="1000E4"/>
                </a:solidFill>
                <a:latin typeface="Consolas" pitchFamily="49" charset="0"/>
                <a:ea typeface="仿宋" pitchFamily="49" charset="-122"/>
                <a:cs typeface="Consolas" pitchFamily="49" charset="0"/>
              </a:rPr>
              <a:t>];</a:t>
            </a:r>
          </a:p>
          <a:p>
            <a:pPr algn="l"/>
            <a:r>
              <a:rPr kumimoji="1" lang="en-US" altLang="zh-CN" sz="1800">
                <a:solidFill>
                  <a:srgbClr val="1000E4"/>
                </a:solidFill>
                <a:latin typeface="Consolas" pitchFamily="49" charset="0"/>
                <a:ea typeface="仿宋" pitchFamily="49" charset="-122"/>
                <a:cs typeface="Consolas" pitchFamily="49" charset="0"/>
              </a:rPr>
              <a:t>   j=i-</a:t>
            </a:r>
            <a:r>
              <a:rPr kumimoji="1" lang="en-US" altLang="zh-CN" sz="1800">
                <a:solidFill>
                  <a:srgbClr val="FF00FF"/>
                </a:solidFill>
                <a:latin typeface="Consolas" pitchFamily="49" charset="0"/>
                <a:ea typeface="仿宋" pitchFamily="49" charset="-122"/>
                <a:cs typeface="Consolas" pitchFamily="49" charset="0"/>
              </a:rPr>
              <a:t>1</a:t>
            </a:r>
            <a:r>
              <a:rPr kumimoji="1" lang="en-US" altLang="zh-CN" sz="1800" dirty="0">
                <a:solidFill>
                  <a:srgbClr val="1000E4"/>
                </a:solidFill>
                <a:latin typeface="Consolas" pitchFamily="49" charset="0"/>
                <a:ea typeface="仿宋" pitchFamily="49" charset="-122"/>
                <a:cs typeface="Consolas" pitchFamily="49" charset="0"/>
              </a:rPr>
              <a:t>;</a:t>
            </a:r>
          </a:p>
          <a:p>
            <a:pPr algn="l"/>
            <a:r>
              <a:rPr kumimoji="1" lang="en-US" altLang="zh-CN" sz="1800">
                <a:solidFill>
                  <a:srgbClr val="1000E4"/>
                </a:solidFill>
                <a:latin typeface="Consolas" pitchFamily="49" charset="0"/>
                <a:ea typeface="仿宋" pitchFamily="49" charset="-122"/>
                <a:cs typeface="Consolas" pitchFamily="49" charset="0"/>
              </a:rPr>
              <a:t>   while </a:t>
            </a:r>
            <a:r>
              <a:rPr kumimoji="1" lang="en-US" altLang="zh-CN" sz="1800" dirty="0">
                <a:solidFill>
                  <a:srgbClr val="1000E4"/>
                </a:solidFill>
                <a:latin typeface="Consolas" pitchFamily="49" charset="0"/>
                <a:ea typeface="仿宋" pitchFamily="49" charset="-122"/>
                <a:cs typeface="Consolas" pitchFamily="49" charset="0"/>
              </a:rPr>
              <a:t>(j&gt;=0 &amp;&amp;</a:t>
            </a:r>
          </a:p>
          <a:p>
            <a:pPr algn="l"/>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tmp.key</a:t>
            </a:r>
            <a:r>
              <a:rPr kumimoji="1" lang="en-US" altLang="zh-CN" sz="1800" dirty="0">
                <a:solidFill>
                  <a:srgbClr val="1000E4"/>
                </a:solidFill>
                <a:latin typeface="Consolas" pitchFamily="49" charset="0"/>
                <a:ea typeface="仿宋" pitchFamily="49" charset="-122"/>
                <a:cs typeface="Consolas" pitchFamily="49" charset="0"/>
              </a:rPr>
              <a:t>&lt;R[j].key) </a:t>
            </a:r>
          </a:p>
          <a:p>
            <a:pPr algn="l"/>
            <a:r>
              <a:rPr kumimoji="1" lang="en-US" altLang="zh-CN" sz="1800">
                <a:solidFill>
                  <a:srgbClr val="1000E4"/>
                </a:solidFill>
                <a:latin typeface="Consolas" pitchFamily="49" charset="0"/>
                <a:ea typeface="仿宋" pitchFamily="49" charset="-122"/>
                <a:cs typeface="Consolas" pitchFamily="49" charset="0"/>
              </a:rPr>
              <a:t>   {  R[j+</a:t>
            </a:r>
            <a:r>
              <a:rPr kumimoji="1" lang="en-US" altLang="zh-CN" sz="1800">
                <a:solidFill>
                  <a:srgbClr val="FF00FF"/>
                </a:solidFill>
                <a:latin typeface="Consolas" pitchFamily="49" charset="0"/>
                <a:ea typeface="仿宋" pitchFamily="49" charset="-122"/>
                <a:cs typeface="Consolas" pitchFamily="49" charset="0"/>
              </a:rPr>
              <a:t>1</a:t>
            </a:r>
            <a:r>
              <a:rPr kumimoji="1" lang="en-US" altLang="zh-CN" sz="1800" dirty="0">
                <a:solidFill>
                  <a:srgbClr val="1000E4"/>
                </a:solidFill>
                <a:latin typeface="Consolas" pitchFamily="49" charset="0"/>
                <a:ea typeface="仿宋" pitchFamily="49" charset="-122"/>
                <a:cs typeface="Consolas" pitchFamily="49" charset="0"/>
              </a:rPr>
              <a:t>]=R[j];</a:t>
            </a:r>
          </a:p>
          <a:p>
            <a:pPr algn="l"/>
            <a:r>
              <a:rPr kumimoji="1" lang="en-US" altLang="zh-CN" sz="1800">
                <a:solidFill>
                  <a:srgbClr val="1000E4"/>
                </a:solidFill>
                <a:latin typeface="Consolas" pitchFamily="49" charset="0"/>
                <a:ea typeface="仿宋" pitchFamily="49" charset="-122"/>
                <a:cs typeface="Consolas" pitchFamily="49" charset="0"/>
              </a:rPr>
              <a:t>      j=j-</a:t>
            </a:r>
            <a:r>
              <a:rPr kumimoji="1" lang="en-US" altLang="zh-CN" sz="1800">
                <a:solidFill>
                  <a:srgbClr val="FF00FF"/>
                </a:solidFill>
                <a:latin typeface="Consolas" pitchFamily="49" charset="0"/>
                <a:ea typeface="仿宋" pitchFamily="49" charset="-122"/>
                <a:cs typeface="Consolas" pitchFamily="49" charset="0"/>
              </a:rPr>
              <a:t>1</a:t>
            </a:r>
            <a:r>
              <a:rPr kumimoji="1" lang="en-US" altLang="zh-CN" sz="1800" dirty="0">
                <a:solidFill>
                  <a:srgbClr val="1000E4"/>
                </a:solidFill>
                <a:latin typeface="Consolas" pitchFamily="49" charset="0"/>
                <a:ea typeface="仿宋" pitchFamily="49" charset="-122"/>
                <a:cs typeface="Consolas" pitchFamily="49" charset="0"/>
              </a:rPr>
              <a:t>;</a:t>
            </a:r>
          </a:p>
          <a:p>
            <a:pPr algn="l"/>
            <a:r>
              <a:rPr kumimoji="1" lang="en-US" altLang="zh-CN" sz="1800">
                <a:solidFill>
                  <a:srgbClr val="1000E4"/>
                </a:solidFill>
                <a:latin typeface="Consolas" pitchFamily="49" charset="0"/>
                <a:ea typeface="仿宋" pitchFamily="49" charset="-122"/>
                <a:cs typeface="Consolas" pitchFamily="49" charset="0"/>
              </a:rPr>
              <a:t>   }</a:t>
            </a:r>
            <a:endParaRPr kumimoji="1" lang="en-US" altLang="zh-CN" sz="1800" dirty="0">
              <a:solidFill>
                <a:srgbClr val="1000E4"/>
              </a:solidFill>
              <a:latin typeface="Consolas" pitchFamily="49" charset="0"/>
              <a:ea typeface="仿宋" pitchFamily="49" charset="-122"/>
              <a:cs typeface="Consolas" pitchFamily="49" charset="0"/>
            </a:endParaRPr>
          </a:p>
          <a:p>
            <a:pPr algn="l"/>
            <a:r>
              <a:rPr kumimoji="1" lang="en-US" altLang="zh-CN" sz="1800">
                <a:solidFill>
                  <a:srgbClr val="1000E4"/>
                </a:solidFill>
                <a:latin typeface="Consolas" pitchFamily="49" charset="0"/>
                <a:ea typeface="仿宋" pitchFamily="49" charset="-122"/>
                <a:cs typeface="Consolas" pitchFamily="49" charset="0"/>
              </a:rPr>
              <a:t>   R[j+</a:t>
            </a:r>
            <a:r>
              <a:rPr kumimoji="1" lang="en-US" altLang="zh-CN" sz="1800">
                <a:solidFill>
                  <a:srgbClr val="FF00FF"/>
                </a:solidFill>
                <a:latin typeface="Consolas" pitchFamily="49" charset="0"/>
                <a:ea typeface="仿宋" pitchFamily="49" charset="-122"/>
                <a:cs typeface="Consolas" pitchFamily="49" charset="0"/>
              </a:rPr>
              <a:t>1</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tmp</a:t>
            </a:r>
            <a:r>
              <a:rPr kumimoji="1" lang="en-US" altLang="zh-CN" sz="1800" dirty="0">
                <a:solidFill>
                  <a:srgbClr val="1000E4"/>
                </a:solidFill>
                <a:latin typeface="Consolas" pitchFamily="49" charset="0"/>
                <a:ea typeface="仿宋" pitchFamily="49" charset="-122"/>
                <a:cs typeface="Consolas" pitchFamily="49" charset="0"/>
              </a:rPr>
              <a:t>;</a:t>
            </a:r>
          </a:p>
          <a:p>
            <a:pPr algn="l"/>
            <a:r>
              <a:rPr kumimoji="1" lang="en-US" altLang="zh-CN" sz="1800" dirty="0">
                <a:solidFill>
                  <a:srgbClr val="1000E4"/>
                </a:solidFill>
                <a:latin typeface="Consolas" pitchFamily="49" charset="0"/>
                <a:ea typeface="仿宋" pitchFamily="49" charset="-122"/>
                <a:cs typeface="Consolas" pitchFamily="49" charset="0"/>
              </a:rPr>
              <a:t>}</a:t>
            </a:r>
            <a:endParaRPr lang="en-US" altLang="zh-CN" sz="1800" dirty="0">
              <a:solidFill>
                <a:srgbClr val="1000E4"/>
              </a:solidFill>
              <a:latin typeface="Consolas" pitchFamily="49" charset="0"/>
              <a:ea typeface="仿宋" pitchFamily="49" charset="-122"/>
              <a:cs typeface="Consolas" pitchFamily="49" charset="0"/>
            </a:endParaRPr>
          </a:p>
        </p:txBody>
      </p:sp>
      <p:sp>
        <p:nvSpPr>
          <p:cNvPr id="8" name="Text Box 5">
            <a:extLst>
              <a:ext uri="{FF2B5EF4-FFF2-40B4-BE49-F238E27FC236}">
                <a16:creationId xmlns:a16="http://schemas.microsoft.com/office/drawing/2014/main" id="{13E0B974-3EE6-430D-C2E6-5A2628060F11}"/>
              </a:ext>
            </a:extLst>
          </p:cNvPr>
          <p:cNvSpPr txBox="1">
            <a:spLocks noChangeArrowheads="1"/>
          </p:cNvSpPr>
          <p:nvPr/>
        </p:nvSpPr>
        <p:spPr bwMode="auto">
          <a:xfrm>
            <a:off x="7807636" y="2596629"/>
            <a:ext cx="2232025" cy="400110"/>
          </a:xfrm>
          <a:prstGeom prst="rect">
            <a:avLst/>
          </a:prstGeom>
          <a:noFill/>
          <a:ln w="9525">
            <a:noFill/>
            <a:miter lim="800000"/>
            <a:headEnd/>
            <a:tailEnd/>
          </a:ln>
          <a:effectLst/>
        </p:spPr>
        <p:txBody>
          <a:bodyPr>
            <a:spAutoFit/>
          </a:bodyPr>
          <a:lstStyle/>
          <a:p>
            <a:pPr algn="l">
              <a:spcBef>
                <a:spcPct val="50000"/>
              </a:spcBef>
            </a:pPr>
            <a:r>
              <a:rPr lang="zh-CN" altLang="en-US" sz="2000" dirty="0">
                <a:latin typeface="楷体" pitchFamily="49" charset="-122"/>
                <a:ea typeface="楷体" pitchFamily="49" charset="-122"/>
              </a:rPr>
              <a:t>直接插入排序：</a:t>
            </a:r>
          </a:p>
        </p:txBody>
      </p:sp>
      <p:grpSp>
        <p:nvGrpSpPr>
          <p:cNvPr id="10" name="组合 9">
            <a:extLst>
              <a:ext uri="{FF2B5EF4-FFF2-40B4-BE49-F238E27FC236}">
                <a16:creationId xmlns:a16="http://schemas.microsoft.com/office/drawing/2014/main" id="{4CC7FE74-8316-90DF-06F8-D301C3318656}"/>
              </a:ext>
            </a:extLst>
          </p:cNvPr>
          <p:cNvGrpSpPr/>
          <p:nvPr/>
        </p:nvGrpSpPr>
        <p:grpSpPr>
          <a:xfrm>
            <a:off x="7223560" y="1475036"/>
            <a:ext cx="2857520" cy="1357322"/>
            <a:chOff x="5929322" y="857232"/>
            <a:chExt cx="2857520" cy="1357322"/>
          </a:xfrm>
        </p:grpSpPr>
        <p:sp>
          <p:nvSpPr>
            <p:cNvPr id="11" name="环形箭头 7">
              <a:extLst>
                <a:ext uri="{FF2B5EF4-FFF2-40B4-BE49-F238E27FC236}">
                  <a16:creationId xmlns:a16="http://schemas.microsoft.com/office/drawing/2014/main" id="{90A9F980-2AFC-1073-D0A1-233D01F834D5}"/>
                </a:ext>
              </a:extLst>
            </p:cNvPr>
            <p:cNvSpPr/>
            <p:nvPr/>
          </p:nvSpPr>
          <p:spPr>
            <a:xfrm>
              <a:off x="5929322" y="1571612"/>
              <a:ext cx="1000132" cy="642942"/>
            </a:xfrm>
            <a:prstGeom prst="circular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solidFill>
                  <a:schemeClr val="tx1"/>
                </a:solidFill>
              </a:endParaRPr>
            </a:p>
          </p:txBody>
        </p:sp>
        <p:sp>
          <p:nvSpPr>
            <p:cNvPr id="16" name="TextBox 8">
              <a:extLst>
                <a:ext uri="{FF2B5EF4-FFF2-40B4-BE49-F238E27FC236}">
                  <a16:creationId xmlns:a16="http://schemas.microsoft.com/office/drawing/2014/main" id="{3D294B4C-1FE6-1E01-12AA-DE0F008402E9}"/>
                </a:ext>
              </a:extLst>
            </p:cNvPr>
            <p:cNvSpPr txBox="1"/>
            <p:nvPr/>
          </p:nvSpPr>
          <p:spPr>
            <a:xfrm>
              <a:off x="6643702" y="857232"/>
              <a:ext cx="2143140" cy="707886"/>
            </a:xfrm>
            <a:prstGeom prst="rect">
              <a:avLst/>
            </a:prstGeom>
            <a:noFill/>
          </p:spPr>
          <p:txBody>
            <a:bodyPr wrap="square" rtlCol="0">
              <a:spAutoFit/>
            </a:bodyPr>
            <a:lstStyle/>
            <a:p>
              <a:r>
                <a:rPr lang="en-US" altLang="zh-CN" sz="2000" i="1" dirty="0">
                  <a:latin typeface="Consolas" pitchFamily="49" charset="0"/>
                  <a:ea typeface="仿宋" pitchFamily="49" charset="-122"/>
                  <a:cs typeface="Consolas" pitchFamily="49" charset="0"/>
                </a:rPr>
                <a:t>d</a:t>
              </a:r>
              <a:r>
                <a:rPr lang="zh-CN" altLang="en-US" sz="2000" dirty="0">
                  <a:latin typeface="Consolas" pitchFamily="49" charset="0"/>
                  <a:ea typeface="仿宋" pitchFamily="49" charset="-122"/>
                  <a:cs typeface="Consolas" pitchFamily="49" charset="0"/>
                </a:rPr>
                <a:t>循环：每个元素都参加排序了</a:t>
              </a:r>
            </a:p>
          </p:txBody>
        </p:sp>
      </p:grpSp>
    </p:spTree>
    <p:extLst>
      <p:ext uri="{BB962C8B-B14F-4D97-AF65-F5344CB8AC3E}">
        <p14:creationId xmlns:p14="http://schemas.microsoft.com/office/powerpoint/2010/main" val="6351440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1504" y="2304615"/>
            <a:ext cx="9433048" cy="1200329"/>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       希尔排序的分析是一个复杂问题，增量序列的设置是关键，尚没有正式的依据说明如何设置最佳的增量序列，大量的实验表明希尔排序所需的比较和移动次数可达到</a:t>
            </a:r>
            <a:r>
              <a:rPr kumimoji="1" lang="en-US" altLang="zh-CN" sz="2400" dirty="0">
                <a:solidFill>
                  <a:srgbClr val="FF0000"/>
                </a:solidFill>
                <a:latin typeface="微软雅黑" pitchFamily="34" charset="-122"/>
                <a:ea typeface="微软雅黑" pitchFamily="34" charset="-122"/>
                <a:cs typeface="经典粗黑简" pitchFamily="49" charset="-122"/>
              </a:rPr>
              <a:t>n</a:t>
            </a:r>
            <a:r>
              <a:rPr kumimoji="1" lang="en-US" altLang="zh-CN" sz="2400" baseline="30000" dirty="0">
                <a:solidFill>
                  <a:srgbClr val="FF0000"/>
                </a:solidFill>
                <a:latin typeface="微软雅黑" pitchFamily="34" charset="-122"/>
                <a:ea typeface="微软雅黑" pitchFamily="34" charset="-122"/>
                <a:cs typeface="经典粗黑简" pitchFamily="49" charset="-122"/>
              </a:rPr>
              <a:t>1.3</a:t>
            </a:r>
            <a:r>
              <a:rPr kumimoji="1" lang="zh-CN" altLang="en-US" sz="2400" dirty="0">
                <a:latin typeface="微软雅黑" pitchFamily="34" charset="-122"/>
                <a:ea typeface="微软雅黑" pitchFamily="34" charset="-122"/>
                <a:cs typeface="经典粗黑简" pitchFamily="49" charset="-122"/>
              </a:rPr>
              <a:t>。</a:t>
            </a:r>
          </a:p>
        </p:txBody>
      </p:sp>
      <p:sp>
        <p:nvSpPr>
          <p:cNvPr id="4" name="矩形 3"/>
          <p:cNvSpPr/>
          <p:nvPr/>
        </p:nvSpPr>
        <p:spPr>
          <a:xfrm>
            <a:off x="2207568" y="3841035"/>
            <a:ext cx="6811489" cy="1015663"/>
          </a:xfrm>
          <a:prstGeom prst="rect">
            <a:avLst/>
          </a:prstGeom>
        </p:spPr>
        <p:txBody>
          <a:bodyPr wrap="square">
            <a:spAutoFit/>
          </a:bodyPr>
          <a:lstStyle/>
          <a:p>
            <a:pPr>
              <a:spcBef>
                <a:spcPct val="50000"/>
              </a:spcBef>
              <a:buSzPct val="75000"/>
            </a:pPr>
            <a:r>
              <a:rPr kumimoji="1" lang="zh-CN" altLang="en-US" sz="2400" dirty="0">
                <a:latin typeface="微软雅黑" pitchFamily="34" charset="-122"/>
                <a:ea typeface="微软雅黑" pitchFamily="34" charset="-122"/>
                <a:cs typeface="经典粗黑简" pitchFamily="49" charset="-122"/>
              </a:rPr>
              <a:t>希尔排序的</a:t>
            </a:r>
            <a:r>
              <a:rPr kumimoji="1" lang="zh-CN" altLang="en-US" sz="2400" dirty="0">
                <a:solidFill>
                  <a:srgbClr val="FF0000"/>
                </a:solidFill>
                <a:latin typeface="微软雅黑" pitchFamily="34" charset="-122"/>
                <a:ea typeface="微软雅黑" pitchFamily="34" charset="-122"/>
                <a:cs typeface="经典粗黑简" pitchFamily="49" charset="-122"/>
              </a:rPr>
              <a:t>空间复杂度为</a:t>
            </a:r>
            <a:r>
              <a:rPr kumimoji="1" lang="en-US" altLang="zh-CN" sz="2400" dirty="0">
                <a:solidFill>
                  <a:srgbClr val="FF0000"/>
                </a:solidFill>
                <a:latin typeface="微软雅黑" pitchFamily="34" charset="-122"/>
                <a:ea typeface="微软雅黑" pitchFamily="34" charset="-122"/>
                <a:cs typeface="经典粗黑简" pitchFamily="49" charset="-122"/>
              </a:rPr>
              <a:t>O(1);</a:t>
            </a:r>
          </a:p>
          <a:p>
            <a:pPr>
              <a:spcBef>
                <a:spcPct val="50000"/>
              </a:spcBef>
              <a:buSzPct val="75000"/>
            </a:pPr>
            <a:r>
              <a:rPr kumimoji="1" lang="zh-CN" altLang="en-US" sz="2400" dirty="0">
                <a:latin typeface="微软雅黑" pitchFamily="34" charset="-122"/>
                <a:ea typeface="微软雅黑" pitchFamily="34" charset="-122"/>
                <a:cs typeface="经典粗黑简" pitchFamily="49" charset="-122"/>
              </a:rPr>
              <a:t>是</a:t>
            </a:r>
            <a:r>
              <a:rPr kumimoji="1" lang="zh-CN" altLang="en-US" sz="2400" dirty="0">
                <a:solidFill>
                  <a:srgbClr val="FF0000"/>
                </a:solidFill>
                <a:latin typeface="微软雅黑" pitchFamily="34" charset="-122"/>
                <a:ea typeface="微软雅黑" pitchFamily="34" charset="-122"/>
                <a:cs typeface="经典粗黑简" pitchFamily="49" charset="-122"/>
              </a:rPr>
              <a:t>不稳定的排序方法</a:t>
            </a:r>
            <a:r>
              <a:rPr kumimoji="1" lang="zh-CN" altLang="en-US" sz="2400" dirty="0">
                <a:latin typeface="微软雅黑" pitchFamily="34" charset="-122"/>
                <a:ea typeface="微软雅黑" pitchFamily="34" charset="-122"/>
                <a:cs typeface="经典粗黑简" pitchFamily="49" charset="-122"/>
              </a:rPr>
              <a:t>。</a:t>
            </a:r>
          </a:p>
        </p:txBody>
      </p:sp>
      <p:sp>
        <p:nvSpPr>
          <p:cNvPr id="2" name="矩形 1">
            <a:extLst>
              <a:ext uri="{FF2B5EF4-FFF2-40B4-BE49-F238E27FC236}">
                <a16:creationId xmlns:a16="http://schemas.microsoft.com/office/drawing/2014/main" id="{C451E4FC-75AF-B4A1-A6DC-194287736984}"/>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10.2.3 </a:t>
            </a:r>
            <a:r>
              <a:rPr lang="zh-CN" altLang="en-US" sz="2800" b="1" dirty="0">
                <a:solidFill>
                  <a:schemeClr val="bg1"/>
                </a:solidFill>
                <a:latin typeface="经典粗黑简" pitchFamily="49" charset="-122"/>
                <a:ea typeface="经典粗黑简" pitchFamily="49" charset="-122"/>
                <a:cs typeface="经典粗黑简" pitchFamily="49" charset="-122"/>
              </a:rPr>
              <a:t>希尔排序</a:t>
            </a:r>
          </a:p>
        </p:txBody>
      </p:sp>
      <p:cxnSp>
        <p:nvCxnSpPr>
          <p:cNvPr id="5" name="直接连接符 4">
            <a:extLst>
              <a:ext uri="{FF2B5EF4-FFF2-40B4-BE49-F238E27FC236}">
                <a16:creationId xmlns:a16="http://schemas.microsoft.com/office/drawing/2014/main" id="{2C825181-394A-3E01-4B65-C9BCE87FA6AE}"/>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821F2EA3-3ED6-35C6-7105-B55CA569E72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Tree>
    <p:extLst>
      <p:ext uri="{BB962C8B-B14F-4D97-AF65-F5344CB8AC3E}">
        <p14:creationId xmlns:p14="http://schemas.microsoft.com/office/powerpoint/2010/main" val="19006836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5160D-4E9D-330B-7629-BAFB0C1EEC7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D8A3E38-D0B0-E68F-D5A1-9AC5194AE0D2}"/>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10.2.3 </a:t>
            </a:r>
            <a:r>
              <a:rPr lang="zh-CN" altLang="en-US" sz="2800" b="1" dirty="0">
                <a:solidFill>
                  <a:schemeClr val="bg1"/>
                </a:solidFill>
                <a:latin typeface="经典粗黑简" pitchFamily="49" charset="-122"/>
                <a:ea typeface="经典粗黑简" pitchFamily="49" charset="-122"/>
                <a:cs typeface="经典粗黑简" pitchFamily="49" charset="-122"/>
              </a:rPr>
              <a:t>希尔排序</a:t>
            </a:r>
          </a:p>
        </p:txBody>
      </p:sp>
      <p:cxnSp>
        <p:nvCxnSpPr>
          <p:cNvPr id="5" name="直接连接符 4">
            <a:extLst>
              <a:ext uri="{FF2B5EF4-FFF2-40B4-BE49-F238E27FC236}">
                <a16:creationId xmlns:a16="http://schemas.microsoft.com/office/drawing/2014/main" id="{718DBC5F-CE6C-FF86-587D-8F5C028DD7F5}"/>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2F98C6D6-671B-09BE-A2FC-1E66E2321BA6}"/>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10.2 </a:t>
            </a:r>
            <a:r>
              <a:rPr lang="zh-CN" altLang="en-US" sz="3000" b="1" dirty="0">
                <a:latin typeface="黑体" pitchFamily="49" charset="-122"/>
                <a:ea typeface="黑体" pitchFamily="49" charset="-122"/>
                <a:cs typeface="经典粗黑简" pitchFamily="49" charset="-122"/>
              </a:rPr>
              <a:t>插入排序</a:t>
            </a:r>
          </a:p>
        </p:txBody>
      </p:sp>
      <p:sp>
        <p:nvSpPr>
          <p:cNvPr id="7" name="TextBox 3">
            <a:extLst>
              <a:ext uri="{FF2B5EF4-FFF2-40B4-BE49-F238E27FC236}">
                <a16:creationId xmlns:a16="http://schemas.microsoft.com/office/drawing/2014/main" id="{66168C60-3906-8B70-5E04-1D49DCDDC175}"/>
              </a:ext>
            </a:extLst>
          </p:cNvPr>
          <p:cNvSpPr txBox="1"/>
          <p:nvPr/>
        </p:nvSpPr>
        <p:spPr>
          <a:xfrm>
            <a:off x="3287688" y="2420888"/>
            <a:ext cx="5072098" cy="1423338"/>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ct val="150000"/>
              </a:lnSpc>
            </a:pPr>
            <a:r>
              <a:rPr lang="zh-CN" altLang="en-US" sz="2000" dirty="0">
                <a:latin typeface="Consolas" pitchFamily="49" charset="0"/>
                <a:ea typeface="楷体" pitchFamily="49" charset="-122"/>
                <a:cs typeface="Consolas" pitchFamily="49" charset="0"/>
              </a:rPr>
              <a:t>希尔排序的组内排序采用的是（ ）。</a:t>
            </a:r>
            <a:endParaRPr lang="en-US" altLang="zh-CN" sz="2000" dirty="0">
              <a:latin typeface="Consolas" pitchFamily="49" charset="0"/>
              <a:ea typeface="楷体" pitchFamily="49" charset="-122"/>
              <a:cs typeface="Consolas" pitchFamily="49" charset="0"/>
            </a:endParaRPr>
          </a:p>
          <a:p>
            <a:pPr algn="l">
              <a:lnSpc>
                <a:spcPct val="150000"/>
              </a:lnSpc>
            </a:pPr>
            <a:r>
              <a:rPr lang="en-US" altLang="zh-CN" sz="2000" dirty="0">
                <a:latin typeface="Consolas" pitchFamily="49" charset="0"/>
                <a:ea typeface="仿宋" pitchFamily="49" charset="-122"/>
                <a:cs typeface="Consolas" pitchFamily="49" charset="0"/>
              </a:rPr>
              <a:t>   </a:t>
            </a:r>
            <a:r>
              <a:rPr lang="en-US" altLang="zh-CN" sz="2000" dirty="0">
                <a:solidFill>
                  <a:srgbClr val="FF00FF"/>
                </a:solidFill>
                <a:latin typeface="Consolas" pitchFamily="49" charset="0"/>
                <a:ea typeface="仿宋" pitchFamily="49" charset="-122"/>
                <a:cs typeface="Consolas" pitchFamily="49" charset="0"/>
              </a:rPr>
              <a:t>A.</a:t>
            </a:r>
            <a:r>
              <a:rPr lang="zh-CN" altLang="en-US" sz="2000" dirty="0">
                <a:solidFill>
                  <a:srgbClr val="FF00FF"/>
                </a:solidFill>
                <a:latin typeface="Consolas" pitchFamily="49" charset="0"/>
                <a:ea typeface="仿宋" pitchFamily="49" charset="-122"/>
                <a:cs typeface="Consolas" pitchFamily="49" charset="0"/>
              </a:rPr>
              <a:t>直接插入排序</a:t>
            </a:r>
            <a:r>
              <a:rPr lang="en-US" altLang="zh-CN" sz="2000" dirty="0">
                <a:solidFill>
                  <a:srgbClr val="FF00FF"/>
                </a:solidFill>
                <a:latin typeface="Consolas" pitchFamily="49" charset="0"/>
                <a:ea typeface="仿宋" pitchFamily="49" charset="-122"/>
                <a:cs typeface="Consolas" pitchFamily="49" charset="0"/>
              </a:rPr>
              <a:t>	</a:t>
            </a:r>
            <a:r>
              <a:rPr lang="en-US" altLang="zh-CN" sz="2000" dirty="0">
                <a:latin typeface="Consolas" pitchFamily="49" charset="0"/>
                <a:ea typeface="仿宋" pitchFamily="49" charset="-122"/>
                <a:cs typeface="Consolas" pitchFamily="49" charset="0"/>
              </a:rPr>
              <a:t>B.</a:t>
            </a:r>
            <a:r>
              <a:rPr lang="zh-CN" altLang="en-US" sz="2000" dirty="0">
                <a:latin typeface="Consolas" pitchFamily="49" charset="0"/>
                <a:ea typeface="仿宋" pitchFamily="49" charset="-122"/>
                <a:cs typeface="Consolas" pitchFamily="49" charset="0"/>
              </a:rPr>
              <a:t>折半插入排序</a:t>
            </a:r>
            <a:endParaRPr lang="en-US" altLang="zh-CN" sz="2000" dirty="0">
              <a:latin typeface="Consolas" pitchFamily="49" charset="0"/>
              <a:ea typeface="仿宋" pitchFamily="49" charset="-122"/>
              <a:cs typeface="Consolas" pitchFamily="49" charset="0"/>
            </a:endParaRPr>
          </a:p>
          <a:p>
            <a:pPr algn="l">
              <a:lnSpc>
                <a:spcPct val="150000"/>
              </a:lnSpc>
            </a:pPr>
            <a:r>
              <a:rPr lang="en-US" altLang="zh-CN" sz="2000" dirty="0">
                <a:latin typeface="Consolas" pitchFamily="49" charset="0"/>
                <a:ea typeface="仿宋" pitchFamily="49" charset="-122"/>
                <a:cs typeface="Consolas" pitchFamily="49" charset="0"/>
              </a:rPr>
              <a:t>   C.</a:t>
            </a:r>
            <a:r>
              <a:rPr lang="zh-CN" altLang="en-US" sz="2000" dirty="0">
                <a:latin typeface="Consolas" pitchFamily="49" charset="0"/>
                <a:ea typeface="仿宋" pitchFamily="49" charset="-122"/>
                <a:cs typeface="Consolas" pitchFamily="49" charset="0"/>
              </a:rPr>
              <a:t>快速排序</a:t>
            </a:r>
            <a:r>
              <a:rPr lang="en-US" altLang="zh-CN" sz="2000" dirty="0">
                <a:latin typeface="Consolas" pitchFamily="49" charset="0"/>
                <a:ea typeface="仿宋" pitchFamily="49" charset="-122"/>
                <a:cs typeface="Consolas" pitchFamily="49" charset="0"/>
              </a:rPr>
              <a:t>		D.</a:t>
            </a:r>
            <a:r>
              <a:rPr lang="zh-CN" altLang="en-US" sz="2000" dirty="0">
                <a:latin typeface="Consolas" pitchFamily="49" charset="0"/>
                <a:ea typeface="仿宋" pitchFamily="49" charset="-122"/>
                <a:cs typeface="Consolas" pitchFamily="49" charset="0"/>
              </a:rPr>
              <a:t>归并排序</a:t>
            </a:r>
          </a:p>
        </p:txBody>
      </p:sp>
      <p:sp>
        <p:nvSpPr>
          <p:cNvPr id="8" name="Text Box 3">
            <a:extLst>
              <a:ext uri="{FF2B5EF4-FFF2-40B4-BE49-F238E27FC236}">
                <a16:creationId xmlns:a16="http://schemas.microsoft.com/office/drawing/2014/main" id="{21226547-6D08-5D84-225B-104904458E7B}"/>
              </a:ext>
            </a:extLst>
          </p:cNvPr>
          <p:cNvSpPr txBox="1">
            <a:spLocks noChangeArrowheads="1"/>
          </p:cNvSpPr>
          <p:nvPr/>
        </p:nvSpPr>
        <p:spPr bwMode="auto">
          <a:xfrm>
            <a:off x="3787754" y="4135400"/>
            <a:ext cx="3929090"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solidFill>
                  <a:srgbClr val="FF3300"/>
                </a:solidFill>
                <a:latin typeface="Consolas" pitchFamily="49" charset="0"/>
                <a:ea typeface="楷体" pitchFamily="49" charset="-122"/>
                <a:cs typeface="Consolas" pitchFamily="49" charset="0"/>
              </a:rPr>
              <a:t>说明：本题</a:t>
            </a:r>
            <a:r>
              <a:rPr lang="zh-CN" altLang="en-US" sz="2000">
                <a:solidFill>
                  <a:srgbClr val="FF3300"/>
                </a:solidFill>
                <a:latin typeface="Consolas" pitchFamily="49" charset="0"/>
                <a:ea typeface="楷体" pitchFamily="49" charset="-122"/>
                <a:cs typeface="Consolas" pitchFamily="49" charset="0"/>
              </a:rPr>
              <a:t>为</a:t>
            </a:r>
            <a:r>
              <a:rPr lang="en-US" altLang="zh-CN" sz="2000">
                <a:solidFill>
                  <a:srgbClr val="FF3300"/>
                </a:solidFill>
                <a:latin typeface="Consolas" pitchFamily="49" charset="0"/>
                <a:ea typeface="楷体" pitchFamily="49" charset="-122"/>
                <a:cs typeface="Consolas" pitchFamily="49" charset="0"/>
              </a:rPr>
              <a:t>2015</a:t>
            </a:r>
            <a:r>
              <a:rPr lang="zh-CN" altLang="en-US" sz="2000">
                <a:solidFill>
                  <a:srgbClr val="FF3300"/>
                </a:solidFill>
                <a:latin typeface="Consolas" pitchFamily="49" charset="0"/>
                <a:ea typeface="楷体" pitchFamily="49" charset="-122"/>
                <a:cs typeface="Consolas" pitchFamily="49" charset="0"/>
              </a:rPr>
              <a:t>年</a:t>
            </a:r>
            <a:r>
              <a:rPr lang="zh-CN" altLang="en-US" sz="2000" dirty="0">
                <a:solidFill>
                  <a:srgbClr val="FF3300"/>
                </a:solidFill>
                <a:latin typeface="Consolas" pitchFamily="49" charset="0"/>
                <a:ea typeface="楷体" pitchFamily="49" charset="-122"/>
                <a:cs typeface="Consolas" pitchFamily="49" charset="0"/>
              </a:rPr>
              <a:t>全国考研题 </a:t>
            </a:r>
          </a:p>
        </p:txBody>
      </p:sp>
    </p:spTree>
    <p:extLst>
      <p:ext uri="{BB962C8B-B14F-4D97-AF65-F5344CB8AC3E}">
        <p14:creationId xmlns:p14="http://schemas.microsoft.com/office/powerpoint/2010/main" val="300459730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3071726" y="2132856"/>
            <a:ext cx="6840760" cy="830997"/>
          </a:xfrm>
          <a:prstGeom prst="rect">
            <a:avLst/>
          </a:prstGeom>
        </p:spPr>
        <p:txBody>
          <a:bodyPr wrap="square">
            <a:spAutoFit/>
          </a:bodyPr>
          <a:lstStyle/>
          <a:p>
            <a:r>
              <a:rPr kumimoji="1" lang="zh-CN" altLang="zh-CN" sz="2400" dirty="0">
                <a:latin typeface="微软雅黑" pitchFamily="34" charset="-122"/>
                <a:ea typeface="微软雅黑" pitchFamily="34" charset="-122"/>
                <a:cs typeface="经典粗黑简" pitchFamily="49" charset="-122"/>
              </a:rPr>
              <a:t>两两比较待排序记录的关键字，若反序则交换相邻两记录，直到没有反序的记录为止</a:t>
            </a:r>
            <a:r>
              <a:rPr kumimoji="1" lang="zh-CN" altLang="en-US" sz="2400" dirty="0">
                <a:latin typeface="微软雅黑" pitchFamily="34" charset="-122"/>
                <a:ea typeface="微软雅黑" pitchFamily="34" charset="-122"/>
                <a:cs typeface="经典粗黑简" pitchFamily="49" charset="-122"/>
              </a:rPr>
              <a:t>。</a:t>
            </a:r>
            <a:endParaRPr lang="zh-CN" altLang="en-US" sz="2400" dirty="0"/>
          </a:p>
        </p:txBody>
      </p:sp>
      <p:sp>
        <p:nvSpPr>
          <p:cNvPr id="14" name="矩形 13"/>
          <p:cNvSpPr/>
          <p:nvPr/>
        </p:nvSpPr>
        <p:spPr>
          <a:xfrm>
            <a:off x="3564078" y="4941168"/>
            <a:ext cx="2954655" cy="1200329"/>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两种交换排序方法：</a:t>
            </a:r>
            <a:endParaRPr kumimoji="1" lang="en-US" altLang="zh-CN" sz="2400" dirty="0">
              <a:latin typeface="微软雅黑" pitchFamily="34" charset="-122"/>
              <a:ea typeface="微软雅黑" pitchFamily="34" charset="-122"/>
              <a:cs typeface="经典粗黑简" pitchFamily="49" charset="-122"/>
            </a:endParaRPr>
          </a:p>
          <a:p>
            <a:pPr lvl="2">
              <a:defRPr/>
            </a:pPr>
            <a:r>
              <a:rPr kumimoji="1" lang="zh-CN" altLang="en-US" sz="2400" dirty="0">
                <a:latin typeface="微软雅黑" pitchFamily="34" charset="-122"/>
                <a:ea typeface="微软雅黑" pitchFamily="34" charset="-122"/>
                <a:cs typeface="经典粗黑简" pitchFamily="49" charset="-122"/>
              </a:rPr>
              <a:t>冒泡排序</a:t>
            </a:r>
            <a:endParaRPr kumimoji="1" lang="en-US" altLang="zh-CN" sz="2400" dirty="0">
              <a:latin typeface="微软雅黑" pitchFamily="34" charset="-122"/>
              <a:ea typeface="微软雅黑" pitchFamily="34" charset="-122"/>
              <a:cs typeface="经典粗黑简" pitchFamily="49" charset="-122"/>
            </a:endParaRPr>
          </a:p>
          <a:p>
            <a:pPr lvl="2">
              <a:defRPr/>
            </a:pPr>
            <a:r>
              <a:rPr kumimoji="1" lang="zh-CN" altLang="en-US" sz="2400" dirty="0">
                <a:latin typeface="微软雅黑" pitchFamily="34" charset="-122"/>
                <a:ea typeface="微软雅黑" pitchFamily="34" charset="-122"/>
                <a:cs typeface="经典粗黑简" pitchFamily="49" charset="-122"/>
              </a:rPr>
              <a:t>快速排序</a:t>
            </a:r>
            <a:endParaRPr lang="zh-CN" altLang="en-US" dirty="0"/>
          </a:p>
        </p:txBody>
      </p:sp>
      <p:cxnSp>
        <p:nvCxnSpPr>
          <p:cNvPr id="3" name="直接连接符 2">
            <a:extLst>
              <a:ext uri="{FF2B5EF4-FFF2-40B4-BE49-F238E27FC236}">
                <a16:creationId xmlns:a16="http://schemas.microsoft.com/office/drawing/2014/main" id="{BEF45EE7-EA5A-0A88-8BC6-52A3E6FB920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5FDE008-3153-59B8-2978-111481BBD77E}"/>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
        <p:nvSpPr>
          <p:cNvPr id="6" name="文本框 5">
            <a:extLst>
              <a:ext uri="{FF2B5EF4-FFF2-40B4-BE49-F238E27FC236}">
                <a16:creationId xmlns:a16="http://schemas.microsoft.com/office/drawing/2014/main" id="{5C5D1DE2-2C2D-86E9-1D41-06D40AD04338}"/>
              </a:ext>
            </a:extLst>
          </p:cNvPr>
          <p:cNvSpPr txBox="1"/>
          <p:nvPr/>
        </p:nvSpPr>
        <p:spPr>
          <a:xfrm>
            <a:off x="3090471" y="1699067"/>
            <a:ext cx="1781455" cy="461665"/>
          </a:xfrm>
          <a:prstGeom prst="rect">
            <a:avLst/>
          </a:prstGeom>
          <a:noFill/>
        </p:spPr>
        <p:txBody>
          <a:bodyPr wrap="square">
            <a:spAutoFit/>
          </a:bodyPr>
          <a:lstStyle/>
          <a:p>
            <a:r>
              <a:rPr kumimoji="1" lang="zh-CN" altLang="en-US" sz="2400" dirty="0">
                <a:solidFill>
                  <a:srgbClr val="FF0000"/>
                </a:solidFill>
                <a:latin typeface="微软雅黑" pitchFamily="34" charset="-122"/>
                <a:ea typeface="微软雅黑" pitchFamily="34" charset="-122"/>
                <a:cs typeface="经典粗黑简" pitchFamily="49" charset="-122"/>
              </a:rPr>
              <a:t>基本思想：</a:t>
            </a:r>
          </a:p>
        </p:txBody>
      </p:sp>
      <p:sp>
        <p:nvSpPr>
          <p:cNvPr id="7" name="矩形 6">
            <a:extLst>
              <a:ext uri="{FF2B5EF4-FFF2-40B4-BE49-F238E27FC236}">
                <a16:creationId xmlns:a16="http://schemas.microsoft.com/office/drawing/2014/main" id="{B9767183-2D49-B61D-E133-17F6C55F7D30}"/>
              </a:ext>
            </a:extLst>
          </p:cNvPr>
          <p:cNvSpPr/>
          <p:nvPr/>
        </p:nvSpPr>
        <p:spPr>
          <a:xfrm>
            <a:off x="3524232" y="3222741"/>
            <a:ext cx="5143536" cy="57150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8EB9994B-0849-0E34-2102-9CE3FE256C5F}"/>
              </a:ext>
            </a:extLst>
          </p:cNvPr>
          <p:cNvGrpSpPr/>
          <p:nvPr/>
        </p:nvGrpSpPr>
        <p:grpSpPr>
          <a:xfrm>
            <a:off x="5024430" y="3294179"/>
            <a:ext cx="2143140" cy="428628"/>
            <a:chOff x="3357554" y="2214554"/>
            <a:chExt cx="2143140" cy="428628"/>
          </a:xfrm>
        </p:grpSpPr>
        <p:sp>
          <p:nvSpPr>
            <p:cNvPr id="10" name="椭圆 9">
              <a:extLst>
                <a:ext uri="{FF2B5EF4-FFF2-40B4-BE49-F238E27FC236}">
                  <a16:creationId xmlns:a16="http://schemas.microsoft.com/office/drawing/2014/main" id="{BA8F219F-FD43-D661-4559-7191CD4519DA}"/>
                </a:ext>
              </a:extLst>
            </p:cNvPr>
            <p:cNvSpPr/>
            <p:nvPr/>
          </p:nvSpPr>
          <p:spPr>
            <a:xfrm>
              <a:off x="5072066" y="2214554"/>
              <a:ext cx="428628" cy="428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ABD2D0D1-B3CD-72E4-D65A-53EC46AF5BC3}"/>
                </a:ext>
              </a:extLst>
            </p:cNvPr>
            <p:cNvSpPr/>
            <p:nvPr/>
          </p:nvSpPr>
          <p:spPr>
            <a:xfrm>
              <a:off x="3357554" y="2214554"/>
              <a:ext cx="428628" cy="428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grpSp>
      <p:grpSp>
        <p:nvGrpSpPr>
          <p:cNvPr id="16" name="组合 15">
            <a:extLst>
              <a:ext uri="{FF2B5EF4-FFF2-40B4-BE49-F238E27FC236}">
                <a16:creationId xmlns:a16="http://schemas.microsoft.com/office/drawing/2014/main" id="{37BEFD28-3F0E-1452-B790-D557497B2B1C}"/>
              </a:ext>
            </a:extLst>
          </p:cNvPr>
          <p:cNvGrpSpPr/>
          <p:nvPr/>
        </p:nvGrpSpPr>
        <p:grpSpPr>
          <a:xfrm>
            <a:off x="4667240" y="3731473"/>
            <a:ext cx="3071834" cy="950806"/>
            <a:chOff x="3000364" y="2651848"/>
            <a:chExt cx="2786082" cy="950806"/>
          </a:xfrm>
        </p:grpSpPr>
        <p:sp>
          <p:nvSpPr>
            <p:cNvPr id="17" name="TextBox 5">
              <a:extLst>
                <a:ext uri="{FF2B5EF4-FFF2-40B4-BE49-F238E27FC236}">
                  <a16:creationId xmlns:a16="http://schemas.microsoft.com/office/drawing/2014/main" id="{FF6D5260-DB18-4BE5-7D2C-ABAADDD6FEB1}"/>
                </a:ext>
              </a:extLst>
            </p:cNvPr>
            <p:cNvSpPr txBox="1"/>
            <p:nvPr/>
          </p:nvSpPr>
          <p:spPr>
            <a:xfrm>
              <a:off x="3000364" y="3202544"/>
              <a:ext cx="2786082" cy="400110"/>
            </a:xfrm>
            <a:prstGeom prst="rect">
              <a:avLst/>
            </a:prstGeom>
            <a:noFill/>
          </p:spPr>
          <p:txBody>
            <a:bodyPr wrap="square" rtlCol="0">
              <a:spAutoFit/>
            </a:bodyPr>
            <a:lstStyle/>
            <a:p>
              <a:r>
                <a:rPr kumimoji="1" lang="zh-CN" altLang="en-US" sz="2000">
                  <a:latin typeface="仿宋" pitchFamily="49" charset="-122"/>
                  <a:ea typeface="仿宋" pitchFamily="49" charset="-122"/>
                </a:rPr>
                <a:t>两个元素反</a:t>
              </a:r>
              <a:r>
                <a:rPr kumimoji="1" lang="zh-CN" altLang="en-US" sz="2000" dirty="0">
                  <a:latin typeface="仿宋" pitchFamily="49" charset="-122"/>
                  <a:ea typeface="仿宋" pitchFamily="49" charset="-122"/>
                </a:rPr>
                <a:t>序时进行交换</a:t>
              </a:r>
              <a:endParaRPr lang="zh-CN" altLang="en-US" sz="2000" dirty="0">
                <a:latin typeface="仿宋" pitchFamily="49" charset="-122"/>
                <a:ea typeface="仿宋" pitchFamily="49" charset="-122"/>
              </a:endParaRPr>
            </a:p>
          </p:txBody>
        </p:sp>
        <p:cxnSp>
          <p:nvCxnSpPr>
            <p:cNvPr id="18" name="直接箭头连接符 17">
              <a:extLst>
                <a:ext uri="{FF2B5EF4-FFF2-40B4-BE49-F238E27FC236}">
                  <a16:creationId xmlns:a16="http://schemas.microsoft.com/office/drawing/2014/main" id="{1B65F731-66F5-91A0-D21A-0F44318BCD83}"/>
                </a:ext>
              </a:extLst>
            </p:cNvPr>
            <p:cNvCxnSpPr/>
            <p:nvPr/>
          </p:nvCxnSpPr>
          <p:spPr>
            <a:xfrm rot="16200000" flipV="1">
              <a:off x="3576853" y="2723286"/>
              <a:ext cx="562837" cy="419961"/>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A228296F-F59C-8CFE-C030-51C8C62F1FA7}"/>
                </a:ext>
              </a:extLst>
            </p:cNvPr>
            <p:cNvCxnSpPr/>
            <p:nvPr/>
          </p:nvCxnSpPr>
          <p:spPr>
            <a:xfrm rot="5400000" flipH="1" flipV="1">
              <a:off x="4577815" y="2759006"/>
              <a:ext cx="562837" cy="348523"/>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27633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9"/>
                                        </p:tgtEl>
                                      </p:cBhvr>
                                    </p:animEffect>
                                    <p:animScale>
                                      <p:cBhvr>
                                        <p:cTn id="15" dur="250" autoRev="1" fill="hold"/>
                                        <p:tgtEl>
                                          <p:spTgt spid="9"/>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67753" y="2342692"/>
            <a:ext cx="6984776"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起泡排序</a:t>
            </a:r>
            <a:r>
              <a:rPr kumimoji="1" lang="en-US" altLang="zh-CN" sz="2400" dirty="0">
                <a:latin typeface="微软雅黑" pitchFamily="34" charset="-122"/>
                <a:ea typeface="微软雅黑" pitchFamily="34" charset="-122"/>
                <a:cs typeface="经典粗黑简" pitchFamily="49" charset="-122"/>
              </a:rPr>
              <a:t>(</a:t>
            </a:r>
            <a:r>
              <a:rPr lang="en-US" altLang="zh-CN" sz="2400" dirty="0">
                <a:latin typeface="Times New Roman" pitchFamily="18" charset="0"/>
                <a:ea typeface="隶书" pitchFamily="49" charset="-122"/>
                <a:cs typeface="Times New Roman" pitchFamily="18" charset="0"/>
              </a:rPr>
              <a:t>Bubble Sorting</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的基本思想是：将相邻位置的关键字进行比较，若为逆序则交换之。</a:t>
            </a:r>
          </a:p>
        </p:txBody>
      </p:sp>
      <p:sp>
        <p:nvSpPr>
          <p:cNvPr id="7" name="矩形 6"/>
          <p:cNvSpPr/>
          <p:nvPr/>
        </p:nvSpPr>
        <p:spPr>
          <a:xfrm>
            <a:off x="2567754" y="3369187"/>
            <a:ext cx="6912913"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第</a:t>
            </a:r>
            <a:r>
              <a:rPr lang="en-US" altLang="zh-CN" sz="2000" b="1" dirty="0">
                <a:solidFill>
                  <a:srgbClr val="7030A0"/>
                </a:solidFill>
                <a:latin typeface="Times New Roman" pitchFamily="18" charset="0"/>
                <a:ea typeface="隶书" pitchFamily="49" charset="-122"/>
                <a:cs typeface="Times New Roman" pitchFamily="18" charset="0"/>
              </a:rPr>
              <a:t>i</a:t>
            </a:r>
            <a:r>
              <a:rPr kumimoji="1" lang="zh-CN" altLang="en-US" sz="2000" dirty="0">
                <a:latin typeface="微软雅黑" pitchFamily="34" charset="-122"/>
                <a:ea typeface="微软雅黑" pitchFamily="34" charset="-122"/>
                <a:cs typeface="经典粗黑简" pitchFamily="49" charset="-122"/>
              </a:rPr>
              <a:t>趟排序过程为从</a:t>
            </a:r>
            <a:r>
              <a:rPr lang="en-US" altLang="zh-CN" sz="2000" dirty="0" err="1">
                <a:solidFill>
                  <a:srgbClr val="7030A0"/>
                </a:solidFill>
                <a:latin typeface="Times New Roman" pitchFamily="18" charset="0"/>
                <a:ea typeface="隶书" pitchFamily="49" charset="-122"/>
                <a:cs typeface="Times New Roman" pitchFamily="18" charset="0"/>
              </a:rPr>
              <a:t>L.r</a:t>
            </a:r>
            <a:r>
              <a:rPr lang="en-US" altLang="zh-CN" sz="2000" dirty="0">
                <a:solidFill>
                  <a:srgbClr val="7030A0"/>
                </a:solidFill>
                <a:latin typeface="Times New Roman" pitchFamily="18" charset="0"/>
                <a:ea typeface="隶书" pitchFamily="49" charset="-122"/>
                <a:cs typeface="Times New Roman" pitchFamily="18" charset="0"/>
              </a:rPr>
              <a:t>[1]</a:t>
            </a:r>
            <a:r>
              <a:rPr kumimoji="1" lang="zh-CN" altLang="en-US" sz="2000" dirty="0">
                <a:latin typeface="微软雅黑" pitchFamily="34" charset="-122"/>
                <a:ea typeface="微软雅黑" pitchFamily="34" charset="-122"/>
                <a:cs typeface="经典粗黑简" pitchFamily="49" charset="-122"/>
              </a:rPr>
              <a:t>至</a:t>
            </a:r>
            <a:r>
              <a:rPr lang="en-US" altLang="zh-CN" sz="2000" dirty="0" err="1">
                <a:solidFill>
                  <a:srgbClr val="7030A0"/>
                </a:solidFill>
                <a:latin typeface="Times New Roman" pitchFamily="18" charset="0"/>
                <a:ea typeface="隶书" pitchFamily="49" charset="-122"/>
                <a:cs typeface="Times New Roman" pitchFamily="18" charset="0"/>
              </a:rPr>
              <a:t>L.r</a:t>
            </a:r>
            <a:r>
              <a:rPr lang="en-US" altLang="zh-CN" sz="2000" dirty="0">
                <a:solidFill>
                  <a:srgbClr val="7030A0"/>
                </a:solidFill>
                <a:latin typeface="Times New Roman" pitchFamily="18" charset="0"/>
                <a:ea typeface="隶书" pitchFamily="49" charset="-122"/>
                <a:cs typeface="Times New Roman" pitchFamily="18" charset="0"/>
              </a:rPr>
              <a:t>[n-i+1]</a:t>
            </a:r>
            <a:r>
              <a:rPr kumimoji="1" lang="zh-CN" altLang="en-US" sz="2000" dirty="0">
                <a:latin typeface="微软雅黑" pitchFamily="34" charset="-122"/>
                <a:ea typeface="微软雅黑" pitchFamily="34" charset="-122"/>
                <a:cs typeface="经典粗黑简" pitchFamily="49" charset="-122"/>
              </a:rPr>
              <a:t>依次比较相邻两个记录的关键字，并在“逆序”时交换相邻记录，其结果是这</a:t>
            </a:r>
            <a:r>
              <a:rPr lang="en-US" altLang="zh-CN" sz="2000" b="1" dirty="0">
                <a:solidFill>
                  <a:srgbClr val="7030A0"/>
                </a:solidFill>
                <a:latin typeface="Times New Roman" pitchFamily="18" charset="0"/>
                <a:ea typeface="隶书" pitchFamily="49" charset="-122"/>
                <a:cs typeface="Times New Roman" pitchFamily="18" charset="0"/>
              </a:rPr>
              <a:t>n-i+1</a:t>
            </a:r>
            <a:r>
              <a:rPr kumimoji="1" lang="zh-CN" altLang="en-US" sz="2000" dirty="0">
                <a:latin typeface="微软雅黑" pitchFamily="34" charset="-122"/>
                <a:ea typeface="微软雅黑" pitchFamily="34" charset="-122"/>
                <a:cs typeface="经典粗黑简" pitchFamily="49" charset="-122"/>
              </a:rPr>
              <a:t>个记录中关键字最大的记录被交换到第</a:t>
            </a:r>
            <a:r>
              <a:rPr lang="en-US" altLang="zh-CN" sz="2000" b="1" dirty="0">
                <a:solidFill>
                  <a:srgbClr val="7030A0"/>
                </a:solidFill>
                <a:latin typeface="Times New Roman" pitchFamily="18" charset="0"/>
                <a:ea typeface="隶书" pitchFamily="49" charset="-122"/>
                <a:cs typeface="Times New Roman" pitchFamily="18" charset="0"/>
              </a:rPr>
              <a:t>n-i+1</a:t>
            </a:r>
            <a:r>
              <a:rPr kumimoji="1" lang="zh-CN" altLang="en-US" sz="2000" dirty="0">
                <a:latin typeface="微软雅黑" pitchFamily="34" charset="-122"/>
                <a:ea typeface="微软雅黑" pitchFamily="34" charset="-122"/>
                <a:cs typeface="经典粗黑简" pitchFamily="49" charset="-122"/>
              </a:rPr>
              <a:t>的位置上；</a:t>
            </a:r>
            <a:endParaRPr lang="zh-CN" altLang="en-US" sz="2000" dirty="0"/>
          </a:p>
        </p:txBody>
      </p:sp>
      <p:sp>
        <p:nvSpPr>
          <p:cNvPr id="8" name="矩形 7"/>
          <p:cNvSpPr/>
          <p:nvPr/>
        </p:nvSpPr>
        <p:spPr>
          <a:xfrm>
            <a:off x="2567753" y="4593322"/>
            <a:ext cx="6912912"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整个排序过程终止的条件是“在一趟排序过程中没有进行过交换记录的操作”。</a:t>
            </a:r>
            <a:endParaRPr lang="zh-CN" altLang="en-US" sz="2000" dirty="0"/>
          </a:p>
        </p:txBody>
      </p:sp>
      <p:sp>
        <p:nvSpPr>
          <p:cNvPr id="2" name="矩形 1">
            <a:extLst>
              <a:ext uri="{FF2B5EF4-FFF2-40B4-BE49-F238E27FC236}">
                <a16:creationId xmlns:a16="http://schemas.microsoft.com/office/drawing/2014/main" id="{C52CCF8D-8AAF-B68A-197C-64520551AD40}"/>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10.3.1 </a:t>
            </a:r>
            <a:r>
              <a:rPr lang="zh-CN" altLang="en-US" sz="2800" b="1" dirty="0">
                <a:solidFill>
                  <a:schemeClr val="bg1"/>
                </a:solidFill>
                <a:latin typeface="经典粗黑简" pitchFamily="49" charset="-122"/>
                <a:ea typeface="经典粗黑简" pitchFamily="49" charset="-122"/>
                <a:cs typeface="经典粗黑简" pitchFamily="49" charset="-122"/>
              </a:rPr>
              <a:t>冒泡排序</a:t>
            </a:r>
          </a:p>
        </p:txBody>
      </p:sp>
      <p:cxnSp>
        <p:nvCxnSpPr>
          <p:cNvPr id="5" name="直接连接符 4">
            <a:extLst>
              <a:ext uri="{FF2B5EF4-FFF2-40B4-BE49-F238E27FC236}">
                <a16:creationId xmlns:a16="http://schemas.microsoft.com/office/drawing/2014/main" id="{6CC3BF34-16F1-2F67-29A3-57B9A631DDB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EF3B7B76-C8FF-A64E-C906-17ECA3BABF3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15077196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bwMode="auto">
          <a:xfrm>
            <a:off x="2205558" y="2288232"/>
            <a:ext cx="2133600" cy="457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rtlCol="0" anchor="t" anchorCtr="0" compatLnSpc="1">
            <a:prstTxWarp prst="textNoShape">
              <a:avLst/>
            </a:prstTxWarp>
            <a:normAutofit/>
          </a:bodyPr>
          <a:lstStyle/>
          <a:p>
            <a:pPr eaLnBrk="1" hangingPunct="1">
              <a:buFontTx/>
              <a:buNone/>
            </a:pPr>
            <a:r>
              <a:rPr kumimoji="1" lang="zh-CN" altLang="en-US" sz="2000" dirty="0">
                <a:latin typeface="微软雅黑" pitchFamily="34" charset="-122"/>
                <a:ea typeface="微软雅黑" pitchFamily="34" charset="-122"/>
                <a:cs typeface="经典粗黑简" pitchFamily="49" charset="-122"/>
              </a:rPr>
              <a:t>初始关键字序列：</a:t>
            </a:r>
          </a:p>
        </p:txBody>
      </p:sp>
      <p:sp>
        <p:nvSpPr>
          <p:cNvPr id="16388" name="Rectangle 4"/>
          <p:cNvSpPr>
            <a:spLocks noChangeArrowheads="1"/>
          </p:cNvSpPr>
          <p:nvPr/>
        </p:nvSpPr>
        <p:spPr bwMode="auto">
          <a:xfrm>
            <a:off x="472015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389" name="Rectangle 5"/>
          <p:cNvSpPr>
            <a:spLocks noChangeArrowheads="1"/>
          </p:cNvSpPr>
          <p:nvPr/>
        </p:nvSpPr>
        <p:spPr bwMode="auto">
          <a:xfrm>
            <a:off x="534880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6390" name="Rectangle 6"/>
          <p:cNvSpPr>
            <a:spLocks noChangeArrowheads="1"/>
          </p:cNvSpPr>
          <p:nvPr/>
        </p:nvSpPr>
        <p:spPr bwMode="auto">
          <a:xfrm>
            <a:off x="597745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65</a:t>
            </a:r>
          </a:p>
        </p:txBody>
      </p:sp>
      <p:sp>
        <p:nvSpPr>
          <p:cNvPr id="16391" name="Rectangle 7"/>
          <p:cNvSpPr>
            <a:spLocks noChangeArrowheads="1"/>
          </p:cNvSpPr>
          <p:nvPr/>
        </p:nvSpPr>
        <p:spPr bwMode="auto">
          <a:xfrm>
            <a:off x="660610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97</a:t>
            </a:r>
          </a:p>
        </p:txBody>
      </p:sp>
      <p:sp>
        <p:nvSpPr>
          <p:cNvPr id="16392" name="Rectangle 8"/>
          <p:cNvSpPr>
            <a:spLocks noChangeArrowheads="1"/>
          </p:cNvSpPr>
          <p:nvPr/>
        </p:nvSpPr>
        <p:spPr bwMode="auto">
          <a:xfrm>
            <a:off x="723475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76</a:t>
            </a:r>
          </a:p>
        </p:txBody>
      </p:sp>
      <p:sp>
        <p:nvSpPr>
          <p:cNvPr id="16393" name="Rectangle 9"/>
          <p:cNvSpPr>
            <a:spLocks noChangeArrowheads="1"/>
          </p:cNvSpPr>
          <p:nvPr/>
        </p:nvSpPr>
        <p:spPr bwMode="auto">
          <a:xfrm>
            <a:off x="786340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6394" name="Rectangle 10"/>
          <p:cNvSpPr>
            <a:spLocks noChangeArrowheads="1"/>
          </p:cNvSpPr>
          <p:nvPr/>
        </p:nvSpPr>
        <p:spPr bwMode="auto">
          <a:xfrm>
            <a:off x="849205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6395" name="Rectangle 11"/>
          <p:cNvSpPr>
            <a:spLocks noChangeArrowheads="1"/>
          </p:cNvSpPr>
          <p:nvPr/>
        </p:nvSpPr>
        <p:spPr bwMode="auto">
          <a:xfrm>
            <a:off x="9120708" y="23691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grpSp>
        <p:nvGrpSpPr>
          <p:cNvPr id="16396" name="Group 12"/>
          <p:cNvGrpSpPr>
            <a:grpSpLocks/>
          </p:cNvGrpSpPr>
          <p:nvPr/>
        </p:nvGrpSpPr>
        <p:grpSpPr bwMode="auto">
          <a:xfrm>
            <a:off x="4720158" y="1988195"/>
            <a:ext cx="5029200" cy="381000"/>
            <a:chOff x="1440" y="1488"/>
            <a:chExt cx="3168" cy="432"/>
          </a:xfrm>
        </p:grpSpPr>
        <p:sp>
          <p:nvSpPr>
            <p:cNvPr id="16457" name="Rectangle 13"/>
            <p:cNvSpPr>
              <a:spLocks noChangeArrowheads="1"/>
            </p:cNvSpPr>
            <p:nvPr/>
          </p:nvSpPr>
          <p:spPr bwMode="auto">
            <a:xfrm>
              <a:off x="1440"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16458" name="Rectangle 14"/>
            <p:cNvSpPr>
              <a:spLocks noChangeArrowheads="1"/>
            </p:cNvSpPr>
            <p:nvPr/>
          </p:nvSpPr>
          <p:spPr bwMode="auto">
            <a:xfrm>
              <a:off x="1836"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16459" name="Rectangle 15"/>
            <p:cNvSpPr>
              <a:spLocks noChangeArrowheads="1"/>
            </p:cNvSpPr>
            <p:nvPr/>
          </p:nvSpPr>
          <p:spPr bwMode="auto">
            <a:xfrm>
              <a:off x="2232"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16460" name="Rectangle 16"/>
            <p:cNvSpPr>
              <a:spLocks noChangeArrowheads="1"/>
            </p:cNvSpPr>
            <p:nvPr/>
          </p:nvSpPr>
          <p:spPr bwMode="auto">
            <a:xfrm>
              <a:off x="2628"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16461" name="Rectangle 17"/>
            <p:cNvSpPr>
              <a:spLocks noChangeArrowheads="1"/>
            </p:cNvSpPr>
            <p:nvPr/>
          </p:nvSpPr>
          <p:spPr bwMode="auto">
            <a:xfrm>
              <a:off x="3024"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16462" name="Rectangle 18"/>
            <p:cNvSpPr>
              <a:spLocks noChangeArrowheads="1"/>
            </p:cNvSpPr>
            <p:nvPr/>
          </p:nvSpPr>
          <p:spPr bwMode="auto">
            <a:xfrm>
              <a:off x="3420"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16463" name="Rectangle 19"/>
            <p:cNvSpPr>
              <a:spLocks noChangeArrowheads="1"/>
            </p:cNvSpPr>
            <p:nvPr/>
          </p:nvSpPr>
          <p:spPr bwMode="auto">
            <a:xfrm>
              <a:off x="3816"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16464" name="Rectangle 20"/>
            <p:cNvSpPr>
              <a:spLocks noChangeArrowheads="1"/>
            </p:cNvSpPr>
            <p:nvPr/>
          </p:nvSpPr>
          <p:spPr bwMode="auto">
            <a:xfrm>
              <a:off x="4212"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grpSp>
      <p:grpSp>
        <p:nvGrpSpPr>
          <p:cNvPr id="633008" name="Group 176"/>
          <p:cNvGrpSpPr>
            <a:grpSpLocks/>
          </p:cNvGrpSpPr>
          <p:nvPr/>
        </p:nvGrpSpPr>
        <p:grpSpPr bwMode="auto">
          <a:xfrm>
            <a:off x="2205558" y="2827784"/>
            <a:ext cx="7562850" cy="457200"/>
            <a:chOff x="144" y="1344"/>
            <a:chExt cx="4764" cy="288"/>
          </a:xfrm>
        </p:grpSpPr>
        <p:sp>
          <p:nvSpPr>
            <p:cNvPr id="16448" name="Rectangle 27"/>
            <p:cNvSpPr>
              <a:spLocks noChangeArrowheads="1"/>
            </p:cNvSpPr>
            <p:nvPr/>
          </p:nvSpPr>
          <p:spPr bwMode="auto">
            <a:xfrm>
              <a:off x="1740"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6449" name="Rectangle 28"/>
            <p:cNvSpPr>
              <a:spLocks noChangeArrowheads="1"/>
            </p:cNvSpPr>
            <p:nvPr/>
          </p:nvSpPr>
          <p:spPr bwMode="auto">
            <a:xfrm>
              <a:off x="2136"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50" name="Rectangle 29"/>
            <p:cNvSpPr>
              <a:spLocks noChangeArrowheads="1"/>
            </p:cNvSpPr>
            <p:nvPr/>
          </p:nvSpPr>
          <p:spPr bwMode="auto">
            <a:xfrm>
              <a:off x="2532"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65</a:t>
              </a:r>
            </a:p>
          </p:txBody>
        </p:sp>
        <p:sp>
          <p:nvSpPr>
            <p:cNvPr id="16451" name="Rectangle 30"/>
            <p:cNvSpPr>
              <a:spLocks noChangeArrowheads="1"/>
            </p:cNvSpPr>
            <p:nvPr/>
          </p:nvSpPr>
          <p:spPr bwMode="auto">
            <a:xfrm>
              <a:off x="2928"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76</a:t>
              </a:r>
            </a:p>
          </p:txBody>
        </p:sp>
        <p:sp>
          <p:nvSpPr>
            <p:cNvPr id="16452" name="Rectangle 31"/>
            <p:cNvSpPr>
              <a:spLocks noChangeArrowheads="1"/>
            </p:cNvSpPr>
            <p:nvPr/>
          </p:nvSpPr>
          <p:spPr bwMode="auto">
            <a:xfrm>
              <a:off x="3324"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6453" name="Rectangle 32"/>
            <p:cNvSpPr>
              <a:spLocks noChangeArrowheads="1"/>
            </p:cNvSpPr>
            <p:nvPr/>
          </p:nvSpPr>
          <p:spPr bwMode="auto">
            <a:xfrm>
              <a:off x="3720"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6454" name="Rectangle 33"/>
            <p:cNvSpPr>
              <a:spLocks noChangeArrowheads="1"/>
            </p:cNvSpPr>
            <p:nvPr/>
          </p:nvSpPr>
          <p:spPr bwMode="auto">
            <a:xfrm>
              <a:off x="4116"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55" name="Rectangle 34"/>
            <p:cNvSpPr>
              <a:spLocks noChangeArrowheads="1"/>
            </p:cNvSpPr>
            <p:nvPr/>
          </p:nvSpPr>
          <p:spPr bwMode="auto">
            <a:xfrm>
              <a:off x="4512" y="139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97</a:t>
              </a:r>
            </a:p>
          </p:txBody>
        </p:sp>
        <p:sp>
          <p:nvSpPr>
            <p:cNvPr id="16456" name="Rectangle 124"/>
            <p:cNvSpPr>
              <a:spLocks noChangeArrowheads="1"/>
            </p:cNvSpPr>
            <p:nvPr/>
          </p:nvSpPr>
          <p:spPr bwMode="auto">
            <a:xfrm>
              <a:off x="144" y="1344"/>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第一趟排序后：</a:t>
              </a:r>
            </a:p>
          </p:txBody>
        </p:sp>
      </p:grpSp>
      <p:grpSp>
        <p:nvGrpSpPr>
          <p:cNvPr id="633007" name="Group 175"/>
          <p:cNvGrpSpPr>
            <a:grpSpLocks/>
          </p:cNvGrpSpPr>
          <p:nvPr/>
        </p:nvGrpSpPr>
        <p:grpSpPr bwMode="auto">
          <a:xfrm>
            <a:off x="2205558" y="3403848"/>
            <a:ext cx="7562850" cy="457200"/>
            <a:chOff x="144" y="1776"/>
            <a:chExt cx="4764" cy="288"/>
          </a:xfrm>
        </p:grpSpPr>
        <p:sp>
          <p:nvSpPr>
            <p:cNvPr id="16439" name="Rectangle 125"/>
            <p:cNvSpPr>
              <a:spLocks noChangeArrowheads="1"/>
            </p:cNvSpPr>
            <p:nvPr/>
          </p:nvSpPr>
          <p:spPr bwMode="auto">
            <a:xfrm>
              <a:off x="1740"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6440" name="Rectangle 126"/>
            <p:cNvSpPr>
              <a:spLocks noChangeArrowheads="1"/>
            </p:cNvSpPr>
            <p:nvPr/>
          </p:nvSpPr>
          <p:spPr bwMode="auto">
            <a:xfrm>
              <a:off x="2136"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41" name="Rectangle 127"/>
            <p:cNvSpPr>
              <a:spLocks noChangeArrowheads="1"/>
            </p:cNvSpPr>
            <p:nvPr/>
          </p:nvSpPr>
          <p:spPr bwMode="auto">
            <a:xfrm>
              <a:off x="2532"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65</a:t>
              </a:r>
            </a:p>
          </p:txBody>
        </p:sp>
        <p:sp>
          <p:nvSpPr>
            <p:cNvPr id="16442" name="Rectangle 128"/>
            <p:cNvSpPr>
              <a:spLocks noChangeArrowheads="1"/>
            </p:cNvSpPr>
            <p:nvPr/>
          </p:nvSpPr>
          <p:spPr bwMode="auto">
            <a:xfrm>
              <a:off x="2928"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6443" name="Rectangle 129"/>
            <p:cNvSpPr>
              <a:spLocks noChangeArrowheads="1"/>
            </p:cNvSpPr>
            <p:nvPr/>
          </p:nvSpPr>
          <p:spPr bwMode="auto">
            <a:xfrm>
              <a:off x="3324"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6444" name="Rectangle 130"/>
            <p:cNvSpPr>
              <a:spLocks noChangeArrowheads="1"/>
            </p:cNvSpPr>
            <p:nvPr/>
          </p:nvSpPr>
          <p:spPr bwMode="auto">
            <a:xfrm>
              <a:off x="3720"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45" name="Rectangle 131"/>
            <p:cNvSpPr>
              <a:spLocks noChangeArrowheads="1"/>
            </p:cNvSpPr>
            <p:nvPr/>
          </p:nvSpPr>
          <p:spPr bwMode="auto">
            <a:xfrm>
              <a:off x="4116"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pPr>
              <a:r>
                <a:rPr kumimoji="1" lang="en-US" altLang="zh-CN" sz="2400" b="1" dirty="0">
                  <a:solidFill>
                    <a:srgbClr val="FF0000"/>
                  </a:solidFill>
                  <a:latin typeface="Times New Roman" pitchFamily="18" charset="0"/>
                </a:rPr>
                <a:t>76</a:t>
              </a:r>
            </a:p>
          </p:txBody>
        </p:sp>
        <p:sp>
          <p:nvSpPr>
            <p:cNvPr id="16446" name="Rectangle 132"/>
            <p:cNvSpPr>
              <a:spLocks noChangeArrowheads="1"/>
            </p:cNvSpPr>
            <p:nvPr/>
          </p:nvSpPr>
          <p:spPr bwMode="auto">
            <a:xfrm>
              <a:off x="4512" y="1826"/>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97</a:t>
              </a:r>
            </a:p>
          </p:txBody>
        </p:sp>
        <p:sp>
          <p:nvSpPr>
            <p:cNvPr id="16447" name="Rectangle 133"/>
            <p:cNvSpPr>
              <a:spLocks noChangeArrowheads="1"/>
            </p:cNvSpPr>
            <p:nvPr/>
          </p:nvSpPr>
          <p:spPr bwMode="auto">
            <a:xfrm>
              <a:off x="144" y="1776"/>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第二趟排序后：</a:t>
              </a:r>
            </a:p>
          </p:txBody>
        </p:sp>
      </p:grpSp>
      <p:grpSp>
        <p:nvGrpSpPr>
          <p:cNvPr id="633006" name="Group 174"/>
          <p:cNvGrpSpPr>
            <a:grpSpLocks/>
          </p:cNvGrpSpPr>
          <p:nvPr/>
        </p:nvGrpSpPr>
        <p:grpSpPr bwMode="auto">
          <a:xfrm>
            <a:off x="2205558" y="3979912"/>
            <a:ext cx="7562850" cy="457200"/>
            <a:chOff x="144" y="2208"/>
            <a:chExt cx="4764" cy="288"/>
          </a:xfrm>
        </p:grpSpPr>
        <p:sp>
          <p:nvSpPr>
            <p:cNvPr id="16430" name="Rectangle 134"/>
            <p:cNvSpPr>
              <a:spLocks noChangeArrowheads="1"/>
            </p:cNvSpPr>
            <p:nvPr/>
          </p:nvSpPr>
          <p:spPr bwMode="auto">
            <a:xfrm>
              <a:off x="1740"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6431" name="Rectangle 135"/>
            <p:cNvSpPr>
              <a:spLocks noChangeArrowheads="1"/>
            </p:cNvSpPr>
            <p:nvPr/>
          </p:nvSpPr>
          <p:spPr bwMode="auto">
            <a:xfrm>
              <a:off x="2136"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32" name="Rectangle 136"/>
            <p:cNvSpPr>
              <a:spLocks noChangeArrowheads="1"/>
            </p:cNvSpPr>
            <p:nvPr/>
          </p:nvSpPr>
          <p:spPr bwMode="auto">
            <a:xfrm>
              <a:off x="2532"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6433" name="Rectangle 137"/>
            <p:cNvSpPr>
              <a:spLocks noChangeArrowheads="1"/>
            </p:cNvSpPr>
            <p:nvPr/>
          </p:nvSpPr>
          <p:spPr bwMode="auto">
            <a:xfrm>
              <a:off x="2928"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6434" name="Rectangle 138"/>
            <p:cNvSpPr>
              <a:spLocks noChangeArrowheads="1"/>
            </p:cNvSpPr>
            <p:nvPr/>
          </p:nvSpPr>
          <p:spPr bwMode="auto">
            <a:xfrm>
              <a:off x="3324"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35" name="Rectangle 139"/>
            <p:cNvSpPr>
              <a:spLocks noChangeArrowheads="1"/>
            </p:cNvSpPr>
            <p:nvPr/>
          </p:nvSpPr>
          <p:spPr bwMode="auto">
            <a:xfrm>
              <a:off x="3720"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65</a:t>
              </a:r>
            </a:p>
          </p:txBody>
        </p:sp>
        <p:sp>
          <p:nvSpPr>
            <p:cNvPr id="16436" name="Rectangle 140"/>
            <p:cNvSpPr>
              <a:spLocks noChangeArrowheads="1"/>
            </p:cNvSpPr>
            <p:nvPr/>
          </p:nvSpPr>
          <p:spPr bwMode="auto">
            <a:xfrm>
              <a:off x="4116"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76</a:t>
              </a:r>
            </a:p>
          </p:txBody>
        </p:sp>
        <p:sp>
          <p:nvSpPr>
            <p:cNvPr id="16437" name="Rectangle 141"/>
            <p:cNvSpPr>
              <a:spLocks noChangeArrowheads="1"/>
            </p:cNvSpPr>
            <p:nvPr/>
          </p:nvSpPr>
          <p:spPr bwMode="auto">
            <a:xfrm>
              <a:off x="4512" y="2258"/>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97</a:t>
              </a:r>
            </a:p>
          </p:txBody>
        </p:sp>
        <p:sp>
          <p:nvSpPr>
            <p:cNvPr id="16438" name="Rectangle 142"/>
            <p:cNvSpPr>
              <a:spLocks noChangeArrowheads="1"/>
            </p:cNvSpPr>
            <p:nvPr/>
          </p:nvSpPr>
          <p:spPr bwMode="auto">
            <a:xfrm>
              <a:off x="144" y="2208"/>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第三趟排序后：</a:t>
              </a:r>
            </a:p>
          </p:txBody>
        </p:sp>
      </p:grpSp>
      <p:grpSp>
        <p:nvGrpSpPr>
          <p:cNvPr id="633005" name="Group 173"/>
          <p:cNvGrpSpPr>
            <a:grpSpLocks/>
          </p:cNvGrpSpPr>
          <p:nvPr/>
        </p:nvGrpSpPr>
        <p:grpSpPr bwMode="auto">
          <a:xfrm>
            <a:off x="2205558" y="4555976"/>
            <a:ext cx="7562850" cy="457200"/>
            <a:chOff x="144" y="2640"/>
            <a:chExt cx="4764" cy="288"/>
          </a:xfrm>
        </p:grpSpPr>
        <p:sp>
          <p:nvSpPr>
            <p:cNvPr id="16421" name="Rectangle 144"/>
            <p:cNvSpPr>
              <a:spLocks noChangeArrowheads="1"/>
            </p:cNvSpPr>
            <p:nvPr/>
          </p:nvSpPr>
          <p:spPr bwMode="auto">
            <a:xfrm>
              <a:off x="1740"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6422" name="Rectangle 145"/>
            <p:cNvSpPr>
              <a:spLocks noChangeArrowheads="1"/>
            </p:cNvSpPr>
            <p:nvPr/>
          </p:nvSpPr>
          <p:spPr bwMode="auto">
            <a:xfrm>
              <a:off x="2136"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6423" name="Rectangle 146"/>
            <p:cNvSpPr>
              <a:spLocks noChangeArrowheads="1"/>
            </p:cNvSpPr>
            <p:nvPr/>
          </p:nvSpPr>
          <p:spPr bwMode="auto">
            <a:xfrm>
              <a:off x="2532"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6424" name="Rectangle 147"/>
            <p:cNvSpPr>
              <a:spLocks noChangeArrowheads="1"/>
            </p:cNvSpPr>
            <p:nvPr/>
          </p:nvSpPr>
          <p:spPr bwMode="auto">
            <a:xfrm>
              <a:off x="2928"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16425" name="Rectangle 148"/>
            <p:cNvSpPr>
              <a:spLocks noChangeArrowheads="1"/>
            </p:cNvSpPr>
            <p:nvPr/>
          </p:nvSpPr>
          <p:spPr bwMode="auto">
            <a:xfrm>
              <a:off x="3324"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49*</a:t>
              </a:r>
            </a:p>
          </p:txBody>
        </p:sp>
        <p:sp>
          <p:nvSpPr>
            <p:cNvPr id="16426" name="Rectangle 149"/>
            <p:cNvSpPr>
              <a:spLocks noChangeArrowheads="1"/>
            </p:cNvSpPr>
            <p:nvPr/>
          </p:nvSpPr>
          <p:spPr bwMode="auto">
            <a:xfrm>
              <a:off x="3720"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65</a:t>
              </a:r>
            </a:p>
          </p:txBody>
        </p:sp>
        <p:sp>
          <p:nvSpPr>
            <p:cNvPr id="16427" name="Rectangle 150"/>
            <p:cNvSpPr>
              <a:spLocks noChangeArrowheads="1"/>
            </p:cNvSpPr>
            <p:nvPr/>
          </p:nvSpPr>
          <p:spPr bwMode="auto">
            <a:xfrm>
              <a:off x="4116"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76</a:t>
              </a:r>
            </a:p>
          </p:txBody>
        </p:sp>
        <p:sp>
          <p:nvSpPr>
            <p:cNvPr id="16428" name="Rectangle 151"/>
            <p:cNvSpPr>
              <a:spLocks noChangeArrowheads="1"/>
            </p:cNvSpPr>
            <p:nvPr/>
          </p:nvSpPr>
          <p:spPr bwMode="auto">
            <a:xfrm>
              <a:off x="4512" y="2690"/>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97</a:t>
              </a:r>
            </a:p>
          </p:txBody>
        </p:sp>
        <p:sp>
          <p:nvSpPr>
            <p:cNvPr id="16429" name="Rectangle 152"/>
            <p:cNvSpPr>
              <a:spLocks noChangeArrowheads="1"/>
            </p:cNvSpPr>
            <p:nvPr/>
          </p:nvSpPr>
          <p:spPr bwMode="auto">
            <a:xfrm>
              <a:off x="144" y="2640"/>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第四趟排序后：</a:t>
              </a:r>
            </a:p>
          </p:txBody>
        </p:sp>
      </p:grpSp>
      <p:grpSp>
        <p:nvGrpSpPr>
          <p:cNvPr id="633004" name="Group 172"/>
          <p:cNvGrpSpPr>
            <a:grpSpLocks/>
          </p:cNvGrpSpPr>
          <p:nvPr/>
        </p:nvGrpSpPr>
        <p:grpSpPr bwMode="auto">
          <a:xfrm>
            <a:off x="2205558" y="5132040"/>
            <a:ext cx="7562850" cy="457200"/>
            <a:chOff x="144" y="3072"/>
            <a:chExt cx="4764" cy="288"/>
          </a:xfrm>
        </p:grpSpPr>
        <p:sp>
          <p:nvSpPr>
            <p:cNvPr id="16412" name="Rectangle 153"/>
            <p:cNvSpPr>
              <a:spLocks noChangeArrowheads="1"/>
            </p:cNvSpPr>
            <p:nvPr/>
          </p:nvSpPr>
          <p:spPr bwMode="auto">
            <a:xfrm>
              <a:off x="1740"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13</a:t>
              </a:r>
            </a:p>
          </p:txBody>
        </p:sp>
        <p:sp>
          <p:nvSpPr>
            <p:cNvPr id="16413" name="Rectangle 154"/>
            <p:cNvSpPr>
              <a:spLocks noChangeArrowheads="1"/>
            </p:cNvSpPr>
            <p:nvPr/>
          </p:nvSpPr>
          <p:spPr bwMode="auto">
            <a:xfrm>
              <a:off x="2136"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a:t>
              </a:r>
            </a:p>
          </p:txBody>
        </p:sp>
        <p:sp>
          <p:nvSpPr>
            <p:cNvPr id="16414" name="Rectangle 155"/>
            <p:cNvSpPr>
              <a:spLocks noChangeArrowheads="1"/>
            </p:cNvSpPr>
            <p:nvPr/>
          </p:nvSpPr>
          <p:spPr bwMode="auto">
            <a:xfrm>
              <a:off x="2532"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38</a:t>
              </a:r>
            </a:p>
          </p:txBody>
        </p:sp>
        <p:sp>
          <p:nvSpPr>
            <p:cNvPr id="16415" name="Rectangle 156"/>
            <p:cNvSpPr>
              <a:spLocks noChangeArrowheads="1"/>
            </p:cNvSpPr>
            <p:nvPr/>
          </p:nvSpPr>
          <p:spPr bwMode="auto">
            <a:xfrm>
              <a:off x="2928"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49</a:t>
              </a:r>
            </a:p>
          </p:txBody>
        </p:sp>
        <p:sp>
          <p:nvSpPr>
            <p:cNvPr id="16416" name="Rectangle 157"/>
            <p:cNvSpPr>
              <a:spLocks noChangeArrowheads="1"/>
            </p:cNvSpPr>
            <p:nvPr/>
          </p:nvSpPr>
          <p:spPr bwMode="auto">
            <a:xfrm>
              <a:off x="3324"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49*</a:t>
              </a:r>
            </a:p>
          </p:txBody>
        </p:sp>
        <p:sp>
          <p:nvSpPr>
            <p:cNvPr id="16417" name="Rectangle 158"/>
            <p:cNvSpPr>
              <a:spLocks noChangeArrowheads="1"/>
            </p:cNvSpPr>
            <p:nvPr/>
          </p:nvSpPr>
          <p:spPr bwMode="auto">
            <a:xfrm>
              <a:off x="3720"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65</a:t>
              </a:r>
            </a:p>
          </p:txBody>
        </p:sp>
        <p:sp>
          <p:nvSpPr>
            <p:cNvPr id="16418" name="Rectangle 159"/>
            <p:cNvSpPr>
              <a:spLocks noChangeArrowheads="1"/>
            </p:cNvSpPr>
            <p:nvPr/>
          </p:nvSpPr>
          <p:spPr bwMode="auto">
            <a:xfrm>
              <a:off x="4116"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76</a:t>
              </a:r>
            </a:p>
          </p:txBody>
        </p:sp>
        <p:sp>
          <p:nvSpPr>
            <p:cNvPr id="16419" name="Rectangle 160"/>
            <p:cNvSpPr>
              <a:spLocks noChangeArrowheads="1"/>
            </p:cNvSpPr>
            <p:nvPr/>
          </p:nvSpPr>
          <p:spPr bwMode="auto">
            <a:xfrm>
              <a:off x="4512" y="3122"/>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97</a:t>
              </a:r>
            </a:p>
          </p:txBody>
        </p:sp>
        <p:sp>
          <p:nvSpPr>
            <p:cNvPr id="16420" name="Rectangle 161"/>
            <p:cNvSpPr>
              <a:spLocks noChangeArrowheads="1"/>
            </p:cNvSpPr>
            <p:nvPr/>
          </p:nvSpPr>
          <p:spPr bwMode="auto">
            <a:xfrm>
              <a:off x="144" y="3072"/>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第五趟排序后：</a:t>
              </a:r>
            </a:p>
          </p:txBody>
        </p:sp>
      </p:grpSp>
      <p:grpSp>
        <p:nvGrpSpPr>
          <p:cNvPr id="633003" name="Group 171"/>
          <p:cNvGrpSpPr>
            <a:grpSpLocks/>
          </p:cNvGrpSpPr>
          <p:nvPr/>
        </p:nvGrpSpPr>
        <p:grpSpPr bwMode="auto">
          <a:xfrm>
            <a:off x="2205558" y="5708104"/>
            <a:ext cx="7562850" cy="457200"/>
            <a:chOff x="144" y="3504"/>
            <a:chExt cx="4764" cy="288"/>
          </a:xfrm>
        </p:grpSpPr>
        <p:sp>
          <p:nvSpPr>
            <p:cNvPr id="16403" name="Rectangle 162"/>
            <p:cNvSpPr>
              <a:spLocks noChangeArrowheads="1"/>
            </p:cNvSpPr>
            <p:nvPr/>
          </p:nvSpPr>
          <p:spPr bwMode="auto">
            <a:xfrm>
              <a:off x="1740"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13</a:t>
              </a:r>
            </a:p>
          </p:txBody>
        </p:sp>
        <p:sp>
          <p:nvSpPr>
            <p:cNvPr id="16404" name="Rectangle 163"/>
            <p:cNvSpPr>
              <a:spLocks noChangeArrowheads="1"/>
            </p:cNvSpPr>
            <p:nvPr/>
          </p:nvSpPr>
          <p:spPr bwMode="auto">
            <a:xfrm>
              <a:off x="2136"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27</a:t>
              </a:r>
            </a:p>
          </p:txBody>
        </p:sp>
        <p:sp>
          <p:nvSpPr>
            <p:cNvPr id="16405" name="Rectangle 164"/>
            <p:cNvSpPr>
              <a:spLocks noChangeArrowheads="1"/>
            </p:cNvSpPr>
            <p:nvPr/>
          </p:nvSpPr>
          <p:spPr bwMode="auto">
            <a:xfrm>
              <a:off x="2532"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38</a:t>
              </a:r>
            </a:p>
          </p:txBody>
        </p:sp>
        <p:sp>
          <p:nvSpPr>
            <p:cNvPr id="16406" name="Rectangle 165"/>
            <p:cNvSpPr>
              <a:spLocks noChangeArrowheads="1"/>
            </p:cNvSpPr>
            <p:nvPr/>
          </p:nvSpPr>
          <p:spPr bwMode="auto">
            <a:xfrm>
              <a:off x="2928"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49</a:t>
              </a:r>
            </a:p>
          </p:txBody>
        </p:sp>
        <p:sp>
          <p:nvSpPr>
            <p:cNvPr id="16407" name="Rectangle 166"/>
            <p:cNvSpPr>
              <a:spLocks noChangeArrowheads="1"/>
            </p:cNvSpPr>
            <p:nvPr/>
          </p:nvSpPr>
          <p:spPr bwMode="auto">
            <a:xfrm>
              <a:off x="3324"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49*</a:t>
              </a:r>
            </a:p>
          </p:txBody>
        </p:sp>
        <p:sp>
          <p:nvSpPr>
            <p:cNvPr id="16408" name="Rectangle 167"/>
            <p:cNvSpPr>
              <a:spLocks noChangeArrowheads="1"/>
            </p:cNvSpPr>
            <p:nvPr/>
          </p:nvSpPr>
          <p:spPr bwMode="auto">
            <a:xfrm>
              <a:off x="3720"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65</a:t>
              </a:r>
            </a:p>
          </p:txBody>
        </p:sp>
        <p:sp>
          <p:nvSpPr>
            <p:cNvPr id="16409" name="Rectangle 168"/>
            <p:cNvSpPr>
              <a:spLocks noChangeArrowheads="1"/>
            </p:cNvSpPr>
            <p:nvPr/>
          </p:nvSpPr>
          <p:spPr bwMode="auto">
            <a:xfrm>
              <a:off x="4116"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76</a:t>
              </a:r>
            </a:p>
          </p:txBody>
        </p:sp>
        <p:sp>
          <p:nvSpPr>
            <p:cNvPr id="16410" name="Rectangle 169"/>
            <p:cNvSpPr>
              <a:spLocks noChangeArrowheads="1"/>
            </p:cNvSpPr>
            <p:nvPr/>
          </p:nvSpPr>
          <p:spPr bwMode="auto">
            <a:xfrm>
              <a:off x="4512" y="3554"/>
              <a:ext cx="396" cy="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b="1" dirty="0">
                  <a:solidFill>
                    <a:srgbClr val="FF0000"/>
                  </a:solidFill>
                  <a:latin typeface="Times New Roman" pitchFamily="18" charset="0"/>
                </a:rPr>
                <a:t>97</a:t>
              </a:r>
            </a:p>
          </p:txBody>
        </p:sp>
        <p:sp>
          <p:nvSpPr>
            <p:cNvPr id="16411" name="Rectangle 170"/>
            <p:cNvSpPr>
              <a:spLocks noChangeArrowheads="1"/>
            </p:cNvSpPr>
            <p:nvPr/>
          </p:nvSpPr>
          <p:spPr bwMode="auto">
            <a:xfrm>
              <a:off x="144" y="3504"/>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pPr>
              <a:r>
                <a:rPr kumimoji="1" lang="zh-CN" altLang="en-US" sz="2000" dirty="0">
                  <a:latin typeface="微软雅黑" pitchFamily="34" charset="-122"/>
                  <a:ea typeface="微软雅黑" pitchFamily="34" charset="-122"/>
                  <a:cs typeface="经典粗黑简" pitchFamily="49" charset="-122"/>
                </a:rPr>
                <a:t>第六趟排序后：</a:t>
              </a:r>
            </a:p>
          </p:txBody>
        </p:sp>
      </p:grpSp>
      <p:sp>
        <p:nvSpPr>
          <p:cNvPr id="2" name="矩形 1">
            <a:extLst>
              <a:ext uri="{FF2B5EF4-FFF2-40B4-BE49-F238E27FC236}">
                <a16:creationId xmlns:a16="http://schemas.microsoft.com/office/drawing/2014/main" id="{4CB47482-3CA1-D069-8279-569BA2F8B1CD}"/>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10.3.1 </a:t>
            </a:r>
            <a:r>
              <a:rPr lang="zh-CN" altLang="en-US" sz="2800" b="1" dirty="0">
                <a:solidFill>
                  <a:schemeClr val="bg1"/>
                </a:solidFill>
                <a:latin typeface="经典粗黑简" pitchFamily="49" charset="-122"/>
                <a:ea typeface="经典粗黑简" pitchFamily="49" charset="-122"/>
                <a:cs typeface="经典粗黑简" pitchFamily="49" charset="-122"/>
              </a:rPr>
              <a:t>冒泡排序</a:t>
            </a:r>
          </a:p>
        </p:txBody>
      </p:sp>
      <p:cxnSp>
        <p:nvCxnSpPr>
          <p:cNvPr id="3" name="直接连接符 2">
            <a:extLst>
              <a:ext uri="{FF2B5EF4-FFF2-40B4-BE49-F238E27FC236}">
                <a16:creationId xmlns:a16="http://schemas.microsoft.com/office/drawing/2014/main" id="{2A300122-5E04-E883-F5FB-1834B5C43FF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B0938336-19E8-261C-A8A3-61CA7EC0946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34006610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33008"/>
                                        </p:tgtEl>
                                        <p:attrNameLst>
                                          <p:attrName>style.visibility</p:attrName>
                                        </p:attrNameLst>
                                      </p:cBhvr>
                                      <p:to>
                                        <p:strVal val="visible"/>
                                      </p:to>
                                    </p:set>
                                    <p:animEffect transition="in" filter="wipe(left)">
                                      <p:cBhvr>
                                        <p:cTn id="7" dur="500"/>
                                        <p:tgtEl>
                                          <p:spTgt spid="633008"/>
                                        </p:tgtEl>
                                      </p:cBhvr>
                                    </p:animEffect>
                                  </p:childTnLst>
                                </p:cTn>
                              </p:par>
                            </p:childTnLst>
                          </p:cTn>
                        </p:par>
                        <p:par>
                          <p:cTn id="8" fill="hold" nodeType="afterGroup">
                            <p:stCondLst>
                              <p:cond delay="500"/>
                            </p:stCondLst>
                            <p:childTnLst>
                              <p:par>
                                <p:cTn id="9" presetID="22" presetClass="entr" presetSubtype="8" fill="hold" nodeType="afterEffect">
                                  <p:stCondLst>
                                    <p:cond delay="10000"/>
                                  </p:stCondLst>
                                  <p:childTnLst>
                                    <p:set>
                                      <p:cBhvr>
                                        <p:cTn id="10" dur="1" fill="hold">
                                          <p:stCondLst>
                                            <p:cond delay="0"/>
                                          </p:stCondLst>
                                        </p:cTn>
                                        <p:tgtEl>
                                          <p:spTgt spid="633007"/>
                                        </p:tgtEl>
                                        <p:attrNameLst>
                                          <p:attrName>style.visibility</p:attrName>
                                        </p:attrNameLst>
                                      </p:cBhvr>
                                      <p:to>
                                        <p:strVal val="visible"/>
                                      </p:to>
                                    </p:set>
                                    <p:animEffect transition="in" filter="wipe(left)">
                                      <p:cBhvr>
                                        <p:cTn id="11" dur="500"/>
                                        <p:tgtEl>
                                          <p:spTgt spid="633007"/>
                                        </p:tgtEl>
                                      </p:cBhvr>
                                    </p:animEffect>
                                  </p:childTnLst>
                                </p:cTn>
                              </p:par>
                            </p:childTnLst>
                          </p:cTn>
                        </p:par>
                        <p:par>
                          <p:cTn id="12" fill="hold" nodeType="afterGroup">
                            <p:stCondLst>
                              <p:cond delay="11000"/>
                            </p:stCondLst>
                            <p:childTnLst>
                              <p:par>
                                <p:cTn id="13" presetID="22" presetClass="entr" presetSubtype="1" fill="hold" nodeType="afterEffect">
                                  <p:stCondLst>
                                    <p:cond delay="10000"/>
                                  </p:stCondLst>
                                  <p:childTnLst>
                                    <p:set>
                                      <p:cBhvr>
                                        <p:cTn id="14" dur="1" fill="hold">
                                          <p:stCondLst>
                                            <p:cond delay="0"/>
                                          </p:stCondLst>
                                        </p:cTn>
                                        <p:tgtEl>
                                          <p:spTgt spid="633006"/>
                                        </p:tgtEl>
                                        <p:attrNameLst>
                                          <p:attrName>style.visibility</p:attrName>
                                        </p:attrNameLst>
                                      </p:cBhvr>
                                      <p:to>
                                        <p:strVal val="visible"/>
                                      </p:to>
                                    </p:set>
                                    <p:animEffect transition="in" filter="wipe(up)">
                                      <p:cBhvr>
                                        <p:cTn id="15" dur="500"/>
                                        <p:tgtEl>
                                          <p:spTgt spid="633006"/>
                                        </p:tgtEl>
                                      </p:cBhvr>
                                    </p:animEffect>
                                  </p:childTnLst>
                                </p:cTn>
                              </p:par>
                            </p:childTnLst>
                          </p:cTn>
                        </p:par>
                        <p:par>
                          <p:cTn id="16" fill="hold" nodeType="afterGroup">
                            <p:stCondLst>
                              <p:cond delay="21500"/>
                            </p:stCondLst>
                            <p:childTnLst>
                              <p:par>
                                <p:cTn id="17" presetID="22" presetClass="entr" presetSubtype="1" fill="hold" nodeType="afterEffect">
                                  <p:stCondLst>
                                    <p:cond delay="10000"/>
                                  </p:stCondLst>
                                  <p:childTnLst>
                                    <p:set>
                                      <p:cBhvr>
                                        <p:cTn id="18" dur="1" fill="hold">
                                          <p:stCondLst>
                                            <p:cond delay="0"/>
                                          </p:stCondLst>
                                        </p:cTn>
                                        <p:tgtEl>
                                          <p:spTgt spid="633005"/>
                                        </p:tgtEl>
                                        <p:attrNameLst>
                                          <p:attrName>style.visibility</p:attrName>
                                        </p:attrNameLst>
                                      </p:cBhvr>
                                      <p:to>
                                        <p:strVal val="visible"/>
                                      </p:to>
                                    </p:set>
                                    <p:animEffect transition="in" filter="wipe(up)">
                                      <p:cBhvr>
                                        <p:cTn id="19" dur="500"/>
                                        <p:tgtEl>
                                          <p:spTgt spid="633005"/>
                                        </p:tgtEl>
                                      </p:cBhvr>
                                    </p:animEffect>
                                  </p:childTnLst>
                                </p:cTn>
                              </p:par>
                            </p:childTnLst>
                          </p:cTn>
                        </p:par>
                        <p:par>
                          <p:cTn id="20" fill="hold" nodeType="afterGroup">
                            <p:stCondLst>
                              <p:cond delay="32000"/>
                            </p:stCondLst>
                            <p:childTnLst>
                              <p:par>
                                <p:cTn id="21" presetID="22" presetClass="entr" presetSubtype="1" fill="hold" nodeType="afterEffect">
                                  <p:stCondLst>
                                    <p:cond delay="10000"/>
                                  </p:stCondLst>
                                  <p:childTnLst>
                                    <p:set>
                                      <p:cBhvr>
                                        <p:cTn id="22" dur="1" fill="hold">
                                          <p:stCondLst>
                                            <p:cond delay="0"/>
                                          </p:stCondLst>
                                        </p:cTn>
                                        <p:tgtEl>
                                          <p:spTgt spid="633004"/>
                                        </p:tgtEl>
                                        <p:attrNameLst>
                                          <p:attrName>style.visibility</p:attrName>
                                        </p:attrNameLst>
                                      </p:cBhvr>
                                      <p:to>
                                        <p:strVal val="visible"/>
                                      </p:to>
                                    </p:set>
                                    <p:animEffect transition="in" filter="wipe(up)">
                                      <p:cBhvr>
                                        <p:cTn id="23" dur="500"/>
                                        <p:tgtEl>
                                          <p:spTgt spid="633004"/>
                                        </p:tgtEl>
                                      </p:cBhvr>
                                    </p:animEffect>
                                  </p:childTnLst>
                                </p:cTn>
                              </p:par>
                            </p:childTnLst>
                          </p:cTn>
                        </p:par>
                        <p:par>
                          <p:cTn id="24" fill="hold" nodeType="afterGroup">
                            <p:stCondLst>
                              <p:cond delay="42500"/>
                            </p:stCondLst>
                            <p:childTnLst>
                              <p:par>
                                <p:cTn id="25" presetID="22" presetClass="entr" presetSubtype="1" fill="hold" nodeType="afterEffect">
                                  <p:stCondLst>
                                    <p:cond delay="7000"/>
                                  </p:stCondLst>
                                  <p:childTnLst>
                                    <p:set>
                                      <p:cBhvr>
                                        <p:cTn id="26" dur="1" fill="hold">
                                          <p:stCondLst>
                                            <p:cond delay="0"/>
                                          </p:stCondLst>
                                        </p:cTn>
                                        <p:tgtEl>
                                          <p:spTgt spid="633003"/>
                                        </p:tgtEl>
                                        <p:attrNameLst>
                                          <p:attrName>style.visibility</p:attrName>
                                        </p:attrNameLst>
                                      </p:cBhvr>
                                      <p:to>
                                        <p:strVal val="visible"/>
                                      </p:to>
                                    </p:set>
                                    <p:animEffect transition="in" filter="wipe(up)">
                                      <p:cBhvr>
                                        <p:cTn id="27" dur="500"/>
                                        <p:tgtEl>
                                          <p:spTgt spid="633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bwMode="auto">
          <a:xfrm>
            <a:off x="1489720" y="1740526"/>
            <a:ext cx="4606280" cy="457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SzPct val="75000"/>
              <a:buNone/>
            </a:pPr>
            <a:r>
              <a:rPr kumimoji="1" lang="zh-CN" altLang="en-US" sz="2000" dirty="0">
                <a:latin typeface="微软雅黑" pitchFamily="34" charset="-122"/>
                <a:ea typeface="微软雅黑" pitchFamily="34" charset="-122"/>
                <a:cs typeface="经典粗黑简" pitchFamily="49" charset="-122"/>
              </a:rPr>
              <a:t>以顺序表作为存储结构的起泡排序算法</a:t>
            </a:r>
          </a:p>
        </p:txBody>
      </p:sp>
      <p:sp>
        <p:nvSpPr>
          <p:cNvPr id="633861" name="Rectangle 5"/>
          <p:cNvSpPr>
            <a:spLocks noChangeArrowheads="1"/>
          </p:cNvSpPr>
          <p:nvPr/>
        </p:nvSpPr>
        <p:spPr bwMode="auto">
          <a:xfrm>
            <a:off x="7649602" y="2492897"/>
            <a:ext cx="3240360" cy="67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folHlink"/>
              </a:buClr>
              <a:buSzPct val="75000"/>
            </a:pPr>
            <a:r>
              <a:rPr kumimoji="1" lang="zh-CN" altLang="en-US" sz="2000" dirty="0">
                <a:latin typeface="微软雅黑" pitchFamily="34" charset="-122"/>
                <a:ea typeface="微软雅黑" pitchFamily="34" charset="-122"/>
                <a:cs typeface="经典粗黑简" pitchFamily="49" charset="-122"/>
              </a:rPr>
              <a:t>分析起泡排序算法中关键字的比较次数和记录移动次数</a:t>
            </a:r>
          </a:p>
        </p:txBody>
      </p:sp>
      <p:sp>
        <p:nvSpPr>
          <p:cNvPr id="3" name="矩形 2"/>
          <p:cNvSpPr/>
          <p:nvPr/>
        </p:nvSpPr>
        <p:spPr>
          <a:xfrm>
            <a:off x="7649602" y="3284984"/>
            <a:ext cx="4572000" cy="707886"/>
          </a:xfrm>
          <a:prstGeom prst="rect">
            <a:avLst/>
          </a:prstGeom>
        </p:spPr>
        <p:txBody>
          <a:bodyPr>
            <a:spAutoFit/>
          </a:bodyPr>
          <a:lstStyle/>
          <a:p>
            <a:pPr>
              <a:spcBef>
                <a:spcPct val="0"/>
              </a:spcBef>
              <a:buFontTx/>
              <a:buNone/>
            </a:pPr>
            <a:r>
              <a:rPr kumimoji="1" lang="zh-CN" altLang="en-US" sz="2000" dirty="0">
                <a:latin typeface="微软雅黑" pitchFamily="34" charset="-122"/>
                <a:ea typeface="微软雅黑" pitchFamily="34" charset="-122"/>
                <a:cs typeface="经典粗黑简" pitchFamily="49" charset="-122"/>
              </a:rPr>
              <a:t>最好情况下，元素的比较次数为</a:t>
            </a:r>
            <a:r>
              <a:rPr kumimoji="1" lang="en-US" altLang="zh-CN" sz="2000" dirty="0">
                <a:latin typeface="微软雅黑" pitchFamily="34" charset="-122"/>
                <a:ea typeface="微软雅黑" pitchFamily="34" charset="-122"/>
                <a:cs typeface="经典粗黑简" pitchFamily="49" charset="-122"/>
              </a:rPr>
              <a:t>: n - 1 </a:t>
            </a:r>
          </a:p>
          <a:p>
            <a:pPr>
              <a:spcBef>
                <a:spcPct val="0"/>
              </a:spcBef>
              <a:buFontTx/>
              <a:buNone/>
            </a:pPr>
            <a:r>
              <a:rPr kumimoji="1" lang="zh-CN" altLang="en-US" sz="2000" dirty="0">
                <a:latin typeface="微软雅黑" pitchFamily="34" charset="-122"/>
                <a:ea typeface="微软雅黑" pitchFamily="34" charset="-122"/>
                <a:cs typeface="经典粗黑简" pitchFamily="49" charset="-122"/>
              </a:rPr>
              <a:t>最坏情况下，交换次数为</a:t>
            </a:r>
            <a:r>
              <a:rPr kumimoji="1" lang="en-US" altLang="zh-CN"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sym typeface="Wingdings" pitchFamily="2" charset="2"/>
              </a:rPr>
              <a:t> n(n-1)/2</a:t>
            </a:r>
          </a:p>
        </p:txBody>
      </p:sp>
      <p:sp>
        <p:nvSpPr>
          <p:cNvPr id="4" name="矩形 3"/>
          <p:cNvSpPr/>
          <p:nvPr/>
        </p:nvSpPr>
        <p:spPr>
          <a:xfrm>
            <a:off x="7649602" y="3933056"/>
            <a:ext cx="4572000" cy="707886"/>
          </a:xfrm>
          <a:prstGeom prst="rect">
            <a:avLst/>
          </a:prstGeom>
        </p:spPr>
        <p:txBody>
          <a:bodyPr>
            <a:spAutoFit/>
          </a:bodyPr>
          <a:lstStyle/>
          <a:p>
            <a:pPr>
              <a:spcBef>
                <a:spcPct val="0"/>
              </a:spcBef>
              <a:buFontTx/>
              <a:buNone/>
            </a:pPr>
            <a:r>
              <a:rPr kumimoji="1" lang="zh-CN" altLang="en-US" sz="2000" dirty="0">
                <a:latin typeface="微软雅黑" pitchFamily="34" charset="-122"/>
                <a:ea typeface="微软雅黑" pitchFamily="34" charset="-122"/>
                <a:cs typeface="经典粗黑简" pitchFamily="49" charset="-122"/>
              </a:rPr>
              <a:t>最好情况下，元素的移动次数为</a:t>
            </a:r>
            <a:r>
              <a:rPr kumimoji="1" lang="en-US" altLang="zh-CN" sz="2000" dirty="0">
                <a:latin typeface="微软雅黑" pitchFamily="34" charset="-122"/>
                <a:ea typeface="微软雅黑" pitchFamily="34" charset="-122"/>
                <a:cs typeface="经典粗黑简" pitchFamily="49" charset="-122"/>
              </a:rPr>
              <a:t>:0</a:t>
            </a:r>
          </a:p>
          <a:p>
            <a:pPr>
              <a:spcBef>
                <a:spcPct val="0"/>
              </a:spcBef>
              <a:buFontTx/>
              <a:buNone/>
            </a:pPr>
            <a:r>
              <a:rPr kumimoji="1" lang="zh-CN" altLang="en-US" sz="2000" dirty="0">
                <a:latin typeface="微软雅黑" pitchFamily="34" charset="-122"/>
                <a:ea typeface="微软雅黑" pitchFamily="34" charset="-122"/>
                <a:cs typeface="经典粗黑简" pitchFamily="49" charset="-122"/>
              </a:rPr>
              <a:t>最坏情况下，交换次数为：</a:t>
            </a:r>
            <a:r>
              <a:rPr kumimoji="1" lang="en-US" altLang="zh-CN" sz="2000" dirty="0">
                <a:latin typeface="微软雅黑" pitchFamily="34" charset="-122"/>
                <a:ea typeface="微软雅黑" pitchFamily="34" charset="-122"/>
                <a:cs typeface="经典粗黑简" pitchFamily="49" charset="-122"/>
                <a:sym typeface="Wingdings" pitchFamily="2" charset="2"/>
              </a:rPr>
              <a:t>n(n-1)/2</a:t>
            </a:r>
          </a:p>
        </p:txBody>
      </p:sp>
      <p:sp>
        <p:nvSpPr>
          <p:cNvPr id="2" name="矩形 1">
            <a:extLst>
              <a:ext uri="{FF2B5EF4-FFF2-40B4-BE49-F238E27FC236}">
                <a16:creationId xmlns:a16="http://schemas.microsoft.com/office/drawing/2014/main" id="{3CE825CC-7180-723D-565D-2F181AE6FF09}"/>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10.3.1 </a:t>
            </a:r>
            <a:r>
              <a:rPr lang="zh-CN" altLang="en-US" sz="2800" b="1" dirty="0">
                <a:solidFill>
                  <a:schemeClr val="bg1"/>
                </a:solidFill>
                <a:latin typeface="经典粗黑简" pitchFamily="49" charset="-122"/>
                <a:ea typeface="经典粗黑简" pitchFamily="49" charset="-122"/>
                <a:cs typeface="经典粗黑简" pitchFamily="49" charset="-122"/>
              </a:rPr>
              <a:t>冒泡排序</a:t>
            </a:r>
          </a:p>
        </p:txBody>
      </p:sp>
      <p:cxnSp>
        <p:nvCxnSpPr>
          <p:cNvPr id="5" name="直接连接符 4">
            <a:extLst>
              <a:ext uri="{FF2B5EF4-FFF2-40B4-BE49-F238E27FC236}">
                <a16:creationId xmlns:a16="http://schemas.microsoft.com/office/drawing/2014/main" id="{C0592FB7-148D-99A4-AEAA-393EFC200CCE}"/>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2FAAB7E2-0706-ADE7-AF32-2645CD3B750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
        <p:nvSpPr>
          <p:cNvPr id="7" name="Text Box 2">
            <a:extLst>
              <a:ext uri="{FF2B5EF4-FFF2-40B4-BE49-F238E27FC236}">
                <a16:creationId xmlns:a16="http://schemas.microsoft.com/office/drawing/2014/main" id="{22554583-E99A-EFC2-8F2B-0470D0743C59}"/>
              </a:ext>
            </a:extLst>
          </p:cNvPr>
          <p:cNvSpPr txBox="1">
            <a:spLocks noChangeArrowheads="1"/>
          </p:cNvSpPr>
          <p:nvPr/>
        </p:nvSpPr>
        <p:spPr bwMode="auto">
          <a:xfrm>
            <a:off x="164215" y="2197726"/>
            <a:ext cx="7399074" cy="4601599"/>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52000" tIns="180000" rIns="144000" bIns="180000">
            <a:spAutoFit/>
          </a:bodyPr>
          <a:lstStyle/>
          <a:p>
            <a:pPr algn="just">
              <a:lnSpc>
                <a:spcPct val="9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err="1">
                <a:solidFill>
                  <a:srgbClr val="FF3300"/>
                </a:solidFill>
                <a:latin typeface="Consolas" pitchFamily="49" charset="0"/>
                <a:ea typeface="仿宋" pitchFamily="49" charset="-122"/>
                <a:cs typeface="Consolas" pitchFamily="49" charset="0"/>
              </a:rPr>
              <a:t>BubbleSort</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R[]</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int n)</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int </a:t>
            </a:r>
            <a:r>
              <a:rPr kumimoji="1" lang="en-US" altLang="zh-CN" sz="1800" dirty="0" err="1">
                <a:solidFill>
                  <a:srgbClr val="1000E4"/>
                </a:solidFill>
                <a:latin typeface="Consolas" pitchFamily="49" charset="0"/>
                <a:ea typeface="仿宋" pitchFamily="49" charset="-122"/>
                <a:cs typeface="Consolas" pitchFamily="49" charset="0"/>
              </a:rPr>
              <a:t>i</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j;  </a:t>
            </a:r>
            <a:r>
              <a:rPr kumimoji="1" lang="en-US" altLang="zh-CN" sz="1800" dirty="0">
                <a:solidFill>
                  <a:srgbClr val="FF00FF"/>
                </a:solidFill>
                <a:latin typeface="Consolas" pitchFamily="49" charset="0"/>
                <a:ea typeface="仿宋" pitchFamily="49" charset="-122"/>
                <a:cs typeface="Consolas" pitchFamily="49" charset="0"/>
              </a:rPr>
              <a:t>bool exchange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temp;</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for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=0;i&lt;n-1;i++) </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FF00FF"/>
                </a:solidFill>
                <a:latin typeface="Consolas" pitchFamily="49" charset="0"/>
                <a:ea typeface="仿宋" pitchFamily="49" charset="-122"/>
                <a:cs typeface="Consolas" pitchFamily="49" charset="0"/>
              </a:rPr>
              <a:t>exchange=false;</a:t>
            </a:r>
          </a:p>
          <a:p>
            <a:pPr algn="just">
              <a:lnSpc>
                <a:spcPct val="70000"/>
              </a:lnSpc>
              <a:spcBef>
                <a:spcPct val="50000"/>
              </a:spcBef>
            </a:pPr>
            <a:r>
              <a:rPr kumimoji="1" lang="en-US" altLang="zh-CN" sz="1800" dirty="0">
                <a:solidFill>
                  <a:srgbClr val="FF00FF"/>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for (j=n-1;j&gt;</a:t>
            </a:r>
            <a:r>
              <a:rPr kumimoji="1" lang="en-US" altLang="zh-CN" sz="1800" dirty="0" err="1">
                <a:solidFill>
                  <a:srgbClr val="1000E4"/>
                </a:solidFill>
                <a:latin typeface="Consolas" pitchFamily="49" charset="0"/>
                <a:ea typeface="仿宋" pitchFamily="49" charset="-122"/>
                <a:cs typeface="Consolas" pitchFamily="49" charset="0"/>
              </a:rPr>
              <a:t>i;j</a:t>
            </a:r>
            <a:r>
              <a:rPr kumimoji="1" lang="en-US" altLang="zh-CN" sz="1800" dirty="0">
                <a:solidFill>
                  <a:srgbClr val="1000E4"/>
                </a:solidFill>
                <a:latin typeface="Consolas" pitchFamily="49" charset="0"/>
                <a:ea typeface="仿宋" pitchFamily="49" charset="-122"/>
                <a:cs typeface="Consolas" pitchFamily="49" charset="0"/>
              </a:rPr>
              <a:t>--)</a:t>
            </a: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比较，找出最小关键字的元素</a:t>
            </a:r>
          </a:p>
          <a:p>
            <a:pPr algn="just">
              <a:lnSpc>
                <a:spcPct val="70000"/>
              </a:lnSpc>
              <a:spcBef>
                <a:spcPct val="50000"/>
              </a:spcBef>
            </a:pP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if (R[j].key&lt;R[j-1].key)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反序</a:t>
            </a:r>
            <a:r>
              <a:rPr kumimoji="1" lang="zh-CN" altLang="en-US" sz="1800" dirty="0">
                <a:solidFill>
                  <a:srgbClr val="00B0F0"/>
                </a:solidFill>
                <a:latin typeface="Consolas" pitchFamily="49" charset="0"/>
                <a:ea typeface="仿宋" pitchFamily="49" charset="-122"/>
                <a:cs typeface="Consolas" pitchFamily="49" charset="0"/>
                <a:sym typeface="Wingdings"/>
              </a:rPr>
              <a:t>交换</a:t>
            </a:r>
            <a:r>
              <a:rPr kumimoji="1" lang="en-US" altLang="zh-CN" sz="1800" dirty="0">
                <a:solidFill>
                  <a:srgbClr val="1000E4"/>
                </a:solidFill>
                <a:latin typeface="Consolas" pitchFamily="49" charset="0"/>
                <a:ea typeface="仿宋" pitchFamily="49" charset="-122"/>
                <a:cs typeface="Consolas" pitchFamily="49" charset="0"/>
              </a:rPr>
              <a:t> 	</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  swap(R[j],R[j-1]);</a:t>
            </a:r>
          </a:p>
          <a:p>
            <a:pPr algn="just">
              <a:lnSpc>
                <a:spcPct val="70000"/>
              </a:lnSpc>
              <a:spcBef>
                <a:spcPct val="50000"/>
              </a:spcBef>
            </a:pPr>
            <a:r>
              <a:rPr kumimoji="1" lang="en-US" altLang="zh-CN" sz="1800" dirty="0">
                <a:solidFill>
                  <a:srgbClr val="FF00FF"/>
                </a:solidFill>
                <a:latin typeface="Consolas" pitchFamily="49" charset="0"/>
                <a:ea typeface="仿宋" pitchFamily="49" charset="-122"/>
                <a:cs typeface="Consolas" pitchFamily="49" charset="0"/>
              </a:rPr>
              <a:t>             exchange=true;</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if (</a:t>
            </a:r>
            <a:r>
              <a:rPr kumimoji="1" lang="en-US" altLang="zh-CN" sz="1800" dirty="0">
                <a:solidFill>
                  <a:srgbClr val="FF00FF"/>
                </a:solidFill>
                <a:latin typeface="Consolas" pitchFamily="49" charset="0"/>
                <a:ea typeface="仿宋" pitchFamily="49" charset="-122"/>
                <a:cs typeface="Consolas" pitchFamily="49" charset="0"/>
              </a:rPr>
              <a:t>exchange==false</a:t>
            </a:r>
            <a:r>
              <a:rPr kumimoji="1" lang="en-US" altLang="zh-CN" sz="1800" dirty="0">
                <a:solidFill>
                  <a:srgbClr val="1000E4"/>
                </a:solidFill>
                <a:latin typeface="Consolas" pitchFamily="49" charset="0"/>
                <a:ea typeface="仿宋" pitchFamily="49" charset="-122"/>
                <a:cs typeface="Consolas" pitchFamily="49" charset="0"/>
              </a:rPr>
              <a:t>) return;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中途结束算法</a:t>
            </a:r>
          </a:p>
          <a:p>
            <a:pPr algn="just">
              <a:lnSpc>
                <a:spcPct val="70000"/>
              </a:lnSpc>
              <a:spcBef>
                <a:spcPct val="50000"/>
              </a:spcBef>
            </a:pP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ct val="7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1700563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3861"/>
                                        </p:tgtEl>
                                        <p:attrNameLst>
                                          <p:attrName>style.visibility</p:attrName>
                                        </p:attrNameLst>
                                      </p:cBhvr>
                                      <p:to>
                                        <p:strVal val="visible"/>
                                      </p:to>
                                    </p:set>
                                    <p:animEffect transition="in" filter="wipe(left)">
                                      <p:cBhvr>
                                        <p:cTn id="7" dur="500"/>
                                        <p:tgtEl>
                                          <p:spTgt spid="63386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7">
                                            <p:txEl>
                                              <p:pRg st="7" end="7"/>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6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83632" y="2653243"/>
            <a:ext cx="2582758"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时间复杂度：</a:t>
            </a:r>
            <a:r>
              <a:rPr kumimoji="1" lang="en-US" altLang="zh-CN" sz="2000" dirty="0">
                <a:latin typeface="微软雅黑" pitchFamily="34" charset="-122"/>
                <a:ea typeface="微软雅黑" pitchFamily="34" charset="-122"/>
                <a:cs typeface="经典粗黑简" pitchFamily="49" charset="-122"/>
              </a:rPr>
              <a:t>O(n</a:t>
            </a:r>
            <a:r>
              <a:rPr kumimoji="1" lang="en-US" altLang="zh-CN" sz="2000" baseline="30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a:t>
            </a:r>
            <a:endParaRPr lang="zh-CN" altLang="en-US" sz="2000" dirty="0"/>
          </a:p>
        </p:txBody>
      </p:sp>
      <p:sp>
        <p:nvSpPr>
          <p:cNvPr id="4" name="矩形 3"/>
          <p:cNvSpPr/>
          <p:nvPr/>
        </p:nvSpPr>
        <p:spPr>
          <a:xfrm>
            <a:off x="3287688" y="3091280"/>
            <a:ext cx="7041950"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在最好情况下</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正序</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，元素的交换次数为</a:t>
            </a:r>
            <a:r>
              <a:rPr kumimoji="1" lang="en-US" altLang="zh-CN" sz="2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，比较次数为</a:t>
            </a:r>
            <a:r>
              <a:rPr kumimoji="1" lang="en-US" altLang="zh-CN" sz="2000" dirty="0">
                <a:latin typeface="微软雅黑" pitchFamily="34" charset="-122"/>
                <a:ea typeface="微软雅黑" pitchFamily="34" charset="-122"/>
                <a:cs typeface="经典粗黑简" pitchFamily="49" charset="-122"/>
              </a:rPr>
              <a:t>n – 1</a:t>
            </a:r>
            <a:r>
              <a:rPr kumimoji="1" lang="zh-CN" altLang="en-US" sz="2000" dirty="0">
                <a:latin typeface="微软雅黑" pitchFamily="34" charset="-122"/>
                <a:ea typeface="微软雅黑" pitchFamily="34" charset="-122"/>
                <a:cs typeface="经典粗黑简" pitchFamily="49" charset="-122"/>
              </a:rPr>
              <a:t>；</a:t>
            </a:r>
            <a:endParaRPr lang="zh-CN" altLang="en-US" sz="2000" dirty="0"/>
          </a:p>
        </p:txBody>
      </p:sp>
      <p:sp>
        <p:nvSpPr>
          <p:cNvPr id="9" name="矩形 8"/>
          <p:cNvSpPr/>
          <p:nvPr/>
        </p:nvSpPr>
        <p:spPr>
          <a:xfrm>
            <a:off x="3287688" y="3529317"/>
            <a:ext cx="6984776"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在最坏情况下</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逆序</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，元素的交换次数为</a:t>
            </a:r>
            <a:r>
              <a:rPr kumimoji="1" lang="en-US" altLang="zh-CN" sz="2000" dirty="0">
                <a:latin typeface="微软雅黑" pitchFamily="34" charset="-122"/>
                <a:ea typeface="微软雅黑" pitchFamily="34" charset="-122"/>
                <a:cs typeface="经典粗黑简" pitchFamily="49" charset="-122"/>
                <a:sym typeface="Wingdings" pitchFamily="2" charset="2"/>
              </a:rPr>
              <a:t>n(n-1)/2</a:t>
            </a:r>
            <a:r>
              <a:rPr kumimoji="1" lang="zh-CN" altLang="en-US" sz="2000" dirty="0">
                <a:latin typeface="微软雅黑" pitchFamily="34" charset="-122"/>
                <a:ea typeface="微软雅黑" pitchFamily="34" charset="-122"/>
                <a:cs typeface="经典粗黑简" pitchFamily="49" charset="-122"/>
              </a:rPr>
              <a:t>，比较次数为 </a:t>
            </a:r>
            <a:r>
              <a:rPr kumimoji="1" lang="en-US" altLang="zh-CN" sz="2000" dirty="0">
                <a:latin typeface="微软雅黑" pitchFamily="34" charset="-122"/>
                <a:ea typeface="微软雅黑" pitchFamily="34" charset="-122"/>
                <a:cs typeface="经典粗黑简" pitchFamily="49" charset="-122"/>
                <a:sym typeface="Wingdings" pitchFamily="2" charset="2"/>
              </a:rPr>
              <a:t>(n+2)(n-1)/2</a:t>
            </a:r>
            <a:r>
              <a:rPr kumimoji="1" lang="zh-CN" altLang="en-US" sz="2000" dirty="0">
                <a:latin typeface="微软雅黑" pitchFamily="34" charset="-122"/>
                <a:ea typeface="微软雅黑" pitchFamily="34" charset="-122"/>
                <a:cs typeface="经典粗黑简" pitchFamily="49" charset="-122"/>
                <a:sym typeface="Wingdings" pitchFamily="2" charset="2"/>
              </a:rPr>
              <a:t>；</a:t>
            </a:r>
            <a:endParaRPr lang="zh-CN" altLang="en-US" sz="2000" dirty="0"/>
          </a:p>
        </p:txBody>
      </p:sp>
      <p:sp>
        <p:nvSpPr>
          <p:cNvPr id="11" name="矩形 10"/>
          <p:cNvSpPr/>
          <p:nvPr/>
        </p:nvSpPr>
        <p:spPr>
          <a:xfrm>
            <a:off x="2783632" y="4275130"/>
            <a:ext cx="2424062"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空间复杂度：</a:t>
            </a:r>
            <a:r>
              <a:rPr kumimoji="1" lang="en-US" altLang="zh-CN" sz="2000" dirty="0">
                <a:latin typeface="微软雅黑" pitchFamily="34" charset="-122"/>
                <a:ea typeface="微软雅黑" pitchFamily="34" charset="-122"/>
                <a:cs typeface="经典粗黑简" pitchFamily="49" charset="-122"/>
              </a:rPr>
              <a:t>O(1</a:t>
            </a:r>
            <a:r>
              <a:rPr kumimoji="1" lang="zh-CN" altLang="en-US" sz="2000" dirty="0">
                <a:latin typeface="微软雅黑" pitchFamily="34" charset="-122"/>
                <a:ea typeface="微软雅黑" pitchFamily="34" charset="-122"/>
                <a:cs typeface="经典粗黑简" pitchFamily="49" charset="-122"/>
              </a:rPr>
              <a:t>）</a:t>
            </a:r>
            <a:endParaRPr lang="zh-CN" altLang="en-US" sz="2000" dirty="0"/>
          </a:p>
        </p:txBody>
      </p:sp>
      <p:sp>
        <p:nvSpPr>
          <p:cNvPr id="12" name="矩形 11"/>
          <p:cNvSpPr/>
          <p:nvPr/>
        </p:nvSpPr>
        <p:spPr>
          <a:xfrm>
            <a:off x="3475725" y="4713167"/>
            <a:ext cx="3626314" cy="400110"/>
          </a:xfrm>
          <a:prstGeom prst="rect">
            <a:avLst/>
          </a:prstGeom>
        </p:spPr>
        <p:txBody>
          <a:bodyPr wrap="none">
            <a:spAutoFit/>
          </a:bodyPr>
          <a:lstStyle/>
          <a:p>
            <a:pPr marL="0" lvl="2"/>
            <a:r>
              <a:rPr kumimoji="1" lang="zh-CN" altLang="en-US" sz="2000" dirty="0">
                <a:latin typeface="微软雅黑" pitchFamily="34" charset="-122"/>
                <a:ea typeface="微软雅黑" pitchFamily="34" charset="-122"/>
                <a:cs typeface="经典粗黑简" pitchFamily="49" charset="-122"/>
              </a:rPr>
              <a:t>只需要 </a:t>
            </a:r>
            <a:r>
              <a:rPr kumimoji="1" lang="en-US" altLang="zh-CN" sz="2000" dirty="0">
                <a:latin typeface="微软雅黑" pitchFamily="34" charset="-122"/>
                <a:ea typeface="微软雅黑" pitchFamily="34" charset="-122"/>
                <a:cs typeface="经典粗黑简" pitchFamily="49" charset="-122"/>
              </a:rPr>
              <a:t>1 </a:t>
            </a:r>
            <a:r>
              <a:rPr kumimoji="1" lang="zh-CN" altLang="en-US" sz="2000" dirty="0">
                <a:latin typeface="微软雅黑" pitchFamily="34" charset="-122"/>
                <a:ea typeface="微软雅黑" pitchFamily="34" charset="-122"/>
                <a:cs typeface="经典粗黑简" pitchFamily="49" charset="-122"/>
              </a:rPr>
              <a:t>个辅助单元进行交换</a:t>
            </a:r>
            <a:r>
              <a:rPr kumimoji="1" lang="en-US" altLang="zh-CN" sz="2000" dirty="0">
                <a:latin typeface="微软雅黑" pitchFamily="34" charset="-122"/>
                <a:ea typeface="微软雅黑" pitchFamily="34" charset="-122"/>
                <a:cs typeface="经典粗黑简" pitchFamily="49" charset="-122"/>
              </a:rPr>
              <a:t>;</a:t>
            </a:r>
            <a:endParaRPr kumimoji="1" lang="zh-CN" altLang="en-US" sz="2000" dirty="0">
              <a:latin typeface="微软雅黑" pitchFamily="34" charset="-122"/>
              <a:ea typeface="微软雅黑" pitchFamily="34" charset="-122"/>
              <a:cs typeface="经典粗黑简" pitchFamily="49" charset="-122"/>
            </a:endParaRPr>
          </a:p>
        </p:txBody>
      </p:sp>
      <p:sp>
        <p:nvSpPr>
          <p:cNvPr id="14" name="矩形 13"/>
          <p:cNvSpPr/>
          <p:nvPr/>
        </p:nvSpPr>
        <p:spPr>
          <a:xfrm>
            <a:off x="2783633" y="5151204"/>
            <a:ext cx="2042547"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稳定的排序方法</a:t>
            </a:r>
            <a:r>
              <a:rPr kumimoji="1" lang="en-US" altLang="zh-CN" sz="2000" dirty="0">
                <a:latin typeface="微软雅黑" pitchFamily="34" charset="-122"/>
                <a:ea typeface="微软雅黑" pitchFamily="34" charset="-122"/>
                <a:cs typeface="经典粗黑简" pitchFamily="49" charset="-122"/>
              </a:rPr>
              <a:t>;</a:t>
            </a:r>
            <a:endParaRPr kumimoji="1" lang="zh-CN" altLang="en-US" sz="2000" dirty="0">
              <a:latin typeface="微软雅黑" pitchFamily="34" charset="-122"/>
              <a:ea typeface="微软雅黑" pitchFamily="34" charset="-122"/>
              <a:cs typeface="经典粗黑简" pitchFamily="49" charset="-122"/>
            </a:endParaRPr>
          </a:p>
        </p:txBody>
      </p:sp>
      <p:sp>
        <p:nvSpPr>
          <p:cNvPr id="15" name="矩形 14"/>
          <p:cNvSpPr/>
          <p:nvPr/>
        </p:nvSpPr>
        <p:spPr>
          <a:xfrm>
            <a:off x="2783632" y="5589240"/>
            <a:ext cx="6833420" cy="400110"/>
          </a:xfrm>
          <a:prstGeom prst="rect">
            <a:avLst/>
          </a:prstGeom>
        </p:spPr>
        <p:txBody>
          <a:bodyPr wrap="square">
            <a:spAutoFit/>
          </a:bodyPr>
          <a:lstStyle/>
          <a:p>
            <a:pPr marL="0" lvl="1"/>
            <a:r>
              <a:rPr kumimoji="1" lang="zh-CN" altLang="en-US" sz="2000" dirty="0">
                <a:latin typeface="微软雅黑" pitchFamily="34" charset="-122"/>
                <a:ea typeface="微软雅黑" pitchFamily="34" charset="-122"/>
                <a:cs typeface="经典粗黑简" pitchFamily="49" charset="-122"/>
              </a:rPr>
              <a:t>适用情况：元素数目少，或者元素的初始序列基本有序。</a:t>
            </a:r>
          </a:p>
        </p:txBody>
      </p:sp>
      <p:sp>
        <p:nvSpPr>
          <p:cNvPr id="13" name="Rectangle 3"/>
          <p:cNvSpPr txBox="1">
            <a:spLocks noChangeArrowheads="1"/>
          </p:cNvSpPr>
          <p:nvPr/>
        </p:nvSpPr>
        <p:spPr bwMode="auto">
          <a:xfrm>
            <a:off x="2785864" y="2179712"/>
            <a:ext cx="4606280" cy="457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75000"/>
              <a:buNone/>
            </a:pPr>
            <a:r>
              <a:rPr kumimoji="1" lang="zh-CN" altLang="en-US" sz="2000">
                <a:latin typeface="微软雅黑" pitchFamily="34" charset="-122"/>
                <a:ea typeface="微软雅黑" pitchFamily="34" charset="-122"/>
                <a:cs typeface="经典粗黑简" pitchFamily="49" charset="-122"/>
              </a:rPr>
              <a:t>以顺序表作为存储结构的起泡排序算法</a:t>
            </a:r>
            <a:endParaRPr kumimoji="1" lang="zh-CN" altLang="en-US" sz="2000" dirty="0">
              <a:latin typeface="微软雅黑" pitchFamily="34" charset="-122"/>
              <a:ea typeface="微软雅黑" pitchFamily="34" charset="-122"/>
              <a:cs typeface="经典粗黑简" pitchFamily="49" charset="-122"/>
            </a:endParaRPr>
          </a:p>
        </p:txBody>
      </p:sp>
      <p:sp>
        <p:nvSpPr>
          <p:cNvPr id="2" name="矩形 1">
            <a:extLst>
              <a:ext uri="{FF2B5EF4-FFF2-40B4-BE49-F238E27FC236}">
                <a16:creationId xmlns:a16="http://schemas.microsoft.com/office/drawing/2014/main" id="{5AF59003-A461-7011-A32B-A3E6EDF1CE8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10.3.1 </a:t>
            </a:r>
            <a:r>
              <a:rPr lang="zh-CN" altLang="en-US" sz="2800" b="1" dirty="0">
                <a:solidFill>
                  <a:schemeClr val="bg1"/>
                </a:solidFill>
                <a:latin typeface="经典粗黑简" pitchFamily="49" charset="-122"/>
                <a:ea typeface="经典粗黑简" pitchFamily="49" charset="-122"/>
                <a:cs typeface="经典粗黑简" pitchFamily="49" charset="-122"/>
              </a:rPr>
              <a:t>冒泡排序</a:t>
            </a:r>
          </a:p>
        </p:txBody>
      </p:sp>
      <p:cxnSp>
        <p:nvCxnSpPr>
          <p:cNvPr id="5" name="直接连接符 4">
            <a:extLst>
              <a:ext uri="{FF2B5EF4-FFF2-40B4-BE49-F238E27FC236}">
                <a16:creationId xmlns:a16="http://schemas.microsoft.com/office/drawing/2014/main" id="{F06BE5F4-2788-A20D-2AA1-F712B2DBDE5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B77C34A4-98A3-F1AA-127E-4925E660416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1431176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1" grpId="0"/>
      <p:bldP spid="12" grpId="0"/>
      <p:bldP spid="14" grpId="0"/>
      <p:bldP spid="15" grpId="0"/>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87488" y="2169738"/>
            <a:ext cx="10081120" cy="1323439"/>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它的基本思想是：任取待排序序列中的某个元素作为基准（一般取第一个元素），通过一趟排序，将待排元素分为左右两个子序列，左子序列元素的关键字均小于或等于基准元素的关键字，右子序列的关键字则大于基准元素的关键字，然后分别对两个子序列继续进行排序，直至整个序列有序。</a:t>
            </a:r>
          </a:p>
        </p:txBody>
      </p:sp>
      <p:sp>
        <p:nvSpPr>
          <p:cNvPr id="2" name="矩形 1">
            <a:extLst>
              <a:ext uri="{FF2B5EF4-FFF2-40B4-BE49-F238E27FC236}">
                <a16:creationId xmlns:a16="http://schemas.microsoft.com/office/drawing/2014/main" id="{1494DF60-F5A8-74BB-75E2-8B210EEF1F0B}"/>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DDB7552C-DB19-D9DE-2BB5-92302FB4CFF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B51A260-49CD-994E-6E95-8D767B8A16C7}"/>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
        <p:nvSpPr>
          <p:cNvPr id="7" name="文本框 6">
            <a:extLst>
              <a:ext uri="{FF2B5EF4-FFF2-40B4-BE49-F238E27FC236}">
                <a16:creationId xmlns:a16="http://schemas.microsoft.com/office/drawing/2014/main" id="{3678001A-254C-CF48-733E-C257A01C3FF6}"/>
              </a:ext>
            </a:extLst>
          </p:cNvPr>
          <p:cNvSpPr txBox="1"/>
          <p:nvPr/>
        </p:nvSpPr>
        <p:spPr>
          <a:xfrm>
            <a:off x="1487488" y="1700808"/>
            <a:ext cx="9505056" cy="461665"/>
          </a:xfrm>
          <a:prstGeom prst="rect">
            <a:avLst/>
          </a:prstGeom>
          <a:noFill/>
        </p:spPr>
        <p:txBody>
          <a:bodyPr wrap="square">
            <a:spAutoFit/>
          </a:bodyPr>
          <a:lstStyle/>
          <a:p>
            <a:r>
              <a:rPr kumimoji="1" lang="zh-CN" altLang="en-US" sz="2400" dirty="0">
                <a:solidFill>
                  <a:srgbClr val="FF0000"/>
                </a:solidFill>
                <a:latin typeface="微软雅黑" pitchFamily="34" charset="-122"/>
                <a:ea typeface="微软雅黑" pitchFamily="34" charset="-122"/>
                <a:cs typeface="经典粗黑简" pitchFamily="49" charset="-122"/>
              </a:rPr>
              <a:t>快速排序</a:t>
            </a:r>
            <a:r>
              <a:rPr kumimoji="1" lang="en-US" altLang="zh-CN" sz="2400" dirty="0">
                <a:latin typeface="微软雅黑" pitchFamily="34" charset="-122"/>
                <a:ea typeface="微软雅黑" pitchFamily="34" charset="-122"/>
                <a:cs typeface="经典粗黑简" pitchFamily="49" charset="-122"/>
              </a:rPr>
              <a:t>(</a:t>
            </a:r>
            <a:r>
              <a:rPr lang="en-US" altLang="zh-CN" sz="2400" dirty="0">
                <a:latin typeface="Times New Roman" pitchFamily="18" charset="0"/>
                <a:ea typeface="隶书" pitchFamily="49" charset="-122"/>
                <a:cs typeface="Times New Roman" pitchFamily="18" charset="0"/>
              </a:rPr>
              <a:t>Quick Sorting</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是迄今为止所有内排序算法中速度最快的一种。</a:t>
            </a:r>
            <a:endParaRPr lang="zh-CN" altLang="en-US" sz="2400" dirty="0"/>
          </a:p>
        </p:txBody>
      </p:sp>
      <p:sp>
        <p:nvSpPr>
          <p:cNvPr id="9" name="Text Box 4">
            <a:extLst>
              <a:ext uri="{FF2B5EF4-FFF2-40B4-BE49-F238E27FC236}">
                <a16:creationId xmlns:a16="http://schemas.microsoft.com/office/drawing/2014/main" id="{E3034317-15B7-557C-14A9-C2B615501E3B}"/>
              </a:ext>
            </a:extLst>
          </p:cNvPr>
          <p:cNvSpPr txBox="1">
            <a:spLocks noChangeArrowheads="1"/>
          </p:cNvSpPr>
          <p:nvPr/>
        </p:nvSpPr>
        <p:spPr bwMode="auto">
          <a:xfrm>
            <a:off x="2567608" y="3544701"/>
            <a:ext cx="6248400" cy="400110"/>
          </a:xfrm>
          <a:prstGeom prst="rect">
            <a:avLst/>
          </a:prstGeom>
          <a:solidFill>
            <a:srgbClr val="CCFFCC"/>
          </a:solidFill>
          <a:ln w="9525">
            <a:solidFill>
              <a:srgbClr val="003300"/>
            </a:solidFill>
            <a:miter lim="800000"/>
            <a:headEnd/>
            <a:tailEnd/>
          </a:ln>
          <a:effectLst/>
        </p:spPr>
        <p:txBody>
          <a:bodyPr>
            <a:spAutoFit/>
          </a:bodyPr>
          <a:lstStyle/>
          <a:p>
            <a:pPr>
              <a:spcBef>
                <a:spcPct val="50000"/>
              </a:spcBef>
            </a:pPr>
            <a:r>
              <a:rPr kumimoji="1" lang="zh-CN" altLang="en-US" sz="2000" dirty="0">
                <a:latin typeface="仿宋" pitchFamily="49" charset="-122"/>
                <a:ea typeface="仿宋" pitchFamily="49" charset="-122"/>
                <a:cs typeface="Consolas" pitchFamily="49" charset="0"/>
              </a:rPr>
              <a:t>无 序 </a:t>
            </a:r>
            <a:r>
              <a:rPr kumimoji="1" lang="zh-CN" altLang="en-US" sz="2000">
                <a:latin typeface="仿宋" pitchFamily="49" charset="-122"/>
                <a:ea typeface="仿宋" pitchFamily="49" charset="-122"/>
                <a:cs typeface="Consolas" pitchFamily="49" charset="0"/>
              </a:rPr>
              <a:t>的 序 </a:t>
            </a:r>
            <a:r>
              <a:rPr kumimoji="1" lang="zh-CN" altLang="en-US" sz="2000" dirty="0">
                <a:latin typeface="仿宋" pitchFamily="49" charset="-122"/>
                <a:ea typeface="仿宋" pitchFamily="49" charset="-122"/>
                <a:cs typeface="Consolas" pitchFamily="49" charset="0"/>
              </a:rPr>
              <a:t>列</a:t>
            </a:r>
          </a:p>
        </p:txBody>
      </p:sp>
      <p:grpSp>
        <p:nvGrpSpPr>
          <p:cNvPr id="10" name="组合 18">
            <a:extLst>
              <a:ext uri="{FF2B5EF4-FFF2-40B4-BE49-F238E27FC236}">
                <a16:creationId xmlns:a16="http://schemas.microsoft.com/office/drawing/2014/main" id="{845313EC-8385-D8B6-4A83-83DD6BF04431}"/>
              </a:ext>
            </a:extLst>
          </p:cNvPr>
          <p:cNvGrpSpPr/>
          <p:nvPr/>
        </p:nvGrpSpPr>
        <p:grpSpPr>
          <a:xfrm>
            <a:off x="2547878" y="4371049"/>
            <a:ext cx="6248400" cy="533400"/>
            <a:chOff x="1168400" y="2903538"/>
            <a:chExt cx="6248400" cy="533400"/>
          </a:xfrm>
        </p:grpSpPr>
        <p:sp>
          <p:nvSpPr>
            <p:cNvPr id="15" name="Text Box 5">
              <a:extLst>
                <a:ext uri="{FF2B5EF4-FFF2-40B4-BE49-F238E27FC236}">
                  <a16:creationId xmlns:a16="http://schemas.microsoft.com/office/drawing/2014/main" id="{8E806FE7-1077-6BD4-1B2C-B9AA1340101D}"/>
                </a:ext>
              </a:extLst>
            </p:cNvPr>
            <p:cNvSpPr txBox="1">
              <a:spLocks noChangeArrowheads="1"/>
            </p:cNvSpPr>
            <p:nvPr/>
          </p:nvSpPr>
          <p:spPr bwMode="auto">
            <a:xfrm>
              <a:off x="1168400" y="2936875"/>
              <a:ext cx="3178175" cy="400110"/>
            </a:xfrm>
            <a:prstGeom prst="rect">
              <a:avLst/>
            </a:prstGeom>
            <a:solidFill>
              <a:srgbClr val="CCFFCC"/>
            </a:solidFill>
            <a:ln w="12700">
              <a:solidFill>
                <a:srgbClr val="003300"/>
              </a:solidFill>
              <a:miter lim="800000"/>
              <a:headEnd/>
              <a:tailEnd/>
            </a:ln>
            <a:effectLst/>
          </p:spPr>
          <p:txBody>
            <a:bodyPr>
              <a:spAutoFit/>
            </a:bodyPr>
            <a:lstStyle/>
            <a:p>
              <a:pPr>
                <a:spcBef>
                  <a:spcPct val="50000"/>
                </a:spcBef>
              </a:pPr>
              <a:r>
                <a:rPr kumimoji="1" lang="zh-CN" altLang="en-US" sz="2000">
                  <a:latin typeface="仿宋" pitchFamily="49" charset="-122"/>
                  <a:ea typeface="仿宋" pitchFamily="49" charset="-122"/>
                  <a:cs typeface="Consolas" pitchFamily="49" charset="0"/>
                </a:rPr>
                <a:t>无序子序列</a:t>
              </a:r>
              <a:r>
                <a:rPr kumimoji="1" lang="zh-CN" altLang="en-US" sz="2000">
                  <a:latin typeface="仿宋" pitchFamily="49" charset="-122"/>
                  <a:ea typeface="仿宋" pitchFamily="49" charset="-122"/>
                  <a:cs typeface="Consolas" pitchFamily="49" charset="0"/>
                  <a:sym typeface="Wingdings"/>
                </a:rPr>
                <a:t></a:t>
              </a:r>
              <a:endParaRPr kumimoji="1" lang="en-US" altLang="zh-CN" sz="2000" dirty="0">
                <a:latin typeface="仿宋" pitchFamily="49" charset="-122"/>
                <a:ea typeface="仿宋" pitchFamily="49" charset="-122"/>
                <a:cs typeface="Consolas" pitchFamily="49" charset="0"/>
              </a:endParaRPr>
            </a:p>
          </p:txBody>
        </p:sp>
        <p:sp>
          <p:nvSpPr>
            <p:cNvPr id="16" name="Text Box 6">
              <a:extLst>
                <a:ext uri="{FF2B5EF4-FFF2-40B4-BE49-F238E27FC236}">
                  <a16:creationId xmlns:a16="http://schemas.microsoft.com/office/drawing/2014/main" id="{0E9D0767-E8C3-7BC2-AC5E-E47406EB3C20}"/>
                </a:ext>
              </a:extLst>
            </p:cNvPr>
            <p:cNvSpPr txBox="1">
              <a:spLocks noChangeArrowheads="1"/>
            </p:cNvSpPr>
            <p:nvPr/>
          </p:nvSpPr>
          <p:spPr bwMode="auto">
            <a:xfrm>
              <a:off x="4978400" y="2924175"/>
              <a:ext cx="2438400" cy="400110"/>
            </a:xfrm>
            <a:prstGeom prst="rect">
              <a:avLst/>
            </a:prstGeom>
            <a:solidFill>
              <a:srgbClr val="CCFFCC"/>
            </a:solidFill>
            <a:ln w="12700">
              <a:solidFill>
                <a:srgbClr val="003300"/>
              </a:solidFill>
              <a:miter lim="800000"/>
              <a:headEnd/>
              <a:tailEnd/>
            </a:ln>
            <a:effectLst/>
          </p:spPr>
          <p:txBody>
            <a:bodyPr>
              <a:spAutoFit/>
            </a:bodyPr>
            <a:lstStyle/>
            <a:p>
              <a:pPr>
                <a:spcBef>
                  <a:spcPct val="50000"/>
                </a:spcBef>
              </a:pPr>
              <a:r>
                <a:rPr kumimoji="1" lang="zh-CN" altLang="en-US" sz="2000" dirty="0">
                  <a:latin typeface="仿宋" pitchFamily="49" charset="-122"/>
                  <a:ea typeface="仿宋" pitchFamily="49" charset="-122"/>
                  <a:cs typeface="Consolas" pitchFamily="49" charset="0"/>
                </a:rPr>
                <a:t>无序</a:t>
              </a:r>
              <a:r>
                <a:rPr kumimoji="1" lang="zh-CN" altLang="en-US" sz="2000">
                  <a:latin typeface="仿宋" pitchFamily="49" charset="-122"/>
                  <a:ea typeface="仿宋" pitchFamily="49" charset="-122"/>
                  <a:cs typeface="Consolas" pitchFamily="49" charset="0"/>
                </a:rPr>
                <a:t>子序列</a:t>
              </a:r>
              <a:r>
                <a:rPr kumimoji="1" lang="zh-CN" altLang="en-US" sz="2000">
                  <a:latin typeface="仿宋" pitchFamily="49" charset="-122"/>
                  <a:ea typeface="仿宋" pitchFamily="49" charset="-122"/>
                  <a:cs typeface="Consolas" pitchFamily="49" charset="0"/>
                  <a:sym typeface="Wingdings"/>
                </a:rPr>
                <a:t></a:t>
              </a:r>
              <a:endParaRPr kumimoji="1" lang="en-US" altLang="zh-CN" sz="2000" dirty="0">
                <a:latin typeface="仿宋" pitchFamily="49" charset="-122"/>
                <a:ea typeface="仿宋" pitchFamily="49" charset="-122"/>
                <a:cs typeface="Consolas" pitchFamily="49" charset="0"/>
              </a:endParaRPr>
            </a:p>
          </p:txBody>
        </p:sp>
        <p:sp>
          <p:nvSpPr>
            <p:cNvPr id="17" name="Oval 7">
              <a:extLst>
                <a:ext uri="{FF2B5EF4-FFF2-40B4-BE49-F238E27FC236}">
                  <a16:creationId xmlns:a16="http://schemas.microsoft.com/office/drawing/2014/main" id="{930C750B-3F8A-7A58-A0A1-2318795BCFF2}"/>
                </a:ext>
              </a:extLst>
            </p:cNvPr>
            <p:cNvSpPr>
              <a:spLocks noChangeArrowheads="1"/>
            </p:cNvSpPr>
            <p:nvPr/>
          </p:nvSpPr>
          <p:spPr bwMode="auto">
            <a:xfrm>
              <a:off x="4356100" y="2903538"/>
              <a:ext cx="609600" cy="533400"/>
            </a:xfrm>
            <a:prstGeom prst="ellipse">
              <a:avLst/>
            </a:prstGeom>
            <a:solidFill>
              <a:srgbClr val="FFCC99"/>
            </a:solidFill>
            <a:ln w="19050">
              <a:solidFill>
                <a:srgbClr val="FF0000"/>
              </a:solidFill>
              <a:round/>
              <a:headEnd/>
              <a:tailEnd/>
            </a:ln>
            <a:effectLst/>
          </p:spPr>
          <p:txBody>
            <a:bodyPr wrap="none" anchor="ctr"/>
            <a:lstStyle/>
            <a:p>
              <a:r>
                <a:rPr kumimoji="1" lang="zh-CN" altLang="en-US" sz="1800" dirty="0">
                  <a:solidFill>
                    <a:srgbClr val="990000"/>
                  </a:solidFill>
                  <a:latin typeface="Consolas" pitchFamily="49" charset="0"/>
                  <a:ea typeface="楷体" pitchFamily="49" charset="-122"/>
                  <a:cs typeface="Consolas" pitchFamily="49" charset="0"/>
                </a:rPr>
                <a:t>基准</a:t>
              </a:r>
              <a:endParaRPr kumimoji="1" lang="zh-CN" altLang="en-US" sz="1800" b="0" dirty="0">
                <a:solidFill>
                  <a:schemeClr val="tx1"/>
                </a:solidFill>
                <a:latin typeface="Consolas" pitchFamily="49" charset="0"/>
                <a:ea typeface="楷体" pitchFamily="49" charset="-122"/>
                <a:cs typeface="Consolas" pitchFamily="49" charset="0"/>
              </a:endParaRPr>
            </a:p>
          </p:txBody>
        </p:sp>
      </p:grpSp>
      <p:grpSp>
        <p:nvGrpSpPr>
          <p:cNvPr id="18" name="组合 17">
            <a:extLst>
              <a:ext uri="{FF2B5EF4-FFF2-40B4-BE49-F238E27FC236}">
                <a16:creationId xmlns:a16="http://schemas.microsoft.com/office/drawing/2014/main" id="{B1772771-E965-FF96-3DAB-ED741EDBB13C}"/>
              </a:ext>
            </a:extLst>
          </p:cNvPr>
          <p:cNvGrpSpPr/>
          <p:nvPr/>
        </p:nvGrpSpPr>
        <p:grpSpPr>
          <a:xfrm>
            <a:off x="5820718" y="3919415"/>
            <a:ext cx="1319199" cy="436456"/>
            <a:chOff x="3767134" y="2160588"/>
            <a:chExt cx="1319199" cy="685800"/>
          </a:xfrm>
        </p:grpSpPr>
        <p:sp>
          <p:nvSpPr>
            <p:cNvPr id="19" name="AutoShape 8">
              <a:extLst>
                <a:ext uri="{FF2B5EF4-FFF2-40B4-BE49-F238E27FC236}">
                  <a16:creationId xmlns:a16="http://schemas.microsoft.com/office/drawing/2014/main" id="{1DF3F484-FA68-5EDD-3677-DBBBEB0070FD}"/>
                </a:ext>
              </a:extLst>
            </p:cNvPr>
            <p:cNvSpPr>
              <a:spLocks noChangeArrowheads="1"/>
            </p:cNvSpPr>
            <p:nvPr/>
          </p:nvSpPr>
          <p:spPr bwMode="auto">
            <a:xfrm>
              <a:off x="3767134" y="2160588"/>
              <a:ext cx="304800" cy="685800"/>
            </a:xfrm>
            <a:prstGeom prst="downArrow">
              <a:avLst>
                <a:gd name="adj1" fmla="val 50000"/>
                <a:gd name="adj2" fmla="val 56250"/>
              </a:avLst>
            </a:prstGeom>
            <a:ln>
              <a:headEnd/>
              <a:tailEnd/>
            </a:ln>
          </p:spPr>
          <p:style>
            <a:lnRef idx="1">
              <a:schemeClr val="accent2"/>
            </a:lnRef>
            <a:fillRef idx="3">
              <a:schemeClr val="accent2"/>
            </a:fillRef>
            <a:effectRef idx="2">
              <a:schemeClr val="accent2"/>
            </a:effectRef>
            <a:fontRef idx="minor">
              <a:schemeClr val="lt1"/>
            </a:fontRef>
          </p:style>
          <p:txBody>
            <a:bodyPr vert="eaVert" wrap="none" anchor="ctr"/>
            <a:lstStyle/>
            <a:p>
              <a:endParaRPr lang="zh-CN" altLang="en-US">
                <a:latin typeface="Consolas" pitchFamily="49" charset="0"/>
                <a:cs typeface="Consolas" pitchFamily="49" charset="0"/>
              </a:endParaRPr>
            </a:p>
          </p:txBody>
        </p:sp>
        <p:sp>
          <p:nvSpPr>
            <p:cNvPr id="20" name="Text Box 9">
              <a:extLst>
                <a:ext uri="{FF2B5EF4-FFF2-40B4-BE49-F238E27FC236}">
                  <a16:creationId xmlns:a16="http://schemas.microsoft.com/office/drawing/2014/main" id="{8F334F55-5B10-3B3B-D39F-C0B598B79DD9}"/>
                </a:ext>
              </a:extLst>
            </p:cNvPr>
            <p:cNvSpPr txBox="1">
              <a:spLocks noChangeArrowheads="1"/>
            </p:cNvSpPr>
            <p:nvPr/>
          </p:nvSpPr>
          <p:spPr bwMode="auto">
            <a:xfrm>
              <a:off x="3971925" y="2281176"/>
              <a:ext cx="1114408" cy="369332"/>
            </a:xfrm>
            <a:prstGeom prst="rect">
              <a:avLst/>
            </a:prstGeom>
            <a:noFill/>
            <a:ln w="9525">
              <a:noFill/>
              <a:miter lim="800000"/>
              <a:headEnd/>
              <a:tailEnd/>
            </a:ln>
            <a:effectLst/>
          </p:spPr>
          <p:txBody>
            <a:bodyPr wrap="none">
              <a:spAutoFit/>
            </a:bodyPr>
            <a:lstStyle/>
            <a:p>
              <a:pPr algn="l"/>
              <a:r>
                <a:rPr kumimoji="1" lang="zh-CN" altLang="en-US" sz="1800" dirty="0">
                  <a:solidFill>
                    <a:srgbClr val="990000"/>
                  </a:solidFill>
                  <a:latin typeface="仿宋" pitchFamily="49" charset="-122"/>
                  <a:ea typeface="仿宋" pitchFamily="49" charset="-122"/>
                  <a:cs typeface="Consolas" pitchFamily="49" charset="0"/>
                </a:rPr>
                <a:t>一次划分</a:t>
              </a:r>
              <a:endParaRPr kumimoji="1" lang="zh-CN" altLang="en-US" sz="1800" dirty="0">
                <a:solidFill>
                  <a:schemeClr val="tx1"/>
                </a:solidFill>
                <a:latin typeface="仿宋" pitchFamily="49" charset="-122"/>
                <a:ea typeface="仿宋" pitchFamily="49" charset="-122"/>
                <a:cs typeface="Consolas" pitchFamily="49" charset="0"/>
              </a:endParaRPr>
            </a:p>
          </p:txBody>
        </p:sp>
      </p:grpSp>
      <p:grpSp>
        <p:nvGrpSpPr>
          <p:cNvPr id="21" name="组合 16">
            <a:extLst>
              <a:ext uri="{FF2B5EF4-FFF2-40B4-BE49-F238E27FC236}">
                <a16:creationId xmlns:a16="http://schemas.microsoft.com/office/drawing/2014/main" id="{D46F85FE-5ACF-1627-796D-BFD984C635F0}"/>
              </a:ext>
            </a:extLst>
          </p:cNvPr>
          <p:cNvGrpSpPr/>
          <p:nvPr/>
        </p:nvGrpSpPr>
        <p:grpSpPr>
          <a:xfrm>
            <a:off x="4822725" y="4660657"/>
            <a:ext cx="2287598" cy="597640"/>
            <a:chOff x="3071802" y="3532188"/>
            <a:chExt cx="2287598" cy="967749"/>
          </a:xfrm>
        </p:grpSpPr>
        <p:sp>
          <p:nvSpPr>
            <p:cNvPr id="22" name="Line 10">
              <a:extLst>
                <a:ext uri="{FF2B5EF4-FFF2-40B4-BE49-F238E27FC236}">
                  <a16:creationId xmlns:a16="http://schemas.microsoft.com/office/drawing/2014/main" id="{74494125-2788-92B3-FAFE-15A04BCC2A23}"/>
                </a:ext>
              </a:extLst>
            </p:cNvPr>
            <p:cNvSpPr>
              <a:spLocks noChangeShapeType="1"/>
            </p:cNvSpPr>
            <p:nvPr/>
          </p:nvSpPr>
          <p:spPr bwMode="auto">
            <a:xfrm flipH="1" flipV="1">
              <a:off x="3149600" y="3532188"/>
              <a:ext cx="609600" cy="609600"/>
            </a:xfrm>
            <a:prstGeom prst="line">
              <a:avLst/>
            </a:prstGeom>
            <a:ln>
              <a:headEnd/>
              <a:tailEnd type="triangl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23" name="Line 11">
              <a:extLst>
                <a:ext uri="{FF2B5EF4-FFF2-40B4-BE49-F238E27FC236}">
                  <a16:creationId xmlns:a16="http://schemas.microsoft.com/office/drawing/2014/main" id="{3141562F-100B-3A46-848D-521BBFE949B4}"/>
                </a:ext>
              </a:extLst>
            </p:cNvPr>
            <p:cNvSpPr>
              <a:spLocks noChangeShapeType="1"/>
            </p:cNvSpPr>
            <p:nvPr/>
          </p:nvSpPr>
          <p:spPr bwMode="auto">
            <a:xfrm flipV="1">
              <a:off x="4749800" y="3532188"/>
              <a:ext cx="609600" cy="609600"/>
            </a:xfrm>
            <a:prstGeom prst="line">
              <a:avLst/>
            </a:prstGeom>
            <a:ln>
              <a:headEnd/>
              <a:tailEnd type="triangle" w="med" len="lg"/>
            </a:ln>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24" name="Text Box 12">
              <a:extLst>
                <a:ext uri="{FF2B5EF4-FFF2-40B4-BE49-F238E27FC236}">
                  <a16:creationId xmlns:a16="http://schemas.microsoft.com/office/drawing/2014/main" id="{08125213-5904-2232-219A-89498D17F56F}"/>
                </a:ext>
              </a:extLst>
            </p:cNvPr>
            <p:cNvSpPr txBox="1">
              <a:spLocks noChangeArrowheads="1"/>
            </p:cNvSpPr>
            <p:nvPr/>
          </p:nvSpPr>
          <p:spPr bwMode="auto">
            <a:xfrm>
              <a:off x="3071802" y="4099827"/>
              <a:ext cx="2286016" cy="400110"/>
            </a:xfrm>
            <a:prstGeom prst="rect">
              <a:avLst/>
            </a:prstGeom>
            <a:noFill/>
            <a:ln w="9525">
              <a:noFill/>
              <a:miter lim="800000"/>
              <a:headEnd/>
              <a:tailEnd/>
            </a:ln>
            <a:effectLst/>
          </p:spPr>
          <p:txBody>
            <a:bodyPr wrap="square">
              <a:spAutoFit/>
            </a:bodyPr>
            <a:lstStyle/>
            <a:p>
              <a:pPr algn="l"/>
              <a:r>
                <a:rPr kumimoji="1" lang="zh-CN" altLang="en-US" sz="2000" dirty="0">
                  <a:latin typeface="仿宋" pitchFamily="49" charset="-122"/>
                  <a:ea typeface="仿宋" pitchFamily="49" charset="-122"/>
                  <a:cs typeface="Consolas" pitchFamily="49" charset="0"/>
                </a:rPr>
                <a:t>分别进行快速排序</a:t>
              </a:r>
            </a:p>
          </p:txBody>
        </p:sp>
      </p:grpSp>
      <p:sp>
        <p:nvSpPr>
          <p:cNvPr id="25" name="Text Box 14">
            <a:extLst>
              <a:ext uri="{FF2B5EF4-FFF2-40B4-BE49-F238E27FC236}">
                <a16:creationId xmlns:a16="http://schemas.microsoft.com/office/drawing/2014/main" id="{CBBB58A9-D235-1923-29F5-51A346F31282}"/>
              </a:ext>
            </a:extLst>
          </p:cNvPr>
          <p:cNvSpPr txBox="1">
            <a:spLocks noChangeArrowheads="1"/>
          </p:cNvSpPr>
          <p:nvPr/>
        </p:nvSpPr>
        <p:spPr bwMode="auto">
          <a:xfrm>
            <a:off x="2190906" y="5364024"/>
            <a:ext cx="8308543" cy="13568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just">
              <a:lnSpc>
                <a:spcPts val="2600"/>
              </a:lnSpc>
              <a:spcBef>
                <a:spcPct val="50000"/>
              </a:spcBef>
              <a:buBlip>
                <a:blip r:embed="rId2"/>
              </a:buBlip>
            </a:pPr>
            <a:r>
              <a:rPr kumimoji="1" lang="zh-CN" altLang="en-US" sz="2000">
                <a:latin typeface="Consolas" pitchFamily="49" charset="0"/>
                <a:ea typeface="仿宋" pitchFamily="49" charset="-122"/>
                <a:cs typeface="Consolas" pitchFamily="49" charset="0"/>
              </a:rPr>
              <a:t>每</a:t>
            </a:r>
            <a:r>
              <a:rPr kumimoji="1" lang="zh-CN" altLang="en-US" sz="2000" dirty="0">
                <a:latin typeface="Consolas" pitchFamily="49" charset="0"/>
                <a:ea typeface="仿宋" pitchFamily="49" charset="-122"/>
                <a:cs typeface="Consolas" pitchFamily="49" charset="0"/>
              </a:rPr>
              <a:t>趟使表的</a:t>
            </a:r>
            <a:r>
              <a:rPr kumimoji="1" lang="zh-CN" altLang="en-US" sz="2000" dirty="0">
                <a:solidFill>
                  <a:srgbClr val="F92D37"/>
                </a:solidFill>
                <a:latin typeface="Consolas" pitchFamily="49" charset="0"/>
                <a:ea typeface="仿宋" pitchFamily="49" charset="-122"/>
                <a:cs typeface="Consolas" pitchFamily="49" charset="0"/>
              </a:rPr>
              <a:t>第</a:t>
            </a:r>
            <a:r>
              <a:rPr kumimoji="1" lang="en-US" altLang="zh-CN" sz="2000">
                <a:solidFill>
                  <a:srgbClr val="F92D37"/>
                </a:solidFill>
                <a:latin typeface="Consolas" pitchFamily="49" charset="0"/>
                <a:ea typeface="仿宋" pitchFamily="49" charset="-122"/>
                <a:cs typeface="Consolas" pitchFamily="49" charset="0"/>
              </a:rPr>
              <a:t>1</a:t>
            </a:r>
            <a:r>
              <a:rPr kumimoji="1" lang="zh-CN" altLang="en-US" sz="2000">
                <a:solidFill>
                  <a:srgbClr val="F92D37"/>
                </a:solidFill>
                <a:latin typeface="Consolas" pitchFamily="49" charset="0"/>
                <a:ea typeface="仿宋" pitchFamily="49" charset="-122"/>
                <a:cs typeface="Consolas" pitchFamily="49" charset="0"/>
              </a:rPr>
              <a:t>个元素（基准）</a:t>
            </a:r>
            <a:r>
              <a:rPr kumimoji="1" lang="zh-CN" altLang="en-US" sz="2000">
                <a:latin typeface="Consolas" pitchFamily="49" charset="0"/>
                <a:ea typeface="仿宋" pitchFamily="49" charset="-122"/>
                <a:cs typeface="Consolas" pitchFamily="49" charset="0"/>
              </a:rPr>
              <a:t>放</a:t>
            </a:r>
            <a:r>
              <a:rPr kumimoji="1" lang="zh-CN" altLang="en-US" sz="2000" dirty="0">
                <a:latin typeface="Consolas" pitchFamily="49" charset="0"/>
                <a:ea typeface="仿宋" pitchFamily="49" charset="-122"/>
                <a:cs typeface="Consolas" pitchFamily="49" charset="0"/>
              </a:rPr>
              <a:t>入</a:t>
            </a:r>
            <a:r>
              <a:rPr kumimoji="1" lang="zh-CN" altLang="en-US" sz="2000">
                <a:latin typeface="Consolas" pitchFamily="49" charset="0"/>
                <a:ea typeface="仿宋" pitchFamily="49" charset="-122"/>
                <a:cs typeface="Consolas" pitchFamily="49" charset="0"/>
              </a:rPr>
              <a:t>适当位置（归位），将表一分为二，对子</a:t>
            </a:r>
            <a:r>
              <a:rPr kumimoji="1" lang="zh-CN" altLang="en-US" sz="2000" dirty="0">
                <a:latin typeface="Consolas" pitchFamily="49" charset="0"/>
                <a:ea typeface="仿宋" pitchFamily="49" charset="-122"/>
                <a:cs typeface="Consolas" pitchFamily="49" charset="0"/>
              </a:rPr>
              <a:t>表按递归方式继续</a:t>
            </a:r>
            <a:r>
              <a:rPr kumimoji="1" lang="zh-CN" altLang="en-US" sz="2000">
                <a:latin typeface="Consolas" pitchFamily="49" charset="0"/>
                <a:ea typeface="仿宋" pitchFamily="49" charset="-122"/>
                <a:cs typeface="Consolas" pitchFamily="49" charset="0"/>
              </a:rPr>
              <a:t>这种划分</a:t>
            </a:r>
            <a:r>
              <a:rPr kumimoji="1" lang="en-US" altLang="zh-CN" sz="2000">
                <a:latin typeface="Consolas" pitchFamily="49" charset="0"/>
                <a:ea typeface="仿宋" pitchFamily="49" charset="-122"/>
                <a:cs typeface="Consolas" pitchFamily="49" charset="0"/>
              </a:rPr>
              <a:t>.</a:t>
            </a:r>
          </a:p>
          <a:p>
            <a:pPr marL="342900" indent="-342900" algn="just">
              <a:lnSpc>
                <a:spcPts val="2600"/>
              </a:lnSpc>
              <a:spcBef>
                <a:spcPct val="50000"/>
              </a:spcBef>
              <a:buBlip>
                <a:blip r:embed="rId2"/>
              </a:buBlip>
            </a:pPr>
            <a:r>
              <a:rPr kumimoji="1" lang="zh-CN" altLang="en-US" sz="2000">
                <a:solidFill>
                  <a:srgbClr val="008000"/>
                </a:solidFill>
                <a:latin typeface="Consolas" pitchFamily="49" charset="0"/>
                <a:ea typeface="仿宋" pitchFamily="49" charset="-122"/>
                <a:cs typeface="Consolas" pitchFamily="49" charset="0"/>
              </a:rPr>
              <a:t>直至</a:t>
            </a:r>
            <a:r>
              <a:rPr kumimoji="1" lang="zh-CN" altLang="en-US" sz="2000" dirty="0">
                <a:solidFill>
                  <a:srgbClr val="008000"/>
                </a:solidFill>
                <a:latin typeface="Consolas" pitchFamily="49" charset="0"/>
                <a:ea typeface="仿宋" pitchFamily="49" charset="-122"/>
                <a:cs typeface="Consolas" pitchFamily="49" charset="0"/>
              </a:rPr>
              <a:t>划分的子表长为</a:t>
            </a:r>
            <a:r>
              <a:rPr kumimoji="1" lang="en-US" altLang="zh-CN" sz="2000" dirty="0">
                <a:solidFill>
                  <a:srgbClr val="008000"/>
                </a:solidFill>
                <a:latin typeface="Consolas" pitchFamily="49" charset="0"/>
                <a:ea typeface="仿宋" pitchFamily="49" charset="-122"/>
                <a:cs typeface="Consolas" pitchFamily="49" charset="0"/>
              </a:rPr>
              <a:t>0</a:t>
            </a:r>
            <a:r>
              <a:rPr kumimoji="1" lang="zh-CN" altLang="en-US" sz="2000">
                <a:solidFill>
                  <a:srgbClr val="008000"/>
                </a:solidFill>
                <a:latin typeface="Consolas" pitchFamily="49" charset="0"/>
                <a:ea typeface="仿宋" pitchFamily="49" charset="-122"/>
                <a:cs typeface="Consolas" pitchFamily="49" charset="0"/>
              </a:rPr>
              <a:t>或</a:t>
            </a:r>
            <a:r>
              <a:rPr kumimoji="1" lang="en-US" altLang="zh-CN" sz="2000">
                <a:solidFill>
                  <a:srgbClr val="008000"/>
                </a:solidFill>
                <a:latin typeface="Consolas" pitchFamily="49" charset="0"/>
                <a:ea typeface="仿宋" pitchFamily="49" charset="-122"/>
                <a:cs typeface="Consolas" pitchFamily="49" charset="0"/>
              </a:rPr>
              <a:t>1</a:t>
            </a:r>
            <a:r>
              <a:rPr kumimoji="1" lang="zh-CN" altLang="en-US" sz="2000">
                <a:solidFill>
                  <a:srgbClr val="008000"/>
                </a:solidFill>
                <a:latin typeface="Consolas" pitchFamily="49" charset="0"/>
                <a:ea typeface="仿宋" pitchFamily="49" charset="-122"/>
                <a:cs typeface="Consolas" pitchFamily="49" charset="0"/>
              </a:rPr>
              <a:t>（</a:t>
            </a:r>
            <a:r>
              <a:rPr kumimoji="1" lang="zh-CN" altLang="en-US" sz="2000">
                <a:latin typeface="Consolas" pitchFamily="49" charset="0"/>
                <a:ea typeface="仿宋" pitchFamily="49" charset="-122"/>
                <a:cs typeface="Consolas" pitchFamily="49" charset="0"/>
              </a:rPr>
              <a:t>递归出口）。</a:t>
            </a:r>
            <a:endParaRPr kumimoji="1" lang="zh-CN" altLang="en-US" sz="2000" dirty="0">
              <a:latin typeface="Consolas" pitchFamily="49" charset="0"/>
              <a:ea typeface="仿宋" pitchFamily="49" charset="-122"/>
              <a:cs typeface="Consolas" pitchFamily="49" charset="0"/>
            </a:endParaRPr>
          </a:p>
        </p:txBody>
      </p:sp>
      <p:sp>
        <p:nvSpPr>
          <p:cNvPr id="26" name="Oval 7">
            <a:extLst>
              <a:ext uri="{FF2B5EF4-FFF2-40B4-BE49-F238E27FC236}">
                <a16:creationId xmlns:a16="http://schemas.microsoft.com/office/drawing/2014/main" id="{2C91B958-18DD-ADC5-962C-169847902842}"/>
              </a:ext>
            </a:extLst>
          </p:cNvPr>
          <p:cNvSpPr>
            <a:spLocks noChangeArrowheads="1"/>
          </p:cNvSpPr>
          <p:nvPr/>
        </p:nvSpPr>
        <p:spPr bwMode="auto">
          <a:xfrm>
            <a:off x="2685060" y="3460553"/>
            <a:ext cx="609600" cy="533400"/>
          </a:xfrm>
          <a:prstGeom prst="ellipse">
            <a:avLst/>
          </a:prstGeom>
          <a:solidFill>
            <a:srgbClr val="FFCC99"/>
          </a:solidFill>
          <a:ln w="19050">
            <a:solidFill>
              <a:srgbClr val="FF0000"/>
            </a:solidFill>
            <a:round/>
            <a:headEnd/>
            <a:tailEnd/>
          </a:ln>
          <a:effectLst/>
        </p:spPr>
        <p:txBody>
          <a:bodyPr wrap="none" anchor="ctr"/>
          <a:lstStyle/>
          <a:p>
            <a:r>
              <a:rPr kumimoji="1" lang="zh-CN" altLang="en-US" sz="1800" dirty="0">
                <a:solidFill>
                  <a:srgbClr val="990000"/>
                </a:solidFill>
                <a:latin typeface="Consolas" pitchFamily="49" charset="0"/>
                <a:ea typeface="楷体" pitchFamily="49" charset="-122"/>
                <a:cs typeface="Consolas" pitchFamily="49" charset="0"/>
              </a:rPr>
              <a:t>基准</a:t>
            </a:r>
            <a:endParaRPr kumimoji="1" lang="zh-CN" altLang="en-US" sz="1800" b="0" dirty="0">
              <a:solidFill>
                <a:schemeClr val="tx1"/>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40471235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04</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393035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959552"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377795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807152"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415895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968952"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20507" name="Rectangle 43"/>
          <p:cNvSpPr>
            <a:spLocks noGrp="1" noChangeArrowheads="1"/>
          </p:cNvSpPr>
          <p:nvPr>
            <p:ph type="title" idx="4294967295"/>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pPr algn="l" eaLnBrk="1" hangingPunct="1"/>
            <a:r>
              <a:rPr kumimoji="1" lang="zh-CN" altLang="en-US" sz="2400" dirty="0">
                <a:latin typeface="微软雅黑" pitchFamily="34" charset="-122"/>
                <a:ea typeface="微软雅黑" pitchFamily="34" charset="-122"/>
                <a:cs typeface="经典粗黑简" pitchFamily="49" charset="-122"/>
              </a:rPr>
              <a:t>快速排序中的一趟划分</a:t>
            </a:r>
          </a:p>
        </p:txBody>
      </p:sp>
      <p:sp>
        <p:nvSpPr>
          <p:cNvPr id="453678" name="Freeform 46"/>
          <p:cNvSpPr>
            <a:spLocks/>
          </p:cNvSpPr>
          <p:nvPr/>
        </p:nvSpPr>
        <p:spPr bwMode="auto">
          <a:xfrm>
            <a:off x="2787352" y="2896344"/>
            <a:ext cx="914400" cy="228600"/>
          </a:xfrm>
          <a:custGeom>
            <a:avLst/>
            <a:gdLst>
              <a:gd name="T0" fmla="*/ 914400 w 576"/>
              <a:gd name="T1" fmla="*/ 228600 h 248"/>
              <a:gd name="T2" fmla="*/ 609600 w 576"/>
              <a:gd name="T3" fmla="*/ 7374 h 248"/>
              <a:gd name="T4" fmla="*/ 0 w 576"/>
              <a:gd name="T5" fmla="*/ 184355 h 248"/>
              <a:gd name="T6" fmla="*/ 0 60000 65536"/>
              <a:gd name="T7" fmla="*/ 0 60000 65536"/>
              <a:gd name="T8" fmla="*/ 0 60000 65536"/>
            </a:gdLst>
            <a:ahLst/>
            <a:cxnLst>
              <a:cxn ang="T6">
                <a:pos x="T0" y="T1"/>
              </a:cxn>
              <a:cxn ang="T7">
                <a:pos x="T2" y="T3"/>
              </a:cxn>
              <a:cxn ang="T8">
                <a:pos x="T4" y="T5"/>
              </a:cxn>
            </a:cxnLst>
            <a:rect l="0" t="0" r="r" b="b"/>
            <a:pathLst>
              <a:path w="576" h="248">
                <a:moveTo>
                  <a:pt x="576" y="248"/>
                </a:moveTo>
                <a:cubicBezTo>
                  <a:pt x="528" y="132"/>
                  <a:pt x="480" y="16"/>
                  <a:pt x="384" y="8"/>
                </a:cubicBezTo>
                <a:cubicBezTo>
                  <a:pt x="288" y="0"/>
                  <a:pt x="64" y="168"/>
                  <a:pt x="0" y="200"/>
                </a:cubicBezTo>
              </a:path>
            </a:pathLst>
          </a:custGeom>
          <a:noFill/>
          <a:ln w="28575" cap="flat" cmpd="sng">
            <a:solidFill>
              <a:schemeClr val="folHlink"/>
            </a:solidFill>
            <a:prstDash val="solid"/>
            <a:round/>
            <a:headEn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2" name="矩形 1">
            <a:extLst>
              <a:ext uri="{FF2B5EF4-FFF2-40B4-BE49-F238E27FC236}">
                <a16:creationId xmlns:a16="http://schemas.microsoft.com/office/drawing/2014/main" id="{19B18B2E-03D2-BE8E-D650-F4BC6C56DDEF}"/>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D8A403F7-256F-1F22-6A59-F558117C048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3DFE9B2D-9171-7504-9852-17AD6A2963C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37340326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453668"/>
                                        </p:tgtEl>
                                        <p:attrNameLst>
                                          <p:attrName>style.visibility</p:attrName>
                                        </p:attrNameLst>
                                      </p:cBhvr>
                                      <p:to>
                                        <p:strVal val="visible"/>
                                      </p:to>
                                    </p:set>
                                    <p:animEffect transition="in" filter="slide(fromLeft)">
                                      <p:cBhvr>
                                        <p:cTn id="7" dur="500"/>
                                        <p:tgtEl>
                                          <p:spTgt spid="4536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53669"/>
                                        </p:tgtEl>
                                        <p:attrNameLst>
                                          <p:attrName>style.visibility</p:attrName>
                                        </p:attrNameLst>
                                      </p:cBhvr>
                                      <p:to>
                                        <p:strVal val="visible"/>
                                      </p:to>
                                    </p:set>
                                    <p:animEffect transition="in" filter="wipe(down)">
                                      <p:cBhvr>
                                        <p:cTn id="12" dur="500"/>
                                        <p:tgtEl>
                                          <p:spTgt spid="453669"/>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53671"/>
                                        </p:tgtEl>
                                        <p:attrNameLst>
                                          <p:attrName>style.visibility</p:attrName>
                                        </p:attrNameLst>
                                      </p:cBhvr>
                                      <p:to>
                                        <p:strVal val="visible"/>
                                      </p:to>
                                    </p:set>
                                    <p:animEffect transition="in" filter="wipe(up)">
                                      <p:cBhvr>
                                        <p:cTn id="16" dur="500"/>
                                        <p:tgtEl>
                                          <p:spTgt spid="453671"/>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453673"/>
                                        </p:tgtEl>
                                        <p:attrNameLst>
                                          <p:attrName>style.visibility</p:attrName>
                                        </p:attrNameLst>
                                      </p:cBhvr>
                                      <p:to>
                                        <p:strVal val="visible"/>
                                      </p:to>
                                    </p:set>
                                    <p:animEffect transition="in" filter="wipe(left)">
                                      <p:cBhvr>
                                        <p:cTn id="20" dur="500"/>
                                        <p:tgtEl>
                                          <p:spTgt spid="45367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53670"/>
                                        </p:tgtEl>
                                        <p:attrNameLst>
                                          <p:attrName>style.visibility</p:attrName>
                                        </p:attrNameLst>
                                      </p:cBhvr>
                                      <p:to>
                                        <p:strVal val="visible"/>
                                      </p:to>
                                    </p:set>
                                    <p:animEffect transition="in" filter="wipe(down)">
                                      <p:cBhvr>
                                        <p:cTn id="25" dur="500"/>
                                        <p:tgtEl>
                                          <p:spTgt spid="453670"/>
                                        </p:tgtEl>
                                      </p:cBhvr>
                                    </p:animEffect>
                                  </p:childTnLst>
                                </p:cTn>
                              </p:par>
                            </p:childTnLst>
                          </p:cTn>
                        </p:par>
                        <p:par>
                          <p:cTn id="26" fill="hold" nodeType="afterGroup">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453672"/>
                                        </p:tgtEl>
                                        <p:attrNameLst>
                                          <p:attrName>style.visibility</p:attrName>
                                        </p:attrNameLst>
                                      </p:cBhvr>
                                      <p:to>
                                        <p:strVal val="visible"/>
                                      </p:to>
                                    </p:set>
                                    <p:animEffect transition="in" filter="wipe(up)">
                                      <p:cBhvr>
                                        <p:cTn id="29" dur="500"/>
                                        <p:tgtEl>
                                          <p:spTgt spid="453672"/>
                                        </p:tgtEl>
                                      </p:cBhvr>
                                    </p:animEffect>
                                  </p:childTnLst>
                                </p:cTn>
                              </p:par>
                            </p:childTnLst>
                          </p:cTn>
                        </p:par>
                        <p:par>
                          <p:cTn id="30" fill="hold" nodeType="afterGroup">
                            <p:stCondLst>
                              <p:cond delay="1000"/>
                            </p:stCondLst>
                            <p:childTnLst>
                              <p:par>
                                <p:cTn id="31" presetID="22" presetClass="entr" presetSubtype="2" fill="hold" grpId="0" nodeType="afterEffect">
                                  <p:stCondLst>
                                    <p:cond delay="0"/>
                                  </p:stCondLst>
                                  <p:childTnLst>
                                    <p:set>
                                      <p:cBhvr>
                                        <p:cTn id="32" dur="1" fill="hold">
                                          <p:stCondLst>
                                            <p:cond delay="0"/>
                                          </p:stCondLst>
                                        </p:cTn>
                                        <p:tgtEl>
                                          <p:spTgt spid="453674"/>
                                        </p:tgtEl>
                                        <p:attrNameLst>
                                          <p:attrName>style.visibility</p:attrName>
                                        </p:attrNameLst>
                                      </p:cBhvr>
                                      <p:to>
                                        <p:strVal val="visible"/>
                                      </p:to>
                                    </p:set>
                                    <p:animEffect transition="in" filter="wipe(right)">
                                      <p:cBhvr>
                                        <p:cTn id="33" dur="500"/>
                                        <p:tgtEl>
                                          <p:spTgt spid="45367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453678"/>
                                        </p:tgtEl>
                                        <p:attrNameLst>
                                          <p:attrName>style.visibility</p:attrName>
                                        </p:attrNameLst>
                                      </p:cBhvr>
                                      <p:to>
                                        <p:strVal val="visible"/>
                                      </p:to>
                                    </p:set>
                                    <p:animEffect transition="in" filter="wipe(right)">
                                      <p:cBhvr>
                                        <p:cTn id="38" dur="500"/>
                                        <p:tgtEl>
                                          <p:spTgt spid="453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69" grpId="0" animBg="1"/>
      <p:bldP spid="453670" grpId="0" animBg="1"/>
      <p:bldP spid="453671" grpId="0" autoUpdateAnimBg="0"/>
      <p:bldP spid="453672" grpId="0" autoUpdateAnimBg="0"/>
      <p:bldP spid="453673" grpId="0" animBg="1"/>
      <p:bldP spid="453674" grpId="0" animBg="1"/>
      <p:bldP spid="45367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04</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sp>
        <p:nvSpPr>
          <p:cNvPr id="453669" name="Line 37"/>
          <p:cNvSpPr>
            <a:spLocks noChangeShapeType="1"/>
          </p:cNvSpPr>
          <p:nvPr/>
        </p:nvSpPr>
        <p:spPr bwMode="auto">
          <a:xfrm flipV="1">
            <a:off x="393035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959552"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377795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807152"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415895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968952"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20507" name="Rectangle 43"/>
          <p:cNvSpPr>
            <a:spLocks noGrp="1" noChangeArrowheads="1"/>
          </p:cNvSpPr>
          <p:nvPr>
            <p:ph type="title" idx="4294967295"/>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pPr algn="l" eaLnBrk="1" hangingPunct="1"/>
            <a:r>
              <a:rPr kumimoji="1" lang="zh-CN" altLang="en-US" sz="2400" dirty="0">
                <a:latin typeface="微软雅黑" pitchFamily="34" charset="-122"/>
                <a:ea typeface="微软雅黑" pitchFamily="34" charset="-122"/>
                <a:cs typeface="经典粗黑简" pitchFamily="49" charset="-122"/>
              </a:rPr>
              <a:t>快速排序中的一趟划分</a:t>
            </a:r>
          </a:p>
        </p:txBody>
      </p:sp>
      <p:sp>
        <p:nvSpPr>
          <p:cNvPr id="453678" name="Freeform 46"/>
          <p:cNvSpPr>
            <a:spLocks/>
          </p:cNvSpPr>
          <p:nvPr/>
        </p:nvSpPr>
        <p:spPr bwMode="auto">
          <a:xfrm>
            <a:off x="2787352" y="2896344"/>
            <a:ext cx="914400" cy="228600"/>
          </a:xfrm>
          <a:custGeom>
            <a:avLst/>
            <a:gdLst>
              <a:gd name="T0" fmla="*/ 914400 w 576"/>
              <a:gd name="T1" fmla="*/ 228600 h 248"/>
              <a:gd name="T2" fmla="*/ 609600 w 576"/>
              <a:gd name="T3" fmla="*/ 7374 h 248"/>
              <a:gd name="T4" fmla="*/ 0 w 576"/>
              <a:gd name="T5" fmla="*/ 184355 h 248"/>
              <a:gd name="T6" fmla="*/ 0 60000 65536"/>
              <a:gd name="T7" fmla="*/ 0 60000 65536"/>
              <a:gd name="T8" fmla="*/ 0 60000 65536"/>
            </a:gdLst>
            <a:ahLst/>
            <a:cxnLst>
              <a:cxn ang="T6">
                <a:pos x="T0" y="T1"/>
              </a:cxn>
              <a:cxn ang="T7">
                <a:pos x="T2" y="T3"/>
              </a:cxn>
              <a:cxn ang="T8">
                <a:pos x="T4" y="T5"/>
              </a:cxn>
            </a:cxnLst>
            <a:rect l="0" t="0" r="r" b="b"/>
            <a:pathLst>
              <a:path w="576" h="248">
                <a:moveTo>
                  <a:pt x="576" y="248"/>
                </a:moveTo>
                <a:cubicBezTo>
                  <a:pt x="528" y="132"/>
                  <a:pt x="480" y="16"/>
                  <a:pt x="384" y="8"/>
                </a:cubicBezTo>
                <a:cubicBezTo>
                  <a:pt x="288" y="0"/>
                  <a:pt x="64" y="168"/>
                  <a:pt x="0" y="200"/>
                </a:cubicBezTo>
              </a:path>
            </a:pathLst>
          </a:custGeom>
          <a:noFill/>
          <a:ln w="28575" cap="flat" cmpd="sng">
            <a:solidFill>
              <a:schemeClr val="folHlink"/>
            </a:solidFill>
            <a:prstDash val="solid"/>
            <a:round/>
            <a:headEn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37" name="Group 36"/>
          <p:cNvGrpSpPr>
            <a:grpSpLocks/>
          </p:cNvGrpSpPr>
          <p:nvPr/>
        </p:nvGrpSpPr>
        <p:grpSpPr bwMode="auto">
          <a:xfrm>
            <a:off x="2253952" y="3109070"/>
            <a:ext cx="1066800" cy="1082675"/>
            <a:chOff x="192" y="1440"/>
            <a:chExt cx="672" cy="682"/>
          </a:xfrm>
        </p:grpSpPr>
        <p:sp>
          <p:nvSpPr>
            <p:cNvPr id="38"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9"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0"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41" name="Text Box 61"/>
          <p:cNvSpPr txBox="1">
            <a:spLocks noChangeArrowheads="1"/>
          </p:cNvSpPr>
          <p:nvPr/>
        </p:nvSpPr>
        <p:spPr bwMode="auto">
          <a:xfrm>
            <a:off x="3018883" y="4869161"/>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[j] </a:t>
            </a:r>
            <a:r>
              <a:rPr kumimoji="1" lang="zh-CN" altLang="en-US" dirty="0">
                <a:latin typeface="Tahoma" pitchFamily="34" charset="0"/>
              </a:rPr>
              <a:t>与</a:t>
            </a: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交换，</a:t>
            </a:r>
            <a:r>
              <a:rPr kumimoji="1" lang="en-US" altLang="zh-CN" dirty="0">
                <a:latin typeface="Tahoma" pitchFamily="34" charset="0"/>
              </a:rPr>
              <a:t>i</a:t>
            </a:r>
            <a:r>
              <a:rPr kumimoji="1" lang="zh-CN" altLang="en-US" dirty="0">
                <a:latin typeface="Tahoma" pitchFamily="34" charset="0"/>
              </a:rPr>
              <a:t>加</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6BFDAB9B-4225-283F-CE9C-5C0DAAEAC746}"/>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2A025A6F-71D9-B744-218D-46BB23106A6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9854269-87D6-7057-08D1-997532D07678}"/>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359108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393035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959552"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377795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807152"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415895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968952"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40" name="Text Box 61"/>
          <p:cNvSpPr txBox="1">
            <a:spLocks noChangeArrowheads="1"/>
          </p:cNvSpPr>
          <p:nvPr/>
        </p:nvSpPr>
        <p:spPr bwMode="auto">
          <a:xfrm>
            <a:off x="3018883" y="4869161"/>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[j] </a:t>
            </a:r>
            <a:r>
              <a:rPr kumimoji="1" lang="zh-CN" altLang="en-US" dirty="0">
                <a:latin typeface="Tahoma" pitchFamily="34" charset="0"/>
              </a:rPr>
              <a:t>与</a:t>
            </a: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交换，</a:t>
            </a:r>
            <a:r>
              <a:rPr kumimoji="1" lang="en-US" altLang="zh-CN" dirty="0">
                <a:latin typeface="Tahoma" pitchFamily="34" charset="0"/>
              </a:rPr>
              <a:t>i</a:t>
            </a:r>
            <a:r>
              <a:rPr kumimoji="1" lang="zh-CN" altLang="en-US" dirty="0">
                <a:latin typeface="Tahoma" pitchFamily="34" charset="0"/>
              </a:rPr>
              <a:t>加</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924B7AB9-39A0-9366-CE34-8B7EC335047D}"/>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36813939-A62F-4A6B-2001-8858F3123C37}"/>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7261AB9-9D59-3C78-A3F3-FC530AC4CD33}"/>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86341997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4529336"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959552"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4376936"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807152"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4757936"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968952"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56"/>
          <p:cNvSpPr txBox="1">
            <a:spLocks noChangeArrowheads="1"/>
          </p:cNvSpPr>
          <p:nvPr/>
        </p:nvSpPr>
        <p:spPr bwMode="auto">
          <a:xfrm>
            <a:off x="3201398" y="4869161"/>
            <a:ext cx="65532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与</a:t>
            </a:r>
            <a:r>
              <a:rPr kumimoji="1" lang="en-US" altLang="zh-CN" dirty="0">
                <a:latin typeface="Tahoma" pitchFamily="34" charset="0"/>
              </a:rPr>
              <a:t>pivot</a:t>
            </a:r>
            <a:r>
              <a:rPr kumimoji="1" lang="zh-CN" altLang="en-US" dirty="0">
                <a:latin typeface="Tahoma" pitchFamily="34" charset="0"/>
              </a:rPr>
              <a:t>比较，</a:t>
            </a: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大则与</a:t>
            </a:r>
            <a:r>
              <a:rPr kumimoji="1" lang="en-US" altLang="zh-CN" dirty="0" err="1">
                <a:latin typeface="Tahoma" pitchFamily="34" charset="0"/>
              </a:rPr>
              <a:t>L.r</a:t>
            </a:r>
            <a:r>
              <a:rPr kumimoji="1" lang="en-US" altLang="zh-CN" dirty="0">
                <a:latin typeface="Tahoma" pitchFamily="34" charset="0"/>
              </a:rPr>
              <a:t>[j]</a:t>
            </a:r>
            <a:r>
              <a:rPr kumimoji="1" lang="zh-CN" altLang="en-US" dirty="0">
                <a:latin typeface="Tahoma" pitchFamily="34" charset="0"/>
              </a:rPr>
              <a:t>交换；否则</a:t>
            </a:r>
            <a:r>
              <a:rPr kumimoji="1" lang="en-US" altLang="zh-CN" dirty="0">
                <a:latin typeface="Tahoma" pitchFamily="34" charset="0"/>
              </a:rPr>
              <a:t>i</a:t>
            </a:r>
            <a:r>
              <a:rPr kumimoji="1" lang="zh-CN" altLang="en-US" dirty="0">
                <a:latin typeface="Tahoma" pitchFamily="34" charset="0"/>
              </a:rPr>
              <a:t>增</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49601FAA-2D2E-D111-87E5-78E7FE9A829E}"/>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E977763C-8A89-6131-71B0-F7C148891FD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288181B-7B87-8EFA-5775-0345092DCD0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42557339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177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959552"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025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807152"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5406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968952"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56"/>
          <p:cNvSpPr txBox="1">
            <a:spLocks noChangeArrowheads="1"/>
          </p:cNvSpPr>
          <p:nvPr/>
        </p:nvSpPr>
        <p:spPr bwMode="auto">
          <a:xfrm>
            <a:off x="3201398" y="4869161"/>
            <a:ext cx="65532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与</a:t>
            </a:r>
            <a:r>
              <a:rPr kumimoji="1" lang="en-US" altLang="zh-CN" dirty="0">
                <a:latin typeface="Tahoma" pitchFamily="34" charset="0"/>
              </a:rPr>
              <a:t>pivot</a:t>
            </a:r>
            <a:r>
              <a:rPr kumimoji="1" lang="zh-CN" altLang="en-US" dirty="0">
                <a:latin typeface="Tahoma" pitchFamily="34" charset="0"/>
              </a:rPr>
              <a:t>比较，</a:t>
            </a: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大则与</a:t>
            </a:r>
            <a:r>
              <a:rPr kumimoji="1" lang="en-US" altLang="zh-CN" dirty="0" err="1">
                <a:latin typeface="Tahoma" pitchFamily="34" charset="0"/>
              </a:rPr>
              <a:t>L.r</a:t>
            </a:r>
            <a:r>
              <a:rPr kumimoji="1" lang="en-US" altLang="zh-CN" dirty="0">
                <a:latin typeface="Tahoma" pitchFamily="34" charset="0"/>
              </a:rPr>
              <a:t>[j]</a:t>
            </a:r>
            <a:r>
              <a:rPr kumimoji="1" lang="zh-CN" altLang="en-US" dirty="0">
                <a:latin typeface="Tahoma" pitchFamily="34" charset="0"/>
              </a:rPr>
              <a:t>交换；否则</a:t>
            </a:r>
            <a:r>
              <a:rPr kumimoji="1" lang="en-US" altLang="zh-CN" dirty="0">
                <a:latin typeface="Tahoma" pitchFamily="34" charset="0"/>
              </a:rPr>
              <a:t>i</a:t>
            </a:r>
            <a:r>
              <a:rPr kumimoji="1" lang="zh-CN" altLang="en-US" dirty="0">
                <a:latin typeface="Tahoma" pitchFamily="34" charset="0"/>
              </a:rPr>
              <a:t>增</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F208F248-3C5B-9466-FB11-014912D0989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0870B841-578F-130D-4054-D1D3AF42DF1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C7BB178-3E7D-9820-A434-D6D5E2A3841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36890176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177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959552"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025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807152"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5406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968952"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40" name="Text Box 60"/>
          <p:cNvSpPr txBox="1">
            <a:spLocks noChangeArrowheads="1"/>
          </p:cNvSpPr>
          <p:nvPr/>
        </p:nvSpPr>
        <p:spPr bwMode="auto">
          <a:xfrm>
            <a:off x="3168352" y="4869161"/>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与</a:t>
            </a:r>
            <a:r>
              <a:rPr kumimoji="1" lang="en-US" altLang="zh-CN" dirty="0" err="1">
                <a:latin typeface="Tahoma" pitchFamily="34" charset="0"/>
              </a:rPr>
              <a:t>L.r</a:t>
            </a:r>
            <a:r>
              <a:rPr kumimoji="1" lang="en-US" altLang="zh-CN" dirty="0">
                <a:latin typeface="Tahoma" pitchFamily="34" charset="0"/>
              </a:rPr>
              <a:t>[j]</a:t>
            </a:r>
            <a:r>
              <a:rPr kumimoji="1" lang="zh-CN" altLang="en-US" dirty="0">
                <a:latin typeface="Tahoma" pitchFamily="34" charset="0"/>
              </a:rPr>
              <a:t>交换，</a:t>
            </a:r>
            <a:r>
              <a:rPr kumimoji="1" lang="en-US" altLang="zh-CN" dirty="0">
                <a:latin typeface="Tahoma" pitchFamily="34" charset="0"/>
              </a:rPr>
              <a:t>j</a:t>
            </a:r>
            <a:r>
              <a:rPr kumimoji="1" lang="zh-CN" altLang="en-US" dirty="0">
                <a:latin typeface="Tahoma" pitchFamily="34" charset="0"/>
              </a:rPr>
              <a:t>减</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A6ADA0E2-1F73-FF47-19E4-76610856D147}"/>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D6B323E3-7F75-F808-0B33-DE2399B6C3F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2C845420-6E40-7039-0600-EBDC27618DDF}"/>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193316461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177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8238728"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025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8086328"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5406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7248128"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29"/>
          <p:cNvSpPr txBox="1">
            <a:spLocks noChangeArrowheads="1"/>
          </p:cNvSpPr>
          <p:nvPr/>
        </p:nvSpPr>
        <p:spPr bwMode="auto">
          <a:xfrm>
            <a:off x="2974250" y="4725145"/>
            <a:ext cx="64770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a:latin typeface="Tahoma" pitchFamily="34" charset="0"/>
              </a:rPr>
              <a:t>L.r[j]</a:t>
            </a:r>
            <a:r>
              <a:rPr kumimoji="1" lang="zh-CN" altLang="en-US">
                <a:latin typeface="Tahoma" pitchFamily="34" charset="0"/>
              </a:rPr>
              <a:t>与</a:t>
            </a:r>
            <a:r>
              <a:rPr kumimoji="1" lang="en-US" altLang="zh-CN">
                <a:latin typeface="Tahoma" pitchFamily="34" charset="0"/>
              </a:rPr>
              <a:t>pivot</a:t>
            </a:r>
            <a:r>
              <a:rPr kumimoji="1" lang="zh-CN" altLang="en-US">
                <a:latin typeface="Tahoma" pitchFamily="34" charset="0"/>
              </a:rPr>
              <a:t>比较，</a:t>
            </a:r>
            <a:r>
              <a:rPr kumimoji="1" lang="en-US" altLang="zh-CN">
                <a:latin typeface="Tahoma" pitchFamily="34" charset="0"/>
              </a:rPr>
              <a:t>L.r[j]</a:t>
            </a:r>
            <a:r>
              <a:rPr kumimoji="1" lang="zh-CN" altLang="en-US">
                <a:latin typeface="Tahoma" pitchFamily="34" charset="0"/>
              </a:rPr>
              <a:t>小则与</a:t>
            </a:r>
            <a:r>
              <a:rPr kumimoji="1" lang="en-US" altLang="zh-CN">
                <a:latin typeface="Tahoma" pitchFamily="34" charset="0"/>
              </a:rPr>
              <a:t>L.r[i]</a:t>
            </a:r>
            <a:r>
              <a:rPr kumimoji="1" lang="zh-CN" altLang="en-US">
                <a:latin typeface="Tahoma" pitchFamily="34" charset="0"/>
              </a:rPr>
              <a:t>交换；否则</a:t>
            </a:r>
            <a:r>
              <a:rPr kumimoji="1" lang="en-US" altLang="zh-CN">
                <a:latin typeface="Tahoma" pitchFamily="34" charset="0"/>
              </a:rPr>
              <a:t>j</a:t>
            </a:r>
            <a:r>
              <a:rPr kumimoji="1" lang="zh-CN" altLang="en-US">
                <a:latin typeface="Tahoma" pitchFamily="34" charset="0"/>
              </a:rPr>
              <a:t>减</a:t>
            </a:r>
            <a:r>
              <a:rPr kumimoji="1" lang="en-US" altLang="zh-CN">
                <a:latin typeface="Tahoma" pitchFamily="34" charset="0"/>
              </a:rPr>
              <a:t>1</a:t>
            </a:r>
          </a:p>
        </p:txBody>
      </p:sp>
      <p:sp>
        <p:nvSpPr>
          <p:cNvPr id="2" name="矩形 1">
            <a:extLst>
              <a:ext uri="{FF2B5EF4-FFF2-40B4-BE49-F238E27FC236}">
                <a16:creationId xmlns:a16="http://schemas.microsoft.com/office/drawing/2014/main" id="{2911C404-B35D-ECF8-E8A1-6C8E7E71FF4B}"/>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81F3B4F6-E0A4-2BD1-73BB-50F48E08D08E}"/>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0CF081F1-3C1F-82E4-FBE7-28B6E23E658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149839334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177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7662664"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025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7510264"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j</a:t>
            </a:r>
          </a:p>
        </p:txBody>
      </p:sp>
      <p:sp>
        <p:nvSpPr>
          <p:cNvPr id="453673" name="Line 41"/>
          <p:cNvSpPr>
            <a:spLocks noChangeShapeType="1"/>
          </p:cNvSpPr>
          <p:nvPr/>
        </p:nvSpPr>
        <p:spPr bwMode="auto">
          <a:xfrm>
            <a:off x="5406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6672064"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29"/>
          <p:cNvSpPr txBox="1">
            <a:spLocks noChangeArrowheads="1"/>
          </p:cNvSpPr>
          <p:nvPr/>
        </p:nvSpPr>
        <p:spPr bwMode="auto">
          <a:xfrm>
            <a:off x="2974250" y="4725145"/>
            <a:ext cx="64770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a:latin typeface="Tahoma" pitchFamily="34" charset="0"/>
              </a:rPr>
              <a:t>L.r[j]</a:t>
            </a:r>
            <a:r>
              <a:rPr kumimoji="1" lang="zh-CN" altLang="en-US">
                <a:latin typeface="Tahoma" pitchFamily="34" charset="0"/>
              </a:rPr>
              <a:t>与</a:t>
            </a:r>
            <a:r>
              <a:rPr kumimoji="1" lang="en-US" altLang="zh-CN">
                <a:latin typeface="Tahoma" pitchFamily="34" charset="0"/>
              </a:rPr>
              <a:t>pivot</a:t>
            </a:r>
            <a:r>
              <a:rPr kumimoji="1" lang="zh-CN" altLang="en-US">
                <a:latin typeface="Tahoma" pitchFamily="34" charset="0"/>
              </a:rPr>
              <a:t>比较，</a:t>
            </a:r>
            <a:r>
              <a:rPr kumimoji="1" lang="en-US" altLang="zh-CN">
                <a:latin typeface="Tahoma" pitchFamily="34" charset="0"/>
              </a:rPr>
              <a:t>L.r[j]</a:t>
            </a:r>
            <a:r>
              <a:rPr kumimoji="1" lang="zh-CN" altLang="en-US">
                <a:latin typeface="Tahoma" pitchFamily="34" charset="0"/>
              </a:rPr>
              <a:t>小则与</a:t>
            </a:r>
            <a:r>
              <a:rPr kumimoji="1" lang="en-US" altLang="zh-CN">
                <a:latin typeface="Tahoma" pitchFamily="34" charset="0"/>
              </a:rPr>
              <a:t>L.r[i]</a:t>
            </a:r>
            <a:r>
              <a:rPr kumimoji="1" lang="zh-CN" altLang="en-US">
                <a:latin typeface="Tahoma" pitchFamily="34" charset="0"/>
              </a:rPr>
              <a:t>交换；否则</a:t>
            </a:r>
            <a:r>
              <a:rPr kumimoji="1" lang="en-US" altLang="zh-CN">
                <a:latin typeface="Tahoma" pitchFamily="34" charset="0"/>
              </a:rPr>
              <a:t>j</a:t>
            </a:r>
            <a:r>
              <a:rPr kumimoji="1" lang="zh-CN" altLang="en-US">
                <a:latin typeface="Tahoma" pitchFamily="34" charset="0"/>
              </a:rPr>
              <a:t>减</a:t>
            </a:r>
            <a:r>
              <a:rPr kumimoji="1" lang="en-US" altLang="zh-CN">
                <a:latin typeface="Tahoma" pitchFamily="34" charset="0"/>
              </a:rPr>
              <a:t>1</a:t>
            </a:r>
          </a:p>
        </p:txBody>
      </p:sp>
      <p:sp>
        <p:nvSpPr>
          <p:cNvPr id="2" name="矩形 1">
            <a:extLst>
              <a:ext uri="{FF2B5EF4-FFF2-40B4-BE49-F238E27FC236}">
                <a16:creationId xmlns:a16="http://schemas.microsoft.com/office/drawing/2014/main" id="{78C308BB-1E18-1866-B658-5E4D36F929F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FD295CDA-B6FA-7FE2-8543-909EA717A255}"/>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33A44741-650F-89F5-9A4A-8EF29D048C14}"/>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426342329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177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7086600"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025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6934200"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5406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6096000"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29"/>
          <p:cNvSpPr txBox="1">
            <a:spLocks noChangeArrowheads="1"/>
          </p:cNvSpPr>
          <p:nvPr/>
        </p:nvSpPr>
        <p:spPr bwMode="auto">
          <a:xfrm>
            <a:off x="2974250" y="4725145"/>
            <a:ext cx="64770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a:latin typeface="Tahoma" pitchFamily="34" charset="0"/>
              </a:rPr>
              <a:t>L.r[j]</a:t>
            </a:r>
            <a:r>
              <a:rPr kumimoji="1" lang="zh-CN" altLang="en-US">
                <a:latin typeface="Tahoma" pitchFamily="34" charset="0"/>
              </a:rPr>
              <a:t>与</a:t>
            </a:r>
            <a:r>
              <a:rPr kumimoji="1" lang="en-US" altLang="zh-CN">
                <a:latin typeface="Tahoma" pitchFamily="34" charset="0"/>
              </a:rPr>
              <a:t>pivot</a:t>
            </a:r>
            <a:r>
              <a:rPr kumimoji="1" lang="zh-CN" altLang="en-US">
                <a:latin typeface="Tahoma" pitchFamily="34" charset="0"/>
              </a:rPr>
              <a:t>比较，</a:t>
            </a:r>
            <a:r>
              <a:rPr kumimoji="1" lang="en-US" altLang="zh-CN">
                <a:latin typeface="Tahoma" pitchFamily="34" charset="0"/>
              </a:rPr>
              <a:t>L.r[j]</a:t>
            </a:r>
            <a:r>
              <a:rPr kumimoji="1" lang="zh-CN" altLang="en-US">
                <a:latin typeface="Tahoma" pitchFamily="34" charset="0"/>
              </a:rPr>
              <a:t>小则与</a:t>
            </a:r>
            <a:r>
              <a:rPr kumimoji="1" lang="en-US" altLang="zh-CN">
                <a:latin typeface="Tahoma" pitchFamily="34" charset="0"/>
              </a:rPr>
              <a:t>L.r[i]</a:t>
            </a:r>
            <a:r>
              <a:rPr kumimoji="1" lang="zh-CN" altLang="en-US">
                <a:latin typeface="Tahoma" pitchFamily="34" charset="0"/>
              </a:rPr>
              <a:t>交换；否则</a:t>
            </a:r>
            <a:r>
              <a:rPr kumimoji="1" lang="en-US" altLang="zh-CN">
                <a:latin typeface="Tahoma" pitchFamily="34" charset="0"/>
              </a:rPr>
              <a:t>j</a:t>
            </a:r>
            <a:r>
              <a:rPr kumimoji="1" lang="zh-CN" altLang="en-US">
                <a:latin typeface="Tahoma" pitchFamily="34" charset="0"/>
              </a:rPr>
              <a:t>减</a:t>
            </a:r>
            <a:r>
              <a:rPr kumimoji="1" lang="en-US" altLang="zh-CN">
                <a:latin typeface="Tahoma" pitchFamily="34" charset="0"/>
              </a:rPr>
              <a:t>1</a:t>
            </a:r>
          </a:p>
        </p:txBody>
      </p:sp>
      <p:sp>
        <p:nvSpPr>
          <p:cNvPr id="2" name="矩形 1">
            <a:extLst>
              <a:ext uri="{FF2B5EF4-FFF2-40B4-BE49-F238E27FC236}">
                <a16:creationId xmlns:a16="http://schemas.microsoft.com/office/drawing/2014/main" id="{9D5602B1-C263-31F0-6A1F-BE57915E9403}"/>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2DAED046-D785-5C57-ACD3-5EF4C91429F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0A81CA8-C110-D3B7-F694-6D621F2CF234}"/>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49647588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27</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177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7086600"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025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i</a:t>
            </a:r>
          </a:p>
        </p:txBody>
      </p:sp>
      <p:sp>
        <p:nvSpPr>
          <p:cNvPr id="453672" name="Text Box 40"/>
          <p:cNvSpPr txBox="1">
            <a:spLocks noChangeArrowheads="1"/>
          </p:cNvSpPr>
          <p:nvPr/>
        </p:nvSpPr>
        <p:spPr bwMode="auto">
          <a:xfrm>
            <a:off x="6934200"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5406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6096000"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40" name="Text Box 59"/>
          <p:cNvSpPr txBox="1">
            <a:spLocks noChangeArrowheads="1"/>
          </p:cNvSpPr>
          <p:nvPr/>
        </p:nvSpPr>
        <p:spPr bwMode="auto">
          <a:xfrm>
            <a:off x="2971800" y="4664820"/>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L.r[j]</a:t>
            </a:r>
            <a:r>
              <a:rPr kumimoji="1" lang="zh-CN" altLang="en-US">
                <a:latin typeface="Tahoma" pitchFamily="34" charset="0"/>
              </a:rPr>
              <a:t>小则与</a:t>
            </a:r>
            <a:r>
              <a:rPr kumimoji="1" lang="en-US" altLang="zh-CN">
                <a:latin typeface="Tahoma" pitchFamily="34" charset="0"/>
              </a:rPr>
              <a:t>L.r[i]</a:t>
            </a:r>
            <a:r>
              <a:rPr kumimoji="1" lang="zh-CN" altLang="en-US">
                <a:latin typeface="Tahoma" pitchFamily="34" charset="0"/>
              </a:rPr>
              <a:t>交换，</a:t>
            </a:r>
            <a:r>
              <a:rPr kumimoji="1" lang="en-US" altLang="zh-CN">
                <a:latin typeface="Tahoma" pitchFamily="34" charset="0"/>
              </a:rPr>
              <a:t>i</a:t>
            </a:r>
            <a:r>
              <a:rPr kumimoji="1" lang="zh-CN" altLang="en-US">
                <a:latin typeface="Tahoma" pitchFamily="34" charset="0"/>
              </a:rPr>
              <a:t>加</a:t>
            </a:r>
            <a:r>
              <a:rPr kumimoji="1" lang="en-US" altLang="zh-CN">
                <a:latin typeface="Tahoma" pitchFamily="34" charset="0"/>
              </a:rPr>
              <a:t>1</a:t>
            </a:r>
          </a:p>
        </p:txBody>
      </p:sp>
      <p:sp>
        <p:nvSpPr>
          <p:cNvPr id="2" name="矩形 1">
            <a:extLst>
              <a:ext uri="{FF2B5EF4-FFF2-40B4-BE49-F238E27FC236}">
                <a16:creationId xmlns:a16="http://schemas.microsoft.com/office/drawing/2014/main" id="{48AC85D6-9B5F-C954-B5E2-E4C96BA72546}"/>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D70BC6D2-35D1-E652-CD4C-5875FDFE99D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8A20C7F-562A-2F4F-2C23-9E4D00E38713}"/>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09508320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27</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75347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7086600"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60107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i</a:t>
            </a:r>
          </a:p>
        </p:txBody>
      </p:sp>
      <p:sp>
        <p:nvSpPr>
          <p:cNvPr id="453672" name="Text Box 40"/>
          <p:cNvSpPr txBox="1">
            <a:spLocks noChangeArrowheads="1"/>
          </p:cNvSpPr>
          <p:nvPr/>
        </p:nvSpPr>
        <p:spPr bwMode="auto">
          <a:xfrm>
            <a:off x="6934200"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598207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6096000"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29"/>
          <p:cNvSpPr txBox="1">
            <a:spLocks noChangeArrowheads="1"/>
          </p:cNvSpPr>
          <p:nvPr/>
        </p:nvSpPr>
        <p:spPr bwMode="auto">
          <a:xfrm>
            <a:off x="2974250" y="4725145"/>
            <a:ext cx="64770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en-US" altLang="zh-CN">
                <a:latin typeface="Tahoma" pitchFamily="34" charset="0"/>
              </a:rPr>
              <a:t>L.r[j]</a:t>
            </a:r>
            <a:r>
              <a:rPr kumimoji="1" lang="zh-CN" altLang="en-US">
                <a:latin typeface="Tahoma" pitchFamily="34" charset="0"/>
              </a:rPr>
              <a:t>与</a:t>
            </a:r>
            <a:r>
              <a:rPr kumimoji="1" lang="en-US" altLang="zh-CN">
                <a:latin typeface="Tahoma" pitchFamily="34" charset="0"/>
              </a:rPr>
              <a:t>pivot</a:t>
            </a:r>
            <a:r>
              <a:rPr kumimoji="1" lang="zh-CN" altLang="en-US">
                <a:latin typeface="Tahoma" pitchFamily="34" charset="0"/>
              </a:rPr>
              <a:t>比较，</a:t>
            </a:r>
            <a:r>
              <a:rPr kumimoji="1" lang="en-US" altLang="zh-CN">
                <a:latin typeface="Tahoma" pitchFamily="34" charset="0"/>
              </a:rPr>
              <a:t>L.r[j]</a:t>
            </a:r>
            <a:r>
              <a:rPr kumimoji="1" lang="zh-CN" altLang="en-US">
                <a:latin typeface="Tahoma" pitchFamily="34" charset="0"/>
              </a:rPr>
              <a:t>小则与</a:t>
            </a:r>
            <a:r>
              <a:rPr kumimoji="1" lang="en-US" altLang="zh-CN">
                <a:latin typeface="Tahoma" pitchFamily="34" charset="0"/>
              </a:rPr>
              <a:t>L.r[i]</a:t>
            </a:r>
            <a:r>
              <a:rPr kumimoji="1" lang="zh-CN" altLang="en-US">
                <a:latin typeface="Tahoma" pitchFamily="34" charset="0"/>
              </a:rPr>
              <a:t>交换；否则</a:t>
            </a:r>
            <a:r>
              <a:rPr kumimoji="1" lang="en-US" altLang="zh-CN">
                <a:latin typeface="Tahoma" pitchFamily="34" charset="0"/>
              </a:rPr>
              <a:t>j</a:t>
            </a:r>
            <a:r>
              <a:rPr kumimoji="1" lang="zh-CN" altLang="en-US">
                <a:latin typeface="Tahoma" pitchFamily="34" charset="0"/>
              </a:rPr>
              <a:t>减</a:t>
            </a:r>
            <a:r>
              <a:rPr kumimoji="1" lang="en-US" altLang="zh-CN">
                <a:latin typeface="Tahoma" pitchFamily="34" charset="0"/>
              </a:rPr>
              <a:t>1</a:t>
            </a:r>
          </a:p>
        </p:txBody>
      </p:sp>
      <p:sp>
        <p:nvSpPr>
          <p:cNvPr id="2" name="矩形 1">
            <a:extLst>
              <a:ext uri="{FF2B5EF4-FFF2-40B4-BE49-F238E27FC236}">
                <a16:creationId xmlns:a16="http://schemas.microsoft.com/office/drawing/2014/main" id="{B838A9BC-0B69-72D8-3513-B6D910A84120}"/>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A1B28E09-4F0F-2EE8-C0E1-8AA7A1E9FBCF}"/>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8D4E81B-DEF3-E3CD-165D-6F2AEC10902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01782824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27</a:t>
            </a:r>
          </a:p>
        </p:txBody>
      </p:sp>
      <p:sp>
        <p:nvSpPr>
          <p:cNvPr id="20484" name="Rectangle 5"/>
          <p:cNvSpPr>
            <a:spLocks noChangeArrowheads="1"/>
          </p:cNvSpPr>
          <p:nvPr/>
        </p:nvSpPr>
        <p:spPr bwMode="auto">
          <a:xfrm>
            <a:off x="549245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97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75347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7086600"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60107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i</a:t>
            </a:r>
          </a:p>
        </p:txBody>
      </p:sp>
      <p:sp>
        <p:nvSpPr>
          <p:cNvPr id="453672" name="Text Box 40"/>
          <p:cNvSpPr txBox="1">
            <a:spLocks noChangeArrowheads="1"/>
          </p:cNvSpPr>
          <p:nvPr/>
        </p:nvSpPr>
        <p:spPr bwMode="auto">
          <a:xfrm>
            <a:off x="6934200"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598207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6096000"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40" name="Text Box 33"/>
          <p:cNvSpPr txBox="1">
            <a:spLocks noChangeArrowheads="1"/>
          </p:cNvSpPr>
          <p:nvPr/>
        </p:nvSpPr>
        <p:spPr bwMode="auto">
          <a:xfrm>
            <a:off x="3124200" y="4869161"/>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大则与</a:t>
            </a:r>
            <a:r>
              <a:rPr kumimoji="1" lang="en-US" altLang="zh-CN" dirty="0" err="1">
                <a:latin typeface="Tahoma" pitchFamily="34" charset="0"/>
              </a:rPr>
              <a:t>L.r</a:t>
            </a:r>
            <a:r>
              <a:rPr kumimoji="1" lang="en-US" altLang="zh-CN" dirty="0">
                <a:latin typeface="Tahoma" pitchFamily="34" charset="0"/>
              </a:rPr>
              <a:t>[j]</a:t>
            </a:r>
            <a:r>
              <a:rPr kumimoji="1" lang="zh-CN" altLang="en-US" dirty="0">
                <a:latin typeface="Tahoma" pitchFamily="34" charset="0"/>
              </a:rPr>
              <a:t>交换，</a:t>
            </a:r>
            <a:r>
              <a:rPr kumimoji="1" lang="en-US" altLang="zh-CN" dirty="0">
                <a:latin typeface="Tahoma" pitchFamily="34" charset="0"/>
              </a:rPr>
              <a:t>j</a:t>
            </a:r>
            <a:r>
              <a:rPr kumimoji="1" lang="zh-CN" altLang="en-US" dirty="0">
                <a:latin typeface="Tahoma" pitchFamily="34" charset="0"/>
              </a:rPr>
              <a:t>减</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E0ED130A-3BC4-D145-952C-AAD459B2C8F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9DFB85E0-6ECC-338A-CF22-2DF9BDCCE7E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D37E916-C219-8B3B-E409-4D639ECA74E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180720940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27</a:t>
            </a:r>
          </a:p>
        </p:txBody>
      </p:sp>
      <p:sp>
        <p:nvSpPr>
          <p:cNvPr id="20484" name="Rectangle 5"/>
          <p:cNvSpPr>
            <a:spLocks noChangeArrowheads="1"/>
          </p:cNvSpPr>
          <p:nvPr/>
        </p:nvSpPr>
        <p:spPr bwMode="auto">
          <a:xfrm>
            <a:off x="549245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5" name="Rectangle 6"/>
          <p:cNvSpPr>
            <a:spLocks noChangeArrowheads="1"/>
          </p:cNvSpPr>
          <p:nvPr/>
        </p:nvSpPr>
        <p:spPr bwMode="auto">
          <a:xfrm>
            <a:off x="61211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97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75347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6438528"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60107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i</a:t>
            </a:r>
          </a:p>
        </p:txBody>
      </p:sp>
      <p:sp>
        <p:nvSpPr>
          <p:cNvPr id="453672" name="Text Box 40"/>
          <p:cNvSpPr txBox="1">
            <a:spLocks noChangeArrowheads="1"/>
          </p:cNvSpPr>
          <p:nvPr/>
        </p:nvSpPr>
        <p:spPr bwMode="auto">
          <a:xfrm>
            <a:off x="6286128"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598207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5447928"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57"/>
          <p:cNvSpPr txBox="1">
            <a:spLocks noChangeArrowheads="1"/>
          </p:cNvSpPr>
          <p:nvPr/>
        </p:nvSpPr>
        <p:spPr bwMode="auto">
          <a:xfrm>
            <a:off x="2976387" y="4760318"/>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[j]</a:t>
            </a:r>
            <a:r>
              <a:rPr kumimoji="1" lang="zh-CN" altLang="en-US" dirty="0">
                <a:latin typeface="Tahoma" pitchFamily="34" charset="0"/>
              </a:rPr>
              <a:t>小则与</a:t>
            </a: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交换，</a:t>
            </a:r>
            <a:r>
              <a:rPr kumimoji="1" lang="en-US" altLang="zh-CN" dirty="0">
                <a:latin typeface="Tahoma" pitchFamily="34" charset="0"/>
              </a:rPr>
              <a:t>i</a:t>
            </a:r>
            <a:r>
              <a:rPr kumimoji="1" lang="zh-CN" altLang="en-US" dirty="0">
                <a:latin typeface="Tahoma" pitchFamily="34" charset="0"/>
              </a:rPr>
              <a:t>加</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3FD3DB1F-FD84-9A34-56F2-C74116489F50}"/>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31AB3D90-5A99-AC31-DE38-62802714C76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A2D7F6C3-776A-36FE-CEA1-12764CC4271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100391688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27</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13</a:t>
            </a:r>
          </a:p>
        </p:txBody>
      </p:sp>
      <p:sp>
        <p:nvSpPr>
          <p:cNvPr id="20485" name="Rectangle 6"/>
          <p:cNvSpPr>
            <a:spLocks noChangeArrowheads="1"/>
          </p:cNvSpPr>
          <p:nvPr/>
        </p:nvSpPr>
        <p:spPr bwMode="auto">
          <a:xfrm>
            <a:off x="612110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97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5753472"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6438528"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5601072"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i</a:t>
            </a:r>
          </a:p>
        </p:txBody>
      </p:sp>
      <p:sp>
        <p:nvSpPr>
          <p:cNvPr id="453672" name="Text Box 40"/>
          <p:cNvSpPr txBox="1">
            <a:spLocks noChangeArrowheads="1"/>
          </p:cNvSpPr>
          <p:nvPr/>
        </p:nvSpPr>
        <p:spPr bwMode="auto">
          <a:xfrm>
            <a:off x="6286128"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5982072"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5447928"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37" name="Text Box 57"/>
          <p:cNvSpPr txBox="1">
            <a:spLocks noChangeArrowheads="1"/>
          </p:cNvSpPr>
          <p:nvPr/>
        </p:nvSpPr>
        <p:spPr bwMode="auto">
          <a:xfrm>
            <a:off x="2976387" y="4760318"/>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err="1">
                <a:latin typeface="Tahoma" pitchFamily="34" charset="0"/>
              </a:rPr>
              <a:t>L.r</a:t>
            </a:r>
            <a:r>
              <a:rPr kumimoji="1" lang="en-US" altLang="zh-CN" dirty="0">
                <a:latin typeface="Tahoma" pitchFamily="34" charset="0"/>
              </a:rPr>
              <a:t>[j]</a:t>
            </a:r>
            <a:r>
              <a:rPr kumimoji="1" lang="zh-CN" altLang="en-US" dirty="0">
                <a:latin typeface="Tahoma" pitchFamily="34" charset="0"/>
              </a:rPr>
              <a:t>小则与</a:t>
            </a:r>
            <a:r>
              <a:rPr kumimoji="1" lang="en-US" altLang="zh-CN" dirty="0" err="1">
                <a:latin typeface="Tahoma" pitchFamily="34" charset="0"/>
              </a:rPr>
              <a:t>L.r</a:t>
            </a:r>
            <a:r>
              <a:rPr kumimoji="1" lang="en-US" altLang="zh-CN" dirty="0">
                <a:latin typeface="Tahoma" pitchFamily="34" charset="0"/>
              </a:rPr>
              <a:t>[i]</a:t>
            </a:r>
            <a:r>
              <a:rPr kumimoji="1" lang="zh-CN" altLang="en-US" dirty="0">
                <a:latin typeface="Tahoma" pitchFamily="34" charset="0"/>
              </a:rPr>
              <a:t>交换，</a:t>
            </a:r>
            <a:r>
              <a:rPr kumimoji="1" lang="en-US" altLang="zh-CN" dirty="0">
                <a:latin typeface="Tahoma" pitchFamily="34" charset="0"/>
              </a:rPr>
              <a:t>i</a:t>
            </a:r>
            <a:r>
              <a:rPr kumimoji="1" lang="zh-CN" altLang="en-US" dirty="0">
                <a:latin typeface="Tahoma" pitchFamily="34" charset="0"/>
              </a:rPr>
              <a:t>加</a:t>
            </a:r>
            <a:r>
              <a:rPr kumimoji="1" lang="en-US" altLang="zh-CN" dirty="0">
                <a:latin typeface="Tahoma" pitchFamily="34" charset="0"/>
              </a:rPr>
              <a:t>1</a:t>
            </a:r>
          </a:p>
        </p:txBody>
      </p:sp>
      <p:sp>
        <p:nvSpPr>
          <p:cNvPr id="2" name="矩形 1">
            <a:extLst>
              <a:ext uri="{FF2B5EF4-FFF2-40B4-BE49-F238E27FC236}">
                <a16:creationId xmlns:a16="http://schemas.microsoft.com/office/drawing/2014/main" id="{F0C4A59F-5263-7A22-BB36-EDDC60FB66A7}"/>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3E9CBDC2-0BF2-F9A9-7F74-1C72600B600B}"/>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B92B775-6BA5-A679-A7D7-CFF7042B678E}"/>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307470734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4235152" y="3128119"/>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38</a:t>
            </a:r>
          </a:p>
        </p:txBody>
      </p:sp>
      <p:sp>
        <p:nvSpPr>
          <p:cNvPr id="20483" name="Rectangle 4"/>
          <p:cNvSpPr>
            <a:spLocks noChangeArrowheads="1"/>
          </p:cNvSpPr>
          <p:nvPr/>
        </p:nvSpPr>
        <p:spPr bwMode="auto">
          <a:xfrm>
            <a:off x="486380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27</a:t>
            </a:r>
          </a:p>
        </p:txBody>
      </p:sp>
      <p:sp>
        <p:nvSpPr>
          <p:cNvPr id="20484" name="Rectangle 5"/>
          <p:cNvSpPr>
            <a:spLocks noChangeArrowheads="1"/>
          </p:cNvSpPr>
          <p:nvPr/>
        </p:nvSpPr>
        <p:spPr bwMode="auto">
          <a:xfrm>
            <a:off x="549245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13</a:t>
            </a:r>
          </a:p>
        </p:txBody>
      </p:sp>
      <p:sp>
        <p:nvSpPr>
          <p:cNvPr id="20485" name="Rectangle 6"/>
          <p:cNvSpPr>
            <a:spLocks noChangeArrowheads="1"/>
          </p:cNvSpPr>
          <p:nvPr/>
        </p:nvSpPr>
        <p:spPr bwMode="auto">
          <a:xfrm>
            <a:off x="6121102" y="3124944"/>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49</a:t>
            </a:r>
          </a:p>
        </p:txBody>
      </p:sp>
      <p:sp>
        <p:nvSpPr>
          <p:cNvPr id="20486" name="Rectangle 7"/>
          <p:cNvSpPr>
            <a:spLocks noChangeArrowheads="1"/>
          </p:cNvSpPr>
          <p:nvPr/>
        </p:nvSpPr>
        <p:spPr bwMode="auto">
          <a:xfrm>
            <a:off x="6749752" y="3124944"/>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97</a:t>
            </a:r>
          </a:p>
        </p:txBody>
      </p:sp>
      <p:sp>
        <p:nvSpPr>
          <p:cNvPr id="20487" name="Rectangle 8"/>
          <p:cNvSpPr>
            <a:spLocks noChangeArrowheads="1"/>
          </p:cNvSpPr>
          <p:nvPr/>
        </p:nvSpPr>
        <p:spPr bwMode="auto">
          <a:xfrm>
            <a:off x="737840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20488" name="Rectangle 9"/>
          <p:cNvSpPr>
            <a:spLocks noChangeArrowheads="1"/>
          </p:cNvSpPr>
          <p:nvPr/>
        </p:nvSpPr>
        <p:spPr bwMode="auto">
          <a:xfrm>
            <a:off x="8007052" y="3124944"/>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20489" name="Rectangle 10"/>
          <p:cNvSpPr>
            <a:spLocks noChangeArrowheads="1"/>
          </p:cNvSpPr>
          <p:nvPr/>
        </p:nvSpPr>
        <p:spPr bwMode="auto">
          <a:xfrm>
            <a:off x="36255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20490" name="Rectangle 11"/>
          <p:cNvSpPr>
            <a:spLocks noChangeArrowheads="1"/>
          </p:cNvSpPr>
          <p:nvPr/>
        </p:nvSpPr>
        <p:spPr bwMode="auto">
          <a:xfrm>
            <a:off x="42542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20491" name="Rectangle 12"/>
          <p:cNvSpPr>
            <a:spLocks noChangeArrowheads="1"/>
          </p:cNvSpPr>
          <p:nvPr/>
        </p:nvSpPr>
        <p:spPr bwMode="auto">
          <a:xfrm>
            <a:off x="48638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20492" name="Rectangle 13"/>
          <p:cNvSpPr>
            <a:spLocks noChangeArrowheads="1"/>
          </p:cNvSpPr>
          <p:nvPr/>
        </p:nvSpPr>
        <p:spPr bwMode="auto">
          <a:xfrm>
            <a:off x="54924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20493" name="Rectangle 14"/>
          <p:cNvSpPr>
            <a:spLocks noChangeArrowheads="1"/>
          </p:cNvSpPr>
          <p:nvPr/>
        </p:nvSpPr>
        <p:spPr bwMode="auto">
          <a:xfrm>
            <a:off x="61211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20494" name="Rectangle 15"/>
          <p:cNvSpPr>
            <a:spLocks noChangeArrowheads="1"/>
          </p:cNvSpPr>
          <p:nvPr/>
        </p:nvSpPr>
        <p:spPr bwMode="auto">
          <a:xfrm>
            <a:off x="67497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20495" name="Rectangle 16"/>
          <p:cNvSpPr>
            <a:spLocks noChangeArrowheads="1"/>
          </p:cNvSpPr>
          <p:nvPr/>
        </p:nvSpPr>
        <p:spPr bwMode="auto">
          <a:xfrm>
            <a:off x="737840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20496" name="Rectangle 17"/>
          <p:cNvSpPr>
            <a:spLocks noChangeArrowheads="1"/>
          </p:cNvSpPr>
          <p:nvPr/>
        </p:nvSpPr>
        <p:spPr bwMode="auto">
          <a:xfrm>
            <a:off x="8007052" y="2743944"/>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20497" name="Rectangle 18"/>
          <p:cNvSpPr>
            <a:spLocks noChangeArrowheads="1"/>
          </p:cNvSpPr>
          <p:nvPr/>
        </p:nvSpPr>
        <p:spPr bwMode="auto">
          <a:xfrm>
            <a:off x="3625552" y="3128119"/>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dirty="0">
                <a:solidFill>
                  <a:srgbClr val="FF0000"/>
                </a:solidFill>
                <a:latin typeface="Times New Roman" pitchFamily="18" charset="0"/>
              </a:rPr>
              <a:t>04</a:t>
            </a:r>
          </a:p>
        </p:txBody>
      </p:sp>
      <p:sp>
        <p:nvSpPr>
          <p:cNvPr id="20498" name="Rectangle 19"/>
          <p:cNvSpPr>
            <a:spLocks noChangeArrowheads="1"/>
          </p:cNvSpPr>
          <p:nvPr/>
        </p:nvSpPr>
        <p:spPr bwMode="auto">
          <a:xfrm>
            <a:off x="8635702" y="3128119"/>
            <a:ext cx="628650" cy="685800"/>
          </a:xfrm>
          <a:prstGeom prst="rect">
            <a:avLst/>
          </a:prstGeom>
          <a:no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dirty="0">
                <a:solidFill>
                  <a:schemeClr val="folHlink"/>
                </a:solidFill>
                <a:latin typeface="Times New Roman" pitchFamily="18" charset="0"/>
              </a:rPr>
              <a:t>65</a:t>
            </a:r>
          </a:p>
        </p:txBody>
      </p:sp>
      <p:sp>
        <p:nvSpPr>
          <p:cNvPr id="20499" name="Rectangle 20"/>
          <p:cNvSpPr>
            <a:spLocks noChangeArrowheads="1"/>
          </p:cNvSpPr>
          <p:nvPr/>
        </p:nvSpPr>
        <p:spPr bwMode="auto">
          <a:xfrm>
            <a:off x="8616652" y="2747119"/>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453668" name="Group 36"/>
          <p:cNvGrpSpPr>
            <a:grpSpLocks/>
          </p:cNvGrpSpPr>
          <p:nvPr/>
        </p:nvGrpSpPr>
        <p:grpSpPr bwMode="auto">
          <a:xfrm>
            <a:off x="2253952" y="3109070"/>
            <a:ext cx="1066800" cy="1082675"/>
            <a:chOff x="192" y="1440"/>
            <a:chExt cx="672" cy="682"/>
          </a:xfrm>
        </p:grpSpPr>
        <p:sp>
          <p:nvSpPr>
            <p:cNvPr id="20509" name="Rectangle 34"/>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510" name="Text Box 35"/>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453669" name="Line 37"/>
          <p:cNvSpPr>
            <a:spLocks noChangeShapeType="1"/>
          </p:cNvSpPr>
          <p:nvPr/>
        </p:nvSpPr>
        <p:spPr bwMode="auto">
          <a:xfrm flipV="1">
            <a:off x="6320408" y="38869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0" name="Line 38"/>
          <p:cNvSpPr>
            <a:spLocks noChangeShapeType="1"/>
          </p:cNvSpPr>
          <p:nvPr/>
        </p:nvSpPr>
        <p:spPr bwMode="auto">
          <a:xfrm flipV="1">
            <a:off x="6438528" y="3810744"/>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1" name="Text Box 39"/>
          <p:cNvSpPr txBox="1">
            <a:spLocks noChangeArrowheads="1"/>
          </p:cNvSpPr>
          <p:nvPr/>
        </p:nvSpPr>
        <p:spPr bwMode="auto">
          <a:xfrm>
            <a:off x="6168008" y="4328270"/>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i</a:t>
            </a:r>
          </a:p>
        </p:txBody>
      </p:sp>
      <p:sp>
        <p:nvSpPr>
          <p:cNvPr id="453672" name="Text Box 40"/>
          <p:cNvSpPr txBox="1">
            <a:spLocks noChangeArrowheads="1"/>
          </p:cNvSpPr>
          <p:nvPr/>
        </p:nvSpPr>
        <p:spPr bwMode="auto">
          <a:xfrm>
            <a:off x="6286128" y="4267945"/>
            <a:ext cx="304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j</a:t>
            </a:r>
          </a:p>
        </p:txBody>
      </p:sp>
      <p:sp>
        <p:nvSpPr>
          <p:cNvPr id="453673" name="Line 41"/>
          <p:cNvSpPr>
            <a:spLocks noChangeShapeType="1"/>
          </p:cNvSpPr>
          <p:nvPr/>
        </p:nvSpPr>
        <p:spPr bwMode="auto">
          <a:xfrm>
            <a:off x="6549008" y="44965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453674" name="Line 42"/>
          <p:cNvSpPr>
            <a:spLocks noChangeShapeType="1"/>
          </p:cNvSpPr>
          <p:nvPr/>
        </p:nvSpPr>
        <p:spPr bwMode="auto">
          <a:xfrm flipH="1">
            <a:off x="5447928" y="4420344"/>
            <a:ext cx="762000" cy="0"/>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38" name="Rectangle 48"/>
          <p:cNvSpPr>
            <a:spLocks noChangeArrowheads="1"/>
          </p:cNvSpPr>
          <p:nvPr/>
        </p:nvSpPr>
        <p:spPr bwMode="auto">
          <a:xfrm>
            <a:off x="2400336" y="3103240"/>
            <a:ext cx="762000" cy="685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spcBef>
                <a:spcPct val="0"/>
              </a:spcBef>
              <a:buFontTx/>
              <a:buNone/>
            </a:pPr>
            <a:r>
              <a:rPr kumimoji="1" lang="en-US" altLang="zh-CN" sz="3200" dirty="0">
                <a:solidFill>
                  <a:schemeClr val="folHlink"/>
                </a:solidFill>
                <a:latin typeface="Times New Roman" pitchFamily="18" charset="0"/>
              </a:rPr>
              <a:t>49</a:t>
            </a:r>
          </a:p>
        </p:txBody>
      </p:sp>
      <p:sp>
        <p:nvSpPr>
          <p:cNvPr id="39"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a:latin typeface="微软雅黑" pitchFamily="34" charset="-122"/>
                <a:ea typeface="微软雅黑" pitchFamily="34" charset="-122"/>
                <a:cs typeface="经典粗黑简" pitchFamily="49" charset="-122"/>
              </a:rPr>
              <a:t>快速排序中的一趟划分</a:t>
            </a:r>
            <a:endParaRPr kumimoji="1" lang="zh-CN" altLang="en-US" sz="2400" dirty="0">
              <a:latin typeface="微软雅黑" pitchFamily="34" charset="-122"/>
              <a:ea typeface="微软雅黑" pitchFamily="34" charset="-122"/>
              <a:cs typeface="经典粗黑简" pitchFamily="49" charset="-122"/>
            </a:endParaRPr>
          </a:p>
        </p:txBody>
      </p:sp>
      <p:sp>
        <p:nvSpPr>
          <p:cNvPr id="40" name="Text Box 57"/>
          <p:cNvSpPr txBox="1">
            <a:spLocks noChangeArrowheads="1"/>
          </p:cNvSpPr>
          <p:nvPr/>
        </p:nvSpPr>
        <p:spPr bwMode="auto">
          <a:xfrm>
            <a:off x="3048190" y="5013177"/>
            <a:ext cx="655320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dirty="0">
                <a:latin typeface="Tahoma" pitchFamily="34" charset="0"/>
              </a:rPr>
              <a:t>当</a:t>
            </a:r>
            <a:r>
              <a:rPr kumimoji="1" lang="en-US" altLang="zh-CN" dirty="0">
                <a:latin typeface="Tahoma" pitchFamily="34" charset="0"/>
              </a:rPr>
              <a:t>i</a:t>
            </a:r>
            <a:r>
              <a:rPr kumimoji="1" lang="zh-CN" altLang="en-US" dirty="0">
                <a:latin typeface="Tahoma" pitchFamily="34" charset="0"/>
              </a:rPr>
              <a:t>与</a:t>
            </a:r>
            <a:r>
              <a:rPr kumimoji="1" lang="en-US" altLang="zh-CN" dirty="0">
                <a:latin typeface="Tahoma" pitchFamily="34" charset="0"/>
              </a:rPr>
              <a:t>j</a:t>
            </a:r>
            <a:r>
              <a:rPr kumimoji="1" lang="zh-CN" altLang="en-US" dirty="0">
                <a:latin typeface="Tahoma" pitchFamily="34" charset="0"/>
              </a:rPr>
              <a:t>相等时，枢轴元素确定了位置</a:t>
            </a:r>
            <a:r>
              <a:rPr kumimoji="1" lang="en-US" altLang="zh-CN" dirty="0">
                <a:latin typeface="Tahoma" pitchFamily="34" charset="0"/>
              </a:rPr>
              <a:t>i</a:t>
            </a:r>
            <a:r>
              <a:rPr kumimoji="1" lang="zh-CN" altLang="en-US" dirty="0">
                <a:latin typeface="Tahoma" pitchFamily="34" charset="0"/>
              </a:rPr>
              <a:t>，结束本次划分</a:t>
            </a:r>
          </a:p>
        </p:txBody>
      </p:sp>
      <p:sp>
        <p:nvSpPr>
          <p:cNvPr id="2" name="矩形 1">
            <a:extLst>
              <a:ext uri="{FF2B5EF4-FFF2-40B4-BE49-F238E27FC236}">
                <a16:creationId xmlns:a16="http://schemas.microsoft.com/office/drawing/2014/main" id="{78E20D75-204C-9D16-CA93-39C6C71EB91F}"/>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32DEAEAE-8FFE-2D88-F851-95A8D604576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CBA2D2D-C3EA-73A4-0245-6977C70F0B0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67601057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3886200" y="3192487"/>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38</a:t>
            </a:r>
          </a:p>
        </p:txBody>
      </p:sp>
      <p:sp>
        <p:nvSpPr>
          <p:cNvPr id="30723" name="Rectangle 3"/>
          <p:cNvSpPr>
            <a:spLocks noChangeArrowheads="1"/>
          </p:cNvSpPr>
          <p:nvPr/>
        </p:nvSpPr>
        <p:spPr bwMode="auto">
          <a:xfrm>
            <a:off x="4514850" y="318931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30724" name="Rectangle 4"/>
          <p:cNvSpPr>
            <a:spLocks noChangeArrowheads="1"/>
          </p:cNvSpPr>
          <p:nvPr/>
        </p:nvSpPr>
        <p:spPr bwMode="auto">
          <a:xfrm>
            <a:off x="5143500" y="318931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30725" name="Rectangle 5"/>
          <p:cNvSpPr>
            <a:spLocks noChangeArrowheads="1"/>
          </p:cNvSpPr>
          <p:nvPr/>
        </p:nvSpPr>
        <p:spPr bwMode="auto">
          <a:xfrm>
            <a:off x="5772150" y="318931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30726" name="Rectangle 6"/>
          <p:cNvSpPr>
            <a:spLocks noChangeArrowheads="1"/>
          </p:cNvSpPr>
          <p:nvPr/>
        </p:nvSpPr>
        <p:spPr bwMode="auto">
          <a:xfrm>
            <a:off x="6400800" y="318931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30727" name="Rectangle 7"/>
          <p:cNvSpPr>
            <a:spLocks noChangeArrowheads="1"/>
          </p:cNvSpPr>
          <p:nvPr/>
        </p:nvSpPr>
        <p:spPr bwMode="auto">
          <a:xfrm>
            <a:off x="7029450" y="318931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30728" name="Rectangle 8"/>
          <p:cNvSpPr>
            <a:spLocks noChangeArrowheads="1"/>
          </p:cNvSpPr>
          <p:nvPr/>
        </p:nvSpPr>
        <p:spPr bwMode="auto">
          <a:xfrm>
            <a:off x="7658100" y="318931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30729" name="Rectangle 9"/>
          <p:cNvSpPr>
            <a:spLocks noChangeArrowheads="1"/>
          </p:cNvSpPr>
          <p:nvPr/>
        </p:nvSpPr>
        <p:spPr bwMode="auto">
          <a:xfrm>
            <a:off x="327660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30730" name="Rectangle 10"/>
          <p:cNvSpPr>
            <a:spLocks noChangeArrowheads="1"/>
          </p:cNvSpPr>
          <p:nvPr/>
        </p:nvSpPr>
        <p:spPr bwMode="auto">
          <a:xfrm>
            <a:off x="390525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30731" name="Rectangle 11"/>
          <p:cNvSpPr>
            <a:spLocks noChangeArrowheads="1"/>
          </p:cNvSpPr>
          <p:nvPr/>
        </p:nvSpPr>
        <p:spPr bwMode="auto">
          <a:xfrm>
            <a:off x="451485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30732" name="Rectangle 12"/>
          <p:cNvSpPr>
            <a:spLocks noChangeArrowheads="1"/>
          </p:cNvSpPr>
          <p:nvPr/>
        </p:nvSpPr>
        <p:spPr bwMode="auto">
          <a:xfrm>
            <a:off x="514350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30733" name="Rectangle 13"/>
          <p:cNvSpPr>
            <a:spLocks noChangeArrowheads="1"/>
          </p:cNvSpPr>
          <p:nvPr/>
        </p:nvSpPr>
        <p:spPr bwMode="auto">
          <a:xfrm>
            <a:off x="577215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30734" name="Rectangle 14"/>
          <p:cNvSpPr>
            <a:spLocks noChangeArrowheads="1"/>
          </p:cNvSpPr>
          <p:nvPr/>
        </p:nvSpPr>
        <p:spPr bwMode="auto">
          <a:xfrm>
            <a:off x="640080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30735" name="Rectangle 15"/>
          <p:cNvSpPr>
            <a:spLocks noChangeArrowheads="1"/>
          </p:cNvSpPr>
          <p:nvPr/>
        </p:nvSpPr>
        <p:spPr bwMode="auto">
          <a:xfrm>
            <a:off x="702945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30736" name="Rectangle 16"/>
          <p:cNvSpPr>
            <a:spLocks noChangeArrowheads="1"/>
          </p:cNvSpPr>
          <p:nvPr/>
        </p:nvSpPr>
        <p:spPr bwMode="auto">
          <a:xfrm>
            <a:off x="7658100" y="280831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30737" name="Rectangle 17"/>
          <p:cNvSpPr>
            <a:spLocks noChangeArrowheads="1"/>
          </p:cNvSpPr>
          <p:nvPr/>
        </p:nvSpPr>
        <p:spPr bwMode="auto">
          <a:xfrm>
            <a:off x="3276600" y="3192487"/>
            <a:ext cx="62865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30738" name="Rectangle 18"/>
          <p:cNvSpPr>
            <a:spLocks noChangeArrowheads="1"/>
          </p:cNvSpPr>
          <p:nvPr/>
        </p:nvSpPr>
        <p:spPr bwMode="auto">
          <a:xfrm>
            <a:off x="8286750" y="3192487"/>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04</a:t>
            </a:r>
          </a:p>
        </p:txBody>
      </p:sp>
      <p:sp>
        <p:nvSpPr>
          <p:cNvPr id="30739" name="Rectangle 19"/>
          <p:cNvSpPr>
            <a:spLocks noChangeArrowheads="1"/>
          </p:cNvSpPr>
          <p:nvPr/>
        </p:nvSpPr>
        <p:spPr bwMode="auto">
          <a:xfrm>
            <a:off x="8267700" y="2811487"/>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nvGrpSpPr>
          <p:cNvPr id="30740" name="Group 20"/>
          <p:cNvGrpSpPr>
            <a:grpSpLocks/>
          </p:cNvGrpSpPr>
          <p:nvPr/>
        </p:nvGrpSpPr>
        <p:grpSpPr bwMode="auto">
          <a:xfrm>
            <a:off x="2057400" y="3173438"/>
            <a:ext cx="1066800" cy="1082675"/>
            <a:chOff x="192" y="1440"/>
            <a:chExt cx="672" cy="682"/>
          </a:xfrm>
        </p:grpSpPr>
        <p:sp>
          <p:nvSpPr>
            <p:cNvPr id="30763" name="Rectangle 21"/>
            <p:cNvSpPr>
              <a:spLocks noChangeArrowheads="1"/>
            </p:cNvSpPr>
            <p:nvPr/>
          </p:nvSpPr>
          <p:spPr bwMode="auto">
            <a:xfrm>
              <a:off x="288" y="1440"/>
              <a:ext cx="480" cy="4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0764" name="Text Box 22"/>
            <p:cNvSpPr txBox="1">
              <a:spLocks noChangeArrowheads="1"/>
            </p:cNvSpPr>
            <p:nvPr/>
          </p:nvSpPr>
          <p:spPr bwMode="auto">
            <a:xfrm>
              <a:off x="192" y="1872"/>
              <a:ext cx="672"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a:latin typeface="Tahoma" pitchFamily="34" charset="0"/>
                </a:rPr>
                <a:t>pivot</a:t>
              </a:r>
            </a:p>
          </p:txBody>
        </p:sp>
      </p:grpSp>
      <p:sp>
        <p:nvSpPr>
          <p:cNvPr id="30742" name="Rectangle 30"/>
          <p:cNvSpPr>
            <a:spLocks noChangeArrowheads="1"/>
          </p:cNvSpPr>
          <p:nvPr/>
        </p:nvSpPr>
        <p:spPr bwMode="auto">
          <a:xfrm>
            <a:off x="3911600" y="5181327"/>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38</a:t>
            </a:r>
          </a:p>
        </p:txBody>
      </p:sp>
      <p:sp>
        <p:nvSpPr>
          <p:cNvPr id="30743" name="Rectangle 31"/>
          <p:cNvSpPr>
            <a:spLocks noChangeArrowheads="1"/>
          </p:cNvSpPr>
          <p:nvPr/>
        </p:nvSpPr>
        <p:spPr bwMode="auto">
          <a:xfrm>
            <a:off x="4540250" y="517815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27</a:t>
            </a:r>
          </a:p>
        </p:txBody>
      </p:sp>
      <p:sp>
        <p:nvSpPr>
          <p:cNvPr id="30744" name="Rectangle 32"/>
          <p:cNvSpPr>
            <a:spLocks noChangeArrowheads="1"/>
          </p:cNvSpPr>
          <p:nvPr/>
        </p:nvSpPr>
        <p:spPr bwMode="auto">
          <a:xfrm>
            <a:off x="5168900" y="517815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13</a:t>
            </a:r>
          </a:p>
        </p:txBody>
      </p:sp>
      <p:sp>
        <p:nvSpPr>
          <p:cNvPr id="30745" name="Rectangle 33"/>
          <p:cNvSpPr>
            <a:spLocks noChangeArrowheads="1"/>
          </p:cNvSpPr>
          <p:nvPr/>
        </p:nvSpPr>
        <p:spPr bwMode="auto">
          <a:xfrm>
            <a:off x="5797550" y="5178152"/>
            <a:ext cx="628650" cy="685800"/>
          </a:xfrm>
          <a:prstGeom prst="rect">
            <a:avLst/>
          </a:prstGeom>
          <a:solidFill>
            <a:srgbClr val="FFFF00"/>
          </a:solidFill>
          <a:ln w="9525">
            <a:solidFill>
              <a:schemeClr val="tx1"/>
            </a:solidFill>
            <a:miter lim="800000"/>
            <a:headEnd/>
            <a:tailEnd/>
          </a:ln>
          <a:effec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30746" name="Rectangle 34"/>
          <p:cNvSpPr>
            <a:spLocks noChangeArrowheads="1"/>
          </p:cNvSpPr>
          <p:nvPr/>
        </p:nvSpPr>
        <p:spPr bwMode="auto">
          <a:xfrm>
            <a:off x="6426200" y="517815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30747" name="Rectangle 35"/>
          <p:cNvSpPr>
            <a:spLocks noChangeArrowheads="1"/>
          </p:cNvSpPr>
          <p:nvPr/>
        </p:nvSpPr>
        <p:spPr bwMode="auto">
          <a:xfrm>
            <a:off x="7054850" y="517815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30748" name="Rectangle 36"/>
          <p:cNvSpPr>
            <a:spLocks noChangeArrowheads="1"/>
          </p:cNvSpPr>
          <p:nvPr/>
        </p:nvSpPr>
        <p:spPr bwMode="auto">
          <a:xfrm>
            <a:off x="7683500" y="5178152"/>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30749" name="Rectangle 37"/>
          <p:cNvSpPr>
            <a:spLocks noChangeArrowheads="1"/>
          </p:cNvSpPr>
          <p:nvPr/>
        </p:nvSpPr>
        <p:spPr bwMode="auto">
          <a:xfrm>
            <a:off x="330200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30750" name="Rectangle 38"/>
          <p:cNvSpPr>
            <a:spLocks noChangeArrowheads="1"/>
          </p:cNvSpPr>
          <p:nvPr/>
        </p:nvSpPr>
        <p:spPr bwMode="auto">
          <a:xfrm>
            <a:off x="393065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30751" name="Rectangle 39"/>
          <p:cNvSpPr>
            <a:spLocks noChangeArrowheads="1"/>
          </p:cNvSpPr>
          <p:nvPr/>
        </p:nvSpPr>
        <p:spPr bwMode="auto">
          <a:xfrm>
            <a:off x="454025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30752" name="Rectangle 40"/>
          <p:cNvSpPr>
            <a:spLocks noChangeArrowheads="1"/>
          </p:cNvSpPr>
          <p:nvPr/>
        </p:nvSpPr>
        <p:spPr bwMode="auto">
          <a:xfrm>
            <a:off x="516890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30753" name="Rectangle 41"/>
          <p:cNvSpPr>
            <a:spLocks noChangeArrowheads="1"/>
          </p:cNvSpPr>
          <p:nvPr/>
        </p:nvSpPr>
        <p:spPr bwMode="auto">
          <a:xfrm>
            <a:off x="579755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30754" name="Rectangle 42"/>
          <p:cNvSpPr>
            <a:spLocks noChangeArrowheads="1"/>
          </p:cNvSpPr>
          <p:nvPr/>
        </p:nvSpPr>
        <p:spPr bwMode="auto">
          <a:xfrm>
            <a:off x="642620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30755" name="Rectangle 43"/>
          <p:cNvSpPr>
            <a:spLocks noChangeArrowheads="1"/>
          </p:cNvSpPr>
          <p:nvPr/>
        </p:nvSpPr>
        <p:spPr bwMode="auto">
          <a:xfrm>
            <a:off x="705485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30756" name="Rectangle 44"/>
          <p:cNvSpPr>
            <a:spLocks noChangeArrowheads="1"/>
          </p:cNvSpPr>
          <p:nvPr/>
        </p:nvSpPr>
        <p:spPr bwMode="auto">
          <a:xfrm>
            <a:off x="7683500" y="479715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30757" name="Rectangle 45"/>
          <p:cNvSpPr>
            <a:spLocks noChangeArrowheads="1"/>
          </p:cNvSpPr>
          <p:nvPr/>
        </p:nvSpPr>
        <p:spPr bwMode="auto">
          <a:xfrm>
            <a:off x="3276600" y="5181327"/>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04</a:t>
            </a:r>
          </a:p>
        </p:txBody>
      </p:sp>
      <p:sp>
        <p:nvSpPr>
          <p:cNvPr id="30758" name="Rectangle 46"/>
          <p:cNvSpPr>
            <a:spLocks noChangeArrowheads="1"/>
          </p:cNvSpPr>
          <p:nvPr/>
        </p:nvSpPr>
        <p:spPr bwMode="auto">
          <a:xfrm>
            <a:off x="8312150" y="5181327"/>
            <a:ext cx="6286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30759" name="Rectangle 47"/>
          <p:cNvSpPr>
            <a:spLocks noChangeArrowheads="1"/>
          </p:cNvSpPr>
          <p:nvPr/>
        </p:nvSpPr>
        <p:spPr bwMode="auto">
          <a:xfrm>
            <a:off x="8293100" y="4800327"/>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sp>
        <p:nvSpPr>
          <p:cNvPr id="30760" name="AutoShape 48"/>
          <p:cNvSpPr>
            <a:spLocks noChangeArrowheads="1"/>
          </p:cNvSpPr>
          <p:nvPr/>
        </p:nvSpPr>
        <p:spPr bwMode="auto">
          <a:xfrm>
            <a:off x="5715000" y="3951312"/>
            <a:ext cx="304800" cy="917848"/>
          </a:xfrm>
          <a:prstGeom prst="downArrow">
            <a:avLst>
              <a:gd name="adj1" fmla="val 50000"/>
              <a:gd name="adj2" fmla="val 875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0761" name="Text Box 49"/>
          <p:cNvSpPr txBox="1">
            <a:spLocks noChangeArrowheads="1"/>
          </p:cNvSpPr>
          <p:nvPr/>
        </p:nvSpPr>
        <p:spPr bwMode="auto">
          <a:xfrm>
            <a:off x="6019800" y="4140372"/>
            <a:ext cx="1219200" cy="43088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2200" b="0" dirty="0">
                <a:latin typeface="微软雅黑" pitchFamily="34" charset="-122"/>
                <a:ea typeface="微软雅黑" pitchFamily="34" charset="-122"/>
                <a:cs typeface="经典粗黑简" pitchFamily="49" charset="-122"/>
              </a:rPr>
              <a:t>一次划分</a:t>
            </a:r>
          </a:p>
        </p:txBody>
      </p:sp>
      <p:sp>
        <p:nvSpPr>
          <p:cNvPr id="52" name="Rectangle 43"/>
          <p:cNvSpPr txBox="1">
            <a:spLocks noChangeArrowheads="1"/>
          </p:cNvSpPr>
          <p:nvPr/>
        </p:nvSpPr>
        <p:spPr bwMode="auto">
          <a:xfrm>
            <a:off x="2293640" y="2251720"/>
            <a:ext cx="2999185" cy="43204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快速排序中的一趟划分</a:t>
            </a:r>
          </a:p>
        </p:txBody>
      </p:sp>
      <p:sp>
        <p:nvSpPr>
          <p:cNvPr id="2" name="矩形 1">
            <a:extLst>
              <a:ext uri="{FF2B5EF4-FFF2-40B4-BE49-F238E27FC236}">
                <a16:creationId xmlns:a16="http://schemas.microsoft.com/office/drawing/2014/main" id="{B003A1D9-7EF3-439F-7709-20AD707C4F61}"/>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6C309519-5642-A93E-B047-F7F23776B35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542903A-79A3-807A-4BD9-C0C84530E3D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63411483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3" name="Group 23"/>
          <p:cNvGrpSpPr>
            <a:grpSpLocks/>
          </p:cNvGrpSpPr>
          <p:nvPr/>
        </p:nvGrpSpPr>
        <p:grpSpPr bwMode="auto">
          <a:xfrm>
            <a:off x="3276600" y="1503785"/>
            <a:ext cx="5638800" cy="841375"/>
            <a:chOff x="1104" y="720"/>
            <a:chExt cx="3552" cy="530"/>
          </a:xfrm>
        </p:grpSpPr>
        <p:sp>
          <p:nvSpPr>
            <p:cNvPr id="51265" name="Rectangle 5"/>
            <p:cNvSpPr>
              <a:spLocks noChangeArrowheads="1"/>
            </p:cNvSpPr>
            <p:nvPr/>
          </p:nvSpPr>
          <p:spPr bwMode="auto">
            <a:xfrm>
              <a:off x="1488" y="962"/>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38</a:t>
              </a:r>
            </a:p>
          </p:txBody>
        </p:sp>
        <p:sp>
          <p:nvSpPr>
            <p:cNvPr id="51266" name="Rectangle 6"/>
            <p:cNvSpPr>
              <a:spLocks noChangeArrowheads="1"/>
            </p:cNvSpPr>
            <p:nvPr/>
          </p:nvSpPr>
          <p:spPr bwMode="auto">
            <a:xfrm>
              <a:off x="1884" y="960"/>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51267" name="Rectangle 7"/>
            <p:cNvSpPr>
              <a:spLocks noChangeArrowheads="1"/>
            </p:cNvSpPr>
            <p:nvPr/>
          </p:nvSpPr>
          <p:spPr bwMode="auto">
            <a:xfrm>
              <a:off x="2280" y="960"/>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51268" name="Rectangle 8"/>
            <p:cNvSpPr>
              <a:spLocks noChangeArrowheads="1"/>
            </p:cNvSpPr>
            <p:nvPr/>
          </p:nvSpPr>
          <p:spPr bwMode="auto">
            <a:xfrm>
              <a:off x="2676" y="960"/>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13</a:t>
              </a:r>
            </a:p>
          </p:txBody>
        </p:sp>
        <p:sp>
          <p:nvSpPr>
            <p:cNvPr id="51269" name="Rectangle 9"/>
            <p:cNvSpPr>
              <a:spLocks noChangeArrowheads="1"/>
            </p:cNvSpPr>
            <p:nvPr/>
          </p:nvSpPr>
          <p:spPr bwMode="auto">
            <a:xfrm>
              <a:off x="3072" y="960"/>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27</a:t>
              </a:r>
            </a:p>
          </p:txBody>
        </p:sp>
        <p:sp>
          <p:nvSpPr>
            <p:cNvPr id="51270" name="Rectangle 10"/>
            <p:cNvSpPr>
              <a:spLocks noChangeArrowheads="1"/>
            </p:cNvSpPr>
            <p:nvPr/>
          </p:nvSpPr>
          <p:spPr bwMode="auto">
            <a:xfrm>
              <a:off x="3468" y="960"/>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51271" name="Rectangle 11"/>
            <p:cNvSpPr>
              <a:spLocks noChangeArrowheads="1"/>
            </p:cNvSpPr>
            <p:nvPr/>
          </p:nvSpPr>
          <p:spPr bwMode="auto">
            <a:xfrm>
              <a:off x="3864" y="960"/>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51272" name="Rectangle 12"/>
            <p:cNvSpPr>
              <a:spLocks noChangeArrowheads="1"/>
            </p:cNvSpPr>
            <p:nvPr/>
          </p:nvSpPr>
          <p:spPr bwMode="auto">
            <a:xfrm>
              <a:off x="110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51273" name="Rectangle 13"/>
            <p:cNvSpPr>
              <a:spLocks noChangeArrowheads="1"/>
            </p:cNvSpPr>
            <p:nvPr/>
          </p:nvSpPr>
          <p:spPr bwMode="auto">
            <a:xfrm>
              <a:off x="1500"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51274" name="Rectangle 14"/>
            <p:cNvSpPr>
              <a:spLocks noChangeArrowheads="1"/>
            </p:cNvSpPr>
            <p:nvPr/>
          </p:nvSpPr>
          <p:spPr bwMode="auto">
            <a:xfrm>
              <a:off x="188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51275" name="Rectangle 15"/>
            <p:cNvSpPr>
              <a:spLocks noChangeArrowheads="1"/>
            </p:cNvSpPr>
            <p:nvPr/>
          </p:nvSpPr>
          <p:spPr bwMode="auto">
            <a:xfrm>
              <a:off x="2280"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51276" name="Rectangle 16"/>
            <p:cNvSpPr>
              <a:spLocks noChangeArrowheads="1"/>
            </p:cNvSpPr>
            <p:nvPr/>
          </p:nvSpPr>
          <p:spPr bwMode="auto">
            <a:xfrm>
              <a:off x="2676"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51277" name="Rectangle 17"/>
            <p:cNvSpPr>
              <a:spLocks noChangeArrowheads="1"/>
            </p:cNvSpPr>
            <p:nvPr/>
          </p:nvSpPr>
          <p:spPr bwMode="auto">
            <a:xfrm>
              <a:off x="3072"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51278" name="Rectangle 18"/>
            <p:cNvSpPr>
              <a:spLocks noChangeArrowheads="1"/>
            </p:cNvSpPr>
            <p:nvPr/>
          </p:nvSpPr>
          <p:spPr bwMode="auto">
            <a:xfrm>
              <a:off x="3468"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51279" name="Rectangle 19"/>
            <p:cNvSpPr>
              <a:spLocks noChangeArrowheads="1"/>
            </p:cNvSpPr>
            <p:nvPr/>
          </p:nvSpPr>
          <p:spPr bwMode="auto">
            <a:xfrm>
              <a:off x="3864" y="720"/>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sp>
          <p:nvSpPr>
            <p:cNvPr id="51280" name="Rectangle 20"/>
            <p:cNvSpPr>
              <a:spLocks noChangeArrowheads="1"/>
            </p:cNvSpPr>
            <p:nvPr/>
          </p:nvSpPr>
          <p:spPr bwMode="auto">
            <a:xfrm>
              <a:off x="1104" y="962"/>
              <a:ext cx="396"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51281" name="Rectangle 21"/>
            <p:cNvSpPr>
              <a:spLocks noChangeArrowheads="1"/>
            </p:cNvSpPr>
            <p:nvPr/>
          </p:nvSpPr>
          <p:spPr bwMode="auto">
            <a:xfrm>
              <a:off x="4260" y="962"/>
              <a:ext cx="396"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04</a:t>
              </a:r>
            </a:p>
          </p:txBody>
        </p:sp>
        <p:sp>
          <p:nvSpPr>
            <p:cNvPr id="51282" name="Rectangle 22"/>
            <p:cNvSpPr>
              <a:spLocks noChangeArrowheads="1"/>
            </p:cNvSpPr>
            <p:nvPr/>
          </p:nvSpPr>
          <p:spPr bwMode="auto">
            <a:xfrm>
              <a:off x="4248" y="722"/>
              <a:ext cx="39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a:t>
              </a:r>
            </a:p>
          </p:txBody>
        </p:sp>
      </p:grpSp>
      <p:grpSp>
        <p:nvGrpSpPr>
          <p:cNvPr id="657494" name="Group 86"/>
          <p:cNvGrpSpPr>
            <a:grpSpLocks/>
          </p:cNvGrpSpPr>
          <p:nvPr/>
        </p:nvGrpSpPr>
        <p:grpSpPr bwMode="auto">
          <a:xfrm>
            <a:off x="5876925" y="2305658"/>
            <a:ext cx="838200" cy="400050"/>
            <a:chOff x="2736" y="1231"/>
            <a:chExt cx="528" cy="252"/>
          </a:xfrm>
        </p:grpSpPr>
        <p:sp>
          <p:nvSpPr>
            <p:cNvPr id="51263" name="Line 24"/>
            <p:cNvSpPr>
              <a:spLocks noChangeShapeType="1"/>
            </p:cNvSpPr>
            <p:nvPr/>
          </p:nvSpPr>
          <p:spPr bwMode="auto">
            <a:xfrm>
              <a:off x="2790" y="1256"/>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51264" name="Text Box 25"/>
            <p:cNvSpPr txBox="1">
              <a:spLocks noChangeArrowheads="1"/>
            </p:cNvSpPr>
            <p:nvPr/>
          </p:nvSpPr>
          <p:spPr bwMode="auto">
            <a:xfrm>
              <a:off x="2736" y="1231"/>
              <a:ext cx="528"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划分</a:t>
              </a:r>
            </a:p>
          </p:txBody>
        </p:sp>
      </p:grpSp>
      <p:grpSp>
        <p:nvGrpSpPr>
          <p:cNvPr id="657501" name="Group 93"/>
          <p:cNvGrpSpPr>
            <a:grpSpLocks/>
          </p:cNvGrpSpPr>
          <p:nvPr/>
        </p:nvGrpSpPr>
        <p:grpSpPr bwMode="auto">
          <a:xfrm>
            <a:off x="3251200" y="2709664"/>
            <a:ext cx="5664200" cy="463550"/>
            <a:chOff x="1088" y="1582"/>
            <a:chExt cx="3568" cy="292"/>
          </a:xfrm>
        </p:grpSpPr>
        <p:sp>
          <p:nvSpPr>
            <p:cNvPr id="51254" name="Rectangle 45"/>
            <p:cNvSpPr>
              <a:spLocks noChangeArrowheads="1"/>
            </p:cNvSpPr>
            <p:nvPr/>
          </p:nvSpPr>
          <p:spPr bwMode="auto">
            <a:xfrm>
              <a:off x="1488" y="1584"/>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38</a:t>
              </a:r>
            </a:p>
          </p:txBody>
        </p:sp>
        <p:sp>
          <p:nvSpPr>
            <p:cNvPr id="51255" name="Rectangle 46"/>
            <p:cNvSpPr>
              <a:spLocks noChangeArrowheads="1"/>
            </p:cNvSpPr>
            <p:nvPr/>
          </p:nvSpPr>
          <p:spPr bwMode="auto">
            <a:xfrm>
              <a:off x="1884" y="158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27</a:t>
              </a:r>
            </a:p>
          </p:txBody>
        </p:sp>
        <p:sp>
          <p:nvSpPr>
            <p:cNvPr id="51256" name="Rectangle 47"/>
            <p:cNvSpPr>
              <a:spLocks noChangeArrowheads="1"/>
            </p:cNvSpPr>
            <p:nvPr/>
          </p:nvSpPr>
          <p:spPr bwMode="auto">
            <a:xfrm>
              <a:off x="2280" y="158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13</a:t>
              </a:r>
            </a:p>
          </p:txBody>
        </p:sp>
        <p:sp>
          <p:nvSpPr>
            <p:cNvPr id="51257" name="Rectangle 48"/>
            <p:cNvSpPr>
              <a:spLocks noChangeArrowheads="1"/>
            </p:cNvSpPr>
            <p:nvPr/>
          </p:nvSpPr>
          <p:spPr bwMode="auto">
            <a:xfrm>
              <a:off x="2676" y="1582"/>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49</a:t>
              </a:r>
            </a:p>
          </p:txBody>
        </p:sp>
        <p:sp>
          <p:nvSpPr>
            <p:cNvPr id="51258" name="Rectangle 49"/>
            <p:cNvSpPr>
              <a:spLocks noChangeArrowheads="1"/>
            </p:cNvSpPr>
            <p:nvPr/>
          </p:nvSpPr>
          <p:spPr bwMode="auto">
            <a:xfrm>
              <a:off x="3072" y="158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97</a:t>
              </a:r>
            </a:p>
          </p:txBody>
        </p:sp>
        <p:sp>
          <p:nvSpPr>
            <p:cNvPr id="51259" name="Rectangle 50"/>
            <p:cNvSpPr>
              <a:spLocks noChangeArrowheads="1"/>
            </p:cNvSpPr>
            <p:nvPr/>
          </p:nvSpPr>
          <p:spPr bwMode="auto">
            <a:xfrm>
              <a:off x="3468" y="158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51260" name="Rectangle 51"/>
            <p:cNvSpPr>
              <a:spLocks noChangeArrowheads="1"/>
            </p:cNvSpPr>
            <p:nvPr/>
          </p:nvSpPr>
          <p:spPr bwMode="auto">
            <a:xfrm>
              <a:off x="3864" y="158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51261" name="Rectangle 52"/>
            <p:cNvSpPr>
              <a:spLocks noChangeArrowheads="1"/>
            </p:cNvSpPr>
            <p:nvPr/>
          </p:nvSpPr>
          <p:spPr bwMode="auto">
            <a:xfrm>
              <a:off x="1088" y="1584"/>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04</a:t>
              </a:r>
            </a:p>
          </p:txBody>
        </p:sp>
        <p:sp>
          <p:nvSpPr>
            <p:cNvPr id="51262" name="Rectangle 53"/>
            <p:cNvSpPr>
              <a:spLocks noChangeArrowheads="1"/>
            </p:cNvSpPr>
            <p:nvPr/>
          </p:nvSpPr>
          <p:spPr bwMode="auto">
            <a:xfrm>
              <a:off x="4260" y="1584"/>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grpSp>
      <p:grpSp>
        <p:nvGrpSpPr>
          <p:cNvPr id="657502" name="Group 94"/>
          <p:cNvGrpSpPr>
            <a:grpSpLocks/>
          </p:cNvGrpSpPr>
          <p:nvPr/>
        </p:nvGrpSpPr>
        <p:grpSpPr bwMode="auto">
          <a:xfrm>
            <a:off x="3200400" y="3540695"/>
            <a:ext cx="2520950" cy="463550"/>
            <a:chOff x="1056" y="2208"/>
            <a:chExt cx="1588" cy="292"/>
          </a:xfrm>
        </p:grpSpPr>
        <p:sp>
          <p:nvSpPr>
            <p:cNvPr id="51248" name="Rectangle 56"/>
            <p:cNvSpPr>
              <a:spLocks noChangeArrowheads="1"/>
            </p:cNvSpPr>
            <p:nvPr/>
          </p:nvSpPr>
          <p:spPr bwMode="auto">
            <a:xfrm>
              <a:off x="1456" y="2210"/>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38</a:t>
              </a:r>
            </a:p>
          </p:txBody>
        </p:sp>
        <p:sp>
          <p:nvSpPr>
            <p:cNvPr id="51249" name="Rectangle 57"/>
            <p:cNvSpPr>
              <a:spLocks noChangeArrowheads="1"/>
            </p:cNvSpPr>
            <p:nvPr/>
          </p:nvSpPr>
          <p:spPr bwMode="auto">
            <a:xfrm>
              <a:off x="1852" y="2208"/>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27</a:t>
              </a:r>
            </a:p>
          </p:txBody>
        </p:sp>
        <p:sp>
          <p:nvSpPr>
            <p:cNvPr id="51250" name="Rectangle 58"/>
            <p:cNvSpPr>
              <a:spLocks noChangeArrowheads="1"/>
            </p:cNvSpPr>
            <p:nvPr/>
          </p:nvSpPr>
          <p:spPr bwMode="auto">
            <a:xfrm>
              <a:off x="2248" y="2208"/>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13</a:t>
              </a:r>
            </a:p>
          </p:txBody>
        </p:sp>
        <p:sp>
          <p:nvSpPr>
            <p:cNvPr id="51251" name="Rectangle 59"/>
            <p:cNvSpPr>
              <a:spLocks noChangeArrowheads="1"/>
            </p:cNvSpPr>
            <p:nvPr/>
          </p:nvSpPr>
          <p:spPr bwMode="auto">
            <a:xfrm>
              <a:off x="1056" y="2210"/>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04</a:t>
              </a:r>
            </a:p>
          </p:txBody>
        </p:sp>
      </p:grpSp>
      <p:grpSp>
        <p:nvGrpSpPr>
          <p:cNvPr id="657518" name="Group 110"/>
          <p:cNvGrpSpPr>
            <a:grpSpLocks/>
          </p:cNvGrpSpPr>
          <p:nvPr/>
        </p:nvGrpSpPr>
        <p:grpSpPr bwMode="auto">
          <a:xfrm>
            <a:off x="6400800" y="3540695"/>
            <a:ext cx="2514600" cy="463550"/>
            <a:chOff x="3072" y="2208"/>
            <a:chExt cx="1584" cy="292"/>
          </a:xfrm>
        </p:grpSpPr>
        <p:sp>
          <p:nvSpPr>
            <p:cNvPr id="51242" name="Rectangle 62"/>
            <p:cNvSpPr>
              <a:spLocks noChangeArrowheads="1"/>
            </p:cNvSpPr>
            <p:nvPr/>
          </p:nvSpPr>
          <p:spPr bwMode="auto">
            <a:xfrm>
              <a:off x="4260" y="2208"/>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97</a:t>
              </a:r>
            </a:p>
          </p:txBody>
        </p:sp>
        <p:sp>
          <p:nvSpPr>
            <p:cNvPr id="51243" name="Rectangle 63"/>
            <p:cNvSpPr>
              <a:spLocks noChangeArrowheads="1"/>
            </p:cNvSpPr>
            <p:nvPr/>
          </p:nvSpPr>
          <p:spPr bwMode="auto">
            <a:xfrm>
              <a:off x="3072" y="2208"/>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49*</a:t>
              </a:r>
            </a:p>
          </p:txBody>
        </p:sp>
        <p:sp>
          <p:nvSpPr>
            <p:cNvPr id="51244" name="Rectangle 64"/>
            <p:cNvSpPr>
              <a:spLocks noChangeArrowheads="1"/>
            </p:cNvSpPr>
            <p:nvPr/>
          </p:nvSpPr>
          <p:spPr bwMode="auto">
            <a:xfrm>
              <a:off x="3468" y="2208"/>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51245" name="Rectangle 65"/>
            <p:cNvSpPr>
              <a:spLocks noChangeArrowheads="1"/>
            </p:cNvSpPr>
            <p:nvPr/>
          </p:nvSpPr>
          <p:spPr bwMode="auto">
            <a:xfrm>
              <a:off x="3864" y="2210"/>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grpSp>
      <p:grpSp>
        <p:nvGrpSpPr>
          <p:cNvPr id="657504" name="Group 96"/>
          <p:cNvGrpSpPr>
            <a:grpSpLocks/>
          </p:cNvGrpSpPr>
          <p:nvPr/>
        </p:nvGrpSpPr>
        <p:grpSpPr bwMode="auto">
          <a:xfrm>
            <a:off x="3829050" y="4372198"/>
            <a:ext cx="1885950" cy="463550"/>
            <a:chOff x="1452" y="2832"/>
            <a:chExt cx="1188" cy="292"/>
          </a:xfrm>
        </p:grpSpPr>
        <p:sp>
          <p:nvSpPr>
            <p:cNvPr id="51237" name="Rectangle 68"/>
            <p:cNvSpPr>
              <a:spLocks noChangeArrowheads="1"/>
            </p:cNvSpPr>
            <p:nvPr/>
          </p:nvSpPr>
          <p:spPr bwMode="auto">
            <a:xfrm>
              <a:off x="1452" y="2834"/>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13</a:t>
              </a:r>
            </a:p>
          </p:txBody>
        </p:sp>
        <p:sp>
          <p:nvSpPr>
            <p:cNvPr id="51238" name="Rectangle 69"/>
            <p:cNvSpPr>
              <a:spLocks noChangeArrowheads="1"/>
            </p:cNvSpPr>
            <p:nvPr/>
          </p:nvSpPr>
          <p:spPr bwMode="auto">
            <a:xfrm>
              <a:off x="1848" y="283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27</a:t>
              </a:r>
            </a:p>
          </p:txBody>
        </p:sp>
        <p:sp>
          <p:nvSpPr>
            <p:cNvPr id="51239" name="Rectangle 70"/>
            <p:cNvSpPr>
              <a:spLocks noChangeArrowheads="1"/>
            </p:cNvSpPr>
            <p:nvPr/>
          </p:nvSpPr>
          <p:spPr bwMode="auto">
            <a:xfrm>
              <a:off x="2244" y="2832"/>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38</a:t>
              </a:r>
            </a:p>
          </p:txBody>
        </p:sp>
      </p:grpSp>
      <p:grpSp>
        <p:nvGrpSpPr>
          <p:cNvPr id="657505" name="Group 97"/>
          <p:cNvGrpSpPr>
            <a:grpSpLocks/>
          </p:cNvGrpSpPr>
          <p:nvPr/>
        </p:nvGrpSpPr>
        <p:grpSpPr bwMode="auto">
          <a:xfrm>
            <a:off x="3867150" y="5229944"/>
            <a:ext cx="1238250" cy="463550"/>
            <a:chOff x="1476" y="3454"/>
            <a:chExt cx="780" cy="292"/>
          </a:xfrm>
        </p:grpSpPr>
        <p:sp>
          <p:nvSpPr>
            <p:cNvPr id="51233" name="Rectangle 74"/>
            <p:cNvSpPr>
              <a:spLocks noChangeArrowheads="1"/>
            </p:cNvSpPr>
            <p:nvPr/>
          </p:nvSpPr>
          <p:spPr bwMode="auto">
            <a:xfrm>
              <a:off x="1860" y="3456"/>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rgbClr val="CC3300"/>
                  </a:solidFill>
                  <a:latin typeface="Times New Roman" pitchFamily="18" charset="0"/>
                </a:rPr>
                <a:t>27</a:t>
              </a:r>
            </a:p>
          </p:txBody>
        </p:sp>
        <p:sp>
          <p:nvSpPr>
            <p:cNvPr id="51234" name="Rectangle 75"/>
            <p:cNvSpPr>
              <a:spLocks noChangeArrowheads="1"/>
            </p:cNvSpPr>
            <p:nvPr/>
          </p:nvSpPr>
          <p:spPr bwMode="auto">
            <a:xfrm>
              <a:off x="1476" y="3454"/>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13</a:t>
              </a:r>
            </a:p>
          </p:txBody>
        </p:sp>
      </p:grpSp>
      <p:grpSp>
        <p:nvGrpSpPr>
          <p:cNvPr id="657506" name="Group 98"/>
          <p:cNvGrpSpPr>
            <a:grpSpLocks/>
          </p:cNvGrpSpPr>
          <p:nvPr/>
        </p:nvGrpSpPr>
        <p:grpSpPr bwMode="auto">
          <a:xfrm>
            <a:off x="6477000" y="4365848"/>
            <a:ext cx="1885950" cy="463550"/>
            <a:chOff x="3468" y="2832"/>
            <a:chExt cx="1188" cy="292"/>
          </a:xfrm>
        </p:grpSpPr>
        <p:sp>
          <p:nvSpPr>
            <p:cNvPr id="51228" name="Rectangle 78"/>
            <p:cNvSpPr>
              <a:spLocks noChangeArrowheads="1"/>
            </p:cNvSpPr>
            <p:nvPr/>
          </p:nvSpPr>
          <p:spPr bwMode="auto">
            <a:xfrm>
              <a:off x="3468" y="2832"/>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49*</a:t>
              </a:r>
            </a:p>
          </p:txBody>
        </p:sp>
        <p:sp>
          <p:nvSpPr>
            <p:cNvPr id="51229" name="Rectangle 79"/>
            <p:cNvSpPr>
              <a:spLocks noChangeArrowheads="1"/>
            </p:cNvSpPr>
            <p:nvPr/>
          </p:nvSpPr>
          <p:spPr bwMode="auto">
            <a:xfrm>
              <a:off x="3864" y="2832"/>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55</a:t>
              </a:r>
            </a:p>
          </p:txBody>
        </p:sp>
        <p:sp>
          <p:nvSpPr>
            <p:cNvPr id="51230" name="Rectangle 80"/>
            <p:cNvSpPr>
              <a:spLocks noChangeArrowheads="1"/>
            </p:cNvSpPr>
            <p:nvPr/>
          </p:nvSpPr>
          <p:spPr bwMode="auto">
            <a:xfrm>
              <a:off x="4260" y="2834"/>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grpSp>
      <p:grpSp>
        <p:nvGrpSpPr>
          <p:cNvPr id="657507" name="Group 99"/>
          <p:cNvGrpSpPr>
            <a:grpSpLocks/>
          </p:cNvGrpSpPr>
          <p:nvPr/>
        </p:nvGrpSpPr>
        <p:grpSpPr bwMode="auto">
          <a:xfrm>
            <a:off x="7086600" y="5229944"/>
            <a:ext cx="1257300" cy="463550"/>
            <a:chOff x="3840" y="3454"/>
            <a:chExt cx="792" cy="292"/>
          </a:xfrm>
        </p:grpSpPr>
        <p:sp>
          <p:nvSpPr>
            <p:cNvPr id="51224" name="Rectangle 84"/>
            <p:cNvSpPr>
              <a:spLocks noChangeArrowheads="1"/>
            </p:cNvSpPr>
            <p:nvPr/>
          </p:nvSpPr>
          <p:spPr bwMode="auto">
            <a:xfrm>
              <a:off x="4236" y="3454"/>
              <a:ext cx="396" cy="2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solidFill>
                    <a:schemeClr val="folHlink"/>
                  </a:solidFill>
                  <a:latin typeface="Times New Roman" pitchFamily="18" charset="0"/>
                </a:rPr>
                <a:t>65</a:t>
              </a:r>
            </a:p>
          </p:txBody>
        </p:sp>
        <p:sp>
          <p:nvSpPr>
            <p:cNvPr id="51225" name="Rectangle 85"/>
            <p:cNvSpPr>
              <a:spLocks noChangeArrowheads="1"/>
            </p:cNvSpPr>
            <p:nvPr/>
          </p:nvSpPr>
          <p:spPr bwMode="auto">
            <a:xfrm>
              <a:off x="3840" y="3456"/>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55</a:t>
              </a:r>
            </a:p>
          </p:txBody>
        </p:sp>
      </p:grpSp>
      <p:grpSp>
        <p:nvGrpSpPr>
          <p:cNvPr id="657514" name="Group 106"/>
          <p:cNvGrpSpPr>
            <a:grpSpLocks/>
          </p:cNvGrpSpPr>
          <p:nvPr/>
        </p:nvGrpSpPr>
        <p:grpSpPr bwMode="auto">
          <a:xfrm>
            <a:off x="4476750" y="5690320"/>
            <a:ext cx="628650" cy="835025"/>
            <a:chOff x="1860" y="3744"/>
            <a:chExt cx="396" cy="526"/>
          </a:xfrm>
        </p:grpSpPr>
        <p:sp>
          <p:nvSpPr>
            <p:cNvPr id="51222" name="Line 101"/>
            <p:cNvSpPr>
              <a:spLocks noChangeShapeType="1"/>
            </p:cNvSpPr>
            <p:nvPr/>
          </p:nvSpPr>
          <p:spPr bwMode="auto">
            <a:xfrm>
              <a:off x="2064" y="3744"/>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51223" name="Rectangle 105"/>
            <p:cNvSpPr>
              <a:spLocks noChangeArrowheads="1"/>
            </p:cNvSpPr>
            <p:nvPr/>
          </p:nvSpPr>
          <p:spPr bwMode="auto">
            <a:xfrm>
              <a:off x="1860" y="3980"/>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27</a:t>
              </a:r>
            </a:p>
          </p:txBody>
        </p:sp>
      </p:grpSp>
      <p:grpSp>
        <p:nvGrpSpPr>
          <p:cNvPr id="657515" name="Group 107"/>
          <p:cNvGrpSpPr>
            <a:grpSpLocks/>
          </p:cNvGrpSpPr>
          <p:nvPr/>
        </p:nvGrpSpPr>
        <p:grpSpPr bwMode="auto">
          <a:xfrm>
            <a:off x="7696200" y="5690320"/>
            <a:ext cx="628650" cy="835025"/>
            <a:chOff x="1860" y="3744"/>
            <a:chExt cx="396" cy="526"/>
          </a:xfrm>
        </p:grpSpPr>
        <p:sp>
          <p:nvSpPr>
            <p:cNvPr id="51220" name="Line 108"/>
            <p:cNvSpPr>
              <a:spLocks noChangeShapeType="1"/>
            </p:cNvSpPr>
            <p:nvPr/>
          </p:nvSpPr>
          <p:spPr bwMode="auto">
            <a:xfrm>
              <a:off x="2064" y="3744"/>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51221" name="Rectangle 109"/>
            <p:cNvSpPr>
              <a:spLocks noChangeArrowheads="1"/>
            </p:cNvSpPr>
            <p:nvPr/>
          </p:nvSpPr>
          <p:spPr bwMode="auto">
            <a:xfrm>
              <a:off x="1860" y="3980"/>
              <a:ext cx="396" cy="29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3200">
                  <a:latin typeface="Times New Roman" pitchFamily="18" charset="0"/>
                </a:rPr>
                <a:t>65</a:t>
              </a:r>
            </a:p>
          </p:txBody>
        </p:sp>
      </p:grpSp>
      <p:grpSp>
        <p:nvGrpSpPr>
          <p:cNvPr id="83" name="Group 86"/>
          <p:cNvGrpSpPr>
            <a:grpSpLocks/>
          </p:cNvGrpSpPr>
          <p:nvPr/>
        </p:nvGrpSpPr>
        <p:grpSpPr bwMode="auto">
          <a:xfrm>
            <a:off x="4298974" y="3141712"/>
            <a:ext cx="838200" cy="400050"/>
            <a:chOff x="2736" y="1231"/>
            <a:chExt cx="528" cy="252"/>
          </a:xfrm>
        </p:grpSpPr>
        <p:sp>
          <p:nvSpPr>
            <p:cNvPr id="84" name="Line 24"/>
            <p:cNvSpPr>
              <a:spLocks noChangeShapeType="1"/>
            </p:cNvSpPr>
            <p:nvPr/>
          </p:nvSpPr>
          <p:spPr bwMode="auto">
            <a:xfrm>
              <a:off x="2790" y="1256"/>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5" name="Text Box 25"/>
            <p:cNvSpPr txBox="1">
              <a:spLocks noChangeArrowheads="1"/>
            </p:cNvSpPr>
            <p:nvPr/>
          </p:nvSpPr>
          <p:spPr bwMode="auto">
            <a:xfrm>
              <a:off x="2736" y="1231"/>
              <a:ext cx="528"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划分</a:t>
              </a:r>
            </a:p>
          </p:txBody>
        </p:sp>
      </p:grpSp>
      <p:grpSp>
        <p:nvGrpSpPr>
          <p:cNvPr id="86" name="Group 86"/>
          <p:cNvGrpSpPr>
            <a:grpSpLocks/>
          </p:cNvGrpSpPr>
          <p:nvPr/>
        </p:nvGrpSpPr>
        <p:grpSpPr bwMode="auto">
          <a:xfrm>
            <a:off x="7239000" y="3181400"/>
            <a:ext cx="838200" cy="400050"/>
            <a:chOff x="2736" y="1231"/>
            <a:chExt cx="528" cy="252"/>
          </a:xfrm>
        </p:grpSpPr>
        <p:sp>
          <p:nvSpPr>
            <p:cNvPr id="87" name="Line 24"/>
            <p:cNvSpPr>
              <a:spLocks noChangeShapeType="1"/>
            </p:cNvSpPr>
            <p:nvPr/>
          </p:nvSpPr>
          <p:spPr bwMode="auto">
            <a:xfrm>
              <a:off x="2790" y="1256"/>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8" name="Text Box 25"/>
            <p:cNvSpPr txBox="1">
              <a:spLocks noChangeArrowheads="1"/>
            </p:cNvSpPr>
            <p:nvPr/>
          </p:nvSpPr>
          <p:spPr bwMode="auto">
            <a:xfrm>
              <a:off x="2736" y="1231"/>
              <a:ext cx="528"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划分</a:t>
              </a:r>
            </a:p>
          </p:txBody>
        </p:sp>
      </p:grpSp>
      <p:grpSp>
        <p:nvGrpSpPr>
          <p:cNvPr id="89" name="Group 86"/>
          <p:cNvGrpSpPr>
            <a:grpSpLocks/>
          </p:cNvGrpSpPr>
          <p:nvPr/>
        </p:nvGrpSpPr>
        <p:grpSpPr bwMode="auto">
          <a:xfrm>
            <a:off x="4298974" y="4797896"/>
            <a:ext cx="838200" cy="400050"/>
            <a:chOff x="2736" y="1231"/>
            <a:chExt cx="528" cy="252"/>
          </a:xfrm>
        </p:grpSpPr>
        <p:sp>
          <p:nvSpPr>
            <p:cNvPr id="90" name="Line 24"/>
            <p:cNvSpPr>
              <a:spLocks noChangeShapeType="1"/>
            </p:cNvSpPr>
            <p:nvPr/>
          </p:nvSpPr>
          <p:spPr bwMode="auto">
            <a:xfrm>
              <a:off x="2790" y="1256"/>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91" name="Text Box 25"/>
            <p:cNvSpPr txBox="1">
              <a:spLocks noChangeArrowheads="1"/>
            </p:cNvSpPr>
            <p:nvPr/>
          </p:nvSpPr>
          <p:spPr bwMode="auto">
            <a:xfrm>
              <a:off x="2736" y="1231"/>
              <a:ext cx="528"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划分</a:t>
              </a:r>
            </a:p>
          </p:txBody>
        </p:sp>
      </p:grpSp>
      <p:grpSp>
        <p:nvGrpSpPr>
          <p:cNvPr id="92" name="Group 86"/>
          <p:cNvGrpSpPr>
            <a:grpSpLocks/>
          </p:cNvGrpSpPr>
          <p:nvPr/>
        </p:nvGrpSpPr>
        <p:grpSpPr bwMode="auto">
          <a:xfrm>
            <a:off x="7163360" y="3965798"/>
            <a:ext cx="838200" cy="400050"/>
            <a:chOff x="2736" y="1231"/>
            <a:chExt cx="528" cy="252"/>
          </a:xfrm>
        </p:grpSpPr>
        <p:sp>
          <p:nvSpPr>
            <p:cNvPr id="93" name="Line 24"/>
            <p:cNvSpPr>
              <a:spLocks noChangeShapeType="1"/>
            </p:cNvSpPr>
            <p:nvPr/>
          </p:nvSpPr>
          <p:spPr bwMode="auto">
            <a:xfrm>
              <a:off x="2790" y="1256"/>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94" name="Text Box 25"/>
            <p:cNvSpPr txBox="1">
              <a:spLocks noChangeArrowheads="1"/>
            </p:cNvSpPr>
            <p:nvPr/>
          </p:nvSpPr>
          <p:spPr bwMode="auto">
            <a:xfrm>
              <a:off x="2736" y="1231"/>
              <a:ext cx="528"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划分</a:t>
              </a:r>
            </a:p>
          </p:txBody>
        </p:sp>
      </p:grpSp>
      <p:grpSp>
        <p:nvGrpSpPr>
          <p:cNvPr id="95" name="Group 86"/>
          <p:cNvGrpSpPr>
            <a:grpSpLocks/>
          </p:cNvGrpSpPr>
          <p:nvPr/>
        </p:nvGrpSpPr>
        <p:grpSpPr bwMode="auto">
          <a:xfrm>
            <a:off x="7277100" y="4797896"/>
            <a:ext cx="838200" cy="400050"/>
            <a:chOff x="2736" y="1231"/>
            <a:chExt cx="528" cy="252"/>
          </a:xfrm>
        </p:grpSpPr>
        <p:sp>
          <p:nvSpPr>
            <p:cNvPr id="96" name="Line 24"/>
            <p:cNvSpPr>
              <a:spLocks noChangeShapeType="1"/>
            </p:cNvSpPr>
            <p:nvPr/>
          </p:nvSpPr>
          <p:spPr bwMode="auto">
            <a:xfrm>
              <a:off x="2790" y="1256"/>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97" name="Text Box 25"/>
            <p:cNvSpPr txBox="1">
              <a:spLocks noChangeArrowheads="1"/>
            </p:cNvSpPr>
            <p:nvPr/>
          </p:nvSpPr>
          <p:spPr bwMode="auto">
            <a:xfrm>
              <a:off x="2736" y="1231"/>
              <a:ext cx="528"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b="0" dirty="0">
                  <a:latin typeface="微软雅黑" pitchFamily="34" charset="-122"/>
                  <a:ea typeface="微软雅黑" pitchFamily="34" charset="-122"/>
                  <a:cs typeface="经典粗黑简" pitchFamily="49" charset="-122"/>
                </a:rPr>
                <a:t>划分</a:t>
              </a:r>
            </a:p>
          </p:txBody>
        </p:sp>
      </p:grpSp>
      <p:sp>
        <p:nvSpPr>
          <p:cNvPr id="2" name="矩形 1"/>
          <p:cNvSpPr/>
          <p:nvPr/>
        </p:nvSpPr>
        <p:spPr>
          <a:xfrm>
            <a:off x="994033" y="1913330"/>
            <a:ext cx="223651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快速排序过程分析</a:t>
            </a:r>
            <a:endParaRPr lang="zh-CN" altLang="en-US" sz="2000" dirty="0"/>
          </a:p>
        </p:txBody>
      </p:sp>
      <p:sp>
        <p:nvSpPr>
          <p:cNvPr id="3" name="矩形 2">
            <a:extLst>
              <a:ext uri="{FF2B5EF4-FFF2-40B4-BE49-F238E27FC236}">
                <a16:creationId xmlns:a16="http://schemas.microsoft.com/office/drawing/2014/main" id="{5C94EF3D-6D72-9BCE-56C2-D762FB0B5E0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4" name="直接连接符 3">
            <a:extLst>
              <a:ext uri="{FF2B5EF4-FFF2-40B4-BE49-F238E27FC236}">
                <a16:creationId xmlns:a16="http://schemas.microsoft.com/office/drawing/2014/main" id="{87022198-FD76-FDD4-2648-6287D4A184E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A805E0E-2CBD-9E4D-6A63-FDD4D54759E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6734356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57494"/>
                                        </p:tgtEl>
                                        <p:attrNameLst>
                                          <p:attrName>style.visibility</p:attrName>
                                        </p:attrNameLst>
                                      </p:cBhvr>
                                      <p:to>
                                        <p:strVal val="visible"/>
                                      </p:to>
                                    </p:set>
                                    <p:animEffect transition="in" filter="wipe(up)">
                                      <p:cBhvr>
                                        <p:cTn id="7" dur="500"/>
                                        <p:tgtEl>
                                          <p:spTgt spid="657494"/>
                                        </p:tgtEl>
                                      </p:cBhvr>
                                    </p:animEffect>
                                  </p:childTnLst>
                                </p:cTn>
                              </p:par>
                            </p:childTnLst>
                          </p:cTn>
                        </p:par>
                        <p:par>
                          <p:cTn id="8" fill="hold" nodeType="afterGroup">
                            <p:stCondLst>
                              <p:cond delay="500"/>
                            </p:stCondLst>
                            <p:childTnLst>
                              <p:par>
                                <p:cTn id="9" presetID="22" presetClass="entr" presetSubtype="1" fill="hold" nodeType="afterEffect">
                                  <p:stCondLst>
                                    <p:cond delay="1000"/>
                                  </p:stCondLst>
                                  <p:childTnLst>
                                    <p:set>
                                      <p:cBhvr>
                                        <p:cTn id="10" dur="1" fill="hold">
                                          <p:stCondLst>
                                            <p:cond delay="0"/>
                                          </p:stCondLst>
                                        </p:cTn>
                                        <p:tgtEl>
                                          <p:spTgt spid="657501"/>
                                        </p:tgtEl>
                                        <p:attrNameLst>
                                          <p:attrName>style.visibility</p:attrName>
                                        </p:attrNameLst>
                                      </p:cBhvr>
                                      <p:to>
                                        <p:strVal val="visible"/>
                                      </p:to>
                                    </p:set>
                                    <p:animEffect transition="in" filter="wipe(up)">
                                      <p:cBhvr>
                                        <p:cTn id="11" dur="500"/>
                                        <p:tgtEl>
                                          <p:spTgt spid="657501"/>
                                        </p:tgtEl>
                                      </p:cBhvr>
                                    </p:animEffect>
                                  </p:childTnLst>
                                </p:cTn>
                              </p:par>
                            </p:childTnLst>
                          </p:cTn>
                        </p:par>
                        <p:par>
                          <p:cTn id="12" fill="hold" nodeType="afterGroup">
                            <p:stCondLst>
                              <p:cond delay="2000"/>
                            </p:stCondLst>
                            <p:childTnLst>
                              <p:par>
                                <p:cTn id="13" presetID="22" presetClass="entr" presetSubtype="1" fill="hold" nodeType="afterEffect">
                                  <p:stCondLst>
                                    <p:cond delay="4000"/>
                                  </p:stCondLst>
                                  <p:childTnLst>
                                    <p:set>
                                      <p:cBhvr>
                                        <p:cTn id="14" dur="1" fill="hold">
                                          <p:stCondLst>
                                            <p:cond delay="0"/>
                                          </p:stCondLst>
                                        </p:cTn>
                                        <p:tgtEl>
                                          <p:spTgt spid="657502"/>
                                        </p:tgtEl>
                                        <p:attrNameLst>
                                          <p:attrName>style.visibility</p:attrName>
                                        </p:attrNameLst>
                                      </p:cBhvr>
                                      <p:to>
                                        <p:strVal val="visible"/>
                                      </p:to>
                                    </p:set>
                                    <p:animEffect transition="in" filter="wipe(up)">
                                      <p:cBhvr>
                                        <p:cTn id="15" dur="500"/>
                                        <p:tgtEl>
                                          <p:spTgt spid="657502"/>
                                        </p:tgtEl>
                                      </p:cBhvr>
                                    </p:animEffect>
                                  </p:childTnLst>
                                </p:cTn>
                              </p:par>
                            </p:childTnLst>
                          </p:cTn>
                        </p:par>
                        <p:par>
                          <p:cTn id="16" fill="hold" nodeType="afterGroup">
                            <p:stCondLst>
                              <p:cond delay="6500"/>
                            </p:stCondLst>
                            <p:childTnLst>
                              <p:par>
                                <p:cTn id="17" presetID="22" presetClass="entr" presetSubtype="1" fill="hold" nodeType="afterEffect">
                                  <p:stCondLst>
                                    <p:cond delay="4000"/>
                                  </p:stCondLst>
                                  <p:childTnLst>
                                    <p:set>
                                      <p:cBhvr>
                                        <p:cTn id="18" dur="1" fill="hold">
                                          <p:stCondLst>
                                            <p:cond delay="0"/>
                                          </p:stCondLst>
                                        </p:cTn>
                                        <p:tgtEl>
                                          <p:spTgt spid="657504"/>
                                        </p:tgtEl>
                                        <p:attrNameLst>
                                          <p:attrName>style.visibility</p:attrName>
                                        </p:attrNameLst>
                                      </p:cBhvr>
                                      <p:to>
                                        <p:strVal val="visible"/>
                                      </p:to>
                                    </p:set>
                                    <p:animEffect transition="in" filter="wipe(up)">
                                      <p:cBhvr>
                                        <p:cTn id="19" dur="500"/>
                                        <p:tgtEl>
                                          <p:spTgt spid="657504"/>
                                        </p:tgtEl>
                                      </p:cBhvr>
                                    </p:animEffect>
                                  </p:childTnLst>
                                </p:cTn>
                              </p:par>
                            </p:childTnLst>
                          </p:cTn>
                        </p:par>
                        <p:par>
                          <p:cTn id="20" fill="hold" nodeType="afterGroup">
                            <p:stCondLst>
                              <p:cond delay="11000"/>
                            </p:stCondLst>
                            <p:childTnLst>
                              <p:par>
                                <p:cTn id="21" presetID="22" presetClass="entr" presetSubtype="1" fill="hold" nodeType="afterEffect">
                                  <p:stCondLst>
                                    <p:cond delay="4000"/>
                                  </p:stCondLst>
                                  <p:childTnLst>
                                    <p:set>
                                      <p:cBhvr>
                                        <p:cTn id="22" dur="1" fill="hold">
                                          <p:stCondLst>
                                            <p:cond delay="0"/>
                                          </p:stCondLst>
                                        </p:cTn>
                                        <p:tgtEl>
                                          <p:spTgt spid="657505"/>
                                        </p:tgtEl>
                                        <p:attrNameLst>
                                          <p:attrName>style.visibility</p:attrName>
                                        </p:attrNameLst>
                                      </p:cBhvr>
                                      <p:to>
                                        <p:strVal val="visible"/>
                                      </p:to>
                                    </p:set>
                                    <p:animEffect transition="in" filter="wipe(up)">
                                      <p:cBhvr>
                                        <p:cTn id="23" dur="500"/>
                                        <p:tgtEl>
                                          <p:spTgt spid="65750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657514"/>
                                        </p:tgtEl>
                                        <p:attrNameLst>
                                          <p:attrName>style.visibility</p:attrName>
                                        </p:attrNameLst>
                                      </p:cBhvr>
                                      <p:to>
                                        <p:strVal val="visible"/>
                                      </p:to>
                                    </p:set>
                                    <p:animEffect transition="in" filter="wipe(up)">
                                      <p:cBhvr>
                                        <p:cTn id="28" dur="500"/>
                                        <p:tgtEl>
                                          <p:spTgt spid="657514"/>
                                        </p:tgtEl>
                                      </p:cBhvr>
                                    </p:animEffect>
                                  </p:childTnLst>
                                </p:cTn>
                              </p:par>
                            </p:childTnLst>
                          </p:cTn>
                        </p:par>
                        <p:par>
                          <p:cTn id="29" fill="hold" nodeType="afterGroup">
                            <p:stCondLst>
                              <p:cond delay="500"/>
                            </p:stCondLst>
                            <p:childTnLst>
                              <p:par>
                                <p:cTn id="30" presetID="22" presetClass="entr" presetSubtype="1" fill="hold" nodeType="afterEffect">
                                  <p:stCondLst>
                                    <p:cond delay="4000"/>
                                  </p:stCondLst>
                                  <p:childTnLst>
                                    <p:set>
                                      <p:cBhvr>
                                        <p:cTn id="31" dur="1" fill="hold">
                                          <p:stCondLst>
                                            <p:cond delay="0"/>
                                          </p:stCondLst>
                                        </p:cTn>
                                        <p:tgtEl>
                                          <p:spTgt spid="657518"/>
                                        </p:tgtEl>
                                        <p:attrNameLst>
                                          <p:attrName>style.visibility</p:attrName>
                                        </p:attrNameLst>
                                      </p:cBhvr>
                                      <p:to>
                                        <p:strVal val="visible"/>
                                      </p:to>
                                    </p:set>
                                    <p:animEffect transition="in" filter="wipe(up)">
                                      <p:cBhvr>
                                        <p:cTn id="32" dur="500"/>
                                        <p:tgtEl>
                                          <p:spTgt spid="657518"/>
                                        </p:tgtEl>
                                      </p:cBhvr>
                                    </p:animEffect>
                                  </p:childTnLst>
                                </p:cTn>
                              </p:par>
                            </p:childTnLst>
                          </p:cTn>
                        </p:par>
                        <p:par>
                          <p:cTn id="33" fill="hold" nodeType="afterGroup">
                            <p:stCondLst>
                              <p:cond delay="5000"/>
                            </p:stCondLst>
                            <p:childTnLst>
                              <p:par>
                                <p:cTn id="34" presetID="22" presetClass="entr" presetSubtype="1" fill="hold" nodeType="afterEffect">
                                  <p:stCondLst>
                                    <p:cond delay="4000"/>
                                  </p:stCondLst>
                                  <p:childTnLst>
                                    <p:set>
                                      <p:cBhvr>
                                        <p:cTn id="35" dur="1" fill="hold">
                                          <p:stCondLst>
                                            <p:cond delay="0"/>
                                          </p:stCondLst>
                                        </p:cTn>
                                        <p:tgtEl>
                                          <p:spTgt spid="657506"/>
                                        </p:tgtEl>
                                        <p:attrNameLst>
                                          <p:attrName>style.visibility</p:attrName>
                                        </p:attrNameLst>
                                      </p:cBhvr>
                                      <p:to>
                                        <p:strVal val="visible"/>
                                      </p:to>
                                    </p:set>
                                    <p:animEffect transition="in" filter="wipe(up)">
                                      <p:cBhvr>
                                        <p:cTn id="36" dur="500"/>
                                        <p:tgtEl>
                                          <p:spTgt spid="657506"/>
                                        </p:tgtEl>
                                      </p:cBhvr>
                                    </p:animEffect>
                                  </p:childTnLst>
                                </p:cTn>
                              </p:par>
                            </p:childTnLst>
                          </p:cTn>
                        </p:par>
                        <p:par>
                          <p:cTn id="37" fill="hold" nodeType="afterGroup">
                            <p:stCondLst>
                              <p:cond delay="9500"/>
                            </p:stCondLst>
                            <p:childTnLst>
                              <p:par>
                                <p:cTn id="38" presetID="22" presetClass="entr" presetSubtype="1" fill="hold" nodeType="afterEffect">
                                  <p:stCondLst>
                                    <p:cond delay="4000"/>
                                  </p:stCondLst>
                                  <p:childTnLst>
                                    <p:set>
                                      <p:cBhvr>
                                        <p:cTn id="39" dur="1" fill="hold">
                                          <p:stCondLst>
                                            <p:cond delay="0"/>
                                          </p:stCondLst>
                                        </p:cTn>
                                        <p:tgtEl>
                                          <p:spTgt spid="657507"/>
                                        </p:tgtEl>
                                        <p:attrNameLst>
                                          <p:attrName>style.visibility</p:attrName>
                                        </p:attrNameLst>
                                      </p:cBhvr>
                                      <p:to>
                                        <p:strVal val="visible"/>
                                      </p:to>
                                    </p:set>
                                    <p:animEffect transition="in" filter="wipe(up)">
                                      <p:cBhvr>
                                        <p:cTn id="40" dur="500"/>
                                        <p:tgtEl>
                                          <p:spTgt spid="657507"/>
                                        </p:tgtEl>
                                      </p:cBhvr>
                                    </p:animEffect>
                                  </p:childTnLst>
                                </p:cTn>
                              </p:par>
                            </p:childTnLst>
                          </p:cTn>
                        </p:par>
                        <p:par>
                          <p:cTn id="41" fill="hold" nodeType="afterGroup">
                            <p:stCondLst>
                              <p:cond delay="14000"/>
                            </p:stCondLst>
                            <p:childTnLst>
                              <p:par>
                                <p:cTn id="42" presetID="22" presetClass="entr" presetSubtype="1" fill="hold" nodeType="afterEffect">
                                  <p:stCondLst>
                                    <p:cond delay="3000"/>
                                  </p:stCondLst>
                                  <p:childTnLst>
                                    <p:set>
                                      <p:cBhvr>
                                        <p:cTn id="43" dur="1" fill="hold">
                                          <p:stCondLst>
                                            <p:cond delay="0"/>
                                          </p:stCondLst>
                                        </p:cTn>
                                        <p:tgtEl>
                                          <p:spTgt spid="657515"/>
                                        </p:tgtEl>
                                        <p:attrNameLst>
                                          <p:attrName>style.visibility</p:attrName>
                                        </p:attrNameLst>
                                      </p:cBhvr>
                                      <p:to>
                                        <p:strVal val="visible"/>
                                      </p:to>
                                    </p:set>
                                    <p:animEffect transition="in" filter="wipe(up)">
                                      <p:cBhvr>
                                        <p:cTn id="44" dur="500"/>
                                        <p:tgtEl>
                                          <p:spTgt spid="6575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83"/>
                                        </p:tgtEl>
                                        <p:attrNameLst>
                                          <p:attrName>style.visibility</p:attrName>
                                        </p:attrNameLst>
                                      </p:cBhvr>
                                      <p:to>
                                        <p:strVal val="visible"/>
                                      </p:to>
                                    </p:set>
                                    <p:animEffect transition="in" filter="wipe(up)">
                                      <p:cBhvr>
                                        <p:cTn id="49" dur="500"/>
                                        <p:tgtEl>
                                          <p:spTgt spid="8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86"/>
                                        </p:tgtEl>
                                        <p:attrNameLst>
                                          <p:attrName>style.visibility</p:attrName>
                                        </p:attrNameLst>
                                      </p:cBhvr>
                                      <p:to>
                                        <p:strVal val="visible"/>
                                      </p:to>
                                    </p:set>
                                    <p:animEffect transition="in" filter="wipe(up)">
                                      <p:cBhvr>
                                        <p:cTn id="54" dur="500"/>
                                        <p:tgtEl>
                                          <p:spTgt spid="8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wipe(up)">
                                      <p:cBhvr>
                                        <p:cTn id="59" dur="500"/>
                                        <p:tgtEl>
                                          <p:spTgt spid="8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92"/>
                                        </p:tgtEl>
                                        <p:attrNameLst>
                                          <p:attrName>style.visibility</p:attrName>
                                        </p:attrNameLst>
                                      </p:cBhvr>
                                      <p:to>
                                        <p:strVal val="visible"/>
                                      </p:to>
                                    </p:set>
                                    <p:animEffect transition="in" filter="wipe(up)">
                                      <p:cBhvr>
                                        <p:cTn id="64" dur="500"/>
                                        <p:tgtEl>
                                          <p:spTgt spid="9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95"/>
                                        </p:tgtEl>
                                        <p:attrNameLst>
                                          <p:attrName>style.visibility</p:attrName>
                                        </p:attrNameLst>
                                      </p:cBhvr>
                                      <p:to>
                                        <p:strVal val="visible"/>
                                      </p:to>
                                    </p:set>
                                    <p:animEffect transition="in" filter="wipe(up)">
                                      <p:cBhvr>
                                        <p:cTn id="69"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625D9EA-45C2-BE4B-BAD1-7D0B4FB46236}"/>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3" name="直接连接符 2">
            <a:extLst>
              <a:ext uri="{FF2B5EF4-FFF2-40B4-BE49-F238E27FC236}">
                <a16:creationId xmlns:a16="http://schemas.microsoft.com/office/drawing/2014/main" id="{9F9E95C8-1072-E4A8-1891-1F775D5E94C0}"/>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3A82317E-9B70-0D52-4FDF-32988EE495D8}"/>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
        <p:nvSpPr>
          <p:cNvPr id="5" name="Text Box 2">
            <a:extLst>
              <a:ext uri="{FF2B5EF4-FFF2-40B4-BE49-F238E27FC236}">
                <a16:creationId xmlns:a16="http://schemas.microsoft.com/office/drawing/2014/main" id="{FC242DF7-0971-C363-889D-D57E774691B2}"/>
              </a:ext>
            </a:extLst>
          </p:cNvPr>
          <p:cNvSpPr txBox="1">
            <a:spLocks noChangeArrowheads="1"/>
          </p:cNvSpPr>
          <p:nvPr/>
        </p:nvSpPr>
        <p:spPr bwMode="auto">
          <a:xfrm>
            <a:off x="3854856" y="1082555"/>
            <a:ext cx="8015288" cy="5456773"/>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80000" bIns="144000">
            <a:spAutoFit/>
          </a:bodyPr>
          <a:lstStyle/>
          <a:p>
            <a:pPr algn="l">
              <a:lnSpc>
                <a:spcPts val="2000"/>
              </a:lnSpc>
            </a:pPr>
            <a:r>
              <a:rPr lang="en-US" altLang="zh-CN" sz="1800" dirty="0">
                <a:solidFill>
                  <a:srgbClr val="1000E4"/>
                </a:solidFill>
                <a:latin typeface="Consolas" pitchFamily="49" charset="0"/>
                <a:ea typeface="仿宋" pitchFamily="49" charset="-122"/>
                <a:cs typeface="Consolas" pitchFamily="49" charset="0"/>
              </a:rPr>
              <a:t>int </a:t>
            </a:r>
            <a:r>
              <a:rPr lang="en-US" altLang="zh-CN" sz="1800" dirty="0">
                <a:solidFill>
                  <a:srgbClr val="FF0000"/>
                </a:solidFill>
                <a:latin typeface="Consolas" pitchFamily="49" charset="0"/>
                <a:ea typeface="仿宋" pitchFamily="49" charset="-122"/>
                <a:cs typeface="Consolas" pitchFamily="49" charset="0"/>
              </a:rPr>
              <a:t>partition</a:t>
            </a:r>
            <a:r>
              <a:rPr lang="en-US" altLang="zh-CN" sz="1800" dirty="0">
                <a:solidFill>
                  <a:srgbClr val="1000E4"/>
                </a:solidFill>
                <a:latin typeface="Consolas" pitchFamily="49" charset="0"/>
                <a:ea typeface="仿宋" pitchFamily="49" charset="-122"/>
                <a:cs typeface="Consolas" pitchFamily="49" charset="0"/>
              </a:rPr>
              <a:t>(</a:t>
            </a:r>
            <a:r>
              <a:rPr lang="en-US" altLang="zh-CN" sz="1800" dirty="0" err="1">
                <a:solidFill>
                  <a:srgbClr val="1000E4"/>
                </a:solidFill>
                <a:latin typeface="Consolas" pitchFamily="49" charset="0"/>
                <a:ea typeface="仿宋" pitchFamily="49" charset="-122"/>
                <a:cs typeface="Consolas" pitchFamily="49" charset="0"/>
              </a:rPr>
              <a:t>RecType</a:t>
            </a:r>
            <a:r>
              <a:rPr lang="en-US" altLang="zh-CN" sz="1800" dirty="0">
                <a:solidFill>
                  <a:srgbClr val="1000E4"/>
                </a:solidFill>
                <a:latin typeface="Consolas" pitchFamily="49" charset="0"/>
                <a:ea typeface="仿宋" pitchFamily="49" charset="-122"/>
                <a:cs typeface="Consolas" pitchFamily="49" charset="0"/>
              </a:rPr>
              <a:t> R[],int </a:t>
            </a:r>
            <a:r>
              <a:rPr lang="en-US" altLang="zh-CN" sz="1800" dirty="0" err="1">
                <a:solidFill>
                  <a:srgbClr val="1000E4"/>
                </a:solidFill>
                <a:latin typeface="Consolas" pitchFamily="49" charset="0"/>
                <a:ea typeface="仿宋" pitchFamily="49" charset="-122"/>
                <a:cs typeface="Consolas" pitchFamily="49" charset="0"/>
              </a:rPr>
              <a:t>s,int</a:t>
            </a:r>
            <a:r>
              <a:rPr lang="en-US" altLang="zh-CN" sz="1800" dirty="0">
                <a:solidFill>
                  <a:srgbClr val="1000E4"/>
                </a:solidFill>
                <a:latin typeface="Consolas" pitchFamily="49" charset="0"/>
                <a:ea typeface="仿宋" pitchFamily="49" charset="-122"/>
                <a:cs typeface="Consolas" pitchFamily="49" charset="0"/>
              </a:rPr>
              <a:t> t)  </a:t>
            </a:r>
            <a:r>
              <a:rPr lang="en-US" altLang="zh-CN" sz="1800" dirty="0">
                <a:solidFill>
                  <a:srgbClr val="00B050"/>
                </a:solidFill>
                <a:latin typeface="Consolas" pitchFamily="49" charset="0"/>
                <a:ea typeface="仿宋" pitchFamily="49" charset="-122"/>
                <a:cs typeface="Consolas" pitchFamily="49" charset="0"/>
              </a:rPr>
              <a:t>//</a:t>
            </a:r>
            <a:r>
              <a:rPr lang="zh-CN" altLang="zh-CN" sz="1800" dirty="0">
                <a:solidFill>
                  <a:srgbClr val="00B050"/>
                </a:solidFill>
                <a:latin typeface="Consolas" pitchFamily="49" charset="0"/>
                <a:ea typeface="仿宋" pitchFamily="49" charset="-122"/>
                <a:cs typeface="Consolas" pitchFamily="49" charset="0"/>
              </a:rPr>
              <a:t>一趟划分</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int </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a:t>
            </a:r>
            <a:r>
              <a:rPr lang="en-US" altLang="zh-CN" sz="1800" dirty="0" err="1">
                <a:solidFill>
                  <a:srgbClr val="1000E4"/>
                </a:solidFill>
                <a:latin typeface="Consolas" pitchFamily="49" charset="0"/>
                <a:ea typeface="仿宋" pitchFamily="49" charset="-122"/>
                <a:cs typeface="Consolas" pitchFamily="49" charset="0"/>
              </a:rPr>
              <a:t>s,j</a:t>
            </a:r>
            <a:r>
              <a:rPr lang="en-US" altLang="zh-CN" sz="1800" dirty="0">
                <a:solidFill>
                  <a:srgbClr val="1000E4"/>
                </a:solidFill>
                <a:latin typeface="Consolas" pitchFamily="49" charset="0"/>
                <a:ea typeface="仿宋" pitchFamily="49" charset="-122"/>
                <a:cs typeface="Consolas" pitchFamily="49" charset="0"/>
              </a:rPr>
              <a:t>=t;</a:t>
            </a:r>
            <a:endParaRPr lang="zh-CN" altLang="zh-CN" sz="1800" dirty="0">
              <a:solidFill>
                <a:srgbClr val="1000E4"/>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a:t>
            </a:r>
            <a:r>
              <a:rPr lang="en-US" altLang="zh-CN" sz="1800" dirty="0" err="1">
                <a:solidFill>
                  <a:srgbClr val="1000E4"/>
                </a:solidFill>
                <a:latin typeface="Consolas" pitchFamily="49" charset="0"/>
                <a:ea typeface="仿宋" pitchFamily="49" charset="-122"/>
                <a:cs typeface="Consolas" pitchFamily="49" charset="0"/>
              </a:rPr>
              <a:t>RecType</a:t>
            </a:r>
            <a:r>
              <a:rPr lang="en-US" altLang="zh-CN" sz="1800" dirty="0">
                <a:solidFill>
                  <a:srgbClr val="1000E4"/>
                </a:solidFill>
                <a:latin typeface="Consolas" pitchFamily="49" charset="0"/>
                <a:ea typeface="仿宋" pitchFamily="49" charset="-122"/>
                <a:cs typeface="Consolas" pitchFamily="49" charset="0"/>
              </a:rPr>
              <a:t> </a:t>
            </a:r>
            <a:r>
              <a:rPr lang="en-US" altLang="zh-CN" sz="1800" dirty="0" err="1">
                <a:solidFill>
                  <a:srgbClr val="FF00FF"/>
                </a:solidFill>
                <a:latin typeface="Consolas" pitchFamily="49" charset="0"/>
                <a:ea typeface="仿宋" pitchFamily="49" charset="-122"/>
                <a:cs typeface="Consolas" pitchFamily="49" charset="0"/>
              </a:rPr>
              <a:t>tmp</a:t>
            </a:r>
            <a:r>
              <a:rPr lang="en-US" altLang="zh-CN" sz="1800" dirty="0">
                <a:solidFill>
                  <a:srgbClr val="1000E4"/>
                </a:solidFill>
                <a:latin typeface="Consolas" pitchFamily="49" charset="0"/>
                <a:ea typeface="仿宋" pitchFamily="49" charset="-122"/>
                <a:cs typeface="Consolas" pitchFamily="49" charset="0"/>
              </a:rPr>
              <a:t>=R[</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以</a:t>
            </a:r>
            <a:r>
              <a:rPr lang="en-US" altLang="zh-CN" sz="1800" dirty="0">
                <a:solidFill>
                  <a:srgbClr val="00B0F0"/>
                </a:solidFill>
                <a:latin typeface="Consolas" pitchFamily="49" charset="0"/>
                <a:ea typeface="仿宋" pitchFamily="49" charset="-122"/>
                <a:cs typeface="Consolas" pitchFamily="49" charset="0"/>
              </a:rPr>
              <a:t>R[</a:t>
            </a:r>
            <a:r>
              <a:rPr lang="en-US" altLang="zh-CN" sz="1800" dirty="0" err="1">
                <a:solidFill>
                  <a:srgbClr val="00B0F0"/>
                </a:solidFill>
                <a:latin typeface="Consolas" pitchFamily="49" charset="0"/>
                <a:ea typeface="仿宋" pitchFamily="49" charset="-122"/>
                <a:cs typeface="Consolas" pitchFamily="49" charset="0"/>
              </a:rPr>
              <a:t>i</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为基准</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while (</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&lt;j)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从两端交替向中间扫描</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直至</a:t>
            </a:r>
            <a:r>
              <a:rPr lang="en-US" altLang="zh-CN" sz="1800" dirty="0" err="1">
                <a:solidFill>
                  <a:srgbClr val="00B0F0"/>
                </a:solidFill>
                <a:latin typeface="Consolas" pitchFamily="49" charset="0"/>
                <a:ea typeface="仿宋" pitchFamily="49" charset="-122"/>
                <a:cs typeface="Consolas" pitchFamily="49" charset="0"/>
              </a:rPr>
              <a:t>i</a:t>
            </a:r>
            <a:r>
              <a:rPr lang="en-US" altLang="zh-CN" sz="1800" dirty="0">
                <a:solidFill>
                  <a:srgbClr val="00B0F0"/>
                </a:solidFill>
                <a:latin typeface="Consolas" pitchFamily="49" charset="0"/>
                <a:ea typeface="仿宋" pitchFamily="49" charset="-122"/>
                <a:cs typeface="Consolas" pitchFamily="49" charset="0"/>
              </a:rPr>
              <a:t>=j</a:t>
            </a:r>
            <a:r>
              <a:rPr lang="zh-CN" altLang="zh-CN" sz="1800" dirty="0">
                <a:solidFill>
                  <a:srgbClr val="00B0F0"/>
                </a:solidFill>
                <a:latin typeface="Consolas" pitchFamily="49" charset="0"/>
                <a:ea typeface="仿宋" pitchFamily="49" charset="-122"/>
                <a:cs typeface="Consolas" pitchFamily="49" charset="0"/>
              </a:rPr>
              <a:t>为止</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  while (j&gt;</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 &amp;&amp; R[j].key&gt;=</a:t>
            </a:r>
            <a:r>
              <a:rPr lang="en-US" altLang="zh-CN" sz="1800" dirty="0" err="1">
                <a:solidFill>
                  <a:srgbClr val="FF00FF"/>
                </a:solidFill>
                <a:latin typeface="Consolas" pitchFamily="49" charset="0"/>
                <a:ea typeface="仿宋" pitchFamily="49" charset="-122"/>
                <a:cs typeface="Consolas" pitchFamily="49" charset="0"/>
              </a:rPr>
              <a:t>tmp.key</a:t>
            </a:r>
            <a:r>
              <a:rPr lang="en-US" altLang="zh-CN" sz="1800" dirty="0">
                <a:solidFill>
                  <a:srgbClr val="1000E4"/>
                </a:solidFill>
                <a:latin typeface="Consolas" pitchFamily="49" charset="0"/>
                <a:ea typeface="仿宋" pitchFamily="49" charset="-122"/>
                <a:cs typeface="Consolas" pitchFamily="49" charset="0"/>
              </a:rPr>
              <a:t>)</a:t>
            </a:r>
            <a:endParaRPr lang="zh-CN" altLang="zh-CN" sz="1800" dirty="0">
              <a:solidFill>
                <a:srgbClr val="1000E4"/>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j--;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从右向左扫描</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找一个小于</a:t>
            </a:r>
            <a:r>
              <a:rPr lang="en-US" altLang="zh-CN" sz="1800" dirty="0" err="1">
                <a:solidFill>
                  <a:srgbClr val="00B0F0"/>
                </a:solidFill>
                <a:latin typeface="Consolas" pitchFamily="49" charset="0"/>
                <a:ea typeface="仿宋" pitchFamily="49" charset="-122"/>
                <a:cs typeface="Consolas" pitchFamily="49" charset="0"/>
              </a:rPr>
              <a:t>tmp.key</a:t>
            </a:r>
            <a:r>
              <a:rPr lang="zh-CN" altLang="zh-CN" sz="1800" dirty="0">
                <a:solidFill>
                  <a:srgbClr val="00B0F0"/>
                </a:solidFill>
                <a:latin typeface="Consolas" pitchFamily="49" charset="0"/>
                <a:ea typeface="仿宋" pitchFamily="49" charset="-122"/>
                <a:cs typeface="Consolas" pitchFamily="49" charset="0"/>
              </a:rPr>
              <a:t>的</a:t>
            </a:r>
            <a:r>
              <a:rPr lang="en-US" altLang="zh-CN" sz="1800" dirty="0">
                <a:solidFill>
                  <a:srgbClr val="00B0F0"/>
                </a:solidFill>
                <a:latin typeface="Consolas" pitchFamily="49" charset="0"/>
                <a:ea typeface="仿宋" pitchFamily="49" charset="-122"/>
                <a:cs typeface="Consolas" pitchFamily="49" charset="0"/>
              </a:rPr>
              <a:t>R[j]</a:t>
            </a:r>
            <a:endParaRPr lang="zh-CN" altLang="zh-CN" sz="1800" dirty="0">
              <a:solidFill>
                <a:srgbClr val="00B0F0"/>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if(</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&lt;j)</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  R[</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]=R[j];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找到这样的</a:t>
            </a:r>
            <a:r>
              <a:rPr lang="en-US" altLang="zh-CN" sz="1800" dirty="0">
                <a:solidFill>
                  <a:srgbClr val="00B0F0"/>
                </a:solidFill>
                <a:latin typeface="Consolas" pitchFamily="49" charset="0"/>
                <a:ea typeface="仿宋" pitchFamily="49" charset="-122"/>
                <a:cs typeface="Consolas" pitchFamily="49" charset="0"/>
              </a:rPr>
              <a:t>R[j],</a:t>
            </a:r>
            <a:r>
              <a:rPr lang="zh-CN" altLang="zh-CN" sz="1800" dirty="0">
                <a:solidFill>
                  <a:srgbClr val="00B0F0"/>
                </a:solidFill>
                <a:latin typeface="Consolas" pitchFamily="49" charset="0"/>
                <a:ea typeface="仿宋" pitchFamily="49" charset="-122"/>
                <a:cs typeface="Consolas" pitchFamily="49" charset="0"/>
              </a:rPr>
              <a:t>放入</a:t>
            </a:r>
            <a:r>
              <a:rPr lang="en-US" altLang="zh-CN" sz="1800" dirty="0">
                <a:solidFill>
                  <a:srgbClr val="00B0F0"/>
                </a:solidFill>
                <a:latin typeface="Consolas" pitchFamily="49" charset="0"/>
                <a:ea typeface="仿宋" pitchFamily="49" charset="-122"/>
                <a:cs typeface="Consolas" pitchFamily="49" charset="0"/>
              </a:rPr>
              <a:t>R[</a:t>
            </a:r>
            <a:r>
              <a:rPr lang="en-US" altLang="zh-CN" sz="1800" dirty="0" err="1">
                <a:solidFill>
                  <a:srgbClr val="00B0F0"/>
                </a:solidFill>
                <a:latin typeface="Consolas" pitchFamily="49" charset="0"/>
                <a:ea typeface="仿宋" pitchFamily="49" charset="-122"/>
                <a:cs typeface="Consolas" pitchFamily="49" charset="0"/>
              </a:rPr>
              <a:t>i</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处</a:t>
            </a:r>
            <a:endParaRPr lang="en-US" altLang="zh-CN" sz="1800" dirty="0">
              <a:solidFill>
                <a:srgbClr val="00B0F0"/>
              </a:solidFill>
              <a:latin typeface="Consolas" pitchFamily="49" charset="0"/>
              <a:ea typeface="仿宋" pitchFamily="49" charset="-122"/>
              <a:cs typeface="Consolas" pitchFamily="49" charset="0"/>
            </a:endParaRPr>
          </a:p>
          <a:p>
            <a:pPr algn="l">
              <a:lnSpc>
                <a:spcPts val="2000"/>
              </a:lnSpc>
            </a:pPr>
            <a:r>
              <a:rPr lang="en-US" altLang="zh-CN" sz="1800" dirty="0">
                <a:solidFill>
                  <a:srgbClr val="00B0F0"/>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j--;</a:t>
            </a:r>
          </a:p>
          <a:p>
            <a:pPr algn="l">
              <a:lnSpc>
                <a:spcPts val="2000"/>
              </a:lnSpc>
            </a:pPr>
            <a:r>
              <a:rPr lang="en-US" altLang="zh-CN" sz="1800" dirty="0">
                <a:solidFill>
                  <a:srgbClr val="3333FF"/>
                </a:solidFill>
                <a:latin typeface="Consolas" pitchFamily="49" charset="0"/>
                <a:ea typeface="仿宋" pitchFamily="49" charset="-122"/>
                <a:cs typeface="Consolas" pitchFamily="49" charset="0"/>
              </a:rPr>
              <a:t>      }</a:t>
            </a:r>
            <a:endParaRPr lang="zh-CN" altLang="zh-CN" sz="1800" dirty="0">
              <a:solidFill>
                <a:srgbClr val="3333FF"/>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while (</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&lt;j &amp;&amp; R[</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].key&lt;=</a:t>
            </a:r>
            <a:r>
              <a:rPr lang="en-US" altLang="zh-CN" sz="1800" dirty="0" err="1">
                <a:solidFill>
                  <a:srgbClr val="FF00FF"/>
                </a:solidFill>
                <a:latin typeface="Consolas" pitchFamily="49" charset="0"/>
                <a:ea typeface="仿宋" pitchFamily="49" charset="-122"/>
                <a:cs typeface="Consolas" pitchFamily="49" charset="0"/>
              </a:rPr>
              <a:t>tmp.key</a:t>
            </a:r>
            <a:r>
              <a:rPr lang="en-US" altLang="zh-CN" sz="1800" dirty="0">
                <a:solidFill>
                  <a:srgbClr val="1000E4"/>
                </a:solidFill>
                <a:latin typeface="Consolas" pitchFamily="49" charset="0"/>
                <a:ea typeface="仿宋" pitchFamily="49" charset="-122"/>
                <a:cs typeface="Consolas" pitchFamily="49" charset="0"/>
              </a:rPr>
              <a:t>)</a:t>
            </a:r>
            <a:endParaRPr lang="zh-CN" altLang="zh-CN" sz="1800" dirty="0">
              <a:solidFill>
                <a:srgbClr val="1000E4"/>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从左向右扫描</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找一个大于</a:t>
            </a:r>
            <a:r>
              <a:rPr lang="en-US" altLang="zh-CN" sz="1800" dirty="0" err="1">
                <a:solidFill>
                  <a:srgbClr val="00B0F0"/>
                </a:solidFill>
                <a:latin typeface="Consolas" pitchFamily="49" charset="0"/>
                <a:ea typeface="仿宋" pitchFamily="49" charset="-122"/>
                <a:cs typeface="Consolas" pitchFamily="49" charset="0"/>
              </a:rPr>
              <a:t>tmp.key</a:t>
            </a:r>
            <a:r>
              <a:rPr lang="zh-CN" altLang="zh-CN" sz="1800" dirty="0">
                <a:solidFill>
                  <a:srgbClr val="00B0F0"/>
                </a:solidFill>
                <a:latin typeface="Consolas" pitchFamily="49" charset="0"/>
                <a:ea typeface="仿宋" pitchFamily="49" charset="-122"/>
                <a:cs typeface="Consolas" pitchFamily="49" charset="0"/>
              </a:rPr>
              <a:t>的</a:t>
            </a:r>
            <a:r>
              <a:rPr lang="en-US" altLang="zh-CN" sz="1800" dirty="0">
                <a:solidFill>
                  <a:srgbClr val="00B0F0"/>
                </a:solidFill>
                <a:latin typeface="Consolas" pitchFamily="49" charset="0"/>
                <a:ea typeface="仿宋" pitchFamily="49" charset="-122"/>
                <a:cs typeface="Consolas" pitchFamily="49" charset="0"/>
              </a:rPr>
              <a:t>R[</a:t>
            </a:r>
            <a:r>
              <a:rPr lang="en-US" altLang="zh-CN" sz="1800" dirty="0" err="1">
                <a:solidFill>
                  <a:srgbClr val="00B0F0"/>
                </a:solidFill>
                <a:latin typeface="Consolas" pitchFamily="49" charset="0"/>
                <a:ea typeface="仿宋" pitchFamily="49" charset="-122"/>
                <a:cs typeface="Consolas" pitchFamily="49" charset="0"/>
              </a:rPr>
              <a:t>i</a:t>
            </a:r>
            <a:r>
              <a:rPr lang="en-US" altLang="zh-CN" sz="1800" dirty="0">
                <a:solidFill>
                  <a:srgbClr val="00B0F0"/>
                </a:solidFill>
                <a:latin typeface="Consolas" pitchFamily="49" charset="0"/>
                <a:ea typeface="仿宋" pitchFamily="49" charset="-122"/>
                <a:cs typeface="Consolas" pitchFamily="49" charset="0"/>
              </a:rPr>
              <a:t>]</a:t>
            </a:r>
            <a:endParaRPr lang="zh-CN" altLang="zh-CN" sz="1800" dirty="0">
              <a:solidFill>
                <a:srgbClr val="00B0F0"/>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if(</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&lt;j)</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  R[j]=R[</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找到这样的</a:t>
            </a:r>
            <a:r>
              <a:rPr lang="en-US" altLang="zh-CN" sz="1800" dirty="0">
                <a:solidFill>
                  <a:srgbClr val="00B0F0"/>
                </a:solidFill>
                <a:latin typeface="Consolas" pitchFamily="49" charset="0"/>
                <a:ea typeface="仿宋" pitchFamily="49" charset="-122"/>
                <a:cs typeface="Consolas" pitchFamily="49" charset="0"/>
              </a:rPr>
              <a:t>R[</a:t>
            </a:r>
            <a:r>
              <a:rPr lang="en-US" altLang="zh-CN" sz="1800" dirty="0" err="1">
                <a:solidFill>
                  <a:srgbClr val="00B0F0"/>
                </a:solidFill>
                <a:latin typeface="Consolas" pitchFamily="49" charset="0"/>
                <a:ea typeface="仿宋" pitchFamily="49" charset="-122"/>
                <a:cs typeface="Consolas" pitchFamily="49" charset="0"/>
              </a:rPr>
              <a:t>i</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放入</a:t>
            </a:r>
            <a:r>
              <a:rPr lang="en-US" altLang="zh-CN" sz="1800" dirty="0">
                <a:solidFill>
                  <a:srgbClr val="00B0F0"/>
                </a:solidFill>
                <a:latin typeface="Consolas" pitchFamily="49" charset="0"/>
                <a:ea typeface="仿宋" pitchFamily="49" charset="-122"/>
                <a:cs typeface="Consolas" pitchFamily="49" charset="0"/>
              </a:rPr>
              <a:t>R[j]</a:t>
            </a:r>
            <a:r>
              <a:rPr lang="zh-CN" altLang="zh-CN" sz="1800" dirty="0">
                <a:solidFill>
                  <a:srgbClr val="00B0F0"/>
                </a:solidFill>
                <a:latin typeface="Consolas" pitchFamily="49" charset="0"/>
                <a:ea typeface="仿宋" pitchFamily="49" charset="-122"/>
                <a:cs typeface="Consolas" pitchFamily="49" charset="0"/>
              </a:rPr>
              <a:t>处</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   </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a:t>
            </a: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a:t>
            </a:r>
            <a:endParaRPr lang="zh-CN" altLang="zh-CN" sz="1800" dirty="0">
              <a:solidFill>
                <a:srgbClr val="1000E4"/>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R[</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a:t>
            </a:r>
            <a:r>
              <a:rPr lang="en-US" altLang="zh-CN" sz="1800" dirty="0" err="1">
                <a:solidFill>
                  <a:srgbClr val="FF00FF"/>
                </a:solidFill>
                <a:latin typeface="Consolas" pitchFamily="49" charset="0"/>
                <a:ea typeface="仿宋" pitchFamily="49" charset="-122"/>
                <a:cs typeface="Consolas" pitchFamily="49" charset="0"/>
              </a:rPr>
              <a:t>tmp</a:t>
            </a:r>
            <a:r>
              <a:rPr lang="en-US" altLang="zh-CN" sz="1800" dirty="0">
                <a:solidFill>
                  <a:srgbClr val="1000E4"/>
                </a:solidFill>
                <a:latin typeface="Consolas" pitchFamily="49" charset="0"/>
                <a:ea typeface="仿宋" pitchFamily="49" charset="-122"/>
                <a:cs typeface="Consolas" pitchFamily="49" charset="0"/>
              </a:rPr>
              <a:t>;</a:t>
            </a:r>
            <a:endParaRPr lang="zh-CN" altLang="zh-CN" sz="1800" dirty="0">
              <a:solidFill>
                <a:srgbClr val="1000E4"/>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   return </a:t>
            </a:r>
            <a:r>
              <a:rPr lang="en-US" altLang="zh-CN" sz="1800" dirty="0" err="1">
                <a:solidFill>
                  <a:srgbClr val="FF0000"/>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a:t>
            </a:r>
            <a:endParaRPr lang="zh-CN" altLang="zh-CN" sz="1800" dirty="0">
              <a:solidFill>
                <a:srgbClr val="1000E4"/>
              </a:solidFill>
              <a:latin typeface="Consolas" pitchFamily="49" charset="0"/>
              <a:ea typeface="仿宋" pitchFamily="49" charset="-122"/>
              <a:cs typeface="Consolas" pitchFamily="49" charset="0"/>
            </a:endParaRPr>
          </a:p>
          <a:p>
            <a:pPr algn="l">
              <a:lnSpc>
                <a:spcPts val="2000"/>
              </a:lnSpc>
            </a:pPr>
            <a:r>
              <a:rPr lang="en-US" altLang="zh-CN" sz="1800" dirty="0">
                <a:solidFill>
                  <a:srgbClr val="1000E4"/>
                </a:solidFill>
                <a:latin typeface="Consolas" pitchFamily="49" charset="0"/>
                <a:ea typeface="仿宋" pitchFamily="49" charset="-122"/>
                <a:cs typeface="Consolas" pitchFamily="49" charset="0"/>
              </a:rPr>
              <a:t>}</a:t>
            </a:r>
            <a:endParaRPr lang="zh-CN" altLang="zh-CN" sz="1800" dirty="0">
              <a:solidFill>
                <a:srgbClr val="1000E4"/>
              </a:solidFill>
              <a:latin typeface="Consolas" pitchFamily="49" charset="0"/>
              <a:ea typeface="仿宋" pitchFamily="49" charset="-122"/>
              <a:cs typeface="Consolas" pitchFamily="49" charset="0"/>
            </a:endParaRPr>
          </a:p>
        </p:txBody>
      </p:sp>
      <p:sp>
        <p:nvSpPr>
          <p:cNvPr id="6" name="TextBox 5">
            <a:extLst>
              <a:ext uri="{FF2B5EF4-FFF2-40B4-BE49-F238E27FC236}">
                <a16:creationId xmlns:a16="http://schemas.microsoft.com/office/drawing/2014/main" id="{72588CB1-5445-9453-7618-0A456682FFD3}"/>
              </a:ext>
            </a:extLst>
          </p:cNvPr>
          <p:cNvSpPr txBox="1"/>
          <p:nvPr/>
        </p:nvSpPr>
        <p:spPr>
          <a:xfrm>
            <a:off x="1415480" y="1844824"/>
            <a:ext cx="2016224" cy="461665"/>
          </a:xfrm>
          <a:prstGeom prst="rect">
            <a:avLst/>
          </a:prstGeom>
          <a:noFill/>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快速排序算法</a:t>
            </a:r>
          </a:p>
        </p:txBody>
      </p:sp>
    </p:spTree>
    <p:extLst>
      <p:ext uri="{BB962C8B-B14F-4D97-AF65-F5344CB8AC3E}">
        <p14:creationId xmlns:p14="http://schemas.microsoft.com/office/powerpoint/2010/main" val="18140165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7" end="1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8" end="1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99DCF833-A2ED-B717-2B38-9D0F98CFCE9B}"/>
              </a:ext>
            </a:extLst>
          </p:cNvPr>
          <p:cNvSpPr txBox="1">
            <a:spLocks noChangeArrowheads="1"/>
          </p:cNvSpPr>
          <p:nvPr/>
        </p:nvSpPr>
        <p:spPr bwMode="auto">
          <a:xfrm>
            <a:off x="3071664" y="3015014"/>
            <a:ext cx="8015288" cy="3528425"/>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lIns="216000" tIns="180000" bIns="144000">
            <a:spAutoFit/>
          </a:bodyPr>
          <a:lstStyle/>
          <a:p>
            <a:pPr algn="l">
              <a:lnSpc>
                <a:spcPts val="2800"/>
              </a:lnSpc>
            </a:pPr>
            <a:r>
              <a:rPr lang="en-US" altLang="zh-CN" sz="1800">
                <a:solidFill>
                  <a:srgbClr val="1000E4"/>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QuickSort</a:t>
            </a:r>
            <a:r>
              <a:rPr lang="en-US" altLang="zh-CN" sz="1800">
                <a:solidFill>
                  <a:srgbClr val="1000E4"/>
                </a:solidFill>
                <a:latin typeface="Consolas" pitchFamily="49" charset="0"/>
                <a:ea typeface="仿宋" pitchFamily="49" charset="-122"/>
                <a:cs typeface="Consolas" pitchFamily="49" charset="0"/>
              </a:rPr>
              <a:t>(RecType R[],int s,int t)</a:t>
            </a:r>
          </a:p>
          <a:p>
            <a:pPr algn="l">
              <a:lnSpc>
                <a:spcPts val="2800"/>
              </a:lnSpc>
            </a:pPr>
            <a:r>
              <a:rPr lang="en-US" altLang="zh-CN" sz="1800">
                <a:solidFill>
                  <a:srgbClr val="00B050"/>
                </a:solidFill>
                <a:latin typeface="Consolas" pitchFamily="49" charset="0"/>
                <a:ea typeface="仿宋" pitchFamily="49" charset="-122"/>
                <a:cs typeface="Consolas" pitchFamily="49" charset="0"/>
              </a:rPr>
              <a:t>//</a:t>
            </a:r>
            <a:r>
              <a:rPr lang="zh-CN" altLang="zh-CN" sz="1800">
                <a:solidFill>
                  <a:srgbClr val="00B050"/>
                </a:solidFill>
                <a:latin typeface="Consolas" pitchFamily="49" charset="0"/>
                <a:ea typeface="仿宋" pitchFamily="49" charset="-122"/>
                <a:cs typeface="Consolas" pitchFamily="49" charset="0"/>
              </a:rPr>
              <a:t>对</a:t>
            </a:r>
            <a:r>
              <a:rPr lang="en-US" altLang="zh-CN" sz="1800">
                <a:solidFill>
                  <a:srgbClr val="00B050"/>
                </a:solidFill>
                <a:latin typeface="Consolas" pitchFamily="49" charset="0"/>
                <a:ea typeface="仿宋" pitchFamily="49" charset="-122"/>
                <a:cs typeface="Consolas" pitchFamily="49" charset="0"/>
              </a:rPr>
              <a:t>R[s..t]</a:t>
            </a:r>
            <a:r>
              <a:rPr lang="zh-CN" altLang="zh-CN" sz="1800">
                <a:solidFill>
                  <a:srgbClr val="00B050"/>
                </a:solidFill>
                <a:latin typeface="Consolas" pitchFamily="49" charset="0"/>
                <a:ea typeface="仿宋" pitchFamily="49" charset="-122"/>
                <a:cs typeface="Consolas" pitchFamily="49" charset="0"/>
              </a:rPr>
              <a:t>的元素进行快速排序</a:t>
            </a:r>
          </a:p>
          <a:p>
            <a:pPr algn="l">
              <a:lnSpc>
                <a:spcPts val="2800"/>
              </a:lnSpc>
            </a:pPr>
            <a:r>
              <a:rPr lang="en-US" altLang="zh-CN" sz="1800">
                <a:solidFill>
                  <a:srgbClr val="1000E4"/>
                </a:solidFill>
                <a:latin typeface="Consolas" pitchFamily="49" charset="0"/>
                <a:ea typeface="仿宋" pitchFamily="49" charset="-122"/>
                <a:cs typeface="Consolas" pitchFamily="49" charset="0"/>
              </a:rPr>
              <a:t>{  int i;</a:t>
            </a:r>
            <a:endParaRPr lang="zh-CN" altLang="zh-CN" sz="1800">
              <a:solidFill>
                <a:srgbClr val="1000E4"/>
              </a:solidFill>
              <a:latin typeface="Consolas" pitchFamily="49" charset="0"/>
              <a:ea typeface="仿宋" pitchFamily="49" charset="-122"/>
              <a:cs typeface="Consolas" pitchFamily="49" charset="0"/>
            </a:endParaRPr>
          </a:p>
          <a:p>
            <a:pPr algn="l">
              <a:lnSpc>
                <a:spcPts val="2800"/>
              </a:lnSpc>
            </a:pPr>
            <a:r>
              <a:rPr lang="en-US" altLang="zh-CN" sz="1800">
                <a:solidFill>
                  <a:srgbClr val="1000E4"/>
                </a:solidFill>
                <a:latin typeface="Consolas" pitchFamily="49" charset="0"/>
                <a:ea typeface="仿宋" pitchFamily="49" charset="-122"/>
                <a:cs typeface="Consolas" pitchFamily="49" charset="0"/>
              </a:rPr>
              <a:t>   if (s&lt;t)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区间内至少存在两个元素的情况</a:t>
            </a:r>
          </a:p>
          <a:p>
            <a:pPr algn="l">
              <a:lnSpc>
                <a:spcPts val="2800"/>
              </a:lnSpc>
            </a:pPr>
            <a:r>
              <a:rPr lang="en-US" altLang="zh-CN" sz="1800">
                <a:solidFill>
                  <a:srgbClr val="1000E4"/>
                </a:solidFill>
                <a:latin typeface="Consolas" pitchFamily="49" charset="0"/>
                <a:ea typeface="仿宋" pitchFamily="49" charset="-122"/>
                <a:cs typeface="Consolas" pitchFamily="49" charset="0"/>
              </a:rPr>
              <a:t>   {  i=partition(R,s,t);</a:t>
            </a:r>
            <a:endParaRPr lang="zh-CN" altLang="zh-CN" sz="1800">
              <a:solidFill>
                <a:srgbClr val="1000E4"/>
              </a:solidFill>
              <a:latin typeface="Consolas" pitchFamily="49" charset="0"/>
              <a:ea typeface="仿宋" pitchFamily="49" charset="-122"/>
              <a:cs typeface="Consolas" pitchFamily="49" charset="0"/>
            </a:endParaRPr>
          </a:p>
          <a:p>
            <a:pPr algn="l">
              <a:lnSpc>
                <a:spcPts val="2800"/>
              </a:lnSpc>
            </a:pP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QuickSort(R,s,i-1)</a:t>
            </a: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对左区间递归排序</a:t>
            </a:r>
          </a:p>
          <a:p>
            <a:pPr algn="l">
              <a:lnSpc>
                <a:spcPts val="2800"/>
              </a:lnSpc>
            </a:pP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QuickSort(R,i+1,t)</a:t>
            </a: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对右区间递归排序</a:t>
            </a:r>
          </a:p>
          <a:p>
            <a:pPr algn="l">
              <a:lnSpc>
                <a:spcPts val="2800"/>
              </a:lnSpc>
            </a:pPr>
            <a:r>
              <a:rPr lang="en-US" altLang="zh-CN" sz="1800">
                <a:solidFill>
                  <a:srgbClr val="1000E4"/>
                </a:solidFill>
                <a:latin typeface="Consolas" pitchFamily="49" charset="0"/>
                <a:ea typeface="仿宋" pitchFamily="49" charset="-122"/>
                <a:cs typeface="Consolas" pitchFamily="49" charset="0"/>
              </a:rPr>
              <a:t>   }</a:t>
            </a:r>
            <a:endParaRPr lang="zh-CN" altLang="zh-CN" sz="1800">
              <a:solidFill>
                <a:srgbClr val="1000E4"/>
              </a:solidFill>
              <a:latin typeface="Consolas" pitchFamily="49" charset="0"/>
              <a:ea typeface="仿宋" pitchFamily="49" charset="-122"/>
              <a:cs typeface="Consolas" pitchFamily="49" charset="0"/>
            </a:endParaRPr>
          </a:p>
          <a:p>
            <a:pPr algn="l">
              <a:lnSpc>
                <a:spcPts val="2800"/>
              </a:lnSpc>
            </a:pPr>
            <a:r>
              <a:rPr lang="en-US" altLang="zh-CN" sz="1800">
                <a:solidFill>
                  <a:srgbClr val="1000E4"/>
                </a:solidFill>
                <a:latin typeface="Consolas" pitchFamily="49" charset="0"/>
                <a:ea typeface="仿宋" pitchFamily="49" charset="-122"/>
                <a:cs typeface="Consolas" pitchFamily="49" charset="0"/>
              </a:rPr>
              <a:t>}</a:t>
            </a:r>
            <a:endParaRPr lang="zh-CN" altLang="zh-CN" sz="1800">
              <a:solidFill>
                <a:srgbClr val="1000E4"/>
              </a:solidFill>
              <a:latin typeface="Consolas" pitchFamily="49" charset="0"/>
              <a:ea typeface="仿宋" pitchFamily="49" charset="-122"/>
              <a:cs typeface="Consolas" pitchFamily="49" charset="0"/>
            </a:endParaRPr>
          </a:p>
        </p:txBody>
      </p:sp>
      <p:sp>
        <p:nvSpPr>
          <p:cNvPr id="3" name="矩形 2">
            <a:extLst>
              <a:ext uri="{FF2B5EF4-FFF2-40B4-BE49-F238E27FC236}">
                <a16:creationId xmlns:a16="http://schemas.microsoft.com/office/drawing/2014/main" id="{AFA7C932-3A9C-6522-F014-550FC877907F}"/>
              </a:ext>
            </a:extLst>
          </p:cNvPr>
          <p:cNvSpPr/>
          <p:nvPr/>
        </p:nvSpPr>
        <p:spPr>
          <a:xfrm>
            <a:off x="4286110" y="1147510"/>
            <a:ext cx="4857784" cy="57150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1000E4"/>
                </a:solidFill>
                <a:latin typeface="Consolas" pitchFamily="49" charset="0"/>
                <a:cs typeface="Consolas" pitchFamily="49" charset="0"/>
              </a:rPr>
              <a:t>R</a:t>
            </a:r>
            <a:r>
              <a:rPr lang="en-US" altLang="zh-CN" sz="1800">
                <a:solidFill>
                  <a:srgbClr val="1000E4"/>
                </a:solidFill>
                <a:latin typeface="Consolas" pitchFamily="49" charset="0"/>
                <a:cs typeface="Consolas" pitchFamily="49" charset="0"/>
              </a:rPr>
              <a:t>[</a:t>
            </a:r>
            <a:r>
              <a:rPr lang="en-US" altLang="zh-CN" sz="1800" i="1">
                <a:solidFill>
                  <a:srgbClr val="1000E4"/>
                </a:solidFill>
                <a:latin typeface="Consolas" pitchFamily="49" charset="0"/>
                <a:cs typeface="Consolas" pitchFamily="49" charset="0"/>
              </a:rPr>
              <a:t>s</a:t>
            </a:r>
            <a:r>
              <a:rPr lang="en-US" altLang="zh-CN" sz="1800">
                <a:solidFill>
                  <a:srgbClr val="1000E4"/>
                </a:solidFill>
                <a:latin typeface="Consolas" pitchFamily="49" charset="0"/>
                <a:cs typeface="Consolas" pitchFamily="49" charset="0"/>
              </a:rPr>
              <a:t>]          </a:t>
            </a:r>
            <a:r>
              <a:rPr lang="en-US" altLang="zh-CN" sz="1800">
                <a:solidFill>
                  <a:srgbClr val="1000E4"/>
                </a:solidFill>
                <a:latin typeface="+mj-ea"/>
                <a:ea typeface="+mj-ea"/>
                <a:cs typeface="Consolas" pitchFamily="49" charset="0"/>
              </a:rPr>
              <a:t>…</a:t>
            </a:r>
            <a:r>
              <a:rPr lang="en-US" altLang="zh-CN" sz="1800">
                <a:solidFill>
                  <a:srgbClr val="1000E4"/>
                </a:solidFill>
                <a:latin typeface="Consolas" pitchFamily="49" charset="0"/>
                <a:cs typeface="Consolas" pitchFamily="49" charset="0"/>
              </a:rPr>
              <a:t>        </a:t>
            </a:r>
            <a:r>
              <a:rPr lang="en-US" altLang="zh-CN" sz="1800" i="1">
                <a:solidFill>
                  <a:srgbClr val="1000E4"/>
                </a:solidFill>
                <a:latin typeface="Consolas" pitchFamily="49" charset="0"/>
                <a:cs typeface="Consolas" pitchFamily="49" charset="0"/>
              </a:rPr>
              <a:t>R</a:t>
            </a:r>
            <a:r>
              <a:rPr lang="en-US" altLang="zh-CN" sz="1800">
                <a:solidFill>
                  <a:srgbClr val="1000E4"/>
                </a:solidFill>
                <a:latin typeface="Consolas" pitchFamily="49" charset="0"/>
                <a:cs typeface="Consolas" pitchFamily="49" charset="0"/>
              </a:rPr>
              <a:t>[</a:t>
            </a:r>
            <a:r>
              <a:rPr lang="en-US" altLang="zh-CN" sz="1800" i="1">
                <a:solidFill>
                  <a:srgbClr val="1000E4"/>
                </a:solidFill>
                <a:latin typeface="Consolas" pitchFamily="49" charset="0"/>
                <a:cs typeface="Consolas" pitchFamily="49" charset="0"/>
              </a:rPr>
              <a:t>t</a:t>
            </a:r>
            <a:r>
              <a:rPr lang="en-US" altLang="zh-CN" sz="1800">
                <a:solidFill>
                  <a:srgbClr val="1000E4"/>
                </a:solidFill>
                <a:latin typeface="Consolas" pitchFamily="49" charset="0"/>
                <a:cs typeface="Consolas" pitchFamily="49" charset="0"/>
              </a:rPr>
              <a:t>]</a:t>
            </a:r>
            <a:endParaRPr lang="zh-CN" altLang="en-US" sz="1800">
              <a:solidFill>
                <a:srgbClr val="1000E4"/>
              </a:solidFill>
              <a:latin typeface="Consolas" pitchFamily="49" charset="0"/>
              <a:cs typeface="Consolas" pitchFamily="49" charset="0"/>
            </a:endParaRPr>
          </a:p>
        </p:txBody>
      </p:sp>
      <p:sp>
        <p:nvSpPr>
          <p:cNvPr id="4" name="矩形 3">
            <a:extLst>
              <a:ext uri="{FF2B5EF4-FFF2-40B4-BE49-F238E27FC236}">
                <a16:creationId xmlns:a16="http://schemas.microsoft.com/office/drawing/2014/main" id="{7EE624B6-48D7-091D-063A-4DDC879BFD6A}"/>
              </a:ext>
            </a:extLst>
          </p:cNvPr>
          <p:cNvSpPr/>
          <p:nvPr/>
        </p:nvSpPr>
        <p:spPr>
          <a:xfrm>
            <a:off x="4286110" y="2367014"/>
            <a:ext cx="2071702" cy="57150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1000E4"/>
                </a:solidFill>
                <a:latin typeface="Consolas" pitchFamily="49" charset="0"/>
                <a:cs typeface="Consolas" pitchFamily="49" charset="0"/>
              </a:rPr>
              <a:t>R</a:t>
            </a:r>
            <a:r>
              <a:rPr lang="en-US" altLang="zh-CN" sz="1800">
                <a:solidFill>
                  <a:srgbClr val="1000E4"/>
                </a:solidFill>
                <a:latin typeface="Consolas" pitchFamily="49" charset="0"/>
                <a:cs typeface="Consolas" pitchFamily="49" charset="0"/>
              </a:rPr>
              <a:t>[</a:t>
            </a:r>
            <a:r>
              <a:rPr lang="en-US" altLang="zh-CN" sz="1800" i="1">
                <a:solidFill>
                  <a:srgbClr val="1000E4"/>
                </a:solidFill>
                <a:latin typeface="Consolas" pitchFamily="49" charset="0"/>
                <a:cs typeface="Consolas" pitchFamily="49" charset="0"/>
              </a:rPr>
              <a:t>s</a:t>
            </a:r>
            <a:r>
              <a:rPr lang="en-US" altLang="zh-CN" sz="1800">
                <a:solidFill>
                  <a:srgbClr val="1000E4"/>
                </a:solidFill>
                <a:latin typeface="Consolas" pitchFamily="49" charset="0"/>
                <a:cs typeface="Consolas" pitchFamily="49" charset="0"/>
              </a:rPr>
              <a:t>] </a:t>
            </a:r>
            <a:r>
              <a:rPr lang="en-US" altLang="zh-CN" sz="1800">
                <a:solidFill>
                  <a:srgbClr val="1000E4"/>
                </a:solidFill>
                <a:latin typeface="+mn-ea"/>
                <a:cs typeface="Consolas" pitchFamily="49" charset="0"/>
              </a:rPr>
              <a:t>…</a:t>
            </a:r>
            <a:r>
              <a:rPr lang="en-US" altLang="zh-CN" sz="1800">
                <a:solidFill>
                  <a:srgbClr val="1000E4"/>
                </a:solidFill>
                <a:latin typeface="Consolas" pitchFamily="49" charset="0"/>
                <a:cs typeface="Consolas" pitchFamily="49" charset="0"/>
              </a:rPr>
              <a:t> </a:t>
            </a:r>
            <a:r>
              <a:rPr lang="en-US" altLang="zh-CN" sz="1800" i="1">
                <a:solidFill>
                  <a:srgbClr val="1000E4"/>
                </a:solidFill>
                <a:latin typeface="Consolas" pitchFamily="49" charset="0"/>
                <a:cs typeface="Consolas" pitchFamily="49" charset="0"/>
              </a:rPr>
              <a:t>R</a:t>
            </a:r>
            <a:r>
              <a:rPr lang="en-US" altLang="zh-CN" sz="1800">
                <a:solidFill>
                  <a:srgbClr val="1000E4"/>
                </a:solidFill>
                <a:latin typeface="Consolas" pitchFamily="49" charset="0"/>
                <a:cs typeface="Consolas" pitchFamily="49" charset="0"/>
              </a:rPr>
              <a:t>[</a:t>
            </a:r>
            <a:r>
              <a:rPr lang="en-US" altLang="zh-CN" sz="1800" i="1">
                <a:solidFill>
                  <a:srgbClr val="1000E4"/>
                </a:solidFill>
                <a:latin typeface="Consolas" pitchFamily="49" charset="0"/>
                <a:cs typeface="Consolas" pitchFamily="49" charset="0"/>
              </a:rPr>
              <a:t>i</a:t>
            </a:r>
            <a:r>
              <a:rPr lang="en-US" altLang="zh-CN" sz="1800">
                <a:solidFill>
                  <a:srgbClr val="1000E4"/>
                </a:solidFill>
                <a:latin typeface="Consolas" pitchFamily="49" charset="0"/>
                <a:cs typeface="Consolas" pitchFamily="49" charset="0"/>
              </a:rPr>
              <a:t>-1]</a:t>
            </a:r>
            <a:endParaRPr lang="zh-CN" altLang="en-US" sz="1800">
              <a:solidFill>
                <a:srgbClr val="1000E4"/>
              </a:solidFill>
              <a:latin typeface="Consolas" pitchFamily="49" charset="0"/>
              <a:cs typeface="Consolas" pitchFamily="49" charset="0"/>
            </a:endParaRPr>
          </a:p>
        </p:txBody>
      </p:sp>
      <p:sp>
        <p:nvSpPr>
          <p:cNvPr id="5" name="矩形 4">
            <a:extLst>
              <a:ext uri="{FF2B5EF4-FFF2-40B4-BE49-F238E27FC236}">
                <a16:creationId xmlns:a16="http://schemas.microsoft.com/office/drawing/2014/main" id="{132FAA66-CB90-6DC8-BF83-912FD1752497}"/>
              </a:ext>
            </a:extLst>
          </p:cNvPr>
          <p:cNvSpPr/>
          <p:nvPr/>
        </p:nvSpPr>
        <p:spPr>
          <a:xfrm>
            <a:off x="7082240" y="2367014"/>
            <a:ext cx="2071702" cy="57150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a:solidFill>
                  <a:srgbClr val="1000E4"/>
                </a:solidFill>
                <a:latin typeface="Consolas" pitchFamily="49" charset="0"/>
                <a:cs typeface="Consolas" pitchFamily="49" charset="0"/>
              </a:rPr>
              <a:t>R</a:t>
            </a:r>
            <a:r>
              <a:rPr lang="en-US" altLang="zh-CN" sz="1800">
                <a:solidFill>
                  <a:srgbClr val="1000E4"/>
                </a:solidFill>
                <a:latin typeface="Consolas" pitchFamily="49" charset="0"/>
                <a:cs typeface="Consolas" pitchFamily="49" charset="0"/>
              </a:rPr>
              <a:t>[</a:t>
            </a:r>
            <a:r>
              <a:rPr lang="en-US" altLang="zh-CN" sz="1800" i="1">
                <a:solidFill>
                  <a:srgbClr val="1000E4"/>
                </a:solidFill>
                <a:latin typeface="Consolas" pitchFamily="49" charset="0"/>
                <a:cs typeface="Consolas" pitchFamily="49" charset="0"/>
              </a:rPr>
              <a:t>i</a:t>
            </a:r>
            <a:r>
              <a:rPr lang="en-US" altLang="zh-CN" sz="1800">
                <a:solidFill>
                  <a:srgbClr val="1000E4"/>
                </a:solidFill>
                <a:latin typeface="Consolas" pitchFamily="49" charset="0"/>
                <a:cs typeface="Consolas" pitchFamily="49" charset="0"/>
              </a:rPr>
              <a:t>+1] </a:t>
            </a:r>
            <a:r>
              <a:rPr lang="en-US" altLang="zh-CN" sz="1800">
                <a:solidFill>
                  <a:srgbClr val="1000E4"/>
                </a:solidFill>
                <a:latin typeface="+mj-ea"/>
                <a:ea typeface="+mj-ea"/>
                <a:cs typeface="Consolas" pitchFamily="49" charset="0"/>
              </a:rPr>
              <a:t>…</a:t>
            </a:r>
            <a:r>
              <a:rPr lang="en-US" altLang="zh-CN" sz="1800">
                <a:solidFill>
                  <a:srgbClr val="1000E4"/>
                </a:solidFill>
                <a:latin typeface="Consolas" pitchFamily="49" charset="0"/>
                <a:cs typeface="Consolas" pitchFamily="49" charset="0"/>
              </a:rPr>
              <a:t> </a:t>
            </a:r>
            <a:r>
              <a:rPr lang="en-US" altLang="zh-CN" sz="1800" i="1">
                <a:solidFill>
                  <a:srgbClr val="1000E4"/>
                </a:solidFill>
                <a:latin typeface="Consolas" pitchFamily="49" charset="0"/>
                <a:cs typeface="Consolas" pitchFamily="49" charset="0"/>
              </a:rPr>
              <a:t>R</a:t>
            </a:r>
            <a:r>
              <a:rPr lang="en-US" altLang="zh-CN" sz="1800">
                <a:solidFill>
                  <a:srgbClr val="1000E4"/>
                </a:solidFill>
                <a:latin typeface="Consolas" pitchFamily="49" charset="0"/>
                <a:cs typeface="Consolas" pitchFamily="49" charset="0"/>
              </a:rPr>
              <a:t>[</a:t>
            </a:r>
            <a:r>
              <a:rPr lang="en-US" altLang="zh-CN" sz="1800" i="1">
                <a:solidFill>
                  <a:srgbClr val="1000E4"/>
                </a:solidFill>
                <a:latin typeface="Consolas" pitchFamily="49" charset="0"/>
                <a:cs typeface="Consolas" pitchFamily="49" charset="0"/>
              </a:rPr>
              <a:t>t</a:t>
            </a:r>
            <a:r>
              <a:rPr lang="en-US" altLang="zh-CN" sz="1800">
                <a:solidFill>
                  <a:srgbClr val="1000E4"/>
                </a:solidFill>
                <a:latin typeface="Consolas" pitchFamily="49" charset="0"/>
                <a:cs typeface="Consolas" pitchFamily="49" charset="0"/>
              </a:rPr>
              <a:t>]</a:t>
            </a:r>
            <a:endParaRPr lang="zh-CN" altLang="en-US" sz="1800">
              <a:solidFill>
                <a:srgbClr val="1000E4"/>
              </a:solidFill>
              <a:latin typeface="Consolas" pitchFamily="49" charset="0"/>
              <a:cs typeface="Consolas" pitchFamily="49" charset="0"/>
            </a:endParaRPr>
          </a:p>
        </p:txBody>
      </p:sp>
      <p:sp>
        <p:nvSpPr>
          <p:cNvPr id="6" name="Oval 7">
            <a:extLst>
              <a:ext uri="{FF2B5EF4-FFF2-40B4-BE49-F238E27FC236}">
                <a16:creationId xmlns:a16="http://schemas.microsoft.com/office/drawing/2014/main" id="{430138FD-20D4-7EDD-7024-1C9808740A47}"/>
              </a:ext>
            </a:extLst>
          </p:cNvPr>
          <p:cNvSpPr>
            <a:spLocks noChangeArrowheads="1"/>
          </p:cNvSpPr>
          <p:nvPr/>
        </p:nvSpPr>
        <p:spPr bwMode="auto">
          <a:xfrm>
            <a:off x="6429250" y="2367014"/>
            <a:ext cx="609600" cy="533400"/>
          </a:xfrm>
          <a:prstGeom prst="ellipse">
            <a:avLst/>
          </a:prstGeom>
          <a:solidFill>
            <a:srgbClr val="FFCC99"/>
          </a:solidFill>
          <a:ln w="19050">
            <a:solidFill>
              <a:srgbClr val="FF0000"/>
            </a:solidFill>
            <a:round/>
            <a:headEnd/>
            <a:tailEnd/>
          </a:ln>
          <a:effectLst/>
        </p:spPr>
        <p:txBody>
          <a:bodyPr wrap="none" anchor="ctr"/>
          <a:lstStyle/>
          <a:p>
            <a:r>
              <a:rPr kumimoji="1" lang="zh-CN" altLang="en-US" sz="1800" dirty="0">
                <a:solidFill>
                  <a:srgbClr val="990000"/>
                </a:solidFill>
                <a:latin typeface="Consolas" pitchFamily="49" charset="0"/>
                <a:ea typeface="楷体" pitchFamily="49" charset="-122"/>
                <a:cs typeface="Consolas" pitchFamily="49" charset="0"/>
              </a:rPr>
              <a:t>基准</a:t>
            </a:r>
            <a:endParaRPr kumimoji="1" lang="zh-CN" altLang="en-US" sz="1800" b="0" dirty="0">
              <a:solidFill>
                <a:schemeClr val="tx1"/>
              </a:solidFill>
              <a:latin typeface="Consolas" pitchFamily="49" charset="0"/>
              <a:ea typeface="楷体" pitchFamily="49" charset="-122"/>
              <a:cs typeface="Consolas" pitchFamily="49" charset="0"/>
            </a:endParaRPr>
          </a:p>
        </p:txBody>
      </p:sp>
      <p:sp>
        <p:nvSpPr>
          <p:cNvPr id="7" name="下箭头 14">
            <a:extLst>
              <a:ext uri="{FF2B5EF4-FFF2-40B4-BE49-F238E27FC236}">
                <a16:creationId xmlns:a16="http://schemas.microsoft.com/office/drawing/2014/main" id="{C9628460-F167-B18A-7EC3-123B5DBB47E6}"/>
              </a:ext>
            </a:extLst>
          </p:cNvPr>
          <p:cNvSpPr/>
          <p:nvPr/>
        </p:nvSpPr>
        <p:spPr>
          <a:xfrm>
            <a:off x="6643564" y="1719014"/>
            <a:ext cx="216000" cy="64800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3" name="TextBox 15">
            <a:extLst>
              <a:ext uri="{FF2B5EF4-FFF2-40B4-BE49-F238E27FC236}">
                <a16:creationId xmlns:a16="http://schemas.microsoft.com/office/drawing/2014/main" id="{CDF2C62D-9761-FDDE-0E3E-46E19290AB02}"/>
              </a:ext>
            </a:extLst>
          </p:cNvPr>
          <p:cNvSpPr txBox="1"/>
          <p:nvPr/>
        </p:nvSpPr>
        <p:spPr>
          <a:xfrm>
            <a:off x="6857878" y="1818970"/>
            <a:ext cx="2928958" cy="400110"/>
          </a:xfrm>
          <a:prstGeom prst="rect">
            <a:avLst/>
          </a:prstGeom>
          <a:noFill/>
        </p:spPr>
        <p:txBody>
          <a:bodyPr wrap="square" rtlCol="0">
            <a:spAutoFit/>
          </a:bodyPr>
          <a:lstStyle/>
          <a:p>
            <a:pPr algn="l"/>
            <a:r>
              <a:rPr lang="en-US" altLang="zh-CN" sz="2000" i="1">
                <a:latin typeface="Consolas" pitchFamily="49" charset="0"/>
                <a:ea typeface="仿宋" pitchFamily="49" charset="-122"/>
                <a:cs typeface="Consolas" pitchFamily="49" charset="0"/>
              </a:rPr>
              <a:t>i</a:t>
            </a:r>
            <a:r>
              <a:rPr lang="en-US" altLang="zh-CN" sz="2000">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partition</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R</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s</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t</a:t>
            </a:r>
            <a:r>
              <a:rPr lang="en-US" altLang="zh-CN" sz="2000">
                <a:latin typeface="Consolas" pitchFamily="49" charset="0"/>
                <a:ea typeface="仿宋" pitchFamily="49" charset="-122"/>
                <a:cs typeface="Consolas" pitchFamily="49" charset="0"/>
              </a:rPr>
              <a:t>)</a:t>
            </a:r>
            <a:endParaRPr lang="zh-CN" altLang="en-US" sz="2000"/>
          </a:p>
        </p:txBody>
      </p:sp>
      <p:sp>
        <p:nvSpPr>
          <p:cNvPr id="14" name="矩形 13">
            <a:extLst>
              <a:ext uri="{FF2B5EF4-FFF2-40B4-BE49-F238E27FC236}">
                <a16:creationId xmlns:a16="http://schemas.microsoft.com/office/drawing/2014/main" id="{1BFF4E27-DA8C-5D61-3E7A-47AE400AB79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15" name="直接连接符 14">
            <a:extLst>
              <a:ext uri="{FF2B5EF4-FFF2-40B4-BE49-F238E27FC236}">
                <a16:creationId xmlns:a16="http://schemas.microsoft.com/office/drawing/2014/main" id="{A8EE4BE2-191D-C84F-791F-818F24A1E03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92248E7D-985C-D14D-6147-54CEAB1DF24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8249114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51583" y="1959502"/>
            <a:ext cx="4544834" cy="400110"/>
          </a:xfrm>
          <a:prstGeom prst="rect">
            <a:avLst/>
          </a:prstGeom>
        </p:spPr>
        <p:txBody>
          <a:bodyPr wrap="none">
            <a:spAutoFit/>
          </a:bodyPr>
          <a:lstStyle/>
          <a:p>
            <a:pPr>
              <a:buSzPct val="75000"/>
            </a:pPr>
            <a:r>
              <a:rPr kumimoji="1" lang="zh-CN" altLang="en-US" sz="2000" dirty="0">
                <a:latin typeface="微软雅黑" pitchFamily="34" charset="-122"/>
                <a:ea typeface="微软雅黑" pitchFamily="34" charset="-122"/>
                <a:cs typeface="经典粗黑简" pitchFamily="49" charset="-122"/>
              </a:rPr>
              <a:t>以顺序表作为存储结构的快速排序算法</a:t>
            </a:r>
          </a:p>
        </p:txBody>
      </p:sp>
      <p:sp>
        <p:nvSpPr>
          <p:cNvPr id="8" name="矩形 7"/>
          <p:cNvSpPr/>
          <p:nvPr/>
        </p:nvSpPr>
        <p:spPr>
          <a:xfrm>
            <a:off x="2351584" y="2352310"/>
            <a:ext cx="2986715"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时间复杂度：</a:t>
            </a:r>
            <a:r>
              <a:rPr kumimoji="1" lang="en-US" altLang="zh-CN" sz="2000" dirty="0">
                <a:latin typeface="微软雅黑" pitchFamily="34" charset="-122"/>
                <a:ea typeface="微软雅黑" pitchFamily="34" charset="-122"/>
                <a:cs typeface="经典粗黑简" pitchFamily="49" charset="-122"/>
              </a:rPr>
              <a:t>O(</a:t>
            </a:r>
            <a:r>
              <a:rPr kumimoji="1" lang="en-US" altLang="zh-CN" sz="2000" dirty="0" err="1">
                <a:latin typeface="微软雅黑" pitchFamily="34" charset="-122"/>
                <a:ea typeface="微软雅黑" pitchFamily="34" charset="-122"/>
                <a:cs typeface="经典粗黑简" pitchFamily="49" charset="-122"/>
              </a:rPr>
              <a:t>nlogn</a:t>
            </a:r>
            <a:r>
              <a:rPr kumimoji="1" lang="zh-CN" altLang="en-US" sz="2000" dirty="0">
                <a:latin typeface="微软雅黑" pitchFamily="34" charset="-122"/>
                <a:ea typeface="微软雅黑" pitchFamily="34" charset="-122"/>
                <a:cs typeface="经典粗黑简" pitchFamily="49" charset="-122"/>
              </a:rPr>
              <a:t>）</a:t>
            </a:r>
          </a:p>
        </p:txBody>
      </p:sp>
      <p:sp>
        <p:nvSpPr>
          <p:cNvPr id="9" name="矩形 8"/>
          <p:cNvSpPr/>
          <p:nvPr/>
        </p:nvSpPr>
        <p:spPr>
          <a:xfrm>
            <a:off x="2801455" y="2745119"/>
            <a:ext cx="7272808" cy="1200329"/>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快速排序在</a:t>
            </a:r>
            <a:r>
              <a:rPr kumimoji="1" lang="zh-CN" altLang="en-US" dirty="0">
                <a:latin typeface="微软雅黑" pitchFamily="34" charset="-122"/>
                <a:ea typeface="微软雅黑" pitchFamily="34" charset="-122"/>
                <a:cs typeface="经典粗黑简" pitchFamily="49" charset="-122"/>
                <a:hlinkClick r:id="rId2" action="ppaction://hlinksldjump"/>
              </a:rPr>
              <a:t>最好情形</a:t>
            </a:r>
            <a:r>
              <a:rPr kumimoji="1" lang="zh-CN" altLang="en-US" dirty="0">
                <a:latin typeface="微软雅黑" pitchFamily="34" charset="-122"/>
                <a:ea typeface="微软雅黑" pitchFamily="34" charset="-122"/>
                <a:cs typeface="经典粗黑简" pitchFamily="49" charset="-122"/>
              </a:rPr>
              <a:t>下</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左、右子区间的长度大致相等</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，则结点数</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与二叉树深度</a:t>
            </a:r>
            <a:r>
              <a:rPr kumimoji="1" lang="en-US" altLang="zh-CN" dirty="0">
                <a:latin typeface="微软雅黑" pitchFamily="34" charset="-122"/>
                <a:ea typeface="微软雅黑" pitchFamily="34" charset="-122"/>
                <a:cs typeface="经典粗黑简" pitchFamily="49" charset="-122"/>
              </a:rPr>
              <a:t>h</a:t>
            </a:r>
            <a:r>
              <a:rPr kumimoji="1" lang="zh-CN" altLang="en-US" dirty="0">
                <a:latin typeface="微软雅黑" pitchFamily="34" charset="-122"/>
                <a:ea typeface="微软雅黑" pitchFamily="34" charset="-122"/>
                <a:cs typeface="经典粗黑简" pitchFamily="49" charset="-122"/>
              </a:rPr>
              <a:t>应满足</a:t>
            </a:r>
            <a:r>
              <a:rPr kumimoji="1" lang="en-US" altLang="zh-CN" dirty="0">
                <a:latin typeface="微软雅黑" pitchFamily="34" charset="-122"/>
                <a:ea typeface="微软雅黑" pitchFamily="34" charset="-122"/>
                <a:cs typeface="经典粗黑简" pitchFamily="49" charset="-122"/>
              </a:rPr>
              <a:t>log</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n&lt;h&lt;log</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n+1</a:t>
            </a:r>
            <a:r>
              <a:rPr kumimoji="1" lang="zh-CN" altLang="en-US" dirty="0">
                <a:latin typeface="微软雅黑" pitchFamily="34" charset="-122"/>
                <a:ea typeface="微软雅黑" pitchFamily="34" charset="-122"/>
                <a:cs typeface="经典粗黑简" pitchFamily="49" charset="-122"/>
              </a:rPr>
              <a:t>，所以总的比较次数不会超过</a:t>
            </a:r>
            <a:r>
              <a:rPr kumimoji="1" lang="en-US" altLang="zh-CN" dirty="0">
                <a:latin typeface="微软雅黑" pitchFamily="34" charset="-122"/>
                <a:ea typeface="微软雅黑" pitchFamily="34" charset="-122"/>
                <a:cs typeface="经典粗黑简" pitchFamily="49" charset="-122"/>
              </a:rPr>
              <a:t>(n+1)log</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。因此，快速排序的最好时间复杂度应为</a:t>
            </a:r>
            <a:r>
              <a:rPr kumimoji="1" lang="en-US" altLang="zh-CN" dirty="0">
                <a:latin typeface="微软雅黑" pitchFamily="34" charset="-122"/>
                <a:ea typeface="微软雅黑" pitchFamily="34" charset="-122"/>
                <a:cs typeface="经典粗黑简" pitchFamily="49" charset="-122"/>
              </a:rPr>
              <a:t>O(nlog</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。理论上已经证明，快速排序的平均时间复杂度也为</a:t>
            </a:r>
            <a:r>
              <a:rPr kumimoji="1" lang="en-US" altLang="zh-CN" dirty="0">
                <a:latin typeface="微软雅黑" pitchFamily="34" charset="-122"/>
                <a:ea typeface="微软雅黑" pitchFamily="34" charset="-122"/>
                <a:cs typeface="经典粗黑简" pitchFamily="49" charset="-122"/>
              </a:rPr>
              <a:t>O(nlog</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a:t>
            </a:r>
            <a:endParaRPr lang="zh-CN" altLang="en-US" dirty="0"/>
          </a:p>
        </p:txBody>
      </p:sp>
      <p:sp>
        <p:nvSpPr>
          <p:cNvPr id="10" name="矩形 9"/>
          <p:cNvSpPr/>
          <p:nvPr/>
        </p:nvSpPr>
        <p:spPr>
          <a:xfrm>
            <a:off x="2801455" y="3938145"/>
            <a:ext cx="5385136" cy="369332"/>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在</a:t>
            </a:r>
            <a:r>
              <a:rPr kumimoji="1" lang="zh-CN" altLang="en-US" dirty="0">
                <a:latin typeface="微软雅黑" pitchFamily="34" charset="-122"/>
                <a:ea typeface="微软雅黑" pitchFamily="34" charset="-122"/>
                <a:cs typeface="经典粗黑简" pitchFamily="49" charset="-122"/>
                <a:hlinkClick r:id="rId3" action="ppaction://hlinksldjump"/>
              </a:rPr>
              <a:t>最坏情况</a:t>
            </a:r>
            <a:r>
              <a:rPr kumimoji="1" lang="zh-CN" altLang="en-US" dirty="0">
                <a:latin typeface="微软雅黑" pitchFamily="34" charset="-122"/>
                <a:ea typeface="微软雅黑" pitchFamily="34" charset="-122"/>
                <a:cs typeface="经典粗黑简" pitchFamily="49" charset="-122"/>
              </a:rPr>
              <a:t>下</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逆序或正序</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，时间复杂度为 </a:t>
            </a:r>
            <a:r>
              <a:rPr kumimoji="1" lang="en-US" altLang="zh-CN" dirty="0">
                <a:latin typeface="微软雅黑" pitchFamily="34" charset="-122"/>
                <a:ea typeface="微软雅黑" pitchFamily="34" charset="-122"/>
                <a:cs typeface="经典粗黑简" pitchFamily="49" charset="-122"/>
              </a:rPr>
              <a:t>O(n</a:t>
            </a:r>
            <a:r>
              <a:rPr kumimoji="1" lang="en-US" altLang="zh-CN" baseline="30000" dirty="0">
                <a:latin typeface="微软雅黑" pitchFamily="34" charset="-122"/>
                <a:ea typeface="微软雅黑" pitchFamily="34" charset="-122"/>
                <a:cs typeface="经典粗黑简" pitchFamily="49" charset="-122"/>
              </a:rPr>
              <a:t>2</a:t>
            </a:r>
            <a:r>
              <a:rPr kumimoji="1" lang="zh-CN" altLang="en-US" dirty="0">
                <a:latin typeface="微软雅黑" pitchFamily="34" charset="-122"/>
                <a:ea typeface="微软雅黑" pitchFamily="34" charset="-122"/>
                <a:cs typeface="经典粗黑简" pitchFamily="49" charset="-122"/>
              </a:rPr>
              <a:t>）；</a:t>
            </a:r>
            <a:endParaRPr lang="zh-CN" altLang="en-US" dirty="0"/>
          </a:p>
        </p:txBody>
      </p:sp>
      <p:sp>
        <p:nvSpPr>
          <p:cNvPr id="12" name="矩形 11"/>
          <p:cNvSpPr/>
          <p:nvPr/>
        </p:nvSpPr>
        <p:spPr>
          <a:xfrm>
            <a:off x="2351583" y="4300175"/>
            <a:ext cx="2828018"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空间复杂度：</a:t>
            </a:r>
            <a:r>
              <a:rPr kumimoji="1" lang="en-US" altLang="zh-CN" sz="2000" dirty="0">
                <a:latin typeface="微软雅黑" pitchFamily="34" charset="-122"/>
                <a:ea typeface="微软雅黑" pitchFamily="34" charset="-122"/>
                <a:cs typeface="经典粗黑简" pitchFamily="49" charset="-122"/>
              </a:rPr>
              <a:t>O(</a:t>
            </a:r>
            <a:r>
              <a:rPr kumimoji="1" lang="en-US" altLang="zh-CN" sz="2000" dirty="0" err="1">
                <a:latin typeface="微软雅黑" pitchFamily="34" charset="-122"/>
                <a:ea typeface="微软雅黑" pitchFamily="34" charset="-122"/>
                <a:cs typeface="经典粗黑简" pitchFamily="49" charset="-122"/>
              </a:rPr>
              <a:t>logn</a:t>
            </a:r>
            <a:r>
              <a:rPr kumimoji="1" lang="zh-CN" altLang="en-US" sz="2000" dirty="0">
                <a:latin typeface="微软雅黑" pitchFamily="34" charset="-122"/>
                <a:ea typeface="微软雅黑" pitchFamily="34" charset="-122"/>
                <a:cs typeface="经典粗黑简" pitchFamily="49" charset="-122"/>
              </a:rPr>
              <a:t>）</a:t>
            </a:r>
          </a:p>
        </p:txBody>
      </p:sp>
      <p:sp>
        <p:nvSpPr>
          <p:cNvPr id="13" name="矩形 12"/>
          <p:cNvSpPr/>
          <p:nvPr/>
        </p:nvSpPr>
        <p:spPr>
          <a:xfrm>
            <a:off x="2801455" y="4692983"/>
            <a:ext cx="5328592" cy="369332"/>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在最坏情况下</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逆序或正序</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，空间复杂度为</a:t>
            </a:r>
            <a:r>
              <a:rPr kumimoji="1" lang="en-US" altLang="zh-CN" dirty="0">
                <a:latin typeface="微软雅黑" pitchFamily="34" charset="-122"/>
                <a:ea typeface="微软雅黑" pitchFamily="34" charset="-122"/>
                <a:cs typeface="经典粗黑简" pitchFamily="49" charset="-122"/>
              </a:rPr>
              <a:t>O(n</a:t>
            </a:r>
            <a:r>
              <a:rPr kumimoji="1" lang="zh-CN" altLang="en-US" dirty="0">
                <a:latin typeface="微软雅黑" pitchFamily="34" charset="-122"/>
                <a:ea typeface="微软雅黑" pitchFamily="34" charset="-122"/>
                <a:cs typeface="经典粗黑简" pitchFamily="49" charset="-122"/>
              </a:rPr>
              <a:t>）；</a:t>
            </a:r>
            <a:endParaRPr lang="zh-CN" altLang="en-US" dirty="0"/>
          </a:p>
        </p:txBody>
      </p:sp>
      <p:sp>
        <p:nvSpPr>
          <p:cNvPr id="14" name="矩形 13"/>
          <p:cNvSpPr/>
          <p:nvPr/>
        </p:nvSpPr>
        <p:spPr>
          <a:xfrm>
            <a:off x="2351583" y="5055013"/>
            <a:ext cx="2492990"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不稳定的排序方法；</a:t>
            </a:r>
          </a:p>
        </p:txBody>
      </p:sp>
      <p:sp>
        <p:nvSpPr>
          <p:cNvPr id="15" name="矩形 14"/>
          <p:cNvSpPr/>
          <p:nvPr/>
        </p:nvSpPr>
        <p:spPr>
          <a:xfrm>
            <a:off x="2351584" y="5447824"/>
            <a:ext cx="5057795"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快速排序不适合对小规模的序列进行排序。</a:t>
            </a:r>
          </a:p>
        </p:txBody>
      </p:sp>
      <p:sp>
        <p:nvSpPr>
          <p:cNvPr id="2" name="矩形 1">
            <a:extLst>
              <a:ext uri="{FF2B5EF4-FFF2-40B4-BE49-F238E27FC236}">
                <a16:creationId xmlns:a16="http://schemas.microsoft.com/office/drawing/2014/main" id="{244FB55C-B331-2D3F-B657-8DFEF3708EC3}"/>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4" name="直接连接符 3">
            <a:extLst>
              <a:ext uri="{FF2B5EF4-FFF2-40B4-BE49-F238E27FC236}">
                <a16:creationId xmlns:a16="http://schemas.microsoft.com/office/drawing/2014/main" id="{D02C51C4-5332-5FD1-2F77-156D1D0D9CAB}"/>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D5F0F9F-6044-CCF3-5BA1-DD9A6DA81A2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Tree>
    <p:extLst>
      <p:ext uri="{BB962C8B-B14F-4D97-AF65-F5344CB8AC3E}">
        <p14:creationId xmlns:p14="http://schemas.microsoft.com/office/powerpoint/2010/main" val="20936297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2" grpId="0"/>
      <p:bldP spid="13" grpId="0"/>
      <p:bldP spid="14" grpId="0"/>
      <p:bldP spid="1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42D9A-43CC-75C5-EF93-1CC6BC390EB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B020FB7-F5CE-70DA-A18E-8B15FCA97E88}"/>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4" name="直接连接符 3">
            <a:extLst>
              <a:ext uri="{FF2B5EF4-FFF2-40B4-BE49-F238E27FC236}">
                <a16:creationId xmlns:a16="http://schemas.microsoft.com/office/drawing/2014/main" id="{492B6630-D169-9BE8-5EC3-8E39C7B1B0D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7420ED06-150A-2612-E02A-B0B333A1E9A7}"/>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
        <p:nvSpPr>
          <p:cNvPr id="6" name="TextBox 3">
            <a:extLst>
              <a:ext uri="{FF2B5EF4-FFF2-40B4-BE49-F238E27FC236}">
                <a16:creationId xmlns:a16="http://schemas.microsoft.com/office/drawing/2014/main" id="{7F465624-7422-3CBB-AC9B-454DD6F94AB7}"/>
              </a:ext>
            </a:extLst>
          </p:cNvPr>
          <p:cNvSpPr txBox="1"/>
          <p:nvPr/>
        </p:nvSpPr>
        <p:spPr>
          <a:xfrm>
            <a:off x="2135560" y="1916832"/>
            <a:ext cx="8072494" cy="2862322"/>
          </a:xfrm>
          <a:prstGeom prst="rect">
            <a:avLst/>
          </a:prstGeom>
          <a:noFill/>
        </p:spPr>
        <p:txBody>
          <a:bodyPr wrap="square" rtlCol="0">
            <a:spAutoFit/>
          </a:bodyPr>
          <a:lstStyle/>
          <a:p>
            <a:pPr algn="l">
              <a:lnSpc>
                <a:spcPct val="150000"/>
              </a:lnSpc>
            </a:pPr>
            <a:r>
              <a:rPr lang="zh-CN" altLang="en-US" sz="2000">
                <a:latin typeface="Consolas" pitchFamily="49" charset="0"/>
                <a:ea typeface="楷体" pitchFamily="49" charset="-122"/>
                <a:cs typeface="Consolas" pitchFamily="49" charset="0"/>
              </a:rPr>
              <a:t>    采</a:t>
            </a:r>
            <a:r>
              <a:rPr lang="zh-CN" altLang="en-US" sz="2000" dirty="0">
                <a:latin typeface="Consolas" pitchFamily="49" charset="0"/>
                <a:ea typeface="楷体" pitchFamily="49" charset="-122"/>
                <a:cs typeface="Consolas" pitchFamily="49" charset="0"/>
              </a:rPr>
              <a:t>用递归方式对顺序表进行</a:t>
            </a:r>
            <a:r>
              <a:rPr lang="zh-CN" altLang="en-US" sz="2000">
                <a:latin typeface="Consolas" pitchFamily="49" charset="0"/>
                <a:ea typeface="楷体" pitchFamily="49" charset="-122"/>
                <a:cs typeface="Consolas" pitchFamily="49" charset="0"/>
              </a:rPr>
              <a:t>快速排序，下列</a:t>
            </a:r>
            <a:r>
              <a:rPr lang="zh-CN" altLang="en-US" sz="2000" dirty="0">
                <a:latin typeface="Consolas" pitchFamily="49" charset="0"/>
                <a:ea typeface="楷体" pitchFamily="49" charset="-122"/>
                <a:cs typeface="Consolas" pitchFamily="49" charset="0"/>
              </a:rPr>
              <a:t>关于递归次数的</a:t>
            </a:r>
            <a:r>
              <a:rPr lang="zh-CN" altLang="en-US" sz="2000">
                <a:latin typeface="Consolas" pitchFamily="49" charset="0"/>
                <a:ea typeface="楷体" pitchFamily="49" charset="-122"/>
                <a:cs typeface="Consolas" pitchFamily="49" charset="0"/>
              </a:rPr>
              <a:t>叙述中，正确的是（  ）。</a:t>
            </a:r>
            <a:endParaRPr lang="zh-CN" altLang="en-US" sz="2000" dirty="0">
              <a:latin typeface="Consolas" pitchFamily="49" charset="0"/>
              <a:ea typeface="楷体" pitchFamily="49" charset="-122"/>
              <a:cs typeface="Consolas" pitchFamily="49" charset="0"/>
            </a:endParaRPr>
          </a:p>
          <a:p>
            <a:pPr algn="l">
              <a:lnSpc>
                <a:spcPct val="150000"/>
              </a:lnSpc>
            </a:pPr>
            <a:r>
              <a:rPr lang="en-US" sz="2000" dirty="0">
                <a:latin typeface="Consolas" pitchFamily="49" charset="0"/>
                <a:ea typeface="仿宋" pitchFamily="49" charset="-122"/>
                <a:cs typeface="Consolas" pitchFamily="49" charset="0"/>
              </a:rPr>
              <a:t>    A. </a:t>
            </a:r>
            <a:r>
              <a:rPr lang="zh-CN" altLang="en-US" sz="2000" dirty="0">
                <a:latin typeface="Consolas" pitchFamily="49" charset="0"/>
                <a:ea typeface="仿宋" pitchFamily="49" charset="-122"/>
                <a:cs typeface="Consolas" pitchFamily="49" charset="0"/>
              </a:rPr>
              <a:t>递归次数与初始数据的排列次序无关</a:t>
            </a:r>
          </a:p>
          <a:p>
            <a:pPr algn="l">
              <a:lnSpc>
                <a:spcPct val="150000"/>
              </a:lnSpc>
            </a:pPr>
            <a:r>
              <a:rPr lang="en-US" sz="2000" dirty="0">
                <a:latin typeface="Consolas" pitchFamily="49" charset="0"/>
                <a:ea typeface="仿宋" pitchFamily="49" charset="-122"/>
                <a:cs typeface="Consolas" pitchFamily="49" charset="0"/>
              </a:rPr>
              <a:t>    B. </a:t>
            </a:r>
            <a:r>
              <a:rPr lang="zh-CN" altLang="en-US" sz="2000" dirty="0">
                <a:latin typeface="Consolas" pitchFamily="49" charset="0"/>
                <a:ea typeface="仿宋" pitchFamily="49" charset="-122"/>
                <a:cs typeface="Consolas" pitchFamily="49" charset="0"/>
              </a:rPr>
              <a:t>每次</a:t>
            </a:r>
            <a:r>
              <a:rPr lang="zh-CN" altLang="en-US" sz="2000">
                <a:latin typeface="Consolas" pitchFamily="49" charset="0"/>
                <a:ea typeface="仿宋" pitchFamily="49" charset="-122"/>
                <a:cs typeface="Consolas" pitchFamily="49" charset="0"/>
              </a:rPr>
              <a:t>划分后，先</a:t>
            </a:r>
            <a:r>
              <a:rPr lang="zh-CN" altLang="en-US" sz="2000" dirty="0">
                <a:latin typeface="Consolas" pitchFamily="49" charset="0"/>
                <a:ea typeface="仿宋" pitchFamily="49" charset="-122"/>
                <a:cs typeface="Consolas" pitchFamily="49" charset="0"/>
              </a:rPr>
              <a:t>处理较长的分区可以减少递归次数</a:t>
            </a:r>
          </a:p>
          <a:p>
            <a:pPr algn="l">
              <a:lnSpc>
                <a:spcPct val="150000"/>
              </a:lnSpc>
            </a:pPr>
            <a:r>
              <a:rPr lang="en-US" sz="2000" dirty="0">
                <a:latin typeface="Consolas" pitchFamily="49" charset="0"/>
                <a:ea typeface="仿宋" pitchFamily="49" charset="-122"/>
                <a:cs typeface="Consolas" pitchFamily="49" charset="0"/>
              </a:rPr>
              <a:t>    C. </a:t>
            </a:r>
            <a:r>
              <a:rPr lang="zh-CN" altLang="en-US" sz="2000" dirty="0">
                <a:latin typeface="Consolas" pitchFamily="49" charset="0"/>
                <a:ea typeface="仿宋" pitchFamily="49" charset="-122"/>
                <a:cs typeface="Consolas" pitchFamily="49" charset="0"/>
              </a:rPr>
              <a:t>每次</a:t>
            </a:r>
            <a:r>
              <a:rPr lang="zh-CN" altLang="en-US" sz="2000">
                <a:latin typeface="Consolas" pitchFamily="49" charset="0"/>
                <a:ea typeface="仿宋" pitchFamily="49" charset="-122"/>
                <a:cs typeface="Consolas" pitchFamily="49" charset="0"/>
              </a:rPr>
              <a:t>划分后，先</a:t>
            </a:r>
            <a:r>
              <a:rPr lang="zh-CN" altLang="en-US" sz="2000" dirty="0">
                <a:latin typeface="Consolas" pitchFamily="49" charset="0"/>
                <a:ea typeface="仿宋" pitchFamily="49" charset="-122"/>
                <a:cs typeface="Consolas" pitchFamily="49" charset="0"/>
              </a:rPr>
              <a:t>处理较短的分区可以减少递归次数</a:t>
            </a:r>
          </a:p>
          <a:p>
            <a:pPr algn="l">
              <a:lnSpc>
                <a:spcPct val="150000"/>
              </a:lnSpc>
            </a:pPr>
            <a:r>
              <a:rPr lang="en-US" sz="2000" dirty="0">
                <a:latin typeface="Consolas" pitchFamily="49" charset="0"/>
                <a:ea typeface="仿宋" pitchFamily="49" charset="-122"/>
                <a:cs typeface="Consolas" pitchFamily="49" charset="0"/>
              </a:rPr>
              <a:t>    </a:t>
            </a:r>
            <a:r>
              <a:rPr lang="en-US" sz="2000" dirty="0">
                <a:solidFill>
                  <a:srgbClr val="FF00FF"/>
                </a:solidFill>
                <a:latin typeface="Consolas" pitchFamily="49" charset="0"/>
                <a:ea typeface="仿宋" pitchFamily="49" charset="-122"/>
                <a:cs typeface="Consolas" pitchFamily="49" charset="0"/>
              </a:rPr>
              <a:t>D. </a:t>
            </a:r>
            <a:r>
              <a:rPr lang="zh-CN" altLang="en-US" sz="2000" dirty="0">
                <a:solidFill>
                  <a:srgbClr val="FF00FF"/>
                </a:solidFill>
                <a:latin typeface="Consolas" pitchFamily="49" charset="0"/>
                <a:ea typeface="仿宋" pitchFamily="49" charset="-122"/>
                <a:cs typeface="Consolas" pitchFamily="49" charset="0"/>
              </a:rPr>
              <a:t>递归次数与每次划分后得到的分区处理顺序无关</a:t>
            </a:r>
          </a:p>
        </p:txBody>
      </p:sp>
      <p:sp>
        <p:nvSpPr>
          <p:cNvPr id="7" name="Text Box 3">
            <a:extLst>
              <a:ext uri="{FF2B5EF4-FFF2-40B4-BE49-F238E27FC236}">
                <a16:creationId xmlns:a16="http://schemas.microsoft.com/office/drawing/2014/main" id="{51631AEF-8FB6-C0D2-44FE-DB64E34DC138}"/>
              </a:ext>
            </a:extLst>
          </p:cNvPr>
          <p:cNvSpPr txBox="1">
            <a:spLocks noChangeArrowheads="1"/>
          </p:cNvSpPr>
          <p:nvPr/>
        </p:nvSpPr>
        <p:spPr bwMode="auto">
          <a:xfrm>
            <a:off x="3135692" y="4988666"/>
            <a:ext cx="4357718"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solidFill>
                  <a:srgbClr val="FF3300"/>
                </a:solidFill>
                <a:latin typeface="Consolas" pitchFamily="49" charset="0"/>
                <a:ea typeface="楷体" pitchFamily="49" charset="-122"/>
                <a:cs typeface="Consolas" pitchFamily="49" charset="0"/>
              </a:rPr>
              <a:t>说明：本题为</a:t>
            </a:r>
            <a:r>
              <a:rPr lang="en-US" altLang="zh-CN" sz="2000" dirty="0">
                <a:solidFill>
                  <a:srgbClr val="FF3300"/>
                </a:solidFill>
                <a:latin typeface="Consolas" pitchFamily="49" charset="0"/>
                <a:ea typeface="楷体" pitchFamily="49" charset="-122"/>
                <a:cs typeface="Consolas" pitchFamily="49" charset="0"/>
              </a:rPr>
              <a:t>2010</a:t>
            </a:r>
            <a:r>
              <a:rPr lang="zh-CN" altLang="en-US" sz="2000" dirty="0">
                <a:solidFill>
                  <a:srgbClr val="FF3300"/>
                </a:solidFill>
                <a:latin typeface="Consolas" pitchFamily="49" charset="0"/>
                <a:ea typeface="楷体" pitchFamily="49" charset="-122"/>
                <a:cs typeface="Consolas" pitchFamily="49" charset="0"/>
              </a:rPr>
              <a:t>年全国考研题 </a:t>
            </a:r>
          </a:p>
        </p:txBody>
      </p:sp>
    </p:spTree>
    <p:extLst>
      <p:ext uri="{BB962C8B-B14F-4D97-AF65-F5344CB8AC3E}">
        <p14:creationId xmlns:p14="http://schemas.microsoft.com/office/powerpoint/2010/main" val="325787693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BA52E-5AF7-F096-9F40-D33B1598478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DFDC059-BC33-9A8A-1603-5CC8AD8C8857}"/>
              </a:ext>
            </a:extLst>
          </p:cNvPr>
          <p:cNvSpPr/>
          <p:nvPr/>
        </p:nvSpPr>
        <p:spPr>
          <a:xfrm>
            <a:off x="335360" y="1082555"/>
            <a:ext cx="309634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10.3.2 </a:t>
            </a:r>
            <a:r>
              <a:rPr lang="zh-CN" altLang="en-US" sz="2800" b="1" dirty="0">
                <a:solidFill>
                  <a:schemeClr val="bg1"/>
                </a:solidFill>
                <a:latin typeface="经典粗黑简" pitchFamily="49" charset="-122"/>
                <a:ea typeface="经典粗黑简" pitchFamily="49" charset="-122"/>
                <a:cs typeface="经典粗黑简" pitchFamily="49" charset="-122"/>
              </a:rPr>
              <a:t>快速排序</a:t>
            </a:r>
          </a:p>
        </p:txBody>
      </p:sp>
      <p:cxnSp>
        <p:nvCxnSpPr>
          <p:cNvPr id="4" name="直接连接符 3">
            <a:extLst>
              <a:ext uri="{FF2B5EF4-FFF2-40B4-BE49-F238E27FC236}">
                <a16:creationId xmlns:a16="http://schemas.microsoft.com/office/drawing/2014/main" id="{A945ADBC-3617-00A2-241D-C70CE698132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2364B2C-90E5-A9D0-F1E6-450F4F2C27E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10.3 </a:t>
            </a:r>
            <a:r>
              <a:rPr lang="zh-CN" altLang="en-US" sz="3000" b="1" dirty="0">
                <a:latin typeface="黑体" pitchFamily="49" charset="-122"/>
                <a:ea typeface="黑体" pitchFamily="49" charset="-122"/>
                <a:cs typeface="经典粗黑简" pitchFamily="49" charset="-122"/>
              </a:rPr>
              <a:t>交换排序</a:t>
            </a:r>
          </a:p>
        </p:txBody>
      </p:sp>
      <p:sp>
        <p:nvSpPr>
          <p:cNvPr id="3" name="TextBox 1">
            <a:extLst>
              <a:ext uri="{FF2B5EF4-FFF2-40B4-BE49-F238E27FC236}">
                <a16:creationId xmlns:a16="http://schemas.microsoft.com/office/drawing/2014/main" id="{6D9B5CA1-6E1F-E49E-D9F8-9379D138A0B9}"/>
              </a:ext>
            </a:extLst>
          </p:cNvPr>
          <p:cNvSpPr txBox="1"/>
          <p:nvPr/>
        </p:nvSpPr>
        <p:spPr>
          <a:xfrm>
            <a:off x="2639616" y="2348880"/>
            <a:ext cx="7286676" cy="1477328"/>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ct val="150000"/>
              </a:lnSpc>
            </a:pPr>
            <a:r>
              <a:rPr lang="zh-CN" altLang="en-US" sz="2000">
                <a:latin typeface="Consolas" pitchFamily="49" charset="0"/>
                <a:ea typeface="楷体" pitchFamily="49" charset="-122"/>
                <a:cs typeface="Consolas" pitchFamily="49" charset="0"/>
              </a:rPr>
              <a:t>为</a:t>
            </a:r>
            <a:r>
              <a:rPr lang="zh-CN" altLang="en-US" sz="2000" dirty="0">
                <a:latin typeface="Consolas" pitchFamily="49" charset="0"/>
                <a:ea typeface="楷体" pitchFamily="49" charset="-122"/>
                <a:cs typeface="Consolas" pitchFamily="49" charset="0"/>
              </a:rPr>
              <a:t>实现快速</a:t>
            </a:r>
            <a:r>
              <a:rPr lang="zh-CN" altLang="en-US" sz="2000">
                <a:latin typeface="Consolas" pitchFamily="49" charset="0"/>
                <a:ea typeface="楷体" pitchFamily="49" charset="-122"/>
                <a:cs typeface="Consolas" pitchFamily="49" charset="0"/>
              </a:rPr>
              <a:t>排序法，待</a:t>
            </a:r>
            <a:r>
              <a:rPr lang="zh-CN" altLang="en-US" sz="2000" dirty="0">
                <a:latin typeface="Consolas" pitchFamily="49" charset="0"/>
                <a:ea typeface="楷体" pitchFamily="49" charset="-122"/>
                <a:cs typeface="Consolas" pitchFamily="49" charset="0"/>
              </a:rPr>
              <a:t>排序序列宜采用存储</a:t>
            </a:r>
            <a:r>
              <a:rPr lang="zh-CN" altLang="en-US" sz="2000">
                <a:latin typeface="Consolas" pitchFamily="49" charset="0"/>
                <a:ea typeface="楷体" pitchFamily="49" charset="-122"/>
                <a:cs typeface="Consolas" pitchFamily="49" charset="0"/>
              </a:rPr>
              <a:t>方式是（  ）。</a:t>
            </a:r>
            <a:endParaRPr lang="en-US" altLang="zh-CN" sz="2000">
              <a:latin typeface="Consolas" pitchFamily="49" charset="0"/>
              <a:ea typeface="楷体" pitchFamily="49" charset="-122"/>
              <a:cs typeface="Consolas" pitchFamily="49" charset="0"/>
            </a:endParaRPr>
          </a:p>
          <a:p>
            <a:pPr algn="l">
              <a:lnSpc>
                <a:spcPct val="150000"/>
              </a:lnSpc>
            </a:pPr>
            <a:r>
              <a:rPr lang="en-US" altLang="zh-CN" sz="2000">
                <a:solidFill>
                  <a:srgbClr val="FF00FF"/>
                </a:solidFill>
                <a:latin typeface="Consolas" pitchFamily="49" charset="0"/>
                <a:ea typeface="楷体" pitchFamily="49" charset="-122"/>
                <a:cs typeface="Consolas" pitchFamily="49" charset="0"/>
              </a:rPr>
              <a:t>   A.</a:t>
            </a:r>
            <a:r>
              <a:rPr lang="zh-CN" altLang="en-US" sz="2000">
                <a:solidFill>
                  <a:srgbClr val="FF00FF"/>
                </a:solidFill>
                <a:latin typeface="Consolas" pitchFamily="49" charset="0"/>
                <a:ea typeface="楷体" pitchFamily="49" charset="-122"/>
                <a:cs typeface="Consolas" pitchFamily="49" charset="0"/>
              </a:rPr>
              <a:t> 顺序</a:t>
            </a:r>
            <a:r>
              <a:rPr lang="zh-CN" altLang="en-US" sz="2000" dirty="0">
                <a:solidFill>
                  <a:srgbClr val="FF00FF"/>
                </a:solidFill>
                <a:latin typeface="Consolas" pitchFamily="49" charset="0"/>
                <a:ea typeface="楷体" pitchFamily="49" charset="-122"/>
                <a:cs typeface="Consolas" pitchFamily="49" charset="0"/>
              </a:rPr>
              <a:t>存储</a:t>
            </a:r>
            <a:r>
              <a:rPr lang="en-US" sz="2000" dirty="0">
                <a:solidFill>
                  <a:srgbClr val="FF00FF"/>
                </a:solidFill>
                <a:latin typeface="Consolas" pitchFamily="49" charset="0"/>
                <a:ea typeface="楷体" pitchFamily="49" charset="-122"/>
                <a:cs typeface="Consolas" pitchFamily="49" charset="0"/>
              </a:rPr>
              <a:t>	</a:t>
            </a:r>
            <a:r>
              <a:rPr lang="en-US" sz="2000" dirty="0">
                <a:latin typeface="Consolas" pitchFamily="49" charset="0"/>
                <a:ea typeface="楷体" pitchFamily="49" charset="-122"/>
                <a:cs typeface="Consolas" pitchFamily="49" charset="0"/>
              </a:rPr>
              <a:t>		B. </a:t>
            </a:r>
            <a:r>
              <a:rPr lang="zh-CN" altLang="en-US" sz="2000" dirty="0">
                <a:latin typeface="Consolas" pitchFamily="49" charset="0"/>
                <a:ea typeface="楷体" pitchFamily="49" charset="-122"/>
                <a:cs typeface="Consolas" pitchFamily="49" charset="0"/>
              </a:rPr>
              <a:t>散列存储</a:t>
            </a:r>
            <a:endParaRPr lang="en-US" altLang="zh-CN" sz="2000" dirty="0">
              <a:latin typeface="Consolas" pitchFamily="49" charset="0"/>
              <a:ea typeface="楷体" pitchFamily="49" charset="-122"/>
              <a:cs typeface="Consolas" pitchFamily="49" charset="0"/>
            </a:endParaRPr>
          </a:p>
          <a:p>
            <a:pPr marL="457200" indent="-457200" algn="l">
              <a:lnSpc>
                <a:spcPct val="150000"/>
              </a:lnSpc>
            </a:pPr>
            <a:r>
              <a:rPr lang="en-US" sz="2000">
                <a:latin typeface="Consolas" pitchFamily="49" charset="0"/>
                <a:ea typeface="楷体" pitchFamily="49" charset="-122"/>
                <a:cs typeface="Consolas" pitchFamily="49" charset="0"/>
              </a:rPr>
              <a:t>   C</a:t>
            </a:r>
            <a:r>
              <a:rPr lang="en-US" sz="2000" dirty="0">
                <a:latin typeface="Consolas" pitchFamily="49" charset="0"/>
                <a:ea typeface="楷体" pitchFamily="49" charset="-122"/>
                <a:cs typeface="Consolas" pitchFamily="49" charset="0"/>
              </a:rPr>
              <a:t>. </a:t>
            </a:r>
            <a:r>
              <a:rPr lang="zh-CN" altLang="en-US" sz="2000" dirty="0">
                <a:latin typeface="Consolas" pitchFamily="49" charset="0"/>
                <a:ea typeface="楷体" pitchFamily="49" charset="-122"/>
                <a:cs typeface="Consolas" pitchFamily="49" charset="0"/>
              </a:rPr>
              <a:t>链式存储</a:t>
            </a:r>
            <a:r>
              <a:rPr lang="en-US" sz="2000" dirty="0">
                <a:latin typeface="Consolas" pitchFamily="49" charset="0"/>
                <a:ea typeface="楷体" pitchFamily="49" charset="-122"/>
                <a:cs typeface="Consolas" pitchFamily="49" charset="0"/>
              </a:rPr>
              <a:t>			D. </a:t>
            </a:r>
            <a:r>
              <a:rPr lang="zh-CN" altLang="en-US" sz="2000" dirty="0">
                <a:latin typeface="Consolas" pitchFamily="49" charset="0"/>
                <a:ea typeface="楷体" pitchFamily="49" charset="-122"/>
                <a:cs typeface="Consolas" pitchFamily="49" charset="0"/>
              </a:rPr>
              <a:t>索引存储</a:t>
            </a:r>
          </a:p>
        </p:txBody>
      </p:sp>
      <p:sp>
        <p:nvSpPr>
          <p:cNvPr id="8" name="Text Box 3">
            <a:extLst>
              <a:ext uri="{FF2B5EF4-FFF2-40B4-BE49-F238E27FC236}">
                <a16:creationId xmlns:a16="http://schemas.microsoft.com/office/drawing/2014/main" id="{95ABF82C-7E8B-1554-1D10-26CA0AA3AFD8}"/>
              </a:ext>
            </a:extLst>
          </p:cNvPr>
          <p:cNvSpPr txBox="1">
            <a:spLocks noChangeArrowheads="1"/>
          </p:cNvSpPr>
          <p:nvPr/>
        </p:nvSpPr>
        <p:spPr bwMode="auto">
          <a:xfrm>
            <a:off x="3211120" y="3991954"/>
            <a:ext cx="4214842"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solidFill>
                  <a:srgbClr val="FF3300"/>
                </a:solidFill>
                <a:latin typeface="Consolas" pitchFamily="49" charset="0"/>
                <a:ea typeface="楷体" pitchFamily="49" charset="-122"/>
                <a:cs typeface="Consolas" pitchFamily="49" charset="0"/>
              </a:rPr>
              <a:t>说明：本题为</a:t>
            </a:r>
            <a:r>
              <a:rPr lang="en-US" altLang="zh-CN" sz="2000" dirty="0">
                <a:solidFill>
                  <a:srgbClr val="FF3300"/>
                </a:solidFill>
                <a:latin typeface="Consolas" pitchFamily="49" charset="0"/>
                <a:ea typeface="楷体" pitchFamily="49" charset="-122"/>
                <a:cs typeface="Consolas" pitchFamily="49" charset="0"/>
              </a:rPr>
              <a:t>2011</a:t>
            </a:r>
            <a:r>
              <a:rPr lang="zh-CN" altLang="en-US" sz="2000" dirty="0">
                <a:solidFill>
                  <a:srgbClr val="FF3300"/>
                </a:solidFill>
                <a:latin typeface="Consolas" pitchFamily="49" charset="0"/>
                <a:ea typeface="楷体" pitchFamily="49" charset="-122"/>
                <a:cs typeface="Consolas" pitchFamily="49" charset="0"/>
              </a:rPr>
              <a:t>年全国考研题 </a:t>
            </a:r>
          </a:p>
        </p:txBody>
      </p:sp>
    </p:spTree>
    <p:extLst>
      <p:ext uri="{BB962C8B-B14F-4D97-AF65-F5344CB8AC3E}">
        <p14:creationId xmlns:p14="http://schemas.microsoft.com/office/powerpoint/2010/main" val="79349053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187613" y="1398355"/>
            <a:ext cx="4185761" cy="461665"/>
          </a:xfrm>
          <a:prstGeom prst="rect">
            <a:avLst/>
          </a:prstGeom>
        </p:spPr>
        <p:txBody>
          <a:bodyPr wrap="none">
            <a:spAutoFit/>
          </a:bodyPr>
          <a:lstStyle/>
          <a:p>
            <a:pPr marL="0" lvl="1"/>
            <a:r>
              <a:rPr kumimoji="1" lang="zh-CN" altLang="en-US" sz="2400" dirty="0">
                <a:latin typeface="微软雅黑" pitchFamily="34" charset="-122"/>
                <a:ea typeface="微软雅黑" pitchFamily="34" charset="-122"/>
                <a:cs typeface="经典粗黑简" pitchFamily="49" charset="-122"/>
              </a:rPr>
              <a:t>选择排序的主要操作是选择。</a:t>
            </a:r>
            <a:endParaRPr kumimoji="1" lang="en-US" altLang="zh-CN" sz="2400" dirty="0">
              <a:latin typeface="微软雅黑" pitchFamily="34" charset="-122"/>
              <a:ea typeface="微软雅黑" pitchFamily="34" charset="-122"/>
              <a:cs typeface="经典粗黑简" pitchFamily="49" charset="-122"/>
            </a:endParaRPr>
          </a:p>
        </p:txBody>
      </p:sp>
      <p:sp>
        <p:nvSpPr>
          <p:cNvPr id="14" name="矩形 13"/>
          <p:cNvSpPr/>
          <p:nvPr/>
        </p:nvSpPr>
        <p:spPr>
          <a:xfrm>
            <a:off x="1199456" y="1988357"/>
            <a:ext cx="10297143"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主要思想：第</a:t>
            </a:r>
            <a:r>
              <a:rPr kumimoji="1" lang="en-US" altLang="zh-CN" sz="2400" dirty="0">
                <a:latin typeface="微软雅黑" pitchFamily="34" charset="-122"/>
                <a:ea typeface="微软雅黑" pitchFamily="34" charset="-122"/>
                <a:cs typeface="经典粗黑简" pitchFamily="49" charset="-122"/>
              </a:rPr>
              <a:t>i </a:t>
            </a:r>
            <a:r>
              <a:rPr kumimoji="1" lang="zh-CN" altLang="en-US" sz="2400" dirty="0">
                <a:latin typeface="微软雅黑" pitchFamily="34" charset="-122"/>
                <a:ea typeface="微软雅黑" pitchFamily="34" charset="-122"/>
                <a:cs typeface="经典粗黑简" pitchFamily="49" charset="-122"/>
              </a:rPr>
              <a:t>趟在</a:t>
            </a:r>
            <a:r>
              <a:rPr kumimoji="1" lang="en-US" altLang="zh-CN" sz="2400" dirty="0">
                <a:latin typeface="微软雅黑" pitchFamily="34" charset="-122"/>
                <a:ea typeface="微软雅黑" pitchFamily="34" charset="-122"/>
                <a:cs typeface="经典粗黑简" pitchFamily="49" charset="-122"/>
              </a:rPr>
              <a:t>n-i+1</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i=1,2,…,n-1</a:t>
            </a:r>
            <a:r>
              <a:rPr kumimoji="1" lang="zh-CN" altLang="en-US" sz="2400" dirty="0">
                <a:latin typeface="微软雅黑" pitchFamily="34" charset="-122"/>
                <a:ea typeface="微软雅黑" pitchFamily="34" charset="-122"/>
                <a:cs typeface="经典粗黑简" pitchFamily="49" charset="-122"/>
              </a:rPr>
              <a:t>）个记录中选取关键码最小的记录作为有序序列中的第</a:t>
            </a:r>
            <a:r>
              <a:rPr kumimoji="1" lang="en-US" altLang="zh-CN" sz="2400" dirty="0">
                <a:latin typeface="微软雅黑" pitchFamily="34" charset="-122"/>
                <a:ea typeface="微软雅黑" pitchFamily="34" charset="-122"/>
                <a:cs typeface="经典粗黑简" pitchFamily="49" charset="-122"/>
              </a:rPr>
              <a:t>i</a:t>
            </a:r>
            <a:r>
              <a:rPr kumimoji="1" lang="zh-CN" altLang="en-US" sz="2400" dirty="0">
                <a:latin typeface="微软雅黑" pitchFamily="34" charset="-122"/>
                <a:ea typeface="微软雅黑" pitchFamily="34" charset="-122"/>
                <a:cs typeface="经典粗黑简" pitchFamily="49" charset="-122"/>
              </a:rPr>
              <a:t>个记录。</a:t>
            </a:r>
          </a:p>
        </p:txBody>
      </p:sp>
      <p:sp>
        <p:nvSpPr>
          <p:cNvPr id="15" name="矩形 14"/>
          <p:cNvSpPr/>
          <p:nvPr/>
        </p:nvSpPr>
        <p:spPr>
          <a:xfrm>
            <a:off x="1199456" y="2924944"/>
            <a:ext cx="10297143" cy="830997"/>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由于选择排序方法每一趟总是从无序区中选出全局最小（或最大）的关键字记录，所以适合于从大量的记录中选择一部分排序记录的问题。</a:t>
            </a:r>
          </a:p>
        </p:txBody>
      </p:sp>
      <p:sp>
        <p:nvSpPr>
          <p:cNvPr id="16" name="矩形 15"/>
          <p:cNvSpPr/>
          <p:nvPr/>
        </p:nvSpPr>
        <p:spPr>
          <a:xfrm>
            <a:off x="1187613" y="5705291"/>
            <a:ext cx="4572000" cy="830997"/>
          </a:xfrm>
          <a:prstGeom prst="rect">
            <a:avLst/>
          </a:prstGeom>
        </p:spPr>
        <p:txBody>
          <a:bodyPr>
            <a:spAutoFit/>
          </a:bodyPr>
          <a:lstStyle/>
          <a:p>
            <a:r>
              <a:rPr kumimoji="1" lang="zh-CN" altLang="en-US" sz="2400" dirty="0">
                <a:latin typeface="微软雅黑" pitchFamily="34" charset="-122"/>
                <a:ea typeface="微软雅黑" pitchFamily="34" charset="-122"/>
                <a:cs typeface="经典粗黑简" pitchFamily="49" charset="-122"/>
              </a:rPr>
              <a:t>介绍两种选择类排序：</a:t>
            </a:r>
            <a:endParaRPr kumimoji="1" lang="en-US" altLang="zh-CN" sz="2400" dirty="0">
              <a:latin typeface="微软雅黑" pitchFamily="34" charset="-122"/>
              <a:ea typeface="微软雅黑" pitchFamily="34" charset="-122"/>
              <a:cs typeface="经典粗黑简" pitchFamily="49" charset="-122"/>
            </a:endParaRPr>
          </a:p>
          <a:p>
            <a:r>
              <a:rPr kumimoji="1" lang="zh-CN" altLang="en-US" sz="2400" dirty="0">
                <a:latin typeface="微软雅黑" pitchFamily="34" charset="-122"/>
                <a:ea typeface="微软雅黑" pitchFamily="34" charset="-122"/>
                <a:cs typeface="经典粗黑简" pitchFamily="49" charset="-122"/>
              </a:rPr>
              <a:t>简单选择排序和堆排序。</a:t>
            </a:r>
          </a:p>
        </p:txBody>
      </p:sp>
      <p:cxnSp>
        <p:nvCxnSpPr>
          <p:cNvPr id="3" name="直接连接符 2">
            <a:extLst>
              <a:ext uri="{FF2B5EF4-FFF2-40B4-BE49-F238E27FC236}">
                <a16:creationId xmlns:a16="http://schemas.microsoft.com/office/drawing/2014/main" id="{BFE7958D-AD08-E6E2-EE9C-6FBE94A071E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C219CD0E-8C0A-EA10-410F-61E6A63867E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TextBox 3">
            <a:extLst>
              <a:ext uri="{FF2B5EF4-FFF2-40B4-BE49-F238E27FC236}">
                <a16:creationId xmlns:a16="http://schemas.microsoft.com/office/drawing/2014/main" id="{C3172505-2F6A-30FC-21D6-F331B9667236}"/>
              </a:ext>
            </a:extLst>
          </p:cNvPr>
          <p:cNvSpPr txBox="1"/>
          <p:nvPr/>
        </p:nvSpPr>
        <p:spPr>
          <a:xfrm>
            <a:off x="1399141" y="3621806"/>
            <a:ext cx="1214446" cy="400110"/>
          </a:xfrm>
          <a:prstGeom prst="rect">
            <a:avLst/>
          </a:prstGeom>
          <a:noFill/>
        </p:spPr>
        <p:txBody>
          <a:bodyPr wrap="square" rtlCol="0">
            <a:spAutoFit/>
          </a:bodyPr>
          <a:lstStyle/>
          <a:p>
            <a:pPr algn="l"/>
            <a:r>
              <a:rPr lang="zh-CN" altLang="en-US" sz="2000" dirty="0">
                <a:solidFill>
                  <a:srgbClr val="FF0000"/>
                </a:solidFill>
                <a:latin typeface="微软雅黑" pitchFamily="34" charset="-122"/>
                <a:ea typeface="微软雅黑" pitchFamily="34" charset="-122"/>
              </a:rPr>
              <a:t>基本思路</a:t>
            </a:r>
          </a:p>
        </p:txBody>
      </p:sp>
      <p:sp>
        <p:nvSpPr>
          <p:cNvPr id="6" name="矩形 5">
            <a:extLst>
              <a:ext uri="{FF2B5EF4-FFF2-40B4-BE49-F238E27FC236}">
                <a16:creationId xmlns:a16="http://schemas.microsoft.com/office/drawing/2014/main" id="{3FD27FFA-8A77-FB86-668D-15F3700316FF}"/>
              </a:ext>
            </a:extLst>
          </p:cNvPr>
          <p:cNvSpPr/>
          <p:nvPr/>
        </p:nvSpPr>
        <p:spPr>
          <a:xfrm>
            <a:off x="2399273" y="4297785"/>
            <a:ext cx="2928958" cy="5000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7" name="TextBox 10">
            <a:extLst>
              <a:ext uri="{FF2B5EF4-FFF2-40B4-BE49-F238E27FC236}">
                <a16:creationId xmlns:a16="http://schemas.microsoft.com/office/drawing/2014/main" id="{4365001E-7B08-113B-0210-7968481FB290}"/>
              </a:ext>
            </a:extLst>
          </p:cNvPr>
          <p:cNvSpPr txBox="1"/>
          <p:nvPr/>
        </p:nvSpPr>
        <p:spPr>
          <a:xfrm>
            <a:off x="3042215" y="4869289"/>
            <a:ext cx="1500198" cy="369332"/>
          </a:xfrm>
          <a:prstGeom prst="rect">
            <a:avLst/>
          </a:prstGeom>
          <a:noFill/>
        </p:spPr>
        <p:txBody>
          <a:bodyPr wrap="square" rtlCol="0">
            <a:spAutoFit/>
          </a:bodyPr>
          <a:lstStyle/>
          <a:p>
            <a:r>
              <a:rPr lang="zh-CN" altLang="en-US" sz="1800" dirty="0">
                <a:latin typeface="Consolas" pitchFamily="49" charset="0"/>
                <a:ea typeface="楷体" pitchFamily="49" charset="-122"/>
                <a:cs typeface="Consolas" pitchFamily="49" charset="0"/>
              </a:rPr>
              <a:t>全局有序区</a:t>
            </a:r>
          </a:p>
        </p:txBody>
      </p:sp>
      <p:sp>
        <p:nvSpPr>
          <p:cNvPr id="8" name="矩形 7">
            <a:extLst>
              <a:ext uri="{FF2B5EF4-FFF2-40B4-BE49-F238E27FC236}">
                <a16:creationId xmlns:a16="http://schemas.microsoft.com/office/drawing/2014/main" id="{BC142CC2-0C55-7BBB-2ACA-F274D2426ED2}"/>
              </a:ext>
            </a:extLst>
          </p:cNvPr>
          <p:cNvSpPr/>
          <p:nvPr/>
        </p:nvSpPr>
        <p:spPr>
          <a:xfrm>
            <a:off x="5613983" y="4297785"/>
            <a:ext cx="2928958" cy="50006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9" name="TextBox 12">
            <a:extLst>
              <a:ext uri="{FF2B5EF4-FFF2-40B4-BE49-F238E27FC236}">
                <a16:creationId xmlns:a16="http://schemas.microsoft.com/office/drawing/2014/main" id="{18CDFB00-80B7-AC4B-ABC6-061BF5886154}"/>
              </a:ext>
            </a:extLst>
          </p:cNvPr>
          <p:cNvSpPr txBox="1"/>
          <p:nvPr/>
        </p:nvSpPr>
        <p:spPr>
          <a:xfrm>
            <a:off x="6542677" y="4869289"/>
            <a:ext cx="1500198" cy="369332"/>
          </a:xfrm>
          <a:prstGeom prst="rect">
            <a:avLst/>
          </a:prstGeom>
          <a:noFill/>
        </p:spPr>
        <p:txBody>
          <a:bodyPr wrap="square" rtlCol="0">
            <a:spAutoFit/>
          </a:bodyPr>
          <a:lstStyle/>
          <a:p>
            <a:r>
              <a:rPr lang="zh-CN" altLang="en-US" sz="1800" dirty="0">
                <a:latin typeface="Consolas" pitchFamily="49" charset="0"/>
                <a:ea typeface="楷体" pitchFamily="49" charset="-122"/>
                <a:cs typeface="Consolas" pitchFamily="49" charset="0"/>
              </a:rPr>
              <a:t>无序区</a:t>
            </a:r>
          </a:p>
        </p:txBody>
      </p:sp>
      <p:grpSp>
        <p:nvGrpSpPr>
          <p:cNvPr id="10" name="组合 17">
            <a:extLst>
              <a:ext uri="{FF2B5EF4-FFF2-40B4-BE49-F238E27FC236}">
                <a16:creationId xmlns:a16="http://schemas.microsoft.com/office/drawing/2014/main" id="{2FEEA8FA-232A-6DE3-57F0-C4B4D917099D}"/>
              </a:ext>
            </a:extLst>
          </p:cNvPr>
          <p:cNvGrpSpPr/>
          <p:nvPr/>
        </p:nvGrpSpPr>
        <p:grpSpPr>
          <a:xfrm>
            <a:off x="4328099" y="4369223"/>
            <a:ext cx="2357454" cy="1357322"/>
            <a:chOff x="4000496" y="2285992"/>
            <a:chExt cx="2357454" cy="1357322"/>
          </a:xfrm>
        </p:grpSpPr>
        <p:sp>
          <p:nvSpPr>
            <p:cNvPr id="18" name="右弧形箭头 14">
              <a:extLst>
                <a:ext uri="{FF2B5EF4-FFF2-40B4-BE49-F238E27FC236}">
                  <a16:creationId xmlns:a16="http://schemas.microsoft.com/office/drawing/2014/main" id="{D89DDFAE-9DCE-D5E8-5EB3-1EB7BEB4BD6B}"/>
                </a:ext>
              </a:extLst>
            </p:cNvPr>
            <p:cNvSpPr/>
            <p:nvPr/>
          </p:nvSpPr>
          <p:spPr>
            <a:xfrm rot="6583683">
              <a:off x="4761789" y="2546344"/>
              <a:ext cx="357190" cy="785818"/>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sz="2000">
                <a:solidFill>
                  <a:schemeClr val="tx1"/>
                </a:solidFill>
                <a:latin typeface="Consolas" pitchFamily="49" charset="0"/>
                <a:cs typeface="Consolas" pitchFamily="49" charset="0"/>
              </a:endParaRPr>
            </a:p>
          </p:txBody>
        </p:sp>
        <p:sp>
          <p:nvSpPr>
            <p:cNvPr id="19" name="TextBox 15">
              <a:extLst>
                <a:ext uri="{FF2B5EF4-FFF2-40B4-BE49-F238E27FC236}">
                  <a16:creationId xmlns:a16="http://schemas.microsoft.com/office/drawing/2014/main" id="{DB6EEC40-81A4-9265-B21A-93458573ADEE}"/>
                </a:ext>
              </a:extLst>
            </p:cNvPr>
            <p:cNvSpPr txBox="1"/>
            <p:nvPr/>
          </p:nvSpPr>
          <p:spPr>
            <a:xfrm>
              <a:off x="4000496" y="3243204"/>
              <a:ext cx="2357454" cy="400110"/>
            </a:xfrm>
            <a:prstGeom prst="rect">
              <a:avLst/>
            </a:prstGeom>
            <a:noFill/>
          </p:spPr>
          <p:txBody>
            <a:bodyPr wrap="square" rtlCol="0">
              <a:spAutoFit/>
            </a:bodyPr>
            <a:lstStyle/>
            <a:p>
              <a:r>
                <a:rPr kumimoji="1" lang="zh-CN" altLang="en-US" sz="2000" dirty="0">
                  <a:latin typeface="Consolas" pitchFamily="49" charset="0"/>
                  <a:ea typeface="楷体" pitchFamily="49" charset="-122"/>
                  <a:cs typeface="Consolas" pitchFamily="49" charset="0"/>
                </a:rPr>
                <a:t>选出</a:t>
              </a:r>
              <a:r>
                <a:rPr kumimoji="1" lang="zh-CN" altLang="en-US" sz="2000">
                  <a:latin typeface="Consolas" pitchFamily="49" charset="0"/>
                  <a:ea typeface="楷体" pitchFamily="49" charset="-122"/>
                  <a:cs typeface="Consolas" pitchFamily="49" charset="0"/>
                </a:rPr>
                <a:t>最小元素</a:t>
              </a:r>
              <a:r>
                <a:rPr kumimoji="1" lang="en-US" altLang="zh-CN" sz="2000" i="1">
                  <a:latin typeface="Consolas" pitchFamily="49" charset="0"/>
                  <a:ea typeface="楷体" pitchFamily="49" charset="-122"/>
                  <a:cs typeface="Consolas" pitchFamily="49" charset="0"/>
                </a:rPr>
                <a:t>R</a:t>
              </a:r>
              <a:r>
                <a:rPr kumimoji="1" lang="en-US" altLang="zh-CN" sz="2000">
                  <a:latin typeface="Consolas" pitchFamily="49" charset="0"/>
                  <a:ea typeface="楷体" pitchFamily="49" charset="-122"/>
                  <a:cs typeface="Consolas" pitchFamily="49" charset="0"/>
                </a:rPr>
                <a:t>[</a:t>
              </a:r>
              <a:r>
                <a:rPr kumimoji="1" lang="en-US" altLang="zh-CN" sz="2000" i="1">
                  <a:latin typeface="Consolas" pitchFamily="49" charset="0"/>
                  <a:ea typeface="楷体" pitchFamily="49" charset="-122"/>
                  <a:cs typeface="Consolas" pitchFamily="49" charset="0"/>
                </a:rPr>
                <a:t>k</a:t>
              </a:r>
              <a:r>
                <a:rPr kumimoji="1" lang="en-US" altLang="zh-CN" sz="2000" dirty="0">
                  <a:latin typeface="Consolas" pitchFamily="49" charset="0"/>
                  <a:ea typeface="楷体" pitchFamily="49" charset="-122"/>
                  <a:cs typeface="Consolas" pitchFamily="49" charset="0"/>
                </a:rPr>
                <a:t>]</a:t>
              </a:r>
              <a:endParaRPr lang="zh-CN" altLang="en-US" sz="2000" dirty="0">
                <a:latin typeface="Consolas" pitchFamily="49" charset="0"/>
                <a:ea typeface="楷体" pitchFamily="49" charset="-122"/>
                <a:cs typeface="Consolas" pitchFamily="49" charset="0"/>
              </a:endParaRPr>
            </a:p>
          </p:txBody>
        </p:sp>
        <p:sp>
          <p:nvSpPr>
            <p:cNvPr id="20" name="椭圆 19">
              <a:extLst>
                <a:ext uri="{FF2B5EF4-FFF2-40B4-BE49-F238E27FC236}">
                  <a16:creationId xmlns:a16="http://schemas.microsoft.com/office/drawing/2014/main" id="{6F43594D-EC12-D16A-B241-4423476D77CA}"/>
                </a:ext>
              </a:extLst>
            </p:cNvPr>
            <p:cNvSpPr/>
            <p:nvPr/>
          </p:nvSpPr>
          <p:spPr>
            <a:xfrm>
              <a:off x="4500562" y="2285992"/>
              <a:ext cx="357190" cy="35719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2000">
                <a:latin typeface="Consolas" pitchFamily="49" charset="0"/>
                <a:cs typeface="Consolas" pitchFamily="49" charset="0"/>
              </a:endParaRPr>
            </a:p>
          </p:txBody>
        </p:sp>
      </p:grpSp>
    </p:spTree>
    <p:extLst>
      <p:ext uri="{BB962C8B-B14F-4D97-AF65-F5344CB8AC3E}">
        <p14:creationId xmlns:p14="http://schemas.microsoft.com/office/powerpoint/2010/main" val="23867670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415480" y="1824078"/>
            <a:ext cx="9577064" cy="1569660"/>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简单选择排序的基本思想是：第一趟在</a:t>
            </a:r>
            <a:r>
              <a:rPr kumimoji="1" lang="en-US" altLang="zh-CN" sz="2400" dirty="0">
                <a:latin typeface="微软雅黑" pitchFamily="34" charset="-122"/>
                <a:ea typeface="微软雅黑" pitchFamily="34" charset="-122"/>
                <a:cs typeface="经典粗黑简" pitchFamily="49" charset="-122"/>
              </a:rPr>
              <a:t>n</a:t>
            </a:r>
            <a:r>
              <a:rPr kumimoji="1" lang="zh-CN" altLang="en-US" sz="2400" dirty="0">
                <a:latin typeface="微软雅黑" pitchFamily="34" charset="-122"/>
                <a:ea typeface="微软雅黑" pitchFamily="34" charset="-122"/>
                <a:cs typeface="经典粗黑简" pitchFamily="49" charset="-122"/>
              </a:rPr>
              <a:t>个记录中选取最小记录作为有序序列的第一个记录，第二趟在</a:t>
            </a:r>
            <a:r>
              <a:rPr kumimoji="1" lang="en-US" altLang="zh-CN" sz="2400" dirty="0">
                <a:latin typeface="微软雅黑" pitchFamily="34" charset="-122"/>
                <a:ea typeface="微软雅黑" pitchFamily="34" charset="-122"/>
                <a:cs typeface="经典粗黑简" pitchFamily="49" charset="-122"/>
              </a:rPr>
              <a:t>n-1</a:t>
            </a:r>
            <a:r>
              <a:rPr kumimoji="1" lang="zh-CN" altLang="en-US" sz="2400" dirty="0">
                <a:latin typeface="微软雅黑" pitchFamily="34" charset="-122"/>
                <a:ea typeface="微软雅黑" pitchFamily="34" charset="-122"/>
                <a:cs typeface="经典粗黑简" pitchFamily="49" charset="-122"/>
              </a:rPr>
              <a:t>个记录中选取最小记录作为有序序列的第二个记录，第</a:t>
            </a:r>
            <a:r>
              <a:rPr kumimoji="1" lang="en-US" altLang="zh-CN" sz="2400" dirty="0">
                <a:latin typeface="微软雅黑" pitchFamily="34" charset="-122"/>
                <a:ea typeface="微软雅黑" pitchFamily="34" charset="-122"/>
                <a:cs typeface="经典粗黑简" pitchFamily="49" charset="-122"/>
              </a:rPr>
              <a:t>i</a:t>
            </a:r>
            <a:r>
              <a:rPr kumimoji="1" lang="zh-CN" altLang="en-US" sz="2400" dirty="0">
                <a:latin typeface="微软雅黑" pitchFamily="34" charset="-122"/>
                <a:ea typeface="微软雅黑" pitchFamily="34" charset="-122"/>
                <a:cs typeface="经典粗黑简" pitchFamily="49" charset="-122"/>
              </a:rPr>
              <a:t>趟在</a:t>
            </a:r>
            <a:r>
              <a:rPr kumimoji="1" lang="en-US" altLang="zh-CN" sz="2400" dirty="0">
                <a:latin typeface="微软雅黑" pitchFamily="34" charset="-122"/>
                <a:ea typeface="微软雅黑" pitchFamily="34" charset="-122"/>
                <a:cs typeface="经典粗黑简" pitchFamily="49" charset="-122"/>
              </a:rPr>
              <a:t>n-i+1</a:t>
            </a:r>
            <a:r>
              <a:rPr kumimoji="1" lang="zh-CN" altLang="en-US" sz="2400" dirty="0">
                <a:latin typeface="微软雅黑" pitchFamily="34" charset="-122"/>
                <a:ea typeface="微软雅黑" pitchFamily="34" charset="-122"/>
                <a:cs typeface="经典粗黑简" pitchFamily="49" charset="-122"/>
              </a:rPr>
              <a:t>个记录中选取最小的记录作为有序序列多中的第</a:t>
            </a:r>
            <a:r>
              <a:rPr kumimoji="1" lang="en-US" altLang="zh-CN" sz="2400" dirty="0">
                <a:latin typeface="微软雅黑" pitchFamily="34" charset="-122"/>
                <a:ea typeface="微软雅黑" pitchFamily="34" charset="-122"/>
                <a:cs typeface="经典粗黑简" pitchFamily="49" charset="-122"/>
              </a:rPr>
              <a:t>i</a:t>
            </a:r>
            <a:r>
              <a:rPr kumimoji="1" lang="zh-CN" altLang="en-US" sz="2400" dirty="0">
                <a:latin typeface="微软雅黑" pitchFamily="34" charset="-122"/>
                <a:ea typeface="微软雅黑" pitchFamily="34" charset="-122"/>
                <a:cs typeface="经典粗黑简" pitchFamily="49" charset="-122"/>
              </a:rPr>
              <a:t>个记录。</a:t>
            </a:r>
            <a:endParaRPr lang="zh-CN" altLang="en-US" sz="2400" dirty="0"/>
          </a:p>
        </p:txBody>
      </p:sp>
      <p:sp>
        <p:nvSpPr>
          <p:cNvPr id="2" name="矩形 1">
            <a:extLst>
              <a:ext uri="{FF2B5EF4-FFF2-40B4-BE49-F238E27FC236}">
                <a16:creationId xmlns:a16="http://schemas.microsoft.com/office/drawing/2014/main" id="{9468DF78-D927-C339-B3F7-7825AB7157F9}"/>
              </a:ext>
            </a:extLst>
          </p:cNvPr>
          <p:cNvSpPr/>
          <p:nvPr/>
        </p:nvSpPr>
        <p:spPr>
          <a:xfrm>
            <a:off x="335360" y="1082555"/>
            <a:ext cx="388843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10.4.1 </a:t>
            </a:r>
            <a:r>
              <a:rPr lang="zh-CN" altLang="en-US" sz="2800" b="1" dirty="0">
                <a:solidFill>
                  <a:schemeClr val="bg1"/>
                </a:solidFill>
                <a:latin typeface="经典粗黑简" pitchFamily="49" charset="-122"/>
                <a:ea typeface="经典粗黑简" pitchFamily="49" charset="-122"/>
                <a:cs typeface="经典粗黑简" pitchFamily="49" charset="-122"/>
              </a:rPr>
              <a:t>简单选择排序</a:t>
            </a:r>
          </a:p>
        </p:txBody>
      </p:sp>
      <p:cxnSp>
        <p:nvCxnSpPr>
          <p:cNvPr id="3" name="直接连接符 2">
            <a:extLst>
              <a:ext uri="{FF2B5EF4-FFF2-40B4-BE49-F238E27FC236}">
                <a16:creationId xmlns:a16="http://schemas.microsoft.com/office/drawing/2014/main" id="{D95FAC10-F0A3-298F-E52A-58B583D9C0A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5835D66-231D-B964-013F-5E12E81C4FC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Text Box 4">
            <a:extLst>
              <a:ext uri="{FF2B5EF4-FFF2-40B4-BE49-F238E27FC236}">
                <a16:creationId xmlns:a16="http://schemas.microsoft.com/office/drawing/2014/main" id="{FD855181-3E85-59A6-A7E6-377B99F8A4CA}"/>
              </a:ext>
            </a:extLst>
          </p:cNvPr>
          <p:cNvSpPr txBox="1">
            <a:spLocks noChangeArrowheads="1"/>
          </p:cNvSpPr>
          <p:nvPr/>
        </p:nvSpPr>
        <p:spPr bwMode="auto">
          <a:xfrm>
            <a:off x="1274683" y="3493126"/>
            <a:ext cx="4530729" cy="400110"/>
          </a:xfrm>
          <a:prstGeom prst="rect">
            <a:avLst/>
          </a:prstGeom>
          <a:noFill/>
          <a:ln w="9525">
            <a:noFill/>
            <a:miter lim="800000"/>
            <a:headEnd/>
            <a:tailEnd/>
          </a:ln>
          <a:effectLst/>
        </p:spPr>
        <p:txBody>
          <a:bodyPr wrap="square">
            <a:spAutoFit/>
          </a:bodyPr>
          <a:lstStyle/>
          <a:p>
            <a:pPr algn="l">
              <a:spcBef>
                <a:spcPct val="50000"/>
              </a:spcBef>
            </a:pPr>
            <a:r>
              <a:rPr lang="zh-CN" altLang="en-US" sz="2000" dirty="0">
                <a:latin typeface="Consolas" pitchFamily="49" charset="0"/>
                <a:ea typeface="楷体" pitchFamily="49" charset="-122"/>
                <a:cs typeface="Consolas" pitchFamily="49" charset="0"/>
              </a:rPr>
              <a:t>从</a:t>
            </a:r>
            <a:r>
              <a:rPr lang="en-US" altLang="zh-CN" sz="2000" i="1" dirty="0">
                <a:solidFill>
                  <a:srgbClr val="FF00FF"/>
                </a:solidFill>
                <a:latin typeface="Consolas" pitchFamily="49" charset="0"/>
                <a:ea typeface="楷体" pitchFamily="49" charset="-122"/>
                <a:cs typeface="Consolas" pitchFamily="49" charset="0"/>
              </a:rPr>
              <a:t>a</a:t>
            </a:r>
            <a:r>
              <a:rPr lang="en-US" altLang="zh-CN" sz="2000" dirty="0">
                <a:solidFill>
                  <a:srgbClr val="FF00FF"/>
                </a:solidFill>
                <a:latin typeface="Consolas" pitchFamily="49" charset="0"/>
                <a:ea typeface="楷体" pitchFamily="49" charset="-122"/>
                <a:cs typeface="Consolas" pitchFamily="49" charset="0"/>
              </a:rPr>
              <a:t>[</a:t>
            </a:r>
            <a:r>
              <a:rPr lang="en-US" altLang="zh-CN" sz="2000" i="1" dirty="0" err="1">
                <a:solidFill>
                  <a:srgbClr val="FF00FF"/>
                </a:solidFill>
                <a:latin typeface="Consolas" pitchFamily="49" charset="0"/>
                <a:ea typeface="楷体" pitchFamily="49" charset="-122"/>
                <a:cs typeface="Consolas" pitchFamily="49" charset="0"/>
              </a:rPr>
              <a:t>i</a:t>
            </a:r>
            <a:r>
              <a:rPr lang="en-US" altLang="zh-CN" sz="2000" dirty="0">
                <a:solidFill>
                  <a:srgbClr val="FF00FF"/>
                </a:solidFill>
                <a:latin typeface="Consolas" pitchFamily="49" charset="0"/>
                <a:ea typeface="楷体" pitchFamily="49" charset="-122"/>
                <a:cs typeface="Consolas" pitchFamily="49" charset="0"/>
              </a:rPr>
              <a:t>..</a:t>
            </a:r>
            <a:r>
              <a:rPr lang="en-US" altLang="zh-CN" sz="2000" i="1" dirty="0">
                <a:solidFill>
                  <a:srgbClr val="FF00FF"/>
                </a:solidFill>
                <a:latin typeface="Consolas" pitchFamily="49" charset="0"/>
                <a:ea typeface="楷体" pitchFamily="49" charset="-122"/>
                <a:cs typeface="Consolas" pitchFamily="49" charset="0"/>
              </a:rPr>
              <a:t>n</a:t>
            </a:r>
            <a:r>
              <a:rPr lang="en-US" altLang="zh-CN" sz="2000" dirty="0">
                <a:solidFill>
                  <a:srgbClr val="FF00FF"/>
                </a:solidFill>
                <a:latin typeface="Consolas" pitchFamily="49" charset="0"/>
                <a:ea typeface="+mn-ea"/>
                <a:cs typeface="Consolas" pitchFamily="49" charset="0"/>
              </a:rPr>
              <a:t>-</a:t>
            </a:r>
            <a:r>
              <a:rPr lang="en-US" altLang="zh-CN" sz="2000" dirty="0">
                <a:solidFill>
                  <a:srgbClr val="FF00FF"/>
                </a:solidFill>
                <a:latin typeface="Consolas" pitchFamily="49" charset="0"/>
                <a:ea typeface="楷体" pitchFamily="49" charset="-122"/>
                <a:cs typeface="Consolas" pitchFamily="49" charset="0"/>
              </a:rPr>
              <a:t>1]</a:t>
            </a:r>
            <a:r>
              <a:rPr lang="zh-CN" altLang="en-US" sz="2000" dirty="0">
                <a:latin typeface="Consolas" pitchFamily="49" charset="0"/>
                <a:ea typeface="楷体" pitchFamily="49" charset="-122"/>
                <a:cs typeface="Consolas" pitchFamily="49" charset="0"/>
              </a:rPr>
              <a:t>中选出最小元素：</a:t>
            </a:r>
          </a:p>
        </p:txBody>
      </p:sp>
      <p:sp>
        <p:nvSpPr>
          <p:cNvPr id="6" name="Text Box 5">
            <a:extLst>
              <a:ext uri="{FF2B5EF4-FFF2-40B4-BE49-F238E27FC236}">
                <a16:creationId xmlns:a16="http://schemas.microsoft.com/office/drawing/2014/main" id="{080B5798-3379-14BA-BD21-351882A7825D}"/>
              </a:ext>
            </a:extLst>
          </p:cNvPr>
          <p:cNvSpPr txBox="1">
            <a:spLocks noChangeArrowheads="1"/>
          </p:cNvSpPr>
          <p:nvPr/>
        </p:nvSpPr>
        <p:spPr bwMode="auto">
          <a:xfrm>
            <a:off x="1223396" y="4019900"/>
            <a:ext cx="6000792" cy="2572600"/>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l">
              <a:spcBef>
                <a:spcPct val="50000"/>
              </a:spcBef>
            </a:pPr>
            <a:r>
              <a:rPr lang="en-US" altLang="zh-CN" sz="1800" dirty="0">
                <a:solidFill>
                  <a:srgbClr val="1000E4"/>
                </a:solidFill>
                <a:latin typeface="Consolas" pitchFamily="49" charset="0"/>
                <a:ea typeface="仿宋" pitchFamily="49" charset="-122"/>
                <a:cs typeface="Consolas" pitchFamily="49" charset="0"/>
              </a:rPr>
              <a:t>int </a:t>
            </a:r>
            <a:r>
              <a:rPr lang="en-US" altLang="zh-CN" sz="1800" dirty="0">
                <a:solidFill>
                  <a:srgbClr val="FF0000"/>
                </a:solidFill>
                <a:latin typeface="Consolas" pitchFamily="49" charset="0"/>
                <a:ea typeface="仿宋" pitchFamily="49" charset="-122"/>
                <a:cs typeface="Consolas" pitchFamily="49" charset="0"/>
              </a:rPr>
              <a:t>Min</a:t>
            </a:r>
            <a:r>
              <a:rPr lang="en-US" altLang="zh-CN" sz="1800" dirty="0">
                <a:solidFill>
                  <a:srgbClr val="1000E4"/>
                </a:solidFill>
                <a:latin typeface="Consolas" pitchFamily="49" charset="0"/>
                <a:ea typeface="仿宋" pitchFamily="49" charset="-122"/>
                <a:cs typeface="Consolas" pitchFamily="49" charset="0"/>
              </a:rPr>
              <a:t>(int a[]</a:t>
            </a:r>
            <a:r>
              <a:rPr lang="zh-CN" altLang="en-US" sz="1800" dirty="0">
                <a:solidFill>
                  <a:srgbClr val="1000E4"/>
                </a:solidFill>
                <a:latin typeface="Consolas" pitchFamily="49" charset="0"/>
                <a:ea typeface="仿宋" pitchFamily="49" charset="-122"/>
                <a:cs typeface="Consolas" pitchFamily="49" charset="0"/>
              </a:rPr>
              <a:t>，</a:t>
            </a:r>
            <a:r>
              <a:rPr lang="en-US" altLang="zh-CN" sz="1800" dirty="0">
                <a:solidFill>
                  <a:srgbClr val="1000E4"/>
                </a:solidFill>
                <a:latin typeface="Consolas" pitchFamily="49" charset="0"/>
                <a:ea typeface="仿宋" pitchFamily="49" charset="-122"/>
                <a:cs typeface="Consolas" pitchFamily="49" charset="0"/>
              </a:rPr>
              <a:t>int n</a:t>
            </a:r>
            <a:r>
              <a:rPr lang="zh-CN" altLang="en-US" sz="1800" dirty="0">
                <a:solidFill>
                  <a:srgbClr val="1000E4"/>
                </a:solidFill>
                <a:latin typeface="Consolas" pitchFamily="49" charset="0"/>
                <a:ea typeface="仿宋" pitchFamily="49" charset="-122"/>
                <a:cs typeface="Consolas" pitchFamily="49" charset="0"/>
              </a:rPr>
              <a:t>，</a:t>
            </a:r>
            <a:r>
              <a:rPr lang="en-US" altLang="zh-CN" sz="1800" dirty="0">
                <a:solidFill>
                  <a:srgbClr val="1000E4"/>
                </a:solidFill>
                <a:latin typeface="Consolas" pitchFamily="49" charset="0"/>
                <a:ea typeface="仿宋" pitchFamily="49" charset="-122"/>
                <a:cs typeface="Consolas" pitchFamily="49" charset="0"/>
              </a:rPr>
              <a:t>int </a:t>
            </a:r>
            <a:r>
              <a:rPr lang="en-US" altLang="zh-CN" sz="1800"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a:t>
            </a:r>
          </a:p>
          <a:p>
            <a:pPr algn="l">
              <a:spcBef>
                <a:spcPct val="50000"/>
              </a:spcBef>
            </a:pPr>
            <a:r>
              <a:rPr lang="en-US" altLang="zh-CN" sz="1800" dirty="0">
                <a:solidFill>
                  <a:srgbClr val="1000E4"/>
                </a:solidFill>
                <a:latin typeface="Consolas" pitchFamily="49" charset="0"/>
                <a:ea typeface="仿宋" pitchFamily="49" charset="-122"/>
                <a:cs typeface="Consolas" pitchFamily="49" charset="0"/>
              </a:rPr>
              <a:t>{  int k=</a:t>
            </a:r>
            <a:r>
              <a:rPr lang="en-US" altLang="zh-CN" sz="1800" dirty="0" err="1">
                <a:solidFill>
                  <a:srgbClr val="1000E4"/>
                </a:solidFill>
                <a:latin typeface="Consolas" pitchFamily="49" charset="0"/>
                <a:ea typeface="仿宋" pitchFamily="49" charset="-122"/>
                <a:cs typeface="Consolas" pitchFamily="49" charset="0"/>
              </a:rPr>
              <a:t>i</a:t>
            </a:r>
            <a:r>
              <a:rPr lang="zh-CN" altLang="en-US" sz="1800" dirty="0">
                <a:solidFill>
                  <a:srgbClr val="1000E4"/>
                </a:solidFill>
                <a:latin typeface="Consolas" pitchFamily="49" charset="0"/>
                <a:ea typeface="仿宋" pitchFamily="49" charset="-122"/>
                <a:cs typeface="Consolas" pitchFamily="49" charset="0"/>
              </a:rPr>
              <a:t>，</a:t>
            </a:r>
            <a:r>
              <a:rPr lang="en-US" altLang="zh-CN" sz="1800" dirty="0">
                <a:solidFill>
                  <a:srgbClr val="1000E4"/>
                </a:solidFill>
                <a:latin typeface="Consolas" pitchFamily="49" charset="0"/>
                <a:ea typeface="仿宋" pitchFamily="49" charset="-122"/>
                <a:cs typeface="Consolas" pitchFamily="49" charset="0"/>
              </a:rPr>
              <a:t>j;		</a:t>
            </a:r>
            <a:r>
              <a:rPr lang="en-US" altLang="zh-CN" sz="1800" dirty="0">
                <a:solidFill>
                  <a:srgbClr val="00B0F0"/>
                </a:solidFill>
                <a:latin typeface="Consolas" pitchFamily="49" charset="0"/>
                <a:ea typeface="仿宋" pitchFamily="49" charset="-122"/>
                <a:cs typeface="Consolas" pitchFamily="49" charset="0"/>
              </a:rPr>
              <a:t>//k</a:t>
            </a:r>
            <a:r>
              <a:rPr lang="zh-CN" altLang="en-US" sz="1800" dirty="0">
                <a:solidFill>
                  <a:srgbClr val="00B0F0"/>
                </a:solidFill>
                <a:latin typeface="Consolas" pitchFamily="49" charset="0"/>
                <a:ea typeface="仿宋" pitchFamily="49" charset="-122"/>
                <a:cs typeface="Consolas" pitchFamily="49" charset="0"/>
              </a:rPr>
              <a:t>保存最小元素的下标</a:t>
            </a:r>
          </a:p>
          <a:p>
            <a:pPr algn="l">
              <a:spcBef>
                <a:spcPct val="50000"/>
              </a:spcBef>
            </a:pPr>
            <a:r>
              <a:rPr lang="en-US" altLang="zh-CN" sz="1800" dirty="0">
                <a:solidFill>
                  <a:srgbClr val="1000E4"/>
                </a:solidFill>
                <a:latin typeface="Consolas" pitchFamily="49" charset="0"/>
                <a:ea typeface="仿宋" pitchFamily="49" charset="-122"/>
                <a:cs typeface="Consolas" pitchFamily="49" charset="0"/>
              </a:rPr>
              <a:t>   for (j=i+1;j&lt;</a:t>
            </a:r>
            <a:r>
              <a:rPr lang="en-US" altLang="zh-CN" sz="1800" dirty="0" err="1">
                <a:solidFill>
                  <a:srgbClr val="1000E4"/>
                </a:solidFill>
                <a:latin typeface="Consolas" pitchFamily="49" charset="0"/>
                <a:ea typeface="仿宋" pitchFamily="49" charset="-122"/>
                <a:cs typeface="Consolas" pitchFamily="49" charset="0"/>
              </a:rPr>
              <a:t>n;j</a:t>
            </a:r>
            <a:r>
              <a:rPr lang="en-US" altLang="zh-CN" sz="1800" dirty="0">
                <a:solidFill>
                  <a:srgbClr val="1000E4"/>
                </a:solidFill>
                <a:latin typeface="Consolas" pitchFamily="49" charset="0"/>
                <a:ea typeface="仿宋" pitchFamily="49" charset="-122"/>
                <a:cs typeface="Consolas" pitchFamily="49" charset="0"/>
              </a:rPr>
              <a:t>++)</a:t>
            </a:r>
          </a:p>
          <a:p>
            <a:pPr algn="l">
              <a:spcBef>
                <a:spcPct val="50000"/>
              </a:spcBef>
            </a:pPr>
            <a:r>
              <a:rPr lang="zh-CN" altLang="en-US" sz="1800" dirty="0">
                <a:solidFill>
                  <a:srgbClr val="1000E4"/>
                </a:solidFill>
                <a:latin typeface="Consolas" pitchFamily="49" charset="0"/>
                <a:ea typeface="仿宋" pitchFamily="49" charset="-122"/>
                <a:cs typeface="Consolas" pitchFamily="49" charset="0"/>
              </a:rPr>
              <a:t>　　　　</a:t>
            </a:r>
            <a:r>
              <a:rPr lang="en-US" altLang="zh-CN" sz="1800" dirty="0">
                <a:solidFill>
                  <a:srgbClr val="1000E4"/>
                </a:solidFill>
                <a:latin typeface="Consolas" pitchFamily="49" charset="0"/>
                <a:ea typeface="仿宋" pitchFamily="49" charset="-122"/>
                <a:cs typeface="Consolas" pitchFamily="49" charset="0"/>
              </a:rPr>
              <a:t>if (a[j]&lt;a[k])  k=j;</a:t>
            </a:r>
          </a:p>
          <a:p>
            <a:pPr algn="l">
              <a:spcBef>
                <a:spcPct val="50000"/>
              </a:spcBef>
            </a:pPr>
            <a:r>
              <a:rPr lang="zh-CN" altLang="en-US" sz="1800" dirty="0">
                <a:solidFill>
                  <a:srgbClr val="1000E4"/>
                </a:solidFill>
                <a:latin typeface="Consolas" pitchFamily="49" charset="0"/>
                <a:ea typeface="仿宋" pitchFamily="49" charset="-122"/>
                <a:cs typeface="Consolas" pitchFamily="49" charset="0"/>
              </a:rPr>
              <a:t>   </a:t>
            </a:r>
            <a:r>
              <a:rPr lang="en-US" altLang="zh-CN" sz="1800" dirty="0">
                <a:solidFill>
                  <a:srgbClr val="1000E4"/>
                </a:solidFill>
                <a:latin typeface="Consolas" pitchFamily="49" charset="0"/>
                <a:ea typeface="仿宋" pitchFamily="49" charset="-122"/>
                <a:cs typeface="Consolas" pitchFamily="49" charset="0"/>
              </a:rPr>
              <a:t>return a[k];</a:t>
            </a:r>
          </a:p>
          <a:p>
            <a:pPr algn="l">
              <a:spcBef>
                <a:spcPct val="50000"/>
              </a:spcBef>
            </a:pPr>
            <a:r>
              <a:rPr lang="en-US" altLang="zh-CN" sz="1800" dirty="0">
                <a:solidFill>
                  <a:srgbClr val="1000E4"/>
                </a:solidFill>
                <a:latin typeface="Consolas" pitchFamily="49" charset="0"/>
                <a:ea typeface="仿宋" pitchFamily="49" charset="-122"/>
                <a:cs typeface="Consolas" pitchFamily="49" charset="0"/>
              </a:rPr>
              <a:t>}</a:t>
            </a:r>
          </a:p>
        </p:txBody>
      </p:sp>
      <p:grpSp>
        <p:nvGrpSpPr>
          <p:cNvPr id="8" name="组合 8">
            <a:extLst>
              <a:ext uri="{FF2B5EF4-FFF2-40B4-BE49-F238E27FC236}">
                <a16:creationId xmlns:a16="http://schemas.microsoft.com/office/drawing/2014/main" id="{75ECF444-4EC1-F742-185F-212B67012E55}"/>
              </a:ext>
            </a:extLst>
          </p:cNvPr>
          <p:cNvGrpSpPr/>
          <p:nvPr/>
        </p:nvGrpSpPr>
        <p:grpSpPr>
          <a:xfrm>
            <a:off x="7027030" y="4965446"/>
            <a:ext cx="1714512" cy="971614"/>
            <a:chOff x="2928926" y="5072074"/>
            <a:chExt cx="1714512" cy="971614"/>
          </a:xfrm>
        </p:grpSpPr>
        <p:sp>
          <p:nvSpPr>
            <p:cNvPr id="10" name="上箭头 6">
              <a:extLst>
                <a:ext uri="{FF2B5EF4-FFF2-40B4-BE49-F238E27FC236}">
                  <a16:creationId xmlns:a16="http://schemas.microsoft.com/office/drawing/2014/main" id="{4E107CDC-2672-7264-CF0F-E2877787743F}"/>
                </a:ext>
              </a:extLst>
            </p:cNvPr>
            <p:cNvSpPr/>
            <p:nvPr/>
          </p:nvSpPr>
          <p:spPr>
            <a:xfrm>
              <a:off x="3571868" y="5072074"/>
              <a:ext cx="214314" cy="500066"/>
            </a:xfrm>
            <a:prstGeom prst="up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2000"/>
            </a:p>
          </p:txBody>
        </p:sp>
        <p:sp>
          <p:nvSpPr>
            <p:cNvPr id="11" name="TextBox 7">
              <a:extLst>
                <a:ext uri="{FF2B5EF4-FFF2-40B4-BE49-F238E27FC236}">
                  <a16:creationId xmlns:a16="http://schemas.microsoft.com/office/drawing/2014/main" id="{E2FB9032-844B-DC57-2F2B-B314FDD2A605}"/>
                </a:ext>
              </a:extLst>
            </p:cNvPr>
            <p:cNvSpPr txBox="1"/>
            <p:nvPr/>
          </p:nvSpPr>
          <p:spPr>
            <a:xfrm>
              <a:off x="2928926" y="5643578"/>
              <a:ext cx="1714512" cy="400110"/>
            </a:xfrm>
            <a:prstGeom prst="rect">
              <a:avLst/>
            </a:prstGeom>
            <a:noFill/>
          </p:spPr>
          <p:txBody>
            <a:bodyPr wrap="square" rtlCol="0">
              <a:spAutoFit/>
            </a:bodyPr>
            <a:lstStyle/>
            <a:p>
              <a:r>
                <a:rPr kumimoji="1" lang="zh-CN" altLang="en-US" sz="2000" dirty="0">
                  <a:latin typeface="仿宋" pitchFamily="49" charset="-122"/>
                  <a:ea typeface="仿宋" pitchFamily="49" charset="-122"/>
                </a:rPr>
                <a:t>简单选择</a:t>
              </a:r>
              <a:endParaRPr lang="zh-CN" altLang="en-US" sz="2000" dirty="0">
                <a:latin typeface="仿宋" pitchFamily="49" charset="-122"/>
                <a:ea typeface="仿宋" pitchFamily="49" charset="-122"/>
              </a:endParaRPr>
            </a:p>
          </p:txBody>
        </p:sp>
      </p:grpSp>
      <p:sp>
        <p:nvSpPr>
          <p:cNvPr id="12" name="TextBox 9">
            <a:extLst>
              <a:ext uri="{FF2B5EF4-FFF2-40B4-BE49-F238E27FC236}">
                <a16:creationId xmlns:a16="http://schemas.microsoft.com/office/drawing/2014/main" id="{102A396E-B4ED-51D3-7906-0350B3D1E6DB}"/>
              </a:ext>
            </a:extLst>
          </p:cNvPr>
          <p:cNvSpPr txBox="1"/>
          <p:nvPr/>
        </p:nvSpPr>
        <p:spPr>
          <a:xfrm>
            <a:off x="7488092" y="4493898"/>
            <a:ext cx="4429124" cy="400110"/>
          </a:xfrm>
          <a:prstGeom prst="rect">
            <a:avLst/>
          </a:prstGeom>
          <a:noFill/>
        </p:spPr>
        <p:txBody>
          <a:bodyPr wrap="square" rtlCol="0">
            <a:spAutoFit/>
          </a:bodyPr>
          <a:lstStyle/>
          <a:p>
            <a:pPr algn="l"/>
            <a:r>
              <a:rPr lang="en-US" altLang="zh-CN" sz="2000" i="1" dirty="0">
                <a:latin typeface="Consolas" pitchFamily="49" charset="0"/>
                <a:ea typeface="华文中宋" pitchFamily="2" charset="-122"/>
                <a:cs typeface="Consolas" pitchFamily="49" charset="0"/>
              </a:rPr>
              <a:t>n</a:t>
            </a:r>
            <a:r>
              <a:rPr lang="zh-CN" altLang="en-US" sz="2000" dirty="0">
                <a:latin typeface="Consolas" pitchFamily="49" charset="0"/>
                <a:ea typeface="华文中宋" pitchFamily="2" charset="-122"/>
                <a:cs typeface="Consolas" pitchFamily="49" charset="0"/>
              </a:rPr>
              <a:t>个元素中找最小元素需要</a:t>
            </a:r>
            <a:r>
              <a:rPr lang="en-US" altLang="zh-CN" sz="2000" i="1" dirty="0">
                <a:latin typeface="Consolas" pitchFamily="49" charset="0"/>
                <a:ea typeface="华文中宋" pitchFamily="2" charset="-122"/>
                <a:cs typeface="Consolas" pitchFamily="49" charset="0"/>
              </a:rPr>
              <a:t>n</a:t>
            </a:r>
            <a:r>
              <a:rPr lang="en-US" altLang="zh-CN" sz="2000" dirty="0">
                <a:latin typeface="Consolas" pitchFamily="49" charset="0"/>
                <a:ea typeface="华文中宋" pitchFamily="2" charset="-122"/>
                <a:cs typeface="Consolas" pitchFamily="49" charset="0"/>
              </a:rPr>
              <a:t>-1</a:t>
            </a:r>
            <a:r>
              <a:rPr lang="zh-CN" altLang="en-US" sz="2000" dirty="0">
                <a:latin typeface="Consolas" pitchFamily="49" charset="0"/>
                <a:ea typeface="华文中宋" pitchFamily="2" charset="-122"/>
                <a:cs typeface="Consolas" pitchFamily="49" charset="0"/>
              </a:rPr>
              <a:t>次比较</a:t>
            </a:r>
          </a:p>
        </p:txBody>
      </p:sp>
    </p:spTree>
    <p:extLst>
      <p:ext uri="{BB962C8B-B14F-4D97-AF65-F5344CB8AC3E}">
        <p14:creationId xmlns:p14="http://schemas.microsoft.com/office/powerpoint/2010/main" val="40162554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D92F-6400-EF6D-32C0-8DBDDB358B1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FA47B49-A14E-7A33-D36D-6ABCF12B59C4}"/>
              </a:ext>
            </a:extLst>
          </p:cNvPr>
          <p:cNvSpPr/>
          <p:nvPr/>
        </p:nvSpPr>
        <p:spPr>
          <a:xfrm>
            <a:off x="335360" y="1082555"/>
            <a:ext cx="388843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10.4.1 </a:t>
            </a:r>
            <a:r>
              <a:rPr lang="zh-CN" altLang="en-US" sz="2800" b="1" dirty="0">
                <a:solidFill>
                  <a:schemeClr val="bg1"/>
                </a:solidFill>
                <a:latin typeface="经典粗黑简" pitchFamily="49" charset="-122"/>
                <a:ea typeface="经典粗黑简" pitchFamily="49" charset="-122"/>
                <a:cs typeface="经典粗黑简" pitchFamily="49" charset="-122"/>
              </a:rPr>
              <a:t>简单选择排序</a:t>
            </a:r>
          </a:p>
        </p:txBody>
      </p:sp>
      <p:cxnSp>
        <p:nvCxnSpPr>
          <p:cNvPr id="3" name="直接连接符 2">
            <a:extLst>
              <a:ext uri="{FF2B5EF4-FFF2-40B4-BE49-F238E27FC236}">
                <a16:creationId xmlns:a16="http://schemas.microsoft.com/office/drawing/2014/main" id="{6B019DF1-619C-CB9B-7916-2B19BE6A89A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9F193970-DF86-FAAD-B241-4F2542085231}"/>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9" name="Text Box 6">
            <a:extLst>
              <a:ext uri="{FF2B5EF4-FFF2-40B4-BE49-F238E27FC236}">
                <a16:creationId xmlns:a16="http://schemas.microsoft.com/office/drawing/2014/main" id="{98BE9691-F7B4-0177-C445-6A80D0BD6992}"/>
              </a:ext>
            </a:extLst>
          </p:cNvPr>
          <p:cNvSpPr txBox="1">
            <a:spLocks noChangeArrowheads="1"/>
          </p:cNvSpPr>
          <p:nvPr/>
        </p:nvSpPr>
        <p:spPr bwMode="auto">
          <a:xfrm>
            <a:off x="3512552" y="2006304"/>
            <a:ext cx="1543022" cy="369332"/>
          </a:xfrm>
          <a:prstGeom prst="rect">
            <a:avLst/>
          </a:prstGeom>
          <a:noFill/>
          <a:ln w="9525">
            <a:noFill/>
            <a:miter lim="800000"/>
            <a:headEnd/>
            <a:tailEnd/>
          </a:ln>
          <a:effectLst/>
        </p:spPr>
        <p:txBody>
          <a:bodyPr wrap="square">
            <a:spAutoFit/>
          </a:bodyPr>
          <a:lstStyle/>
          <a:p>
            <a:pPr algn="l">
              <a:spcBef>
                <a:spcPct val="50000"/>
              </a:spcBef>
            </a:pPr>
            <a:r>
              <a:rPr lang="zh-CN" altLang="en-US" sz="1800">
                <a:latin typeface="Consolas" pitchFamily="49" charset="0"/>
                <a:ea typeface="仿宋" pitchFamily="49" charset="-122"/>
                <a:cs typeface="Consolas" pitchFamily="49" charset="0"/>
              </a:rPr>
              <a:t>全局有序区</a:t>
            </a:r>
          </a:p>
        </p:txBody>
      </p:sp>
      <p:sp>
        <p:nvSpPr>
          <p:cNvPr id="13" name="Rectangle 7">
            <a:extLst>
              <a:ext uri="{FF2B5EF4-FFF2-40B4-BE49-F238E27FC236}">
                <a16:creationId xmlns:a16="http://schemas.microsoft.com/office/drawing/2014/main" id="{6485FD5D-D47B-7E64-8C12-595D8E5631F4}"/>
              </a:ext>
            </a:extLst>
          </p:cNvPr>
          <p:cNvSpPr>
            <a:spLocks noChangeArrowheads="1"/>
          </p:cNvSpPr>
          <p:nvPr/>
        </p:nvSpPr>
        <p:spPr bwMode="auto">
          <a:xfrm>
            <a:off x="2675979" y="2468339"/>
            <a:ext cx="3095625" cy="50323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800" i="1" dirty="0">
                <a:solidFill>
                  <a:srgbClr val="1000E4"/>
                </a:solidFill>
                <a:latin typeface="Consolas" pitchFamily="49" charset="0"/>
                <a:ea typeface="仿宋" pitchFamily="49" charset="-122"/>
                <a:cs typeface="Consolas" pitchFamily="49" charset="0"/>
              </a:rPr>
              <a:t>R</a:t>
            </a:r>
            <a:r>
              <a:rPr lang="en-US" altLang="zh-CN" sz="1800" dirty="0">
                <a:solidFill>
                  <a:srgbClr val="1000E4"/>
                </a:solidFill>
                <a:latin typeface="Consolas" pitchFamily="49" charset="0"/>
                <a:ea typeface="仿宋" pitchFamily="49" charset="-122"/>
                <a:cs typeface="Consolas" pitchFamily="49" charset="0"/>
              </a:rPr>
              <a:t>[0</a:t>
            </a: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1000E4"/>
                </a:solidFill>
                <a:latin typeface="+mj-ea"/>
                <a:ea typeface="+mj-ea"/>
                <a:cs typeface="Consolas" pitchFamily="49" charset="0"/>
              </a:rPr>
              <a:t>……</a:t>
            </a:r>
            <a:r>
              <a:rPr lang="en-US" altLang="zh-CN" sz="1800">
                <a:solidFill>
                  <a:srgbClr val="1000E4"/>
                </a:solidFill>
                <a:latin typeface="Consolas" pitchFamily="49" charset="0"/>
                <a:ea typeface="仿宋" pitchFamily="49" charset="-122"/>
                <a:cs typeface="Consolas" pitchFamily="49" charset="0"/>
              </a:rPr>
              <a:t>    </a:t>
            </a:r>
            <a:r>
              <a:rPr lang="en-US" altLang="zh-CN" sz="1800" i="1" dirty="0">
                <a:solidFill>
                  <a:srgbClr val="1000E4"/>
                </a:solidFill>
                <a:latin typeface="Consolas" pitchFamily="49" charset="0"/>
                <a:ea typeface="仿宋" pitchFamily="49" charset="-122"/>
                <a:cs typeface="Consolas" pitchFamily="49" charset="0"/>
              </a:rPr>
              <a:t>R</a:t>
            </a:r>
            <a:r>
              <a:rPr lang="en-US" altLang="zh-CN" sz="1800" dirty="0">
                <a:solidFill>
                  <a:srgbClr val="1000E4"/>
                </a:solidFill>
                <a:latin typeface="Consolas" pitchFamily="49" charset="0"/>
                <a:ea typeface="仿宋" pitchFamily="49" charset="-122"/>
                <a:cs typeface="Consolas" pitchFamily="49" charset="0"/>
              </a:rPr>
              <a:t>[</a:t>
            </a:r>
            <a:r>
              <a:rPr lang="en-US" altLang="zh-CN" sz="1800" i="1" dirty="0" err="1">
                <a:solidFill>
                  <a:srgbClr val="1000E4"/>
                </a:solidFill>
                <a:latin typeface="Consolas" pitchFamily="49" charset="0"/>
                <a:ea typeface="仿宋" pitchFamily="49" charset="-122"/>
                <a:cs typeface="Consolas" pitchFamily="49" charset="0"/>
              </a:rPr>
              <a:t>i</a:t>
            </a:r>
            <a:r>
              <a:rPr lang="en-US" altLang="zh-CN" sz="1800" dirty="0">
                <a:solidFill>
                  <a:srgbClr val="1000E4"/>
                </a:solidFill>
                <a:latin typeface="Consolas" pitchFamily="49" charset="0"/>
                <a:ea typeface="仿宋" pitchFamily="49" charset="-122"/>
                <a:cs typeface="Consolas" pitchFamily="49" charset="0"/>
              </a:rPr>
              <a:t>-1]</a:t>
            </a:r>
          </a:p>
        </p:txBody>
      </p:sp>
      <p:sp>
        <p:nvSpPr>
          <p:cNvPr id="14" name="Text Box 8">
            <a:extLst>
              <a:ext uri="{FF2B5EF4-FFF2-40B4-BE49-F238E27FC236}">
                <a16:creationId xmlns:a16="http://schemas.microsoft.com/office/drawing/2014/main" id="{22C210A5-7A12-8608-2762-F8F4EFB27482}"/>
              </a:ext>
            </a:extLst>
          </p:cNvPr>
          <p:cNvSpPr txBox="1">
            <a:spLocks noChangeArrowheads="1"/>
          </p:cNvSpPr>
          <p:nvPr/>
        </p:nvSpPr>
        <p:spPr bwMode="auto">
          <a:xfrm>
            <a:off x="6708229" y="2006304"/>
            <a:ext cx="1150938"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仿宋" pitchFamily="49" charset="-122"/>
                <a:cs typeface="Consolas" pitchFamily="49" charset="0"/>
              </a:rPr>
              <a:t>无序区</a:t>
            </a:r>
          </a:p>
        </p:txBody>
      </p:sp>
      <p:sp>
        <p:nvSpPr>
          <p:cNvPr id="15" name="Rectangle 9">
            <a:extLst>
              <a:ext uri="{FF2B5EF4-FFF2-40B4-BE49-F238E27FC236}">
                <a16:creationId xmlns:a16="http://schemas.microsoft.com/office/drawing/2014/main" id="{2AE20CD0-F2F9-1509-D454-AE43E0D136C8}"/>
              </a:ext>
            </a:extLst>
          </p:cNvPr>
          <p:cNvSpPr>
            <a:spLocks noChangeArrowheads="1"/>
          </p:cNvSpPr>
          <p:nvPr/>
        </p:nvSpPr>
        <p:spPr bwMode="auto">
          <a:xfrm>
            <a:off x="5987504" y="2468339"/>
            <a:ext cx="3168650" cy="50323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800" i="1" dirty="0">
                <a:solidFill>
                  <a:srgbClr val="FF0000"/>
                </a:solidFill>
                <a:latin typeface="Consolas" pitchFamily="49" charset="0"/>
                <a:ea typeface="仿宋" pitchFamily="49" charset="-122"/>
                <a:cs typeface="Consolas" pitchFamily="49" charset="0"/>
              </a:rPr>
              <a:t>R</a:t>
            </a:r>
            <a:r>
              <a:rPr lang="en-US" altLang="zh-CN" sz="1800" dirty="0">
                <a:solidFill>
                  <a:srgbClr val="FF0000"/>
                </a:solidFill>
                <a:latin typeface="Consolas" pitchFamily="49" charset="0"/>
                <a:ea typeface="仿宋" pitchFamily="49" charset="-122"/>
                <a:cs typeface="Consolas" pitchFamily="49" charset="0"/>
              </a:rPr>
              <a:t>[</a:t>
            </a:r>
            <a:r>
              <a:rPr lang="en-US" altLang="zh-CN" sz="1800" i="1" dirty="0" err="1">
                <a:solidFill>
                  <a:srgbClr val="FF0000"/>
                </a:solidFill>
                <a:latin typeface="Consolas" pitchFamily="49" charset="0"/>
                <a:ea typeface="仿宋" pitchFamily="49" charset="-122"/>
                <a:cs typeface="Consolas" pitchFamily="49" charset="0"/>
              </a:rPr>
              <a:t>i</a:t>
            </a:r>
            <a:r>
              <a:rPr lang="en-US" altLang="zh-CN" sz="1800">
                <a:solidFill>
                  <a:srgbClr val="FF0000"/>
                </a:solidFill>
                <a:latin typeface="Consolas" pitchFamily="49" charset="0"/>
                <a:ea typeface="仿宋" pitchFamily="49" charset="-122"/>
                <a:cs typeface="Consolas" pitchFamily="49" charset="0"/>
              </a:rPr>
              <a:t>]</a:t>
            </a: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1000E4"/>
                </a:solidFill>
                <a:latin typeface="+mn-ea"/>
                <a:cs typeface="Consolas" pitchFamily="49" charset="0"/>
              </a:rPr>
              <a:t>…… </a:t>
            </a:r>
            <a:r>
              <a:rPr lang="en-US" altLang="zh-CN" sz="1800">
                <a:solidFill>
                  <a:srgbClr val="1000E4"/>
                </a:solidFill>
                <a:latin typeface="Consolas" pitchFamily="49" charset="0"/>
                <a:ea typeface="仿宋" pitchFamily="49" charset="-122"/>
                <a:cs typeface="Consolas" pitchFamily="49" charset="0"/>
              </a:rPr>
              <a:t>   </a:t>
            </a:r>
            <a:r>
              <a:rPr lang="en-US" altLang="zh-CN" sz="1800" i="1" dirty="0">
                <a:solidFill>
                  <a:srgbClr val="1000E4"/>
                </a:solidFill>
                <a:latin typeface="Consolas" pitchFamily="49" charset="0"/>
                <a:ea typeface="仿宋" pitchFamily="49" charset="-122"/>
                <a:cs typeface="Consolas" pitchFamily="49" charset="0"/>
              </a:rPr>
              <a:t>R</a:t>
            </a:r>
            <a:r>
              <a:rPr lang="en-US" altLang="zh-CN" sz="1800" dirty="0">
                <a:solidFill>
                  <a:srgbClr val="1000E4"/>
                </a:solidFill>
                <a:latin typeface="Consolas" pitchFamily="49" charset="0"/>
                <a:ea typeface="仿宋" pitchFamily="49" charset="-122"/>
                <a:cs typeface="Consolas" pitchFamily="49" charset="0"/>
              </a:rPr>
              <a:t>[</a:t>
            </a:r>
            <a:r>
              <a:rPr lang="en-US" altLang="zh-CN" sz="1800" i="1" dirty="0">
                <a:solidFill>
                  <a:srgbClr val="1000E4"/>
                </a:solidFill>
                <a:latin typeface="Consolas" pitchFamily="49" charset="0"/>
                <a:ea typeface="仿宋" pitchFamily="49" charset="-122"/>
                <a:cs typeface="Consolas" pitchFamily="49" charset="0"/>
              </a:rPr>
              <a:t>n</a:t>
            </a:r>
            <a:r>
              <a:rPr lang="en-US" altLang="zh-CN" sz="1800" dirty="0">
                <a:solidFill>
                  <a:srgbClr val="1000E4"/>
                </a:solidFill>
                <a:latin typeface="Consolas" pitchFamily="49" charset="0"/>
                <a:ea typeface="仿宋" pitchFamily="49" charset="-122"/>
                <a:cs typeface="Consolas" pitchFamily="49" charset="0"/>
              </a:rPr>
              <a:t>-1]</a:t>
            </a:r>
          </a:p>
        </p:txBody>
      </p:sp>
      <p:sp>
        <p:nvSpPr>
          <p:cNvPr id="16" name="Text Box 12">
            <a:extLst>
              <a:ext uri="{FF2B5EF4-FFF2-40B4-BE49-F238E27FC236}">
                <a16:creationId xmlns:a16="http://schemas.microsoft.com/office/drawing/2014/main" id="{327F6607-3FB2-B5F2-9AA7-193F01345582}"/>
              </a:ext>
            </a:extLst>
          </p:cNvPr>
          <p:cNvSpPr txBox="1">
            <a:spLocks noChangeArrowheads="1"/>
          </p:cNvSpPr>
          <p:nvPr/>
        </p:nvSpPr>
        <p:spPr bwMode="auto">
          <a:xfrm>
            <a:off x="3604673" y="4835306"/>
            <a:ext cx="1563705" cy="369332"/>
          </a:xfrm>
          <a:prstGeom prst="rect">
            <a:avLst/>
          </a:prstGeom>
          <a:noFill/>
          <a:ln w="9525">
            <a:noFill/>
            <a:miter lim="800000"/>
            <a:headEnd/>
            <a:tailEnd/>
          </a:ln>
          <a:effectLst/>
        </p:spPr>
        <p:txBody>
          <a:bodyPr wrap="square">
            <a:spAutoFit/>
          </a:bodyPr>
          <a:lstStyle/>
          <a:p>
            <a:pPr algn="l">
              <a:spcBef>
                <a:spcPct val="50000"/>
              </a:spcBef>
            </a:pPr>
            <a:r>
              <a:rPr lang="zh-CN" altLang="en-US" sz="1800">
                <a:latin typeface="Consolas" pitchFamily="49" charset="0"/>
                <a:ea typeface="仿宋" pitchFamily="49" charset="-122"/>
                <a:cs typeface="Consolas" pitchFamily="49" charset="0"/>
              </a:rPr>
              <a:t>全局有序</a:t>
            </a:r>
            <a:r>
              <a:rPr lang="zh-CN" altLang="en-US" sz="1800" dirty="0">
                <a:latin typeface="Consolas" pitchFamily="49" charset="0"/>
                <a:ea typeface="仿宋" pitchFamily="49" charset="-122"/>
                <a:cs typeface="Consolas" pitchFamily="49" charset="0"/>
              </a:rPr>
              <a:t>区</a:t>
            </a:r>
          </a:p>
        </p:txBody>
      </p:sp>
      <p:sp>
        <p:nvSpPr>
          <p:cNvPr id="17" name="Rectangle 13">
            <a:extLst>
              <a:ext uri="{FF2B5EF4-FFF2-40B4-BE49-F238E27FC236}">
                <a16:creationId xmlns:a16="http://schemas.microsoft.com/office/drawing/2014/main" id="{9D910AC2-F242-3D04-B809-1B69725B9330}"/>
              </a:ext>
            </a:extLst>
          </p:cNvPr>
          <p:cNvSpPr>
            <a:spLocks noChangeArrowheads="1"/>
          </p:cNvSpPr>
          <p:nvPr/>
        </p:nvSpPr>
        <p:spPr bwMode="auto">
          <a:xfrm>
            <a:off x="2675979" y="4197126"/>
            <a:ext cx="3671888" cy="50323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800" i="1" dirty="0">
                <a:solidFill>
                  <a:srgbClr val="1000E4"/>
                </a:solidFill>
                <a:latin typeface="Consolas" pitchFamily="49" charset="0"/>
                <a:ea typeface="仿宋" pitchFamily="49" charset="-122"/>
                <a:cs typeface="Consolas" pitchFamily="49" charset="0"/>
              </a:rPr>
              <a:t>R</a:t>
            </a:r>
            <a:r>
              <a:rPr lang="en-US" altLang="zh-CN" sz="1800" dirty="0">
                <a:solidFill>
                  <a:srgbClr val="1000E4"/>
                </a:solidFill>
                <a:latin typeface="Consolas" pitchFamily="49" charset="0"/>
                <a:ea typeface="仿宋" pitchFamily="49" charset="-122"/>
                <a:cs typeface="Consolas" pitchFamily="49" charset="0"/>
              </a:rPr>
              <a:t>[0</a:t>
            </a:r>
            <a:r>
              <a:rPr lang="en-US" altLang="zh-CN" sz="1800">
                <a:solidFill>
                  <a:srgbClr val="1000E4"/>
                </a:solidFill>
                <a:latin typeface="Consolas" pitchFamily="49" charset="0"/>
                <a:ea typeface="仿宋" pitchFamily="49" charset="-122"/>
                <a:cs typeface="Consolas" pitchFamily="49" charset="0"/>
              </a:rPr>
              <a:t>]   </a:t>
            </a:r>
            <a:r>
              <a:rPr lang="en-US" altLang="zh-CN" sz="1800">
                <a:solidFill>
                  <a:srgbClr val="1000E4"/>
                </a:solidFill>
                <a:latin typeface="+mn-ea"/>
                <a:cs typeface="Consolas" pitchFamily="49" charset="0"/>
              </a:rPr>
              <a:t>……</a:t>
            </a:r>
            <a:r>
              <a:rPr lang="en-US" altLang="zh-CN" sz="1800">
                <a:solidFill>
                  <a:srgbClr val="1000E4"/>
                </a:solidFill>
                <a:latin typeface="Consolas" pitchFamily="49" charset="0"/>
                <a:ea typeface="仿宋" pitchFamily="49" charset="-122"/>
                <a:cs typeface="Consolas" pitchFamily="49" charset="0"/>
              </a:rPr>
              <a:t>     </a:t>
            </a:r>
            <a:r>
              <a:rPr lang="en-US" altLang="zh-CN" sz="1800" i="1">
                <a:solidFill>
                  <a:srgbClr val="1000E4"/>
                </a:solidFill>
                <a:latin typeface="Consolas" pitchFamily="49" charset="0"/>
                <a:ea typeface="仿宋" pitchFamily="49" charset="-122"/>
                <a:cs typeface="Consolas" pitchFamily="49" charset="0"/>
              </a:rPr>
              <a:t>R</a:t>
            </a:r>
            <a:r>
              <a:rPr lang="en-US" altLang="zh-CN" sz="1800">
                <a:solidFill>
                  <a:srgbClr val="1000E4"/>
                </a:solidFill>
                <a:latin typeface="Consolas" pitchFamily="49" charset="0"/>
                <a:ea typeface="仿宋" pitchFamily="49" charset="-122"/>
                <a:cs typeface="Consolas" pitchFamily="49" charset="0"/>
              </a:rPr>
              <a:t>[</a:t>
            </a:r>
            <a:r>
              <a:rPr lang="en-US" altLang="zh-CN" sz="1800" i="1" err="1">
                <a:solidFill>
                  <a:srgbClr val="1000E4"/>
                </a:solidFill>
                <a:latin typeface="Consolas" pitchFamily="49" charset="0"/>
                <a:ea typeface="仿宋" pitchFamily="49" charset="-122"/>
                <a:cs typeface="Consolas" pitchFamily="49" charset="0"/>
              </a:rPr>
              <a:t>i</a:t>
            </a:r>
            <a:r>
              <a:rPr lang="en-US" altLang="zh-CN" sz="1800">
                <a:solidFill>
                  <a:srgbClr val="1000E4"/>
                </a:solidFill>
                <a:latin typeface="Consolas" pitchFamily="49" charset="0"/>
                <a:ea typeface="仿宋" pitchFamily="49" charset="-122"/>
                <a:cs typeface="Consolas" pitchFamily="49" charset="0"/>
              </a:rPr>
              <a:t>-1] </a:t>
            </a:r>
            <a:r>
              <a:rPr lang="en-US" altLang="zh-CN" sz="1800" i="1" dirty="0">
                <a:solidFill>
                  <a:srgbClr val="FF0000"/>
                </a:solidFill>
                <a:latin typeface="Consolas" pitchFamily="49" charset="0"/>
                <a:ea typeface="仿宋" pitchFamily="49" charset="-122"/>
                <a:cs typeface="Consolas" pitchFamily="49" charset="0"/>
              </a:rPr>
              <a:t>R</a:t>
            </a:r>
            <a:r>
              <a:rPr lang="en-US" altLang="zh-CN" sz="1800" dirty="0">
                <a:solidFill>
                  <a:srgbClr val="FF0000"/>
                </a:solidFill>
                <a:latin typeface="Consolas" pitchFamily="49" charset="0"/>
                <a:ea typeface="仿宋" pitchFamily="49" charset="-122"/>
                <a:cs typeface="Consolas" pitchFamily="49" charset="0"/>
              </a:rPr>
              <a:t>[</a:t>
            </a:r>
            <a:r>
              <a:rPr lang="en-US" altLang="zh-CN" sz="1800" i="1" dirty="0" err="1">
                <a:solidFill>
                  <a:srgbClr val="FF0000"/>
                </a:solidFill>
                <a:latin typeface="Consolas" pitchFamily="49" charset="0"/>
                <a:ea typeface="仿宋" pitchFamily="49" charset="-122"/>
                <a:cs typeface="Consolas" pitchFamily="49" charset="0"/>
              </a:rPr>
              <a:t>i</a:t>
            </a:r>
            <a:r>
              <a:rPr lang="en-US" altLang="zh-CN" sz="1800" dirty="0">
                <a:solidFill>
                  <a:srgbClr val="FF0000"/>
                </a:solidFill>
                <a:latin typeface="Consolas" pitchFamily="49" charset="0"/>
                <a:ea typeface="仿宋" pitchFamily="49" charset="-122"/>
                <a:cs typeface="Consolas" pitchFamily="49" charset="0"/>
              </a:rPr>
              <a:t>]</a:t>
            </a:r>
          </a:p>
        </p:txBody>
      </p:sp>
      <p:sp>
        <p:nvSpPr>
          <p:cNvPr id="18" name="Text Box 14">
            <a:extLst>
              <a:ext uri="{FF2B5EF4-FFF2-40B4-BE49-F238E27FC236}">
                <a16:creationId xmlns:a16="http://schemas.microsoft.com/office/drawing/2014/main" id="{78F06F4F-CDED-EFF0-C3AB-166B72F9CA7E}"/>
              </a:ext>
            </a:extLst>
          </p:cNvPr>
          <p:cNvSpPr txBox="1">
            <a:spLocks noChangeArrowheads="1"/>
          </p:cNvSpPr>
          <p:nvPr/>
        </p:nvSpPr>
        <p:spPr bwMode="auto">
          <a:xfrm>
            <a:off x="6708229" y="4763868"/>
            <a:ext cx="1150938"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仿宋" pitchFamily="49" charset="-122"/>
                <a:cs typeface="Consolas" pitchFamily="49" charset="0"/>
              </a:rPr>
              <a:t>无序区</a:t>
            </a:r>
          </a:p>
        </p:txBody>
      </p:sp>
      <p:sp>
        <p:nvSpPr>
          <p:cNvPr id="19" name="Rectangle 15">
            <a:extLst>
              <a:ext uri="{FF2B5EF4-FFF2-40B4-BE49-F238E27FC236}">
                <a16:creationId xmlns:a16="http://schemas.microsoft.com/office/drawing/2014/main" id="{1B3E37A8-546D-33B4-4EC1-A9B4A19DD104}"/>
              </a:ext>
            </a:extLst>
          </p:cNvPr>
          <p:cNvSpPr>
            <a:spLocks noChangeArrowheads="1"/>
          </p:cNvSpPr>
          <p:nvPr/>
        </p:nvSpPr>
        <p:spPr bwMode="auto">
          <a:xfrm>
            <a:off x="6492329" y="4197126"/>
            <a:ext cx="2592388" cy="50323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800" i="1" dirty="0">
                <a:solidFill>
                  <a:srgbClr val="1000E4"/>
                </a:solidFill>
                <a:latin typeface="Consolas" pitchFamily="49" charset="0"/>
                <a:ea typeface="仿宋" pitchFamily="49" charset="-122"/>
                <a:cs typeface="Consolas" pitchFamily="49" charset="0"/>
              </a:rPr>
              <a:t>R</a:t>
            </a:r>
            <a:r>
              <a:rPr lang="en-US" altLang="zh-CN" sz="1800" dirty="0">
                <a:solidFill>
                  <a:srgbClr val="1000E4"/>
                </a:solidFill>
                <a:latin typeface="Consolas" pitchFamily="49" charset="0"/>
                <a:ea typeface="仿宋" pitchFamily="49" charset="-122"/>
                <a:cs typeface="Consolas" pitchFamily="49" charset="0"/>
              </a:rPr>
              <a:t>[</a:t>
            </a:r>
            <a:r>
              <a:rPr lang="en-US" altLang="zh-CN" sz="1800" i="1" dirty="0" err="1">
                <a:solidFill>
                  <a:srgbClr val="1000E4"/>
                </a:solidFill>
                <a:latin typeface="Consolas" pitchFamily="49" charset="0"/>
                <a:ea typeface="仿宋" pitchFamily="49" charset="-122"/>
                <a:cs typeface="Consolas" pitchFamily="49" charset="0"/>
              </a:rPr>
              <a:t>i</a:t>
            </a:r>
            <a:r>
              <a:rPr lang="en-US" altLang="zh-CN" sz="1800" dirty="0" err="1">
                <a:solidFill>
                  <a:srgbClr val="1000E4"/>
                </a:solidFill>
                <a:latin typeface="Consolas" pitchFamily="49" charset="0"/>
                <a:ea typeface="仿宋" pitchFamily="49" charset="-122"/>
                <a:cs typeface="Consolas" pitchFamily="49" charset="0"/>
              </a:rPr>
              <a:t>+1</a:t>
            </a:r>
            <a:r>
              <a:rPr lang="en-US" altLang="zh-CN" sz="1800" dirty="0">
                <a:solidFill>
                  <a:srgbClr val="1000E4"/>
                </a:solidFill>
                <a:latin typeface="Consolas" pitchFamily="49" charset="0"/>
                <a:ea typeface="仿宋" pitchFamily="49" charset="-122"/>
                <a:cs typeface="Consolas" pitchFamily="49" charset="0"/>
              </a:rPr>
              <a:t>] </a:t>
            </a:r>
            <a:r>
              <a:rPr lang="en-US" altLang="zh-CN" sz="1800" dirty="0">
                <a:solidFill>
                  <a:srgbClr val="1000E4"/>
                </a:solidFill>
                <a:latin typeface="+mn-ea"/>
                <a:cs typeface="Consolas" pitchFamily="49" charset="0"/>
              </a:rPr>
              <a:t>……</a:t>
            </a:r>
            <a:r>
              <a:rPr lang="en-US" altLang="zh-CN" sz="1800" dirty="0">
                <a:solidFill>
                  <a:srgbClr val="1000E4"/>
                </a:solidFill>
                <a:latin typeface="Consolas" pitchFamily="49" charset="0"/>
                <a:ea typeface="仿宋" pitchFamily="49" charset="-122"/>
                <a:cs typeface="Consolas" pitchFamily="49" charset="0"/>
              </a:rPr>
              <a:t> </a:t>
            </a:r>
            <a:r>
              <a:rPr lang="en-US" altLang="zh-CN" sz="1800" i="1" dirty="0">
                <a:solidFill>
                  <a:srgbClr val="1000E4"/>
                </a:solidFill>
                <a:latin typeface="Consolas" pitchFamily="49" charset="0"/>
                <a:ea typeface="仿宋" pitchFamily="49" charset="-122"/>
                <a:cs typeface="Consolas" pitchFamily="49" charset="0"/>
              </a:rPr>
              <a:t>R</a:t>
            </a:r>
            <a:r>
              <a:rPr lang="en-US" altLang="zh-CN" sz="1800" dirty="0">
                <a:solidFill>
                  <a:srgbClr val="1000E4"/>
                </a:solidFill>
                <a:latin typeface="Consolas" pitchFamily="49" charset="0"/>
                <a:ea typeface="仿宋" pitchFamily="49" charset="-122"/>
                <a:cs typeface="Consolas" pitchFamily="49" charset="0"/>
              </a:rPr>
              <a:t>[</a:t>
            </a:r>
            <a:r>
              <a:rPr lang="en-US" altLang="zh-CN" sz="1800" i="1" dirty="0">
                <a:solidFill>
                  <a:srgbClr val="1000E4"/>
                </a:solidFill>
                <a:latin typeface="Consolas" pitchFamily="49" charset="0"/>
                <a:ea typeface="仿宋" pitchFamily="49" charset="-122"/>
                <a:cs typeface="Consolas" pitchFamily="49" charset="0"/>
              </a:rPr>
              <a:t>n</a:t>
            </a:r>
            <a:r>
              <a:rPr lang="en-US" altLang="zh-CN" sz="1800" dirty="0">
                <a:solidFill>
                  <a:srgbClr val="1000E4"/>
                </a:solidFill>
                <a:latin typeface="Consolas" pitchFamily="49" charset="0"/>
                <a:ea typeface="仿宋" pitchFamily="49" charset="-122"/>
                <a:cs typeface="Consolas" pitchFamily="49" charset="0"/>
              </a:rPr>
              <a:t>-1]</a:t>
            </a:r>
          </a:p>
        </p:txBody>
      </p:sp>
      <p:sp>
        <p:nvSpPr>
          <p:cNvPr id="20" name="AutoShape 10">
            <a:extLst>
              <a:ext uri="{FF2B5EF4-FFF2-40B4-BE49-F238E27FC236}">
                <a16:creationId xmlns:a16="http://schemas.microsoft.com/office/drawing/2014/main" id="{B31E1579-B8AE-8001-E3FC-B5DB763A65F2}"/>
              </a:ext>
            </a:extLst>
          </p:cNvPr>
          <p:cNvSpPr>
            <a:spLocks noChangeArrowheads="1"/>
          </p:cNvSpPr>
          <p:nvPr/>
        </p:nvSpPr>
        <p:spPr bwMode="auto">
          <a:xfrm rot="5400000">
            <a:off x="6708261" y="2792189"/>
            <a:ext cx="144462" cy="792162"/>
          </a:xfrm>
          <a:prstGeom prst="curvedLeftArrow">
            <a:avLst>
              <a:gd name="adj1" fmla="val 109670"/>
              <a:gd name="adj2" fmla="val 219341"/>
              <a:gd name="adj3" fmla="val 33333"/>
            </a:avLst>
          </a:prstGeom>
          <a:ln>
            <a:headEnd/>
            <a:tailEnd/>
          </a:ln>
        </p:spPr>
        <p:style>
          <a:lnRef idx="1">
            <a:schemeClr val="accent4"/>
          </a:lnRef>
          <a:fillRef idx="3">
            <a:schemeClr val="accent4"/>
          </a:fillRef>
          <a:effectRef idx="2">
            <a:schemeClr val="accent4"/>
          </a:effectRef>
          <a:fontRef idx="minor">
            <a:schemeClr val="lt1"/>
          </a:fontRef>
        </p:style>
        <p:txBody>
          <a:bodyPr wrap="none" anchor="ctr"/>
          <a:lstStyle/>
          <a:p>
            <a:endParaRPr lang="zh-CN" altLang="en-US" sz="2000">
              <a:latin typeface="Consolas" pitchFamily="49" charset="0"/>
              <a:ea typeface="楷体" pitchFamily="49" charset="-122"/>
              <a:cs typeface="Consolas" pitchFamily="49" charset="0"/>
            </a:endParaRPr>
          </a:p>
        </p:txBody>
      </p:sp>
      <p:sp>
        <p:nvSpPr>
          <p:cNvPr id="21" name="AutoShape 11">
            <a:extLst>
              <a:ext uri="{FF2B5EF4-FFF2-40B4-BE49-F238E27FC236}">
                <a16:creationId xmlns:a16="http://schemas.microsoft.com/office/drawing/2014/main" id="{C0BC971F-4907-BF29-04EF-B1BD01E29A80}"/>
              </a:ext>
            </a:extLst>
          </p:cNvPr>
          <p:cNvSpPr>
            <a:spLocks noChangeArrowheads="1"/>
          </p:cNvSpPr>
          <p:nvPr/>
        </p:nvSpPr>
        <p:spPr bwMode="auto">
          <a:xfrm>
            <a:off x="5700167" y="3404964"/>
            <a:ext cx="358775" cy="503237"/>
          </a:xfrm>
          <a:prstGeom prst="downArrow">
            <a:avLst>
              <a:gd name="adj1" fmla="val 50000"/>
              <a:gd name="adj2" fmla="val 35066"/>
            </a:avLst>
          </a:prstGeom>
          <a:solidFill>
            <a:srgbClr val="008000"/>
          </a:solidFill>
          <a:ln w="9525">
            <a:solidFill>
              <a:schemeClr val="tx1"/>
            </a:solidFill>
            <a:miter lim="800000"/>
            <a:headEnd/>
            <a:tailEnd/>
          </a:ln>
          <a:effectLst/>
        </p:spPr>
        <p:txBody>
          <a:bodyPr wrap="none" anchor="ctr"/>
          <a:lstStyle/>
          <a:p>
            <a:endParaRPr lang="zh-CN" altLang="en-US" sz="2000">
              <a:latin typeface="Consolas" pitchFamily="49" charset="0"/>
              <a:ea typeface="楷体" pitchFamily="49" charset="-122"/>
              <a:cs typeface="Consolas" pitchFamily="49" charset="0"/>
            </a:endParaRPr>
          </a:p>
        </p:txBody>
      </p:sp>
      <p:sp>
        <p:nvSpPr>
          <p:cNvPr id="22" name="Text Box 17">
            <a:extLst>
              <a:ext uri="{FF2B5EF4-FFF2-40B4-BE49-F238E27FC236}">
                <a16:creationId xmlns:a16="http://schemas.microsoft.com/office/drawing/2014/main" id="{1D1C878D-A7B7-B06D-3DFD-64036128DE71}"/>
              </a:ext>
            </a:extLst>
          </p:cNvPr>
          <p:cNvSpPr txBox="1">
            <a:spLocks noChangeArrowheads="1"/>
          </p:cNvSpPr>
          <p:nvPr/>
        </p:nvSpPr>
        <p:spPr bwMode="auto">
          <a:xfrm>
            <a:off x="6562181" y="3306590"/>
            <a:ext cx="3543350"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a:latin typeface="Consolas" pitchFamily="49" charset="0"/>
                <a:ea typeface="仿宋" pitchFamily="49" charset="-122"/>
                <a:cs typeface="Consolas" pitchFamily="49" charset="0"/>
              </a:rPr>
              <a:t>采用简单选择方法选出最小元素</a:t>
            </a:r>
            <a:endParaRPr lang="zh-CN" altLang="en-US" sz="1800" dirty="0">
              <a:latin typeface="Consolas" pitchFamily="49" charset="0"/>
              <a:ea typeface="仿宋" pitchFamily="49" charset="-122"/>
              <a:cs typeface="Consolas" pitchFamily="49" charset="0"/>
            </a:endParaRPr>
          </a:p>
        </p:txBody>
      </p:sp>
      <p:sp>
        <p:nvSpPr>
          <p:cNvPr id="23" name="Text Box 18">
            <a:extLst>
              <a:ext uri="{FF2B5EF4-FFF2-40B4-BE49-F238E27FC236}">
                <a16:creationId xmlns:a16="http://schemas.microsoft.com/office/drawing/2014/main" id="{2E058551-C241-CFFB-98B4-EE8DC566BBEC}"/>
              </a:ext>
            </a:extLst>
          </p:cNvPr>
          <p:cNvSpPr txBox="1">
            <a:spLocks noChangeArrowheads="1"/>
          </p:cNvSpPr>
          <p:nvPr/>
        </p:nvSpPr>
        <p:spPr bwMode="auto">
          <a:xfrm>
            <a:off x="2783632" y="5395811"/>
            <a:ext cx="4968875" cy="987551"/>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80000" tIns="108000" bIns="108000">
            <a:spAutoFit/>
          </a:bodyPr>
          <a:lstStyle/>
          <a:p>
            <a:pPr marL="457200" indent="-457200" algn="l">
              <a:spcBef>
                <a:spcPct val="50000"/>
              </a:spcBef>
              <a:buBlip>
                <a:blip r:embed="rId2"/>
              </a:buBlip>
            </a:pPr>
            <a:r>
              <a:rPr lang="zh-CN" altLang="en-US" sz="2000">
                <a:solidFill>
                  <a:srgbClr val="1000E4"/>
                </a:solidFill>
                <a:latin typeface="Consolas" pitchFamily="49" charset="0"/>
                <a:ea typeface="仿宋" pitchFamily="49" charset="-122"/>
                <a:cs typeface="Consolas" pitchFamily="49" charset="0"/>
              </a:rPr>
              <a:t>初始时，全局有序区为空</a:t>
            </a:r>
          </a:p>
          <a:p>
            <a:pPr marL="457200" indent="-457200" algn="l">
              <a:spcBef>
                <a:spcPct val="50000"/>
              </a:spcBef>
              <a:buBlip>
                <a:blip r:embed="rId2"/>
              </a:buBlip>
            </a:pPr>
            <a:r>
              <a:rPr lang="en-US" altLang="zh-CN" sz="2000" i="1">
                <a:solidFill>
                  <a:srgbClr val="1000E4"/>
                </a:solidFill>
                <a:latin typeface="Consolas" pitchFamily="49" charset="0"/>
                <a:ea typeface="仿宋" pitchFamily="49" charset="-122"/>
                <a:cs typeface="Consolas" pitchFamily="49" charset="0"/>
              </a:rPr>
              <a:t>i</a:t>
            </a:r>
            <a:r>
              <a:rPr lang="zh-CN" altLang="en-US" sz="2000">
                <a:solidFill>
                  <a:srgbClr val="1000E4"/>
                </a:solidFill>
                <a:latin typeface="Consolas" pitchFamily="49" charset="0"/>
                <a:ea typeface="仿宋" pitchFamily="49" charset="-122"/>
                <a:cs typeface="Consolas" pitchFamily="49" charset="0"/>
              </a:rPr>
              <a:t>＝</a:t>
            </a:r>
            <a:r>
              <a:rPr lang="en-US" altLang="zh-CN" sz="2000">
                <a:solidFill>
                  <a:srgbClr val="1000E4"/>
                </a:solidFill>
                <a:latin typeface="Consolas" pitchFamily="49" charset="0"/>
                <a:ea typeface="仿宋" pitchFamily="49" charset="-122"/>
                <a:cs typeface="Consolas" pitchFamily="49" charset="0"/>
              </a:rPr>
              <a:t>0~</a:t>
            </a:r>
            <a:r>
              <a:rPr lang="en-US" altLang="zh-CN" sz="2000" i="1">
                <a:solidFill>
                  <a:srgbClr val="1000E4"/>
                </a:solidFill>
                <a:latin typeface="Consolas" pitchFamily="49" charset="0"/>
                <a:ea typeface="仿宋" pitchFamily="49" charset="-122"/>
                <a:cs typeface="Consolas" pitchFamily="49" charset="0"/>
              </a:rPr>
              <a:t>n</a:t>
            </a:r>
            <a:r>
              <a:rPr lang="en-US" altLang="zh-CN" sz="2000">
                <a:solidFill>
                  <a:srgbClr val="1000E4"/>
                </a:solidFill>
                <a:latin typeface="Consolas" pitchFamily="49" charset="0"/>
                <a:ea typeface="仿宋" pitchFamily="49" charset="-122"/>
                <a:cs typeface="Consolas" pitchFamily="49" charset="0"/>
              </a:rPr>
              <a:t>-2</a:t>
            </a:r>
            <a:r>
              <a:rPr lang="zh-CN" altLang="en-US" sz="2000">
                <a:solidFill>
                  <a:srgbClr val="1000E4"/>
                </a:solidFill>
                <a:latin typeface="Consolas" pitchFamily="49" charset="0"/>
                <a:ea typeface="仿宋" pitchFamily="49" charset="-122"/>
                <a:cs typeface="Consolas" pitchFamily="49" charset="0"/>
              </a:rPr>
              <a:t>，共</a:t>
            </a:r>
            <a:r>
              <a:rPr lang="zh-CN" altLang="en-US" sz="2000" dirty="0">
                <a:solidFill>
                  <a:srgbClr val="1000E4"/>
                </a:solidFill>
                <a:latin typeface="Consolas" pitchFamily="49" charset="0"/>
                <a:ea typeface="仿宋" pitchFamily="49" charset="-122"/>
                <a:cs typeface="Consolas" pitchFamily="49" charset="0"/>
              </a:rPr>
              <a:t>经过</a:t>
            </a:r>
            <a:r>
              <a:rPr lang="en-US" altLang="zh-CN" sz="2000" i="1" dirty="0">
                <a:solidFill>
                  <a:srgbClr val="1000E4"/>
                </a:solidFill>
                <a:latin typeface="Consolas" pitchFamily="49" charset="0"/>
                <a:ea typeface="仿宋" pitchFamily="49" charset="-122"/>
                <a:cs typeface="Consolas" pitchFamily="49" charset="0"/>
              </a:rPr>
              <a:t>n</a:t>
            </a:r>
            <a:r>
              <a:rPr lang="en-US" altLang="zh-CN" sz="2000" dirty="0">
                <a:solidFill>
                  <a:srgbClr val="1000E4"/>
                </a:solidFill>
                <a:latin typeface="Consolas" pitchFamily="49" charset="0"/>
                <a:ea typeface="仿宋" pitchFamily="49" charset="-122"/>
                <a:cs typeface="Consolas" pitchFamily="49" charset="0"/>
              </a:rPr>
              <a:t>-1</a:t>
            </a:r>
            <a:r>
              <a:rPr lang="zh-CN" altLang="en-US" sz="2000" dirty="0">
                <a:solidFill>
                  <a:srgbClr val="1000E4"/>
                </a:solidFill>
                <a:latin typeface="Consolas" pitchFamily="49" charset="0"/>
                <a:ea typeface="仿宋" pitchFamily="49" charset="-122"/>
                <a:cs typeface="Consolas" pitchFamily="49" charset="0"/>
              </a:rPr>
              <a:t>趟排序</a:t>
            </a:r>
          </a:p>
        </p:txBody>
      </p:sp>
      <p:sp>
        <p:nvSpPr>
          <p:cNvPr id="24" name="TextBox 16">
            <a:extLst>
              <a:ext uri="{FF2B5EF4-FFF2-40B4-BE49-F238E27FC236}">
                <a16:creationId xmlns:a16="http://schemas.microsoft.com/office/drawing/2014/main" id="{90C3FC34-5D21-A463-7641-0B06006ADE3E}"/>
              </a:ext>
            </a:extLst>
          </p:cNvPr>
          <p:cNvSpPr txBox="1"/>
          <p:nvPr/>
        </p:nvSpPr>
        <p:spPr>
          <a:xfrm>
            <a:off x="1421750" y="1725598"/>
            <a:ext cx="1643074" cy="400110"/>
          </a:xfrm>
          <a:prstGeom prst="rect">
            <a:avLst/>
          </a:prstGeom>
          <a:noFill/>
        </p:spPr>
        <p:txBody>
          <a:bodyPr wrap="square" rtlCol="0">
            <a:spAutoFit/>
          </a:bodyPr>
          <a:lstStyle/>
          <a:p>
            <a:pPr algn="l"/>
            <a:r>
              <a:rPr kumimoji="1" lang="zh-CN" altLang="en-US" sz="2000" dirty="0">
                <a:solidFill>
                  <a:srgbClr val="FF0000"/>
                </a:solidFill>
                <a:latin typeface="微软雅黑" pitchFamily="34" charset="-122"/>
                <a:ea typeface="微软雅黑" pitchFamily="34" charset="-122"/>
                <a:cs typeface="Consolas" pitchFamily="49" charset="0"/>
              </a:rPr>
              <a:t>基本思路</a:t>
            </a:r>
            <a:endParaRPr lang="zh-CN" altLang="en-US" sz="2000" dirty="0">
              <a:latin typeface="微软雅黑" pitchFamily="34" charset="-122"/>
              <a:ea typeface="微软雅黑" pitchFamily="34" charset="-122"/>
              <a:cs typeface="Consolas" pitchFamily="49" charset="0"/>
            </a:endParaRPr>
          </a:p>
        </p:txBody>
      </p:sp>
    </p:spTree>
    <p:extLst>
      <p:ext uri="{BB962C8B-B14F-4D97-AF65-F5344CB8AC3E}">
        <p14:creationId xmlns:p14="http://schemas.microsoft.com/office/powerpoint/2010/main" val="39662902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bwMode="auto">
          <a:xfrm>
            <a:off x="8328025" y="2201938"/>
            <a:ext cx="2008188" cy="4349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Tx/>
              <a:buNone/>
            </a:pPr>
            <a:r>
              <a:rPr kumimoji="1" lang="zh-CN" altLang="en-US" sz="1800" dirty="0">
                <a:latin typeface="微软雅黑" pitchFamily="34" charset="-122"/>
                <a:ea typeface="微软雅黑" pitchFamily="34" charset="-122"/>
                <a:cs typeface="经典粗黑简" pitchFamily="49" charset="-122"/>
              </a:rPr>
              <a:t>初始关键字序列</a:t>
            </a:r>
          </a:p>
        </p:txBody>
      </p:sp>
      <p:sp>
        <p:nvSpPr>
          <p:cNvPr id="54276" name="Rectangle 4"/>
          <p:cNvSpPr>
            <a:spLocks noChangeArrowheads="1"/>
          </p:cNvSpPr>
          <p:nvPr/>
        </p:nvSpPr>
        <p:spPr bwMode="auto">
          <a:xfrm>
            <a:off x="335280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34</a:t>
            </a:r>
          </a:p>
        </p:txBody>
      </p:sp>
      <p:sp>
        <p:nvSpPr>
          <p:cNvPr id="54277" name="Rectangle 5"/>
          <p:cNvSpPr>
            <a:spLocks noChangeArrowheads="1"/>
          </p:cNvSpPr>
          <p:nvPr/>
        </p:nvSpPr>
        <p:spPr bwMode="auto">
          <a:xfrm>
            <a:off x="398145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12</a:t>
            </a:r>
          </a:p>
        </p:txBody>
      </p:sp>
      <p:sp>
        <p:nvSpPr>
          <p:cNvPr id="54278" name="Rectangle 6"/>
          <p:cNvSpPr>
            <a:spLocks noChangeArrowheads="1"/>
          </p:cNvSpPr>
          <p:nvPr/>
        </p:nvSpPr>
        <p:spPr bwMode="auto">
          <a:xfrm>
            <a:off x="461010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279" name="Rectangle 7"/>
          <p:cNvSpPr>
            <a:spLocks noChangeArrowheads="1"/>
          </p:cNvSpPr>
          <p:nvPr/>
        </p:nvSpPr>
        <p:spPr bwMode="auto">
          <a:xfrm>
            <a:off x="523875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28</a:t>
            </a:r>
          </a:p>
        </p:txBody>
      </p:sp>
      <p:sp>
        <p:nvSpPr>
          <p:cNvPr id="54280" name="Rectangle 8"/>
          <p:cNvSpPr>
            <a:spLocks noChangeArrowheads="1"/>
          </p:cNvSpPr>
          <p:nvPr/>
        </p:nvSpPr>
        <p:spPr bwMode="auto">
          <a:xfrm>
            <a:off x="586740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54281" name="Rectangle 9"/>
          <p:cNvSpPr>
            <a:spLocks noChangeArrowheads="1"/>
          </p:cNvSpPr>
          <p:nvPr/>
        </p:nvSpPr>
        <p:spPr bwMode="auto">
          <a:xfrm>
            <a:off x="649605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282" name="Rectangle 10"/>
          <p:cNvSpPr>
            <a:spLocks noChangeArrowheads="1"/>
          </p:cNvSpPr>
          <p:nvPr/>
        </p:nvSpPr>
        <p:spPr bwMode="auto">
          <a:xfrm>
            <a:off x="712470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283" name="Rectangle 11"/>
          <p:cNvSpPr>
            <a:spLocks noChangeArrowheads="1"/>
          </p:cNvSpPr>
          <p:nvPr/>
        </p:nvSpPr>
        <p:spPr bwMode="auto">
          <a:xfrm>
            <a:off x="7753350" y="2216796"/>
            <a:ext cx="628650"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grpSp>
        <p:nvGrpSpPr>
          <p:cNvPr id="54284" name="Group 12"/>
          <p:cNvGrpSpPr>
            <a:grpSpLocks/>
          </p:cNvGrpSpPr>
          <p:nvPr/>
        </p:nvGrpSpPr>
        <p:grpSpPr bwMode="auto">
          <a:xfrm>
            <a:off x="3352800" y="1835795"/>
            <a:ext cx="5029200" cy="381000"/>
            <a:chOff x="1440" y="1488"/>
            <a:chExt cx="3168" cy="432"/>
          </a:xfrm>
        </p:grpSpPr>
        <p:sp>
          <p:nvSpPr>
            <p:cNvPr id="54368" name="Rectangle 13"/>
            <p:cNvSpPr>
              <a:spLocks noChangeArrowheads="1"/>
            </p:cNvSpPr>
            <p:nvPr/>
          </p:nvSpPr>
          <p:spPr bwMode="auto">
            <a:xfrm>
              <a:off x="1440"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a:t>
              </a:r>
            </a:p>
          </p:txBody>
        </p:sp>
        <p:sp>
          <p:nvSpPr>
            <p:cNvPr id="54369" name="Rectangle 14"/>
            <p:cNvSpPr>
              <a:spLocks noChangeArrowheads="1"/>
            </p:cNvSpPr>
            <p:nvPr/>
          </p:nvSpPr>
          <p:spPr bwMode="auto">
            <a:xfrm>
              <a:off x="1836"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a:t>
              </a:r>
            </a:p>
          </p:txBody>
        </p:sp>
        <p:sp>
          <p:nvSpPr>
            <p:cNvPr id="54370" name="Rectangle 15"/>
            <p:cNvSpPr>
              <a:spLocks noChangeArrowheads="1"/>
            </p:cNvSpPr>
            <p:nvPr/>
          </p:nvSpPr>
          <p:spPr bwMode="auto">
            <a:xfrm>
              <a:off x="2232"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a:t>
              </a:r>
            </a:p>
          </p:txBody>
        </p:sp>
        <p:sp>
          <p:nvSpPr>
            <p:cNvPr id="54371" name="Rectangle 16"/>
            <p:cNvSpPr>
              <a:spLocks noChangeArrowheads="1"/>
            </p:cNvSpPr>
            <p:nvPr/>
          </p:nvSpPr>
          <p:spPr bwMode="auto">
            <a:xfrm>
              <a:off x="2628"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a:t>
              </a:r>
            </a:p>
          </p:txBody>
        </p:sp>
        <p:sp>
          <p:nvSpPr>
            <p:cNvPr id="54372" name="Rectangle 17"/>
            <p:cNvSpPr>
              <a:spLocks noChangeArrowheads="1"/>
            </p:cNvSpPr>
            <p:nvPr/>
          </p:nvSpPr>
          <p:spPr bwMode="auto">
            <a:xfrm>
              <a:off x="3024"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a:t>
              </a:r>
            </a:p>
          </p:txBody>
        </p:sp>
        <p:sp>
          <p:nvSpPr>
            <p:cNvPr id="54373" name="Rectangle 18"/>
            <p:cNvSpPr>
              <a:spLocks noChangeArrowheads="1"/>
            </p:cNvSpPr>
            <p:nvPr/>
          </p:nvSpPr>
          <p:spPr bwMode="auto">
            <a:xfrm>
              <a:off x="3420"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6</a:t>
              </a:r>
            </a:p>
          </p:txBody>
        </p:sp>
        <p:sp>
          <p:nvSpPr>
            <p:cNvPr id="54374" name="Rectangle 19"/>
            <p:cNvSpPr>
              <a:spLocks noChangeArrowheads="1"/>
            </p:cNvSpPr>
            <p:nvPr/>
          </p:nvSpPr>
          <p:spPr bwMode="auto">
            <a:xfrm>
              <a:off x="3816"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7</a:t>
              </a:r>
            </a:p>
          </p:txBody>
        </p:sp>
        <p:sp>
          <p:nvSpPr>
            <p:cNvPr id="54375" name="Rectangle 20"/>
            <p:cNvSpPr>
              <a:spLocks noChangeArrowheads="1"/>
            </p:cNvSpPr>
            <p:nvPr/>
          </p:nvSpPr>
          <p:spPr bwMode="auto">
            <a:xfrm>
              <a:off x="4212" y="1488"/>
              <a:ext cx="3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8</a:t>
              </a:r>
            </a:p>
          </p:txBody>
        </p:sp>
      </p:grpSp>
      <p:sp>
        <p:nvSpPr>
          <p:cNvPr id="54285" name="Rectangle 21"/>
          <p:cNvSpPr>
            <a:spLocks noChangeArrowheads="1"/>
          </p:cNvSpPr>
          <p:nvPr/>
        </p:nvSpPr>
        <p:spPr bwMode="auto">
          <a:xfrm>
            <a:off x="2724150" y="2216796"/>
            <a:ext cx="628650" cy="3762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sp>
        <p:nvSpPr>
          <p:cNvPr id="54286" name="Rectangle 22"/>
          <p:cNvSpPr>
            <a:spLocks noChangeArrowheads="1"/>
          </p:cNvSpPr>
          <p:nvPr/>
        </p:nvSpPr>
        <p:spPr bwMode="auto">
          <a:xfrm>
            <a:off x="2724150" y="1831032"/>
            <a:ext cx="628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a:t>
            </a:r>
          </a:p>
        </p:txBody>
      </p:sp>
      <p:grpSp>
        <p:nvGrpSpPr>
          <p:cNvPr id="665623" name="Group 23"/>
          <p:cNvGrpSpPr>
            <a:grpSpLocks/>
          </p:cNvGrpSpPr>
          <p:nvPr/>
        </p:nvGrpSpPr>
        <p:grpSpPr bwMode="auto">
          <a:xfrm>
            <a:off x="2743200" y="2780928"/>
            <a:ext cx="6705600" cy="381000"/>
            <a:chOff x="768" y="1473"/>
            <a:chExt cx="4224" cy="351"/>
          </a:xfrm>
        </p:grpSpPr>
        <p:sp>
          <p:nvSpPr>
            <p:cNvPr id="54358" name="Rectangle 24"/>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i=1</a:t>
              </a:r>
            </a:p>
          </p:txBody>
        </p:sp>
        <p:sp>
          <p:nvSpPr>
            <p:cNvPr id="54359" name="Rectangle 25"/>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60" name="Rectangle 26"/>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34</a:t>
              </a:r>
              <a:endParaRPr kumimoji="1" lang="en-US" altLang="zh-CN" sz="2400">
                <a:solidFill>
                  <a:schemeClr val="folHlink"/>
                </a:solidFill>
                <a:latin typeface="Times New Roman" pitchFamily="18" charset="0"/>
              </a:endParaRPr>
            </a:p>
          </p:txBody>
        </p:sp>
        <p:sp>
          <p:nvSpPr>
            <p:cNvPr id="54361" name="Rectangle 27"/>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62" name="Rectangle 28"/>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28</a:t>
              </a:r>
            </a:p>
          </p:txBody>
        </p:sp>
        <p:sp>
          <p:nvSpPr>
            <p:cNvPr id="54363" name="Rectangle 29"/>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54364" name="Rectangle 30"/>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65" name="Rectangle 31"/>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366" name="Rectangle 32"/>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67" name="Rectangle 33"/>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grpSp>
        <p:nvGrpSpPr>
          <p:cNvPr id="665634" name="Group 34"/>
          <p:cNvGrpSpPr>
            <a:grpSpLocks/>
          </p:cNvGrpSpPr>
          <p:nvPr/>
        </p:nvGrpSpPr>
        <p:grpSpPr bwMode="auto">
          <a:xfrm>
            <a:off x="2743200" y="3356992"/>
            <a:ext cx="6705600" cy="407988"/>
            <a:chOff x="768" y="1473"/>
            <a:chExt cx="4224" cy="351"/>
          </a:xfrm>
        </p:grpSpPr>
        <p:sp>
          <p:nvSpPr>
            <p:cNvPr id="54348" name="Rectangle 35"/>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i=2</a:t>
              </a:r>
            </a:p>
          </p:txBody>
        </p:sp>
        <p:sp>
          <p:nvSpPr>
            <p:cNvPr id="54349" name="Rectangle 36"/>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50" name="Rectangle 37"/>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54351" name="Rectangle 38"/>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52" name="Rectangle 39"/>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34</a:t>
              </a:r>
            </a:p>
          </p:txBody>
        </p:sp>
        <p:sp>
          <p:nvSpPr>
            <p:cNvPr id="54353" name="Rectangle 40"/>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31</a:t>
              </a:r>
            </a:p>
          </p:txBody>
        </p:sp>
        <p:sp>
          <p:nvSpPr>
            <p:cNvPr id="54354" name="Rectangle 41"/>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55" name="Rectangle 42"/>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356" name="Rectangle 43"/>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57" name="Rectangle 44"/>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grpSp>
        <p:nvGrpSpPr>
          <p:cNvPr id="665645" name="Group 45"/>
          <p:cNvGrpSpPr>
            <a:grpSpLocks/>
          </p:cNvGrpSpPr>
          <p:nvPr/>
        </p:nvGrpSpPr>
        <p:grpSpPr bwMode="auto">
          <a:xfrm>
            <a:off x="2743200" y="4005064"/>
            <a:ext cx="6705600" cy="431800"/>
            <a:chOff x="768" y="1473"/>
            <a:chExt cx="4224" cy="351"/>
          </a:xfrm>
        </p:grpSpPr>
        <p:sp>
          <p:nvSpPr>
            <p:cNvPr id="54338" name="Rectangle 46"/>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i=3</a:t>
              </a:r>
            </a:p>
          </p:txBody>
        </p:sp>
        <p:sp>
          <p:nvSpPr>
            <p:cNvPr id="54339" name="Rectangle 47"/>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40" name="Rectangle 48"/>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54341" name="Rectangle 49"/>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54342" name="Rectangle 50"/>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34</a:t>
              </a:r>
            </a:p>
          </p:txBody>
        </p:sp>
        <p:sp>
          <p:nvSpPr>
            <p:cNvPr id="54343" name="Rectangle 51"/>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44" name="Rectangle 52"/>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45" name="Rectangle 53"/>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346" name="Rectangle 54"/>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47" name="Rectangle 55"/>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grpSp>
        <p:nvGrpSpPr>
          <p:cNvPr id="665656" name="Group 56"/>
          <p:cNvGrpSpPr>
            <a:grpSpLocks/>
          </p:cNvGrpSpPr>
          <p:nvPr/>
        </p:nvGrpSpPr>
        <p:grpSpPr bwMode="auto">
          <a:xfrm>
            <a:off x="2743200" y="4509120"/>
            <a:ext cx="6705600" cy="381000"/>
            <a:chOff x="768" y="1473"/>
            <a:chExt cx="4224" cy="351"/>
          </a:xfrm>
        </p:grpSpPr>
        <p:sp>
          <p:nvSpPr>
            <p:cNvPr id="54328" name="Rectangle 57"/>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i=4</a:t>
              </a:r>
            </a:p>
          </p:txBody>
        </p:sp>
        <p:sp>
          <p:nvSpPr>
            <p:cNvPr id="54329" name="Rectangle 58"/>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30" name="Rectangle 59"/>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54331" name="Rectangle 60"/>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54332" name="Rectangle 61"/>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54333" name="Rectangle 62"/>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34" name="Rectangle 63"/>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35" name="Rectangle 64"/>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336" name="Rectangle 65"/>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37" name="Rectangle 66"/>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grpSp>
        <p:nvGrpSpPr>
          <p:cNvPr id="665667" name="Group 67"/>
          <p:cNvGrpSpPr>
            <a:grpSpLocks/>
          </p:cNvGrpSpPr>
          <p:nvPr/>
        </p:nvGrpSpPr>
        <p:grpSpPr bwMode="auto">
          <a:xfrm>
            <a:off x="2743200" y="4941168"/>
            <a:ext cx="6705600" cy="431800"/>
            <a:chOff x="768" y="1473"/>
            <a:chExt cx="4224" cy="351"/>
          </a:xfrm>
        </p:grpSpPr>
        <p:sp>
          <p:nvSpPr>
            <p:cNvPr id="54318" name="Rectangle 68"/>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i=5</a:t>
              </a:r>
            </a:p>
          </p:txBody>
        </p:sp>
        <p:sp>
          <p:nvSpPr>
            <p:cNvPr id="54319" name="Rectangle 69"/>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20" name="Rectangle 70"/>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54321" name="Rectangle 71"/>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54322" name="Rectangle 72"/>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54323" name="Rectangle 73"/>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54324" name="Rectangle 74"/>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25" name="Rectangle 75"/>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326" name="Rectangle 76"/>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49*</a:t>
              </a:r>
            </a:p>
          </p:txBody>
        </p:sp>
        <p:sp>
          <p:nvSpPr>
            <p:cNvPr id="54327" name="Rectangle 77"/>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grpSp>
        <p:nvGrpSpPr>
          <p:cNvPr id="665678" name="Group 78"/>
          <p:cNvGrpSpPr>
            <a:grpSpLocks/>
          </p:cNvGrpSpPr>
          <p:nvPr/>
        </p:nvGrpSpPr>
        <p:grpSpPr bwMode="auto">
          <a:xfrm>
            <a:off x="2743200" y="5589240"/>
            <a:ext cx="6705600" cy="431800"/>
            <a:chOff x="768" y="1473"/>
            <a:chExt cx="4224" cy="351"/>
          </a:xfrm>
        </p:grpSpPr>
        <p:sp>
          <p:nvSpPr>
            <p:cNvPr id="54308" name="Rectangle 79"/>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i=6</a:t>
              </a:r>
            </a:p>
          </p:txBody>
        </p:sp>
        <p:sp>
          <p:nvSpPr>
            <p:cNvPr id="54309" name="Rectangle 80"/>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10" name="Rectangle 81"/>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54311" name="Rectangle 82"/>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54312" name="Rectangle 83"/>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54313" name="Rectangle 84"/>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54314" name="Rectangle 85"/>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endParaRPr kumimoji="1" lang="en-US" altLang="zh-CN" sz="2400">
                <a:latin typeface="Times New Roman" pitchFamily="18" charset="0"/>
              </a:endParaRPr>
            </a:p>
          </p:txBody>
        </p:sp>
        <p:sp>
          <p:nvSpPr>
            <p:cNvPr id="54315" name="Rectangle 86"/>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51</a:t>
              </a:r>
            </a:p>
          </p:txBody>
        </p:sp>
        <p:sp>
          <p:nvSpPr>
            <p:cNvPr id="54316" name="Rectangle 87"/>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17" name="Rectangle 88"/>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grpSp>
        <p:nvGrpSpPr>
          <p:cNvPr id="665689" name="Group 89"/>
          <p:cNvGrpSpPr>
            <a:grpSpLocks/>
          </p:cNvGrpSpPr>
          <p:nvPr/>
        </p:nvGrpSpPr>
        <p:grpSpPr bwMode="auto">
          <a:xfrm>
            <a:off x="2743200" y="6127576"/>
            <a:ext cx="6705600" cy="431800"/>
            <a:chOff x="768" y="1473"/>
            <a:chExt cx="4224" cy="351"/>
          </a:xfrm>
        </p:grpSpPr>
        <p:sp>
          <p:nvSpPr>
            <p:cNvPr id="54298" name="Rectangle 90"/>
            <p:cNvSpPr>
              <a:spLocks noChangeArrowheads="1"/>
            </p:cNvSpPr>
            <p:nvPr/>
          </p:nvSpPr>
          <p:spPr bwMode="auto">
            <a:xfrm>
              <a:off x="4368" y="1473"/>
              <a:ext cx="62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buClr>
                  <a:schemeClr val="folHlink"/>
                </a:buClr>
                <a:buSzPct val="60000"/>
              </a:pPr>
              <a:r>
                <a:rPr kumimoji="1" lang="en-US" altLang="zh-CN">
                  <a:latin typeface="Tahoma" pitchFamily="34" charset="0"/>
                  <a:ea typeface="幼圆" pitchFamily="49" charset="-122"/>
                </a:rPr>
                <a:t>i=7</a:t>
              </a:r>
            </a:p>
          </p:txBody>
        </p:sp>
        <p:sp>
          <p:nvSpPr>
            <p:cNvPr id="54299" name="Rectangle 91"/>
            <p:cNvSpPr>
              <a:spLocks noChangeArrowheads="1"/>
            </p:cNvSpPr>
            <p:nvPr/>
          </p:nvSpPr>
          <p:spPr bwMode="auto">
            <a:xfrm>
              <a:off x="116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12</a:t>
              </a:r>
            </a:p>
          </p:txBody>
        </p:sp>
        <p:sp>
          <p:nvSpPr>
            <p:cNvPr id="54300" name="Rectangle 92"/>
            <p:cNvSpPr>
              <a:spLocks noChangeArrowheads="1"/>
            </p:cNvSpPr>
            <p:nvPr/>
          </p:nvSpPr>
          <p:spPr bwMode="auto">
            <a:xfrm>
              <a:off x="156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28</a:t>
              </a:r>
            </a:p>
          </p:txBody>
        </p:sp>
        <p:sp>
          <p:nvSpPr>
            <p:cNvPr id="54301" name="Rectangle 93"/>
            <p:cNvSpPr>
              <a:spLocks noChangeArrowheads="1"/>
            </p:cNvSpPr>
            <p:nvPr/>
          </p:nvSpPr>
          <p:spPr bwMode="auto">
            <a:xfrm>
              <a:off x="195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31</a:t>
              </a:r>
              <a:endParaRPr kumimoji="1" lang="en-US" altLang="zh-CN" sz="2400">
                <a:latin typeface="Times New Roman" pitchFamily="18" charset="0"/>
              </a:endParaRPr>
            </a:p>
          </p:txBody>
        </p:sp>
        <p:sp>
          <p:nvSpPr>
            <p:cNvPr id="54302" name="Rectangle 94"/>
            <p:cNvSpPr>
              <a:spLocks noChangeArrowheads="1"/>
            </p:cNvSpPr>
            <p:nvPr/>
          </p:nvSpPr>
          <p:spPr bwMode="auto">
            <a:xfrm>
              <a:off x="2352"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34</a:t>
              </a:r>
            </a:p>
          </p:txBody>
        </p:sp>
        <p:sp>
          <p:nvSpPr>
            <p:cNvPr id="54303" name="Rectangle 95"/>
            <p:cNvSpPr>
              <a:spLocks noChangeArrowheads="1"/>
            </p:cNvSpPr>
            <p:nvPr/>
          </p:nvSpPr>
          <p:spPr bwMode="auto">
            <a:xfrm>
              <a:off x="2748"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54304" name="Rectangle 96"/>
            <p:cNvSpPr>
              <a:spLocks noChangeArrowheads="1"/>
            </p:cNvSpPr>
            <p:nvPr/>
          </p:nvSpPr>
          <p:spPr bwMode="auto">
            <a:xfrm>
              <a:off x="3144"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49*</a:t>
              </a:r>
            </a:p>
          </p:txBody>
        </p:sp>
        <p:sp>
          <p:nvSpPr>
            <p:cNvPr id="54305" name="Rectangle 97"/>
            <p:cNvSpPr>
              <a:spLocks noChangeArrowheads="1"/>
            </p:cNvSpPr>
            <p:nvPr/>
          </p:nvSpPr>
          <p:spPr bwMode="auto">
            <a:xfrm>
              <a:off x="3540"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solidFill>
                    <a:schemeClr val="folHlink"/>
                  </a:solidFill>
                  <a:latin typeface="Times New Roman" pitchFamily="18" charset="0"/>
                </a:rPr>
                <a:t>51</a:t>
              </a:r>
              <a:endParaRPr kumimoji="1" lang="en-US" altLang="zh-CN" sz="2400">
                <a:latin typeface="Times New Roman" pitchFamily="18" charset="0"/>
              </a:endParaRPr>
            </a:p>
          </p:txBody>
        </p:sp>
        <p:sp>
          <p:nvSpPr>
            <p:cNvPr id="54306" name="Rectangle 98"/>
            <p:cNvSpPr>
              <a:spLocks noChangeArrowheads="1"/>
            </p:cNvSpPr>
            <p:nvPr/>
          </p:nvSpPr>
          <p:spPr bwMode="auto">
            <a:xfrm>
              <a:off x="3936" y="1476"/>
              <a:ext cx="396" cy="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52</a:t>
              </a:r>
            </a:p>
          </p:txBody>
        </p:sp>
        <p:sp>
          <p:nvSpPr>
            <p:cNvPr id="54307" name="Rectangle 99"/>
            <p:cNvSpPr>
              <a:spLocks noChangeArrowheads="1"/>
            </p:cNvSpPr>
            <p:nvPr/>
          </p:nvSpPr>
          <p:spPr bwMode="auto">
            <a:xfrm>
              <a:off x="768" y="1476"/>
              <a:ext cx="396" cy="3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endParaRPr kumimoji="1" lang="zh-CN" altLang="zh-CN" sz="2400">
                <a:latin typeface="Times New Roman" pitchFamily="18" charset="0"/>
              </a:endParaRPr>
            </a:p>
          </p:txBody>
        </p:sp>
      </p:grpSp>
      <p:sp>
        <p:nvSpPr>
          <p:cNvPr id="665701" name="Freeform 101"/>
          <p:cNvSpPr>
            <a:spLocks/>
          </p:cNvSpPr>
          <p:nvPr/>
        </p:nvSpPr>
        <p:spPr bwMode="auto">
          <a:xfrm>
            <a:off x="3657600" y="2593032"/>
            <a:ext cx="685800" cy="369332"/>
          </a:xfrm>
          <a:custGeom>
            <a:avLst/>
            <a:gdLst>
              <a:gd name="T0" fmla="*/ 0 w 432"/>
              <a:gd name="T1" fmla="*/ 0 h 96"/>
              <a:gd name="T2" fmla="*/ 304800 w 432"/>
              <a:gd name="T3" fmla="*/ 152400 h 96"/>
              <a:gd name="T4" fmla="*/ 685800 w 432"/>
              <a:gd name="T5" fmla="*/ 0 h 96"/>
              <a:gd name="T6" fmla="*/ 0 60000 65536"/>
              <a:gd name="T7" fmla="*/ 0 60000 65536"/>
              <a:gd name="T8" fmla="*/ 0 60000 65536"/>
            </a:gdLst>
            <a:ahLst/>
            <a:cxnLst>
              <a:cxn ang="T6">
                <a:pos x="T0" y="T1"/>
              </a:cxn>
              <a:cxn ang="T7">
                <a:pos x="T2" y="T3"/>
              </a:cxn>
              <a:cxn ang="T8">
                <a:pos x="T4" y="T5"/>
              </a:cxn>
            </a:cxnLst>
            <a:rect l="0" t="0" r="r" b="b"/>
            <a:pathLst>
              <a:path w="432" h="96">
                <a:moveTo>
                  <a:pt x="0" y="0"/>
                </a:moveTo>
                <a:cubicBezTo>
                  <a:pt x="60" y="48"/>
                  <a:pt x="120" y="96"/>
                  <a:pt x="192" y="96"/>
                </a:cubicBezTo>
                <a:cubicBezTo>
                  <a:pt x="264" y="96"/>
                  <a:pt x="392" y="16"/>
                  <a:pt x="432" y="0"/>
                </a:cubicBezTo>
              </a:path>
            </a:pathLst>
          </a:custGeom>
          <a:noFill/>
          <a:ln w="28575" cap="flat" cmpd="sng">
            <a:solidFill>
              <a:schemeClr val="hlink"/>
            </a:solidFill>
            <a:prstDash val="solid"/>
            <a:round/>
            <a:headEnd type="arrow" w="med" len="med"/>
            <a:tailEnd type="arrow"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65702" name="Freeform 102"/>
          <p:cNvSpPr>
            <a:spLocks/>
          </p:cNvSpPr>
          <p:nvPr/>
        </p:nvSpPr>
        <p:spPr bwMode="auto">
          <a:xfrm>
            <a:off x="4267200" y="3161928"/>
            <a:ext cx="1295400" cy="369332"/>
          </a:xfrm>
          <a:custGeom>
            <a:avLst/>
            <a:gdLst>
              <a:gd name="T0" fmla="*/ 0 w 432"/>
              <a:gd name="T1" fmla="*/ 0 h 96"/>
              <a:gd name="T2" fmla="*/ 575733 w 432"/>
              <a:gd name="T3" fmla="*/ 152400 h 96"/>
              <a:gd name="T4" fmla="*/ 1295400 w 432"/>
              <a:gd name="T5" fmla="*/ 0 h 96"/>
              <a:gd name="T6" fmla="*/ 0 60000 65536"/>
              <a:gd name="T7" fmla="*/ 0 60000 65536"/>
              <a:gd name="T8" fmla="*/ 0 60000 65536"/>
            </a:gdLst>
            <a:ahLst/>
            <a:cxnLst>
              <a:cxn ang="T6">
                <a:pos x="T0" y="T1"/>
              </a:cxn>
              <a:cxn ang="T7">
                <a:pos x="T2" y="T3"/>
              </a:cxn>
              <a:cxn ang="T8">
                <a:pos x="T4" y="T5"/>
              </a:cxn>
            </a:cxnLst>
            <a:rect l="0" t="0" r="r" b="b"/>
            <a:pathLst>
              <a:path w="432" h="96">
                <a:moveTo>
                  <a:pt x="0" y="0"/>
                </a:moveTo>
                <a:cubicBezTo>
                  <a:pt x="60" y="48"/>
                  <a:pt x="120" y="96"/>
                  <a:pt x="192" y="96"/>
                </a:cubicBezTo>
                <a:cubicBezTo>
                  <a:pt x="264" y="96"/>
                  <a:pt x="392" y="16"/>
                  <a:pt x="432" y="0"/>
                </a:cubicBezTo>
              </a:path>
            </a:pathLst>
          </a:custGeom>
          <a:noFill/>
          <a:ln w="28575" cap="flat" cmpd="sng">
            <a:solidFill>
              <a:schemeClr val="hlink"/>
            </a:solidFill>
            <a:prstDash val="solid"/>
            <a:round/>
            <a:headEnd type="arrow" w="med" len="med"/>
            <a:tailEnd type="arrow"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65703" name="Freeform 103"/>
          <p:cNvSpPr>
            <a:spLocks/>
          </p:cNvSpPr>
          <p:nvPr/>
        </p:nvSpPr>
        <p:spPr bwMode="auto">
          <a:xfrm>
            <a:off x="4876800" y="3788792"/>
            <a:ext cx="1295400" cy="369332"/>
          </a:xfrm>
          <a:custGeom>
            <a:avLst/>
            <a:gdLst>
              <a:gd name="T0" fmla="*/ 0 w 432"/>
              <a:gd name="T1" fmla="*/ 0 h 96"/>
              <a:gd name="T2" fmla="*/ 575733 w 432"/>
              <a:gd name="T3" fmla="*/ 152400 h 96"/>
              <a:gd name="T4" fmla="*/ 1295400 w 432"/>
              <a:gd name="T5" fmla="*/ 0 h 96"/>
              <a:gd name="T6" fmla="*/ 0 60000 65536"/>
              <a:gd name="T7" fmla="*/ 0 60000 65536"/>
              <a:gd name="T8" fmla="*/ 0 60000 65536"/>
            </a:gdLst>
            <a:ahLst/>
            <a:cxnLst>
              <a:cxn ang="T6">
                <a:pos x="T0" y="T1"/>
              </a:cxn>
              <a:cxn ang="T7">
                <a:pos x="T2" y="T3"/>
              </a:cxn>
              <a:cxn ang="T8">
                <a:pos x="T4" y="T5"/>
              </a:cxn>
            </a:cxnLst>
            <a:rect l="0" t="0" r="r" b="b"/>
            <a:pathLst>
              <a:path w="432" h="96">
                <a:moveTo>
                  <a:pt x="0" y="0"/>
                </a:moveTo>
                <a:cubicBezTo>
                  <a:pt x="60" y="48"/>
                  <a:pt x="120" y="96"/>
                  <a:pt x="192" y="96"/>
                </a:cubicBezTo>
                <a:cubicBezTo>
                  <a:pt x="264" y="96"/>
                  <a:pt x="392" y="16"/>
                  <a:pt x="432" y="0"/>
                </a:cubicBezTo>
              </a:path>
            </a:pathLst>
          </a:custGeom>
          <a:noFill/>
          <a:ln w="28575" cap="flat" cmpd="sng">
            <a:solidFill>
              <a:schemeClr val="hlink"/>
            </a:solidFill>
            <a:prstDash val="solid"/>
            <a:round/>
            <a:headEnd type="arrow" w="med" len="med"/>
            <a:tailEnd type="arrow"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65704" name="Freeform 104"/>
          <p:cNvSpPr>
            <a:spLocks/>
          </p:cNvSpPr>
          <p:nvPr/>
        </p:nvSpPr>
        <p:spPr bwMode="auto">
          <a:xfrm>
            <a:off x="6781800" y="5398368"/>
            <a:ext cx="1295400" cy="369332"/>
          </a:xfrm>
          <a:custGeom>
            <a:avLst/>
            <a:gdLst>
              <a:gd name="T0" fmla="*/ 0 w 432"/>
              <a:gd name="T1" fmla="*/ 0 h 96"/>
              <a:gd name="T2" fmla="*/ 575733 w 432"/>
              <a:gd name="T3" fmla="*/ 152400 h 96"/>
              <a:gd name="T4" fmla="*/ 1295400 w 432"/>
              <a:gd name="T5" fmla="*/ 0 h 96"/>
              <a:gd name="T6" fmla="*/ 0 60000 65536"/>
              <a:gd name="T7" fmla="*/ 0 60000 65536"/>
              <a:gd name="T8" fmla="*/ 0 60000 65536"/>
            </a:gdLst>
            <a:ahLst/>
            <a:cxnLst>
              <a:cxn ang="T6">
                <a:pos x="T0" y="T1"/>
              </a:cxn>
              <a:cxn ang="T7">
                <a:pos x="T2" y="T3"/>
              </a:cxn>
              <a:cxn ang="T8">
                <a:pos x="T4" y="T5"/>
              </a:cxn>
            </a:cxnLst>
            <a:rect l="0" t="0" r="r" b="b"/>
            <a:pathLst>
              <a:path w="432" h="96">
                <a:moveTo>
                  <a:pt x="0" y="0"/>
                </a:moveTo>
                <a:cubicBezTo>
                  <a:pt x="60" y="48"/>
                  <a:pt x="120" y="96"/>
                  <a:pt x="192" y="96"/>
                </a:cubicBezTo>
                <a:cubicBezTo>
                  <a:pt x="264" y="96"/>
                  <a:pt x="392" y="16"/>
                  <a:pt x="432" y="0"/>
                </a:cubicBezTo>
              </a:path>
            </a:pathLst>
          </a:custGeom>
          <a:noFill/>
          <a:ln w="28575" cap="flat" cmpd="sng">
            <a:solidFill>
              <a:schemeClr val="hlink"/>
            </a:solidFill>
            <a:prstDash val="solid"/>
            <a:round/>
            <a:headEnd type="arrow" w="med" len="med"/>
            <a:tailEnd type="arrow"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2" name="矩形 1">
            <a:extLst>
              <a:ext uri="{FF2B5EF4-FFF2-40B4-BE49-F238E27FC236}">
                <a16:creationId xmlns:a16="http://schemas.microsoft.com/office/drawing/2014/main" id="{D129AD51-84BB-4FA7-2D68-719673D71509}"/>
              </a:ext>
            </a:extLst>
          </p:cNvPr>
          <p:cNvSpPr/>
          <p:nvPr/>
        </p:nvSpPr>
        <p:spPr>
          <a:xfrm>
            <a:off x="335360" y="1082555"/>
            <a:ext cx="388843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10.4.1 </a:t>
            </a:r>
            <a:r>
              <a:rPr lang="zh-CN" altLang="en-US" sz="2800" b="1" dirty="0">
                <a:solidFill>
                  <a:schemeClr val="bg1"/>
                </a:solidFill>
                <a:latin typeface="经典粗黑简" pitchFamily="49" charset="-122"/>
                <a:ea typeface="经典粗黑简" pitchFamily="49" charset="-122"/>
                <a:cs typeface="经典粗黑简" pitchFamily="49" charset="-122"/>
              </a:rPr>
              <a:t>简单选择排序</a:t>
            </a:r>
          </a:p>
        </p:txBody>
      </p:sp>
      <p:cxnSp>
        <p:nvCxnSpPr>
          <p:cNvPr id="3" name="直接连接符 2">
            <a:extLst>
              <a:ext uri="{FF2B5EF4-FFF2-40B4-BE49-F238E27FC236}">
                <a16:creationId xmlns:a16="http://schemas.microsoft.com/office/drawing/2014/main" id="{EA2F12A1-39AB-2DC9-8CCC-7A4C5C65F08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E57527B-68DD-F5E1-9F0A-26E01B3345B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16078383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5701"/>
                                        </p:tgtEl>
                                        <p:attrNameLst>
                                          <p:attrName>style.visibility</p:attrName>
                                        </p:attrNameLst>
                                      </p:cBhvr>
                                      <p:to>
                                        <p:strVal val="visible"/>
                                      </p:to>
                                    </p:set>
                                    <p:animEffect transition="in" filter="wipe(left)">
                                      <p:cBhvr>
                                        <p:cTn id="7" dur="500"/>
                                        <p:tgtEl>
                                          <p:spTgt spid="6657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665623"/>
                                        </p:tgtEl>
                                        <p:attrNameLst>
                                          <p:attrName>style.visibility</p:attrName>
                                        </p:attrNameLst>
                                      </p:cBhvr>
                                      <p:to>
                                        <p:strVal val="visible"/>
                                      </p:to>
                                    </p:set>
                                    <p:animEffect transition="in" filter="slide(fromBottom)">
                                      <p:cBhvr>
                                        <p:cTn id="12" dur="500"/>
                                        <p:tgtEl>
                                          <p:spTgt spid="6656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702"/>
                                        </p:tgtEl>
                                        <p:attrNameLst>
                                          <p:attrName>style.visibility</p:attrName>
                                        </p:attrNameLst>
                                      </p:cBhvr>
                                      <p:to>
                                        <p:strVal val="visible"/>
                                      </p:to>
                                    </p:set>
                                    <p:animEffect transition="in" filter="wipe(left)">
                                      <p:cBhvr>
                                        <p:cTn id="17" dur="500"/>
                                        <p:tgtEl>
                                          <p:spTgt spid="6657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665634"/>
                                        </p:tgtEl>
                                        <p:attrNameLst>
                                          <p:attrName>style.visibility</p:attrName>
                                        </p:attrNameLst>
                                      </p:cBhvr>
                                      <p:to>
                                        <p:strVal val="visible"/>
                                      </p:to>
                                    </p:set>
                                    <p:animEffect transition="in" filter="slide(fromBottom)">
                                      <p:cBhvr>
                                        <p:cTn id="22" dur="500"/>
                                        <p:tgtEl>
                                          <p:spTgt spid="6656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65703"/>
                                        </p:tgtEl>
                                        <p:attrNameLst>
                                          <p:attrName>style.visibility</p:attrName>
                                        </p:attrNameLst>
                                      </p:cBhvr>
                                      <p:to>
                                        <p:strVal val="visible"/>
                                      </p:to>
                                    </p:set>
                                    <p:animEffect transition="in" filter="wipe(left)">
                                      <p:cBhvr>
                                        <p:cTn id="27" dur="500"/>
                                        <p:tgtEl>
                                          <p:spTgt spid="6657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665645"/>
                                        </p:tgtEl>
                                        <p:attrNameLst>
                                          <p:attrName>style.visibility</p:attrName>
                                        </p:attrNameLst>
                                      </p:cBhvr>
                                      <p:to>
                                        <p:strVal val="visible"/>
                                      </p:to>
                                    </p:set>
                                    <p:animEffect transition="in" filter="slide(fromBottom)">
                                      <p:cBhvr>
                                        <p:cTn id="32" dur="500"/>
                                        <p:tgtEl>
                                          <p:spTgt spid="6656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665656"/>
                                        </p:tgtEl>
                                        <p:attrNameLst>
                                          <p:attrName>style.visibility</p:attrName>
                                        </p:attrNameLst>
                                      </p:cBhvr>
                                      <p:to>
                                        <p:strVal val="visible"/>
                                      </p:to>
                                    </p:set>
                                    <p:animEffect transition="in" filter="slide(fromBottom)">
                                      <p:cBhvr>
                                        <p:cTn id="37" dur="500"/>
                                        <p:tgtEl>
                                          <p:spTgt spid="6656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665667"/>
                                        </p:tgtEl>
                                        <p:attrNameLst>
                                          <p:attrName>style.visibility</p:attrName>
                                        </p:attrNameLst>
                                      </p:cBhvr>
                                      <p:to>
                                        <p:strVal val="visible"/>
                                      </p:to>
                                    </p:set>
                                    <p:animEffect transition="in" filter="slide(fromBottom)">
                                      <p:cBhvr>
                                        <p:cTn id="42" dur="500"/>
                                        <p:tgtEl>
                                          <p:spTgt spid="66566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65704"/>
                                        </p:tgtEl>
                                        <p:attrNameLst>
                                          <p:attrName>style.visibility</p:attrName>
                                        </p:attrNameLst>
                                      </p:cBhvr>
                                      <p:to>
                                        <p:strVal val="visible"/>
                                      </p:to>
                                    </p:set>
                                    <p:animEffect transition="in" filter="wipe(left)">
                                      <p:cBhvr>
                                        <p:cTn id="47" dur="500"/>
                                        <p:tgtEl>
                                          <p:spTgt spid="66570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665678"/>
                                        </p:tgtEl>
                                        <p:attrNameLst>
                                          <p:attrName>style.visibility</p:attrName>
                                        </p:attrNameLst>
                                      </p:cBhvr>
                                      <p:to>
                                        <p:strVal val="visible"/>
                                      </p:to>
                                    </p:set>
                                    <p:animEffect transition="in" filter="slide(fromBottom)">
                                      <p:cBhvr>
                                        <p:cTn id="52" dur="500"/>
                                        <p:tgtEl>
                                          <p:spTgt spid="66567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665689"/>
                                        </p:tgtEl>
                                        <p:attrNameLst>
                                          <p:attrName>style.visibility</p:attrName>
                                        </p:attrNameLst>
                                      </p:cBhvr>
                                      <p:to>
                                        <p:strVal val="visible"/>
                                      </p:to>
                                    </p:set>
                                    <p:animEffect transition="in" filter="slide(fromBottom)">
                                      <p:cBhvr>
                                        <p:cTn id="57" dur="500"/>
                                        <p:tgtEl>
                                          <p:spTgt spid="665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01" grpId="0" animBg="1"/>
      <p:bldP spid="665702" grpId="0" animBg="1"/>
      <p:bldP spid="665703" grpId="0" animBg="1"/>
      <p:bldP spid="66570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9" name="Rectangle 5"/>
          <p:cNvSpPr>
            <a:spLocks noChangeArrowheads="1"/>
          </p:cNvSpPr>
          <p:nvPr/>
        </p:nvSpPr>
        <p:spPr bwMode="auto">
          <a:xfrm>
            <a:off x="8149616" y="2638946"/>
            <a:ext cx="3539852" cy="630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folHlink"/>
              </a:buClr>
              <a:buSzPct val="75000"/>
            </a:pPr>
            <a:r>
              <a:rPr kumimoji="1" lang="zh-CN" altLang="en-US" sz="2000" dirty="0">
                <a:latin typeface="微软雅黑" pitchFamily="34" charset="-122"/>
                <a:ea typeface="微软雅黑" pitchFamily="34" charset="-122"/>
                <a:cs typeface="经典粗黑简" pitchFamily="49" charset="-122"/>
              </a:rPr>
              <a:t>分析简单选择排序算法中关键字的比较次数和记录移动次数</a:t>
            </a:r>
          </a:p>
        </p:txBody>
      </p:sp>
      <p:sp>
        <p:nvSpPr>
          <p:cNvPr id="3" name="矩形 2"/>
          <p:cNvSpPr/>
          <p:nvPr/>
        </p:nvSpPr>
        <p:spPr>
          <a:xfrm>
            <a:off x="8149616" y="3344218"/>
            <a:ext cx="3240360" cy="923330"/>
          </a:xfrm>
          <a:prstGeom prst="rect">
            <a:avLst/>
          </a:prstGeom>
        </p:spPr>
        <p:txBody>
          <a:bodyPr wrap="square">
            <a:spAutoFit/>
          </a:bodyPr>
          <a:lstStyle/>
          <a:p>
            <a:pPr>
              <a:spcBef>
                <a:spcPct val="0"/>
              </a:spcBef>
              <a:buFontTx/>
              <a:buNone/>
            </a:pPr>
            <a:r>
              <a:rPr kumimoji="1" lang="zh-CN" altLang="en-US" dirty="0">
                <a:latin typeface="微软雅黑" pitchFamily="34" charset="-122"/>
                <a:ea typeface="微软雅黑" pitchFamily="34" charset="-122"/>
                <a:cs typeface="经典粗黑简" pitchFamily="49" charset="-122"/>
              </a:rPr>
              <a:t>在逆序情况下</a:t>
            </a:r>
          </a:p>
          <a:p>
            <a:pPr>
              <a:spcBef>
                <a:spcPct val="0"/>
              </a:spcBef>
              <a:buFontTx/>
              <a:buNone/>
            </a:pPr>
            <a:r>
              <a:rPr kumimoji="1" lang="zh-CN" altLang="en-US" dirty="0">
                <a:latin typeface="微软雅黑" pitchFamily="34" charset="-122"/>
                <a:ea typeface="微软雅黑" pitchFamily="34" charset="-122"/>
                <a:cs typeface="经典粗黑简" pitchFamily="49" charset="-122"/>
              </a:rPr>
              <a:t>元素的比较次数</a:t>
            </a:r>
            <a:r>
              <a:rPr kumimoji="1" lang="en-US" altLang="zh-CN" dirty="0">
                <a:latin typeface="微软雅黑" pitchFamily="34" charset="-122"/>
                <a:ea typeface="微软雅黑" pitchFamily="34" charset="-122"/>
                <a:cs typeface="经典粗黑简" pitchFamily="49" charset="-122"/>
              </a:rPr>
              <a:t>:   </a:t>
            </a:r>
            <a:r>
              <a:rPr kumimoji="1" lang="en-US" altLang="zh-CN" dirty="0">
                <a:latin typeface="微软雅黑" pitchFamily="34" charset="-122"/>
                <a:ea typeface="微软雅黑" pitchFamily="34" charset="-122"/>
                <a:cs typeface="经典粗黑简" pitchFamily="49" charset="-122"/>
                <a:sym typeface="Wingdings" pitchFamily="2" charset="2"/>
              </a:rPr>
              <a:t>n(n-1)/2</a:t>
            </a:r>
            <a:endParaRPr kumimoji="1" lang="en-US" altLang="zh-CN" dirty="0">
              <a:latin typeface="微软雅黑" pitchFamily="34" charset="-122"/>
              <a:ea typeface="微软雅黑" pitchFamily="34" charset="-122"/>
              <a:cs typeface="经典粗黑简" pitchFamily="49" charset="-122"/>
            </a:endParaRPr>
          </a:p>
          <a:p>
            <a:pPr>
              <a:spcBef>
                <a:spcPct val="0"/>
              </a:spcBef>
              <a:buFontTx/>
              <a:buNone/>
            </a:pPr>
            <a:r>
              <a:rPr kumimoji="1" lang="zh-CN" altLang="en-US" dirty="0">
                <a:latin typeface="微软雅黑" pitchFamily="34" charset="-122"/>
                <a:ea typeface="微软雅黑" pitchFamily="34" charset="-122"/>
                <a:cs typeface="经典粗黑简" pitchFamily="49" charset="-122"/>
              </a:rPr>
              <a:t>元素的移动次数为：</a:t>
            </a:r>
            <a:r>
              <a:rPr kumimoji="1" lang="en-US" altLang="zh-CN" dirty="0">
                <a:latin typeface="微软雅黑" pitchFamily="34" charset="-122"/>
                <a:ea typeface="微软雅黑" pitchFamily="34" charset="-122"/>
                <a:cs typeface="经典粗黑简" pitchFamily="49" charset="-122"/>
              </a:rPr>
              <a:t>3</a:t>
            </a:r>
            <a:r>
              <a:rPr kumimoji="1" lang="en-US" altLang="zh-CN" dirty="0">
                <a:latin typeface="微软雅黑" pitchFamily="34" charset="-122"/>
                <a:ea typeface="微软雅黑" pitchFamily="34" charset="-122"/>
                <a:cs typeface="经典粗黑简" pitchFamily="49" charset="-122"/>
                <a:sym typeface="Wingdings" pitchFamily="2" charset="2"/>
              </a:rPr>
              <a:t>(n-1)/2 </a:t>
            </a:r>
          </a:p>
        </p:txBody>
      </p:sp>
      <p:sp>
        <p:nvSpPr>
          <p:cNvPr id="4" name="矩形 3"/>
          <p:cNvSpPr/>
          <p:nvPr/>
        </p:nvSpPr>
        <p:spPr>
          <a:xfrm>
            <a:off x="8149616" y="4293096"/>
            <a:ext cx="3096344" cy="923330"/>
          </a:xfrm>
          <a:prstGeom prst="rect">
            <a:avLst/>
          </a:prstGeom>
        </p:spPr>
        <p:txBody>
          <a:bodyPr wrap="square">
            <a:spAutoFit/>
          </a:bodyPr>
          <a:lstStyle/>
          <a:p>
            <a:pPr>
              <a:spcBef>
                <a:spcPct val="0"/>
              </a:spcBef>
              <a:buFontTx/>
              <a:buNone/>
            </a:pPr>
            <a:r>
              <a:rPr kumimoji="1" lang="zh-CN" altLang="en-US" dirty="0">
                <a:latin typeface="微软雅黑" pitchFamily="34" charset="-122"/>
                <a:ea typeface="微软雅黑" pitchFamily="34" charset="-122"/>
                <a:cs typeface="经典粗黑简" pitchFamily="49" charset="-122"/>
              </a:rPr>
              <a:t>在正序情况下</a:t>
            </a:r>
          </a:p>
          <a:p>
            <a:pPr>
              <a:spcBef>
                <a:spcPct val="0"/>
              </a:spcBef>
              <a:buFontTx/>
              <a:buNone/>
            </a:pPr>
            <a:r>
              <a:rPr kumimoji="1" lang="zh-CN" altLang="en-US" dirty="0">
                <a:latin typeface="微软雅黑" pitchFamily="34" charset="-122"/>
                <a:ea typeface="微软雅黑" pitchFamily="34" charset="-122"/>
                <a:cs typeface="经典粗黑简" pitchFamily="49" charset="-122"/>
              </a:rPr>
              <a:t>元素的比较次数</a:t>
            </a:r>
            <a:r>
              <a:rPr kumimoji="1" lang="en-US" altLang="zh-CN" dirty="0">
                <a:latin typeface="微软雅黑" pitchFamily="34" charset="-122"/>
                <a:ea typeface="微软雅黑" pitchFamily="34" charset="-122"/>
                <a:cs typeface="经典粗黑简" pitchFamily="49" charset="-122"/>
              </a:rPr>
              <a:t>:   </a:t>
            </a:r>
            <a:r>
              <a:rPr kumimoji="1" lang="en-US" altLang="zh-CN" dirty="0">
                <a:latin typeface="微软雅黑" pitchFamily="34" charset="-122"/>
                <a:ea typeface="微软雅黑" pitchFamily="34" charset="-122"/>
                <a:cs typeface="经典粗黑简" pitchFamily="49" charset="-122"/>
                <a:sym typeface="Wingdings" pitchFamily="2" charset="2"/>
              </a:rPr>
              <a:t>n(n-1)/2</a:t>
            </a:r>
            <a:endParaRPr kumimoji="1" lang="en-US" altLang="zh-CN" dirty="0">
              <a:latin typeface="微软雅黑" pitchFamily="34" charset="-122"/>
              <a:ea typeface="微软雅黑" pitchFamily="34" charset="-122"/>
              <a:cs typeface="经典粗黑简" pitchFamily="49" charset="-122"/>
            </a:endParaRPr>
          </a:p>
          <a:p>
            <a:pPr>
              <a:spcBef>
                <a:spcPct val="0"/>
              </a:spcBef>
              <a:buFontTx/>
              <a:buNone/>
            </a:pPr>
            <a:r>
              <a:rPr kumimoji="1" lang="zh-CN" altLang="en-US" dirty="0">
                <a:latin typeface="微软雅黑" pitchFamily="34" charset="-122"/>
                <a:ea typeface="微软雅黑" pitchFamily="34" charset="-122"/>
                <a:cs typeface="经典粗黑简" pitchFamily="49" charset="-122"/>
              </a:rPr>
              <a:t>元素的移动次数为：</a:t>
            </a:r>
            <a:r>
              <a:rPr kumimoji="1" lang="en-US" altLang="zh-CN" dirty="0">
                <a:latin typeface="微软雅黑" pitchFamily="34" charset="-122"/>
                <a:ea typeface="微软雅黑" pitchFamily="34" charset="-122"/>
                <a:cs typeface="经典粗黑简" pitchFamily="49" charset="-122"/>
              </a:rPr>
              <a:t>0</a:t>
            </a:r>
            <a:endParaRPr kumimoji="1" lang="en-US" altLang="zh-CN" dirty="0">
              <a:latin typeface="微软雅黑" pitchFamily="34" charset="-122"/>
              <a:ea typeface="微软雅黑" pitchFamily="34" charset="-122"/>
              <a:cs typeface="经典粗黑简" pitchFamily="49" charset="-122"/>
              <a:sym typeface="Wingdings" pitchFamily="2" charset="2"/>
            </a:endParaRPr>
          </a:p>
        </p:txBody>
      </p:sp>
      <p:sp>
        <p:nvSpPr>
          <p:cNvPr id="2" name="矩形 1">
            <a:extLst>
              <a:ext uri="{FF2B5EF4-FFF2-40B4-BE49-F238E27FC236}">
                <a16:creationId xmlns:a16="http://schemas.microsoft.com/office/drawing/2014/main" id="{B96E076F-1E80-8001-D99F-DCA19CF87567}"/>
              </a:ext>
            </a:extLst>
          </p:cNvPr>
          <p:cNvSpPr/>
          <p:nvPr/>
        </p:nvSpPr>
        <p:spPr>
          <a:xfrm>
            <a:off x="335360" y="1082555"/>
            <a:ext cx="388843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10.4.1 </a:t>
            </a:r>
            <a:r>
              <a:rPr lang="zh-CN" altLang="en-US" sz="2800" b="1" dirty="0">
                <a:solidFill>
                  <a:schemeClr val="bg1"/>
                </a:solidFill>
                <a:latin typeface="经典粗黑简" pitchFamily="49" charset="-122"/>
                <a:ea typeface="经典粗黑简" pitchFamily="49" charset="-122"/>
                <a:cs typeface="经典粗黑简" pitchFamily="49" charset="-122"/>
              </a:rPr>
              <a:t>简单选择排序</a:t>
            </a:r>
          </a:p>
        </p:txBody>
      </p:sp>
      <p:cxnSp>
        <p:nvCxnSpPr>
          <p:cNvPr id="5" name="直接连接符 4">
            <a:extLst>
              <a:ext uri="{FF2B5EF4-FFF2-40B4-BE49-F238E27FC236}">
                <a16:creationId xmlns:a16="http://schemas.microsoft.com/office/drawing/2014/main" id="{3816DFFC-D5E9-60A2-F13D-36D516DC6B0F}"/>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E62FF7AC-9107-EC3D-7A60-B6DC4FFD468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7" name="Text Box 2">
            <a:extLst>
              <a:ext uri="{FF2B5EF4-FFF2-40B4-BE49-F238E27FC236}">
                <a16:creationId xmlns:a16="http://schemas.microsoft.com/office/drawing/2014/main" id="{0FCBB665-4ACB-C10C-C048-F34BFF418D8C}"/>
              </a:ext>
            </a:extLst>
          </p:cNvPr>
          <p:cNvSpPr txBox="1">
            <a:spLocks noChangeArrowheads="1"/>
          </p:cNvSpPr>
          <p:nvPr/>
        </p:nvSpPr>
        <p:spPr bwMode="auto">
          <a:xfrm>
            <a:off x="1366272" y="2256454"/>
            <a:ext cx="6391290" cy="4149749"/>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rIns="144000" bIns="180000">
            <a:spAutoFit/>
          </a:bodyPr>
          <a:lstStyle/>
          <a:p>
            <a:pPr algn="just">
              <a:lnSpc>
                <a:spcPct val="800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err="1">
                <a:solidFill>
                  <a:srgbClr val="FF0000"/>
                </a:solidFill>
                <a:latin typeface="Consolas" pitchFamily="49" charset="0"/>
                <a:ea typeface="仿宋" pitchFamily="49" charset="-122"/>
                <a:cs typeface="Consolas" pitchFamily="49" charset="0"/>
              </a:rPr>
              <a:t>SelectSort</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a:t>
            </a:r>
            <a:r>
              <a:rPr kumimoji="1" lang="en-US" altLang="zh-CN" sz="1800" dirty="0">
                <a:solidFill>
                  <a:srgbClr val="1000E4"/>
                </a:solidFill>
                <a:latin typeface="Consolas" pitchFamily="49" charset="0"/>
                <a:ea typeface="仿宋" pitchFamily="49" charset="-122"/>
                <a:cs typeface="Consolas" pitchFamily="49" charset="0"/>
              </a:rPr>
              <a:t>n)</a:t>
            </a:r>
          </a:p>
          <a:p>
            <a:pPr algn="just">
              <a:lnSpc>
                <a:spcPct val="80000"/>
              </a:lnSpc>
              <a:spcBef>
                <a:spcPct val="50000"/>
              </a:spcBef>
            </a:pPr>
            <a:r>
              <a:rPr kumimoji="1" lang="en-US" altLang="zh-CN" sz="1800">
                <a:solidFill>
                  <a:srgbClr val="1000E4"/>
                </a:solidFill>
                <a:latin typeface="Consolas" pitchFamily="49" charset="0"/>
                <a:ea typeface="仿宋" pitchFamily="49" charset="-122"/>
                <a:cs typeface="Consolas" pitchFamily="49" charset="0"/>
              </a:rPr>
              <a:t>{  int i</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j</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k;</a:t>
            </a:r>
          </a:p>
          <a:p>
            <a:pPr algn="just">
              <a:lnSpc>
                <a:spcPct val="80000"/>
              </a:lnSpc>
              <a:spcBef>
                <a:spcPct val="50000"/>
              </a:spcBef>
            </a:pPr>
            <a:r>
              <a:rPr kumimoji="1" lang="en-US" altLang="zh-CN" sz="1800">
                <a:solidFill>
                  <a:srgbClr val="1000E4"/>
                </a:solidFill>
                <a:latin typeface="Consolas" pitchFamily="49" charset="0"/>
                <a:ea typeface="仿宋" pitchFamily="49" charset="-122"/>
                <a:cs typeface="Consolas" pitchFamily="49" charset="0"/>
              </a:rPr>
              <a:t>   for </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0;i</a:t>
            </a:r>
            <a:r>
              <a:rPr kumimoji="1" lang="en-US" altLang="zh-CN" sz="1800" dirty="0">
                <a:solidFill>
                  <a:srgbClr val="1000E4"/>
                </a:solidFill>
                <a:latin typeface="Consolas" pitchFamily="49" charset="0"/>
                <a:ea typeface="仿宋" pitchFamily="49" charset="-122"/>
                <a:cs typeface="Consolas" pitchFamily="49" charset="0"/>
              </a:rPr>
              <a:t>&lt;n-</a:t>
            </a:r>
            <a:r>
              <a:rPr kumimoji="1" lang="en-US" altLang="zh-CN" sz="1800" dirty="0" err="1">
                <a:solidFill>
                  <a:srgbClr val="1000E4"/>
                </a:solidFill>
                <a:latin typeface="Consolas" pitchFamily="49" charset="0"/>
                <a:ea typeface="仿宋" pitchFamily="49" charset="-122"/>
                <a:cs typeface="Consolas" pitchFamily="49" charset="0"/>
              </a:rPr>
              <a:t>1;i</a:t>
            </a:r>
            <a:r>
              <a:rPr kumimoji="1" lang="en-US" altLang="zh-CN" sz="1800">
                <a:solidFill>
                  <a:srgbClr val="1000E4"/>
                </a:solidFill>
                <a:latin typeface="Consolas" pitchFamily="49" charset="0"/>
                <a:ea typeface="仿宋" pitchFamily="49" charset="-122"/>
                <a:cs typeface="Consolas" pitchFamily="49" charset="0"/>
              </a:rPr>
              <a:t>++)   </a:t>
            </a: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做第</a:t>
            </a:r>
            <a:r>
              <a:rPr kumimoji="1" lang="en-US" altLang="zh-CN" sz="1800" dirty="0" err="1">
                <a:solidFill>
                  <a:srgbClr val="00B0F0"/>
                </a:solidFill>
                <a:latin typeface="Consolas" pitchFamily="49" charset="0"/>
                <a:ea typeface="仿宋" pitchFamily="49" charset="-122"/>
                <a:cs typeface="Consolas" pitchFamily="49" charset="0"/>
              </a:rPr>
              <a:t>i</a:t>
            </a:r>
            <a:r>
              <a:rPr kumimoji="1" lang="zh-CN" altLang="en-US" sz="1800" dirty="0">
                <a:solidFill>
                  <a:srgbClr val="00B0F0"/>
                </a:solidFill>
                <a:latin typeface="Consolas" pitchFamily="49" charset="0"/>
                <a:ea typeface="仿宋" pitchFamily="49" charset="-122"/>
                <a:cs typeface="Consolas" pitchFamily="49" charset="0"/>
              </a:rPr>
              <a:t>趟排序</a:t>
            </a:r>
          </a:p>
          <a:p>
            <a:pPr algn="just">
              <a:lnSpc>
                <a:spcPct val="80000"/>
              </a:lnSpc>
              <a:spcBef>
                <a:spcPct val="5000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k=i</a:t>
            </a:r>
            <a:r>
              <a:rPr kumimoji="1" lang="en-US" altLang="zh-CN" sz="1800" dirty="0">
                <a:solidFill>
                  <a:srgbClr val="FF00FF"/>
                </a:solidFill>
                <a:latin typeface="Consolas" pitchFamily="49" charset="0"/>
                <a:ea typeface="仿宋" pitchFamily="49" charset="-122"/>
                <a:cs typeface="Consolas" pitchFamily="49" charset="0"/>
              </a:rPr>
              <a:t>;</a:t>
            </a:r>
          </a:p>
          <a:p>
            <a:pPr algn="just">
              <a:lnSpc>
                <a:spcPct val="80000"/>
              </a:lnSpc>
              <a:spcBef>
                <a:spcPct val="50000"/>
              </a:spcBef>
            </a:pPr>
            <a:r>
              <a:rPr kumimoji="1" lang="en-US" altLang="zh-CN" sz="1800">
                <a:solidFill>
                  <a:srgbClr val="FF00FF"/>
                </a:solidFill>
                <a:latin typeface="Consolas" pitchFamily="49" charset="0"/>
                <a:ea typeface="仿宋" pitchFamily="49" charset="-122"/>
                <a:cs typeface="Consolas" pitchFamily="49" charset="0"/>
              </a:rPr>
              <a:t>      for </a:t>
            </a:r>
            <a:r>
              <a:rPr kumimoji="1" lang="en-US" altLang="zh-CN" sz="1800" dirty="0">
                <a:solidFill>
                  <a:srgbClr val="FF00FF"/>
                </a:solidFill>
                <a:latin typeface="Consolas" pitchFamily="49" charset="0"/>
                <a:ea typeface="仿宋" pitchFamily="49" charset="-122"/>
                <a:cs typeface="Consolas" pitchFamily="49" charset="0"/>
              </a:rPr>
              <a:t>(j=</a:t>
            </a:r>
            <a:r>
              <a:rPr kumimoji="1" lang="en-US" altLang="zh-CN" sz="1800" dirty="0" err="1">
                <a:solidFill>
                  <a:srgbClr val="FF00FF"/>
                </a:solidFill>
                <a:latin typeface="Consolas" pitchFamily="49" charset="0"/>
                <a:ea typeface="仿宋" pitchFamily="49" charset="-122"/>
                <a:cs typeface="Consolas" pitchFamily="49" charset="0"/>
              </a:rPr>
              <a:t>i+1;j</a:t>
            </a:r>
            <a:r>
              <a:rPr kumimoji="1" lang="en-US" altLang="zh-CN" sz="1800" dirty="0">
                <a:solidFill>
                  <a:srgbClr val="FF00FF"/>
                </a:solidFill>
                <a:latin typeface="Consolas" pitchFamily="49" charset="0"/>
                <a:ea typeface="仿宋" pitchFamily="49" charset="-122"/>
                <a:cs typeface="Consolas" pitchFamily="49" charset="0"/>
              </a:rPr>
              <a:t>&lt;</a:t>
            </a:r>
            <a:r>
              <a:rPr kumimoji="1" lang="en-US" altLang="zh-CN" sz="1800" dirty="0" err="1">
                <a:solidFill>
                  <a:srgbClr val="FF00FF"/>
                </a:solidFill>
                <a:latin typeface="Consolas" pitchFamily="49" charset="0"/>
                <a:ea typeface="仿宋" pitchFamily="49" charset="-122"/>
                <a:cs typeface="Consolas" pitchFamily="49" charset="0"/>
              </a:rPr>
              <a:t>n;j</a:t>
            </a:r>
            <a:r>
              <a:rPr kumimoji="1" lang="en-US" altLang="zh-CN" sz="1800" dirty="0">
                <a:solidFill>
                  <a:srgbClr val="FF00FF"/>
                </a:solidFill>
                <a:latin typeface="Consolas" pitchFamily="49" charset="0"/>
                <a:ea typeface="仿宋" pitchFamily="49" charset="-122"/>
                <a:cs typeface="Consolas" pitchFamily="49" charset="0"/>
              </a:rPr>
              <a:t>++)  </a:t>
            </a:r>
          </a:p>
          <a:p>
            <a:pPr algn="just">
              <a:lnSpc>
                <a:spcPct val="80000"/>
              </a:lnSpc>
              <a:spcBef>
                <a:spcPct val="50000"/>
              </a:spcBef>
            </a:pPr>
            <a:r>
              <a:rPr kumimoji="1" lang="en-US" altLang="zh-CN" sz="1800">
                <a:solidFill>
                  <a:srgbClr val="FF00FF"/>
                </a:solidFill>
                <a:latin typeface="Consolas" pitchFamily="49" charset="0"/>
                <a:ea typeface="仿宋" pitchFamily="49" charset="-122"/>
                <a:cs typeface="Consolas" pitchFamily="49" charset="0"/>
              </a:rPr>
              <a:t>	  </a:t>
            </a:r>
            <a:r>
              <a:rPr kumimoji="1" lang="en-US" altLang="zh-CN" sz="1800" dirty="0">
                <a:solidFill>
                  <a:srgbClr val="FF00FF"/>
                </a:solidFill>
                <a:latin typeface="Consolas" pitchFamily="49" charset="0"/>
                <a:ea typeface="仿宋" pitchFamily="49" charset="-122"/>
                <a:cs typeface="Consolas" pitchFamily="49" charset="0"/>
              </a:rPr>
              <a:t>if (R[j].key&lt;R[k].key)</a:t>
            </a:r>
          </a:p>
          <a:p>
            <a:pPr algn="just">
              <a:lnSpc>
                <a:spcPct val="80000"/>
              </a:lnSpc>
              <a:spcBef>
                <a:spcPct val="50000"/>
              </a:spcBef>
            </a:pPr>
            <a:r>
              <a:rPr kumimoji="1" lang="en-US" altLang="zh-CN" sz="1800" dirty="0">
                <a:solidFill>
                  <a:srgbClr val="FF00FF"/>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  </a:t>
            </a:r>
            <a:r>
              <a:rPr kumimoji="1" lang="zh-CN" altLang="en-US" sz="1800" dirty="0">
                <a:solidFill>
                  <a:srgbClr val="FF00FF"/>
                </a:solidFill>
                <a:latin typeface="Consolas" pitchFamily="49" charset="0"/>
                <a:ea typeface="仿宋" pitchFamily="49" charset="-122"/>
                <a:cs typeface="Consolas" pitchFamily="49" charset="0"/>
              </a:rPr>
              <a:t>　　</a:t>
            </a:r>
            <a:r>
              <a:rPr kumimoji="1" lang="en-US" altLang="zh-CN" sz="1800" dirty="0">
                <a:solidFill>
                  <a:srgbClr val="FF00FF"/>
                </a:solidFill>
                <a:latin typeface="Consolas" pitchFamily="49" charset="0"/>
                <a:ea typeface="仿宋" pitchFamily="49" charset="-122"/>
                <a:cs typeface="Consolas" pitchFamily="49" charset="0"/>
              </a:rPr>
              <a:t>k=j; </a:t>
            </a:r>
          </a:p>
          <a:p>
            <a:pPr algn="just">
              <a:lnSpc>
                <a:spcPct val="80000"/>
              </a:lnSpc>
              <a:spcBef>
                <a:spcPct val="5000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if </a:t>
            </a:r>
            <a:r>
              <a:rPr kumimoji="1" lang="en-US" altLang="zh-CN" sz="1800" dirty="0">
                <a:solidFill>
                  <a:srgbClr val="1000E4"/>
                </a:solidFill>
                <a:latin typeface="Consolas" pitchFamily="49" charset="0"/>
                <a:ea typeface="仿宋" pitchFamily="49" charset="-122"/>
                <a:cs typeface="Consolas" pitchFamily="49" charset="0"/>
              </a:rPr>
              <a:t>(k!=</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          </a:t>
            </a: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//R[i]</a:t>
            </a:r>
            <a:r>
              <a:rPr kumimoji="1" lang="en-US" altLang="zh-CN" sz="1800">
                <a:solidFill>
                  <a:srgbClr val="00B0F0"/>
                </a:solidFill>
                <a:latin typeface="Consolas" pitchFamily="49" charset="0"/>
                <a:ea typeface="仿宋" pitchFamily="49" charset="-122"/>
                <a:cs typeface="Consolas" pitchFamily="49" charset="0"/>
                <a:sym typeface="Symbol"/>
              </a:rPr>
              <a:t></a:t>
            </a:r>
            <a:r>
              <a:rPr kumimoji="1" lang="en-US" altLang="zh-CN" sz="1800">
                <a:solidFill>
                  <a:srgbClr val="00B0F0"/>
                </a:solidFill>
                <a:latin typeface="Consolas" pitchFamily="49" charset="0"/>
                <a:ea typeface="仿宋" pitchFamily="49" charset="-122"/>
                <a:cs typeface="Consolas" pitchFamily="49" charset="0"/>
              </a:rPr>
              <a:t>R[k</a:t>
            </a:r>
            <a:r>
              <a:rPr kumimoji="1" lang="en-US" altLang="zh-CN"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 </a:t>
            </a:r>
          </a:p>
          <a:p>
            <a:pPr algn="just">
              <a:lnSpc>
                <a:spcPct val="80000"/>
              </a:lnSpc>
              <a:spcBef>
                <a:spcPct val="50000"/>
              </a:spcBef>
            </a:pPr>
            <a:r>
              <a:rPr kumimoji="1" lang="en-US" altLang="zh-CN" sz="1800">
                <a:solidFill>
                  <a:srgbClr val="1000E4"/>
                </a:solidFill>
                <a:latin typeface="Consolas" pitchFamily="49" charset="0"/>
                <a:ea typeface="仿宋" pitchFamily="49" charset="-122"/>
                <a:cs typeface="Consolas" pitchFamily="49" charset="0"/>
              </a:rPr>
              <a:t>         swap(R[i],R[k]);</a:t>
            </a:r>
            <a:endParaRPr kumimoji="1" lang="en-US" altLang="zh-CN" sz="1800" dirty="0">
              <a:solidFill>
                <a:srgbClr val="1000E4"/>
              </a:solidFill>
              <a:latin typeface="Consolas" pitchFamily="49" charset="0"/>
              <a:ea typeface="仿宋" pitchFamily="49" charset="-122"/>
              <a:cs typeface="Consolas" pitchFamily="49" charset="0"/>
            </a:endParaRPr>
          </a:p>
          <a:p>
            <a:pPr algn="just">
              <a:lnSpc>
                <a:spcPct val="80000"/>
              </a:lnSpc>
              <a:spcBef>
                <a:spcPct val="50000"/>
              </a:spcBef>
            </a:pPr>
            <a:r>
              <a:rPr kumimoji="1" lang="en-US" altLang="zh-CN" sz="1800">
                <a:solidFill>
                  <a:srgbClr val="1000E4"/>
                </a:solidFill>
                <a:latin typeface="Consolas" pitchFamily="49" charset="0"/>
                <a:ea typeface="仿宋" pitchFamily="49" charset="-122"/>
                <a:cs typeface="Consolas" pitchFamily="49" charset="0"/>
              </a:rPr>
              <a:t>  }</a:t>
            </a:r>
            <a:endParaRPr kumimoji="1" lang="en-US" altLang="zh-CN" sz="1800" dirty="0">
              <a:solidFill>
                <a:srgbClr val="1000E4"/>
              </a:solidFill>
              <a:latin typeface="Consolas" pitchFamily="49" charset="0"/>
              <a:ea typeface="仿宋" pitchFamily="49" charset="-122"/>
              <a:cs typeface="Consolas" pitchFamily="49" charset="0"/>
            </a:endParaRPr>
          </a:p>
          <a:p>
            <a:pPr algn="just">
              <a:lnSpc>
                <a:spcPct val="80000"/>
              </a:lnSpc>
              <a:spcBef>
                <a:spcPct val="50000"/>
              </a:spcBef>
            </a:pPr>
            <a:r>
              <a:rPr kumimoji="1" lang="en-US" altLang="zh-CN" sz="1800">
                <a:solidFill>
                  <a:srgbClr val="1000E4"/>
                </a:solidFill>
                <a:latin typeface="Consolas" pitchFamily="49" charset="0"/>
                <a:ea typeface="仿宋" pitchFamily="49" charset="-122"/>
                <a:cs typeface="Consolas" pitchFamily="49" charset="0"/>
              </a:rPr>
              <a:t>}</a:t>
            </a:r>
            <a:endParaRPr kumimoji="1" lang="en-US" altLang="zh-CN" sz="1800" dirty="0">
              <a:solidFill>
                <a:srgbClr val="1000E4"/>
              </a:solidFill>
              <a:latin typeface="Consolas" pitchFamily="49" charset="0"/>
              <a:ea typeface="仿宋" pitchFamily="49" charset="-122"/>
              <a:cs typeface="Consolas" pitchFamily="49" charset="0"/>
            </a:endParaRPr>
          </a:p>
        </p:txBody>
      </p:sp>
      <p:sp>
        <p:nvSpPr>
          <p:cNvPr id="8" name="TextBox 7">
            <a:extLst>
              <a:ext uri="{FF2B5EF4-FFF2-40B4-BE49-F238E27FC236}">
                <a16:creationId xmlns:a16="http://schemas.microsoft.com/office/drawing/2014/main" id="{4156240B-EFCA-DE44-DEB6-30B8A5F0A97A}"/>
              </a:ext>
            </a:extLst>
          </p:cNvPr>
          <p:cNvSpPr txBox="1"/>
          <p:nvPr/>
        </p:nvSpPr>
        <p:spPr>
          <a:xfrm>
            <a:off x="1366272" y="1674829"/>
            <a:ext cx="2857520" cy="400110"/>
          </a:xfrm>
          <a:prstGeom prst="rect">
            <a:avLst/>
          </a:prstGeom>
          <a:noFill/>
        </p:spPr>
        <p:txBody>
          <a:bodyPr wrap="square" rtlCol="0">
            <a:spAutoFit/>
          </a:bodyPr>
          <a:lstStyle/>
          <a:p>
            <a:pPr algn="l"/>
            <a:r>
              <a:rPr kumimoji="1" lang="zh-CN" altLang="en-US" sz="2000" dirty="0">
                <a:latin typeface="微软雅黑" pitchFamily="34" charset="-122"/>
                <a:ea typeface="微软雅黑" pitchFamily="34" charset="-122"/>
                <a:cs typeface="经典粗黑简" pitchFamily="49" charset="-122"/>
              </a:rPr>
              <a:t>简单选择排序算法</a:t>
            </a:r>
          </a:p>
        </p:txBody>
      </p:sp>
    </p:spTree>
    <p:extLst>
      <p:ext uri="{BB962C8B-B14F-4D97-AF65-F5344CB8AC3E}">
        <p14:creationId xmlns:p14="http://schemas.microsoft.com/office/powerpoint/2010/main" val="38595618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6629"/>
                                        </p:tgtEl>
                                        <p:attrNameLst>
                                          <p:attrName>style.visibility</p:attrName>
                                        </p:attrNameLst>
                                      </p:cBhvr>
                                      <p:to>
                                        <p:strVal val="visible"/>
                                      </p:to>
                                    </p:set>
                                    <p:animEffect transition="in" filter="wipe(left)">
                                      <p:cBhvr>
                                        <p:cTn id="7" dur="500"/>
                                        <p:tgtEl>
                                          <p:spTgt spid="66662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9" grpId="0" autoUpdateAnimBg="0"/>
      <p:bldP spid="3" grpId="0"/>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495600" y="2060848"/>
            <a:ext cx="5114528" cy="457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75000"/>
              <a:buNone/>
            </a:pPr>
            <a:r>
              <a:rPr kumimoji="1" lang="zh-CN" altLang="en-US" sz="2000" dirty="0">
                <a:latin typeface="微软雅黑" pitchFamily="34" charset="-122"/>
                <a:ea typeface="微软雅黑" pitchFamily="34" charset="-122"/>
                <a:cs typeface="经典粗黑简" pitchFamily="49" charset="-122"/>
              </a:rPr>
              <a:t>以顺序表作为存储结构的简单选择排序算法</a:t>
            </a:r>
          </a:p>
        </p:txBody>
      </p:sp>
      <p:sp>
        <p:nvSpPr>
          <p:cNvPr id="3" name="矩形 2"/>
          <p:cNvSpPr/>
          <p:nvPr/>
        </p:nvSpPr>
        <p:spPr>
          <a:xfrm>
            <a:off x="2495600" y="2526813"/>
            <a:ext cx="2451312"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时间复杂度：</a:t>
            </a:r>
            <a:r>
              <a:rPr kumimoji="1" lang="en-US" altLang="zh-CN" dirty="0">
                <a:latin typeface="微软雅黑" pitchFamily="34" charset="-122"/>
                <a:ea typeface="微软雅黑" pitchFamily="34" charset="-122"/>
                <a:cs typeface="经典粗黑简" pitchFamily="49" charset="-122"/>
              </a:rPr>
              <a:t>O(n</a:t>
            </a:r>
            <a:r>
              <a:rPr kumimoji="1" lang="en-US" altLang="zh-CN" baseline="30000" dirty="0">
                <a:latin typeface="微软雅黑" pitchFamily="34" charset="-122"/>
                <a:ea typeface="微软雅黑" pitchFamily="34" charset="-122"/>
                <a:cs typeface="经典粗黑简" pitchFamily="49" charset="-122"/>
              </a:rPr>
              <a:t>2</a:t>
            </a:r>
            <a:r>
              <a:rPr kumimoji="1" lang="zh-CN" altLang="en-US" dirty="0">
                <a:latin typeface="微软雅黑" pitchFamily="34" charset="-122"/>
                <a:ea typeface="微软雅黑" pitchFamily="34" charset="-122"/>
                <a:cs typeface="经典粗黑简" pitchFamily="49" charset="-122"/>
              </a:rPr>
              <a:t>）</a:t>
            </a:r>
            <a:endParaRPr lang="zh-CN" altLang="en-US" dirty="0"/>
          </a:p>
        </p:txBody>
      </p:sp>
      <p:sp>
        <p:nvSpPr>
          <p:cNvPr id="4" name="矩形 3"/>
          <p:cNvSpPr/>
          <p:nvPr/>
        </p:nvSpPr>
        <p:spPr>
          <a:xfrm>
            <a:off x="3008783" y="2926924"/>
            <a:ext cx="6687617"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在</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个关键字中选出最小者，需要</a:t>
            </a:r>
            <a:r>
              <a:rPr kumimoji="1" lang="en-US" altLang="zh-CN" dirty="0">
                <a:latin typeface="微软雅黑" pitchFamily="34" charset="-122"/>
                <a:ea typeface="微软雅黑" pitchFamily="34" charset="-122"/>
                <a:cs typeface="经典粗黑简" pitchFamily="49" charset="-122"/>
              </a:rPr>
              <a:t>n-1</a:t>
            </a:r>
            <a:r>
              <a:rPr kumimoji="1" lang="zh-CN" altLang="en-US" dirty="0">
                <a:latin typeface="微软雅黑" pitchFamily="34" charset="-122"/>
                <a:ea typeface="微软雅黑" pitchFamily="34" charset="-122"/>
                <a:cs typeface="经典粗黑简" pitchFamily="49" charset="-122"/>
              </a:rPr>
              <a:t>次比较，继续在剩余的</a:t>
            </a:r>
            <a:r>
              <a:rPr kumimoji="1" lang="en-US" altLang="zh-CN" dirty="0">
                <a:latin typeface="微软雅黑" pitchFamily="34" charset="-122"/>
                <a:ea typeface="微软雅黑" pitchFamily="34" charset="-122"/>
                <a:cs typeface="经典粗黑简" pitchFamily="49" charset="-122"/>
              </a:rPr>
              <a:t>n-1</a:t>
            </a:r>
            <a:r>
              <a:rPr kumimoji="1" lang="zh-CN" altLang="en-US" dirty="0">
                <a:latin typeface="微软雅黑" pitchFamily="34" charset="-122"/>
                <a:ea typeface="微软雅黑" pitchFamily="34" charset="-122"/>
                <a:cs typeface="经典粗黑简" pitchFamily="49" charset="-122"/>
              </a:rPr>
              <a:t>个元素中选出次小者需要</a:t>
            </a:r>
            <a:r>
              <a:rPr kumimoji="1" lang="en-US" altLang="zh-CN" dirty="0">
                <a:latin typeface="微软雅黑" pitchFamily="34" charset="-122"/>
                <a:ea typeface="微软雅黑" pitchFamily="34" charset="-122"/>
                <a:cs typeface="经典粗黑简" pitchFamily="49" charset="-122"/>
              </a:rPr>
              <a:t>n-2</a:t>
            </a:r>
            <a:r>
              <a:rPr kumimoji="1" lang="zh-CN" altLang="en-US" dirty="0">
                <a:latin typeface="微软雅黑" pitchFamily="34" charset="-122"/>
                <a:ea typeface="微软雅黑" pitchFamily="34" charset="-122"/>
                <a:cs typeface="经典粗黑简" pitchFamily="49" charset="-122"/>
              </a:rPr>
              <a:t>次比较，依此类推。</a:t>
            </a:r>
            <a:endParaRPr lang="zh-CN" altLang="en-US" dirty="0"/>
          </a:p>
        </p:txBody>
      </p:sp>
      <p:sp>
        <p:nvSpPr>
          <p:cNvPr id="9" name="矩形 8"/>
          <p:cNvSpPr/>
          <p:nvPr/>
        </p:nvSpPr>
        <p:spPr>
          <a:xfrm>
            <a:off x="2495601" y="3685702"/>
            <a:ext cx="2353529"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空间复杂度：</a:t>
            </a:r>
            <a:r>
              <a:rPr kumimoji="1" lang="en-US" altLang="zh-CN" dirty="0">
                <a:latin typeface="微软雅黑" pitchFamily="34" charset="-122"/>
                <a:ea typeface="微软雅黑" pitchFamily="34" charset="-122"/>
                <a:cs typeface="经典粗黑简" pitchFamily="49" charset="-122"/>
              </a:rPr>
              <a:t>O(1</a:t>
            </a:r>
            <a:r>
              <a:rPr kumimoji="1" lang="zh-CN" altLang="en-US" dirty="0">
                <a:latin typeface="微软雅黑" pitchFamily="34" charset="-122"/>
                <a:ea typeface="微软雅黑" pitchFamily="34" charset="-122"/>
                <a:cs typeface="经典粗黑简" pitchFamily="49" charset="-122"/>
              </a:rPr>
              <a:t>）</a:t>
            </a:r>
            <a:endParaRPr lang="zh-CN" altLang="en-US" dirty="0"/>
          </a:p>
        </p:txBody>
      </p:sp>
      <p:sp>
        <p:nvSpPr>
          <p:cNvPr id="10" name="矩形 9"/>
          <p:cNvSpPr/>
          <p:nvPr/>
        </p:nvSpPr>
        <p:spPr>
          <a:xfrm>
            <a:off x="2999657" y="4085812"/>
            <a:ext cx="3340979" cy="400110"/>
          </a:xfrm>
          <a:prstGeom prst="rect">
            <a:avLst/>
          </a:prstGeom>
        </p:spPr>
        <p:txBody>
          <a:bodyPr wrap="none">
            <a:spAutoFit/>
          </a:bodyPr>
          <a:lstStyle/>
          <a:p>
            <a:pPr marL="0" lvl="2"/>
            <a:r>
              <a:rPr kumimoji="1" lang="zh-CN" altLang="en-US" dirty="0">
                <a:latin typeface="微软雅黑" pitchFamily="34" charset="-122"/>
                <a:ea typeface="微软雅黑" pitchFamily="34" charset="-122"/>
                <a:cs typeface="经典粗黑简" pitchFamily="49" charset="-122"/>
              </a:rPr>
              <a:t>只需要 </a:t>
            </a:r>
            <a:r>
              <a:rPr kumimoji="1" lang="en-US" altLang="zh-CN" dirty="0">
                <a:latin typeface="微软雅黑" pitchFamily="34" charset="-122"/>
                <a:ea typeface="微软雅黑" pitchFamily="34" charset="-122"/>
                <a:cs typeface="经典粗黑简" pitchFamily="49" charset="-122"/>
              </a:rPr>
              <a:t>1 </a:t>
            </a:r>
            <a:r>
              <a:rPr kumimoji="1" lang="zh-CN" altLang="en-US" dirty="0">
                <a:latin typeface="微软雅黑" pitchFamily="34" charset="-122"/>
                <a:ea typeface="微软雅黑" pitchFamily="34" charset="-122"/>
                <a:cs typeface="经典粗黑简" pitchFamily="49" charset="-122"/>
              </a:rPr>
              <a:t>个辅助单元进行</a:t>
            </a:r>
            <a:r>
              <a:rPr kumimoji="1" lang="zh-CN" altLang="en-US" sz="2000" dirty="0">
                <a:latin typeface="微软雅黑" pitchFamily="34" charset="-122"/>
                <a:ea typeface="微软雅黑" pitchFamily="34" charset="-122"/>
                <a:cs typeface="经典粗黑简" pitchFamily="49" charset="-122"/>
              </a:rPr>
              <a:t>交换</a:t>
            </a:r>
            <a:r>
              <a:rPr kumimoji="1" lang="en-US" altLang="zh-CN" sz="2000" dirty="0">
                <a:latin typeface="微软雅黑" pitchFamily="34" charset="-122"/>
                <a:ea typeface="微软雅黑" pitchFamily="34" charset="-122"/>
                <a:cs typeface="经典粗黑简" pitchFamily="49" charset="-122"/>
              </a:rPr>
              <a:t>;</a:t>
            </a:r>
            <a:endParaRPr kumimoji="1" lang="zh-CN" altLang="en-US" sz="2000" dirty="0">
              <a:latin typeface="微软雅黑" pitchFamily="34" charset="-122"/>
              <a:ea typeface="微软雅黑" pitchFamily="34" charset="-122"/>
              <a:cs typeface="经典粗黑简" pitchFamily="49" charset="-122"/>
            </a:endParaRPr>
          </a:p>
        </p:txBody>
      </p:sp>
      <p:sp>
        <p:nvSpPr>
          <p:cNvPr id="11" name="矩形 10"/>
          <p:cNvSpPr/>
          <p:nvPr/>
        </p:nvSpPr>
        <p:spPr>
          <a:xfrm>
            <a:off x="2495600" y="4509120"/>
            <a:ext cx="2492990"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不稳定的排序方法。</a:t>
            </a:r>
          </a:p>
        </p:txBody>
      </p:sp>
      <p:sp>
        <p:nvSpPr>
          <p:cNvPr id="12" name="矩形 11"/>
          <p:cNvSpPr/>
          <p:nvPr/>
        </p:nvSpPr>
        <p:spPr>
          <a:xfrm>
            <a:off x="2495600" y="4909230"/>
            <a:ext cx="1467068"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适用情况：</a:t>
            </a:r>
          </a:p>
        </p:txBody>
      </p:sp>
      <p:sp>
        <p:nvSpPr>
          <p:cNvPr id="13" name="矩形 12"/>
          <p:cNvSpPr/>
          <p:nvPr/>
        </p:nvSpPr>
        <p:spPr>
          <a:xfrm>
            <a:off x="3035547" y="5316658"/>
            <a:ext cx="2262158" cy="369332"/>
          </a:xfrm>
          <a:prstGeom prst="rect">
            <a:avLst/>
          </a:prstGeom>
        </p:spPr>
        <p:txBody>
          <a:bodyPr wrap="none">
            <a:spAutoFit/>
          </a:bodyPr>
          <a:lstStyle/>
          <a:p>
            <a:pPr marL="0" lvl="2"/>
            <a:r>
              <a:rPr kumimoji="1" lang="zh-CN" altLang="en-US" dirty="0">
                <a:latin typeface="微软雅黑" pitchFamily="34" charset="-122"/>
                <a:ea typeface="微软雅黑" pitchFamily="34" charset="-122"/>
                <a:cs typeface="经典粗黑简" pitchFamily="49" charset="-122"/>
              </a:rPr>
              <a:t>元素数目少的情况；</a:t>
            </a:r>
          </a:p>
        </p:txBody>
      </p:sp>
      <p:sp>
        <p:nvSpPr>
          <p:cNvPr id="14" name="矩形 13"/>
          <p:cNvSpPr/>
          <p:nvPr/>
        </p:nvSpPr>
        <p:spPr>
          <a:xfrm>
            <a:off x="3035548" y="5705843"/>
            <a:ext cx="5093061" cy="369332"/>
          </a:xfrm>
          <a:prstGeom prst="rect">
            <a:avLst/>
          </a:prstGeom>
        </p:spPr>
        <p:txBody>
          <a:bodyPr wrap="none">
            <a:spAutoFit/>
          </a:bodyPr>
          <a:lstStyle/>
          <a:p>
            <a:pPr marL="0" lvl="2"/>
            <a:r>
              <a:rPr kumimoji="1" lang="zh-CN" altLang="en-US" dirty="0">
                <a:latin typeface="微软雅黑" pitchFamily="34" charset="-122"/>
                <a:ea typeface="微软雅黑" pitchFamily="34" charset="-122"/>
                <a:cs typeface="经典粗黑简" pitchFamily="49" charset="-122"/>
              </a:rPr>
              <a:t>无需完全排序的情况，比如，选出第</a:t>
            </a:r>
            <a:r>
              <a:rPr kumimoji="1" lang="en-US" altLang="zh-CN" dirty="0">
                <a:latin typeface="微软雅黑" pitchFamily="34" charset="-122"/>
                <a:ea typeface="微软雅黑" pitchFamily="34" charset="-122"/>
                <a:cs typeface="经典粗黑简" pitchFamily="49" charset="-122"/>
              </a:rPr>
              <a:t>i</a:t>
            </a:r>
            <a:r>
              <a:rPr kumimoji="1" lang="zh-CN" altLang="en-US" dirty="0">
                <a:latin typeface="微软雅黑" pitchFamily="34" charset="-122"/>
                <a:ea typeface="微软雅黑" pitchFamily="34" charset="-122"/>
                <a:cs typeface="经典粗黑简" pitchFamily="49" charset="-122"/>
              </a:rPr>
              <a:t>小的元素；</a:t>
            </a:r>
          </a:p>
        </p:txBody>
      </p:sp>
      <p:sp>
        <p:nvSpPr>
          <p:cNvPr id="2" name="矩形 1">
            <a:extLst>
              <a:ext uri="{FF2B5EF4-FFF2-40B4-BE49-F238E27FC236}">
                <a16:creationId xmlns:a16="http://schemas.microsoft.com/office/drawing/2014/main" id="{16F9BC3C-DEF2-20F7-55D9-894F2694448C}"/>
              </a:ext>
            </a:extLst>
          </p:cNvPr>
          <p:cNvSpPr/>
          <p:nvPr/>
        </p:nvSpPr>
        <p:spPr>
          <a:xfrm>
            <a:off x="335360" y="1082555"/>
            <a:ext cx="388843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10.4.1 </a:t>
            </a:r>
            <a:r>
              <a:rPr lang="zh-CN" altLang="en-US" sz="2800" b="1" dirty="0">
                <a:solidFill>
                  <a:schemeClr val="bg1"/>
                </a:solidFill>
                <a:latin typeface="经典粗黑简" pitchFamily="49" charset="-122"/>
                <a:ea typeface="经典粗黑简" pitchFamily="49" charset="-122"/>
                <a:cs typeface="经典粗黑简" pitchFamily="49" charset="-122"/>
              </a:rPr>
              <a:t>简单选择排序</a:t>
            </a:r>
          </a:p>
        </p:txBody>
      </p:sp>
      <p:cxnSp>
        <p:nvCxnSpPr>
          <p:cNvPr id="6" name="直接连接符 5">
            <a:extLst>
              <a:ext uri="{FF2B5EF4-FFF2-40B4-BE49-F238E27FC236}">
                <a16:creationId xmlns:a16="http://schemas.microsoft.com/office/drawing/2014/main" id="{25256A55-AAE0-1A0D-F325-0B4B212C1E05}"/>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71D231D8-F2CB-2C06-8E83-5BB3F7A4F97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7395219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4" grpId="0"/>
      <p:bldP spid="9" grpId="0"/>
      <p:bldP spid="10" grpId="0"/>
      <p:bldP spid="11" grpId="0"/>
      <p:bldP spid="12" grpId="0"/>
      <p:bldP spid="13" grpId="0"/>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Object 5"/>
          <p:cNvGraphicFramePr>
            <a:graphicFrameLocks noChangeAspect="1"/>
          </p:cNvGraphicFramePr>
          <p:nvPr>
            <p:extLst>
              <p:ext uri="{D42A27DB-BD31-4B8C-83A1-F6EECF244321}">
                <p14:modId xmlns:p14="http://schemas.microsoft.com/office/powerpoint/2010/main" val="3069440583"/>
              </p:ext>
            </p:extLst>
          </p:nvPr>
        </p:nvGraphicFramePr>
        <p:xfrm>
          <a:off x="3492084" y="4152958"/>
          <a:ext cx="2514600" cy="1066800"/>
        </p:xfrm>
        <a:graphic>
          <a:graphicData uri="http://schemas.openxmlformats.org/presentationml/2006/ole">
            <mc:AlternateContent xmlns:mc="http://schemas.openxmlformats.org/markup-compatibility/2006">
              <mc:Choice xmlns:v="urn:schemas-microsoft-com:vml" Requires="v">
                <p:oleObj name="Equation" r:id="rId2" imgW="634725" imgH="444307" progId="Equation.3">
                  <p:embed/>
                </p:oleObj>
              </mc:Choice>
              <mc:Fallback>
                <p:oleObj name="Equation" r:id="rId2" imgW="634725" imgH="44430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084" y="4152958"/>
                        <a:ext cx="2514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6"/>
          <p:cNvGraphicFramePr>
            <a:graphicFrameLocks noChangeAspect="1"/>
          </p:cNvGraphicFramePr>
          <p:nvPr>
            <p:extLst>
              <p:ext uri="{D42A27DB-BD31-4B8C-83A1-F6EECF244321}">
                <p14:modId xmlns:p14="http://schemas.microsoft.com/office/powerpoint/2010/main" val="1758392034"/>
              </p:ext>
            </p:extLst>
          </p:nvPr>
        </p:nvGraphicFramePr>
        <p:xfrm>
          <a:off x="6488480" y="4152958"/>
          <a:ext cx="2514600" cy="990600"/>
        </p:xfrm>
        <a:graphic>
          <a:graphicData uri="http://schemas.openxmlformats.org/presentationml/2006/ole">
            <mc:AlternateContent xmlns:mc="http://schemas.openxmlformats.org/markup-compatibility/2006">
              <mc:Choice xmlns:v="urn:schemas-microsoft-com:vml" Requires="v">
                <p:oleObj name="Equation" r:id="rId4" imgW="634725" imgH="444307" progId="Equation.3">
                  <p:embed/>
                </p:oleObj>
              </mc:Choice>
              <mc:Fallback>
                <p:oleObj name="Equation" r:id="rId4" imgW="634725" imgH="44430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8480" y="4152958"/>
                        <a:ext cx="2514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7"/>
          <p:cNvGraphicFramePr>
            <a:graphicFrameLocks noChangeAspect="1"/>
          </p:cNvGraphicFramePr>
          <p:nvPr>
            <p:extLst>
              <p:ext uri="{D42A27DB-BD31-4B8C-83A1-F6EECF244321}">
                <p14:modId xmlns:p14="http://schemas.microsoft.com/office/powerpoint/2010/main" val="2671964919"/>
              </p:ext>
            </p:extLst>
          </p:nvPr>
        </p:nvGraphicFramePr>
        <p:xfrm>
          <a:off x="3657771" y="5233078"/>
          <a:ext cx="2438400" cy="685800"/>
        </p:xfrm>
        <a:graphic>
          <a:graphicData uri="http://schemas.openxmlformats.org/presentationml/2006/ole">
            <mc:AlternateContent xmlns:mc="http://schemas.openxmlformats.org/markup-compatibility/2006">
              <mc:Choice xmlns:v="urn:schemas-microsoft-com:vml" Requires="v">
                <p:oleObj name="Equation" r:id="rId6" imgW="787058" imgH="406224" progId="Equation.3">
                  <p:embed/>
                </p:oleObj>
              </mc:Choice>
              <mc:Fallback>
                <p:oleObj name="Equation" r:id="rId6" imgW="787058" imgH="40622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771" y="5233078"/>
                        <a:ext cx="2438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Text Box 8"/>
          <p:cNvSpPr txBox="1">
            <a:spLocks noChangeArrowheads="1"/>
          </p:cNvSpPr>
          <p:nvPr/>
        </p:nvSpPr>
        <p:spPr bwMode="auto">
          <a:xfrm>
            <a:off x="5947956" y="4512999"/>
            <a:ext cx="4572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dirty="0">
                <a:latin typeface="微软雅黑" pitchFamily="34" charset="-122"/>
                <a:ea typeface="微软雅黑" pitchFamily="34" charset="-122"/>
                <a:cs typeface="经典粗黑简" pitchFamily="49" charset="-122"/>
              </a:rPr>
              <a:t>或</a:t>
            </a:r>
          </a:p>
        </p:txBody>
      </p:sp>
      <p:sp>
        <p:nvSpPr>
          <p:cNvPr id="52" name="Rectangle 4"/>
          <p:cNvSpPr>
            <a:spLocks noChangeArrowheads="1"/>
          </p:cNvSpPr>
          <p:nvPr/>
        </p:nvSpPr>
        <p:spPr bwMode="auto">
          <a:xfrm>
            <a:off x="2589128" y="2906080"/>
            <a:ext cx="7558608" cy="1045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folHlink"/>
              </a:buClr>
              <a:buSzPct val="75000"/>
            </a:pPr>
            <a:r>
              <a:rPr kumimoji="1" lang="zh-CN" altLang="en-US" sz="2000" dirty="0">
                <a:latin typeface="微软雅黑" pitchFamily="34" charset="-122"/>
                <a:ea typeface="微软雅黑" pitchFamily="34" charset="-122"/>
                <a:cs typeface="经典粗黑简" pitchFamily="49" charset="-122"/>
              </a:rPr>
              <a:t>堆的定义：</a:t>
            </a:r>
          </a:p>
          <a:p>
            <a:pPr lvl="1">
              <a:buClr>
                <a:schemeClr val="folHlink"/>
              </a:buClr>
              <a:buSzPct val="75000"/>
            </a:pPr>
            <a:r>
              <a:rPr kumimoji="1" lang="zh-CN" altLang="en-US" sz="2000" dirty="0">
                <a:latin typeface="微软雅黑" pitchFamily="34" charset="-122"/>
                <a:ea typeface="微软雅黑" pitchFamily="34" charset="-122"/>
                <a:cs typeface="经典粗黑简" pitchFamily="49" charset="-122"/>
              </a:rPr>
              <a:t>对于</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个元素的序列</a:t>
            </a:r>
            <a:r>
              <a:rPr kumimoji="1" lang="en-US" altLang="zh-CN" sz="2000" dirty="0">
                <a:latin typeface="微软雅黑" pitchFamily="34" charset="-122"/>
                <a:ea typeface="微软雅黑" pitchFamily="34" charset="-122"/>
                <a:cs typeface="经典粗黑简" pitchFamily="49" charset="-122"/>
              </a:rPr>
              <a:t>{k</a:t>
            </a:r>
            <a:r>
              <a:rPr kumimoji="1" lang="en-US" altLang="zh-CN" sz="2000" baseline="-25000" dirty="0">
                <a:latin typeface="微软雅黑" pitchFamily="34" charset="-122"/>
                <a:ea typeface="微软雅黑" pitchFamily="34" charset="-122"/>
                <a:cs typeface="经典粗黑简" pitchFamily="49" charset="-122"/>
              </a:rPr>
              <a:t>1</a:t>
            </a:r>
            <a:r>
              <a:rPr kumimoji="1" lang="en-US" altLang="zh-CN" sz="2000" dirty="0">
                <a:latin typeface="微软雅黑" pitchFamily="34" charset="-122"/>
                <a:ea typeface="微软雅黑" pitchFamily="34" charset="-122"/>
                <a:cs typeface="经典粗黑简" pitchFamily="49" charset="-122"/>
              </a:rPr>
              <a:t>,k</a:t>
            </a:r>
            <a:r>
              <a:rPr kumimoji="1" lang="en-US" altLang="zh-CN" sz="2000" baseline="-25000" dirty="0">
                <a:latin typeface="微软雅黑" pitchFamily="34" charset="-122"/>
                <a:ea typeface="微软雅黑" pitchFamily="34" charset="-122"/>
                <a:cs typeface="经典粗黑简" pitchFamily="49" charset="-122"/>
              </a:rPr>
              <a:t>2</a:t>
            </a:r>
            <a:r>
              <a:rPr kumimoji="1" lang="en-US" altLang="zh-CN" sz="2000" dirty="0">
                <a:latin typeface="微软雅黑" pitchFamily="34" charset="-122"/>
                <a:ea typeface="微软雅黑" pitchFamily="34" charset="-122"/>
                <a:cs typeface="经典粗黑简" pitchFamily="49" charset="-122"/>
              </a:rPr>
              <a:t>,...,</a:t>
            </a:r>
            <a:r>
              <a:rPr kumimoji="1" lang="en-US" altLang="zh-CN" sz="2000" dirty="0" err="1">
                <a:latin typeface="微软雅黑" pitchFamily="34" charset="-122"/>
                <a:ea typeface="微软雅黑" pitchFamily="34" charset="-122"/>
                <a:cs typeface="经典粗黑简" pitchFamily="49" charset="-122"/>
              </a:rPr>
              <a:t>k</a:t>
            </a:r>
            <a:r>
              <a:rPr kumimoji="1" lang="en-US" altLang="zh-CN" sz="2000" baseline="-25000" dirty="0" err="1">
                <a:latin typeface="微软雅黑" pitchFamily="34" charset="-122"/>
                <a:ea typeface="微软雅黑" pitchFamily="34" charset="-122"/>
                <a:cs typeface="经典粗黑简" pitchFamily="49" charset="-122"/>
              </a:rPr>
              <a:t>n</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，当且仅当满足以下关系时，称之为</a:t>
            </a:r>
            <a:r>
              <a:rPr kumimoji="1" lang="zh-CN" altLang="en-US" sz="2000" dirty="0">
                <a:solidFill>
                  <a:srgbClr val="FF0000"/>
                </a:solidFill>
                <a:latin typeface="微软雅黑" pitchFamily="34" charset="-122"/>
                <a:ea typeface="微软雅黑" pitchFamily="34" charset="-122"/>
                <a:cs typeface="经典粗黑简" pitchFamily="49" charset="-122"/>
              </a:rPr>
              <a:t>堆</a:t>
            </a:r>
            <a:r>
              <a:rPr kumimoji="1" lang="zh-CN" altLang="en-US" sz="2000" dirty="0">
                <a:latin typeface="微软雅黑" pitchFamily="34" charset="-122"/>
                <a:ea typeface="微软雅黑" pitchFamily="34" charset="-122"/>
                <a:cs typeface="经典粗黑简" pitchFamily="49" charset="-122"/>
              </a:rPr>
              <a:t>。 </a:t>
            </a:r>
          </a:p>
        </p:txBody>
      </p:sp>
      <p:sp>
        <p:nvSpPr>
          <p:cNvPr id="4" name="矩形 3"/>
          <p:cNvSpPr/>
          <p:nvPr/>
        </p:nvSpPr>
        <p:spPr>
          <a:xfrm>
            <a:off x="2615682" y="1960787"/>
            <a:ext cx="3493264"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只需要一个元素的辅助空间</a:t>
            </a:r>
            <a:r>
              <a:rPr lang="zh-CN" altLang="en-US" dirty="0"/>
              <a:t>；</a:t>
            </a:r>
            <a:endParaRPr kumimoji="1" lang="zh-CN" altLang="en-US" sz="2000" dirty="0">
              <a:latin typeface="微软雅黑" pitchFamily="34" charset="-122"/>
              <a:ea typeface="微软雅黑" pitchFamily="34" charset="-122"/>
              <a:cs typeface="经典粗黑简" pitchFamily="49" charset="-122"/>
            </a:endParaRPr>
          </a:p>
        </p:txBody>
      </p:sp>
      <p:sp>
        <p:nvSpPr>
          <p:cNvPr id="5" name="矩形 4"/>
          <p:cNvSpPr/>
          <p:nvPr/>
        </p:nvSpPr>
        <p:spPr>
          <a:xfrm>
            <a:off x="2611824" y="2360897"/>
            <a:ext cx="4012637"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算法的时间复杂度为</a:t>
            </a:r>
            <a:r>
              <a:rPr kumimoji="1" lang="en-US" altLang="zh-CN" sz="2000" dirty="0">
                <a:latin typeface="微软雅黑" pitchFamily="34" charset="-122"/>
                <a:ea typeface="微软雅黑" pitchFamily="34" charset="-122"/>
                <a:cs typeface="经典粗黑简" pitchFamily="49" charset="-122"/>
              </a:rPr>
              <a:t>O(</a:t>
            </a:r>
            <a:r>
              <a:rPr kumimoji="1" lang="en-US" altLang="zh-CN" sz="2000" dirty="0" err="1">
                <a:latin typeface="微软雅黑" pitchFamily="34" charset="-122"/>
                <a:ea typeface="微软雅黑" pitchFamily="34" charset="-122"/>
                <a:cs typeface="经典粗黑简" pitchFamily="49" charset="-122"/>
              </a:rPr>
              <a:t>nlogn</a:t>
            </a:r>
            <a:r>
              <a:rPr kumimoji="1" lang="zh-CN" altLang="en-US" sz="2000" dirty="0">
                <a:latin typeface="微软雅黑" pitchFamily="34" charset="-122"/>
                <a:ea typeface="微软雅黑" pitchFamily="34" charset="-122"/>
                <a:cs typeface="经典粗黑简" pitchFamily="49" charset="-122"/>
              </a:rPr>
              <a:t>）。</a:t>
            </a:r>
          </a:p>
        </p:txBody>
      </p:sp>
      <p:sp>
        <p:nvSpPr>
          <p:cNvPr id="2" name="矩形 1">
            <a:extLst>
              <a:ext uri="{FF2B5EF4-FFF2-40B4-BE49-F238E27FC236}">
                <a16:creationId xmlns:a16="http://schemas.microsoft.com/office/drawing/2014/main" id="{1CF9575F-918A-E8D4-66E0-EB19B158FC9E}"/>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16D9DB20-F09B-2928-2F2B-72747AE0164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DC93FD79-EFF1-2E20-2927-A16F9D224D4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25648413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left)">
                                      <p:cBhvr>
                                        <p:cTn id="13" dur="500"/>
                                        <p:tgtEl>
                                          <p:spTgt spid="48"/>
                                        </p:tgtEl>
                                      </p:cBhvr>
                                    </p:animEffect>
                                  </p:childTnLst>
                                </p:cTn>
                              </p:par>
                            </p:childTnLst>
                          </p:cTn>
                        </p:par>
                        <p:par>
                          <p:cTn id="14" fill="hold">
                            <p:stCondLst>
                              <p:cond delay="500"/>
                            </p:stCondLst>
                            <p:childTnLst>
                              <p:par>
                                <p:cTn id="15" presetID="22" presetClass="entr" presetSubtype="8" fill="hold" nodeType="afterEffect">
                                  <p:stCondLst>
                                    <p:cond delay="1000"/>
                                  </p:stCondLst>
                                  <p:childTnLst>
                                    <p:set>
                                      <p:cBhvr>
                                        <p:cTn id="16" dur="1" fill="hold">
                                          <p:stCondLst>
                                            <p:cond delay="0"/>
                                          </p:stCondLst>
                                        </p:cTn>
                                        <p:tgtEl>
                                          <p:spTgt spid="50"/>
                                        </p:tgtEl>
                                        <p:attrNameLst>
                                          <p:attrName>style.visibility</p:attrName>
                                        </p:attrNameLst>
                                      </p:cBhvr>
                                      <p:to>
                                        <p:strVal val="visible"/>
                                      </p:to>
                                    </p:set>
                                    <p:animEffect transition="in" filter="wipe(left)">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left)">
                                      <p:cBhvr>
                                        <p:cTn id="22" dur="5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slide(fromBottom)">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utoUpdateAnimBg="0"/>
      <p:bldP spid="52" grpId="0" autoUpdateAnimBg="0"/>
      <p:bldP spid="4"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bwMode="auto">
          <a:xfrm>
            <a:off x="4915755" y="2331646"/>
            <a:ext cx="2013992" cy="369912"/>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0" indent="0">
              <a:buClr>
                <a:schemeClr val="tx1"/>
              </a:buClr>
              <a:buSzPct val="75000"/>
              <a:buNone/>
            </a:pPr>
            <a:r>
              <a:rPr kumimoji="1" lang="zh-CN" altLang="en-US" sz="2000" dirty="0">
                <a:latin typeface="微软雅黑" pitchFamily="34" charset="-122"/>
                <a:ea typeface="微软雅黑" pitchFamily="34" charset="-122"/>
                <a:cs typeface="经典粗黑简" pitchFamily="49" charset="-122"/>
              </a:rPr>
              <a:t>堆</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完全二叉树</a:t>
            </a:r>
            <a:r>
              <a:rPr kumimoji="1" lang="en-US" altLang="zh-CN" sz="2000" dirty="0">
                <a:latin typeface="微软雅黑" pitchFamily="34" charset="-122"/>
                <a:ea typeface="微软雅黑" pitchFamily="34" charset="-122"/>
                <a:cs typeface="经典粗黑简" pitchFamily="49" charset="-122"/>
              </a:rPr>
              <a:t>)</a:t>
            </a:r>
          </a:p>
        </p:txBody>
      </p:sp>
      <p:sp>
        <p:nvSpPr>
          <p:cNvPr id="62468" name="Oval 4"/>
          <p:cNvSpPr>
            <a:spLocks noChangeArrowheads="1"/>
          </p:cNvSpPr>
          <p:nvPr/>
        </p:nvSpPr>
        <p:spPr bwMode="auto">
          <a:xfrm>
            <a:off x="3860800" y="2217739"/>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96</a:t>
            </a:r>
          </a:p>
        </p:txBody>
      </p:sp>
      <p:sp>
        <p:nvSpPr>
          <p:cNvPr id="62469" name="Oval 5"/>
          <p:cNvSpPr>
            <a:spLocks noChangeArrowheads="1"/>
          </p:cNvSpPr>
          <p:nvPr/>
        </p:nvSpPr>
        <p:spPr bwMode="auto">
          <a:xfrm>
            <a:off x="2827339" y="2962276"/>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83</a:t>
            </a:r>
          </a:p>
        </p:txBody>
      </p:sp>
      <p:sp>
        <p:nvSpPr>
          <p:cNvPr id="62470" name="Oval 6"/>
          <p:cNvSpPr>
            <a:spLocks noChangeArrowheads="1"/>
          </p:cNvSpPr>
          <p:nvPr/>
        </p:nvSpPr>
        <p:spPr bwMode="auto">
          <a:xfrm>
            <a:off x="2209800" y="3614739"/>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38</a:t>
            </a:r>
          </a:p>
        </p:txBody>
      </p:sp>
      <p:sp>
        <p:nvSpPr>
          <p:cNvPr id="62471" name="Oval 7"/>
          <p:cNvSpPr>
            <a:spLocks noChangeArrowheads="1"/>
          </p:cNvSpPr>
          <p:nvPr/>
        </p:nvSpPr>
        <p:spPr bwMode="auto">
          <a:xfrm>
            <a:off x="3446463" y="3708400"/>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11</a:t>
            </a:r>
          </a:p>
        </p:txBody>
      </p:sp>
      <p:sp>
        <p:nvSpPr>
          <p:cNvPr id="62472" name="Oval 8"/>
          <p:cNvSpPr>
            <a:spLocks noChangeArrowheads="1"/>
          </p:cNvSpPr>
          <p:nvPr/>
        </p:nvSpPr>
        <p:spPr bwMode="auto">
          <a:xfrm>
            <a:off x="4818064" y="2962276"/>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27</a:t>
            </a:r>
          </a:p>
        </p:txBody>
      </p:sp>
      <p:cxnSp>
        <p:nvCxnSpPr>
          <p:cNvPr id="62473" name="AutoShape 9"/>
          <p:cNvCxnSpPr>
            <a:cxnSpLocks noChangeShapeType="1"/>
            <a:stCxn id="62468" idx="3"/>
            <a:endCxn id="62469" idx="7"/>
          </p:cNvCxnSpPr>
          <p:nvPr/>
        </p:nvCxnSpPr>
        <p:spPr bwMode="auto">
          <a:xfrm flipH="1">
            <a:off x="3267076" y="2614614"/>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4" name="AutoShape 10"/>
          <p:cNvCxnSpPr>
            <a:cxnSpLocks noChangeShapeType="1"/>
            <a:stCxn id="62469" idx="3"/>
            <a:endCxn id="62470" idx="7"/>
          </p:cNvCxnSpPr>
          <p:nvPr/>
        </p:nvCxnSpPr>
        <p:spPr bwMode="auto">
          <a:xfrm flipH="1">
            <a:off x="2649538" y="3360738"/>
            <a:ext cx="254000" cy="32226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5" name="AutoShape 11"/>
          <p:cNvCxnSpPr>
            <a:cxnSpLocks noChangeShapeType="1"/>
            <a:stCxn id="62468" idx="5"/>
            <a:endCxn id="62472" idx="1"/>
          </p:cNvCxnSpPr>
          <p:nvPr/>
        </p:nvCxnSpPr>
        <p:spPr bwMode="auto">
          <a:xfrm>
            <a:off x="4300539" y="2614614"/>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6" name="AutoShape 12"/>
          <p:cNvCxnSpPr>
            <a:cxnSpLocks noChangeShapeType="1"/>
            <a:stCxn id="62469" idx="5"/>
            <a:endCxn id="62471" idx="1"/>
          </p:cNvCxnSpPr>
          <p:nvPr/>
        </p:nvCxnSpPr>
        <p:spPr bwMode="auto">
          <a:xfrm>
            <a:off x="3267075" y="3360739"/>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77" name="Oval 13"/>
          <p:cNvSpPr>
            <a:spLocks noChangeArrowheads="1"/>
          </p:cNvSpPr>
          <p:nvPr/>
        </p:nvSpPr>
        <p:spPr bwMode="auto">
          <a:xfrm>
            <a:off x="4267200" y="369093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a:t>
            </a:r>
          </a:p>
        </p:txBody>
      </p:sp>
      <p:cxnSp>
        <p:nvCxnSpPr>
          <p:cNvPr id="62478" name="AutoShape 14"/>
          <p:cNvCxnSpPr>
            <a:cxnSpLocks noChangeShapeType="1"/>
            <a:endCxn id="62477" idx="7"/>
          </p:cNvCxnSpPr>
          <p:nvPr/>
        </p:nvCxnSpPr>
        <p:spPr bwMode="auto">
          <a:xfrm flipH="1">
            <a:off x="4706938" y="3438526"/>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79" name="Text Box 15"/>
          <p:cNvSpPr txBox="1">
            <a:spLocks noChangeArrowheads="1"/>
          </p:cNvSpPr>
          <p:nvPr/>
        </p:nvSpPr>
        <p:spPr bwMode="auto">
          <a:xfrm>
            <a:off x="2286000" y="4554539"/>
            <a:ext cx="33528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(a)  </a:t>
            </a:r>
            <a:r>
              <a:rPr kumimoji="1" lang="zh-CN" altLang="en-US" b="0" dirty="0">
                <a:latin typeface="微软雅黑" pitchFamily="34" charset="-122"/>
                <a:ea typeface="微软雅黑" pitchFamily="34" charset="-122"/>
                <a:cs typeface="经典粗黑简" pitchFamily="49" charset="-122"/>
              </a:rPr>
              <a:t>大顶堆</a:t>
            </a:r>
            <a:r>
              <a:rPr kumimoji="1" lang="en-US" altLang="zh-CN" dirty="0">
                <a:latin typeface="Tahoma" pitchFamily="34" charset="0"/>
              </a:rPr>
              <a:t>(max heap)</a:t>
            </a:r>
          </a:p>
        </p:txBody>
      </p:sp>
      <p:sp>
        <p:nvSpPr>
          <p:cNvPr id="62480" name="Oval 16"/>
          <p:cNvSpPr>
            <a:spLocks noChangeArrowheads="1"/>
          </p:cNvSpPr>
          <p:nvPr/>
        </p:nvSpPr>
        <p:spPr bwMode="auto">
          <a:xfrm>
            <a:off x="8102600" y="1752600"/>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sp>
        <p:nvSpPr>
          <p:cNvPr id="62481" name="Oval 17"/>
          <p:cNvSpPr>
            <a:spLocks noChangeArrowheads="1"/>
          </p:cNvSpPr>
          <p:nvPr/>
        </p:nvSpPr>
        <p:spPr bwMode="auto">
          <a:xfrm>
            <a:off x="7069139" y="2497139"/>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36</a:t>
            </a:r>
          </a:p>
        </p:txBody>
      </p:sp>
      <p:sp>
        <p:nvSpPr>
          <p:cNvPr id="62482" name="Oval 18"/>
          <p:cNvSpPr>
            <a:spLocks noChangeArrowheads="1"/>
          </p:cNvSpPr>
          <p:nvPr/>
        </p:nvSpPr>
        <p:spPr bwMode="auto">
          <a:xfrm>
            <a:off x="6451600" y="3259139"/>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85</a:t>
            </a:r>
          </a:p>
        </p:txBody>
      </p:sp>
      <p:sp>
        <p:nvSpPr>
          <p:cNvPr id="62483" name="Oval 19"/>
          <p:cNvSpPr>
            <a:spLocks noChangeArrowheads="1"/>
          </p:cNvSpPr>
          <p:nvPr/>
        </p:nvSpPr>
        <p:spPr bwMode="auto">
          <a:xfrm>
            <a:off x="7688263" y="3243264"/>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62484" name="Oval 20"/>
          <p:cNvSpPr>
            <a:spLocks noChangeArrowheads="1"/>
          </p:cNvSpPr>
          <p:nvPr/>
        </p:nvSpPr>
        <p:spPr bwMode="auto">
          <a:xfrm>
            <a:off x="9059864" y="2497139"/>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62485" name="AutoShape 21"/>
          <p:cNvCxnSpPr>
            <a:cxnSpLocks noChangeShapeType="1"/>
            <a:stCxn id="62480" idx="3"/>
            <a:endCxn id="62481" idx="7"/>
          </p:cNvCxnSpPr>
          <p:nvPr/>
        </p:nvCxnSpPr>
        <p:spPr bwMode="auto">
          <a:xfrm flipH="1">
            <a:off x="7508876" y="2149476"/>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86" name="AutoShape 22"/>
          <p:cNvCxnSpPr>
            <a:cxnSpLocks noChangeShapeType="1"/>
            <a:stCxn id="62481" idx="3"/>
            <a:endCxn id="62482" idx="7"/>
          </p:cNvCxnSpPr>
          <p:nvPr/>
        </p:nvCxnSpPr>
        <p:spPr bwMode="auto">
          <a:xfrm flipH="1">
            <a:off x="6891338" y="2895600"/>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87" name="AutoShape 23"/>
          <p:cNvCxnSpPr>
            <a:cxnSpLocks noChangeShapeType="1"/>
            <a:stCxn id="62480" idx="5"/>
            <a:endCxn id="62484" idx="1"/>
          </p:cNvCxnSpPr>
          <p:nvPr/>
        </p:nvCxnSpPr>
        <p:spPr bwMode="auto">
          <a:xfrm>
            <a:off x="8542339" y="2149476"/>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88" name="AutoShape 24"/>
          <p:cNvCxnSpPr>
            <a:cxnSpLocks noChangeShapeType="1"/>
            <a:stCxn id="62481" idx="5"/>
            <a:endCxn id="62483" idx="1"/>
          </p:cNvCxnSpPr>
          <p:nvPr/>
        </p:nvCxnSpPr>
        <p:spPr bwMode="auto">
          <a:xfrm>
            <a:off x="7508875" y="2895601"/>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89" name="Oval 25"/>
          <p:cNvSpPr>
            <a:spLocks noChangeArrowheads="1"/>
          </p:cNvSpPr>
          <p:nvPr/>
        </p:nvSpPr>
        <p:spPr bwMode="auto">
          <a:xfrm>
            <a:off x="8509000" y="3225800"/>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62490" name="AutoShape 26"/>
          <p:cNvCxnSpPr>
            <a:cxnSpLocks noChangeShapeType="1"/>
            <a:endCxn id="62489" idx="7"/>
          </p:cNvCxnSpPr>
          <p:nvPr/>
        </p:nvCxnSpPr>
        <p:spPr bwMode="auto">
          <a:xfrm flipH="1">
            <a:off x="8948738" y="2973389"/>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91" name="Text Box 27"/>
          <p:cNvSpPr txBox="1">
            <a:spLocks noChangeArrowheads="1"/>
          </p:cNvSpPr>
          <p:nvPr/>
        </p:nvSpPr>
        <p:spPr bwMode="auto">
          <a:xfrm>
            <a:off x="6781800" y="4556126"/>
            <a:ext cx="3276600"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en-US" altLang="zh-CN" dirty="0">
                <a:latin typeface="Tahoma" pitchFamily="34" charset="0"/>
              </a:rPr>
              <a:t>(b)  </a:t>
            </a:r>
            <a:r>
              <a:rPr kumimoji="1" lang="zh-CN" altLang="en-US" b="0" dirty="0">
                <a:latin typeface="微软雅黑" pitchFamily="34" charset="-122"/>
                <a:ea typeface="微软雅黑" pitchFamily="34" charset="-122"/>
                <a:cs typeface="经典粗黑简" pitchFamily="49" charset="-122"/>
              </a:rPr>
              <a:t>小顶堆</a:t>
            </a:r>
            <a:r>
              <a:rPr kumimoji="1" lang="en-US" altLang="zh-CN" dirty="0">
                <a:latin typeface="Tahoma" pitchFamily="34" charset="0"/>
              </a:rPr>
              <a:t>(min heap)</a:t>
            </a:r>
          </a:p>
        </p:txBody>
      </p:sp>
      <p:sp>
        <p:nvSpPr>
          <p:cNvPr id="62492" name="Oval 28"/>
          <p:cNvSpPr>
            <a:spLocks noChangeArrowheads="1"/>
          </p:cNvSpPr>
          <p:nvPr/>
        </p:nvSpPr>
        <p:spPr bwMode="auto">
          <a:xfrm>
            <a:off x="9620250" y="3300414"/>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62493" name="AutoShape 29"/>
          <p:cNvCxnSpPr>
            <a:cxnSpLocks noChangeShapeType="1"/>
            <a:endCxn id="62492" idx="1"/>
          </p:cNvCxnSpPr>
          <p:nvPr/>
        </p:nvCxnSpPr>
        <p:spPr bwMode="auto">
          <a:xfrm>
            <a:off x="9440863" y="2954339"/>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94" name="Oval 30"/>
          <p:cNvSpPr>
            <a:spLocks noChangeArrowheads="1"/>
          </p:cNvSpPr>
          <p:nvPr/>
        </p:nvSpPr>
        <p:spPr bwMode="auto">
          <a:xfrm>
            <a:off x="5953125" y="3968750"/>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91</a:t>
            </a:r>
          </a:p>
        </p:txBody>
      </p:sp>
      <p:cxnSp>
        <p:nvCxnSpPr>
          <p:cNvPr id="62495" name="AutoShape 31"/>
          <p:cNvCxnSpPr>
            <a:cxnSpLocks noChangeShapeType="1"/>
            <a:endCxn id="62494" idx="7"/>
          </p:cNvCxnSpPr>
          <p:nvPr/>
        </p:nvCxnSpPr>
        <p:spPr bwMode="auto">
          <a:xfrm flipH="1">
            <a:off x="6392863" y="3716339"/>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73824" name="Object 32"/>
          <p:cNvGraphicFramePr>
            <a:graphicFrameLocks noChangeAspect="1"/>
          </p:cNvGraphicFramePr>
          <p:nvPr/>
        </p:nvGraphicFramePr>
        <p:xfrm>
          <a:off x="2819400" y="5029200"/>
          <a:ext cx="2514600" cy="1066800"/>
        </p:xfrm>
        <a:graphic>
          <a:graphicData uri="http://schemas.openxmlformats.org/presentationml/2006/ole">
            <mc:AlternateContent xmlns:mc="http://schemas.openxmlformats.org/markup-compatibility/2006">
              <mc:Choice xmlns:v="urn:schemas-microsoft-com:vml" Requires="v">
                <p:oleObj name="Equation" r:id="rId2" imgW="634725" imgH="444307" progId="Equation.3">
                  <p:embed/>
                </p:oleObj>
              </mc:Choice>
              <mc:Fallback>
                <p:oleObj name="Equation" r:id="rId2" imgW="634725" imgH="44430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029200"/>
                        <a:ext cx="2514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3825" name="Object 33"/>
          <p:cNvGraphicFramePr>
            <a:graphicFrameLocks noChangeAspect="1"/>
          </p:cNvGraphicFramePr>
          <p:nvPr/>
        </p:nvGraphicFramePr>
        <p:xfrm>
          <a:off x="7010400" y="5105400"/>
          <a:ext cx="2514600" cy="990600"/>
        </p:xfrm>
        <a:graphic>
          <a:graphicData uri="http://schemas.openxmlformats.org/presentationml/2006/ole">
            <mc:AlternateContent xmlns:mc="http://schemas.openxmlformats.org/markup-compatibility/2006">
              <mc:Choice xmlns:v="urn:schemas-microsoft-com:vml" Requires="v">
                <p:oleObj name="Equation" r:id="rId4" imgW="634725" imgH="444307" progId="Equation.3">
                  <p:embed/>
                </p:oleObj>
              </mc:Choice>
              <mc:Fallback>
                <p:oleObj name="Equation" r:id="rId4" imgW="634725" imgH="44430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400" y="5105400"/>
                        <a:ext cx="2514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 name="矩形 42"/>
          <p:cNvSpPr/>
          <p:nvPr/>
        </p:nvSpPr>
        <p:spPr>
          <a:xfrm>
            <a:off x="2783632" y="1772816"/>
            <a:ext cx="3368230" cy="523220"/>
          </a:xfrm>
          <a:prstGeom prst="rect">
            <a:avLst/>
          </a:prstGeom>
        </p:spPr>
        <p:txBody>
          <a:bodyPr wrap="none">
            <a:spAutoFit/>
          </a:bodyPr>
          <a:lstStyle/>
          <a:p>
            <a:pPr marL="0" lvl="2"/>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p>
        </p:txBody>
      </p:sp>
      <p:sp>
        <p:nvSpPr>
          <p:cNvPr id="2" name="矩形 1">
            <a:extLst>
              <a:ext uri="{FF2B5EF4-FFF2-40B4-BE49-F238E27FC236}">
                <a16:creationId xmlns:a16="http://schemas.microsoft.com/office/drawing/2014/main" id="{C1BF8941-8DB4-4484-4390-E9E0A296F2AE}"/>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42A31185-C1F2-944B-ED5F-8BE703EF76A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B2B4560-6E4E-BDD7-A27E-99BB717FD913}"/>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10446220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3824"/>
                                        </p:tgtEl>
                                        <p:attrNameLst>
                                          <p:attrName>style.visibility</p:attrName>
                                        </p:attrNameLst>
                                      </p:cBhvr>
                                      <p:to>
                                        <p:strVal val="visible"/>
                                      </p:to>
                                    </p:set>
                                    <p:animEffect transition="in" filter="wipe(left)">
                                      <p:cBhvr>
                                        <p:cTn id="7" dur="500"/>
                                        <p:tgtEl>
                                          <p:spTgt spid="6738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3825"/>
                                        </p:tgtEl>
                                        <p:attrNameLst>
                                          <p:attrName>style.visibility</p:attrName>
                                        </p:attrNameLst>
                                      </p:cBhvr>
                                      <p:to>
                                        <p:strVal val="visible"/>
                                      </p:to>
                                    </p:set>
                                    <p:animEffect transition="in" filter="wipe(left)">
                                      <p:cBhvr>
                                        <p:cTn id="12" dur="500"/>
                                        <p:tgtEl>
                                          <p:spTgt spid="673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20" name="Text Box 4"/>
          <p:cNvSpPr txBox="1">
            <a:spLocks noChangeArrowheads="1"/>
          </p:cNvSpPr>
          <p:nvPr/>
        </p:nvSpPr>
        <p:spPr bwMode="auto">
          <a:xfrm>
            <a:off x="1775520" y="3777931"/>
            <a:ext cx="7704980" cy="180034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0" tIns="0" rIns="0" bIns="0"/>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20000"/>
              </a:lnSpc>
              <a:spcBef>
                <a:spcPct val="25000"/>
              </a:spcBef>
            </a:pPr>
            <a:r>
              <a:rPr kumimoji="1" lang="zh-CN" altLang="en-US" b="0" dirty="0">
                <a:latin typeface="微软雅黑" pitchFamily="34" charset="-122"/>
                <a:ea typeface="微软雅黑" pitchFamily="34" charset="-122"/>
                <a:cs typeface="经典粗黑简" pitchFamily="49" charset="-122"/>
              </a:rPr>
              <a:t>实现堆排序需要解决两个问题：</a:t>
            </a:r>
          </a:p>
          <a:p>
            <a:pPr algn="just" eaLnBrk="1" hangingPunct="1">
              <a:lnSpc>
                <a:spcPct val="120000"/>
              </a:lnSpc>
              <a:spcBef>
                <a:spcPct val="25000"/>
              </a:spcBef>
              <a:buFontTx/>
              <a:buNone/>
            </a:pPr>
            <a:r>
              <a:rPr kumimoji="1" lang="zh-CN" altLang="en-US" b="0" dirty="0">
                <a:latin typeface="微软雅黑" pitchFamily="34" charset="-122"/>
                <a:ea typeface="微软雅黑" pitchFamily="34" charset="-122"/>
                <a:cs typeface="经典粗黑简" pitchFamily="49" charset="-122"/>
              </a:rPr>
              <a:t>       </a:t>
            </a:r>
            <a:r>
              <a:rPr kumimoji="1" lang="en-US" altLang="zh-CN" b="0" dirty="0">
                <a:latin typeface="微软雅黑" pitchFamily="34" charset="-122"/>
                <a:ea typeface="微软雅黑" pitchFamily="34" charset="-122"/>
                <a:cs typeface="经典粗黑简" pitchFamily="49" charset="-122"/>
              </a:rPr>
              <a:t>(1) </a:t>
            </a:r>
            <a:r>
              <a:rPr kumimoji="1" lang="zh-CN" altLang="en-US" b="0" dirty="0">
                <a:latin typeface="微软雅黑" pitchFamily="34" charset="-122"/>
                <a:ea typeface="微软雅黑" pitchFamily="34" charset="-122"/>
                <a:cs typeface="经典粗黑简" pitchFamily="49" charset="-122"/>
              </a:rPr>
              <a:t>如何建堆？（初始建堆）</a:t>
            </a:r>
          </a:p>
          <a:p>
            <a:pPr algn="just" eaLnBrk="1" hangingPunct="1">
              <a:lnSpc>
                <a:spcPct val="120000"/>
              </a:lnSpc>
              <a:spcBef>
                <a:spcPct val="25000"/>
              </a:spcBef>
              <a:buFontTx/>
              <a:buNone/>
            </a:pPr>
            <a:r>
              <a:rPr kumimoji="1" lang="zh-CN" altLang="en-US" b="0" dirty="0">
                <a:latin typeface="微软雅黑" pitchFamily="34" charset="-122"/>
                <a:ea typeface="微软雅黑" pitchFamily="34" charset="-122"/>
                <a:cs typeface="经典粗黑简" pitchFamily="49" charset="-122"/>
              </a:rPr>
              <a:t>       </a:t>
            </a:r>
            <a:r>
              <a:rPr kumimoji="1" lang="en-US" altLang="zh-CN" b="0" dirty="0">
                <a:latin typeface="微软雅黑" pitchFamily="34" charset="-122"/>
                <a:ea typeface="微软雅黑" pitchFamily="34" charset="-122"/>
                <a:cs typeface="经典粗黑简" pitchFamily="49" charset="-122"/>
              </a:rPr>
              <a:t>(2) </a:t>
            </a:r>
            <a:r>
              <a:rPr kumimoji="1" lang="zh-CN" altLang="en-US" b="0" dirty="0">
                <a:latin typeface="微软雅黑" pitchFamily="34" charset="-122"/>
                <a:ea typeface="微软雅黑" pitchFamily="34" charset="-122"/>
                <a:cs typeface="经典粗黑简" pitchFamily="49" charset="-122"/>
              </a:rPr>
              <a:t>输出堆顶元素后，如何将剩余元素重新调整为一个新堆？</a:t>
            </a:r>
            <a:endParaRPr kumimoji="1" lang="en-US" altLang="zh-CN" b="0" dirty="0">
              <a:latin typeface="微软雅黑" pitchFamily="34" charset="-122"/>
              <a:ea typeface="微软雅黑" pitchFamily="34" charset="-122"/>
              <a:cs typeface="经典粗黑简" pitchFamily="49" charset="-122"/>
            </a:endParaRPr>
          </a:p>
          <a:p>
            <a:pPr algn="just" eaLnBrk="1" hangingPunct="1">
              <a:lnSpc>
                <a:spcPct val="120000"/>
              </a:lnSpc>
              <a:spcBef>
                <a:spcPct val="25000"/>
              </a:spcBef>
              <a:buFontTx/>
              <a:buNone/>
            </a:pPr>
            <a:r>
              <a:rPr kumimoji="1" lang="en-US" altLang="zh-CN" b="0" dirty="0">
                <a:latin typeface="微软雅黑" pitchFamily="34" charset="-122"/>
                <a:ea typeface="微软雅黑" pitchFamily="34" charset="-122"/>
                <a:cs typeface="经典粗黑简" pitchFamily="49" charset="-122"/>
              </a:rPr>
              <a:t>       </a:t>
            </a:r>
            <a:r>
              <a:rPr kumimoji="1" lang="zh-CN" altLang="en-US" b="0" dirty="0">
                <a:latin typeface="微软雅黑" pitchFamily="34" charset="-122"/>
                <a:ea typeface="微软雅黑" pitchFamily="34" charset="-122"/>
                <a:cs typeface="经典粗黑简" pitchFamily="49" charset="-122"/>
              </a:rPr>
              <a:t>（再建堆）</a:t>
            </a:r>
          </a:p>
        </p:txBody>
      </p:sp>
      <p:sp>
        <p:nvSpPr>
          <p:cNvPr id="4" name="矩形 3"/>
          <p:cNvSpPr/>
          <p:nvPr/>
        </p:nvSpPr>
        <p:spPr>
          <a:xfrm>
            <a:off x="1487488" y="2321586"/>
            <a:ext cx="9361039" cy="1015663"/>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       对一组待排序记录的关键字，首先把它们按堆的定义建成小</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大</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顶堆，然后输出堆顶的最小</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大</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关键字所代表的记录，再对剩余的关键字建堆，以便得到次小</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大</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的关键字，如此反复进行，直到全部关键字排成有序序列为止。</a:t>
            </a:r>
            <a:endParaRPr lang="zh-CN" altLang="en-US" sz="2000" dirty="0"/>
          </a:p>
        </p:txBody>
      </p:sp>
      <p:sp>
        <p:nvSpPr>
          <p:cNvPr id="2" name="矩形 1">
            <a:extLst>
              <a:ext uri="{FF2B5EF4-FFF2-40B4-BE49-F238E27FC236}">
                <a16:creationId xmlns:a16="http://schemas.microsoft.com/office/drawing/2014/main" id="{C0E2B2E8-4D5C-ACA6-A62C-AE5DB0647A10}"/>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B024260C-985F-DF57-3B66-AAF44B02E62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860610D-6631-506C-C30A-638A1256F9B5}"/>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3153307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74820">
                                            <p:txEl>
                                              <p:pRg st="0" end="0"/>
                                            </p:txEl>
                                          </p:spTgt>
                                        </p:tgtEl>
                                        <p:attrNameLst>
                                          <p:attrName>style.visibility</p:attrName>
                                        </p:attrNameLst>
                                      </p:cBhvr>
                                      <p:to>
                                        <p:strVal val="visible"/>
                                      </p:to>
                                    </p:set>
                                    <p:animEffect transition="in" filter="wipe(up)">
                                      <p:cBhvr>
                                        <p:cTn id="7" dur="500"/>
                                        <p:tgtEl>
                                          <p:spTgt spid="67482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74820">
                                            <p:txEl>
                                              <p:pRg st="1" end="1"/>
                                            </p:txEl>
                                          </p:spTgt>
                                        </p:tgtEl>
                                        <p:attrNameLst>
                                          <p:attrName>style.visibility</p:attrName>
                                        </p:attrNameLst>
                                      </p:cBhvr>
                                      <p:to>
                                        <p:strVal val="visible"/>
                                      </p:to>
                                    </p:set>
                                    <p:animEffect transition="in" filter="wipe(up)">
                                      <p:cBhvr>
                                        <p:cTn id="12" dur="500"/>
                                        <p:tgtEl>
                                          <p:spTgt spid="67482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74820">
                                            <p:txEl>
                                              <p:pRg st="2" end="2"/>
                                            </p:txEl>
                                          </p:spTgt>
                                        </p:tgtEl>
                                        <p:attrNameLst>
                                          <p:attrName>style.visibility</p:attrName>
                                        </p:attrNameLst>
                                      </p:cBhvr>
                                      <p:to>
                                        <p:strVal val="visible"/>
                                      </p:to>
                                    </p:set>
                                    <p:animEffect transition="in" filter="wipe(up)">
                                      <p:cBhvr>
                                        <p:cTn id="17" dur="500"/>
                                        <p:tgtEl>
                                          <p:spTgt spid="6748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74820">
                                            <p:txEl>
                                              <p:pRg st="3" end="3"/>
                                            </p:txEl>
                                          </p:spTgt>
                                        </p:tgtEl>
                                        <p:attrNameLst>
                                          <p:attrName>style.visibility</p:attrName>
                                        </p:attrNameLst>
                                      </p:cBhvr>
                                      <p:to>
                                        <p:strVal val="visible"/>
                                      </p:to>
                                    </p:set>
                                    <p:animEffect transition="in" filter="wipe(up)">
                                      <p:cBhvr>
                                        <p:cTn id="22" dur="500"/>
                                        <p:tgtEl>
                                          <p:spTgt spid="6748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0"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39926" y="3484017"/>
            <a:ext cx="4003675" cy="2730356"/>
            <a:chOff x="415925" y="3506956"/>
            <a:chExt cx="4003675" cy="2730356"/>
          </a:xfrm>
        </p:grpSpPr>
        <p:sp>
          <p:nvSpPr>
            <p:cNvPr id="70659"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70660"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70661"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91</a:t>
              </a:r>
            </a:p>
          </p:txBody>
        </p:sp>
        <p:sp>
          <p:nvSpPr>
            <p:cNvPr id="70662"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sp>
          <p:nvSpPr>
            <p:cNvPr id="70663"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70664" name="AutoShape 8"/>
            <p:cNvCxnSpPr>
              <a:cxnSpLocks noChangeShapeType="1"/>
              <a:stCxn id="70659" idx="3"/>
              <a:endCxn id="70660"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5" name="AutoShape 9"/>
            <p:cNvCxnSpPr>
              <a:cxnSpLocks noChangeShapeType="1"/>
              <a:stCxn id="70660" idx="3"/>
              <a:endCxn id="70661"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6" name="AutoShape 10"/>
            <p:cNvCxnSpPr>
              <a:cxnSpLocks noChangeShapeType="1"/>
              <a:stCxn id="70659" idx="5"/>
              <a:endCxn id="70663"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7" name="AutoShape 11"/>
            <p:cNvCxnSpPr>
              <a:cxnSpLocks noChangeShapeType="1"/>
              <a:stCxn id="70660" idx="5"/>
              <a:endCxn id="70662"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68"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70669" name="AutoShape 13"/>
            <p:cNvCxnSpPr>
              <a:cxnSpLocks noChangeShapeType="1"/>
              <a:endCxn id="70668"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0"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70671" name="AutoShape 15"/>
            <p:cNvCxnSpPr>
              <a:cxnSpLocks noChangeShapeType="1"/>
              <a:endCxn id="70670"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2"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85</a:t>
              </a:r>
            </a:p>
          </p:txBody>
        </p:sp>
        <p:cxnSp>
          <p:nvCxnSpPr>
            <p:cNvPr id="70673"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5" name="组合 4"/>
          <p:cNvGrpSpPr/>
          <p:nvPr/>
        </p:nvGrpSpPr>
        <p:grpSpPr>
          <a:xfrm>
            <a:off x="6229723" y="3484018"/>
            <a:ext cx="4005987" cy="2681287"/>
            <a:chOff x="4705722" y="3484017"/>
            <a:chExt cx="4005987" cy="2681287"/>
          </a:xfrm>
        </p:grpSpPr>
        <p:sp>
          <p:nvSpPr>
            <p:cNvPr id="70676" name="Oval 20"/>
            <p:cNvSpPr>
              <a:spLocks noChangeArrowheads="1"/>
            </p:cNvSpPr>
            <p:nvPr/>
          </p:nvSpPr>
          <p:spPr bwMode="auto">
            <a:xfrm>
              <a:off x="6679709" y="3484017"/>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sp>
          <p:nvSpPr>
            <p:cNvPr id="70677" name="Oval 21"/>
            <p:cNvSpPr>
              <a:spLocks noChangeArrowheads="1"/>
            </p:cNvSpPr>
            <p:nvPr/>
          </p:nvSpPr>
          <p:spPr bwMode="auto">
            <a:xfrm>
              <a:off x="5646247" y="4228554"/>
              <a:ext cx="515938"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36</a:t>
              </a:r>
            </a:p>
          </p:txBody>
        </p:sp>
        <p:sp>
          <p:nvSpPr>
            <p:cNvPr id="70678" name="Oval 22"/>
            <p:cNvSpPr>
              <a:spLocks noChangeArrowheads="1"/>
            </p:cNvSpPr>
            <p:nvPr/>
          </p:nvSpPr>
          <p:spPr bwMode="auto">
            <a:xfrm>
              <a:off x="5028709" y="499055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70679" name="Oval 23"/>
            <p:cNvSpPr>
              <a:spLocks noChangeArrowheads="1"/>
            </p:cNvSpPr>
            <p:nvPr/>
          </p:nvSpPr>
          <p:spPr bwMode="auto">
            <a:xfrm>
              <a:off x="6265372" y="497467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70680" name="Oval 24"/>
            <p:cNvSpPr>
              <a:spLocks noChangeArrowheads="1"/>
            </p:cNvSpPr>
            <p:nvPr/>
          </p:nvSpPr>
          <p:spPr bwMode="auto">
            <a:xfrm>
              <a:off x="7636972" y="4228554"/>
              <a:ext cx="515938"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70681" name="AutoShape 25"/>
            <p:cNvCxnSpPr>
              <a:cxnSpLocks noChangeShapeType="1"/>
              <a:stCxn id="70676" idx="3"/>
              <a:endCxn id="70677" idx="7"/>
            </p:cNvCxnSpPr>
            <p:nvPr/>
          </p:nvCxnSpPr>
          <p:spPr bwMode="auto">
            <a:xfrm flipH="1">
              <a:off x="6085984" y="3880892"/>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82" name="AutoShape 26"/>
            <p:cNvCxnSpPr>
              <a:cxnSpLocks noChangeShapeType="1"/>
              <a:stCxn id="70677" idx="3"/>
              <a:endCxn id="70678" idx="7"/>
            </p:cNvCxnSpPr>
            <p:nvPr/>
          </p:nvCxnSpPr>
          <p:spPr bwMode="auto">
            <a:xfrm flipH="1">
              <a:off x="5468447" y="4627017"/>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83" name="AutoShape 27"/>
            <p:cNvCxnSpPr>
              <a:cxnSpLocks noChangeShapeType="1"/>
              <a:stCxn id="70676" idx="5"/>
              <a:endCxn id="70680" idx="1"/>
            </p:cNvCxnSpPr>
            <p:nvPr/>
          </p:nvCxnSpPr>
          <p:spPr bwMode="auto">
            <a:xfrm>
              <a:off x="7119447" y="3880892"/>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84" name="AutoShape 28"/>
            <p:cNvCxnSpPr>
              <a:cxnSpLocks noChangeShapeType="1"/>
              <a:stCxn id="70677" idx="5"/>
              <a:endCxn id="70679" idx="1"/>
            </p:cNvCxnSpPr>
            <p:nvPr/>
          </p:nvCxnSpPr>
          <p:spPr bwMode="auto">
            <a:xfrm>
              <a:off x="6085984" y="4627017"/>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85" name="Oval 29"/>
            <p:cNvSpPr>
              <a:spLocks noChangeArrowheads="1"/>
            </p:cNvSpPr>
            <p:nvPr/>
          </p:nvSpPr>
          <p:spPr bwMode="auto">
            <a:xfrm>
              <a:off x="7086109" y="4957217"/>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70686" name="AutoShape 30"/>
            <p:cNvCxnSpPr>
              <a:cxnSpLocks noChangeShapeType="1"/>
              <a:endCxn id="70685" idx="7"/>
            </p:cNvCxnSpPr>
            <p:nvPr/>
          </p:nvCxnSpPr>
          <p:spPr bwMode="auto">
            <a:xfrm flipH="1">
              <a:off x="7525847" y="4704804"/>
              <a:ext cx="252413"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87" name="Oval 31"/>
            <p:cNvSpPr>
              <a:spLocks noChangeArrowheads="1"/>
            </p:cNvSpPr>
            <p:nvPr/>
          </p:nvSpPr>
          <p:spPr bwMode="auto">
            <a:xfrm>
              <a:off x="8197359" y="503182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70688" name="AutoShape 32"/>
            <p:cNvCxnSpPr>
              <a:cxnSpLocks noChangeShapeType="1"/>
              <a:endCxn id="70687" idx="1"/>
            </p:cNvCxnSpPr>
            <p:nvPr/>
          </p:nvCxnSpPr>
          <p:spPr bwMode="auto">
            <a:xfrm>
              <a:off x="8017972" y="468575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89" name="Oval 33"/>
            <p:cNvSpPr>
              <a:spLocks noChangeArrowheads="1"/>
            </p:cNvSpPr>
            <p:nvPr/>
          </p:nvSpPr>
          <p:spPr bwMode="auto">
            <a:xfrm>
              <a:off x="4705722" y="5700167"/>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70690" name="AutoShape 34"/>
            <p:cNvCxnSpPr>
              <a:cxnSpLocks noChangeShapeType="1"/>
              <a:stCxn id="70678" idx="4"/>
              <a:endCxn id="70689" idx="7"/>
            </p:cNvCxnSpPr>
            <p:nvPr/>
          </p:nvCxnSpPr>
          <p:spPr bwMode="auto">
            <a:xfrm flipH="1">
              <a:off x="5144747" y="5455691"/>
              <a:ext cx="141931" cy="312594"/>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矩形 1">
            <a:extLst>
              <a:ext uri="{FF2B5EF4-FFF2-40B4-BE49-F238E27FC236}">
                <a16:creationId xmlns:a16="http://schemas.microsoft.com/office/drawing/2014/main" id="{C17351AA-72FC-E7A2-4179-56ED79003655}"/>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FB162214-7F46-9286-2655-2C50F2AC67EE}"/>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D9A27034-20F2-A5F4-DC2F-98A6E7CA7184}"/>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8" name="Rectangle 2">
            <a:extLst>
              <a:ext uri="{FF2B5EF4-FFF2-40B4-BE49-F238E27FC236}">
                <a16:creationId xmlns:a16="http://schemas.microsoft.com/office/drawing/2014/main" id="{F6ADDDD8-8087-0A47-C990-B4FDBBFB8C08}"/>
              </a:ext>
            </a:extLst>
          </p:cNvPr>
          <p:cNvSpPr>
            <a:spLocks noGrp="1" noChangeArrowheads="1"/>
          </p:cNvSpPr>
          <p:nvPr>
            <p:ph type="title"/>
          </p:nvPr>
        </p:nvSpPr>
        <p:spPr bwMode="auto">
          <a:xfrm>
            <a:off x="2220318" y="2079489"/>
            <a:ext cx="2305199" cy="36004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l"/>
            <a:r>
              <a:rPr lang="en-US" altLang="zh-CN" sz="2400" dirty="0">
                <a:ea typeface="黑体" pitchFamily="2" charset="-122"/>
              </a:rPr>
              <a:t>①</a:t>
            </a:r>
            <a:r>
              <a:rPr lang="zh-CN" altLang="en-US" sz="2400" dirty="0">
                <a:ea typeface="黑体" pitchFamily="2" charset="-122"/>
              </a:rPr>
              <a:t>、初始建堆</a:t>
            </a:r>
          </a:p>
        </p:txBody>
      </p:sp>
    </p:spTree>
    <p:extLst>
      <p:ext uri="{BB962C8B-B14F-4D97-AF65-F5344CB8AC3E}">
        <p14:creationId xmlns:p14="http://schemas.microsoft.com/office/powerpoint/2010/main" val="3543252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2002"/>
                                        </p:tgtEl>
                                        <p:attrNameLst>
                                          <p:attrName>style.visibility</p:attrName>
                                        </p:attrNameLst>
                                      </p:cBhvr>
                                      <p:to>
                                        <p:strVal val="visible"/>
                                      </p:to>
                                    </p:set>
                                    <p:animEffect transition="in" filter="wipe(up)">
                                      <p:cBhvr>
                                        <p:cTn id="7" dur="500"/>
                                        <p:tgtEl>
                                          <p:spTgt spid="68200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200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39926" y="3484017"/>
            <a:ext cx="4003675" cy="2730356"/>
            <a:chOff x="415925" y="3506956"/>
            <a:chExt cx="4003675" cy="2730356"/>
          </a:xfrm>
        </p:grpSpPr>
        <p:sp>
          <p:nvSpPr>
            <p:cNvPr id="70659"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70660"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70661"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91</a:t>
              </a:r>
            </a:p>
          </p:txBody>
        </p:sp>
        <p:sp>
          <p:nvSpPr>
            <p:cNvPr id="70662"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sp>
          <p:nvSpPr>
            <p:cNvPr id="70663"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70664" name="AutoShape 8"/>
            <p:cNvCxnSpPr>
              <a:cxnSpLocks noChangeShapeType="1"/>
              <a:stCxn id="70659" idx="3"/>
              <a:endCxn id="70660"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5" name="AutoShape 9"/>
            <p:cNvCxnSpPr>
              <a:cxnSpLocks noChangeShapeType="1"/>
              <a:stCxn id="70660" idx="3"/>
              <a:endCxn id="70661"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6" name="AutoShape 10"/>
            <p:cNvCxnSpPr>
              <a:cxnSpLocks noChangeShapeType="1"/>
              <a:stCxn id="70659" idx="5"/>
              <a:endCxn id="70663"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7" name="AutoShape 11"/>
            <p:cNvCxnSpPr>
              <a:cxnSpLocks noChangeShapeType="1"/>
              <a:stCxn id="70660" idx="5"/>
              <a:endCxn id="70662"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68"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70669" name="AutoShape 13"/>
            <p:cNvCxnSpPr>
              <a:cxnSpLocks noChangeShapeType="1"/>
              <a:endCxn id="70668"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0"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70671" name="AutoShape 15"/>
            <p:cNvCxnSpPr>
              <a:cxnSpLocks noChangeShapeType="1"/>
              <a:endCxn id="70670"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2"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85</a:t>
              </a:r>
            </a:p>
          </p:txBody>
        </p:sp>
        <p:cxnSp>
          <p:nvCxnSpPr>
            <p:cNvPr id="70673"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9" name="Rectangle 40"/>
          <p:cNvSpPr txBox="1">
            <a:spLocks noChangeArrowheads="1"/>
          </p:cNvSpPr>
          <p:nvPr/>
        </p:nvSpPr>
        <p:spPr bwMode="auto">
          <a:xfrm>
            <a:off x="2135189" y="2709268"/>
            <a:ext cx="7585075" cy="7197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2000" dirty="0">
                <a:latin typeface="微软雅黑" pitchFamily="34" charset="-122"/>
                <a:ea typeface="微软雅黑" pitchFamily="34" charset="-122"/>
                <a:cs typeface="经典粗黑简" pitchFamily="49" charset="-122"/>
              </a:rPr>
              <a:t>从最后一个具有叶子的结点</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编号</a:t>
            </a:r>
            <a:r>
              <a:rPr kumimoji="1" lang="en-US" altLang="zh-CN" sz="2000" dirty="0">
                <a:latin typeface="微软雅黑" pitchFamily="34" charset="-122"/>
                <a:ea typeface="微软雅黑" pitchFamily="34" charset="-122"/>
                <a:cs typeface="经典粗黑简" pitchFamily="49" charset="-122"/>
              </a:rPr>
              <a:t>[n/2])</a:t>
            </a:r>
            <a:r>
              <a:rPr kumimoji="1" lang="zh-CN" altLang="en-US" sz="2000" dirty="0">
                <a:latin typeface="微软雅黑" pitchFamily="34" charset="-122"/>
                <a:ea typeface="微软雅黑" pitchFamily="34" charset="-122"/>
                <a:cs typeface="经典粗黑简" pitchFamily="49" charset="-122"/>
              </a:rPr>
              <a:t>开始建子堆，依次考查结点</a:t>
            </a:r>
            <a:r>
              <a:rPr kumimoji="1" lang="en-US" altLang="zh-CN" sz="2000" dirty="0">
                <a:latin typeface="微软雅黑" pitchFamily="34" charset="-122"/>
                <a:ea typeface="微软雅黑" pitchFamily="34" charset="-122"/>
                <a:cs typeface="经典粗黑简" pitchFamily="49" charset="-122"/>
              </a:rPr>
              <a:t>[n/2]-1,[n/2]-2,...</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等是否为堆，若否则调整为堆。</a:t>
            </a:r>
          </a:p>
        </p:txBody>
      </p:sp>
      <p:sp>
        <p:nvSpPr>
          <p:cNvPr id="40" name="Freeform 20"/>
          <p:cNvSpPr>
            <a:spLocks/>
          </p:cNvSpPr>
          <p:nvPr/>
        </p:nvSpPr>
        <p:spPr bwMode="auto">
          <a:xfrm>
            <a:off x="1939925" y="5189786"/>
            <a:ext cx="320675" cy="674772"/>
          </a:xfrm>
          <a:custGeom>
            <a:avLst/>
            <a:gdLst>
              <a:gd name="T0" fmla="*/ 288 w 288"/>
              <a:gd name="T1" fmla="*/ 0 h 432"/>
              <a:gd name="T2" fmla="*/ 48 w 288"/>
              <a:gd name="T3" fmla="*/ 144 h 432"/>
              <a:gd name="T4" fmla="*/ 0 w 288"/>
              <a:gd name="T5" fmla="*/ 432 h 432"/>
              <a:gd name="T6" fmla="*/ 0 60000 65536"/>
              <a:gd name="T7" fmla="*/ 0 60000 65536"/>
              <a:gd name="T8" fmla="*/ 0 60000 65536"/>
            </a:gdLst>
            <a:ahLst/>
            <a:cxnLst>
              <a:cxn ang="T6">
                <a:pos x="T0" y="T1"/>
              </a:cxn>
              <a:cxn ang="T7">
                <a:pos x="T2" y="T3"/>
              </a:cxn>
              <a:cxn ang="T8">
                <a:pos x="T4" y="T5"/>
              </a:cxn>
            </a:cxnLst>
            <a:rect l="0" t="0" r="r" b="b"/>
            <a:pathLst>
              <a:path w="288" h="432">
                <a:moveTo>
                  <a:pt x="288" y="0"/>
                </a:moveTo>
                <a:cubicBezTo>
                  <a:pt x="192" y="36"/>
                  <a:pt x="96" y="72"/>
                  <a:pt x="48" y="144"/>
                </a:cubicBezTo>
                <a:cubicBezTo>
                  <a:pt x="0" y="216"/>
                  <a:pt x="8" y="384"/>
                  <a:pt x="0"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41" name="组合 40"/>
          <p:cNvGrpSpPr/>
          <p:nvPr/>
        </p:nvGrpSpPr>
        <p:grpSpPr>
          <a:xfrm>
            <a:off x="6182178" y="3609502"/>
            <a:ext cx="4003675" cy="2730356"/>
            <a:chOff x="415925" y="3506956"/>
            <a:chExt cx="4003675" cy="2730356"/>
          </a:xfrm>
        </p:grpSpPr>
        <p:sp>
          <p:nvSpPr>
            <p:cNvPr id="42"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43"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44" name="Oval 5"/>
            <p:cNvSpPr>
              <a:spLocks noChangeArrowheads="1"/>
            </p:cNvSpPr>
            <p:nvPr/>
          </p:nvSpPr>
          <p:spPr bwMode="auto">
            <a:xfrm>
              <a:off x="736600" y="5013494"/>
              <a:ext cx="515938" cy="465137"/>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45"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sp>
          <p:nvSpPr>
            <p:cNvPr id="46"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47" name="AutoShape 8"/>
            <p:cNvCxnSpPr>
              <a:cxnSpLocks noChangeShapeType="1"/>
              <a:stCxn id="42" idx="3"/>
              <a:endCxn id="43"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9"/>
            <p:cNvCxnSpPr>
              <a:cxnSpLocks noChangeShapeType="1"/>
              <a:stCxn id="43" idx="3"/>
              <a:endCxn id="44"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0"/>
            <p:cNvCxnSpPr>
              <a:cxnSpLocks noChangeShapeType="1"/>
              <a:stCxn id="42" idx="5"/>
              <a:endCxn id="46"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1"/>
            <p:cNvCxnSpPr>
              <a:cxnSpLocks noChangeShapeType="1"/>
              <a:stCxn id="43" idx="5"/>
              <a:endCxn id="45"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52" name="AutoShape 13"/>
            <p:cNvCxnSpPr>
              <a:cxnSpLocks noChangeShapeType="1"/>
              <a:endCxn id="51"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54" name="AutoShape 15"/>
            <p:cNvCxnSpPr>
              <a:cxnSpLocks noChangeShapeType="1"/>
              <a:endCxn id="53"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56"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 name="组合 2"/>
          <p:cNvGrpSpPr/>
          <p:nvPr/>
        </p:nvGrpSpPr>
        <p:grpSpPr>
          <a:xfrm>
            <a:off x="1605087" y="3479064"/>
            <a:ext cx="3768991" cy="2687407"/>
            <a:chOff x="81086" y="3479063"/>
            <a:chExt cx="3768991" cy="2687407"/>
          </a:xfrm>
        </p:grpSpPr>
        <p:sp>
          <p:nvSpPr>
            <p:cNvPr id="2" name="TextBox 1"/>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59" name="TextBox 58"/>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60" name="TextBox 59"/>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61" name="TextBox 60"/>
            <p:cNvSpPr txBox="1"/>
            <p:nvPr/>
          </p:nvSpPr>
          <p:spPr>
            <a:xfrm>
              <a:off x="400173" y="4895066"/>
              <a:ext cx="319087"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62" name="TextBox 61"/>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63" name="TextBox 62"/>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64" name="TextBox 63"/>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65" name="TextBox 64"/>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66" name="Freeform 3"/>
          <p:cNvSpPr>
            <a:spLocks/>
          </p:cNvSpPr>
          <p:nvPr/>
        </p:nvSpPr>
        <p:spPr bwMode="auto">
          <a:xfrm>
            <a:off x="9601164" y="4490358"/>
            <a:ext cx="546100" cy="762000"/>
          </a:xfrm>
          <a:custGeom>
            <a:avLst/>
            <a:gdLst>
              <a:gd name="T0" fmla="*/ 0 w 344"/>
              <a:gd name="T1" fmla="*/ 0 h 432"/>
              <a:gd name="T2" fmla="*/ 457200 w 344"/>
              <a:gd name="T3" fmla="*/ 254000 h 432"/>
              <a:gd name="T4" fmla="*/ 533400 w 344"/>
              <a:gd name="T5" fmla="*/ 762000 h 432"/>
              <a:gd name="T6" fmla="*/ 0 60000 65536"/>
              <a:gd name="T7" fmla="*/ 0 60000 65536"/>
              <a:gd name="T8" fmla="*/ 0 60000 65536"/>
            </a:gdLst>
            <a:ahLst/>
            <a:cxnLst>
              <a:cxn ang="T6">
                <a:pos x="T0" y="T1"/>
              </a:cxn>
              <a:cxn ang="T7">
                <a:pos x="T2" y="T3"/>
              </a:cxn>
              <a:cxn ang="T8">
                <a:pos x="T4" y="T5"/>
              </a:cxn>
            </a:cxnLst>
            <a:rect l="0" t="0" r="r" b="b"/>
            <a:pathLst>
              <a:path w="344" h="432">
                <a:moveTo>
                  <a:pt x="0" y="0"/>
                </a:moveTo>
                <a:cubicBezTo>
                  <a:pt x="116" y="36"/>
                  <a:pt x="232" y="72"/>
                  <a:pt x="288" y="144"/>
                </a:cubicBezTo>
                <a:cubicBezTo>
                  <a:pt x="344" y="216"/>
                  <a:pt x="328" y="384"/>
                  <a:pt x="336"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69" name="组合 68"/>
          <p:cNvGrpSpPr/>
          <p:nvPr/>
        </p:nvGrpSpPr>
        <p:grpSpPr>
          <a:xfrm>
            <a:off x="5927410" y="3549906"/>
            <a:ext cx="3768991" cy="2687407"/>
            <a:chOff x="81086" y="3479063"/>
            <a:chExt cx="3768991" cy="2687407"/>
          </a:xfrm>
        </p:grpSpPr>
        <p:sp>
          <p:nvSpPr>
            <p:cNvPr id="70" name="TextBox 6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71" name="TextBox 7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72" name="TextBox 71"/>
            <p:cNvSpPr txBox="1"/>
            <p:nvPr/>
          </p:nvSpPr>
          <p:spPr>
            <a:xfrm>
              <a:off x="2964656" y="4296817"/>
              <a:ext cx="319087"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73" name="TextBox 7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74" name="TextBox 7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75" name="TextBox 7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76" name="TextBox 7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77" name="TextBox 7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 name="矩形 4">
            <a:extLst>
              <a:ext uri="{FF2B5EF4-FFF2-40B4-BE49-F238E27FC236}">
                <a16:creationId xmlns:a16="http://schemas.microsoft.com/office/drawing/2014/main" id="{39D816DA-1017-7552-74E4-6BDA902E2A40}"/>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6" name="直接连接符 5">
            <a:extLst>
              <a:ext uri="{FF2B5EF4-FFF2-40B4-BE49-F238E27FC236}">
                <a16:creationId xmlns:a16="http://schemas.microsoft.com/office/drawing/2014/main" id="{1D26E8BC-01E8-61C0-5EE9-D5ECB05B9E8E}"/>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F66DEDA7-5574-7CE0-46F0-5069E860275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9" name="Rectangle 2">
            <a:extLst>
              <a:ext uri="{FF2B5EF4-FFF2-40B4-BE49-F238E27FC236}">
                <a16:creationId xmlns:a16="http://schemas.microsoft.com/office/drawing/2014/main" id="{2586BB36-8619-B2F9-4653-9EE7B8FC601C}"/>
              </a:ext>
            </a:extLst>
          </p:cNvPr>
          <p:cNvSpPr txBox="1">
            <a:spLocks noChangeArrowheads="1"/>
          </p:cNvSpPr>
          <p:nvPr/>
        </p:nvSpPr>
        <p:spPr bwMode="auto">
          <a:xfrm>
            <a:off x="2220318" y="2079489"/>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a:ea typeface="黑体" pitchFamily="2" charset="-122"/>
              </a:rPr>
              <a:t>①</a:t>
            </a:r>
            <a:r>
              <a:rPr lang="zh-CN" altLang="en-US" sz="2400">
                <a:ea typeface="黑体" pitchFamily="2" charset="-122"/>
              </a:rPr>
              <a:t>、初始建堆</a:t>
            </a:r>
            <a:endParaRPr lang="zh-CN" altLang="en-US" sz="2400" dirty="0">
              <a:ea typeface="黑体" pitchFamily="2" charset="-122"/>
            </a:endParaRPr>
          </a:p>
        </p:txBody>
      </p:sp>
    </p:spTree>
    <p:extLst>
      <p:ext uri="{BB962C8B-B14F-4D97-AF65-F5344CB8AC3E}">
        <p14:creationId xmlns:p14="http://schemas.microsoft.com/office/powerpoint/2010/main" val="29668937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92" name="组合 91"/>
          <p:cNvGrpSpPr/>
          <p:nvPr/>
        </p:nvGrpSpPr>
        <p:grpSpPr>
          <a:xfrm>
            <a:off x="1924051"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sp>
          <p:nvSpPr>
            <p:cNvPr id="97" name="Oval 7"/>
            <p:cNvSpPr>
              <a:spLocks noChangeArrowheads="1"/>
            </p:cNvSpPr>
            <p:nvPr/>
          </p:nvSpPr>
          <p:spPr bwMode="auto">
            <a:xfrm>
              <a:off x="3344863"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24</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1669283"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8" name="Freeform 3"/>
          <p:cNvSpPr>
            <a:spLocks/>
          </p:cNvSpPr>
          <p:nvPr/>
        </p:nvSpPr>
        <p:spPr bwMode="auto">
          <a:xfrm rot="21218850">
            <a:off x="3389282" y="4468023"/>
            <a:ext cx="467577" cy="728508"/>
          </a:xfrm>
          <a:custGeom>
            <a:avLst/>
            <a:gdLst>
              <a:gd name="T0" fmla="*/ 0 w 344"/>
              <a:gd name="T1" fmla="*/ 0 h 432"/>
              <a:gd name="T2" fmla="*/ 457200 w 344"/>
              <a:gd name="T3" fmla="*/ 254000 h 432"/>
              <a:gd name="T4" fmla="*/ 533400 w 344"/>
              <a:gd name="T5" fmla="*/ 762000 h 432"/>
              <a:gd name="T6" fmla="*/ 0 60000 65536"/>
              <a:gd name="T7" fmla="*/ 0 60000 65536"/>
              <a:gd name="T8" fmla="*/ 0 60000 65536"/>
            </a:gdLst>
            <a:ahLst/>
            <a:cxnLst>
              <a:cxn ang="T6">
                <a:pos x="T0" y="T1"/>
              </a:cxn>
              <a:cxn ang="T7">
                <a:pos x="T2" y="T3"/>
              </a:cxn>
              <a:cxn ang="T8">
                <a:pos x="T4" y="T5"/>
              </a:cxn>
            </a:cxnLst>
            <a:rect l="0" t="0" r="r" b="b"/>
            <a:pathLst>
              <a:path w="344" h="432">
                <a:moveTo>
                  <a:pt x="0" y="0"/>
                </a:moveTo>
                <a:cubicBezTo>
                  <a:pt x="116" y="36"/>
                  <a:pt x="232" y="72"/>
                  <a:pt x="288" y="144"/>
                </a:cubicBezTo>
                <a:cubicBezTo>
                  <a:pt x="344" y="216"/>
                  <a:pt x="328" y="384"/>
                  <a:pt x="336"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119" name="组合 118"/>
          <p:cNvGrpSpPr/>
          <p:nvPr/>
        </p:nvGrpSpPr>
        <p:grpSpPr>
          <a:xfrm>
            <a:off x="6364384" y="3609502"/>
            <a:ext cx="4003675" cy="2730356"/>
            <a:chOff x="415925" y="3506956"/>
            <a:chExt cx="4003675" cy="2730356"/>
          </a:xfrm>
        </p:grpSpPr>
        <p:sp>
          <p:nvSpPr>
            <p:cNvPr id="120"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121" name="Oval 4"/>
            <p:cNvSpPr>
              <a:spLocks noChangeArrowheads="1"/>
            </p:cNvSpPr>
            <p:nvPr/>
          </p:nvSpPr>
          <p:spPr bwMode="auto">
            <a:xfrm>
              <a:off x="1354138"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sp>
          <p:nvSpPr>
            <p:cNvPr id="122" name="Oval 5"/>
            <p:cNvSpPr>
              <a:spLocks noChangeArrowheads="1"/>
            </p:cNvSpPr>
            <p:nvPr/>
          </p:nvSpPr>
          <p:spPr bwMode="auto">
            <a:xfrm>
              <a:off x="736600" y="5013494"/>
              <a:ext cx="515938" cy="465137"/>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123"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124" name="Oval 7"/>
            <p:cNvSpPr>
              <a:spLocks noChangeArrowheads="1"/>
            </p:cNvSpPr>
            <p:nvPr/>
          </p:nvSpPr>
          <p:spPr bwMode="auto">
            <a:xfrm>
              <a:off x="3344863"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24</a:t>
              </a:r>
            </a:p>
          </p:txBody>
        </p:sp>
        <p:cxnSp>
          <p:nvCxnSpPr>
            <p:cNvPr id="125" name="AutoShape 8"/>
            <p:cNvCxnSpPr>
              <a:cxnSpLocks noChangeShapeType="1"/>
              <a:stCxn id="120" idx="3"/>
              <a:endCxn id="121"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AutoShape 9"/>
            <p:cNvCxnSpPr>
              <a:cxnSpLocks noChangeShapeType="1"/>
              <a:stCxn id="121" idx="3"/>
              <a:endCxn id="122"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AutoShape 10"/>
            <p:cNvCxnSpPr>
              <a:cxnSpLocks noChangeShapeType="1"/>
              <a:stCxn id="120" idx="5"/>
              <a:endCxn id="124"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AutoShape 11"/>
            <p:cNvCxnSpPr>
              <a:cxnSpLocks noChangeShapeType="1"/>
              <a:stCxn id="121" idx="5"/>
              <a:endCxn id="123"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130" name="AutoShape 13"/>
            <p:cNvCxnSpPr>
              <a:cxnSpLocks noChangeShapeType="1"/>
              <a:endCxn id="12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32" name="AutoShape 15"/>
            <p:cNvCxnSpPr>
              <a:cxnSpLocks noChangeShapeType="1"/>
              <a:endCxn id="13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3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35" name="组合 134"/>
          <p:cNvGrpSpPr/>
          <p:nvPr/>
        </p:nvGrpSpPr>
        <p:grpSpPr>
          <a:xfrm>
            <a:off x="6109616" y="3549906"/>
            <a:ext cx="3768991" cy="2687407"/>
            <a:chOff x="81086" y="3479063"/>
            <a:chExt cx="3768991" cy="2687407"/>
          </a:xfrm>
        </p:grpSpPr>
        <p:sp>
          <p:nvSpPr>
            <p:cNvPr id="136" name="TextBox 135"/>
            <p:cNvSpPr txBox="1"/>
            <p:nvPr/>
          </p:nvSpPr>
          <p:spPr>
            <a:xfrm>
              <a:off x="2038228" y="3479063"/>
              <a:ext cx="319087"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137" name="TextBox 13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38" name="TextBox 13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39" name="TextBox 13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40" name="TextBox 13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41" name="TextBox 14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42" name="TextBox 14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43" name="TextBox 14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45" name="Freeform 20"/>
          <p:cNvSpPr>
            <a:spLocks/>
          </p:cNvSpPr>
          <p:nvPr/>
        </p:nvSpPr>
        <p:spPr bwMode="auto">
          <a:xfrm>
            <a:off x="7560564" y="3842071"/>
            <a:ext cx="756445" cy="525588"/>
          </a:xfrm>
          <a:custGeom>
            <a:avLst/>
            <a:gdLst>
              <a:gd name="T0" fmla="*/ 288 w 288"/>
              <a:gd name="T1" fmla="*/ 0 h 432"/>
              <a:gd name="T2" fmla="*/ 48 w 288"/>
              <a:gd name="T3" fmla="*/ 144 h 432"/>
              <a:gd name="T4" fmla="*/ 0 w 288"/>
              <a:gd name="T5" fmla="*/ 432 h 432"/>
              <a:gd name="T6" fmla="*/ 0 60000 65536"/>
              <a:gd name="T7" fmla="*/ 0 60000 65536"/>
              <a:gd name="T8" fmla="*/ 0 60000 65536"/>
            </a:gdLst>
            <a:ahLst/>
            <a:cxnLst>
              <a:cxn ang="T6">
                <a:pos x="T0" y="T1"/>
              </a:cxn>
              <a:cxn ang="T7">
                <a:pos x="T2" y="T3"/>
              </a:cxn>
              <a:cxn ang="T8">
                <a:pos x="T4" y="T5"/>
              </a:cxn>
            </a:cxnLst>
            <a:rect l="0" t="0" r="r" b="b"/>
            <a:pathLst>
              <a:path w="288" h="432">
                <a:moveTo>
                  <a:pt x="288" y="0"/>
                </a:moveTo>
                <a:cubicBezTo>
                  <a:pt x="192" y="36"/>
                  <a:pt x="96" y="72"/>
                  <a:pt x="48" y="144"/>
                </a:cubicBezTo>
                <a:cubicBezTo>
                  <a:pt x="0" y="216"/>
                  <a:pt x="8" y="384"/>
                  <a:pt x="0"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1" name="Rectangle 40"/>
          <p:cNvSpPr txBox="1">
            <a:spLocks noChangeArrowheads="1"/>
          </p:cNvSpPr>
          <p:nvPr/>
        </p:nvSpPr>
        <p:spPr bwMode="auto">
          <a:xfrm>
            <a:off x="2135189" y="2709268"/>
            <a:ext cx="7585075" cy="7197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2000" dirty="0">
                <a:latin typeface="微软雅黑" pitchFamily="34" charset="-122"/>
                <a:ea typeface="微软雅黑" pitchFamily="34" charset="-122"/>
                <a:cs typeface="经典粗黑简" pitchFamily="49" charset="-122"/>
              </a:rPr>
              <a:t>从最后一个具有叶子的结点</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编号</a:t>
            </a:r>
            <a:r>
              <a:rPr kumimoji="1" lang="en-US" altLang="zh-CN" sz="2000" dirty="0">
                <a:latin typeface="微软雅黑" pitchFamily="34" charset="-122"/>
                <a:ea typeface="微软雅黑" pitchFamily="34" charset="-122"/>
                <a:cs typeface="经典粗黑简" pitchFamily="49" charset="-122"/>
              </a:rPr>
              <a:t>[n/2])</a:t>
            </a:r>
            <a:r>
              <a:rPr kumimoji="1" lang="zh-CN" altLang="en-US" sz="2000" dirty="0">
                <a:latin typeface="微软雅黑" pitchFamily="34" charset="-122"/>
                <a:ea typeface="微软雅黑" pitchFamily="34" charset="-122"/>
                <a:cs typeface="经典粗黑简" pitchFamily="49" charset="-122"/>
              </a:rPr>
              <a:t>开始建子堆，依次考查结点</a:t>
            </a:r>
            <a:r>
              <a:rPr kumimoji="1" lang="en-US" altLang="zh-CN" sz="2000" dirty="0">
                <a:latin typeface="微软雅黑" pitchFamily="34" charset="-122"/>
                <a:ea typeface="微软雅黑" pitchFamily="34" charset="-122"/>
                <a:cs typeface="经典粗黑简" pitchFamily="49" charset="-122"/>
              </a:rPr>
              <a:t>[n/2]-1,[n/2]-2,...</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等是否为堆，若否则调整为堆。</a:t>
            </a:r>
          </a:p>
        </p:txBody>
      </p:sp>
      <p:sp>
        <p:nvSpPr>
          <p:cNvPr id="2" name="矩形 1">
            <a:extLst>
              <a:ext uri="{FF2B5EF4-FFF2-40B4-BE49-F238E27FC236}">
                <a16:creationId xmlns:a16="http://schemas.microsoft.com/office/drawing/2014/main" id="{350AACDD-6C30-2E00-1E70-4D29DE6DEDF4}"/>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EEABA989-8D89-0F6C-8093-F834954BC01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A068E5C-9F02-D10B-8342-BD207A97B9C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6" name="Rectangle 2">
            <a:extLst>
              <a:ext uri="{FF2B5EF4-FFF2-40B4-BE49-F238E27FC236}">
                <a16:creationId xmlns:a16="http://schemas.microsoft.com/office/drawing/2014/main" id="{03FEA4A7-EE12-C879-D37A-DDF7B41C379B}"/>
              </a:ext>
            </a:extLst>
          </p:cNvPr>
          <p:cNvSpPr txBox="1">
            <a:spLocks noChangeArrowheads="1"/>
          </p:cNvSpPr>
          <p:nvPr/>
        </p:nvSpPr>
        <p:spPr bwMode="auto">
          <a:xfrm>
            <a:off x="2220318" y="2079489"/>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a:ea typeface="黑体" pitchFamily="2" charset="-122"/>
              </a:rPr>
              <a:t>①</a:t>
            </a:r>
            <a:r>
              <a:rPr lang="zh-CN" altLang="en-US" sz="2400">
                <a:ea typeface="黑体" pitchFamily="2" charset="-122"/>
              </a:rPr>
              <a:t>、初始建堆</a:t>
            </a:r>
            <a:endParaRPr lang="zh-CN" altLang="en-US" sz="2400" dirty="0">
              <a:ea typeface="黑体" pitchFamily="2" charset="-122"/>
            </a:endParaRPr>
          </a:p>
        </p:txBody>
      </p:sp>
    </p:spTree>
    <p:extLst>
      <p:ext uri="{BB962C8B-B14F-4D97-AF65-F5344CB8AC3E}">
        <p14:creationId xmlns:p14="http://schemas.microsoft.com/office/powerpoint/2010/main" val="39987135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20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2002" grpId="0" animBg="1"/>
      <p:bldP spid="118" grpId="0" animBg="1"/>
      <p:bldP spid="14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60" name="组合 59"/>
          <p:cNvGrpSpPr/>
          <p:nvPr/>
        </p:nvGrpSpPr>
        <p:grpSpPr>
          <a:xfrm>
            <a:off x="2105941" y="3609502"/>
            <a:ext cx="4003675" cy="2730356"/>
            <a:chOff x="415925" y="3506956"/>
            <a:chExt cx="4003675" cy="2730356"/>
          </a:xfrm>
        </p:grpSpPr>
        <p:sp>
          <p:nvSpPr>
            <p:cNvPr id="61"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sp>
          <p:nvSpPr>
            <p:cNvPr id="62" name="Oval 4"/>
            <p:cNvSpPr>
              <a:spLocks noChangeArrowheads="1"/>
            </p:cNvSpPr>
            <p:nvPr/>
          </p:nvSpPr>
          <p:spPr bwMode="auto">
            <a:xfrm>
              <a:off x="1354138" y="4251494"/>
              <a:ext cx="515937" cy="466725"/>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47</a:t>
              </a:r>
            </a:p>
          </p:txBody>
        </p:sp>
        <p:sp>
          <p:nvSpPr>
            <p:cNvPr id="63" name="Oval 5"/>
            <p:cNvSpPr>
              <a:spLocks noChangeArrowheads="1"/>
            </p:cNvSpPr>
            <p:nvPr/>
          </p:nvSpPr>
          <p:spPr bwMode="auto">
            <a:xfrm>
              <a:off x="736600" y="5013494"/>
              <a:ext cx="515938" cy="465137"/>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64"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65" name="Oval 7"/>
            <p:cNvSpPr>
              <a:spLocks noChangeArrowheads="1"/>
            </p:cNvSpPr>
            <p:nvPr/>
          </p:nvSpPr>
          <p:spPr bwMode="auto">
            <a:xfrm>
              <a:off x="3344863"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24</a:t>
              </a:r>
            </a:p>
          </p:txBody>
        </p:sp>
        <p:cxnSp>
          <p:nvCxnSpPr>
            <p:cNvPr id="66" name="AutoShape 8"/>
            <p:cNvCxnSpPr>
              <a:cxnSpLocks noChangeShapeType="1"/>
              <a:stCxn id="61" idx="3"/>
              <a:endCxn id="62"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AutoShape 9"/>
            <p:cNvCxnSpPr>
              <a:cxnSpLocks noChangeShapeType="1"/>
              <a:stCxn id="62" idx="3"/>
              <a:endCxn id="63"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10"/>
            <p:cNvCxnSpPr>
              <a:cxnSpLocks noChangeShapeType="1"/>
              <a:stCxn id="61" idx="5"/>
              <a:endCxn id="65"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11"/>
            <p:cNvCxnSpPr>
              <a:cxnSpLocks noChangeShapeType="1"/>
              <a:stCxn id="62" idx="5"/>
              <a:endCxn id="64"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71" name="AutoShape 13"/>
            <p:cNvCxnSpPr>
              <a:cxnSpLocks noChangeShapeType="1"/>
              <a:endCxn id="70"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73" name="AutoShape 15"/>
            <p:cNvCxnSpPr>
              <a:cxnSpLocks noChangeShapeType="1"/>
              <a:endCxn id="72"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75"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76" name="组合 75"/>
          <p:cNvGrpSpPr/>
          <p:nvPr/>
        </p:nvGrpSpPr>
        <p:grpSpPr>
          <a:xfrm>
            <a:off x="1851173" y="3549906"/>
            <a:ext cx="3768991" cy="2687407"/>
            <a:chOff x="81086" y="3479063"/>
            <a:chExt cx="3768991" cy="2687407"/>
          </a:xfrm>
        </p:grpSpPr>
        <p:sp>
          <p:nvSpPr>
            <p:cNvPr id="77" name="TextBox 76"/>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78" name="TextBox 77"/>
            <p:cNvSpPr txBox="1"/>
            <p:nvPr/>
          </p:nvSpPr>
          <p:spPr>
            <a:xfrm>
              <a:off x="995668" y="4267984"/>
              <a:ext cx="319087"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79" name="TextBox 78"/>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80" name="TextBox 79"/>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81" name="TextBox 80"/>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82" name="TextBox 81"/>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83" name="TextBox 82"/>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84" name="TextBox 83"/>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86" name="Freeform 3"/>
          <p:cNvSpPr>
            <a:spLocks/>
          </p:cNvSpPr>
          <p:nvPr/>
        </p:nvSpPr>
        <p:spPr bwMode="auto">
          <a:xfrm rot="21218850">
            <a:off x="3573331" y="4445229"/>
            <a:ext cx="467577" cy="728508"/>
          </a:xfrm>
          <a:custGeom>
            <a:avLst/>
            <a:gdLst>
              <a:gd name="T0" fmla="*/ 0 w 344"/>
              <a:gd name="T1" fmla="*/ 0 h 432"/>
              <a:gd name="T2" fmla="*/ 457200 w 344"/>
              <a:gd name="T3" fmla="*/ 254000 h 432"/>
              <a:gd name="T4" fmla="*/ 533400 w 344"/>
              <a:gd name="T5" fmla="*/ 762000 h 432"/>
              <a:gd name="T6" fmla="*/ 0 60000 65536"/>
              <a:gd name="T7" fmla="*/ 0 60000 65536"/>
              <a:gd name="T8" fmla="*/ 0 60000 65536"/>
            </a:gdLst>
            <a:ahLst/>
            <a:cxnLst>
              <a:cxn ang="T6">
                <a:pos x="T0" y="T1"/>
              </a:cxn>
              <a:cxn ang="T7">
                <a:pos x="T2" y="T3"/>
              </a:cxn>
              <a:cxn ang="T8">
                <a:pos x="T4" y="T5"/>
              </a:cxn>
            </a:cxnLst>
            <a:rect l="0" t="0" r="r" b="b"/>
            <a:pathLst>
              <a:path w="344" h="432">
                <a:moveTo>
                  <a:pt x="0" y="0"/>
                </a:moveTo>
                <a:cubicBezTo>
                  <a:pt x="116" y="36"/>
                  <a:pt x="232" y="72"/>
                  <a:pt x="288" y="144"/>
                </a:cubicBezTo>
                <a:cubicBezTo>
                  <a:pt x="344" y="216"/>
                  <a:pt x="328" y="384"/>
                  <a:pt x="336"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87" name="组合 86"/>
          <p:cNvGrpSpPr/>
          <p:nvPr/>
        </p:nvGrpSpPr>
        <p:grpSpPr>
          <a:xfrm>
            <a:off x="6431292"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6176524"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85" name="Rectangle 40"/>
          <p:cNvSpPr txBox="1">
            <a:spLocks noChangeArrowheads="1"/>
          </p:cNvSpPr>
          <p:nvPr/>
        </p:nvSpPr>
        <p:spPr bwMode="auto">
          <a:xfrm>
            <a:off x="2135189" y="2709268"/>
            <a:ext cx="7585075" cy="7197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2000" dirty="0">
                <a:latin typeface="微软雅黑" pitchFamily="34" charset="-122"/>
                <a:ea typeface="微软雅黑" pitchFamily="34" charset="-122"/>
                <a:cs typeface="经典粗黑简" pitchFamily="49" charset="-122"/>
              </a:rPr>
              <a:t>从最后一个具有叶子的结点</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编号</a:t>
            </a:r>
            <a:r>
              <a:rPr kumimoji="1" lang="en-US" altLang="zh-CN" sz="2000" dirty="0">
                <a:latin typeface="微软雅黑" pitchFamily="34" charset="-122"/>
                <a:ea typeface="微软雅黑" pitchFamily="34" charset="-122"/>
                <a:cs typeface="经典粗黑简" pitchFamily="49" charset="-122"/>
              </a:rPr>
              <a:t>[n/2])</a:t>
            </a:r>
            <a:r>
              <a:rPr kumimoji="1" lang="zh-CN" altLang="en-US" sz="2000" dirty="0">
                <a:latin typeface="微软雅黑" pitchFamily="34" charset="-122"/>
                <a:ea typeface="微软雅黑" pitchFamily="34" charset="-122"/>
                <a:cs typeface="经典粗黑简" pitchFamily="49" charset="-122"/>
              </a:rPr>
              <a:t>开始建子堆，依次考查结点</a:t>
            </a:r>
            <a:r>
              <a:rPr kumimoji="1" lang="en-US" altLang="zh-CN" sz="2000" dirty="0">
                <a:latin typeface="微软雅黑" pitchFamily="34" charset="-122"/>
                <a:ea typeface="微软雅黑" pitchFamily="34" charset="-122"/>
                <a:cs typeface="经典粗黑简" pitchFamily="49" charset="-122"/>
              </a:rPr>
              <a:t>[n/2]-1,[n/2]-2,...</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等是否为堆，若否则调整为堆。</a:t>
            </a:r>
          </a:p>
        </p:txBody>
      </p:sp>
      <p:sp>
        <p:nvSpPr>
          <p:cNvPr id="2" name="矩形 1">
            <a:extLst>
              <a:ext uri="{FF2B5EF4-FFF2-40B4-BE49-F238E27FC236}">
                <a16:creationId xmlns:a16="http://schemas.microsoft.com/office/drawing/2014/main" id="{92380472-6D22-C072-8BF7-5E8887F1D2BF}"/>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887B83B2-C375-A2E3-4B62-8CDBC4AC131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5EE53F4-AC74-02C8-8498-939BD32A5D58}"/>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6" name="Rectangle 2">
            <a:extLst>
              <a:ext uri="{FF2B5EF4-FFF2-40B4-BE49-F238E27FC236}">
                <a16:creationId xmlns:a16="http://schemas.microsoft.com/office/drawing/2014/main" id="{B39B764D-5DAE-063C-C8C7-9D860139BA1D}"/>
              </a:ext>
            </a:extLst>
          </p:cNvPr>
          <p:cNvSpPr txBox="1">
            <a:spLocks noChangeArrowheads="1"/>
          </p:cNvSpPr>
          <p:nvPr/>
        </p:nvSpPr>
        <p:spPr bwMode="auto">
          <a:xfrm>
            <a:off x="2220318" y="2079489"/>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a:ea typeface="黑体" pitchFamily="2" charset="-122"/>
              </a:rPr>
              <a:t>①</a:t>
            </a:r>
            <a:r>
              <a:rPr lang="zh-CN" altLang="en-US" sz="2400">
                <a:ea typeface="黑体" pitchFamily="2" charset="-122"/>
              </a:rPr>
              <a:t>、初始建堆</a:t>
            </a:r>
            <a:endParaRPr lang="zh-CN" altLang="en-US" sz="2400" dirty="0">
              <a:ea typeface="黑体" pitchFamily="2" charset="-122"/>
            </a:endParaRPr>
          </a:p>
        </p:txBody>
      </p:sp>
    </p:spTree>
    <p:extLst>
      <p:ext uri="{BB962C8B-B14F-4D97-AF65-F5344CB8AC3E}">
        <p14:creationId xmlns:p14="http://schemas.microsoft.com/office/powerpoint/2010/main" val="17727420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20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2002" grpId="0" animBg="1"/>
      <p:bldP spid="8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60" name="组合 59"/>
          <p:cNvGrpSpPr/>
          <p:nvPr/>
        </p:nvGrpSpPr>
        <p:grpSpPr>
          <a:xfrm>
            <a:off x="2105941" y="3609502"/>
            <a:ext cx="4003675" cy="2730356"/>
            <a:chOff x="415925" y="3506956"/>
            <a:chExt cx="4003675" cy="2730356"/>
          </a:xfrm>
        </p:grpSpPr>
        <p:sp>
          <p:nvSpPr>
            <p:cNvPr id="61"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sp>
          <p:nvSpPr>
            <p:cNvPr id="62" name="Oval 4"/>
            <p:cNvSpPr>
              <a:spLocks noChangeArrowheads="1"/>
            </p:cNvSpPr>
            <p:nvPr/>
          </p:nvSpPr>
          <p:spPr bwMode="auto">
            <a:xfrm>
              <a:off x="1354138" y="4251494"/>
              <a:ext cx="515937" cy="466725"/>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47</a:t>
              </a:r>
            </a:p>
          </p:txBody>
        </p:sp>
        <p:sp>
          <p:nvSpPr>
            <p:cNvPr id="63" name="Oval 5"/>
            <p:cNvSpPr>
              <a:spLocks noChangeArrowheads="1"/>
            </p:cNvSpPr>
            <p:nvPr/>
          </p:nvSpPr>
          <p:spPr bwMode="auto">
            <a:xfrm>
              <a:off x="736600" y="5013494"/>
              <a:ext cx="515938" cy="465137"/>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64"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36</a:t>
              </a:r>
            </a:p>
          </p:txBody>
        </p:sp>
        <p:sp>
          <p:nvSpPr>
            <p:cNvPr id="65" name="Oval 7"/>
            <p:cNvSpPr>
              <a:spLocks noChangeArrowheads="1"/>
            </p:cNvSpPr>
            <p:nvPr/>
          </p:nvSpPr>
          <p:spPr bwMode="auto">
            <a:xfrm>
              <a:off x="3344863"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24</a:t>
              </a:r>
            </a:p>
          </p:txBody>
        </p:sp>
        <p:cxnSp>
          <p:nvCxnSpPr>
            <p:cNvPr id="66" name="AutoShape 8"/>
            <p:cNvCxnSpPr>
              <a:cxnSpLocks noChangeShapeType="1"/>
              <a:stCxn id="61" idx="3"/>
              <a:endCxn id="62"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AutoShape 9"/>
            <p:cNvCxnSpPr>
              <a:cxnSpLocks noChangeShapeType="1"/>
              <a:stCxn id="62" idx="3"/>
              <a:endCxn id="63"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10"/>
            <p:cNvCxnSpPr>
              <a:cxnSpLocks noChangeShapeType="1"/>
              <a:stCxn id="61" idx="5"/>
              <a:endCxn id="65"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11"/>
            <p:cNvCxnSpPr>
              <a:cxnSpLocks noChangeShapeType="1"/>
              <a:stCxn id="62" idx="5"/>
              <a:endCxn id="64" idx="1"/>
            </p:cNvCxnSpPr>
            <p:nvPr/>
          </p:nvCxnSpPr>
          <p:spPr bwMode="auto">
            <a:xfrm>
              <a:off x="1793875" y="4649956"/>
              <a:ext cx="254000"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71" name="AutoShape 13"/>
            <p:cNvCxnSpPr>
              <a:cxnSpLocks noChangeShapeType="1"/>
              <a:endCxn id="70"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73" name="AutoShape 15"/>
            <p:cNvCxnSpPr>
              <a:cxnSpLocks noChangeShapeType="1"/>
              <a:endCxn id="72"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75"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76" name="组合 75"/>
          <p:cNvGrpSpPr/>
          <p:nvPr/>
        </p:nvGrpSpPr>
        <p:grpSpPr>
          <a:xfrm>
            <a:off x="1851173" y="3549906"/>
            <a:ext cx="3768991" cy="2687407"/>
            <a:chOff x="81086" y="3479063"/>
            <a:chExt cx="3768991" cy="2687407"/>
          </a:xfrm>
        </p:grpSpPr>
        <p:sp>
          <p:nvSpPr>
            <p:cNvPr id="77" name="TextBox 76"/>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78" name="TextBox 77"/>
            <p:cNvSpPr txBox="1"/>
            <p:nvPr/>
          </p:nvSpPr>
          <p:spPr>
            <a:xfrm>
              <a:off x="995668" y="4267984"/>
              <a:ext cx="319087"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79" name="TextBox 78"/>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80" name="TextBox 79"/>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81" name="TextBox 80"/>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82" name="TextBox 81"/>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83" name="TextBox 82"/>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84" name="TextBox 83"/>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86" name="Freeform 3"/>
          <p:cNvSpPr>
            <a:spLocks/>
          </p:cNvSpPr>
          <p:nvPr/>
        </p:nvSpPr>
        <p:spPr bwMode="auto">
          <a:xfrm rot="21218850">
            <a:off x="3573331" y="4445229"/>
            <a:ext cx="467577" cy="728508"/>
          </a:xfrm>
          <a:custGeom>
            <a:avLst/>
            <a:gdLst>
              <a:gd name="T0" fmla="*/ 0 w 344"/>
              <a:gd name="T1" fmla="*/ 0 h 432"/>
              <a:gd name="T2" fmla="*/ 457200 w 344"/>
              <a:gd name="T3" fmla="*/ 254000 h 432"/>
              <a:gd name="T4" fmla="*/ 533400 w 344"/>
              <a:gd name="T5" fmla="*/ 762000 h 432"/>
              <a:gd name="T6" fmla="*/ 0 60000 65536"/>
              <a:gd name="T7" fmla="*/ 0 60000 65536"/>
              <a:gd name="T8" fmla="*/ 0 60000 65536"/>
            </a:gdLst>
            <a:ahLst/>
            <a:cxnLst>
              <a:cxn ang="T6">
                <a:pos x="T0" y="T1"/>
              </a:cxn>
              <a:cxn ang="T7">
                <a:pos x="T2" y="T3"/>
              </a:cxn>
              <a:cxn ang="T8">
                <a:pos x="T4" y="T5"/>
              </a:cxn>
            </a:cxnLst>
            <a:rect l="0" t="0" r="r" b="b"/>
            <a:pathLst>
              <a:path w="344" h="432">
                <a:moveTo>
                  <a:pt x="0" y="0"/>
                </a:moveTo>
                <a:cubicBezTo>
                  <a:pt x="116" y="36"/>
                  <a:pt x="232" y="72"/>
                  <a:pt x="288" y="144"/>
                </a:cubicBezTo>
                <a:cubicBezTo>
                  <a:pt x="344" y="216"/>
                  <a:pt x="328" y="384"/>
                  <a:pt x="336"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87" name="组合 86"/>
          <p:cNvGrpSpPr/>
          <p:nvPr/>
        </p:nvGrpSpPr>
        <p:grpSpPr>
          <a:xfrm>
            <a:off x="6431292"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6176524"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92" name="Rectangle 40"/>
          <p:cNvSpPr txBox="1">
            <a:spLocks noChangeArrowheads="1"/>
          </p:cNvSpPr>
          <p:nvPr/>
        </p:nvSpPr>
        <p:spPr bwMode="auto">
          <a:xfrm>
            <a:off x="2135189" y="2709268"/>
            <a:ext cx="7585075" cy="7197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2000" dirty="0">
                <a:latin typeface="微软雅黑" pitchFamily="34" charset="-122"/>
                <a:ea typeface="微软雅黑" pitchFamily="34" charset="-122"/>
                <a:cs typeface="经典粗黑简" pitchFamily="49" charset="-122"/>
              </a:rPr>
              <a:t>从最后一个具有叶子的结点</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编号</a:t>
            </a:r>
            <a:r>
              <a:rPr kumimoji="1" lang="en-US" altLang="zh-CN" sz="2000" dirty="0">
                <a:latin typeface="微软雅黑" pitchFamily="34" charset="-122"/>
                <a:ea typeface="微软雅黑" pitchFamily="34" charset="-122"/>
                <a:cs typeface="经典粗黑简" pitchFamily="49" charset="-122"/>
              </a:rPr>
              <a:t>[n/2])</a:t>
            </a:r>
            <a:r>
              <a:rPr kumimoji="1" lang="zh-CN" altLang="en-US" sz="2000" dirty="0">
                <a:latin typeface="微软雅黑" pitchFamily="34" charset="-122"/>
                <a:ea typeface="微软雅黑" pitchFamily="34" charset="-122"/>
                <a:cs typeface="经典粗黑简" pitchFamily="49" charset="-122"/>
              </a:rPr>
              <a:t>开始建子堆，依次考查结点</a:t>
            </a:r>
            <a:r>
              <a:rPr kumimoji="1" lang="en-US" altLang="zh-CN" sz="2000" dirty="0">
                <a:latin typeface="微软雅黑" pitchFamily="34" charset="-122"/>
                <a:ea typeface="微软雅黑" pitchFamily="34" charset="-122"/>
                <a:cs typeface="经典粗黑简" pitchFamily="49" charset="-122"/>
              </a:rPr>
              <a:t>[n/2]-1,[n/2]-2,...</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等是否为堆，若否则调整为堆。</a:t>
            </a:r>
          </a:p>
        </p:txBody>
      </p:sp>
      <p:sp>
        <p:nvSpPr>
          <p:cNvPr id="93" name="Rectangle 2"/>
          <p:cNvSpPr>
            <a:spLocks noGrp="1" noChangeArrowheads="1"/>
          </p:cNvSpPr>
          <p:nvPr>
            <p:ph type="title"/>
          </p:nvPr>
        </p:nvSpPr>
        <p:spPr bwMode="auto">
          <a:xfrm>
            <a:off x="2220318" y="2079489"/>
            <a:ext cx="2305199" cy="36004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l"/>
            <a:r>
              <a:rPr lang="en-US" altLang="zh-CN" sz="2400" dirty="0">
                <a:ea typeface="黑体" pitchFamily="2" charset="-122"/>
              </a:rPr>
              <a:t>①</a:t>
            </a:r>
            <a:r>
              <a:rPr lang="zh-CN" altLang="en-US" sz="2400" dirty="0">
                <a:ea typeface="黑体" pitchFamily="2" charset="-122"/>
              </a:rPr>
              <a:t>、初始建堆</a:t>
            </a:r>
          </a:p>
        </p:txBody>
      </p:sp>
      <p:sp>
        <p:nvSpPr>
          <p:cNvPr id="2" name="矩形 1">
            <a:extLst>
              <a:ext uri="{FF2B5EF4-FFF2-40B4-BE49-F238E27FC236}">
                <a16:creationId xmlns:a16="http://schemas.microsoft.com/office/drawing/2014/main" id="{CBAF9E7D-52E6-4A2D-0D70-506E8C8FD475}"/>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BF32A193-C051-42E5-4D9F-E5A8B4AF36F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A7A42B89-664E-A01A-1D7A-A6F1BD4993D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30853712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9"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120" name="Arc 38"/>
          <p:cNvSpPr>
            <a:spLocks/>
          </p:cNvSpPr>
          <p:nvPr/>
        </p:nvSpPr>
        <p:spPr bwMode="auto">
          <a:xfrm flipV="1">
            <a:off x="7125816" y="422108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21" name="Arc 39"/>
          <p:cNvSpPr>
            <a:spLocks/>
          </p:cNvSpPr>
          <p:nvPr/>
        </p:nvSpPr>
        <p:spPr bwMode="auto">
          <a:xfrm flipV="1">
            <a:off x="9142040" y="422108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22" name="Text Box 41"/>
          <p:cNvSpPr txBox="1">
            <a:spLocks noChangeArrowheads="1"/>
          </p:cNvSpPr>
          <p:nvPr/>
        </p:nvSpPr>
        <p:spPr bwMode="auto">
          <a:xfrm>
            <a:off x="8273112" y="4312434"/>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比较</a:t>
            </a:r>
          </a:p>
        </p:txBody>
      </p:sp>
      <p:sp>
        <p:nvSpPr>
          <p:cNvPr id="123" name="Arc 42"/>
          <p:cNvSpPr>
            <a:spLocks/>
          </p:cNvSpPr>
          <p:nvPr/>
        </p:nvSpPr>
        <p:spPr bwMode="auto">
          <a:xfrm flipV="1">
            <a:off x="8205936" y="350100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24" name="Text Box 43"/>
          <p:cNvSpPr txBox="1">
            <a:spLocks noChangeArrowheads="1"/>
          </p:cNvSpPr>
          <p:nvPr/>
        </p:nvSpPr>
        <p:spPr bwMode="auto">
          <a:xfrm>
            <a:off x="9302750" y="3689050"/>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比较</a:t>
            </a:r>
            <a:r>
              <a:rPr kumimoji="1" lang="en-US" altLang="zh-CN" sz="1600" dirty="0">
                <a:latin typeface="Tahoma" pitchFamily="34" charset="0"/>
              </a:rPr>
              <a:t>-</a:t>
            </a:r>
          </a:p>
        </p:txBody>
      </p:sp>
      <p:sp>
        <p:nvSpPr>
          <p:cNvPr id="125" name="Freeform 44"/>
          <p:cNvSpPr>
            <a:spLocks/>
          </p:cNvSpPr>
          <p:nvPr/>
        </p:nvSpPr>
        <p:spPr bwMode="auto">
          <a:xfrm>
            <a:off x="8915400" y="3842072"/>
            <a:ext cx="580719" cy="496755"/>
          </a:xfrm>
          <a:custGeom>
            <a:avLst/>
            <a:gdLst>
              <a:gd name="T0" fmla="*/ 0 w 432"/>
              <a:gd name="T1" fmla="*/ 65314 h 336"/>
              <a:gd name="T2" fmla="*/ 355600 w 432"/>
              <a:gd name="T3" fmla="*/ 65314 h 336"/>
              <a:gd name="T4" fmla="*/ 533400 w 432"/>
              <a:gd name="T5" fmla="*/ 457200 h 336"/>
              <a:gd name="T6" fmla="*/ 0 60000 65536"/>
              <a:gd name="T7" fmla="*/ 0 60000 65536"/>
              <a:gd name="T8" fmla="*/ 0 60000 65536"/>
            </a:gdLst>
            <a:ahLst/>
            <a:cxnLst>
              <a:cxn ang="T6">
                <a:pos x="T0" y="T1"/>
              </a:cxn>
              <a:cxn ang="T7">
                <a:pos x="T2" y="T3"/>
              </a:cxn>
              <a:cxn ang="T8">
                <a:pos x="T4" y="T5"/>
              </a:cxn>
            </a:cxnLst>
            <a:rect l="0" t="0" r="r" b="b"/>
            <a:pathLst>
              <a:path w="432" h="336">
                <a:moveTo>
                  <a:pt x="0" y="48"/>
                </a:moveTo>
                <a:cubicBezTo>
                  <a:pt x="108" y="24"/>
                  <a:pt x="216" y="0"/>
                  <a:pt x="288" y="48"/>
                </a:cubicBezTo>
                <a:cubicBezTo>
                  <a:pt x="360" y="96"/>
                  <a:pt x="408" y="288"/>
                  <a:pt x="432" y="336"/>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6" name="Text Box 45"/>
          <p:cNvSpPr txBox="1">
            <a:spLocks noChangeArrowheads="1"/>
          </p:cNvSpPr>
          <p:nvPr/>
        </p:nvSpPr>
        <p:spPr bwMode="auto">
          <a:xfrm>
            <a:off x="9900057" y="3675704"/>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a:t>
            </a:r>
          </a:p>
        </p:txBody>
      </p:sp>
      <p:sp>
        <p:nvSpPr>
          <p:cNvPr id="127" name="Freeform 46"/>
          <p:cNvSpPr>
            <a:spLocks/>
          </p:cNvSpPr>
          <p:nvPr/>
        </p:nvSpPr>
        <p:spPr bwMode="auto">
          <a:xfrm>
            <a:off x="8680450" y="3609502"/>
            <a:ext cx="1231900" cy="758157"/>
          </a:xfrm>
          <a:custGeom>
            <a:avLst/>
            <a:gdLst>
              <a:gd name="T0" fmla="*/ 0 w 776"/>
              <a:gd name="T1" fmla="*/ 38100 h 552"/>
              <a:gd name="T2" fmla="*/ 914400 w 776"/>
              <a:gd name="T3" fmla="*/ 38100 h 552"/>
              <a:gd name="T4" fmla="*/ 1219200 w 776"/>
              <a:gd name="T5" fmla="*/ 266700 h 552"/>
              <a:gd name="T6" fmla="*/ 990600 w 776"/>
              <a:gd name="T7" fmla="*/ 876300 h 5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552">
                <a:moveTo>
                  <a:pt x="0" y="24"/>
                </a:moveTo>
                <a:cubicBezTo>
                  <a:pt x="224" y="12"/>
                  <a:pt x="448" y="0"/>
                  <a:pt x="576" y="24"/>
                </a:cubicBezTo>
                <a:cubicBezTo>
                  <a:pt x="704" y="48"/>
                  <a:pt x="760" y="80"/>
                  <a:pt x="768" y="168"/>
                </a:cubicBezTo>
                <a:cubicBezTo>
                  <a:pt x="776" y="256"/>
                  <a:pt x="648" y="488"/>
                  <a:pt x="624" y="55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8" name="Line 40"/>
          <p:cNvSpPr>
            <a:spLocks noChangeShapeType="1"/>
          </p:cNvSpPr>
          <p:nvPr/>
        </p:nvSpPr>
        <p:spPr bwMode="auto">
          <a:xfrm>
            <a:off x="7880044" y="4668034"/>
            <a:ext cx="1416356"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2" name="矩形 1">
            <a:extLst>
              <a:ext uri="{FF2B5EF4-FFF2-40B4-BE49-F238E27FC236}">
                <a16:creationId xmlns:a16="http://schemas.microsoft.com/office/drawing/2014/main" id="{D6BB8216-7848-4118-3465-509335654C8C}"/>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8B084C59-E55A-0A53-4D84-F35C33BB878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AB7305E-6630-D492-D1E4-7E5399B8713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1D1E5D38-007F-BB81-EA3D-2DE049327F9F}"/>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13612061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wipe(left)">
                                      <p:cBhvr>
                                        <p:cTn id="17" dur="500"/>
                                        <p:tgtEl>
                                          <p:spTgt spid="11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barn(inVertical)">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barn(inVertical)">
                                      <p:cBhvr>
                                        <p:cTn id="33" dur="500"/>
                                        <p:tgtEl>
                                          <p:spTgt spid="121"/>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23"/>
                                        </p:tgtEl>
                                        <p:attrNameLst>
                                          <p:attrName>style.visibility</p:attrName>
                                        </p:attrNameLst>
                                      </p:cBhvr>
                                      <p:to>
                                        <p:strVal val="visible"/>
                                      </p:to>
                                    </p:set>
                                    <p:animEffect transition="in" filter="barn(inVertical)">
                                      <p:cBhvr>
                                        <p:cTn id="38" dur="500"/>
                                        <p:tgtEl>
                                          <p:spTgt spid="123"/>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1" fill="hold" grpId="0" nodeType="clickEffect">
                                  <p:stCondLst>
                                    <p:cond delay="0"/>
                                  </p:stCondLst>
                                  <p:childTnLst>
                                    <p:set>
                                      <p:cBhvr>
                                        <p:cTn id="42" dur="1" fill="hold">
                                          <p:stCondLst>
                                            <p:cond delay="0"/>
                                          </p:stCondLst>
                                        </p:cTn>
                                        <p:tgtEl>
                                          <p:spTgt spid="125"/>
                                        </p:tgtEl>
                                        <p:attrNameLst>
                                          <p:attrName>style.visibility</p:attrName>
                                        </p:attrNameLst>
                                      </p:cBhvr>
                                      <p:to>
                                        <p:strVal val="visible"/>
                                      </p:to>
                                    </p:set>
                                    <p:anim calcmode="lin" valueType="num">
                                      <p:cBhvr>
                                        <p:cTn id="43" dur="500" fill="hold"/>
                                        <p:tgtEl>
                                          <p:spTgt spid="125"/>
                                        </p:tgtEl>
                                        <p:attrNameLst>
                                          <p:attrName>ppt_x</p:attrName>
                                        </p:attrNameLst>
                                      </p:cBhvr>
                                      <p:tavLst>
                                        <p:tav tm="0">
                                          <p:val>
                                            <p:strVal val="#ppt_x"/>
                                          </p:val>
                                        </p:tav>
                                        <p:tav tm="100000">
                                          <p:val>
                                            <p:strVal val="#ppt_x"/>
                                          </p:val>
                                        </p:tav>
                                      </p:tavLst>
                                    </p:anim>
                                    <p:anim calcmode="lin" valueType="num">
                                      <p:cBhvr>
                                        <p:cTn id="44" dur="500" fill="hold"/>
                                        <p:tgtEl>
                                          <p:spTgt spid="125"/>
                                        </p:tgtEl>
                                        <p:attrNameLst>
                                          <p:attrName>ppt_y</p:attrName>
                                        </p:attrNameLst>
                                      </p:cBhvr>
                                      <p:tavLst>
                                        <p:tav tm="0">
                                          <p:val>
                                            <p:strVal val="#ppt_y-#ppt_h/2"/>
                                          </p:val>
                                        </p:tav>
                                        <p:tav tm="100000">
                                          <p:val>
                                            <p:strVal val="#ppt_y"/>
                                          </p:val>
                                        </p:tav>
                                      </p:tavLst>
                                    </p:anim>
                                    <p:anim calcmode="lin" valueType="num">
                                      <p:cBhvr>
                                        <p:cTn id="45" dur="500" fill="hold"/>
                                        <p:tgtEl>
                                          <p:spTgt spid="125"/>
                                        </p:tgtEl>
                                        <p:attrNameLst>
                                          <p:attrName>ppt_w</p:attrName>
                                        </p:attrNameLst>
                                      </p:cBhvr>
                                      <p:tavLst>
                                        <p:tav tm="0">
                                          <p:val>
                                            <p:strVal val="#ppt_w"/>
                                          </p:val>
                                        </p:tav>
                                        <p:tav tm="100000">
                                          <p:val>
                                            <p:strVal val="#ppt_w"/>
                                          </p:val>
                                        </p:tav>
                                      </p:tavLst>
                                    </p:anim>
                                    <p:anim calcmode="lin" valueType="num">
                                      <p:cBhvr>
                                        <p:cTn id="46" dur="500" fill="hold"/>
                                        <p:tgtEl>
                                          <p:spTgt spid="125"/>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grpId="0" nodeType="clickEffect">
                                  <p:stCondLst>
                                    <p:cond delay="0"/>
                                  </p:stCondLst>
                                  <p:childTnLst>
                                    <p:set>
                                      <p:cBhvr>
                                        <p:cTn id="50" dur="1" fill="hold">
                                          <p:stCondLst>
                                            <p:cond delay="0"/>
                                          </p:stCondLst>
                                        </p:cTn>
                                        <p:tgtEl>
                                          <p:spTgt spid="124"/>
                                        </p:tgtEl>
                                        <p:attrNameLst>
                                          <p:attrName>style.visibility</p:attrName>
                                        </p:attrNameLst>
                                      </p:cBhvr>
                                      <p:to>
                                        <p:strVal val="visible"/>
                                      </p:to>
                                    </p:set>
                                    <p:animEffect transition="in" filter="barn(outVertical)">
                                      <p:cBhvr>
                                        <p:cTn id="51" dur="500"/>
                                        <p:tgtEl>
                                          <p:spTgt spid="124"/>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37" fill="hold" grpId="0" nodeType="clickEffect">
                                  <p:stCondLst>
                                    <p:cond delay="0"/>
                                  </p:stCondLst>
                                  <p:childTnLst>
                                    <p:set>
                                      <p:cBhvr>
                                        <p:cTn id="55" dur="1" fill="hold">
                                          <p:stCondLst>
                                            <p:cond delay="0"/>
                                          </p:stCondLst>
                                        </p:cTn>
                                        <p:tgtEl>
                                          <p:spTgt spid="126"/>
                                        </p:tgtEl>
                                        <p:attrNameLst>
                                          <p:attrName>style.visibility</p:attrName>
                                        </p:attrNameLst>
                                      </p:cBhvr>
                                      <p:to>
                                        <p:strVal val="visible"/>
                                      </p:to>
                                    </p:set>
                                    <p:animEffect transition="in" filter="barn(outVertical)">
                                      <p:cBhvr>
                                        <p:cTn id="56" dur="500"/>
                                        <p:tgtEl>
                                          <p:spTgt spid="126"/>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42" fill="hold" grpId="0" nodeType="clickEffect">
                                  <p:stCondLst>
                                    <p:cond delay="0"/>
                                  </p:stCondLst>
                                  <p:childTnLst>
                                    <p:set>
                                      <p:cBhvr>
                                        <p:cTn id="60" dur="1" fill="hold">
                                          <p:stCondLst>
                                            <p:cond delay="0"/>
                                          </p:stCondLst>
                                        </p:cTn>
                                        <p:tgtEl>
                                          <p:spTgt spid="127"/>
                                        </p:tgtEl>
                                        <p:attrNameLst>
                                          <p:attrName>style.visibility</p:attrName>
                                        </p:attrNameLst>
                                      </p:cBhvr>
                                      <p:to>
                                        <p:strVal val="visible"/>
                                      </p:to>
                                    </p:set>
                                    <p:animEffect transition="in" filter="barn(outHorizontal)">
                                      <p:cBhvr>
                                        <p:cTn id="61"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119" grpId="0" autoUpdateAnimBg="0"/>
      <p:bldP spid="120" grpId="0" animBg="1"/>
      <p:bldP spid="121" grpId="0" animBg="1"/>
      <p:bldP spid="122" grpId="0"/>
      <p:bldP spid="123" grpId="0" animBg="1"/>
      <p:bldP spid="124" grpId="0" autoUpdateAnimBg="0"/>
      <p:bldP spid="125" grpId="0" animBg="1"/>
      <p:bldP spid="126" grpId="0" autoUpdateAnimBg="0"/>
      <p:bldP spid="127" grpId="0" animBg="1"/>
      <p:bldP spid="12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120" name="Arc 38"/>
          <p:cNvSpPr>
            <a:spLocks/>
          </p:cNvSpPr>
          <p:nvPr/>
        </p:nvSpPr>
        <p:spPr bwMode="auto">
          <a:xfrm flipV="1">
            <a:off x="7125816" y="422108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21" name="Arc 39"/>
          <p:cNvSpPr>
            <a:spLocks/>
          </p:cNvSpPr>
          <p:nvPr/>
        </p:nvSpPr>
        <p:spPr bwMode="auto">
          <a:xfrm flipV="1">
            <a:off x="9142040" y="422108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22" name="Text Box 41"/>
          <p:cNvSpPr txBox="1">
            <a:spLocks noChangeArrowheads="1"/>
          </p:cNvSpPr>
          <p:nvPr/>
        </p:nvSpPr>
        <p:spPr bwMode="auto">
          <a:xfrm>
            <a:off x="8273112" y="4312434"/>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比较</a:t>
            </a:r>
          </a:p>
        </p:txBody>
      </p:sp>
      <p:sp>
        <p:nvSpPr>
          <p:cNvPr id="123" name="Arc 42"/>
          <p:cNvSpPr>
            <a:spLocks/>
          </p:cNvSpPr>
          <p:nvPr/>
        </p:nvSpPr>
        <p:spPr bwMode="auto">
          <a:xfrm flipV="1">
            <a:off x="8205936" y="350100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24" name="Text Box 43"/>
          <p:cNvSpPr txBox="1">
            <a:spLocks noChangeArrowheads="1"/>
          </p:cNvSpPr>
          <p:nvPr/>
        </p:nvSpPr>
        <p:spPr bwMode="auto">
          <a:xfrm>
            <a:off x="9302750" y="3689050"/>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比较</a:t>
            </a:r>
            <a:r>
              <a:rPr kumimoji="1" lang="en-US" altLang="zh-CN" sz="1600" dirty="0">
                <a:latin typeface="Tahoma" pitchFamily="34" charset="0"/>
              </a:rPr>
              <a:t>-</a:t>
            </a:r>
          </a:p>
        </p:txBody>
      </p:sp>
      <p:sp>
        <p:nvSpPr>
          <p:cNvPr id="125" name="Freeform 44"/>
          <p:cNvSpPr>
            <a:spLocks/>
          </p:cNvSpPr>
          <p:nvPr/>
        </p:nvSpPr>
        <p:spPr bwMode="auto">
          <a:xfrm>
            <a:off x="8915400" y="3842072"/>
            <a:ext cx="580719" cy="496755"/>
          </a:xfrm>
          <a:custGeom>
            <a:avLst/>
            <a:gdLst>
              <a:gd name="T0" fmla="*/ 0 w 432"/>
              <a:gd name="T1" fmla="*/ 65314 h 336"/>
              <a:gd name="T2" fmla="*/ 355600 w 432"/>
              <a:gd name="T3" fmla="*/ 65314 h 336"/>
              <a:gd name="T4" fmla="*/ 533400 w 432"/>
              <a:gd name="T5" fmla="*/ 457200 h 336"/>
              <a:gd name="T6" fmla="*/ 0 60000 65536"/>
              <a:gd name="T7" fmla="*/ 0 60000 65536"/>
              <a:gd name="T8" fmla="*/ 0 60000 65536"/>
            </a:gdLst>
            <a:ahLst/>
            <a:cxnLst>
              <a:cxn ang="T6">
                <a:pos x="T0" y="T1"/>
              </a:cxn>
              <a:cxn ang="T7">
                <a:pos x="T2" y="T3"/>
              </a:cxn>
              <a:cxn ang="T8">
                <a:pos x="T4" y="T5"/>
              </a:cxn>
            </a:cxnLst>
            <a:rect l="0" t="0" r="r" b="b"/>
            <a:pathLst>
              <a:path w="432" h="336">
                <a:moveTo>
                  <a:pt x="0" y="48"/>
                </a:moveTo>
                <a:cubicBezTo>
                  <a:pt x="108" y="24"/>
                  <a:pt x="216" y="0"/>
                  <a:pt x="288" y="48"/>
                </a:cubicBezTo>
                <a:cubicBezTo>
                  <a:pt x="360" y="96"/>
                  <a:pt x="408" y="288"/>
                  <a:pt x="432" y="336"/>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6" name="Text Box 45"/>
          <p:cNvSpPr txBox="1">
            <a:spLocks noChangeArrowheads="1"/>
          </p:cNvSpPr>
          <p:nvPr/>
        </p:nvSpPr>
        <p:spPr bwMode="auto">
          <a:xfrm>
            <a:off x="9900057" y="3675704"/>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a:t>
            </a:r>
          </a:p>
        </p:txBody>
      </p:sp>
      <p:sp>
        <p:nvSpPr>
          <p:cNvPr id="127" name="Freeform 46"/>
          <p:cNvSpPr>
            <a:spLocks/>
          </p:cNvSpPr>
          <p:nvPr/>
        </p:nvSpPr>
        <p:spPr bwMode="auto">
          <a:xfrm>
            <a:off x="8680450" y="3609502"/>
            <a:ext cx="1231900" cy="758157"/>
          </a:xfrm>
          <a:custGeom>
            <a:avLst/>
            <a:gdLst>
              <a:gd name="T0" fmla="*/ 0 w 776"/>
              <a:gd name="T1" fmla="*/ 38100 h 552"/>
              <a:gd name="T2" fmla="*/ 914400 w 776"/>
              <a:gd name="T3" fmla="*/ 38100 h 552"/>
              <a:gd name="T4" fmla="*/ 1219200 w 776"/>
              <a:gd name="T5" fmla="*/ 266700 h 552"/>
              <a:gd name="T6" fmla="*/ 990600 w 776"/>
              <a:gd name="T7" fmla="*/ 876300 h 5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552">
                <a:moveTo>
                  <a:pt x="0" y="24"/>
                </a:moveTo>
                <a:cubicBezTo>
                  <a:pt x="224" y="12"/>
                  <a:pt x="448" y="0"/>
                  <a:pt x="576" y="24"/>
                </a:cubicBezTo>
                <a:cubicBezTo>
                  <a:pt x="704" y="48"/>
                  <a:pt x="760" y="80"/>
                  <a:pt x="768" y="168"/>
                </a:cubicBezTo>
                <a:cubicBezTo>
                  <a:pt x="776" y="256"/>
                  <a:pt x="648" y="488"/>
                  <a:pt x="624" y="55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128" name="Line 40"/>
          <p:cNvSpPr>
            <a:spLocks noChangeShapeType="1"/>
          </p:cNvSpPr>
          <p:nvPr/>
        </p:nvSpPr>
        <p:spPr bwMode="auto">
          <a:xfrm>
            <a:off x="7880044" y="4668034"/>
            <a:ext cx="1416356"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70"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2" name="矩形 1">
            <a:extLst>
              <a:ext uri="{FF2B5EF4-FFF2-40B4-BE49-F238E27FC236}">
                <a16:creationId xmlns:a16="http://schemas.microsoft.com/office/drawing/2014/main" id="{2616378B-59B1-B187-437F-47068DE687C0}"/>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E9B65E7F-35A5-245E-9FEA-D2DD5B37BC3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6DD8DEC-7224-C46C-41DB-6161AFD524A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36630DCD-E9DF-12AC-F11A-49529AD5C2F6}"/>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1854647344"/>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69" name="Freeform 20"/>
          <p:cNvSpPr>
            <a:spLocks/>
          </p:cNvSpPr>
          <p:nvPr/>
        </p:nvSpPr>
        <p:spPr bwMode="auto">
          <a:xfrm>
            <a:off x="8837306" y="4648984"/>
            <a:ext cx="517526" cy="535318"/>
          </a:xfrm>
          <a:custGeom>
            <a:avLst/>
            <a:gdLst>
              <a:gd name="T0" fmla="*/ 288 w 288"/>
              <a:gd name="T1" fmla="*/ 0 h 432"/>
              <a:gd name="T2" fmla="*/ 48 w 288"/>
              <a:gd name="T3" fmla="*/ 144 h 432"/>
              <a:gd name="T4" fmla="*/ 0 w 288"/>
              <a:gd name="T5" fmla="*/ 432 h 432"/>
              <a:gd name="T6" fmla="*/ 0 60000 65536"/>
              <a:gd name="T7" fmla="*/ 0 60000 65536"/>
              <a:gd name="T8" fmla="*/ 0 60000 65536"/>
            </a:gdLst>
            <a:ahLst/>
            <a:cxnLst>
              <a:cxn ang="T6">
                <a:pos x="T0" y="T1"/>
              </a:cxn>
              <a:cxn ang="T7">
                <a:pos x="T2" y="T3"/>
              </a:cxn>
              <a:cxn ang="T8">
                <a:pos x="T4" y="T5"/>
              </a:cxn>
            </a:cxnLst>
            <a:rect l="0" t="0" r="r" b="b"/>
            <a:pathLst>
              <a:path w="288" h="432">
                <a:moveTo>
                  <a:pt x="288" y="0"/>
                </a:moveTo>
                <a:cubicBezTo>
                  <a:pt x="192" y="36"/>
                  <a:pt x="96" y="72"/>
                  <a:pt x="48" y="144"/>
                </a:cubicBezTo>
                <a:cubicBezTo>
                  <a:pt x="0" y="216"/>
                  <a:pt x="8" y="384"/>
                  <a:pt x="0" y="43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70" name="Text Box 21"/>
          <p:cNvSpPr txBox="1">
            <a:spLocks noChangeArrowheads="1"/>
          </p:cNvSpPr>
          <p:nvPr/>
        </p:nvSpPr>
        <p:spPr bwMode="auto">
          <a:xfrm>
            <a:off x="7925875" y="5908851"/>
            <a:ext cx="1930400"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继续向叶子方向调整</a:t>
            </a:r>
          </a:p>
        </p:txBody>
      </p:sp>
      <p:sp>
        <p:nvSpPr>
          <p:cNvPr id="63"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2" name="矩形 1">
            <a:extLst>
              <a:ext uri="{FF2B5EF4-FFF2-40B4-BE49-F238E27FC236}">
                <a16:creationId xmlns:a16="http://schemas.microsoft.com/office/drawing/2014/main" id="{0F1AC5C5-95FD-1B76-2D44-97E4EA722C73}"/>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D15FF012-DD23-24F8-30C9-5536066017C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915FBEF-D21F-47B6-ECFA-066F4A6CC348}"/>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5D30974A-7935-422E-FBA9-5E8EB3C4C48D}"/>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3403707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30</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61" name="Text Box 21"/>
          <p:cNvSpPr txBox="1">
            <a:spLocks noChangeArrowheads="1"/>
          </p:cNvSpPr>
          <p:nvPr/>
        </p:nvSpPr>
        <p:spPr bwMode="auto">
          <a:xfrm>
            <a:off x="7925875" y="5908851"/>
            <a:ext cx="1930400"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继续向叶子方向调整</a:t>
            </a:r>
          </a:p>
        </p:txBody>
      </p:sp>
      <p:sp>
        <p:nvSpPr>
          <p:cNvPr id="62"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2" name="矩形 1">
            <a:extLst>
              <a:ext uri="{FF2B5EF4-FFF2-40B4-BE49-F238E27FC236}">
                <a16:creationId xmlns:a16="http://schemas.microsoft.com/office/drawing/2014/main" id="{97A2FF67-D46D-42B7-E77C-180BB1EBA618}"/>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90532A9C-F764-1C64-0D9B-F3100A892A7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C67F05FB-79E6-0C9A-7D7A-1C81D3DC5FD7}"/>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0771514D-8E65-775C-5229-F0533D122450}"/>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4218212588"/>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30</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61" name="Freeform 38"/>
          <p:cNvSpPr>
            <a:spLocks/>
          </p:cNvSpPr>
          <p:nvPr/>
        </p:nvSpPr>
        <p:spPr bwMode="auto">
          <a:xfrm>
            <a:off x="8850800" y="3662821"/>
            <a:ext cx="1524000" cy="1549400"/>
          </a:xfrm>
          <a:custGeom>
            <a:avLst/>
            <a:gdLst>
              <a:gd name="T0" fmla="*/ 0 w 960"/>
              <a:gd name="T1" fmla="*/ 25400 h 976"/>
              <a:gd name="T2" fmla="*/ 1219200 w 960"/>
              <a:gd name="T3" fmla="*/ 254000 h 976"/>
              <a:gd name="T4" fmla="*/ 1524000 w 960"/>
              <a:gd name="T5" fmla="*/ 1549400 h 976"/>
              <a:gd name="T6" fmla="*/ 0 60000 65536"/>
              <a:gd name="T7" fmla="*/ 0 60000 65536"/>
              <a:gd name="T8" fmla="*/ 0 60000 65536"/>
            </a:gdLst>
            <a:ahLst/>
            <a:cxnLst>
              <a:cxn ang="T6">
                <a:pos x="T0" y="T1"/>
              </a:cxn>
              <a:cxn ang="T7">
                <a:pos x="T2" y="T3"/>
              </a:cxn>
              <a:cxn ang="T8">
                <a:pos x="T4" y="T5"/>
              </a:cxn>
            </a:cxnLst>
            <a:rect l="0" t="0" r="r" b="b"/>
            <a:pathLst>
              <a:path w="960" h="976">
                <a:moveTo>
                  <a:pt x="0" y="16"/>
                </a:moveTo>
                <a:cubicBezTo>
                  <a:pt x="304" y="8"/>
                  <a:pt x="608" y="0"/>
                  <a:pt x="768" y="160"/>
                </a:cubicBezTo>
                <a:cubicBezTo>
                  <a:pt x="928" y="320"/>
                  <a:pt x="928" y="840"/>
                  <a:pt x="960" y="976"/>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2"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2" name="矩形 1">
            <a:extLst>
              <a:ext uri="{FF2B5EF4-FFF2-40B4-BE49-F238E27FC236}">
                <a16:creationId xmlns:a16="http://schemas.microsoft.com/office/drawing/2014/main" id="{0DF8D85E-C610-C365-9236-EE2E33E6B5D8}"/>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83BA70D8-539F-1A26-0290-9998842A861F}"/>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22DD3DC-3D0E-3992-7FAB-3D1776FFC08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D42FD338-D9B4-A751-4A56-040FC169A714}"/>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22389433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53</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30</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61"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2" name="矩形 1">
            <a:extLst>
              <a:ext uri="{FF2B5EF4-FFF2-40B4-BE49-F238E27FC236}">
                <a16:creationId xmlns:a16="http://schemas.microsoft.com/office/drawing/2014/main" id="{88EFEAD7-02FB-C86B-FE5F-E16E1E24E6ED}"/>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90006271-645F-6120-B23F-5051AC4D286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E12AEBE-9C88-1079-3D82-DEC4E2617821}"/>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E5415164-8B0C-041D-05C8-EFC6615E7A2C}"/>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4236154427"/>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53</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30</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60" name="Arc 38"/>
          <p:cNvSpPr>
            <a:spLocks/>
          </p:cNvSpPr>
          <p:nvPr/>
        </p:nvSpPr>
        <p:spPr bwMode="auto">
          <a:xfrm flipV="1">
            <a:off x="7125816" y="422108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61" name="Arc 39"/>
          <p:cNvSpPr>
            <a:spLocks/>
          </p:cNvSpPr>
          <p:nvPr/>
        </p:nvSpPr>
        <p:spPr bwMode="auto">
          <a:xfrm flipV="1">
            <a:off x="9142040" y="422108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62" name="Text Box 41"/>
          <p:cNvSpPr txBox="1">
            <a:spLocks noChangeArrowheads="1"/>
          </p:cNvSpPr>
          <p:nvPr/>
        </p:nvSpPr>
        <p:spPr bwMode="auto">
          <a:xfrm>
            <a:off x="8273112" y="4312434"/>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比较</a:t>
            </a:r>
          </a:p>
        </p:txBody>
      </p:sp>
      <p:sp>
        <p:nvSpPr>
          <p:cNvPr id="63" name="Arc 42"/>
          <p:cNvSpPr>
            <a:spLocks/>
          </p:cNvSpPr>
          <p:nvPr/>
        </p:nvSpPr>
        <p:spPr bwMode="auto">
          <a:xfrm flipV="1">
            <a:off x="8205936" y="3501008"/>
            <a:ext cx="914400" cy="685800"/>
          </a:xfrm>
          <a:custGeom>
            <a:avLst/>
            <a:gdLst>
              <a:gd name="T0" fmla="*/ 169333 w 43200"/>
              <a:gd name="T1" fmla="*/ 76502 h 43200"/>
              <a:gd name="T2" fmla="*/ 164634 w 43200"/>
              <a:gd name="T3" fmla="*/ 79391 h 43200"/>
              <a:gd name="T4" fmla="*/ 457200 w 43200"/>
              <a:gd name="T5" fmla="*/ 3429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path>
              <a:path w="43200" h="43200" stroke="0" extrusionOk="0">
                <a:moveTo>
                  <a:pt x="8000" y="4819"/>
                </a:moveTo>
                <a:cubicBezTo>
                  <a:pt x="11846" y="1701"/>
                  <a:pt x="16648" y="-1"/>
                  <a:pt x="21600" y="0"/>
                </a:cubicBezTo>
                <a:cubicBezTo>
                  <a:pt x="33529" y="0"/>
                  <a:pt x="43200" y="9670"/>
                  <a:pt x="43200" y="21600"/>
                </a:cubicBezTo>
                <a:cubicBezTo>
                  <a:pt x="43200" y="33529"/>
                  <a:pt x="33529" y="43200"/>
                  <a:pt x="21600" y="43200"/>
                </a:cubicBezTo>
                <a:cubicBezTo>
                  <a:pt x="9670" y="43200"/>
                  <a:pt x="0" y="33529"/>
                  <a:pt x="0" y="21600"/>
                </a:cubicBezTo>
                <a:cubicBezTo>
                  <a:pt x="-1" y="15186"/>
                  <a:pt x="2849" y="9105"/>
                  <a:pt x="7778" y="5001"/>
                </a:cubicBezTo>
                <a:lnTo>
                  <a:pt x="21600" y="21600"/>
                </a:lnTo>
                <a:lnTo>
                  <a:pt x="8000" y="4819"/>
                </a:lnTo>
                <a:close/>
              </a:path>
            </a:pathLst>
          </a:custGeom>
          <a:noFill/>
          <a:ln w="28575">
            <a:solidFill>
              <a:schemeClr val="folHlink"/>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64" name="Text Box 43"/>
          <p:cNvSpPr txBox="1">
            <a:spLocks noChangeArrowheads="1"/>
          </p:cNvSpPr>
          <p:nvPr/>
        </p:nvSpPr>
        <p:spPr bwMode="auto">
          <a:xfrm>
            <a:off x="9302750" y="3689050"/>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比较</a:t>
            </a:r>
            <a:r>
              <a:rPr kumimoji="1" lang="en-US" altLang="zh-CN" sz="1600" dirty="0">
                <a:latin typeface="Tahoma" pitchFamily="34" charset="0"/>
              </a:rPr>
              <a:t>-</a:t>
            </a:r>
          </a:p>
        </p:txBody>
      </p:sp>
      <p:sp>
        <p:nvSpPr>
          <p:cNvPr id="65" name="Freeform 44"/>
          <p:cNvSpPr>
            <a:spLocks/>
          </p:cNvSpPr>
          <p:nvPr/>
        </p:nvSpPr>
        <p:spPr bwMode="auto">
          <a:xfrm>
            <a:off x="8915400" y="3842072"/>
            <a:ext cx="580719" cy="496755"/>
          </a:xfrm>
          <a:custGeom>
            <a:avLst/>
            <a:gdLst>
              <a:gd name="T0" fmla="*/ 0 w 432"/>
              <a:gd name="T1" fmla="*/ 65314 h 336"/>
              <a:gd name="T2" fmla="*/ 355600 w 432"/>
              <a:gd name="T3" fmla="*/ 65314 h 336"/>
              <a:gd name="T4" fmla="*/ 533400 w 432"/>
              <a:gd name="T5" fmla="*/ 457200 h 336"/>
              <a:gd name="T6" fmla="*/ 0 60000 65536"/>
              <a:gd name="T7" fmla="*/ 0 60000 65536"/>
              <a:gd name="T8" fmla="*/ 0 60000 65536"/>
            </a:gdLst>
            <a:ahLst/>
            <a:cxnLst>
              <a:cxn ang="T6">
                <a:pos x="T0" y="T1"/>
              </a:cxn>
              <a:cxn ang="T7">
                <a:pos x="T2" y="T3"/>
              </a:cxn>
              <a:cxn ang="T8">
                <a:pos x="T4" y="T5"/>
              </a:cxn>
            </a:cxnLst>
            <a:rect l="0" t="0" r="r" b="b"/>
            <a:pathLst>
              <a:path w="432" h="336">
                <a:moveTo>
                  <a:pt x="0" y="48"/>
                </a:moveTo>
                <a:cubicBezTo>
                  <a:pt x="108" y="24"/>
                  <a:pt x="216" y="0"/>
                  <a:pt x="288" y="48"/>
                </a:cubicBezTo>
                <a:cubicBezTo>
                  <a:pt x="360" y="96"/>
                  <a:pt x="408" y="288"/>
                  <a:pt x="432" y="336"/>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6" name="Text Box 45"/>
          <p:cNvSpPr txBox="1">
            <a:spLocks noChangeArrowheads="1"/>
          </p:cNvSpPr>
          <p:nvPr/>
        </p:nvSpPr>
        <p:spPr bwMode="auto">
          <a:xfrm>
            <a:off x="9900057" y="3675704"/>
            <a:ext cx="609600" cy="336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ct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a:t>
            </a:r>
          </a:p>
        </p:txBody>
      </p:sp>
      <p:sp>
        <p:nvSpPr>
          <p:cNvPr id="67" name="Freeform 46"/>
          <p:cNvSpPr>
            <a:spLocks/>
          </p:cNvSpPr>
          <p:nvPr/>
        </p:nvSpPr>
        <p:spPr bwMode="auto">
          <a:xfrm>
            <a:off x="8680450" y="3609502"/>
            <a:ext cx="1231900" cy="758157"/>
          </a:xfrm>
          <a:custGeom>
            <a:avLst/>
            <a:gdLst>
              <a:gd name="T0" fmla="*/ 0 w 776"/>
              <a:gd name="T1" fmla="*/ 38100 h 552"/>
              <a:gd name="T2" fmla="*/ 914400 w 776"/>
              <a:gd name="T3" fmla="*/ 38100 h 552"/>
              <a:gd name="T4" fmla="*/ 1219200 w 776"/>
              <a:gd name="T5" fmla="*/ 266700 h 552"/>
              <a:gd name="T6" fmla="*/ 990600 w 776"/>
              <a:gd name="T7" fmla="*/ 876300 h 5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552">
                <a:moveTo>
                  <a:pt x="0" y="24"/>
                </a:moveTo>
                <a:cubicBezTo>
                  <a:pt x="224" y="12"/>
                  <a:pt x="448" y="0"/>
                  <a:pt x="576" y="24"/>
                </a:cubicBezTo>
                <a:cubicBezTo>
                  <a:pt x="704" y="48"/>
                  <a:pt x="760" y="80"/>
                  <a:pt x="768" y="168"/>
                </a:cubicBezTo>
                <a:cubicBezTo>
                  <a:pt x="776" y="256"/>
                  <a:pt x="648" y="488"/>
                  <a:pt x="624" y="552"/>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68" name="Line 40"/>
          <p:cNvSpPr>
            <a:spLocks noChangeShapeType="1"/>
          </p:cNvSpPr>
          <p:nvPr/>
        </p:nvSpPr>
        <p:spPr bwMode="auto">
          <a:xfrm>
            <a:off x="7880044" y="4668034"/>
            <a:ext cx="1416356"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70"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2" name="矩形 1">
            <a:extLst>
              <a:ext uri="{FF2B5EF4-FFF2-40B4-BE49-F238E27FC236}">
                <a16:creationId xmlns:a16="http://schemas.microsoft.com/office/drawing/2014/main" id="{3541F093-8D30-76F3-879E-6828AA3BB1BE}"/>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FF67FC5E-E442-163D-EB69-56123DF4DD9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63103A0-4E0A-2D96-F7CC-1E443EF47DF6}"/>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Rectangle 2">
            <a:extLst>
              <a:ext uri="{FF2B5EF4-FFF2-40B4-BE49-F238E27FC236}">
                <a16:creationId xmlns:a16="http://schemas.microsoft.com/office/drawing/2014/main" id="{A63D07BF-30B9-8F7C-252E-8BB6462CB7FD}"/>
              </a:ext>
            </a:extLst>
          </p:cNvPr>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Tree>
    <p:extLst>
      <p:ext uri="{BB962C8B-B14F-4D97-AF65-F5344CB8AC3E}">
        <p14:creationId xmlns:p14="http://schemas.microsoft.com/office/powerpoint/2010/main" val="23128889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2" grpId="0"/>
      <p:bldP spid="63" grpId="0" animBg="1"/>
      <p:bldP spid="64" grpId="0"/>
      <p:bldP spid="65" grpId="0" animBg="1"/>
      <p:bldP spid="66" grpId="0"/>
      <p:bldP spid="67" grpId="0" animBg="1"/>
      <p:bldP spid="6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002" name="AutoShape 18"/>
          <p:cNvSpPr>
            <a:spLocks noChangeArrowheads="1"/>
          </p:cNvSpPr>
          <p:nvPr/>
        </p:nvSpPr>
        <p:spPr bwMode="auto">
          <a:xfrm>
            <a:off x="5695607" y="4267984"/>
            <a:ext cx="97314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87" name="组合 86"/>
          <p:cNvGrpSpPr/>
          <p:nvPr/>
        </p:nvGrpSpPr>
        <p:grpSpPr>
          <a:xfrm>
            <a:off x="2135189" y="3609502"/>
            <a:ext cx="4003675" cy="2730356"/>
            <a:chOff x="415925" y="3506956"/>
            <a:chExt cx="4003675" cy="2730356"/>
          </a:xfrm>
        </p:grpSpPr>
        <p:sp>
          <p:nvSpPr>
            <p:cNvPr id="88" name="Oval 3"/>
            <p:cNvSpPr>
              <a:spLocks noChangeArrowheads="1"/>
            </p:cNvSpPr>
            <p:nvPr/>
          </p:nvSpPr>
          <p:spPr bwMode="auto">
            <a:xfrm>
              <a:off x="2387600" y="3506956"/>
              <a:ext cx="515938"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12</a:t>
              </a:r>
            </a:p>
          </p:txBody>
        </p:sp>
        <p:sp>
          <p:nvSpPr>
            <p:cNvPr id="89"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0"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1"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108"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44" name="AutoShape 8"/>
            <p:cNvCxnSpPr>
              <a:cxnSpLocks noChangeShapeType="1"/>
              <a:stCxn id="88" idx="3"/>
              <a:endCxn id="89"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
            <p:cNvCxnSpPr>
              <a:cxnSpLocks noChangeShapeType="1"/>
              <a:stCxn id="89" idx="3"/>
              <a:endCxn id="90"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0"/>
            <p:cNvCxnSpPr>
              <a:cxnSpLocks noChangeShapeType="1"/>
              <a:stCxn id="88" idx="5"/>
              <a:endCxn id="108"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1"/>
            <p:cNvCxnSpPr>
              <a:cxnSpLocks noChangeShapeType="1"/>
              <a:stCxn id="89" idx="5"/>
              <a:endCxn id="91"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30</a:t>
              </a:r>
            </a:p>
          </p:txBody>
        </p:sp>
        <p:cxnSp>
          <p:nvCxnSpPr>
            <p:cNvPr id="150" name="AutoShape 13"/>
            <p:cNvCxnSpPr>
              <a:cxnSpLocks noChangeShapeType="1"/>
              <a:endCxn id="149"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Oval 14"/>
            <p:cNvSpPr>
              <a:spLocks noChangeArrowheads="1"/>
            </p:cNvSpPr>
            <p:nvPr/>
          </p:nvSpPr>
          <p:spPr bwMode="auto">
            <a:xfrm>
              <a:off x="3905250" y="505476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53</a:t>
              </a:r>
            </a:p>
          </p:txBody>
        </p:sp>
        <p:cxnSp>
          <p:nvCxnSpPr>
            <p:cNvPr id="152" name="AutoShape 15"/>
            <p:cNvCxnSpPr>
              <a:cxnSpLocks noChangeShapeType="1"/>
              <a:endCxn id="151" idx="1"/>
            </p:cNvCxnSpPr>
            <p:nvPr/>
          </p:nvCxnSpPr>
          <p:spPr bwMode="auto">
            <a:xfrm>
              <a:off x="3725863" y="4708694"/>
              <a:ext cx="254000" cy="41433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Oval 16"/>
            <p:cNvSpPr>
              <a:spLocks noChangeArrowheads="1"/>
            </p:cNvSpPr>
            <p:nvPr/>
          </p:nvSpPr>
          <p:spPr bwMode="auto">
            <a:xfrm>
              <a:off x="415925" y="5772174"/>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91</a:t>
              </a:r>
            </a:p>
          </p:txBody>
        </p:sp>
        <p:cxnSp>
          <p:nvCxnSpPr>
            <p:cNvPr id="154"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组合 154"/>
          <p:cNvGrpSpPr/>
          <p:nvPr/>
        </p:nvGrpSpPr>
        <p:grpSpPr>
          <a:xfrm>
            <a:off x="1880421" y="3549906"/>
            <a:ext cx="3768991" cy="2687407"/>
            <a:chOff x="81086" y="3479063"/>
            <a:chExt cx="3768991" cy="2687407"/>
          </a:xfrm>
        </p:grpSpPr>
        <p:sp>
          <p:nvSpPr>
            <p:cNvPr id="156" name="TextBox 155"/>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57" name="TextBox 156"/>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58" name="TextBox 157"/>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59" name="TextBox 158"/>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60" name="TextBox 159"/>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61" name="TextBox 160"/>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62" name="TextBox 161"/>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63" name="TextBox 162"/>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59" name="Freeform 19"/>
          <p:cNvSpPr>
            <a:spLocks/>
          </p:cNvSpPr>
          <p:nvPr/>
        </p:nvSpPr>
        <p:spPr bwMode="auto">
          <a:xfrm>
            <a:off x="2135188" y="3842071"/>
            <a:ext cx="1982227" cy="2096008"/>
          </a:xfrm>
          <a:custGeom>
            <a:avLst/>
            <a:gdLst>
              <a:gd name="T0" fmla="*/ 101600 w 1408"/>
              <a:gd name="T1" fmla="*/ 2133600 h 1344"/>
              <a:gd name="T2" fmla="*/ 101600 w 1408"/>
              <a:gd name="T3" fmla="*/ 1447800 h 1344"/>
              <a:gd name="T4" fmla="*/ 711200 w 1408"/>
              <a:gd name="T5" fmla="*/ 381000 h 1344"/>
              <a:gd name="T6" fmla="*/ 2235200 w 1408"/>
              <a:gd name="T7" fmla="*/ 0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8" h="1344">
                <a:moveTo>
                  <a:pt x="64" y="1344"/>
                </a:moveTo>
                <a:cubicBezTo>
                  <a:pt x="32" y="1220"/>
                  <a:pt x="0" y="1096"/>
                  <a:pt x="64" y="912"/>
                </a:cubicBezTo>
                <a:cubicBezTo>
                  <a:pt x="128" y="728"/>
                  <a:pt x="224" y="392"/>
                  <a:pt x="448" y="240"/>
                </a:cubicBezTo>
                <a:cubicBezTo>
                  <a:pt x="672" y="88"/>
                  <a:pt x="1248" y="40"/>
                  <a:pt x="1408" y="0"/>
                </a:cubicBezTo>
              </a:path>
            </a:pathLst>
          </a:custGeom>
          <a:noFill/>
          <a:ln w="28575" cap="flat" cmpd="sng">
            <a:solidFill>
              <a:schemeClr val="hlink"/>
            </a:solidFill>
            <a:prstDash val="solid"/>
            <a:round/>
            <a:headEnd type="triangl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nvGrpSpPr>
          <p:cNvPr id="92" name="组合 91"/>
          <p:cNvGrpSpPr/>
          <p:nvPr/>
        </p:nvGrpSpPr>
        <p:grpSpPr>
          <a:xfrm>
            <a:off x="6425895" y="3609502"/>
            <a:ext cx="4003675" cy="2730356"/>
            <a:chOff x="415925" y="3506956"/>
            <a:chExt cx="4003675" cy="2730356"/>
          </a:xfrm>
        </p:grpSpPr>
        <p:sp>
          <p:nvSpPr>
            <p:cNvPr id="93" name="Oval 3"/>
            <p:cNvSpPr>
              <a:spLocks noChangeArrowheads="1"/>
            </p:cNvSpPr>
            <p:nvPr/>
          </p:nvSpPr>
          <p:spPr bwMode="auto">
            <a:xfrm>
              <a:off x="2387600" y="3506956"/>
              <a:ext cx="515938" cy="465138"/>
            </a:xfrm>
            <a:prstGeom prst="ellipse">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30</a:t>
              </a:r>
            </a:p>
          </p:txBody>
        </p:sp>
        <p:sp>
          <p:nvSpPr>
            <p:cNvPr id="94" name="Oval 4"/>
            <p:cNvSpPr>
              <a:spLocks noChangeArrowheads="1"/>
            </p:cNvSpPr>
            <p:nvPr/>
          </p:nvSpPr>
          <p:spPr bwMode="auto">
            <a:xfrm>
              <a:off x="1354138"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36</a:t>
              </a:r>
            </a:p>
          </p:txBody>
        </p:sp>
        <p:sp>
          <p:nvSpPr>
            <p:cNvPr id="95" name="Oval 5"/>
            <p:cNvSpPr>
              <a:spLocks noChangeArrowheads="1"/>
            </p:cNvSpPr>
            <p:nvPr/>
          </p:nvSpPr>
          <p:spPr bwMode="auto">
            <a:xfrm>
              <a:off x="736600" y="5013494"/>
              <a:ext cx="515938"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85</a:t>
              </a:r>
            </a:p>
          </p:txBody>
        </p:sp>
        <p:sp>
          <p:nvSpPr>
            <p:cNvPr id="96" name="Oval 6"/>
            <p:cNvSpPr>
              <a:spLocks noChangeArrowheads="1"/>
            </p:cNvSpPr>
            <p:nvPr/>
          </p:nvSpPr>
          <p:spPr bwMode="auto">
            <a:xfrm>
              <a:off x="1973263" y="4997619"/>
              <a:ext cx="514350" cy="4651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47</a:t>
              </a:r>
            </a:p>
          </p:txBody>
        </p:sp>
        <p:sp>
          <p:nvSpPr>
            <p:cNvPr id="97" name="Oval 7"/>
            <p:cNvSpPr>
              <a:spLocks noChangeArrowheads="1"/>
            </p:cNvSpPr>
            <p:nvPr/>
          </p:nvSpPr>
          <p:spPr bwMode="auto">
            <a:xfrm>
              <a:off x="3344863" y="4251494"/>
              <a:ext cx="515937" cy="466725"/>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53</a:t>
              </a:r>
            </a:p>
          </p:txBody>
        </p:sp>
        <p:cxnSp>
          <p:nvCxnSpPr>
            <p:cNvPr id="98" name="AutoShape 8"/>
            <p:cNvCxnSpPr>
              <a:cxnSpLocks noChangeShapeType="1"/>
              <a:stCxn id="93" idx="3"/>
              <a:endCxn id="94" idx="7"/>
            </p:cNvCxnSpPr>
            <p:nvPr/>
          </p:nvCxnSpPr>
          <p:spPr bwMode="auto">
            <a:xfrm flipH="1">
              <a:off x="1793875" y="3903831"/>
              <a:ext cx="6699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9"/>
            <p:cNvCxnSpPr>
              <a:cxnSpLocks noChangeShapeType="1"/>
              <a:stCxn id="94" idx="3"/>
              <a:endCxn id="95" idx="7"/>
            </p:cNvCxnSpPr>
            <p:nvPr/>
          </p:nvCxnSpPr>
          <p:spPr bwMode="auto">
            <a:xfrm flipH="1">
              <a:off x="1176338" y="4649956"/>
              <a:ext cx="254000" cy="43180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10"/>
            <p:cNvCxnSpPr>
              <a:cxnSpLocks noChangeShapeType="1"/>
              <a:stCxn id="93" idx="5"/>
              <a:endCxn id="97" idx="1"/>
            </p:cNvCxnSpPr>
            <p:nvPr/>
          </p:nvCxnSpPr>
          <p:spPr bwMode="auto">
            <a:xfrm>
              <a:off x="2827338" y="3903831"/>
              <a:ext cx="593725" cy="4159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11"/>
            <p:cNvCxnSpPr>
              <a:cxnSpLocks noChangeShapeType="1"/>
              <a:stCxn id="94" idx="5"/>
              <a:endCxn id="96" idx="1"/>
            </p:cNvCxnSpPr>
            <p:nvPr/>
          </p:nvCxnSpPr>
          <p:spPr bwMode="auto">
            <a:xfrm>
              <a:off x="1793875" y="4649956"/>
              <a:ext cx="254000" cy="415925"/>
            </a:xfrm>
            <a:prstGeom prst="straightConnector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Oval 12"/>
            <p:cNvSpPr>
              <a:spLocks noChangeArrowheads="1"/>
            </p:cNvSpPr>
            <p:nvPr/>
          </p:nvSpPr>
          <p:spPr bwMode="auto">
            <a:xfrm>
              <a:off x="2794000" y="4980156"/>
              <a:ext cx="514350" cy="4651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91</a:t>
              </a:r>
            </a:p>
          </p:txBody>
        </p:sp>
        <p:cxnSp>
          <p:nvCxnSpPr>
            <p:cNvPr id="103" name="AutoShape 13"/>
            <p:cNvCxnSpPr>
              <a:cxnSpLocks noChangeShapeType="1"/>
              <a:endCxn id="102" idx="7"/>
            </p:cNvCxnSpPr>
            <p:nvPr/>
          </p:nvCxnSpPr>
          <p:spPr bwMode="auto">
            <a:xfrm flipH="1">
              <a:off x="3233738" y="4727744"/>
              <a:ext cx="252412" cy="3206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Oval 14"/>
            <p:cNvSpPr>
              <a:spLocks noChangeArrowheads="1"/>
            </p:cNvSpPr>
            <p:nvPr/>
          </p:nvSpPr>
          <p:spPr bwMode="auto">
            <a:xfrm>
              <a:off x="3905250" y="5054769"/>
              <a:ext cx="514350" cy="465137"/>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kumimoji="1" lang="en-US" altLang="zh-CN" sz="2400" dirty="0">
                  <a:latin typeface="Tahoma" pitchFamily="34" charset="0"/>
                </a:rPr>
                <a:t>24</a:t>
              </a:r>
            </a:p>
          </p:txBody>
        </p:sp>
        <p:cxnSp>
          <p:nvCxnSpPr>
            <p:cNvPr id="105" name="AutoShape 15"/>
            <p:cNvCxnSpPr>
              <a:cxnSpLocks noChangeShapeType="1"/>
              <a:endCxn id="104" idx="1"/>
            </p:cNvCxnSpPr>
            <p:nvPr/>
          </p:nvCxnSpPr>
          <p:spPr bwMode="auto">
            <a:xfrm>
              <a:off x="3725863" y="4708694"/>
              <a:ext cx="254000" cy="414337"/>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16"/>
            <p:cNvSpPr>
              <a:spLocks noChangeArrowheads="1"/>
            </p:cNvSpPr>
            <p:nvPr/>
          </p:nvSpPr>
          <p:spPr bwMode="auto">
            <a:xfrm>
              <a:off x="415925" y="5772174"/>
              <a:ext cx="514350" cy="465138"/>
            </a:xfrm>
            <a:prstGeom prst="ellipse">
              <a:avLst/>
            </a:prstGeom>
            <a:solidFill>
              <a:srgbClr val="C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12</a:t>
              </a:r>
            </a:p>
          </p:txBody>
        </p:sp>
        <p:cxnSp>
          <p:nvCxnSpPr>
            <p:cNvPr id="107" name="AutoShape 17"/>
            <p:cNvCxnSpPr>
              <a:cxnSpLocks noChangeShapeType="1"/>
            </p:cNvCxnSpPr>
            <p:nvPr/>
          </p:nvCxnSpPr>
          <p:spPr bwMode="auto">
            <a:xfrm flipH="1">
              <a:off x="785140" y="5473872"/>
              <a:ext cx="139619" cy="3616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组合 108"/>
          <p:cNvGrpSpPr/>
          <p:nvPr/>
        </p:nvGrpSpPr>
        <p:grpSpPr>
          <a:xfrm>
            <a:off x="6171127" y="3549906"/>
            <a:ext cx="3768991" cy="2687407"/>
            <a:chOff x="81086" y="3479063"/>
            <a:chExt cx="3768991" cy="2687407"/>
          </a:xfrm>
        </p:grpSpPr>
        <p:sp>
          <p:nvSpPr>
            <p:cNvPr id="110" name="TextBox 109"/>
            <p:cNvSpPr txBox="1"/>
            <p:nvPr/>
          </p:nvSpPr>
          <p:spPr>
            <a:xfrm>
              <a:off x="2038228" y="3479063"/>
              <a:ext cx="319087" cy="369332"/>
            </a:xfrm>
            <a:prstGeom prst="rect">
              <a:avLst/>
            </a:prstGeom>
            <a:noFill/>
          </p:spPr>
          <p:txBody>
            <a:bodyPr wrap="square" rtlCol="0">
              <a:spAutoFit/>
            </a:bodyPr>
            <a:lstStyle/>
            <a:p>
              <a:r>
                <a:rPr lang="en-US" altLang="zh-CN" dirty="0"/>
                <a:t>1</a:t>
              </a:r>
              <a:endParaRPr lang="zh-CN" altLang="en-US" dirty="0"/>
            </a:p>
          </p:txBody>
        </p:sp>
        <p:sp>
          <p:nvSpPr>
            <p:cNvPr id="111" name="TextBox 110"/>
            <p:cNvSpPr txBox="1"/>
            <p:nvPr/>
          </p:nvSpPr>
          <p:spPr>
            <a:xfrm>
              <a:off x="995668" y="4267984"/>
              <a:ext cx="319087" cy="369332"/>
            </a:xfrm>
            <a:prstGeom prst="rect">
              <a:avLst/>
            </a:prstGeom>
            <a:noFill/>
          </p:spPr>
          <p:txBody>
            <a:bodyPr wrap="square" rtlCol="0">
              <a:spAutoFit/>
            </a:bodyPr>
            <a:lstStyle/>
            <a:p>
              <a:r>
                <a:rPr lang="en-US" altLang="zh-CN" dirty="0"/>
                <a:t>2</a:t>
              </a:r>
              <a:endParaRPr lang="zh-CN" altLang="en-US" dirty="0"/>
            </a:p>
          </p:txBody>
        </p:sp>
        <p:sp>
          <p:nvSpPr>
            <p:cNvPr id="112" name="TextBox 111"/>
            <p:cNvSpPr txBox="1"/>
            <p:nvPr/>
          </p:nvSpPr>
          <p:spPr>
            <a:xfrm>
              <a:off x="2964656" y="4296817"/>
              <a:ext cx="319087" cy="369332"/>
            </a:xfrm>
            <a:prstGeom prst="rect">
              <a:avLst/>
            </a:prstGeom>
            <a:noFill/>
          </p:spPr>
          <p:txBody>
            <a:bodyPr wrap="square" rtlCol="0">
              <a:spAutoFit/>
            </a:bodyPr>
            <a:lstStyle/>
            <a:p>
              <a:r>
                <a:rPr lang="en-US" altLang="zh-CN" dirty="0"/>
                <a:t>3</a:t>
              </a:r>
              <a:endParaRPr lang="zh-CN" altLang="en-US" dirty="0"/>
            </a:p>
          </p:txBody>
        </p:sp>
        <p:sp>
          <p:nvSpPr>
            <p:cNvPr id="113" name="TextBox 112"/>
            <p:cNvSpPr txBox="1"/>
            <p:nvPr/>
          </p:nvSpPr>
          <p:spPr>
            <a:xfrm>
              <a:off x="400173" y="4895066"/>
              <a:ext cx="319087" cy="369332"/>
            </a:xfrm>
            <a:prstGeom prst="rect">
              <a:avLst/>
            </a:prstGeom>
            <a:noFill/>
          </p:spPr>
          <p:txBody>
            <a:bodyPr wrap="square" rtlCol="0">
              <a:spAutoFit/>
            </a:bodyPr>
            <a:lstStyle/>
            <a:p>
              <a:r>
                <a:rPr lang="en-US" altLang="zh-CN" dirty="0"/>
                <a:t>4</a:t>
              </a:r>
              <a:endParaRPr lang="zh-CN" altLang="en-US" dirty="0"/>
            </a:p>
          </p:txBody>
        </p:sp>
        <p:sp>
          <p:nvSpPr>
            <p:cNvPr id="114" name="TextBox 113"/>
            <p:cNvSpPr txBox="1"/>
            <p:nvPr/>
          </p:nvSpPr>
          <p:spPr>
            <a:xfrm>
              <a:off x="1612106" y="5018357"/>
              <a:ext cx="319087" cy="369332"/>
            </a:xfrm>
            <a:prstGeom prst="rect">
              <a:avLst/>
            </a:prstGeom>
            <a:noFill/>
          </p:spPr>
          <p:txBody>
            <a:bodyPr wrap="square" rtlCol="0">
              <a:spAutoFit/>
            </a:bodyPr>
            <a:lstStyle/>
            <a:p>
              <a:r>
                <a:rPr lang="en-US" altLang="zh-CN" dirty="0"/>
                <a:t>5</a:t>
              </a:r>
              <a:endParaRPr lang="zh-CN" altLang="en-US" dirty="0"/>
            </a:p>
          </p:txBody>
        </p:sp>
        <p:sp>
          <p:nvSpPr>
            <p:cNvPr id="115" name="TextBox 114"/>
            <p:cNvSpPr txBox="1"/>
            <p:nvPr/>
          </p:nvSpPr>
          <p:spPr>
            <a:xfrm>
              <a:off x="2473585" y="4957217"/>
              <a:ext cx="319087" cy="369332"/>
            </a:xfrm>
            <a:prstGeom prst="rect">
              <a:avLst/>
            </a:prstGeom>
            <a:noFill/>
          </p:spPr>
          <p:txBody>
            <a:bodyPr wrap="square" rtlCol="0">
              <a:spAutoFit/>
            </a:bodyPr>
            <a:lstStyle/>
            <a:p>
              <a:r>
                <a:rPr lang="en-US" altLang="zh-CN" dirty="0"/>
                <a:t>6</a:t>
              </a:r>
              <a:endParaRPr lang="zh-CN" altLang="en-US" dirty="0"/>
            </a:p>
          </p:txBody>
        </p:sp>
        <p:sp>
          <p:nvSpPr>
            <p:cNvPr id="116" name="TextBox 115"/>
            <p:cNvSpPr txBox="1"/>
            <p:nvPr/>
          </p:nvSpPr>
          <p:spPr>
            <a:xfrm>
              <a:off x="3530990" y="5053023"/>
              <a:ext cx="319087" cy="369332"/>
            </a:xfrm>
            <a:prstGeom prst="rect">
              <a:avLst/>
            </a:prstGeom>
            <a:noFill/>
          </p:spPr>
          <p:txBody>
            <a:bodyPr wrap="square" rtlCol="0">
              <a:spAutoFit/>
            </a:bodyPr>
            <a:lstStyle/>
            <a:p>
              <a:r>
                <a:rPr lang="en-US" altLang="zh-CN" dirty="0"/>
                <a:t>7</a:t>
              </a:r>
              <a:endParaRPr lang="zh-CN" altLang="en-US" dirty="0"/>
            </a:p>
          </p:txBody>
        </p:sp>
        <p:sp>
          <p:nvSpPr>
            <p:cNvPr id="117" name="TextBox 116"/>
            <p:cNvSpPr txBox="1"/>
            <p:nvPr/>
          </p:nvSpPr>
          <p:spPr>
            <a:xfrm>
              <a:off x="81086" y="5797138"/>
              <a:ext cx="319087" cy="369332"/>
            </a:xfrm>
            <a:prstGeom prst="rect">
              <a:avLst/>
            </a:prstGeom>
            <a:noFill/>
          </p:spPr>
          <p:txBody>
            <a:bodyPr wrap="square" rtlCol="0">
              <a:spAutoFit/>
            </a:bodyPr>
            <a:lstStyle/>
            <a:p>
              <a:r>
                <a:rPr lang="en-US" altLang="zh-CN" dirty="0"/>
                <a:t>8</a:t>
              </a:r>
              <a:endParaRPr lang="zh-CN" altLang="en-US" dirty="0"/>
            </a:p>
          </p:txBody>
        </p:sp>
      </p:grpSp>
      <p:sp>
        <p:nvSpPr>
          <p:cNvPr id="119" name="Text Box 37"/>
          <p:cNvSpPr txBox="1">
            <a:spLocks noChangeArrowheads="1"/>
          </p:cNvSpPr>
          <p:nvPr/>
        </p:nvSpPr>
        <p:spPr bwMode="auto">
          <a:xfrm>
            <a:off x="4923182" y="3861721"/>
            <a:ext cx="2964557" cy="33855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eaLnBrk="1" hangingPunct="1">
              <a:spcBef>
                <a:spcPct val="50000"/>
              </a:spcBef>
              <a:buFontTx/>
              <a:buNone/>
            </a:pPr>
            <a:r>
              <a:rPr kumimoji="1" lang="zh-CN" altLang="en-US" sz="1600" b="0" dirty="0">
                <a:latin typeface="微软雅黑" pitchFamily="34" charset="-122"/>
                <a:ea typeface="微软雅黑" pitchFamily="34" charset="-122"/>
                <a:cs typeface="经典粗黑简" pitchFamily="49" charset="-122"/>
              </a:rPr>
              <a:t>交换堆顶元素与序列末端的元素</a:t>
            </a:r>
          </a:p>
        </p:txBody>
      </p:sp>
      <p:sp>
        <p:nvSpPr>
          <p:cNvPr id="61" name="Rectangle 40"/>
          <p:cNvSpPr txBox="1">
            <a:spLocks noChangeArrowheads="1"/>
          </p:cNvSpPr>
          <p:nvPr/>
        </p:nvSpPr>
        <p:spPr bwMode="auto">
          <a:xfrm>
            <a:off x="2207196" y="2636912"/>
            <a:ext cx="7921252" cy="8640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Clr>
                <a:schemeClr val="tx1"/>
              </a:buClr>
              <a:buSzPct val="75000"/>
              <a:buNone/>
            </a:pPr>
            <a:r>
              <a:rPr kumimoji="1" lang="zh-CN" altLang="en-US" sz="1800" dirty="0">
                <a:latin typeface="微软雅黑" pitchFamily="34" charset="-122"/>
                <a:ea typeface="微软雅黑" pitchFamily="34" charset="-122"/>
                <a:cs typeface="经典粗黑简" pitchFamily="49" charset="-122"/>
              </a:rPr>
              <a:t>下面是一个小顶堆，输出堆顶元素后，将剩余元素重新调整为一个新堆的方法是：从树根开始，若以某结点为根的子树不是堆，则将其孩子中的较小者与之交换，即将非堆的子树推向叶子方向。</a:t>
            </a:r>
          </a:p>
        </p:txBody>
      </p:sp>
      <p:sp>
        <p:nvSpPr>
          <p:cNvPr id="68" name="Rectangle 2"/>
          <p:cNvSpPr txBox="1">
            <a:spLocks noChangeArrowheads="1"/>
          </p:cNvSpPr>
          <p:nvPr/>
        </p:nvSpPr>
        <p:spPr bwMode="auto">
          <a:xfrm>
            <a:off x="2208065" y="2055113"/>
            <a:ext cx="2305199" cy="36004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dirty="0">
                <a:ea typeface="黑体" pitchFamily="2" charset="-122"/>
              </a:rPr>
              <a:t>②</a:t>
            </a:r>
            <a:r>
              <a:rPr lang="zh-CN" altLang="en-US" sz="2400" dirty="0">
                <a:ea typeface="黑体" pitchFamily="2" charset="-122"/>
              </a:rPr>
              <a:t>、再建堆</a:t>
            </a:r>
          </a:p>
        </p:txBody>
      </p:sp>
      <p:sp>
        <p:nvSpPr>
          <p:cNvPr id="2" name="矩形 1">
            <a:extLst>
              <a:ext uri="{FF2B5EF4-FFF2-40B4-BE49-F238E27FC236}">
                <a16:creationId xmlns:a16="http://schemas.microsoft.com/office/drawing/2014/main" id="{A3EC0679-B19D-BE37-2CEE-45B12452848C}"/>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7376C717-D730-9F53-7880-75F71425567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CC08555-5871-7E65-4E2E-C27595354A65}"/>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4002564033"/>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bwMode="auto">
          <a:xfrm>
            <a:off x="2239352" y="2294186"/>
            <a:ext cx="7506310" cy="774774"/>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marL="0" indent="0">
              <a:buClr>
                <a:schemeClr val="tx1"/>
              </a:buClr>
              <a:buSzPct val="75000"/>
              <a:buNone/>
            </a:pPr>
            <a:r>
              <a:rPr kumimoji="1" lang="zh-CN" altLang="en-US" sz="2100" dirty="0">
                <a:latin typeface="微软雅黑" pitchFamily="34" charset="-122"/>
                <a:ea typeface="微软雅黑" pitchFamily="34" charset="-122"/>
                <a:cs typeface="经典粗黑简" pitchFamily="49" charset="-122"/>
              </a:rPr>
              <a:t>       输出堆顶元素后，将剩余元素重新调整为一个新堆</a:t>
            </a:r>
            <a:r>
              <a:rPr kumimoji="1" lang="en-US" altLang="zh-CN" sz="2100" dirty="0">
                <a:latin typeface="微软雅黑" pitchFamily="34" charset="-122"/>
                <a:ea typeface="微软雅黑" pitchFamily="34" charset="-122"/>
                <a:cs typeface="经典粗黑简" pitchFamily="49" charset="-122"/>
              </a:rPr>
              <a:t>,</a:t>
            </a:r>
            <a:r>
              <a:rPr kumimoji="1" lang="zh-CN" altLang="en-US" sz="2100" dirty="0">
                <a:latin typeface="微软雅黑" pitchFamily="34" charset="-122"/>
                <a:ea typeface="微软雅黑" pitchFamily="34" charset="-122"/>
                <a:cs typeface="经典粗黑简" pitchFamily="49" charset="-122"/>
              </a:rPr>
              <a:t>反复将堆顶元素与序列末端的元素的交换，并重新调整成堆。</a:t>
            </a:r>
          </a:p>
        </p:txBody>
      </p:sp>
      <p:grpSp>
        <p:nvGrpSpPr>
          <p:cNvPr id="679940" name="Group 4"/>
          <p:cNvGrpSpPr>
            <a:grpSpLocks/>
          </p:cNvGrpSpPr>
          <p:nvPr/>
        </p:nvGrpSpPr>
        <p:grpSpPr bwMode="auto">
          <a:xfrm>
            <a:off x="1747228" y="3252787"/>
            <a:ext cx="4181475" cy="2681288"/>
            <a:chOff x="2640" y="2511"/>
            <a:chExt cx="2634" cy="1689"/>
          </a:xfrm>
        </p:grpSpPr>
        <p:sp>
          <p:nvSpPr>
            <p:cNvPr id="68632" name="Oval 5"/>
            <p:cNvSpPr>
              <a:spLocks noChangeArrowheads="1"/>
            </p:cNvSpPr>
            <p:nvPr/>
          </p:nvSpPr>
          <p:spPr bwMode="auto">
            <a:xfrm>
              <a:off x="3994" y="2511"/>
              <a:ext cx="325" cy="293"/>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91</a:t>
              </a:r>
            </a:p>
          </p:txBody>
        </p:sp>
        <p:sp>
          <p:nvSpPr>
            <p:cNvPr id="68633" name="Oval 6"/>
            <p:cNvSpPr>
              <a:spLocks noChangeArrowheads="1"/>
            </p:cNvSpPr>
            <p:nvPr/>
          </p:nvSpPr>
          <p:spPr bwMode="auto">
            <a:xfrm>
              <a:off x="3343" y="2980"/>
              <a:ext cx="325" cy="29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36</a:t>
              </a:r>
            </a:p>
          </p:txBody>
        </p:sp>
        <p:sp>
          <p:nvSpPr>
            <p:cNvPr id="68634" name="Oval 7"/>
            <p:cNvSpPr>
              <a:spLocks noChangeArrowheads="1"/>
            </p:cNvSpPr>
            <p:nvPr/>
          </p:nvSpPr>
          <p:spPr bwMode="auto">
            <a:xfrm>
              <a:off x="2954" y="3460"/>
              <a:ext cx="325" cy="293"/>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85</a:t>
              </a:r>
            </a:p>
          </p:txBody>
        </p:sp>
        <p:sp>
          <p:nvSpPr>
            <p:cNvPr id="68635" name="Oval 8"/>
            <p:cNvSpPr>
              <a:spLocks noChangeArrowheads="1"/>
            </p:cNvSpPr>
            <p:nvPr/>
          </p:nvSpPr>
          <p:spPr bwMode="auto">
            <a:xfrm>
              <a:off x="3733" y="3450"/>
              <a:ext cx="324" cy="293"/>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68636" name="Oval 9"/>
            <p:cNvSpPr>
              <a:spLocks noChangeArrowheads="1"/>
            </p:cNvSpPr>
            <p:nvPr/>
          </p:nvSpPr>
          <p:spPr bwMode="auto">
            <a:xfrm>
              <a:off x="4597" y="2980"/>
              <a:ext cx="325" cy="29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68637" name="AutoShape 10"/>
            <p:cNvCxnSpPr>
              <a:cxnSpLocks noChangeShapeType="1"/>
              <a:stCxn id="68632" idx="3"/>
              <a:endCxn id="68633" idx="7"/>
            </p:cNvCxnSpPr>
            <p:nvPr/>
          </p:nvCxnSpPr>
          <p:spPr bwMode="auto">
            <a:xfrm flipH="1">
              <a:off x="3620" y="2761"/>
              <a:ext cx="422" cy="26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8" name="AutoShape 11"/>
            <p:cNvCxnSpPr>
              <a:cxnSpLocks noChangeShapeType="1"/>
              <a:stCxn id="68633" idx="3"/>
              <a:endCxn id="68634" idx="7"/>
            </p:cNvCxnSpPr>
            <p:nvPr/>
          </p:nvCxnSpPr>
          <p:spPr bwMode="auto">
            <a:xfrm flipH="1">
              <a:off x="3231" y="3231"/>
              <a:ext cx="160" cy="27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9" name="AutoShape 12"/>
            <p:cNvCxnSpPr>
              <a:cxnSpLocks noChangeShapeType="1"/>
              <a:stCxn id="68632" idx="5"/>
              <a:endCxn id="68636" idx="1"/>
            </p:cNvCxnSpPr>
            <p:nvPr/>
          </p:nvCxnSpPr>
          <p:spPr bwMode="auto">
            <a:xfrm>
              <a:off x="4271" y="2761"/>
              <a:ext cx="374" cy="26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0" name="AutoShape 13"/>
            <p:cNvCxnSpPr>
              <a:cxnSpLocks noChangeShapeType="1"/>
              <a:stCxn id="68633" idx="5"/>
              <a:endCxn id="68635" idx="1"/>
            </p:cNvCxnSpPr>
            <p:nvPr/>
          </p:nvCxnSpPr>
          <p:spPr bwMode="auto">
            <a:xfrm>
              <a:off x="3620" y="3231"/>
              <a:ext cx="160" cy="26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41" name="Oval 14"/>
            <p:cNvSpPr>
              <a:spLocks noChangeArrowheads="1"/>
            </p:cNvSpPr>
            <p:nvPr/>
          </p:nvSpPr>
          <p:spPr bwMode="auto">
            <a:xfrm>
              <a:off x="4250" y="3439"/>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68642" name="AutoShape 15"/>
            <p:cNvCxnSpPr>
              <a:cxnSpLocks noChangeShapeType="1"/>
              <a:endCxn id="68641" idx="7"/>
            </p:cNvCxnSpPr>
            <p:nvPr/>
          </p:nvCxnSpPr>
          <p:spPr bwMode="auto">
            <a:xfrm flipH="1">
              <a:off x="4527" y="3280"/>
              <a:ext cx="159" cy="20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43" name="Oval 16"/>
            <p:cNvSpPr>
              <a:spLocks noChangeArrowheads="1"/>
            </p:cNvSpPr>
            <p:nvPr/>
          </p:nvSpPr>
          <p:spPr bwMode="auto">
            <a:xfrm>
              <a:off x="4950" y="3486"/>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68644" name="AutoShape 17"/>
            <p:cNvCxnSpPr>
              <a:cxnSpLocks noChangeShapeType="1"/>
              <a:endCxn id="68643" idx="1"/>
            </p:cNvCxnSpPr>
            <p:nvPr/>
          </p:nvCxnSpPr>
          <p:spPr bwMode="auto">
            <a:xfrm>
              <a:off x="4837" y="3268"/>
              <a:ext cx="160" cy="2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45" name="Oval 18"/>
            <p:cNvSpPr>
              <a:spLocks noChangeArrowheads="1"/>
            </p:cNvSpPr>
            <p:nvPr/>
          </p:nvSpPr>
          <p:spPr bwMode="auto">
            <a:xfrm>
              <a:off x="2640" y="3907"/>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cxnSp>
          <p:nvCxnSpPr>
            <p:cNvPr id="68646" name="AutoShape 19"/>
            <p:cNvCxnSpPr>
              <a:cxnSpLocks noChangeShapeType="1"/>
              <a:endCxn id="68645" idx="7"/>
            </p:cNvCxnSpPr>
            <p:nvPr/>
          </p:nvCxnSpPr>
          <p:spPr bwMode="auto">
            <a:xfrm flipH="1">
              <a:off x="2917" y="3748"/>
              <a:ext cx="159" cy="20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79956" name="AutoShape 20"/>
          <p:cNvSpPr>
            <a:spLocks noChangeArrowheads="1"/>
          </p:cNvSpPr>
          <p:nvPr/>
        </p:nvSpPr>
        <p:spPr bwMode="auto">
          <a:xfrm>
            <a:off x="5611813" y="4073525"/>
            <a:ext cx="1447800" cy="381000"/>
          </a:xfrm>
          <a:prstGeom prst="rightArrow">
            <a:avLst>
              <a:gd name="adj1" fmla="val 50000"/>
              <a:gd name="adj2" fmla="val 9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679958" name="Group 22"/>
          <p:cNvGrpSpPr>
            <a:grpSpLocks/>
          </p:cNvGrpSpPr>
          <p:nvPr/>
        </p:nvGrpSpPr>
        <p:grpSpPr bwMode="auto">
          <a:xfrm>
            <a:off x="6078538" y="3267992"/>
            <a:ext cx="4181475" cy="2681288"/>
            <a:chOff x="2784" y="2496"/>
            <a:chExt cx="2634" cy="1689"/>
          </a:xfrm>
        </p:grpSpPr>
        <p:sp>
          <p:nvSpPr>
            <p:cNvPr id="68617" name="Oval 23"/>
            <p:cNvSpPr>
              <a:spLocks noChangeArrowheads="1"/>
            </p:cNvSpPr>
            <p:nvPr/>
          </p:nvSpPr>
          <p:spPr bwMode="auto">
            <a:xfrm>
              <a:off x="4138" y="2496"/>
              <a:ext cx="325"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91</a:t>
              </a:r>
            </a:p>
          </p:txBody>
        </p:sp>
        <p:sp>
          <p:nvSpPr>
            <p:cNvPr id="68618" name="Oval 24"/>
            <p:cNvSpPr>
              <a:spLocks noChangeArrowheads="1"/>
            </p:cNvSpPr>
            <p:nvPr/>
          </p:nvSpPr>
          <p:spPr bwMode="auto">
            <a:xfrm>
              <a:off x="3487" y="2965"/>
              <a:ext cx="325" cy="294"/>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dirty="0">
                  <a:latin typeface="Tahoma" pitchFamily="34" charset="0"/>
                </a:rPr>
                <a:t>85</a:t>
              </a:r>
            </a:p>
          </p:txBody>
        </p:sp>
        <p:sp>
          <p:nvSpPr>
            <p:cNvPr id="68619" name="Oval 25"/>
            <p:cNvSpPr>
              <a:spLocks noChangeArrowheads="1"/>
            </p:cNvSpPr>
            <p:nvPr/>
          </p:nvSpPr>
          <p:spPr bwMode="auto">
            <a:xfrm>
              <a:off x="3098" y="3445"/>
              <a:ext cx="325"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47</a:t>
              </a:r>
            </a:p>
          </p:txBody>
        </p:sp>
        <p:sp>
          <p:nvSpPr>
            <p:cNvPr id="68620" name="Oval 26"/>
            <p:cNvSpPr>
              <a:spLocks noChangeArrowheads="1"/>
            </p:cNvSpPr>
            <p:nvPr/>
          </p:nvSpPr>
          <p:spPr bwMode="auto">
            <a:xfrm>
              <a:off x="3877" y="3435"/>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36</a:t>
              </a:r>
            </a:p>
          </p:txBody>
        </p:sp>
        <p:sp>
          <p:nvSpPr>
            <p:cNvPr id="68621" name="Oval 27"/>
            <p:cNvSpPr>
              <a:spLocks noChangeArrowheads="1"/>
            </p:cNvSpPr>
            <p:nvPr/>
          </p:nvSpPr>
          <p:spPr bwMode="auto">
            <a:xfrm>
              <a:off x="4741" y="2965"/>
              <a:ext cx="325" cy="294"/>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53</a:t>
              </a:r>
            </a:p>
          </p:txBody>
        </p:sp>
        <p:cxnSp>
          <p:nvCxnSpPr>
            <p:cNvPr id="68622" name="AutoShape 28"/>
            <p:cNvCxnSpPr>
              <a:cxnSpLocks noChangeShapeType="1"/>
              <a:stCxn id="68617" idx="3"/>
              <a:endCxn id="68618" idx="7"/>
            </p:cNvCxnSpPr>
            <p:nvPr/>
          </p:nvCxnSpPr>
          <p:spPr bwMode="auto">
            <a:xfrm flipH="1">
              <a:off x="3764" y="2746"/>
              <a:ext cx="422" cy="26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3" name="AutoShape 29"/>
            <p:cNvCxnSpPr>
              <a:cxnSpLocks noChangeShapeType="1"/>
              <a:stCxn id="68618" idx="3"/>
              <a:endCxn id="68619" idx="7"/>
            </p:cNvCxnSpPr>
            <p:nvPr/>
          </p:nvCxnSpPr>
          <p:spPr bwMode="auto">
            <a:xfrm flipH="1">
              <a:off x="3375" y="3216"/>
              <a:ext cx="160" cy="27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4" name="AutoShape 30"/>
            <p:cNvCxnSpPr>
              <a:cxnSpLocks noChangeShapeType="1"/>
              <a:stCxn id="68617" idx="5"/>
              <a:endCxn id="68621" idx="1"/>
            </p:cNvCxnSpPr>
            <p:nvPr/>
          </p:nvCxnSpPr>
          <p:spPr bwMode="auto">
            <a:xfrm>
              <a:off x="4415" y="2746"/>
              <a:ext cx="374" cy="26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5" name="AutoShape 31"/>
            <p:cNvCxnSpPr>
              <a:cxnSpLocks noChangeShapeType="1"/>
              <a:stCxn id="68618" idx="5"/>
              <a:endCxn id="68620" idx="1"/>
            </p:cNvCxnSpPr>
            <p:nvPr/>
          </p:nvCxnSpPr>
          <p:spPr bwMode="auto">
            <a:xfrm>
              <a:off x="3764" y="3216"/>
              <a:ext cx="160" cy="26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26" name="Oval 32"/>
            <p:cNvSpPr>
              <a:spLocks noChangeArrowheads="1"/>
            </p:cNvSpPr>
            <p:nvPr/>
          </p:nvSpPr>
          <p:spPr bwMode="auto">
            <a:xfrm>
              <a:off x="4394" y="3424"/>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30</a:t>
              </a:r>
            </a:p>
          </p:txBody>
        </p:sp>
        <p:cxnSp>
          <p:nvCxnSpPr>
            <p:cNvPr id="68627" name="AutoShape 33"/>
            <p:cNvCxnSpPr>
              <a:cxnSpLocks noChangeShapeType="1"/>
              <a:endCxn id="68626" idx="7"/>
            </p:cNvCxnSpPr>
            <p:nvPr/>
          </p:nvCxnSpPr>
          <p:spPr bwMode="auto">
            <a:xfrm flipH="1">
              <a:off x="4671" y="3265"/>
              <a:ext cx="159" cy="20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28" name="Oval 34"/>
            <p:cNvSpPr>
              <a:spLocks noChangeArrowheads="1"/>
            </p:cNvSpPr>
            <p:nvPr/>
          </p:nvSpPr>
          <p:spPr bwMode="auto">
            <a:xfrm>
              <a:off x="5094" y="3471"/>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24</a:t>
              </a:r>
            </a:p>
          </p:txBody>
        </p:sp>
        <p:cxnSp>
          <p:nvCxnSpPr>
            <p:cNvPr id="68629" name="AutoShape 35"/>
            <p:cNvCxnSpPr>
              <a:cxnSpLocks noChangeShapeType="1"/>
              <a:endCxn id="68628" idx="1"/>
            </p:cNvCxnSpPr>
            <p:nvPr/>
          </p:nvCxnSpPr>
          <p:spPr bwMode="auto">
            <a:xfrm>
              <a:off x="4981" y="3253"/>
              <a:ext cx="160" cy="261"/>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30" name="Oval 36"/>
            <p:cNvSpPr>
              <a:spLocks noChangeArrowheads="1"/>
            </p:cNvSpPr>
            <p:nvPr/>
          </p:nvSpPr>
          <p:spPr bwMode="auto">
            <a:xfrm>
              <a:off x="2784" y="3892"/>
              <a:ext cx="324" cy="293"/>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FontTx/>
                <a:buNone/>
              </a:pPr>
              <a:r>
                <a:rPr kumimoji="1" lang="en-US" altLang="zh-CN" sz="2400">
                  <a:latin typeface="Tahoma" pitchFamily="34" charset="0"/>
                </a:rPr>
                <a:t>12</a:t>
              </a:r>
            </a:p>
          </p:txBody>
        </p:sp>
        <p:cxnSp>
          <p:nvCxnSpPr>
            <p:cNvPr id="68631" name="AutoShape 37"/>
            <p:cNvCxnSpPr>
              <a:cxnSpLocks noChangeShapeType="1"/>
              <a:endCxn id="68630" idx="7"/>
            </p:cNvCxnSpPr>
            <p:nvPr/>
          </p:nvCxnSpPr>
          <p:spPr bwMode="auto">
            <a:xfrm flipH="1">
              <a:off x="3061" y="3733"/>
              <a:ext cx="159" cy="202"/>
            </a:xfrm>
            <a:prstGeom prst="straightConnector1">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矩形 1">
            <a:extLst>
              <a:ext uri="{FF2B5EF4-FFF2-40B4-BE49-F238E27FC236}">
                <a16:creationId xmlns:a16="http://schemas.microsoft.com/office/drawing/2014/main" id="{9FBB3824-DD33-7E48-5DB5-4863F8EDDB08}"/>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C6A26762-49E3-4CFA-95BD-95E3BE9509E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03D3FF7E-D372-62AB-A9D1-CBB5150B96EA}"/>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42077213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79940"/>
                                        </p:tgtEl>
                                        <p:attrNameLst>
                                          <p:attrName>style.visibility</p:attrName>
                                        </p:attrNameLst>
                                      </p:cBhvr>
                                      <p:to>
                                        <p:strVal val="visible"/>
                                      </p:to>
                                    </p:set>
                                    <p:animEffect transition="in" filter="wipe(up)">
                                      <p:cBhvr>
                                        <p:cTn id="7" dur="500"/>
                                        <p:tgtEl>
                                          <p:spTgt spid="6799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79956"/>
                                        </p:tgtEl>
                                        <p:attrNameLst>
                                          <p:attrName>style.visibility</p:attrName>
                                        </p:attrNameLst>
                                      </p:cBhvr>
                                      <p:to>
                                        <p:strVal val="visible"/>
                                      </p:to>
                                    </p:set>
                                    <p:animEffect transition="in" filter="wipe(up)">
                                      <p:cBhvr>
                                        <p:cTn id="12" dur="500"/>
                                        <p:tgtEl>
                                          <p:spTgt spid="6799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79958"/>
                                        </p:tgtEl>
                                        <p:attrNameLst>
                                          <p:attrName>style.visibility</p:attrName>
                                        </p:attrNameLst>
                                      </p:cBhvr>
                                      <p:to>
                                        <p:strVal val="visible"/>
                                      </p:to>
                                    </p:set>
                                    <p:animEffect transition="in" filter="wipe(up)">
                                      <p:cBhvr>
                                        <p:cTn id="17" dur="500"/>
                                        <p:tgtEl>
                                          <p:spTgt spid="679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5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95600" y="2203788"/>
            <a:ext cx="7488832" cy="937180"/>
          </a:xfrm>
          <a:prstGeom prst="rect">
            <a:avLst/>
          </a:prstGeom>
        </p:spPr>
        <p:txBody>
          <a:bodyPr wrap="square">
            <a:spAutoFit/>
          </a:bodyPr>
          <a:lstStyle/>
          <a:p>
            <a:pPr algn="just">
              <a:spcBef>
                <a:spcPct val="5000"/>
              </a:spcBef>
              <a:buClr>
                <a:schemeClr val="tx1"/>
              </a:buClr>
              <a:buSzPct val="80000"/>
            </a:pPr>
            <a:r>
              <a:rPr kumimoji="1" lang="zh-CN" altLang="en-US" dirty="0">
                <a:latin typeface="微软雅黑" pitchFamily="34" charset="-122"/>
                <a:ea typeface="微软雅黑" pitchFamily="34" charset="-122"/>
                <a:cs typeface="经典粗黑简" pitchFamily="49" charset="-122"/>
              </a:rPr>
              <a:t>调整堆元素</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筛选</a:t>
            </a:r>
            <a:r>
              <a:rPr kumimoji="1" lang="en-US" altLang="zh-CN" dirty="0">
                <a:latin typeface="微软雅黑" pitchFamily="34" charset="-122"/>
                <a:ea typeface="微软雅黑" pitchFamily="34" charset="-122"/>
                <a:cs typeface="经典粗黑简" pitchFamily="49" charset="-122"/>
              </a:rPr>
              <a:t>)</a:t>
            </a:r>
          </a:p>
          <a:p>
            <a:pPr algn="just">
              <a:spcBef>
                <a:spcPct val="5000"/>
              </a:spcBef>
            </a:pPr>
            <a:r>
              <a:rPr kumimoji="1" lang="en-US" altLang="zh-CN" dirty="0">
                <a:latin typeface="微软雅黑" pitchFamily="34" charset="-122"/>
                <a:ea typeface="微软雅黑" pitchFamily="34" charset="-122"/>
                <a:cs typeface="经典粗黑简" pitchFamily="49" charset="-122"/>
              </a:rPr>
              <a:t>    </a:t>
            </a:r>
            <a:r>
              <a:rPr kumimoji="1" lang="zh-CN" altLang="en-US" dirty="0">
                <a:latin typeface="微软雅黑" pitchFamily="34" charset="-122"/>
                <a:ea typeface="微软雅黑" pitchFamily="34" charset="-122"/>
                <a:cs typeface="经典粗黑简" pitchFamily="49" charset="-122"/>
              </a:rPr>
              <a:t>对于给出的关键字序列，经初始建堆后便得到小</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大</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顶堆，从而得到最小</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大</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关键字。</a:t>
            </a:r>
            <a:endParaRPr lang="zh-CN" altLang="en-US" dirty="0"/>
          </a:p>
        </p:txBody>
      </p:sp>
      <p:sp>
        <p:nvSpPr>
          <p:cNvPr id="4" name="矩形 3"/>
          <p:cNvSpPr/>
          <p:nvPr/>
        </p:nvSpPr>
        <p:spPr>
          <a:xfrm>
            <a:off x="2495600" y="3178381"/>
            <a:ext cx="7560840"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在输出堆顶元素之后，用堆中最后一个元素替代之。此时由于以</a:t>
            </a:r>
            <a:r>
              <a:rPr kumimoji="1" lang="en-US" altLang="zh-CN" dirty="0">
                <a:latin typeface="微软雅黑" pitchFamily="34" charset="-122"/>
                <a:ea typeface="微软雅黑" pitchFamily="34" charset="-122"/>
                <a:cs typeface="经典粗黑简" pitchFamily="49" charset="-122"/>
              </a:rPr>
              <a:t>K2</a:t>
            </a:r>
            <a:r>
              <a:rPr kumimoji="1" lang="zh-CN" altLang="en-US" dirty="0">
                <a:latin typeface="微软雅黑" pitchFamily="34" charset="-122"/>
                <a:ea typeface="微软雅黑" pitchFamily="34" charset="-122"/>
                <a:cs typeface="经典粗黑简" pitchFamily="49" charset="-122"/>
              </a:rPr>
              <a:t>和</a:t>
            </a:r>
            <a:r>
              <a:rPr kumimoji="1" lang="en-US" altLang="zh-CN" dirty="0">
                <a:latin typeface="微软雅黑" pitchFamily="34" charset="-122"/>
                <a:ea typeface="微软雅黑" pitchFamily="34" charset="-122"/>
                <a:cs typeface="经典粗黑简" pitchFamily="49" charset="-122"/>
              </a:rPr>
              <a:t>K3</a:t>
            </a:r>
            <a:r>
              <a:rPr kumimoji="1" lang="zh-CN" altLang="en-US" dirty="0">
                <a:latin typeface="微软雅黑" pitchFamily="34" charset="-122"/>
                <a:ea typeface="微软雅黑" pitchFamily="34" charset="-122"/>
                <a:cs typeface="经典粗黑简" pitchFamily="49" charset="-122"/>
              </a:rPr>
              <a:t>为根的</a:t>
            </a:r>
            <a:r>
              <a:rPr kumimoji="1" lang="zh-CN" altLang="en-US" dirty="0">
                <a:latin typeface="微软雅黑" pitchFamily="34" charset="-122"/>
                <a:ea typeface="微软雅黑" pitchFamily="34" charset="-122"/>
                <a:cs typeface="经典粗黑简" pitchFamily="49" charset="-122"/>
                <a:hlinkClick r:id="rId2" action="ppaction://hlinksldjump"/>
              </a:rPr>
              <a:t>子树仍具有堆的特性</a:t>
            </a:r>
            <a:r>
              <a:rPr kumimoji="1" lang="zh-CN" altLang="en-US" dirty="0">
                <a:latin typeface="微软雅黑" pitchFamily="34" charset="-122"/>
                <a:ea typeface="微软雅黑" pitchFamily="34" charset="-122"/>
                <a:cs typeface="经典粗黑简" pitchFamily="49" charset="-122"/>
              </a:rPr>
              <a:t>，因此只需自上而下进行调整即可。</a:t>
            </a:r>
            <a:endParaRPr lang="zh-CN" altLang="en-US" dirty="0"/>
          </a:p>
        </p:txBody>
      </p:sp>
      <p:sp>
        <p:nvSpPr>
          <p:cNvPr id="5" name="矩形 4"/>
          <p:cNvSpPr/>
          <p:nvPr/>
        </p:nvSpPr>
        <p:spPr>
          <a:xfrm>
            <a:off x="2495600" y="3933056"/>
            <a:ext cx="7488832" cy="1477328"/>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调整过程为：首先令</a:t>
            </a:r>
            <a:r>
              <a:rPr kumimoji="1" lang="en-US" altLang="zh-CN" dirty="0">
                <a:latin typeface="微软雅黑" pitchFamily="34" charset="-122"/>
                <a:ea typeface="微软雅黑" pitchFamily="34" charset="-122"/>
                <a:cs typeface="经典粗黑简" pitchFamily="49" charset="-122"/>
              </a:rPr>
              <a:t>K1</a:t>
            </a:r>
            <a:r>
              <a:rPr kumimoji="1" lang="zh-CN" altLang="en-US" dirty="0">
                <a:latin typeface="微软雅黑" pitchFamily="34" charset="-122"/>
                <a:ea typeface="微软雅黑" pitchFamily="34" charset="-122"/>
                <a:cs typeface="经典粗黑简" pitchFamily="49" charset="-122"/>
              </a:rPr>
              <a:t>的两个子树根进行比较，令其中较小</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大</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者与</a:t>
            </a:r>
            <a:r>
              <a:rPr kumimoji="1" lang="en-US" altLang="zh-CN" dirty="0">
                <a:latin typeface="微软雅黑" pitchFamily="34" charset="-122"/>
                <a:ea typeface="微软雅黑" pitchFamily="34" charset="-122"/>
                <a:cs typeface="经典粗黑简" pitchFamily="49" charset="-122"/>
              </a:rPr>
              <a:t>K1</a:t>
            </a:r>
            <a:r>
              <a:rPr kumimoji="1" lang="zh-CN" altLang="en-US" dirty="0">
                <a:latin typeface="微软雅黑" pitchFamily="34" charset="-122"/>
                <a:ea typeface="微软雅黑" pitchFamily="34" charset="-122"/>
                <a:cs typeface="经典粗黑简" pitchFamily="49" charset="-122"/>
              </a:rPr>
              <a:t>相比较，将最小</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大</a:t>
            </a:r>
            <a:r>
              <a:rPr kumimoji="1" lang="en-US" altLang="zh-CN" dirty="0">
                <a:latin typeface="微软雅黑" pitchFamily="34" charset="-122"/>
                <a:ea typeface="微软雅黑" pitchFamily="34" charset="-122"/>
                <a:cs typeface="经典粗黑简" pitchFamily="49" charset="-122"/>
              </a:rPr>
              <a:t>)</a:t>
            </a:r>
            <a:r>
              <a:rPr kumimoji="1" lang="zh-CN" altLang="en-US" dirty="0">
                <a:latin typeface="微软雅黑" pitchFamily="34" charset="-122"/>
                <a:ea typeface="微软雅黑" pitchFamily="34" charset="-122"/>
                <a:cs typeface="经典粗黑简" pitchFamily="49" charset="-122"/>
              </a:rPr>
              <a:t>元素交换至</a:t>
            </a:r>
            <a:r>
              <a:rPr kumimoji="1" lang="en-US" altLang="zh-CN" dirty="0">
                <a:latin typeface="微软雅黑" pitchFamily="34" charset="-122"/>
                <a:ea typeface="微软雅黑" pitchFamily="34" charset="-122"/>
                <a:cs typeface="经典粗黑简" pitchFamily="49" charset="-122"/>
              </a:rPr>
              <a:t>K1</a:t>
            </a:r>
            <a:r>
              <a:rPr kumimoji="1" lang="zh-CN" altLang="en-US" dirty="0">
                <a:latin typeface="微软雅黑" pitchFamily="34" charset="-122"/>
                <a:ea typeface="微软雅黑" pitchFamily="34" charset="-122"/>
                <a:cs typeface="经典粗黑简" pitchFamily="49" charset="-122"/>
              </a:rPr>
              <a:t>，使得</a:t>
            </a:r>
            <a:r>
              <a:rPr kumimoji="1" lang="en-US" altLang="zh-CN" dirty="0">
                <a:latin typeface="微软雅黑" pitchFamily="34" charset="-122"/>
                <a:ea typeface="微软雅黑" pitchFamily="34" charset="-122"/>
                <a:cs typeface="经典粗黑简" pitchFamily="49" charset="-122"/>
              </a:rPr>
              <a:t>K1</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K2</a:t>
            </a:r>
            <a:r>
              <a:rPr kumimoji="1" lang="zh-CN" altLang="en-US" dirty="0">
                <a:latin typeface="微软雅黑" pitchFamily="34" charset="-122"/>
                <a:ea typeface="微软雅黑" pitchFamily="34" charset="-122"/>
                <a:cs typeface="经典粗黑简" pitchFamily="49" charset="-122"/>
              </a:rPr>
              <a:t>和</a:t>
            </a:r>
            <a:r>
              <a:rPr kumimoji="1" lang="en-US" altLang="zh-CN" dirty="0">
                <a:latin typeface="微软雅黑" pitchFamily="34" charset="-122"/>
                <a:ea typeface="微软雅黑" pitchFamily="34" charset="-122"/>
                <a:cs typeface="经典粗黑简" pitchFamily="49" charset="-122"/>
              </a:rPr>
              <a:t>K3</a:t>
            </a:r>
            <a:r>
              <a:rPr kumimoji="1" lang="zh-CN" altLang="en-US" dirty="0">
                <a:latin typeface="微软雅黑" pitchFamily="34" charset="-122"/>
                <a:ea typeface="微软雅黑" pitchFamily="34" charset="-122"/>
                <a:cs typeface="经典粗黑简" pitchFamily="49" charset="-122"/>
              </a:rPr>
              <a:t>成为堆。由于</a:t>
            </a:r>
            <a:r>
              <a:rPr kumimoji="1" lang="zh-CN" altLang="en-US" dirty="0">
                <a:latin typeface="微软雅黑" pitchFamily="34" charset="-122"/>
                <a:ea typeface="微软雅黑" pitchFamily="34" charset="-122"/>
                <a:cs typeface="经典粗黑简" pitchFamily="49" charset="-122"/>
                <a:hlinkClick r:id="rId2" action="ppaction://hlinksldjump"/>
              </a:rPr>
              <a:t>交换后破坏了子树的堆性质</a:t>
            </a:r>
            <a:r>
              <a:rPr kumimoji="1" lang="zh-CN" altLang="en-US" dirty="0">
                <a:latin typeface="微软雅黑" pitchFamily="34" charset="-122"/>
                <a:ea typeface="微软雅黑" pitchFamily="34" charset="-122"/>
                <a:cs typeface="经典粗黑简" pitchFamily="49" charset="-122"/>
              </a:rPr>
              <a:t>，则需再次进行与上述过程类似的调整，直至进行到最下层的叶结点为止。调整后即得到一个有</a:t>
            </a:r>
            <a:r>
              <a:rPr kumimoji="1" lang="en-US" altLang="zh-CN" dirty="0">
                <a:latin typeface="微软雅黑" pitchFamily="34" charset="-122"/>
                <a:ea typeface="微软雅黑" pitchFamily="34" charset="-122"/>
                <a:cs typeface="经典粗黑简" pitchFamily="49" charset="-122"/>
              </a:rPr>
              <a:t>n-1</a:t>
            </a:r>
            <a:r>
              <a:rPr kumimoji="1" lang="zh-CN" altLang="en-US" dirty="0">
                <a:latin typeface="微软雅黑" pitchFamily="34" charset="-122"/>
                <a:ea typeface="微软雅黑" pitchFamily="34" charset="-122"/>
                <a:cs typeface="经典粗黑简" pitchFamily="49" charset="-122"/>
              </a:rPr>
              <a:t>个元素的新堆，从而得到次小关键字</a:t>
            </a:r>
            <a:endParaRPr lang="zh-CN" altLang="en-US" dirty="0"/>
          </a:p>
        </p:txBody>
      </p:sp>
      <p:sp>
        <p:nvSpPr>
          <p:cNvPr id="2" name="矩形 1">
            <a:extLst>
              <a:ext uri="{FF2B5EF4-FFF2-40B4-BE49-F238E27FC236}">
                <a16:creationId xmlns:a16="http://schemas.microsoft.com/office/drawing/2014/main" id="{C3A790B1-5155-8ACC-998E-EC7DD1A55E77}"/>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6" name="直接连接符 5">
            <a:extLst>
              <a:ext uri="{FF2B5EF4-FFF2-40B4-BE49-F238E27FC236}">
                <a16:creationId xmlns:a16="http://schemas.microsoft.com/office/drawing/2014/main" id="{21531885-F0BD-3087-3D14-1FFCC84BDCC6}"/>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38F3C395-C99D-A031-6444-9F4944AB69A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6056865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E7AE6A-D830-EEB6-86F6-86B44306D962}"/>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53BAD15B-BDF4-8671-051B-C92796DF324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CA2EB944-F9C1-4044-63E8-33256B69F32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Text Box 2">
            <a:extLst>
              <a:ext uri="{FF2B5EF4-FFF2-40B4-BE49-F238E27FC236}">
                <a16:creationId xmlns:a16="http://schemas.microsoft.com/office/drawing/2014/main" id="{6E8FFCCF-9EC4-396C-A78E-FAC1DC803D5A}"/>
              </a:ext>
            </a:extLst>
          </p:cNvPr>
          <p:cNvSpPr txBox="1">
            <a:spLocks noChangeArrowheads="1"/>
          </p:cNvSpPr>
          <p:nvPr/>
        </p:nvSpPr>
        <p:spPr bwMode="auto">
          <a:xfrm>
            <a:off x="1426285" y="2031109"/>
            <a:ext cx="8856984" cy="4711835"/>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08000">
            <a:spAutoFit/>
          </a:bodyPr>
          <a:lstStyle/>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a:solidFill>
                  <a:srgbClr val="FF0000"/>
                </a:solidFill>
                <a:latin typeface="Consolas" pitchFamily="49" charset="0"/>
                <a:ea typeface="仿宋" pitchFamily="49" charset="-122"/>
                <a:cs typeface="Consolas" pitchFamily="49" charset="0"/>
              </a:rPr>
              <a:t>sift</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R[]</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int low</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int high) 	</a:t>
            </a:r>
            <a:r>
              <a:rPr kumimoji="1" lang="en-US" altLang="zh-CN" sz="1800" dirty="0">
                <a:solidFill>
                  <a:srgbClr val="00B050"/>
                </a:solidFill>
                <a:latin typeface="Consolas" pitchFamily="49" charset="0"/>
                <a:ea typeface="仿宋" pitchFamily="49" charset="-122"/>
                <a:cs typeface="Consolas" pitchFamily="49" charset="0"/>
              </a:rPr>
              <a:t>//</a:t>
            </a:r>
            <a:r>
              <a:rPr kumimoji="1" lang="zh-CN" altLang="en-US" sz="1800" dirty="0">
                <a:solidFill>
                  <a:srgbClr val="00B050"/>
                </a:solidFill>
                <a:latin typeface="Consolas" pitchFamily="49" charset="0"/>
                <a:ea typeface="仿宋" pitchFamily="49" charset="-122"/>
                <a:cs typeface="Consolas" pitchFamily="49" charset="0"/>
              </a:rPr>
              <a:t>调整堆的算法</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int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=low</a:t>
            </a:r>
            <a:r>
              <a:rPr kumimoji="1" lang="zh-CN" altLang="en-US" sz="1800" dirty="0">
                <a:solidFill>
                  <a:srgbClr val="1000E4"/>
                </a:solidFill>
                <a:latin typeface="Consolas" pitchFamily="49" charset="0"/>
                <a:ea typeface="仿宋" pitchFamily="49" charset="-122"/>
                <a:cs typeface="Consolas" pitchFamily="49" charset="0"/>
              </a:rPr>
              <a:t>，</a:t>
            </a:r>
            <a:r>
              <a:rPr kumimoji="1" lang="en-US" altLang="zh-CN" sz="1800" dirty="0">
                <a:solidFill>
                  <a:srgbClr val="1000E4"/>
                </a:solidFill>
                <a:latin typeface="Consolas" pitchFamily="49" charset="0"/>
                <a:ea typeface="仿宋" pitchFamily="49" charset="-122"/>
                <a:cs typeface="Consolas" pitchFamily="49" charset="0"/>
              </a:rPr>
              <a:t>j=2*</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//R[j]</a:t>
            </a:r>
            <a:r>
              <a:rPr kumimoji="1" lang="zh-CN" altLang="en-US" sz="1800" dirty="0">
                <a:solidFill>
                  <a:srgbClr val="00B0F0"/>
                </a:solidFill>
                <a:latin typeface="Consolas" pitchFamily="49" charset="0"/>
                <a:ea typeface="仿宋" pitchFamily="49" charset="-122"/>
                <a:cs typeface="Consolas" pitchFamily="49" charset="0"/>
              </a:rPr>
              <a:t>是</a:t>
            </a:r>
            <a:r>
              <a:rPr kumimoji="1" lang="en-US" altLang="zh-CN" sz="1800" dirty="0">
                <a:solidFill>
                  <a:srgbClr val="00B0F0"/>
                </a:solidFill>
                <a:latin typeface="Consolas" pitchFamily="49" charset="0"/>
                <a:ea typeface="仿宋" pitchFamily="49" charset="-122"/>
                <a:cs typeface="Consolas" pitchFamily="49" charset="0"/>
              </a:rPr>
              <a:t>R[</a:t>
            </a:r>
            <a:r>
              <a:rPr kumimoji="1" lang="en-US" altLang="zh-CN" sz="1800" dirty="0" err="1">
                <a:solidFill>
                  <a:srgbClr val="00B0F0"/>
                </a:solidFill>
                <a:latin typeface="Consolas" pitchFamily="49" charset="0"/>
                <a:ea typeface="仿宋" pitchFamily="49" charset="-122"/>
                <a:cs typeface="Consolas" pitchFamily="49" charset="0"/>
              </a:rPr>
              <a:t>i</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的左孩子</a:t>
            </a:r>
          </a:p>
          <a:p>
            <a:pPr algn="just">
              <a:lnSpc>
                <a:spcPts val="1300"/>
              </a:lnSpc>
              <a:spcBef>
                <a:spcPct val="50000"/>
              </a:spcBef>
            </a:pPr>
            <a:r>
              <a:rPr kumimoji="1" lang="zh-CN" altLang="en-US"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tmp</a:t>
            </a:r>
            <a:r>
              <a:rPr kumimoji="1" lang="en-US" altLang="zh-CN" sz="1800" dirty="0">
                <a:solidFill>
                  <a:srgbClr val="1000E4"/>
                </a:solidFill>
                <a:latin typeface="Consolas" pitchFamily="49" charset="0"/>
                <a:ea typeface="仿宋" pitchFamily="49" charset="-122"/>
                <a:cs typeface="Consolas" pitchFamily="49" charset="0"/>
              </a:rPr>
              <a:t>=R[</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while (</a:t>
            </a:r>
            <a:r>
              <a:rPr kumimoji="1" lang="en-US" altLang="zh-CN" sz="1800" dirty="0">
                <a:solidFill>
                  <a:srgbClr val="FF00FF"/>
                </a:solidFill>
                <a:latin typeface="Consolas" pitchFamily="49" charset="0"/>
                <a:ea typeface="仿宋" pitchFamily="49" charset="-122"/>
                <a:cs typeface="Consolas" pitchFamily="49" charset="0"/>
              </a:rPr>
              <a:t>j&lt;=high</a:t>
            </a:r>
            <a:r>
              <a:rPr kumimoji="1" lang="en-US" altLang="zh-CN" sz="1800" dirty="0">
                <a:solidFill>
                  <a:srgbClr val="1000E4"/>
                </a:solidFill>
                <a:latin typeface="Consolas" pitchFamily="49" charset="0"/>
                <a:ea typeface="仿宋" pitchFamily="49" charset="-122"/>
                <a:cs typeface="Consolas" pitchFamily="49" charset="0"/>
              </a:rPr>
              <a:t>) </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p>
          <a:p>
            <a:pPr algn="just">
              <a:lnSpc>
                <a:spcPts val="1300"/>
              </a:lnSpc>
              <a:spcBef>
                <a:spcPct val="50000"/>
              </a:spcBef>
            </a:pPr>
            <a:r>
              <a:rPr kumimoji="1" lang="en-US" altLang="zh-CN" sz="1800" dirty="0">
                <a:solidFill>
                  <a:srgbClr val="FF00FF"/>
                </a:solidFill>
                <a:latin typeface="Consolas" pitchFamily="49" charset="0"/>
                <a:ea typeface="仿宋" pitchFamily="49" charset="-122"/>
                <a:cs typeface="Consolas" pitchFamily="49" charset="0"/>
              </a:rPr>
              <a:t>     if (j&lt;high &amp;&amp; R[j].key&lt;R[j+1].key) j++;</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if (</a:t>
            </a:r>
            <a:r>
              <a:rPr kumimoji="1" lang="en-US" altLang="zh-CN" sz="1800" dirty="0" err="1">
                <a:solidFill>
                  <a:srgbClr val="1000E4"/>
                </a:solidFill>
                <a:latin typeface="Consolas" pitchFamily="49" charset="0"/>
                <a:ea typeface="仿宋" pitchFamily="49" charset="-122"/>
                <a:cs typeface="Consolas" pitchFamily="49" charset="0"/>
              </a:rPr>
              <a:t>tmp.key</a:t>
            </a:r>
            <a:r>
              <a:rPr kumimoji="1" lang="en-US" altLang="zh-CN" sz="1800" dirty="0">
                <a:solidFill>
                  <a:srgbClr val="1000E4"/>
                </a:solidFill>
                <a:latin typeface="Consolas" pitchFamily="49" charset="0"/>
                <a:ea typeface="仿宋" pitchFamily="49" charset="-122"/>
                <a:cs typeface="Consolas" pitchFamily="49" charset="0"/>
              </a:rPr>
              <a:t>&lt;R[j].key)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双亲小</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  R[</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]=R[j];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将</a:t>
            </a:r>
            <a:r>
              <a:rPr kumimoji="1" lang="en-US" altLang="zh-CN" sz="1800" dirty="0">
                <a:solidFill>
                  <a:srgbClr val="00B0F0"/>
                </a:solidFill>
                <a:latin typeface="Consolas" pitchFamily="49" charset="0"/>
                <a:ea typeface="仿宋" pitchFamily="49" charset="-122"/>
                <a:cs typeface="Consolas" pitchFamily="49" charset="0"/>
              </a:rPr>
              <a:t>R[j]</a:t>
            </a:r>
            <a:r>
              <a:rPr kumimoji="1" lang="zh-CN" altLang="en-US" sz="1800" dirty="0">
                <a:solidFill>
                  <a:srgbClr val="00B0F0"/>
                </a:solidFill>
                <a:latin typeface="Consolas" pitchFamily="49" charset="0"/>
                <a:ea typeface="仿宋" pitchFamily="49" charset="-122"/>
                <a:cs typeface="Consolas" pitchFamily="49" charset="0"/>
              </a:rPr>
              <a:t>调整到双亲结点位置</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ts val="1300"/>
              </a:lnSpc>
              <a:spcBef>
                <a:spcPct val="50000"/>
              </a:spcBef>
            </a:pPr>
            <a:r>
              <a:rPr kumimoji="1" lang="en-US" altLang="zh-CN" sz="1800" dirty="0">
                <a:solidFill>
                  <a:srgbClr val="00B0F0"/>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=j;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修改</a:t>
            </a:r>
            <a:r>
              <a:rPr kumimoji="1" lang="en-US" altLang="zh-CN" sz="1800" dirty="0" err="1">
                <a:solidFill>
                  <a:srgbClr val="00B0F0"/>
                </a:solidFill>
                <a:latin typeface="Consolas" pitchFamily="49" charset="0"/>
                <a:ea typeface="仿宋" pitchFamily="49" charset="-122"/>
                <a:cs typeface="Consolas" pitchFamily="49" charset="0"/>
              </a:rPr>
              <a:t>i</a:t>
            </a:r>
            <a:r>
              <a:rPr kumimoji="1" lang="zh-CN" altLang="en-US" sz="1800" dirty="0">
                <a:solidFill>
                  <a:srgbClr val="00B0F0"/>
                </a:solidFill>
                <a:latin typeface="Consolas" pitchFamily="49" charset="0"/>
                <a:ea typeface="仿宋" pitchFamily="49" charset="-122"/>
                <a:cs typeface="Consolas" pitchFamily="49" charset="0"/>
              </a:rPr>
              <a:t>和</a:t>
            </a:r>
            <a:r>
              <a:rPr kumimoji="1" lang="en-US" altLang="zh-CN" sz="1800" dirty="0">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值，以便继续向下筛选</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j=2*</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else break;    </a:t>
            </a:r>
            <a:r>
              <a:rPr kumimoji="1" lang="en-US" altLang="zh-CN" sz="1800" dirty="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双亲大：不再调整</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p>
          <a:p>
            <a:pPr algn="just">
              <a:lnSpc>
                <a:spcPts val="1300"/>
              </a:lnSpc>
              <a:spcBef>
                <a:spcPct val="50000"/>
              </a:spcBef>
            </a:pPr>
            <a:r>
              <a:rPr kumimoji="1" lang="en-US" altLang="zh-CN" sz="1800" dirty="0">
                <a:solidFill>
                  <a:srgbClr val="FF00FF"/>
                </a:solidFill>
                <a:latin typeface="Consolas" pitchFamily="49" charset="0"/>
                <a:ea typeface="仿宋" pitchFamily="49" charset="-122"/>
                <a:cs typeface="Consolas" pitchFamily="49" charset="0"/>
              </a:rPr>
              <a:t>   R[</a:t>
            </a:r>
            <a:r>
              <a:rPr kumimoji="1" lang="en-US" altLang="zh-CN" sz="1800" dirty="0" err="1">
                <a:solidFill>
                  <a:srgbClr val="FF00FF"/>
                </a:solidFill>
                <a:latin typeface="Consolas" pitchFamily="49" charset="0"/>
                <a:ea typeface="仿宋" pitchFamily="49" charset="-122"/>
                <a:cs typeface="Consolas" pitchFamily="49" charset="0"/>
              </a:rPr>
              <a:t>i</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tmp</a:t>
            </a:r>
            <a:r>
              <a:rPr kumimoji="1" lang="en-US" altLang="zh-CN" sz="1800" dirty="0">
                <a:solidFill>
                  <a:srgbClr val="FF00FF"/>
                </a:solidFill>
                <a:latin typeface="Consolas" pitchFamily="49" charset="0"/>
                <a:ea typeface="仿宋" pitchFamily="49" charset="-122"/>
                <a:cs typeface="Consolas" pitchFamily="49" charset="0"/>
              </a:rPr>
              <a:t>;</a:t>
            </a:r>
          </a:p>
          <a:p>
            <a:pPr algn="just">
              <a:lnSpc>
                <a:spcPts val="1300"/>
              </a:lnSpc>
              <a:spcBef>
                <a:spcPct val="50000"/>
              </a:spcBef>
            </a:pPr>
            <a:r>
              <a:rPr kumimoji="1" lang="en-US" altLang="zh-CN" sz="1800" dirty="0">
                <a:solidFill>
                  <a:srgbClr val="1000E4"/>
                </a:solidFill>
                <a:latin typeface="Consolas" pitchFamily="49" charset="0"/>
                <a:ea typeface="仿宋" pitchFamily="49" charset="-122"/>
                <a:cs typeface="Consolas" pitchFamily="49" charset="0"/>
              </a:rPr>
              <a:t>}</a:t>
            </a:r>
          </a:p>
        </p:txBody>
      </p:sp>
      <p:sp>
        <p:nvSpPr>
          <p:cNvPr id="6" name="Text Box 13">
            <a:extLst>
              <a:ext uri="{FF2B5EF4-FFF2-40B4-BE49-F238E27FC236}">
                <a16:creationId xmlns:a16="http://schemas.microsoft.com/office/drawing/2014/main" id="{0A664087-A052-525D-F604-E0B503FF4099}"/>
              </a:ext>
            </a:extLst>
          </p:cNvPr>
          <p:cNvSpPr txBox="1">
            <a:spLocks noChangeArrowheads="1"/>
          </p:cNvSpPr>
          <p:nvPr/>
        </p:nvSpPr>
        <p:spPr bwMode="auto">
          <a:xfrm>
            <a:off x="1428244" y="1610948"/>
            <a:ext cx="3248018" cy="415498"/>
          </a:xfrm>
          <a:prstGeom prst="rect">
            <a:avLst/>
          </a:prstGeom>
          <a:noFill/>
          <a:ln w="9525">
            <a:noFill/>
            <a:miter lim="800000"/>
            <a:headEnd/>
            <a:tailEnd/>
          </a:ln>
          <a:effectLst/>
          <a:scene3d>
            <a:camera prst="perspectiveAbove"/>
            <a:lightRig rig="threePt" dir="t"/>
          </a:scene3d>
        </p:spPr>
        <p:txBody>
          <a:bodyPr wrap="square">
            <a:spAutoFit/>
          </a:bodyPr>
          <a:lstStyle/>
          <a:p>
            <a:pPr algn="l">
              <a:spcBef>
                <a:spcPct val="50000"/>
              </a:spcBef>
            </a:pPr>
            <a:r>
              <a:rPr kumimoji="1" lang="zh-CN" altLang="en-US" sz="2100" dirty="0">
                <a:latin typeface="微软雅黑" pitchFamily="34" charset="-122"/>
                <a:ea typeface="微软雅黑" pitchFamily="34" charset="-122"/>
                <a:cs typeface="经典粗黑简" pitchFamily="49" charset="-122"/>
              </a:rPr>
              <a:t>筛选或调整算法：</a:t>
            </a:r>
          </a:p>
        </p:txBody>
      </p:sp>
      <p:grpSp>
        <p:nvGrpSpPr>
          <p:cNvPr id="7" name="组合 15">
            <a:extLst>
              <a:ext uri="{FF2B5EF4-FFF2-40B4-BE49-F238E27FC236}">
                <a16:creationId xmlns:a16="http://schemas.microsoft.com/office/drawing/2014/main" id="{545DBB52-226D-9D25-99F5-2A6711A12936}"/>
              </a:ext>
            </a:extLst>
          </p:cNvPr>
          <p:cNvGrpSpPr/>
          <p:nvPr/>
        </p:nvGrpSpPr>
        <p:grpSpPr>
          <a:xfrm>
            <a:off x="7320465" y="3740696"/>
            <a:ext cx="2175501" cy="646331"/>
            <a:chOff x="5643570" y="2467958"/>
            <a:chExt cx="2639858" cy="646331"/>
          </a:xfrm>
        </p:grpSpPr>
        <p:sp>
          <p:nvSpPr>
            <p:cNvPr id="8" name="Text Box 11">
              <a:extLst>
                <a:ext uri="{FF2B5EF4-FFF2-40B4-BE49-F238E27FC236}">
                  <a16:creationId xmlns:a16="http://schemas.microsoft.com/office/drawing/2014/main" id="{7AE17438-805C-065D-A944-899EAC27B7C8}"/>
                </a:ext>
              </a:extLst>
            </p:cNvPr>
            <p:cNvSpPr txBox="1">
              <a:spLocks noChangeArrowheads="1"/>
            </p:cNvSpPr>
            <p:nvPr/>
          </p:nvSpPr>
          <p:spPr bwMode="auto">
            <a:xfrm>
              <a:off x="7203927" y="2467958"/>
              <a:ext cx="1079501" cy="646331"/>
            </a:xfrm>
            <a:prstGeom prst="rect">
              <a:avLst/>
            </a:prstGeom>
            <a:noFill/>
            <a:ln w="9525">
              <a:noFill/>
              <a:miter lim="800000"/>
              <a:headEnd/>
              <a:tailEnd/>
            </a:ln>
            <a:effectLst/>
          </p:spPr>
          <p:txBody>
            <a:bodyPr>
              <a:spAutoFit/>
            </a:bodyPr>
            <a:lstStyle/>
            <a:p>
              <a:pPr>
                <a:spcBef>
                  <a:spcPct val="50000"/>
                </a:spcBef>
              </a:pPr>
              <a:r>
                <a:rPr lang="en-US" altLang="zh-CN" sz="1800" i="1" dirty="0">
                  <a:solidFill>
                    <a:srgbClr val="C00000"/>
                  </a:solidFill>
                  <a:latin typeface="Consolas" pitchFamily="49" charset="0"/>
                  <a:ea typeface="仿宋" pitchFamily="49" charset="-122"/>
                  <a:cs typeface="Consolas" pitchFamily="49" charset="0"/>
                </a:rPr>
                <a:t>j</a:t>
              </a:r>
              <a:r>
                <a:rPr lang="zh-CN" altLang="en-US" sz="1800" dirty="0">
                  <a:solidFill>
                    <a:srgbClr val="C00000"/>
                  </a:solidFill>
                  <a:latin typeface="Consolas" pitchFamily="49" charset="0"/>
                  <a:ea typeface="仿宋" pitchFamily="49" charset="-122"/>
                  <a:cs typeface="Consolas" pitchFamily="49" charset="0"/>
                </a:rPr>
                <a:t>指向大孩子</a:t>
              </a:r>
              <a:endParaRPr lang="en-US" altLang="zh-CN" sz="1800" dirty="0">
                <a:solidFill>
                  <a:srgbClr val="C00000"/>
                </a:solidFill>
                <a:latin typeface="Consolas" pitchFamily="49" charset="0"/>
                <a:ea typeface="仿宋" pitchFamily="49" charset="-122"/>
                <a:cs typeface="Consolas" pitchFamily="49" charset="0"/>
              </a:endParaRPr>
            </a:p>
          </p:txBody>
        </p:sp>
        <p:cxnSp>
          <p:nvCxnSpPr>
            <p:cNvPr id="9" name="直接连接符 8">
              <a:extLst>
                <a:ext uri="{FF2B5EF4-FFF2-40B4-BE49-F238E27FC236}">
                  <a16:creationId xmlns:a16="http://schemas.microsoft.com/office/drawing/2014/main" id="{71E6AFE0-E085-8FF3-F5AE-1A9FFA8C16A3}"/>
                </a:ext>
              </a:extLst>
            </p:cNvPr>
            <p:cNvCxnSpPr/>
            <p:nvPr/>
          </p:nvCxnSpPr>
          <p:spPr>
            <a:xfrm>
              <a:off x="5643570" y="2786058"/>
              <a:ext cx="1647039" cy="1588"/>
            </a:xfrm>
            <a:prstGeom prst="line">
              <a:avLst/>
            </a:prstGeom>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380911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6" end="6"/>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
                                            <p:txEl>
                                              <p:pRg st="8" end="8"/>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xEl>
                                              <p:pRg st="9" end="9"/>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12" end="12"/>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64C3235-5056-900E-6B6B-C444B5B7D2FA}"/>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3" name="直接连接符 2">
            <a:extLst>
              <a:ext uri="{FF2B5EF4-FFF2-40B4-BE49-F238E27FC236}">
                <a16:creationId xmlns:a16="http://schemas.microsoft.com/office/drawing/2014/main" id="{46928AB4-C441-78B4-514C-ADBB24795FA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F48A78A-DBED-3925-F896-D0B39E1E918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
        <p:nvSpPr>
          <p:cNvPr id="5" name="Text Box 2">
            <a:extLst>
              <a:ext uri="{FF2B5EF4-FFF2-40B4-BE49-F238E27FC236}">
                <a16:creationId xmlns:a16="http://schemas.microsoft.com/office/drawing/2014/main" id="{03AE7B88-75C2-3F98-C424-5CA47F581811}"/>
              </a:ext>
            </a:extLst>
          </p:cNvPr>
          <p:cNvSpPr txBox="1">
            <a:spLocks noChangeArrowheads="1"/>
          </p:cNvSpPr>
          <p:nvPr/>
        </p:nvSpPr>
        <p:spPr bwMode="auto">
          <a:xfrm>
            <a:off x="1414340" y="1697983"/>
            <a:ext cx="2538370" cy="423001"/>
          </a:xfrm>
          <a:prstGeom prst="rect">
            <a:avLst/>
          </a:prstGeom>
          <a:noFill/>
          <a:ln w="9525">
            <a:noFill/>
            <a:miter lim="800000"/>
            <a:headEnd/>
            <a:tailEnd/>
          </a:ln>
          <a:effectLst/>
        </p:spPr>
        <p:txBody>
          <a:bodyPr wrap="square">
            <a:spAutoFit/>
          </a:bodyPr>
          <a:lstStyle/>
          <a:p>
            <a:pPr algn="just">
              <a:lnSpc>
                <a:spcPct val="110000"/>
              </a:lnSpc>
              <a:spcBef>
                <a:spcPct val="50000"/>
              </a:spcBef>
            </a:pPr>
            <a:r>
              <a:rPr kumimoji="1" lang="zh-CN" altLang="en-US" sz="2100" dirty="0">
                <a:latin typeface="微软雅黑" pitchFamily="34" charset="-122"/>
                <a:ea typeface="微软雅黑" pitchFamily="34" charset="-122"/>
                <a:cs typeface="经典粗黑简" pitchFamily="49" charset="-122"/>
              </a:rPr>
              <a:t>堆排序算法：</a:t>
            </a:r>
          </a:p>
        </p:txBody>
      </p:sp>
      <p:sp>
        <p:nvSpPr>
          <p:cNvPr id="6" name="Text Box 3">
            <a:extLst>
              <a:ext uri="{FF2B5EF4-FFF2-40B4-BE49-F238E27FC236}">
                <a16:creationId xmlns:a16="http://schemas.microsoft.com/office/drawing/2014/main" id="{7DABDAA5-0F4B-AA1C-9AE6-A9DE4C9416D6}"/>
              </a:ext>
            </a:extLst>
          </p:cNvPr>
          <p:cNvSpPr txBox="1">
            <a:spLocks noChangeArrowheads="1"/>
          </p:cNvSpPr>
          <p:nvPr/>
        </p:nvSpPr>
        <p:spPr bwMode="auto">
          <a:xfrm>
            <a:off x="1271464" y="2340925"/>
            <a:ext cx="8072494" cy="4076464"/>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just">
              <a:lnSpc>
                <a:spcPts val="2800"/>
              </a:lnSpc>
              <a:spcBef>
                <a:spcPts val="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err="1">
                <a:solidFill>
                  <a:srgbClr val="FF0000"/>
                </a:solidFill>
                <a:latin typeface="Consolas" pitchFamily="49" charset="0"/>
                <a:ea typeface="仿宋" pitchFamily="49" charset="-122"/>
                <a:cs typeface="Consolas" pitchFamily="49" charset="0"/>
              </a:rPr>
              <a:t>HeapSort</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a:t>
            </a:r>
            <a:r>
              <a:rPr kumimoji="1" lang="en-US" altLang="zh-CN" sz="1800" dirty="0">
                <a:solidFill>
                  <a:srgbClr val="1000E4"/>
                </a:solidFill>
                <a:latin typeface="Consolas" pitchFamily="49" charset="0"/>
                <a:ea typeface="仿宋" pitchFamily="49" charset="-122"/>
                <a:cs typeface="Consolas" pitchFamily="49" charset="0"/>
              </a:rPr>
              <a:t>n)</a:t>
            </a:r>
          </a:p>
          <a:p>
            <a:pPr algn="just">
              <a:lnSpc>
                <a:spcPts val="2800"/>
              </a:lnSpc>
              <a:spcBef>
                <a:spcPts val="0"/>
              </a:spcBef>
            </a:pPr>
            <a:r>
              <a:rPr kumimoji="1" lang="en-US" altLang="zh-CN" sz="1800">
                <a:solidFill>
                  <a:srgbClr val="1000E4"/>
                </a:solidFill>
                <a:latin typeface="Consolas" pitchFamily="49" charset="0"/>
                <a:ea typeface="仿宋" pitchFamily="49" charset="-122"/>
                <a:cs typeface="Consolas" pitchFamily="49" charset="0"/>
              </a:rPr>
              <a:t>{  int i;</a:t>
            </a:r>
            <a:endParaRPr kumimoji="1" lang="en-US" altLang="zh-CN" sz="1800" dirty="0">
              <a:solidFill>
                <a:srgbClr val="1000E4"/>
              </a:solidFill>
              <a:latin typeface="Consolas" pitchFamily="49" charset="0"/>
              <a:ea typeface="仿宋" pitchFamily="49" charset="-122"/>
              <a:cs typeface="Consolas" pitchFamily="49" charset="0"/>
            </a:endParaRPr>
          </a:p>
          <a:p>
            <a:pPr algn="just">
              <a:lnSpc>
                <a:spcPts val="2800"/>
              </a:lnSpc>
              <a:spcBef>
                <a:spcPts val="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for </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i</a:t>
            </a:r>
            <a:r>
              <a:rPr kumimoji="1" lang="en-US" altLang="zh-CN" sz="1800" dirty="0">
                <a:solidFill>
                  <a:srgbClr val="FF00FF"/>
                </a:solidFill>
                <a:latin typeface="Consolas" pitchFamily="49" charset="0"/>
                <a:ea typeface="仿宋" pitchFamily="49" charset="-122"/>
                <a:cs typeface="Consolas" pitchFamily="49" charset="0"/>
              </a:rPr>
              <a:t>=n/</a:t>
            </a:r>
            <a:r>
              <a:rPr kumimoji="1" lang="en-US" altLang="zh-CN" sz="1800" dirty="0" err="1">
                <a:solidFill>
                  <a:srgbClr val="FF00FF"/>
                </a:solidFill>
                <a:latin typeface="Consolas" pitchFamily="49" charset="0"/>
                <a:ea typeface="仿宋" pitchFamily="49" charset="-122"/>
                <a:cs typeface="Consolas" pitchFamily="49" charset="0"/>
              </a:rPr>
              <a:t>2;i</a:t>
            </a:r>
            <a:r>
              <a:rPr kumimoji="1" lang="en-US" altLang="zh-CN" sz="1800" dirty="0">
                <a:solidFill>
                  <a:srgbClr val="FF00FF"/>
                </a:solidFill>
                <a:latin typeface="Consolas" pitchFamily="49" charset="0"/>
                <a:ea typeface="仿宋" pitchFamily="49" charset="-122"/>
                <a:cs typeface="Consolas" pitchFamily="49" charset="0"/>
              </a:rPr>
              <a:t>&gt;=</a:t>
            </a:r>
            <a:r>
              <a:rPr kumimoji="1" lang="en-US" altLang="zh-CN" sz="1800" dirty="0" err="1">
                <a:solidFill>
                  <a:srgbClr val="FF00FF"/>
                </a:solidFill>
                <a:latin typeface="Consolas" pitchFamily="49" charset="0"/>
                <a:ea typeface="仿宋" pitchFamily="49" charset="-122"/>
                <a:cs typeface="Consolas" pitchFamily="49" charset="0"/>
              </a:rPr>
              <a:t>1;i</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循环建立初始堆</a:t>
            </a:r>
          </a:p>
          <a:p>
            <a:pPr algn="just">
              <a:lnSpc>
                <a:spcPts val="2800"/>
              </a:lnSpc>
              <a:spcBef>
                <a:spcPts val="0"/>
              </a:spcBef>
            </a:pPr>
            <a:r>
              <a:rPr kumimoji="1" lang="zh-CN" altLang="en-US" sz="1800">
                <a:solidFill>
                  <a:srgbClr val="FF00FF"/>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sift(R</a:t>
            </a:r>
            <a:r>
              <a:rPr kumimoji="1" lang="zh-CN" altLang="en-US" sz="180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i</a:t>
            </a:r>
            <a:r>
              <a:rPr kumimoji="1" lang="zh-CN" altLang="en-US" sz="180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n</a:t>
            </a:r>
            <a:r>
              <a:rPr kumimoji="1" lang="en-US" altLang="zh-CN" sz="1800" dirty="0">
                <a:solidFill>
                  <a:srgbClr val="FF00FF"/>
                </a:solidFill>
                <a:latin typeface="Consolas" pitchFamily="49" charset="0"/>
                <a:ea typeface="仿宋" pitchFamily="49" charset="-122"/>
                <a:cs typeface="Consolas" pitchFamily="49" charset="0"/>
              </a:rPr>
              <a:t>); </a:t>
            </a:r>
          </a:p>
          <a:p>
            <a:pPr algn="just">
              <a:lnSpc>
                <a:spcPct val="200000"/>
              </a:lnSpc>
              <a:spcBef>
                <a:spcPts val="0"/>
              </a:spcBef>
            </a:pPr>
            <a:r>
              <a:rPr kumimoji="1" lang="en-US" altLang="zh-CN" sz="1800">
                <a:solidFill>
                  <a:srgbClr val="1000E4"/>
                </a:solidFill>
                <a:latin typeface="Consolas" pitchFamily="49" charset="0"/>
                <a:ea typeface="仿宋" pitchFamily="49" charset="-122"/>
                <a:cs typeface="Consolas" pitchFamily="49" charset="0"/>
              </a:rPr>
              <a:t>   for </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=n;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&gt;=2;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进行</a:t>
            </a:r>
            <a:r>
              <a:rPr kumimoji="1" lang="en-US" altLang="zh-CN" sz="1800" dirty="0">
                <a:solidFill>
                  <a:srgbClr val="00B0F0"/>
                </a:solidFill>
                <a:latin typeface="Consolas" pitchFamily="49" charset="0"/>
                <a:ea typeface="仿宋" pitchFamily="49" charset="-122"/>
                <a:cs typeface="Consolas" pitchFamily="49" charset="0"/>
              </a:rPr>
              <a:t>n-1</a:t>
            </a:r>
            <a:r>
              <a:rPr kumimoji="1" lang="zh-CN" altLang="en-US" sz="1800">
                <a:solidFill>
                  <a:srgbClr val="00B0F0"/>
                </a:solidFill>
                <a:latin typeface="Consolas" pitchFamily="49" charset="0"/>
                <a:ea typeface="仿宋" pitchFamily="49" charset="-122"/>
                <a:cs typeface="Consolas" pitchFamily="49" charset="0"/>
              </a:rPr>
              <a:t>次循环，完成</a:t>
            </a:r>
            <a:r>
              <a:rPr kumimoji="1" lang="zh-CN" altLang="en-US" sz="1800" dirty="0">
                <a:solidFill>
                  <a:srgbClr val="00B0F0"/>
                </a:solidFill>
                <a:latin typeface="Consolas" pitchFamily="49" charset="0"/>
                <a:ea typeface="仿宋" pitchFamily="49" charset="-122"/>
                <a:cs typeface="Consolas" pitchFamily="49" charset="0"/>
              </a:rPr>
              <a:t>推排序</a:t>
            </a:r>
          </a:p>
          <a:p>
            <a:pPr algn="just">
              <a:lnSpc>
                <a:spcPts val="2800"/>
              </a:lnSpc>
              <a:spcBef>
                <a:spcPts val="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a:t>
            </a:r>
            <a:endParaRPr kumimoji="1" lang="en-US" altLang="zh-CN" sz="1800" dirty="0">
              <a:solidFill>
                <a:srgbClr val="1000E4"/>
              </a:solidFill>
              <a:latin typeface="Consolas" pitchFamily="49" charset="0"/>
              <a:ea typeface="仿宋" pitchFamily="49" charset="-122"/>
              <a:cs typeface="Consolas" pitchFamily="49" charset="0"/>
            </a:endParaRPr>
          </a:p>
          <a:p>
            <a:pPr algn="just">
              <a:lnSpc>
                <a:spcPts val="2800"/>
              </a:lnSpc>
              <a:spcBef>
                <a:spcPts val="0"/>
              </a:spcBef>
            </a:pPr>
            <a:r>
              <a:rPr kumimoji="1" lang="en-US" altLang="zh-CN" sz="1800">
                <a:solidFill>
                  <a:srgbClr val="008000"/>
                </a:solidFill>
                <a:latin typeface="Consolas" pitchFamily="49" charset="0"/>
                <a:ea typeface="仿宋" pitchFamily="49" charset="-122"/>
                <a:cs typeface="Consolas" pitchFamily="49" charset="0"/>
              </a:rPr>
              <a:t>       swap(R[1],R[i]);</a:t>
            </a:r>
            <a:r>
              <a:rPr kumimoji="1" lang="en-US" altLang="zh-CN" sz="1800">
                <a:solidFill>
                  <a:srgbClr val="C00000"/>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//R[1] </a:t>
            </a:r>
            <a:r>
              <a:rPr kumimoji="1" lang="en-US" altLang="zh-CN" sz="1800">
                <a:solidFill>
                  <a:srgbClr val="00B0F0"/>
                </a:solidFill>
                <a:latin typeface="Consolas" pitchFamily="49" charset="0"/>
                <a:ea typeface="仿宋" pitchFamily="49" charset="-122"/>
                <a:cs typeface="Consolas" pitchFamily="49" charset="0"/>
                <a:sym typeface="Symbol"/>
              </a:rPr>
              <a:t> </a:t>
            </a:r>
            <a:r>
              <a:rPr kumimoji="1" lang="en-US" altLang="zh-CN" sz="1800">
                <a:solidFill>
                  <a:srgbClr val="00B0F0"/>
                </a:solidFill>
                <a:latin typeface="Consolas" pitchFamily="49" charset="0"/>
                <a:ea typeface="仿宋" pitchFamily="49" charset="-122"/>
                <a:cs typeface="Consolas" pitchFamily="49" charset="0"/>
              </a:rPr>
              <a:t>R[i]</a:t>
            </a:r>
            <a:endParaRPr kumimoji="1" lang="zh-CN" altLang="en-US" sz="1800" dirty="0">
              <a:solidFill>
                <a:srgbClr val="00B0F0"/>
              </a:solidFill>
              <a:latin typeface="Consolas" pitchFamily="49" charset="0"/>
              <a:ea typeface="仿宋" pitchFamily="49" charset="-122"/>
              <a:cs typeface="Consolas" pitchFamily="49" charset="0"/>
            </a:endParaRPr>
          </a:p>
          <a:p>
            <a:pPr algn="just">
              <a:lnSpc>
                <a:spcPts val="2800"/>
              </a:lnSpc>
              <a:spcBef>
                <a:spcPts val="0"/>
              </a:spcBef>
            </a:pPr>
            <a:r>
              <a:rPr kumimoji="1" lang="en-US" altLang="zh-CN" sz="1800">
                <a:solidFill>
                  <a:srgbClr val="FF00FF"/>
                </a:solidFill>
                <a:latin typeface="Consolas" pitchFamily="49" charset="0"/>
                <a:ea typeface="仿宋" pitchFamily="49" charset="-122"/>
                <a:cs typeface="Consolas" pitchFamily="49" charset="0"/>
              </a:rPr>
              <a:t>       sift(R</a:t>
            </a:r>
            <a:r>
              <a:rPr kumimoji="1" lang="zh-CN" altLang="en-US" sz="180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1</a:t>
            </a:r>
            <a:r>
              <a:rPr kumimoji="1" lang="zh-CN" altLang="en-US" sz="180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i-1</a:t>
            </a:r>
            <a:r>
              <a:rPr kumimoji="1" lang="en-US" altLang="zh-CN" sz="1800" dirty="0">
                <a:solidFill>
                  <a:srgbClr val="FF00FF"/>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筛选</a:t>
            </a:r>
            <a:r>
              <a:rPr kumimoji="1" lang="en-US" altLang="zh-CN" sz="1800">
                <a:solidFill>
                  <a:srgbClr val="00B0F0"/>
                </a:solidFill>
                <a:latin typeface="Consolas" pitchFamily="49" charset="0"/>
                <a:ea typeface="仿宋" pitchFamily="49" charset="-122"/>
                <a:cs typeface="Consolas" pitchFamily="49" charset="0"/>
              </a:rPr>
              <a:t>R[1]</a:t>
            </a:r>
            <a:r>
              <a:rPr kumimoji="1" lang="zh-CN" altLang="en-US" sz="1800">
                <a:solidFill>
                  <a:srgbClr val="00B0F0"/>
                </a:solidFill>
                <a:latin typeface="Consolas" pitchFamily="49" charset="0"/>
                <a:ea typeface="仿宋" pitchFamily="49" charset="-122"/>
                <a:cs typeface="Consolas" pitchFamily="49" charset="0"/>
              </a:rPr>
              <a:t>结点，得到</a:t>
            </a:r>
            <a:r>
              <a:rPr kumimoji="1" lang="en-US" altLang="zh-CN" sz="1800" err="1">
                <a:solidFill>
                  <a:srgbClr val="00B0F0"/>
                </a:solidFill>
                <a:latin typeface="Consolas" pitchFamily="49" charset="0"/>
                <a:ea typeface="仿宋" pitchFamily="49" charset="-122"/>
                <a:cs typeface="Consolas" pitchFamily="49" charset="0"/>
              </a:rPr>
              <a:t>i</a:t>
            </a:r>
            <a:r>
              <a:rPr kumimoji="1" lang="en-US" altLang="zh-CN" sz="1800">
                <a:solidFill>
                  <a:srgbClr val="00B0F0"/>
                </a:solidFill>
                <a:latin typeface="Consolas" pitchFamily="49" charset="0"/>
                <a:ea typeface="仿宋" pitchFamily="49" charset="-122"/>
                <a:cs typeface="Consolas" pitchFamily="49" charset="0"/>
              </a:rPr>
              <a:t>-1</a:t>
            </a:r>
            <a:r>
              <a:rPr kumimoji="1" lang="zh-CN" altLang="en-US" sz="1800">
                <a:solidFill>
                  <a:srgbClr val="00B0F0"/>
                </a:solidFill>
                <a:latin typeface="Consolas" pitchFamily="49" charset="0"/>
                <a:ea typeface="仿宋" pitchFamily="49" charset="-122"/>
                <a:cs typeface="Consolas" pitchFamily="49" charset="0"/>
              </a:rPr>
              <a:t>个结点的</a:t>
            </a:r>
            <a:r>
              <a:rPr kumimoji="1" lang="zh-CN" altLang="en-US" sz="1800" dirty="0">
                <a:solidFill>
                  <a:srgbClr val="00B0F0"/>
                </a:solidFill>
                <a:latin typeface="Consolas" pitchFamily="49" charset="0"/>
                <a:ea typeface="仿宋" pitchFamily="49" charset="-122"/>
                <a:cs typeface="Consolas" pitchFamily="49" charset="0"/>
              </a:rPr>
              <a:t>堆</a:t>
            </a:r>
          </a:p>
          <a:p>
            <a:pPr algn="just">
              <a:lnSpc>
                <a:spcPts val="2800"/>
              </a:lnSpc>
              <a:spcBef>
                <a:spcPts val="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a:t>
            </a:r>
            <a:endParaRPr kumimoji="1" lang="en-US" altLang="zh-CN" sz="1800" dirty="0">
              <a:solidFill>
                <a:srgbClr val="1000E4"/>
              </a:solidFill>
              <a:latin typeface="Consolas" pitchFamily="49" charset="0"/>
              <a:ea typeface="仿宋" pitchFamily="49" charset="-122"/>
              <a:cs typeface="Consolas" pitchFamily="49" charset="0"/>
            </a:endParaRPr>
          </a:p>
          <a:p>
            <a:pPr algn="just">
              <a:lnSpc>
                <a:spcPts val="2800"/>
              </a:lnSpc>
              <a:spcBef>
                <a:spcPts val="0"/>
              </a:spcBef>
            </a:pPr>
            <a:r>
              <a:rPr kumimoji="1" lang="en-US" altLang="zh-CN" sz="1800" dirty="0">
                <a:solidFill>
                  <a:srgbClr val="1000E4"/>
                </a:solidFill>
                <a:latin typeface="Consolas" pitchFamily="49" charset="0"/>
                <a:ea typeface="仿宋" pitchFamily="49" charset="-122"/>
                <a:cs typeface="Consolas" pitchFamily="49" charset="0"/>
              </a:rPr>
              <a:t>}</a:t>
            </a:r>
            <a:endParaRPr kumimoji="1" lang="en-US" altLang="zh-CN" sz="1800" b="0" dirty="0">
              <a:solidFill>
                <a:srgbClr val="1000E4"/>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9006021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bwMode="auto">
          <a:xfrm>
            <a:off x="2797874" y="2217058"/>
            <a:ext cx="2016224" cy="43204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l" eaLnBrk="1" hangingPunct="1"/>
            <a:r>
              <a:rPr kumimoji="1" lang="zh-CN" altLang="en-US" sz="2000" dirty="0">
                <a:latin typeface="Times New Roman" pitchFamily="18" charset="0"/>
                <a:ea typeface="微软雅黑" pitchFamily="34" charset="-122"/>
                <a:cs typeface="Times New Roman" pitchFamily="18" charset="0"/>
              </a:rPr>
              <a:t>堆排序算法分析</a:t>
            </a:r>
          </a:p>
        </p:txBody>
      </p:sp>
      <p:sp>
        <p:nvSpPr>
          <p:cNvPr id="2" name="矩形 1"/>
          <p:cNvSpPr/>
          <p:nvPr/>
        </p:nvSpPr>
        <p:spPr>
          <a:xfrm>
            <a:off x="2797874" y="2564904"/>
            <a:ext cx="5674390" cy="400110"/>
          </a:xfrm>
          <a:prstGeom prst="rect">
            <a:avLst/>
          </a:prstGeom>
        </p:spPr>
        <p:txBody>
          <a:bodyPr wrap="square">
            <a:spAutoFit/>
          </a:bodyPr>
          <a:lstStyle/>
          <a:p>
            <a:pPr>
              <a:buSzPct val="75000"/>
            </a:pPr>
            <a:r>
              <a:rPr kumimoji="1" lang="zh-CN" altLang="en-US" sz="2000" dirty="0">
                <a:latin typeface="Times New Roman" pitchFamily="18" charset="0"/>
                <a:ea typeface="微软雅黑" pitchFamily="34" charset="-122"/>
                <a:cs typeface="Times New Roman" pitchFamily="18" charset="0"/>
              </a:rPr>
              <a:t>由于是完全二叉树，所以采用顺序存储结构。</a:t>
            </a:r>
          </a:p>
        </p:txBody>
      </p:sp>
      <p:sp>
        <p:nvSpPr>
          <p:cNvPr id="3" name="矩形 2"/>
          <p:cNvSpPr/>
          <p:nvPr/>
        </p:nvSpPr>
        <p:spPr>
          <a:xfrm>
            <a:off x="2797875" y="3008649"/>
            <a:ext cx="2919389"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时间复杂度：</a:t>
            </a:r>
            <a:r>
              <a:rPr kumimoji="1" lang="en-US" altLang="zh-CN" sz="2000" dirty="0">
                <a:latin typeface="Times New Roman" pitchFamily="18" charset="0"/>
                <a:ea typeface="微软雅黑" pitchFamily="34" charset="-122"/>
                <a:cs typeface="Times New Roman" pitchFamily="18" charset="0"/>
              </a:rPr>
              <a:t>O(nlog</a:t>
            </a:r>
            <a:r>
              <a:rPr kumimoji="1" lang="en-US" altLang="zh-CN" sz="2000" baseline="-25000" dirty="0">
                <a:latin typeface="Times New Roman" pitchFamily="18" charset="0"/>
                <a:ea typeface="微软雅黑" pitchFamily="34" charset="-122"/>
                <a:cs typeface="Times New Roman" pitchFamily="18" charset="0"/>
              </a:rPr>
              <a:t>2</a:t>
            </a:r>
            <a:r>
              <a:rPr kumimoji="1" lang="en-US" altLang="zh-CN" sz="2000" dirty="0">
                <a:latin typeface="Times New Roman" pitchFamily="18" charset="0"/>
                <a:ea typeface="微软雅黑" pitchFamily="34" charset="-122"/>
                <a:cs typeface="Times New Roman" pitchFamily="18" charset="0"/>
              </a:rPr>
              <a:t>n</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7" name="矩形 6"/>
          <p:cNvSpPr/>
          <p:nvPr/>
        </p:nvSpPr>
        <p:spPr>
          <a:xfrm>
            <a:off x="3287688" y="3452395"/>
            <a:ext cx="6120680" cy="646331"/>
          </a:xfrm>
          <a:prstGeom prst="rect">
            <a:avLst/>
          </a:prstGeom>
        </p:spPr>
        <p:txBody>
          <a:bodyPr wrap="square">
            <a:spAutoFit/>
          </a:bodyPr>
          <a:lstStyle/>
          <a:p>
            <a:r>
              <a:rPr kumimoji="1" lang="zh-CN" altLang="en-US" dirty="0">
                <a:latin typeface="Times New Roman" pitchFamily="18" charset="0"/>
                <a:ea typeface="微软雅黑" pitchFamily="34" charset="-122"/>
                <a:cs typeface="Times New Roman" pitchFamily="18" charset="0"/>
              </a:rPr>
              <a:t>堆排序的整个算法时间是由建立初始堆和不断调整堆这两部分时间代价构成的。</a:t>
            </a:r>
            <a:endParaRPr lang="zh-CN" altLang="en-US" dirty="0"/>
          </a:p>
        </p:txBody>
      </p:sp>
      <p:sp>
        <p:nvSpPr>
          <p:cNvPr id="9" name="矩形 8"/>
          <p:cNvSpPr/>
          <p:nvPr/>
        </p:nvSpPr>
        <p:spPr>
          <a:xfrm>
            <a:off x="2797875" y="4142360"/>
            <a:ext cx="2379177"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空间复杂度：</a:t>
            </a:r>
            <a:r>
              <a:rPr kumimoji="1" lang="en-US" altLang="zh-CN" sz="2000" dirty="0">
                <a:latin typeface="Times New Roman" pitchFamily="18" charset="0"/>
                <a:ea typeface="微软雅黑" pitchFamily="34" charset="-122"/>
                <a:cs typeface="Times New Roman" pitchFamily="18" charset="0"/>
              </a:rPr>
              <a:t>O(1</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0" name="矩形 9"/>
          <p:cNvSpPr/>
          <p:nvPr/>
        </p:nvSpPr>
        <p:spPr>
          <a:xfrm>
            <a:off x="3291264" y="4586105"/>
            <a:ext cx="3493264" cy="400110"/>
          </a:xfrm>
          <a:prstGeom prst="rect">
            <a:avLst/>
          </a:prstGeom>
        </p:spPr>
        <p:txBody>
          <a:bodyPr wrap="none">
            <a:spAutoFit/>
          </a:bodyPr>
          <a:lstStyle/>
          <a:p>
            <a:pPr marL="0" lvl="2"/>
            <a:r>
              <a:rPr kumimoji="1" lang="zh-CN" altLang="en-US" dirty="0">
                <a:latin typeface="Times New Roman" pitchFamily="18" charset="0"/>
                <a:ea typeface="微软雅黑" pitchFamily="34" charset="-122"/>
                <a:cs typeface="Times New Roman" pitchFamily="18" charset="0"/>
              </a:rPr>
              <a:t>只需要 </a:t>
            </a:r>
            <a:r>
              <a:rPr kumimoji="1" lang="en-US" altLang="zh-CN" dirty="0">
                <a:latin typeface="Times New Roman" pitchFamily="18" charset="0"/>
                <a:ea typeface="微软雅黑" pitchFamily="34" charset="-122"/>
                <a:cs typeface="Times New Roman" pitchFamily="18" charset="0"/>
              </a:rPr>
              <a:t>1 </a:t>
            </a:r>
            <a:r>
              <a:rPr kumimoji="1" lang="zh-CN" altLang="en-US" dirty="0">
                <a:latin typeface="Times New Roman" pitchFamily="18" charset="0"/>
                <a:ea typeface="微软雅黑" pitchFamily="34" charset="-122"/>
                <a:cs typeface="Times New Roman" pitchFamily="18" charset="0"/>
              </a:rPr>
              <a:t>个辅助单元进行</a:t>
            </a:r>
            <a:r>
              <a:rPr kumimoji="1" lang="zh-CN" altLang="en-US" sz="2000" dirty="0">
                <a:latin typeface="Times New Roman" pitchFamily="18" charset="0"/>
                <a:ea typeface="微软雅黑" pitchFamily="34" charset="-122"/>
                <a:cs typeface="Times New Roman" pitchFamily="18" charset="0"/>
              </a:rPr>
              <a:t>交换。</a:t>
            </a:r>
          </a:p>
        </p:txBody>
      </p:sp>
      <p:sp>
        <p:nvSpPr>
          <p:cNvPr id="11" name="矩形 10"/>
          <p:cNvSpPr/>
          <p:nvPr/>
        </p:nvSpPr>
        <p:spPr>
          <a:xfrm>
            <a:off x="2797874" y="5029850"/>
            <a:ext cx="2236510" cy="400110"/>
          </a:xfrm>
          <a:prstGeom prst="rect">
            <a:avLst/>
          </a:prstGeom>
        </p:spPr>
        <p:txBody>
          <a:bodyPr wrap="none">
            <a:spAutoFit/>
          </a:bodyPr>
          <a:lstStyle/>
          <a:p>
            <a:pPr marL="0" lvl="1"/>
            <a:r>
              <a:rPr kumimoji="1" lang="zh-CN" altLang="en-US" sz="2000" dirty="0">
                <a:latin typeface="Times New Roman" pitchFamily="18" charset="0"/>
                <a:ea typeface="微软雅黑" pitchFamily="34" charset="-122"/>
                <a:cs typeface="Times New Roman" pitchFamily="18" charset="0"/>
              </a:rPr>
              <a:t>不稳定的排序方法</a:t>
            </a:r>
          </a:p>
        </p:txBody>
      </p:sp>
      <p:sp>
        <p:nvSpPr>
          <p:cNvPr id="13" name="矩形 12"/>
          <p:cNvSpPr/>
          <p:nvPr/>
        </p:nvSpPr>
        <p:spPr>
          <a:xfrm>
            <a:off x="2797875" y="5473597"/>
            <a:ext cx="6754509" cy="707886"/>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对于记录数较少的序列来说，堆排序的优越性并不明显，但</a:t>
            </a:r>
            <a:r>
              <a:rPr kumimoji="1" lang="zh-CN" altLang="en-US" sz="2000" dirty="0">
                <a:solidFill>
                  <a:srgbClr val="FF0000"/>
                </a:solidFill>
                <a:latin typeface="Times New Roman" pitchFamily="18" charset="0"/>
                <a:ea typeface="微软雅黑" pitchFamily="34" charset="-122"/>
                <a:cs typeface="Times New Roman" pitchFamily="18" charset="0"/>
              </a:rPr>
              <a:t>对大量的记录来说堆排序是很有效</a:t>
            </a:r>
            <a:r>
              <a:rPr kumimoji="1" lang="zh-CN" altLang="en-US" sz="2000" dirty="0">
                <a:latin typeface="Times New Roman" pitchFamily="18" charset="0"/>
                <a:ea typeface="微软雅黑" pitchFamily="34" charset="-122"/>
                <a:cs typeface="Times New Roman" pitchFamily="18" charset="0"/>
              </a:rPr>
              <a:t>的。</a:t>
            </a:r>
            <a:endParaRPr lang="zh-CN" altLang="en-US" sz="2000" dirty="0"/>
          </a:p>
        </p:txBody>
      </p:sp>
      <p:sp>
        <p:nvSpPr>
          <p:cNvPr id="4" name="矩形 3">
            <a:extLst>
              <a:ext uri="{FF2B5EF4-FFF2-40B4-BE49-F238E27FC236}">
                <a16:creationId xmlns:a16="http://schemas.microsoft.com/office/drawing/2014/main" id="{85F8D2E8-62B3-0AC6-D5D9-419BF90D5EF3}"/>
              </a:ext>
            </a:extLst>
          </p:cNvPr>
          <p:cNvSpPr/>
          <p:nvPr/>
        </p:nvSpPr>
        <p:spPr>
          <a:xfrm>
            <a:off x="335360" y="1082555"/>
            <a:ext cx="460851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10.4.2 </a:t>
            </a:r>
            <a:r>
              <a:rPr lang="zh-CN" altLang="en-US" sz="2800" b="1" dirty="0">
                <a:solidFill>
                  <a:schemeClr val="bg1"/>
                </a:solidFill>
                <a:latin typeface="经典粗黑简" pitchFamily="49" charset="-122"/>
                <a:ea typeface="经典粗黑简" pitchFamily="49" charset="-122"/>
                <a:cs typeface="经典粗黑简" pitchFamily="49" charset="-122"/>
              </a:rPr>
              <a:t>堆排序</a:t>
            </a:r>
            <a:r>
              <a:rPr kumimoji="1" lang="en-US" altLang="zh-CN" sz="2400" dirty="0">
                <a:latin typeface="微软雅黑" pitchFamily="34" charset="-122"/>
                <a:ea typeface="微软雅黑" pitchFamily="34" charset="-122"/>
                <a:cs typeface="经典粗黑简" pitchFamily="49" charset="-122"/>
              </a:rPr>
              <a:t>(</a:t>
            </a:r>
            <a:r>
              <a:rPr lang="en-US" altLang="zh-CN" sz="2800" b="1" dirty="0">
                <a:latin typeface="Times New Roman" pitchFamily="18" charset="0"/>
                <a:ea typeface="经典粗黑简" pitchFamily="49" charset="-122"/>
                <a:cs typeface="Times New Roman" pitchFamily="18" charset="0"/>
              </a:rPr>
              <a:t>Heap Sort</a:t>
            </a:r>
            <a:r>
              <a:rPr kumimoji="1" lang="en-US" altLang="zh-CN" sz="2400" dirty="0">
                <a:latin typeface="微软雅黑" pitchFamily="34" charset="-122"/>
                <a:ea typeface="微软雅黑" pitchFamily="34" charset="-122"/>
                <a:cs typeface="经典粗黑简" pitchFamily="49" charset="-122"/>
              </a:rPr>
              <a:t>)</a:t>
            </a:r>
            <a:endParaRPr lang="zh-CN" altLang="en-US" sz="2800" b="1" dirty="0">
              <a:solidFill>
                <a:schemeClr val="bg1"/>
              </a:solidFill>
              <a:latin typeface="经典粗黑简" pitchFamily="49" charset="-122"/>
              <a:ea typeface="经典粗黑简" pitchFamily="49" charset="-122"/>
              <a:cs typeface="经典粗黑简" pitchFamily="49" charset="-122"/>
            </a:endParaRPr>
          </a:p>
        </p:txBody>
      </p:sp>
      <p:cxnSp>
        <p:nvCxnSpPr>
          <p:cNvPr id="5" name="直接连接符 4">
            <a:extLst>
              <a:ext uri="{FF2B5EF4-FFF2-40B4-BE49-F238E27FC236}">
                <a16:creationId xmlns:a16="http://schemas.microsoft.com/office/drawing/2014/main" id="{AC68A36D-91EB-BF60-2F7C-8F3F0128A4F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A6C9D21A-2B1F-678F-631A-DEB342B3BEE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10.4 </a:t>
            </a:r>
            <a:r>
              <a:rPr lang="zh-CN" altLang="en-US" sz="3000" b="1" dirty="0">
                <a:latin typeface="黑体" pitchFamily="49" charset="-122"/>
                <a:ea typeface="黑体" pitchFamily="49" charset="-122"/>
                <a:cs typeface="经典粗黑简" pitchFamily="49" charset="-122"/>
              </a:rPr>
              <a:t>选择排序</a:t>
            </a:r>
          </a:p>
        </p:txBody>
      </p:sp>
    </p:spTree>
    <p:extLst>
      <p:ext uri="{BB962C8B-B14F-4D97-AF65-F5344CB8AC3E}">
        <p14:creationId xmlns:p14="http://schemas.microsoft.com/office/powerpoint/2010/main" val="36232313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9" grpId="0"/>
      <p:bldP spid="10" grpId="0"/>
      <p:bldP spid="11" grpId="0"/>
      <p:bldP spid="1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DB45D57C-842B-1DA3-CBAF-F63CF93A823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47205B04-9C91-AAB9-5653-A038D91901A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
        <p:nvSpPr>
          <p:cNvPr id="7" name="Text Box 3">
            <a:extLst>
              <a:ext uri="{FF2B5EF4-FFF2-40B4-BE49-F238E27FC236}">
                <a16:creationId xmlns:a16="http://schemas.microsoft.com/office/drawing/2014/main" id="{DFEC47A7-64FF-FEAE-D877-CA5F93767EF1}"/>
              </a:ext>
            </a:extLst>
          </p:cNvPr>
          <p:cNvSpPr txBox="1">
            <a:spLocks noChangeArrowheads="1"/>
          </p:cNvSpPr>
          <p:nvPr/>
        </p:nvSpPr>
        <p:spPr bwMode="auto">
          <a:xfrm>
            <a:off x="1415480" y="1821184"/>
            <a:ext cx="10009112" cy="1422157"/>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nSpc>
                <a:spcPts val="2800"/>
              </a:lnSpc>
              <a:spcBef>
                <a:spcPct val="50000"/>
              </a:spcBef>
              <a:buBlip>
                <a:blip r:embed="rId2"/>
              </a:buBlip>
            </a:pPr>
            <a:r>
              <a:rPr kumimoji="1" lang="zh-CN" altLang="en-US" sz="2000" dirty="0">
                <a:solidFill>
                  <a:srgbClr val="FF0000"/>
                </a:solidFill>
                <a:latin typeface="微软雅黑" pitchFamily="34" charset="-122"/>
                <a:ea typeface="微软雅黑" pitchFamily="34" charset="-122"/>
                <a:cs typeface="Times New Roman" pitchFamily="18" charset="0"/>
              </a:rPr>
              <a:t>归并排序</a:t>
            </a:r>
            <a:r>
              <a:rPr kumimoji="1" lang="zh-CN" altLang="en-US" sz="2000" dirty="0">
                <a:solidFill>
                  <a:srgbClr val="1000E4"/>
                </a:solidFill>
                <a:ea typeface="楷体" pitchFamily="49" charset="-122"/>
                <a:cs typeface="Times New Roman" pitchFamily="18" charset="0"/>
              </a:rPr>
              <a:t>是多次将相邻两个或两个以上的有序表合并成一个新有序表的排序方法。</a:t>
            </a:r>
            <a:endParaRPr kumimoji="1" lang="en-US" altLang="zh-CN" sz="2000" dirty="0">
              <a:solidFill>
                <a:srgbClr val="1000E4"/>
              </a:solidFill>
              <a:ea typeface="楷体" pitchFamily="49" charset="-122"/>
              <a:cs typeface="Times New Roman" pitchFamily="18" charset="0"/>
            </a:endParaRPr>
          </a:p>
          <a:p>
            <a:pPr marL="457200" indent="-457200">
              <a:lnSpc>
                <a:spcPts val="2800"/>
              </a:lnSpc>
              <a:spcBef>
                <a:spcPct val="50000"/>
              </a:spcBef>
              <a:buBlip>
                <a:blip r:embed="rId2"/>
              </a:buBlip>
            </a:pPr>
            <a:r>
              <a:rPr kumimoji="1" lang="zh-CN" altLang="en-US" sz="2000" dirty="0">
                <a:solidFill>
                  <a:srgbClr val="FF0000"/>
                </a:solidFill>
                <a:latin typeface="微软雅黑" pitchFamily="34" charset="-122"/>
                <a:ea typeface="微软雅黑" pitchFamily="34" charset="-122"/>
                <a:cs typeface="Times New Roman" pitchFamily="18" charset="0"/>
              </a:rPr>
              <a:t>二路归并排序</a:t>
            </a:r>
            <a:r>
              <a:rPr kumimoji="1" lang="zh-CN" altLang="en-US" sz="2000" dirty="0">
                <a:solidFill>
                  <a:srgbClr val="1000E4"/>
                </a:solidFill>
                <a:ea typeface="楷体" pitchFamily="49" charset="-122"/>
                <a:cs typeface="Times New Roman" pitchFamily="18" charset="0"/>
              </a:rPr>
              <a:t>是多次将相邻两个的有序表合并成一个新有序表的排序方法，是最简单的归并排序。         </a:t>
            </a:r>
          </a:p>
        </p:txBody>
      </p:sp>
      <p:sp>
        <p:nvSpPr>
          <p:cNvPr id="8" name="Text Box 4">
            <a:extLst>
              <a:ext uri="{FF2B5EF4-FFF2-40B4-BE49-F238E27FC236}">
                <a16:creationId xmlns:a16="http://schemas.microsoft.com/office/drawing/2014/main" id="{12CD193D-0FF2-E048-4E12-3F4A79F89412}"/>
              </a:ext>
            </a:extLst>
          </p:cNvPr>
          <p:cNvSpPr txBox="1">
            <a:spLocks noChangeArrowheads="1"/>
          </p:cNvSpPr>
          <p:nvPr/>
        </p:nvSpPr>
        <p:spPr bwMode="auto">
          <a:xfrm>
            <a:off x="669531" y="1333217"/>
            <a:ext cx="2317738" cy="430887"/>
          </a:xfrm>
          <a:prstGeom prst="rect">
            <a:avLst/>
          </a:prstGeom>
          <a:solidFill>
            <a:srgbClr val="008000"/>
          </a:solidFill>
          <a:ln w="9525">
            <a:noFill/>
            <a:miter lim="800000"/>
            <a:headEnd/>
            <a:tailEnd/>
          </a:ln>
          <a:effectLst/>
        </p:spPr>
        <p:txBody>
          <a:bodyPr wrap="square">
            <a:spAutoFit/>
          </a:bodyPr>
          <a:lstStyle/>
          <a:p>
            <a:pPr algn="ctr">
              <a:spcBef>
                <a:spcPct val="50000"/>
              </a:spcBef>
            </a:pPr>
            <a:r>
              <a:rPr lang="en-US" altLang="zh-CN" sz="2200" dirty="0">
                <a:solidFill>
                  <a:schemeClr val="bg1"/>
                </a:solidFill>
                <a:latin typeface="Consolas" pitchFamily="49" charset="0"/>
                <a:ea typeface="微软雅黑" pitchFamily="34" charset="-122"/>
                <a:cs typeface="Consolas" pitchFamily="49" charset="0"/>
              </a:rPr>
              <a:t>1</a:t>
            </a:r>
            <a:r>
              <a:rPr lang="zh-CN" altLang="en-US" sz="2200" dirty="0">
                <a:solidFill>
                  <a:schemeClr val="bg1"/>
                </a:solidFill>
                <a:latin typeface="Consolas" pitchFamily="49" charset="0"/>
                <a:ea typeface="微软雅黑" pitchFamily="34" charset="-122"/>
                <a:cs typeface="Consolas" pitchFamily="49" charset="0"/>
              </a:rPr>
              <a:t>、归并的思路</a:t>
            </a:r>
          </a:p>
        </p:txBody>
      </p:sp>
      <p:sp>
        <p:nvSpPr>
          <p:cNvPr id="9" name="Text Box 2">
            <a:extLst>
              <a:ext uri="{FF2B5EF4-FFF2-40B4-BE49-F238E27FC236}">
                <a16:creationId xmlns:a16="http://schemas.microsoft.com/office/drawing/2014/main" id="{78FF782D-736B-2E61-B3D5-F8401516B011}"/>
              </a:ext>
            </a:extLst>
          </p:cNvPr>
          <p:cNvSpPr txBox="1">
            <a:spLocks noChangeArrowheads="1"/>
          </p:cNvSpPr>
          <p:nvPr/>
        </p:nvSpPr>
        <p:spPr bwMode="auto">
          <a:xfrm>
            <a:off x="1631504" y="4447342"/>
            <a:ext cx="7358114" cy="477054"/>
          </a:xfrm>
          <a:prstGeom prst="rect">
            <a:avLst/>
          </a:prstGeom>
          <a:noFill/>
          <a:ln w="9525">
            <a:noFill/>
            <a:miter lim="800000"/>
            <a:headEnd/>
            <a:tailEnd/>
          </a:ln>
          <a:effectLst/>
        </p:spPr>
        <p:txBody>
          <a:bodyPr wrap="square">
            <a:spAutoFit/>
          </a:bodyPr>
          <a:lstStyle/>
          <a:p>
            <a:pPr>
              <a:lnSpc>
                <a:spcPct val="125000"/>
              </a:lnSpc>
            </a:pPr>
            <a:r>
              <a:rPr kumimoji="1" lang="zh-CN" altLang="en-US" sz="2000" dirty="0">
                <a:latin typeface="Consolas" pitchFamily="49" charset="0"/>
                <a:ea typeface="楷体" pitchFamily="49" charset="-122"/>
                <a:cs typeface="Consolas" pitchFamily="49" charset="0"/>
              </a:rPr>
              <a:t>将两个位置相邻的元素有序子序列归并为一个元素的有序序列。</a:t>
            </a:r>
          </a:p>
        </p:txBody>
      </p:sp>
      <p:sp>
        <p:nvSpPr>
          <p:cNvPr id="10" name="Rectangle 4">
            <a:extLst>
              <a:ext uri="{FF2B5EF4-FFF2-40B4-BE49-F238E27FC236}">
                <a16:creationId xmlns:a16="http://schemas.microsoft.com/office/drawing/2014/main" id="{CCC2C0D7-1152-F819-B1C2-825B65690B59}"/>
              </a:ext>
            </a:extLst>
          </p:cNvPr>
          <p:cNvSpPr>
            <a:spLocks noChangeArrowheads="1"/>
          </p:cNvSpPr>
          <p:nvPr/>
        </p:nvSpPr>
        <p:spPr bwMode="auto">
          <a:xfrm>
            <a:off x="1972722" y="6203276"/>
            <a:ext cx="7620000" cy="468000"/>
          </a:xfrm>
          <a:prstGeom prst="rect">
            <a:avLst/>
          </a:prstGeom>
          <a:solidFill>
            <a:srgbClr val="FFCC99"/>
          </a:solidFill>
          <a:ln w="9525">
            <a:solidFill>
              <a:schemeClr val="tx1"/>
            </a:solidFill>
            <a:miter lim="800000"/>
            <a:headEnd/>
            <a:tailEnd/>
          </a:ln>
          <a:effectLst/>
        </p:spPr>
        <p:txBody>
          <a:bodyPr wrap="none" anchor="ctr"/>
          <a:lstStyle/>
          <a:p>
            <a:pPr algn="ctr"/>
            <a:r>
              <a:rPr kumimoji="1" lang="zh-CN" altLang="en-US" sz="1800" dirty="0">
                <a:latin typeface="Consolas" pitchFamily="49" charset="0"/>
                <a:ea typeface="仿宋" pitchFamily="49" charset="-122"/>
                <a:cs typeface="Consolas" pitchFamily="49" charset="0"/>
              </a:rPr>
              <a:t>有 序 序 </a:t>
            </a:r>
            <a:r>
              <a:rPr kumimoji="1" lang="zh-CN" altLang="en-US" sz="1800">
                <a:latin typeface="Consolas" pitchFamily="49" charset="0"/>
                <a:ea typeface="仿宋" pitchFamily="49" charset="-122"/>
                <a:cs typeface="Consolas" pitchFamily="49" charset="0"/>
              </a:rPr>
              <a:t>列 </a:t>
            </a:r>
            <a:r>
              <a:rPr kumimoji="1" lang="en-US" altLang="zh-CN" sz="1800" i="1">
                <a:latin typeface="Consolas" pitchFamily="49" charset="0"/>
                <a:ea typeface="仿宋" pitchFamily="49" charset="-122"/>
                <a:cs typeface="Consolas" pitchFamily="49" charset="0"/>
              </a:rPr>
              <a:t>R</a:t>
            </a:r>
            <a:r>
              <a:rPr kumimoji="1" lang="en-US" altLang="zh-CN" sz="1800">
                <a:latin typeface="Consolas" pitchFamily="49" charset="0"/>
                <a:ea typeface="仿宋" pitchFamily="49" charset="-122"/>
                <a:cs typeface="Consolas" pitchFamily="49" charset="0"/>
              </a:rPr>
              <a:t>[low..high]</a:t>
            </a:r>
            <a:endParaRPr kumimoji="1" lang="en-US" altLang="zh-CN" sz="1800" dirty="0">
              <a:latin typeface="Consolas" pitchFamily="49" charset="0"/>
              <a:ea typeface="仿宋" pitchFamily="49" charset="-122"/>
              <a:cs typeface="Consolas" pitchFamily="49" charset="0"/>
            </a:endParaRPr>
          </a:p>
        </p:txBody>
      </p:sp>
      <p:sp>
        <p:nvSpPr>
          <p:cNvPr id="14" name="Text Box 5">
            <a:extLst>
              <a:ext uri="{FF2B5EF4-FFF2-40B4-BE49-F238E27FC236}">
                <a16:creationId xmlns:a16="http://schemas.microsoft.com/office/drawing/2014/main" id="{B2EF463E-11B5-0803-37A3-B5806810E978}"/>
              </a:ext>
            </a:extLst>
          </p:cNvPr>
          <p:cNvSpPr txBox="1">
            <a:spLocks noChangeArrowheads="1"/>
          </p:cNvSpPr>
          <p:nvPr/>
        </p:nvSpPr>
        <p:spPr bwMode="auto">
          <a:xfrm>
            <a:off x="1942986" y="5486873"/>
            <a:ext cx="3810000" cy="416909"/>
          </a:xfrm>
          <a:prstGeom prst="rect">
            <a:avLst/>
          </a:prstGeom>
          <a:solidFill>
            <a:srgbClr val="FF9900">
              <a:alpha val="50000"/>
            </a:srgbClr>
          </a:solidFill>
          <a:ln w="12700">
            <a:solidFill>
              <a:srgbClr val="993300"/>
            </a:solidFill>
            <a:miter lim="800000"/>
            <a:headEnd/>
            <a:tailEnd/>
          </a:ln>
          <a:effectLst/>
        </p:spPr>
        <p:txBody>
          <a:bodyPr>
            <a:spAutoFit/>
          </a:bodyPr>
          <a:lstStyle/>
          <a:p>
            <a:pPr algn="ctr">
              <a:lnSpc>
                <a:spcPts val="2800"/>
              </a:lnSpc>
            </a:pPr>
            <a:r>
              <a:rPr kumimoji="1" lang="zh-CN" altLang="en-US" sz="1800" dirty="0">
                <a:latin typeface="Consolas" pitchFamily="49" charset="0"/>
                <a:ea typeface="仿宋" pitchFamily="49" charset="-122"/>
                <a:cs typeface="Consolas" pitchFamily="49" charset="0"/>
              </a:rPr>
              <a:t>有序子</a:t>
            </a:r>
            <a:r>
              <a:rPr kumimoji="1" lang="zh-CN" altLang="en-US" sz="1800">
                <a:latin typeface="Consolas" pitchFamily="49" charset="0"/>
                <a:ea typeface="仿宋" pitchFamily="49" charset="-122"/>
                <a:cs typeface="Consolas" pitchFamily="49" charset="0"/>
              </a:rPr>
              <a:t>序列 </a:t>
            </a:r>
            <a:r>
              <a:rPr kumimoji="1" lang="en-US" altLang="zh-CN" sz="1800" i="1">
                <a:latin typeface="Consolas" pitchFamily="49" charset="0"/>
                <a:ea typeface="仿宋" pitchFamily="49" charset="-122"/>
                <a:cs typeface="Consolas" pitchFamily="49" charset="0"/>
              </a:rPr>
              <a:t>R</a:t>
            </a:r>
            <a:r>
              <a:rPr kumimoji="1" lang="en-US" altLang="zh-CN" sz="1800">
                <a:latin typeface="Consolas" pitchFamily="49" charset="0"/>
                <a:ea typeface="仿宋" pitchFamily="49" charset="-122"/>
                <a:cs typeface="Consolas" pitchFamily="49" charset="0"/>
              </a:rPr>
              <a:t>[low..mid]</a:t>
            </a:r>
            <a:endParaRPr kumimoji="1" lang="en-US" altLang="zh-CN" sz="1800" dirty="0">
              <a:latin typeface="Consolas" pitchFamily="49" charset="0"/>
              <a:ea typeface="仿宋" pitchFamily="49" charset="-122"/>
              <a:cs typeface="Consolas" pitchFamily="49" charset="0"/>
            </a:endParaRPr>
          </a:p>
        </p:txBody>
      </p:sp>
      <p:sp>
        <p:nvSpPr>
          <p:cNvPr id="15" name="Rectangle 6">
            <a:extLst>
              <a:ext uri="{FF2B5EF4-FFF2-40B4-BE49-F238E27FC236}">
                <a16:creationId xmlns:a16="http://schemas.microsoft.com/office/drawing/2014/main" id="{FD8D9514-11A2-9FFC-A92A-05A4715BE6DF}"/>
              </a:ext>
            </a:extLst>
          </p:cNvPr>
          <p:cNvSpPr>
            <a:spLocks noChangeArrowheads="1"/>
          </p:cNvSpPr>
          <p:nvPr/>
        </p:nvSpPr>
        <p:spPr bwMode="auto">
          <a:xfrm>
            <a:off x="5752986" y="5511327"/>
            <a:ext cx="3810000" cy="419090"/>
          </a:xfrm>
          <a:prstGeom prst="rect">
            <a:avLst/>
          </a:prstGeom>
          <a:solidFill>
            <a:srgbClr val="FF6600">
              <a:alpha val="50000"/>
            </a:srgbClr>
          </a:solidFill>
          <a:ln w="9525">
            <a:solidFill>
              <a:schemeClr val="tx1"/>
            </a:solidFill>
            <a:miter lim="800000"/>
            <a:headEnd/>
            <a:tailEnd/>
          </a:ln>
          <a:effectLst/>
        </p:spPr>
        <p:txBody>
          <a:bodyPr lIns="90000" tIns="46800" rIns="90000" bIns="46800" anchor="ctr">
            <a:spAutoFit/>
          </a:bodyPr>
          <a:lstStyle/>
          <a:p>
            <a:pPr algn="ctr">
              <a:lnSpc>
                <a:spcPts val="2800"/>
              </a:lnSpc>
            </a:pPr>
            <a:r>
              <a:rPr kumimoji="1" lang="zh-CN" altLang="en-US" sz="1800" dirty="0">
                <a:latin typeface="Consolas" pitchFamily="49" charset="0"/>
                <a:ea typeface="仿宋" pitchFamily="49" charset="-122"/>
                <a:cs typeface="Consolas" pitchFamily="49" charset="0"/>
              </a:rPr>
              <a:t>有序子</a:t>
            </a:r>
            <a:r>
              <a:rPr kumimoji="1" lang="zh-CN" altLang="en-US" sz="1800">
                <a:latin typeface="Consolas" pitchFamily="49" charset="0"/>
                <a:ea typeface="仿宋" pitchFamily="49" charset="-122"/>
                <a:cs typeface="Consolas" pitchFamily="49" charset="0"/>
              </a:rPr>
              <a:t>序列 </a:t>
            </a:r>
            <a:r>
              <a:rPr kumimoji="1" lang="en-US" altLang="zh-CN" sz="1800" i="1">
                <a:latin typeface="Consolas" pitchFamily="49" charset="0"/>
                <a:ea typeface="仿宋" pitchFamily="49" charset="-122"/>
                <a:cs typeface="Consolas" pitchFamily="49" charset="0"/>
              </a:rPr>
              <a:t>R</a:t>
            </a:r>
            <a:r>
              <a:rPr kumimoji="1" lang="en-US" altLang="zh-CN" sz="1800">
                <a:latin typeface="Consolas" pitchFamily="49" charset="0"/>
                <a:ea typeface="仿宋" pitchFamily="49" charset="-122"/>
                <a:cs typeface="Consolas" pitchFamily="49" charset="0"/>
              </a:rPr>
              <a:t>[mid+1..high]</a:t>
            </a:r>
            <a:endParaRPr kumimoji="1" lang="en-US" altLang="zh-CN" sz="1800" dirty="0">
              <a:latin typeface="Consolas" pitchFamily="49" charset="0"/>
              <a:ea typeface="仿宋" pitchFamily="49" charset="-122"/>
              <a:cs typeface="Consolas" pitchFamily="49" charset="0"/>
            </a:endParaRPr>
          </a:p>
        </p:txBody>
      </p:sp>
      <p:sp>
        <p:nvSpPr>
          <p:cNvPr id="16" name="下箭头 8">
            <a:extLst>
              <a:ext uri="{FF2B5EF4-FFF2-40B4-BE49-F238E27FC236}">
                <a16:creationId xmlns:a16="http://schemas.microsoft.com/office/drawing/2014/main" id="{1F51AD36-A43B-2179-5036-81856C69B5F7}"/>
              </a:ext>
            </a:extLst>
          </p:cNvPr>
          <p:cNvSpPr/>
          <p:nvPr/>
        </p:nvSpPr>
        <p:spPr>
          <a:xfrm>
            <a:off x="5645828" y="5877272"/>
            <a:ext cx="285752" cy="326004"/>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sp>
        <p:nvSpPr>
          <p:cNvPr id="17" name="TextBox 10">
            <a:extLst>
              <a:ext uri="{FF2B5EF4-FFF2-40B4-BE49-F238E27FC236}">
                <a16:creationId xmlns:a16="http://schemas.microsoft.com/office/drawing/2014/main" id="{1FAE09AE-CF49-24C3-5402-AF0A0DDFC567}"/>
              </a:ext>
            </a:extLst>
          </p:cNvPr>
          <p:cNvSpPr txBox="1"/>
          <p:nvPr/>
        </p:nvSpPr>
        <p:spPr>
          <a:xfrm>
            <a:off x="4871864" y="4854634"/>
            <a:ext cx="1928826" cy="369332"/>
          </a:xfrm>
          <a:prstGeom prst="rect">
            <a:avLst/>
          </a:prstGeom>
          <a:noFill/>
        </p:spPr>
        <p:txBody>
          <a:bodyPr wrap="square" rtlCol="0">
            <a:spAutoFit/>
          </a:bodyPr>
          <a:lstStyle/>
          <a:p>
            <a:r>
              <a:rPr kumimoji="1" lang="en-US" altLang="zh-CN" sz="1800" i="1">
                <a:latin typeface="Consolas" pitchFamily="49" charset="0"/>
                <a:ea typeface="楷体" pitchFamily="49" charset="-122"/>
                <a:cs typeface="Consolas" pitchFamily="49" charset="0"/>
              </a:rPr>
              <a:t>R</a:t>
            </a:r>
            <a:r>
              <a:rPr kumimoji="1" lang="en-US" altLang="zh-CN" sz="1800">
                <a:latin typeface="Consolas" pitchFamily="49" charset="0"/>
                <a:ea typeface="楷体" pitchFamily="49" charset="-122"/>
                <a:cs typeface="Consolas" pitchFamily="49" charset="0"/>
              </a:rPr>
              <a:t>[low..high]</a:t>
            </a:r>
            <a:endParaRPr lang="zh-CN" altLang="en-US" sz="1800">
              <a:latin typeface="Consolas" pitchFamily="49" charset="0"/>
              <a:cs typeface="Consolas" pitchFamily="49" charset="0"/>
            </a:endParaRPr>
          </a:p>
        </p:txBody>
      </p:sp>
      <p:sp>
        <p:nvSpPr>
          <p:cNvPr id="18" name="右大括号 17">
            <a:extLst>
              <a:ext uri="{FF2B5EF4-FFF2-40B4-BE49-F238E27FC236}">
                <a16:creationId xmlns:a16="http://schemas.microsoft.com/office/drawing/2014/main" id="{C759DE9F-C607-0611-C8EF-89668E7F94B7}"/>
              </a:ext>
            </a:extLst>
          </p:cNvPr>
          <p:cNvSpPr/>
          <p:nvPr/>
        </p:nvSpPr>
        <p:spPr>
          <a:xfrm rot="16200000">
            <a:off x="5698705" y="1546955"/>
            <a:ext cx="180000" cy="7500990"/>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cs typeface="Consolas" pitchFamily="49" charset="0"/>
            </a:endParaRPr>
          </a:p>
        </p:txBody>
      </p:sp>
      <p:sp>
        <p:nvSpPr>
          <p:cNvPr id="19" name="Text Box 1028">
            <a:extLst>
              <a:ext uri="{FF2B5EF4-FFF2-40B4-BE49-F238E27FC236}">
                <a16:creationId xmlns:a16="http://schemas.microsoft.com/office/drawing/2014/main" id="{4DC8DE90-88E4-32CE-03F5-16F993027A70}"/>
              </a:ext>
            </a:extLst>
          </p:cNvPr>
          <p:cNvSpPr txBox="1">
            <a:spLocks noChangeArrowheads="1"/>
          </p:cNvSpPr>
          <p:nvPr/>
        </p:nvSpPr>
        <p:spPr bwMode="auto">
          <a:xfrm>
            <a:off x="726503" y="3367157"/>
            <a:ext cx="2928958" cy="430887"/>
          </a:xfrm>
          <a:prstGeom prst="rect">
            <a:avLst/>
          </a:prstGeom>
          <a:solidFill>
            <a:srgbClr val="008000"/>
          </a:solidFill>
          <a:ln w="9525">
            <a:noFill/>
            <a:miter lim="800000"/>
            <a:headEnd/>
            <a:tailEnd/>
          </a:ln>
          <a:effectLst/>
        </p:spPr>
        <p:txBody>
          <a:bodyPr wrap="square">
            <a:spAutoFit/>
          </a:bodyPr>
          <a:lstStyle/>
          <a:p>
            <a:pPr algn="ctr">
              <a:spcBef>
                <a:spcPct val="50000"/>
              </a:spcBef>
            </a:pPr>
            <a:r>
              <a:rPr lang="en-US" altLang="zh-CN" sz="2200">
                <a:solidFill>
                  <a:schemeClr val="bg1"/>
                </a:solidFill>
                <a:latin typeface="Consolas" pitchFamily="49" charset="0"/>
                <a:ea typeface="微软雅黑" pitchFamily="34" charset="-122"/>
                <a:cs typeface="Consolas" pitchFamily="49" charset="0"/>
              </a:rPr>
              <a:t>2</a:t>
            </a:r>
            <a:r>
              <a:rPr lang="zh-CN" altLang="en-US" sz="2200">
                <a:solidFill>
                  <a:schemeClr val="bg1"/>
                </a:solidFill>
                <a:latin typeface="Consolas" pitchFamily="49" charset="0"/>
                <a:ea typeface="微软雅黑" pitchFamily="34" charset="-122"/>
                <a:cs typeface="Consolas" pitchFamily="49" charset="0"/>
              </a:rPr>
              <a:t>、二</a:t>
            </a:r>
            <a:r>
              <a:rPr lang="zh-CN" altLang="en-US" sz="2200" dirty="0">
                <a:solidFill>
                  <a:schemeClr val="bg1"/>
                </a:solidFill>
                <a:latin typeface="Consolas" pitchFamily="49" charset="0"/>
                <a:ea typeface="微软雅黑" pitchFamily="34" charset="-122"/>
                <a:cs typeface="Consolas" pitchFamily="49" charset="0"/>
              </a:rPr>
              <a:t>路</a:t>
            </a:r>
            <a:r>
              <a:rPr lang="zh-CN" altLang="en-US" sz="2200">
                <a:solidFill>
                  <a:schemeClr val="bg1"/>
                </a:solidFill>
                <a:latin typeface="Consolas" pitchFamily="49" charset="0"/>
                <a:ea typeface="微软雅黑" pitchFamily="34" charset="-122"/>
                <a:cs typeface="Consolas" pitchFamily="49" charset="0"/>
              </a:rPr>
              <a:t>归并排序算</a:t>
            </a:r>
            <a:r>
              <a:rPr lang="zh-CN" altLang="en-US" sz="2200" dirty="0">
                <a:solidFill>
                  <a:schemeClr val="bg1"/>
                </a:solidFill>
                <a:latin typeface="Consolas" pitchFamily="49" charset="0"/>
                <a:ea typeface="微软雅黑" pitchFamily="34" charset="-122"/>
                <a:cs typeface="Consolas" pitchFamily="49" charset="0"/>
              </a:rPr>
              <a:t>法</a:t>
            </a:r>
          </a:p>
        </p:txBody>
      </p:sp>
      <p:sp>
        <p:nvSpPr>
          <p:cNvPr id="20" name="Text Box 3">
            <a:extLst>
              <a:ext uri="{FF2B5EF4-FFF2-40B4-BE49-F238E27FC236}">
                <a16:creationId xmlns:a16="http://schemas.microsoft.com/office/drawing/2014/main" id="{03A38AEB-C4F4-7B01-B32A-E3A2459DBCAE}"/>
              </a:ext>
            </a:extLst>
          </p:cNvPr>
          <p:cNvSpPr txBox="1">
            <a:spLocks noChangeArrowheads="1"/>
          </p:cNvSpPr>
          <p:nvPr/>
        </p:nvSpPr>
        <p:spPr bwMode="auto">
          <a:xfrm>
            <a:off x="1103727" y="3914729"/>
            <a:ext cx="10338619"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a:spAutoFit/>
          </a:bodyPr>
          <a:lstStyle/>
          <a:p>
            <a:pPr marL="457200" indent="-457200">
              <a:spcBef>
                <a:spcPct val="50000"/>
              </a:spcBef>
            </a:pPr>
            <a:r>
              <a:rPr kumimoji="1" lang="en-US" altLang="zh-CN" sz="2000">
                <a:solidFill>
                  <a:srgbClr val="FF0000"/>
                </a:solidFill>
                <a:latin typeface="Consolas" pitchFamily="49" charset="0"/>
                <a:ea typeface="华文中宋" pitchFamily="2" charset="-122"/>
                <a:cs typeface="Consolas" pitchFamily="49" charset="0"/>
                <a:sym typeface="Wingdings"/>
              </a:rPr>
              <a:t>  </a:t>
            </a:r>
            <a:r>
              <a:rPr kumimoji="1" lang="en-US" altLang="zh-CN" sz="2000">
                <a:solidFill>
                  <a:srgbClr val="FF0000"/>
                </a:solidFill>
                <a:latin typeface="Consolas" pitchFamily="49" charset="0"/>
                <a:ea typeface="华文中宋" pitchFamily="2" charset="-122"/>
                <a:cs typeface="Consolas" pitchFamily="49" charset="0"/>
              </a:rPr>
              <a:t>Merge()</a:t>
            </a:r>
            <a:r>
              <a:rPr kumimoji="1" lang="zh-CN" altLang="en-US" sz="2000">
                <a:solidFill>
                  <a:srgbClr val="FF0000"/>
                </a:solidFill>
                <a:latin typeface="Consolas" pitchFamily="49" charset="0"/>
                <a:ea typeface="华文中宋" pitchFamily="2" charset="-122"/>
                <a:cs typeface="Consolas" pitchFamily="49" charset="0"/>
              </a:rPr>
              <a:t>：一次</a:t>
            </a:r>
            <a:r>
              <a:rPr lang="zh-CN" altLang="en-US" sz="2000">
                <a:solidFill>
                  <a:srgbClr val="FF0000"/>
                </a:solidFill>
                <a:latin typeface="Consolas" pitchFamily="49" charset="0"/>
                <a:ea typeface="华文中宋" pitchFamily="2" charset="-122"/>
                <a:cs typeface="Consolas" pitchFamily="49" charset="0"/>
              </a:rPr>
              <a:t>二路归并，将</a:t>
            </a:r>
            <a:r>
              <a:rPr kumimoji="1" lang="zh-CN" altLang="en-US" sz="2000">
                <a:solidFill>
                  <a:srgbClr val="FF0000"/>
                </a:solidFill>
                <a:latin typeface="Consolas" pitchFamily="49" charset="0"/>
                <a:ea typeface="华文中宋" pitchFamily="2" charset="-122"/>
                <a:cs typeface="Consolas" pitchFamily="49" charset="0"/>
              </a:rPr>
              <a:t>两</a:t>
            </a:r>
            <a:r>
              <a:rPr kumimoji="1" lang="zh-CN" altLang="en-US" sz="2000" dirty="0">
                <a:solidFill>
                  <a:srgbClr val="FF0000"/>
                </a:solidFill>
                <a:latin typeface="Consolas" pitchFamily="49" charset="0"/>
                <a:ea typeface="华文中宋" pitchFamily="2" charset="-122"/>
                <a:cs typeface="Consolas" pitchFamily="49" charset="0"/>
              </a:rPr>
              <a:t>个相邻的有序子序列归并为一个</a:t>
            </a:r>
            <a:r>
              <a:rPr kumimoji="1" lang="zh-CN" altLang="en-US" sz="2000">
                <a:solidFill>
                  <a:srgbClr val="FF0000"/>
                </a:solidFill>
                <a:latin typeface="Consolas" pitchFamily="49" charset="0"/>
                <a:ea typeface="华文中宋" pitchFamily="2" charset="-122"/>
                <a:cs typeface="Consolas" pitchFamily="49" charset="0"/>
              </a:rPr>
              <a:t>有序序列</a:t>
            </a:r>
            <a:endParaRPr kumimoji="1" lang="en-US" altLang="zh-CN" sz="2000" dirty="0">
              <a:solidFill>
                <a:srgbClr val="FF0000"/>
              </a:solidFill>
              <a:latin typeface="Consolas" pitchFamily="49" charset="0"/>
              <a:ea typeface="华文中宋" pitchFamily="2" charset="-122"/>
              <a:cs typeface="Consolas" pitchFamily="49" charset="0"/>
            </a:endParaRPr>
          </a:p>
        </p:txBody>
      </p:sp>
    </p:spTree>
    <p:extLst>
      <p:ext uri="{BB962C8B-B14F-4D97-AF65-F5344CB8AC3E}">
        <p14:creationId xmlns:p14="http://schemas.microsoft.com/office/powerpoint/2010/main" val="2585937537"/>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type="body" idx="1"/>
          </p:nvPr>
        </p:nvSpPr>
        <p:spPr bwMode="auto">
          <a:xfrm>
            <a:off x="2566988" y="2083519"/>
            <a:ext cx="7632700" cy="457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SzPct val="80000"/>
              <a:buNone/>
            </a:pPr>
            <a:r>
              <a:rPr kumimoji="1" lang="zh-CN" altLang="en-US" sz="2400" dirty="0">
                <a:latin typeface="Times New Roman" pitchFamily="18" charset="0"/>
                <a:ea typeface="微软雅黑" pitchFamily="34" charset="-122"/>
                <a:cs typeface="Times New Roman" pitchFamily="18" charset="0"/>
              </a:rPr>
              <a:t>设初始关键字序列为</a:t>
            </a:r>
            <a:r>
              <a:rPr kumimoji="1" lang="en-US" altLang="zh-CN" sz="2400" dirty="0">
                <a:latin typeface="Times New Roman" pitchFamily="18" charset="0"/>
                <a:ea typeface="微软雅黑" pitchFamily="34" charset="-122"/>
                <a:cs typeface="Times New Roman" pitchFamily="18" charset="0"/>
              </a:rPr>
              <a:t>: 48  34   60   80   75   12   26   48*</a:t>
            </a:r>
          </a:p>
        </p:txBody>
      </p:sp>
      <p:sp>
        <p:nvSpPr>
          <p:cNvPr id="80900" name="Text Box 4"/>
          <p:cNvSpPr txBox="1">
            <a:spLocks noChangeArrowheads="1"/>
          </p:cNvSpPr>
          <p:nvPr/>
        </p:nvSpPr>
        <p:spPr bwMode="auto">
          <a:xfrm>
            <a:off x="3742592" y="2564905"/>
            <a:ext cx="6400800" cy="504369"/>
          </a:xfrm>
          <a:prstGeom prst="rect">
            <a:avLst/>
          </a:prstGeom>
          <a:solidFill>
            <a:schemeClr val="bg1"/>
          </a:solidFill>
          <a:ln>
            <a:noFill/>
          </a:ln>
          <a:effectLst/>
          <a:extLst>
            <a:ext uri="{91240B29-F687-4F45-9708-019B960494DF}">
              <a14:hiddenLine xmlns:a14="http://schemas.microsoft.com/office/drawing/2010/main" w="38100" cap="sq">
                <a:solidFill>
                  <a:srgbClr val="FF9933"/>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30000"/>
              </a:lnSpc>
              <a:spcBef>
                <a:spcPct val="50000"/>
              </a:spcBef>
              <a:buFontTx/>
              <a:buNone/>
            </a:pPr>
            <a:r>
              <a:rPr lang="en-US" altLang="zh-CN" sz="2400">
                <a:latin typeface="宋体" pitchFamily="2" charset="-122"/>
              </a:rPr>
              <a:t>[48] [34] [6O] [80] [75] [12] [26] [48*]</a:t>
            </a:r>
          </a:p>
        </p:txBody>
      </p:sp>
      <p:sp>
        <p:nvSpPr>
          <p:cNvPr id="695301" name="Text Box 5"/>
          <p:cNvSpPr txBox="1">
            <a:spLocks noChangeArrowheads="1"/>
          </p:cNvSpPr>
          <p:nvPr/>
        </p:nvSpPr>
        <p:spPr bwMode="auto">
          <a:xfrm>
            <a:off x="1642330" y="3631704"/>
            <a:ext cx="2176462" cy="533400"/>
          </a:xfrm>
          <a:prstGeom prst="rect">
            <a:avLst/>
          </a:prstGeom>
          <a:solidFill>
            <a:srgbClr val="FFF8ED"/>
          </a:solidFill>
          <a:ln>
            <a:noFill/>
          </a:ln>
          <a:effectLst/>
          <a:extLst>
            <a:ext uri="{91240B29-F687-4F45-9708-019B960494DF}">
              <a14:hiddenLine xmlns:a14="http://schemas.microsoft.com/office/drawing/2010/main" w="38100" cap="sq">
                <a:solidFill>
                  <a:srgbClr val="FF9933"/>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30000"/>
              </a:lnSpc>
              <a:spcBef>
                <a:spcPct val="50000"/>
              </a:spcBef>
              <a:buFontTx/>
              <a:buNone/>
            </a:pPr>
            <a:r>
              <a:rPr kumimoji="1" lang="zh-CN" altLang="en-US" b="0" dirty="0">
                <a:latin typeface="Times New Roman" pitchFamily="18" charset="0"/>
                <a:ea typeface="微软雅黑" pitchFamily="34" charset="-122"/>
                <a:cs typeface="Times New Roman" pitchFamily="18" charset="0"/>
              </a:rPr>
              <a:t>第一趟归并：</a:t>
            </a:r>
          </a:p>
        </p:txBody>
      </p:sp>
      <p:sp>
        <p:nvSpPr>
          <p:cNvPr id="695302" name="Text Box 6"/>
          <p:cNvSpPr txBox="1">
            <a:spLocks noChangeArrowheads="1"/>
          </p:cNvSpPr>
          <p:nvPr/>
        </p:nvSpPr>
        <p:spPr bwMode="auto">
          <a:xfrm>
            <a:off x="3660530" y="4590654"/>
            <a:ext cx="3352800" cy="504369"/>
          </a:xfrm>
          <a:prstGeom prst="rect">
            <a:avLst/>
          </a:prstGeom>
          <a:solidFill>
            <a:srgbClr val="EEEEEE"/>
          </a:solidFill>
          <a:ln>
            <a:noFill/>
          </a:ln>
          <a:effectLst/>
          <a:extLst>
            <a:ext uri="{91240B29-F687-4F45-9708-019B960494DF}">
              <a14:hiddenLine xmlns:a14="http://schemas.microsoft.com/office/drawing/2010/main" w="38100" cap="sq">
                <a:solidFill>
                  <a:srgbClr val="FF9933"/>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30000"/>
              </a:lnSpc>
              <a:spcBef>
                <a:spcPct val="50000"/>
              </a:spcBef>
              <a:buFontTx/>
              <a:buNone/>
            </a:pPr>
            <a:r>
              <a:rPr lang="en-US" altLang="zh-CN" sz="2400" dirty="0">
                <a:latin typeface="宋体" pitchFamily="2" charset="-122"/>
              </a:rPr>
              <a:t>[34,  48,  60,  80]</a:t>
            </a:r>
          </a:p>
        </p:txBody>
      </p:sp>
      <p:sp>
        <p:nvSpPr>
          <p:cNvPr id="695303" name="Text Box 7"/>
          <p:cNvSpPr txBox="1">
            <a:spLocks noChangeArrowheads="1"/>
          </p:cNvSpPr>
          <p:nvPr/>
        </p:nvSpPr>
        <p:spPr bwMode="auto">
          <a:xfrm>
            <a:off x="1642330" y="5661248"/>
            <a:ext cx="8577262" cy="520848"/>
          </a:xfrm>
          <a:prstGeom prst="rect">
            <a:avLst/>
          </a:prstGeom>
          <a:solidFill>
            <a:srgbClr val="FFFFCC"/>
          </a:solidFill>
          <a:ln>
            <a:noFill/>
          </a:ln>
          <a:effectLst/>
          <a:extLst>
            <a:ext uri="{91240B29-F687-4F45-9708-019B960494DF}">
              <a14:hiddenLine xmlns:a14="http://schemas.microsoft.com/office/drawing/2010/main" w="38100" cap="sq">
                <a:solidFill>
                  <a:srgbClr val="FF9933"/>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30000"/>
              </a:lnSpc>
              <a:spcBef>
                <a:spcPct val="50000"/>
              </a:spcBef>
              <a:buFontTx/>
              <a:buNone/>
            </a:pPr>
            <a:r>
              <a:rPr kumimoji="1" lang="zh-CN" altLang="en-US" b="0" dirty="0">
                <a:latin typeface="Times New Roman" pitchFamily="18" charset="0"/>
                <a:ea typeface="微软雅黑" pitchFamily="34" charset="-122"/>
                <a:cs typeface="Times New Roman" pitchFamily="18" charset="0"/>
              </a:rPr>
              <a:t>第三趟归并：        </a:t>
            </a:r>
            <a:r>
              <a:rPr lang="en-US" altLang="zh-CN" sz="2400" dirty="0">
                <a:latin typeface="Times New Roman" pitchFamily="18" charset="0"/>
              </a:rPr>
              <a:t>[12,     26,    34,      48,    </a:t>
            </a:r>
            <a:r>
              <a:rPr lang="en-US" altLang="zh-CN" sz="2400" dirty="0">
                <a:latin typeface="宋体" pitchFamily="2" charset="-122"/>
              </a:rPr>
              <a:t>48*</a:t>
            </a:r>
            <a:r>
              <a:rPr lang="en-US" altLang="zh-CN" sz="2400" dirty="0">
                <a:latin typeface="Times New Roman" pitchFamily="18" charset="0"/>
              </a:rPr>
              <a:t>,      60,    75,      80]</a:t>
            </a:r>
          </a:p>
        </p:txBody>
      </p:sp>
      <p:grpSp>
        <p:nvGrpSpPr>
          <p:cNvPr id="695304" name="Group 8"/>
          <p:cNvGrpSpPr>
            <a:grpSpLocks/>
          </p:cNvGrpSpPr>
          <p:nvPr/>
        </p:nvGrpSpPr>
        <p:grpSpPr bwMode="auto">
          <a:xfrm>
            <a:off x="4123592" y="3250704"/>
            <a:ext cx="914400" cy="381000"/>
            <a:chOff x="1920" y="2112"/>
            <a:chExt cx="576" cy="240"/>
          </a:xfrm>
        </p:grpSpPr>
        <p:sp>
          <p:nvSpPr>
            <p:cNvPr id="80929" name="Line 9"/>
            <p:cNvSpPr>
              <a:spLocks noChangeShapeType="1"/>
            </p:cNvSpPr>
            <p:nvPr/>
          </p:nvSpPr>
          <p:spPr bwMode="auto">
            <a:xfrm>
              <a:off x="1920"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30" name="Line 10"/>
            <p:cNvSpPr>
              <a:spLocks noChangeShapeType="1"/>
            </p:cNvSpPr>
            <p:nvPr/>
          </p:nvSpPr>
          <p:spPr bwMode="auto">
            <a:xfrm flipH="1">
              <a:off x="2256"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95307" name="Group 11"/>
          <p:cNvGrpSpPr>
            <a:grpSpLocks/>
          </p:cNvGrpSpPr>
          <p:nvPr/>
        </p:nvGrpSpPr>
        <p:grpSpPr bwMode="auto">
          <a:xfrm>
            <a:off x="5723792" y="3250704"/>
            <a:ext cx="914400" cy="381000"/>
            <a:chOff x="2880" y="2112"/>
            <a:chExt cx="576" cy="240"/>
          </a:xfrm>
        </p:grpSpPr>
        <p:sp>
          <p:nvSpPr>
            <p:cNvPr id="80927" name="Line 12"/>
            <p:cNvSpPr>
              <a:spLocks noChangeShapeType="1"/>
            </p:cNvSpPr>
            <p:nvPr/>
          </p:nvSpPr>
          <p:spPr bwMode="auto">
            <a:xfrm>
              <a:off x="2880"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28" name="Line 13"/>
            <p:cNvSpPr>
              <a:spLocks noChangeShapeType="1"/>
            </p:cNvSpPr>
            <p:nvPr/>
          </p:nvSpPr>
          <p:spPr bwMode="auto">
            <a:xfrm flipH="1">
              <a:off x="3216"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95310" name="Group 14"/>
          <p:cNvGrpSpPr>
            <a:grpSpLocks/>
          </p:cNvGrpSpPr>
          <p:nvPr/>
        </p:nvGrpSpPr>
        <p:grpSpPr bwMode="auto">
          <a:xfrm>
            <a:off x="7247792" y="3250704"/>
            <a:ext cx="914400" cy="381000"/>
            <a:chOff x="3840" y="2112"/>
            <a:chExt cx="576" cy="240"/>
          </a:xfrm>
        </p:grpSpPr>
        <p:sp>
          <p:nvSpPr>
            <p:cNvPr id="80925" name="Line 15"/>
            <p:cNvSpPr>
              <a:spLocks noChangeShapeType="1"/>
            </p:cNvSpPr>
            <p:nvPr/>
          </p:nvSpPr>
          <p:spPr bwMode="auto">
            <a:xfrm>
              <a:off x="3840"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26" name="Line 16"/>
            <p:cNvSpPr>
              <a:spLocks noChangeShapeType="1"/>
            </p:cNvSpPr>
            <p:nvPr/>
          </p:nvSpPr>
          <p:spPr bwMode="auto">
            <a:xfrm flipH="1">
              <a:off x="4176"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95313" name="Group 17"/>
          <p:cNvGrpSpPr>
            <a:grpSpLocks/>
          </p:cNvGrpSpPr>
          <p:nvPr/>
        </p:nvGrpSpPr>
        <p:grpSpPr bwMode="auto">
          <a:xfrm>
            <a:off x="8847992" y="3250704"/>
            <a:ext cx="914400" cy="381000"/>
            <a:chOff x="4848" y="2112"/>
            <a:chExt cx="576" cy="240"/>
          </a:xfrm>
        </p:grpSpPr>
        <p:sp>
          <p:nvSpPr>
            <p:cNvPr id="80923" name="Line 18"/>
            <p:cNvSpPr>
              <a:spLocks noChangeShapeType="1"/>
            </p:cNvSpPr>
            <p:nvPr/>
          </p:nvSpPr>
          <p:spPr bwMode="auto">
            <a:xfrm>
              <a:off x="4848"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24" name="Line 19"/>
            <p:cNvSpPr>
              <a:spLocks noChangeShapeType="1"/>
            </p:cNvSpPr>
            <p:nvPr/>
          </p:nvSpPr>
          <p:spPr bwMode="auto">
            <a:xfrm flipH="1">
              <a:off x="5184" y="211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95316" name="Group 20"/>
          <p:cNvGrpSpPr>
            <a:grpSpLocks/>
          </p:cNvGrpSpPr>
          <p:nvPr/>
        </p:nvGrpSpPr>
        <p:grpSpPr bwMode="auto">
          <a:xfrm>
            <a:off x="4733192" y="4149080"/>
            <a:ext cx="1600200" cy="457200"/>
            <a:chOff x="2208" y="2592"/>
            <a:chExt cx="1008" cy="288"/>
          </a:xfrm>
        </p:grpSpPr>
        <p:sp>
          <p:nvSpPr>
            <p:cNvPr id="80921" name="Line 21"/>
            <p:cNvSpPr>
              <a:spLocks noChangeShapeType="1"/>
            </p:cNvSpPr>
            <p:nvPr/>
          </p:nvSpPr>
          <p:spPr bwMode="auto">
            <a:xfrm>
              <a:off x="2208" y="2592"/>
              <a:ext cx="43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22" name="Line 22"/>
            <p:cNvSpPr>
              <a:spLocks noChangeShapeType="1"/>
            </p:cNvSpPr>
            <p:nvPr/>
          </p:nvSpPr>
          <p:spPr bwMode="auto">
            <a:xfrm flipH="1">
              <a:off x="2784" y="2592"/>
              <a:ext cx="43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grpSp>
        <p:nvGrpSpPr>
          <p:cNvPr id="695319" name="Group 23"/>
          <p:cNvGrpSpPr>
            <a:grpSpLocks/>
          </p:cNvGrpSpPr>
          <p:nvPr/>
        </p:nvGrpSpPr>
        <p:grpSpPr bwMode="auto">
          <a:xfrm>
            <a:off x="7781192" y="4165104"/>
            <a:ext cx="1600200" cy="457200"/>
            <a:chOff x="2208" y="2592"/>
            <a:chExt cx="1008" cy="288"/>
          </a:xfrm>
        </p:grpSpPr>
        <p:sp>
          <p:nvSpPr>
            <p:cNvPr id="80919" name="Line 24"/>
            <p:cNvSpPr>
              <a:spLocks noChangeShapeType="1"/>
            </p:cNvSpPr>
            <p:nvPr/>
          </p:nvSpPr>
          <p:spPr bwMode="auto">
            <a:xfrm>
              <a:off x="2208" y="2592"/>
              <a:ext cx="43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20" name="Line 25"/>
            <p:cNvSpPr>
              <a:spLocks noChangeShapeType="1"/>
            </p:cNvSpPr>
            <p:nvPr/>
          </p:nvSpPr>
          <p:spPr bwMode="auto">
            <a:xfrm flipH="1">
              <a:off x="2784" y="2592"/>
              <a:ext cx="43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sp>
        <p:nvSpPr>
          <p:cNvPr id="695322" name="Rectangle 26"/>
          <p:cNvSpPr>
            <a:spLocks noChangeArrowheads="1"/>
          </p:cNvSpPr>
          <p:nvPr/>
        </p:nvSpPr>
        <p:spPr bwMode="auto">
          <a:xfrm>
            <a:off x="5495192" y="3631704"/>
            <a:ext cx="1600200" cy="533400"/>
          </a:xfrm>
          <a:prstGeom prst="rect">
            <a:avLst/>
          </a:prstGeom>
          <a:solidFill>
            <a:srgbClr val="FFF8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spcBef>
                <a:spcPct val="0"/>
              </a:spcBef>
              <a:buFontTx/>
              <a:buNone/>
            </a:pPr>
            <a:r>
              <a:rPr lang="en-US" altLang="zh-CN" sz="2400">
                <a:latin typeface="宋体" pitchFamily="2" charset="-122"/>
              </a:rPr>
              <a:t>[60, 80]</a:t>
            </a:r>
          </a:p>
        </p:txBody>
      </p:sp>
      <p:sp>
        <p:nvSpPr>
          <p:cNvPr id="695323" name="Rectangle 27"/>
          <p:cNvSpPr>
            <a:spLocks noChangeArrowheads="1"/>
          </p:cNvSpPr>
          <p:nvPr/>
        </p:nvSpPr>
        <p:spPr bwMode="auto">
          <a:xfrm>
            <a:off x="7019192" y="3631704"/>
            <a:ext cx="1600200" cy="533400"/>
          </a:xfrm>
          <a:prstGeom prst="rect">
            <a:avLst/>
          </a:prstGeom>
          <a:solidFill>
            <a:srgbClr val="FFF8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spcBef>
                <a:spcPct val="0"/>
              </a:spcBef>
              <a:buFontTx/>
              <a:buNone/>
            </a:pPr>
            <a:r>
              <a:rPr lang="en-US" altLang="zh-CN" sz="2400">
                <a:latin typeface="宋体" pitchFamily="2" charset="-122"/>
              </a:rPr>
              <a:t>[12, 75]</a:t>
            </a:r>
          </a:p>
        </p:txBody>
      </p:sp>
      <p:sp>
        <p:nvSpPr>
          <p:cNvPr id="695324" name="Rectangle 28"/>
          <p:cNvSpPr>
            <a:spLocks noChangeArrowheads="1"/>
          </p:cNvSpPr>
          <p:nvPr/>
        </p:nvSpPr>
        <p:spPr bwMode="auto">
          <a:xfrm>
            <a:off x="8619392" y="3631704"/>
            <a:ext cx="1524000" cy="533400"/>
          </a:xfrm>
          <a:prstGeom prst="rect">
            <a:avLst/>
          </a:prstGeom>
          <a:solidFill>
            <a:srgbClr val="FFF8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spcBef>
                <a:spcPct val="0"/>
              </a:spcBef>
              <a:buFontTx/>
              <a:buNone/>
            </a:pPr>
            <a:r>
              <a:rPr lang="en-US" altLang="zh-CN" sz="2400">
                <a:latin typeface="宋体" pitchFamily="2" charset="-122"/>
              </a:rPr>
              <a:t>[26, 48*]</a:t>
            </a:r>
          </a:p>
        </p:txBody>
      </p:sp>
      <p:sp>
        <p:nvSpPr>
          <p:cNvPr id="695325" name="Text Box 29"/>
          <p:cNvSpPr txBox="1">
            <a:spLocks noChangeArrowheads="1"/>
          </p:cNvSpPr>
          <p:nvPr/>
        </p:nvSpPr>
        <p:spPr bwMode="auto">
          <a:xfrm>
            <a:off x="6866793" y="4590654"/>
            <a:ext cx="3319463" cy="504369"/>
          </a:xfrm>
          <a:prstGeom prst="rect">
            <a:avLst/>
          </a:prstGeom>
          <a:solidFill>
            <a:srgbClr val="EEEEEE"/>
          </a:solidFill>
          <a:ln>
            <a:noFill/>
          </a:ln>
          <a:effectLst/>
          <a:extLst>
            <a:ext uri="{91240B29-F687-4F45-9708-019B960494DF}">
              <a14:hiddenLine xmlns:a14="http://schemas.microsoft.com/office/drawing/2010/main" w="38100" cap="sq">
                <a:solidFill>
                  <a:srgbClr val="FF9933"/>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30000"/>
              </a:lnSpc>
              <a:spcBef>
                <a:spcPct val="50000"/>
              </a:spcBef>
              <a:buFontTx/>
              <a:buNone/>
            </a:pPr>
            <a:r>
              <a:rPr lang="en-US" altLang="zh-CN" sz="2400">
                <a:latin typeface="宋体" pitchFamily="2" charset="-122"/>
              </a:rPr>
              <a:t>[12,  26, 48*,  75]</a:t>
            </a:r>
          </a:p>
        </p:txBody>
      </p:sp>
      <p:grpSp>
        <p:nvGrpSpPr>
          <p:cNvPr id="695326" name="Group 30"/>
          <p:cNvGrpSpPr>
            <a:grpSpLocks/>
          </p:cNvGrpSpPr>
          <p:nvPr/>
        </p:nvGrpSpPr>
        <p:grpSpPr bwMode="auto">
          <a:xfrm>
            <a:off x="5495192" y="5231904"/>
            <a:ext cx="2895600" cy="429344"/>
            <a:chOff x="2688" y="3264"/>
            <a:chExt cx="1824" cy="384"/>
          </a:xfrm>
        </p:grpSpPr>
        <p:sp>
          <p:nvSpPr>
            <p:cNvPr id="80917" name="Line 31"/>
            <p:cNvSpPr>
              <a:spLocks noChangeShapeType="1"/>
            </p:cNvSpPr>
            <p:nvPr/>
          </p:nvSpPr>
          <p:spPr bwMode="auto">
            <a:xfrm>
              <a:off x="2688" y="3264"/>
              <a:ext cx="816"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sp>
          <p:nvSpPr>
            <p:cNvPr id="80918" name="Line 32"/>
            <p:cNvSpPr>
              <a:spLocks noChangeShapeType="1"/>
            </p:cNvSpPr>
            <p:nvPr/>
          </p:nvSpPr>
          <p:spPr bwMode="auto">
            <a:xfrm flipH="1">
              <a:off x="3648" y="3264"/>
              <a:ext cx="86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endParaRPr lang="zh-CN" altLang="en-US"/>
            </a:p>
          </p:txBody>
        </p:sp>
      </p:grpSp>
      <p:sp>
        <p:nvSpPr>
          <p:cNvPr id="695329" name="Rectangle 33"/>
          <p:cNvSpPr>
            <a:spLocks noChangeArrowheads="1"/>
          </p:cNvSpPr>
          <p:nvPr/>
        </p:nvSpPr>
        <p:spPr bwMode="auto">
          <a:xfrm>
            <a:off x="3818792" y="3631704"/>
            <a:ext cx="1676400" cy="533400"/>
          </a:xfrm>
          <a:prstGeom prst="rect">
            <a:avLst/>
          </a:prstGeom>
          <a:solidFill>
            <a:srgbClr val="FFF8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spcBef>
                <a:spcPct val="0"/>
              </a:spcBef>
              <a:buFontTx/>
              <a:buNone/>
            </a:pPr>
            <a:r>
              <a:rPr lang="en-US" altLang="zh-CN" sz="2400">
                <a:latin typeface="宋体" pitchFamily="2" charset="-122"/>
              </a:rPr>
              <a:t>[34, 48]</a:t>
            </a:r>
          </a:p>
        </p:txBody>
      </p:sp>
      <p:sp>
        <p:nvSpPr>
          <p:cNvPr id="695330" name="Text Box 34"/>
          <p:cNvSpPr txBox="1">
            <a:spLocks noChangeArrowheads="1"/>
          </p:cNvSpPr>
          <p:nvPr/>
        </p:nvSpPr>
        <p:spPr bwMode="auto">
          <a:xfrm>
            <a:off x="1608992" y="4581128"/>
            <a:ext cx="1981200" cy="576262"/>
          </a:xfrm>
          <a:prstGeom prst="rect">
            <a:avLst/>
          </a:prstGeom>
          <a:solidFill>
            <a:srgbClr val="EEEEEE"/>
          </a:solidFill>
          <a:ln>
            <a:noFill/>
          </a:ln>
          <a:effectLst/>
          <a:extLst>
            <a:ext uri="{91240B29-F687-4F45-9708-019B960494DF}">
              <a14:hiddenLine xmlns:a14="http://schemas.microsoft.com/office/drawing/2010/main" w="38100" cap="sq">
                <a:solidFill>
                  <a:srgbClr val="FF9933"/>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b="1">
                <a:solidFill>
                  <a:schemeClr val="tx1"/>
                </a:solidFill>
                <a:latin typeface="Arial" charset="0"/>
                <a:ea typeface="宋体" pitchFamily="2" charset="-122"/>
              </a:defRPr>
            </a:lvl1pPr>
            <a:lvl2pPr marL="742950" indent="-285750" eaLnBrk="0" hangingPunct="0">
              <a:defRPr sz="2000" b="1">
                <a:solidFill>
                  <a:schemeClr val="tx1"/>
                </a:solidFill>
                <a:latin typeface="Arial" charset="0"/>
                <a:ea typeface="宋体" pitchFamily="2" charset="-122"/>
              </a:defRPr>
            </a:lvl2pPr>
            <a:lvl3pPr marL="1143000" indent="-228600" eaLnBrk="0" hangingPunct="0">
              <a:defRPr sz="2000" b="1">
                <a:solidFill>
                  <a:schemeClr val="tx1"/>
                </a:solidFill>
                <a:latin typeface="Arial" charset="0"/>
                <a:ea typeface="宋体" pitchFamily="2" charset="-122"/>
              </a:defRPr>
            </a:lvl3pPr>
            <a:lvl4pPr marL="1600200" indent="-228600" eaLnBrk="0" hangingPunct="0">
              <a:defRPr sz="2000" b="1">
                <a:solidFill>
                  <a:schemeClr val="tx1"/>
                </a:solidFill>
                <a:latin typeface="Arial" charset="0"/>
                <a:ea typeface="宋体" pitchFamily="2" charset="-122"/>
              </a:defRPr>
            </a:lvl4pPr>
            <a:lvl5pPr marL="2057400" indent="-228600" eaLnBrk="0" hangingPunct="0">
              <a:defRPr sz="2000" b="1">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pitchFamily="2" charset="-122"/>
              </a:defRPr>
            </a:lvl9pPr>
          </a:lstStyle>
          <a:p>
            <a:pPr algn="just" eaLnBrk="1" hangingPunct="1">
              <a:lnSpc>
                <a:spcPct val="130000"/>
              </a:lnSpc>
              <a:spcBef>
                <a:spcPct val="50000"/>
              </a:spcBef>
              <a:buFontTx/>
              <a:buNone/>
            </a:pPr>
            <a:r>
              <a:rPr kumimoji="1" lang="zh-CN" altLang="en-US" b="0" dirty="0">
                <a:latin typeface="Times New Roman" pitchFamily="18" charset="0"/>
                <a:ea typeface="微软雅黑" pitchFamily="34" charset="-122"/>
                <a:cs typeface="Times New Roman" pitchFamily="18" charset="0"/>
              </a:rPr>
              <a:t>第二趟归并：</a:t>
            </a:r>
          </a:p>
        </p:txBody>
      </p:sp>
      <p:cxnSp>
        <p:nvCxnSpPr>
          <p:cNvPr id="2" name="直接连接符 1">
            <a:extLst>
              <a:ext uri="{FF2B5EF4-FFF2-40B4-BE49-F238E27FC236}">
                <a16:creationId xmlns:a16="http://schemas.microsoft.com/office/drawing/2014/main" id="{7BA8DF05-579B-4314-6964-CC69B15E905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28DA0C28-E312-CE59-2748-491D81DB077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Tree>
    <p:extLst>
      <p:ext uri="{BB962C8B-B14F-4D97-AF65-F5344CB8AC3E}">
        <p14:creationId xmlns:p14="http://schemas.microsoft.com/office/powerpoint/2010/main" val="16181569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5301"/>
                                        </p:tgtEl>
                                        <p:attrNameLst>
                                          <p:attrName>style.visibility</p:attrName>
                                        </p:attrNameLst>
                                      </p:cBhvr>
                                      <p:to>
                                        <p:strVal val="visible"/>
                                      </p:to>
                                    </p:set>
                                    <p:animEffect transition="in" filter="wipe(left)">
                                      <p:cBhvr>
                                        <p:cTn id="7" dur="500"/>
                                        <p:tgtEl>
                                          <p:spTgt spid="6953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95304"/>
                                        </p:tgtEl>
                                        <p:attrNameLst>
                                          <p:attrName>style.visibility</p:attrName>
                                        </p:attrNameLst>
                                      </p:cBhvr>
                                      <p:to>
                                        <p:strVal val="visible"/>
                                      </p:to>
                                    </p:set>
                                    <p:animEffect transition="in" filter="wipe(up)">
                                      <p:cBhvr>
                                        <p:cTn id="12" dur="500"/>
                                        <p:tgtEl>
                                          <p:spTgt spid="695304"/>
                                        </p:tgtEl>
                                      </p:cBhvr>
                                    </p:animEffect>
                                  </p:childTnLst>
                                </p:cTn>
                              </p:par>
                            </p:childTnLst>
                          </p:cTn>
                        </p:par>
                        <p:par>
                          <p:cTn id="13" fill="hold" nodeType="afterGroup">
                            <p:stCondLst>
                              <p:cond delay="500"/>
                            </p:stCondLst>
                            <p:childTnLst>
                              <p:par>
                                <p:cTn id="14" presetID="22" presetClass="entr" presetSubtype="8" fill="hold" grpId="0" nodeType="afterEffect">
                                  <p:stCondLst>
                                    <p:cond delay="1000"/>
                                  </p:stCondLst>
                                  <p:childTnLst>
                                    <p:set>
                                      <p:cBhvr>
                                        <p:cTn id="15" dur="1" fill="hold">
                                          <p:stCondLst>
                                            <p:cond delay="0"/>
                                          </p:stCondLst>
                                        </p:cTn>
                                        <p:tgtEl>
                                          <p:spTgt spid="695329"/>
                                        </p:tgtEl>
                                        <p:attrNameLst>
                                          <p:attrName>style.visibility</p:attrName>
                                        </p:attrNameLst>
                                      </p:cBhvr>
                                      <p:to>
                                        <p:strVal val="visible"/>
                                      </p:to>
                                    </p:set>
                                    <p:animEffect transition="in" filter="wipe(left)">
                                      <p:cBhvr>
                                        <p:cTn id="16" dur="500"/>
                                        <p:tgtEl>
                                          <p:spTgt spid="69532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695307"/>
                                        </p:tgtEl>
                                        <p:attrNameLst>
                                          <p:attrName>style.visibility</p:attrName>
                                        </p:attrNameLst>
                                      </p:cBhvr>
                                      <p:to>
                                        <p:strVal val="visible"/>
                                      </p:to>
                                    </p:set>
                                    <p:animEffect transition="in" filter="wipe(up)">
                                      <p:cBhvr>
                                        <p:cTn id="21" dur="500"/>
                                        <p:tgtEl>
                                          <p:spTgt spid="695307"/>
                                        </p:tgtEl>
                                      </p:cBhvr>
                                    </p:animEffect>
                                  </p:childTnLst>
                                </p:cTn>
                              </p:par>
                            </p:childTnLst>
                          </p:cTn>
                        </p:par>
                        <p:par>
                          <p:cTn id="22" fill="hold" nodeType="afterGroup">
                            <p:stCondLst>
                              <p:cond delay="500"/>
                            </p:stCondLst>
                            <p:childTnLst>
                              <p:par>
                                <p:cTn id="23" presetID="22" presetClass="entr" presetSubtype="8" fill="hold" grpId="0" nodeType="afterEffect">
                                  <p:stCondLst>
                                    <p:cond delay="1000"/>
                                  </p:stCondLst>
                                  <p:childTnLst>
                                    <p:set>
                                      <p:cBhvr>
                                        <p:cTn id="24" dur="1" fill="hold">
                                          <p:stCondLst>
                                            <p:cond delay="0"/>
                                          </p:stCondLst>
                                        </p:cTn>
                                        <p:tgtEl>
                                          <p:spTgt spid="695322"/>
                                        </p:tgtEl>
                                        <p:attrNameLst>
                                          <p:attrName>style.visibility</p:attrName>
                                        </p:attrNameLst>
                                      </p:cBhvr>
                                      <p:to>
                                        <p:strVal val="visible"/>
                                      </p:to>
                                    </p:set>
                                    <p:animEffect transition="in" filter="wipe(left)">
                                      <p:cBhvr>
                                        <p:cTn id="25" dur="500"/>
                                        <p:tgtEl>
                                          <p:spTgt spid="69532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695310"/>
                                        </p:tgtEl>
                                        <p:attrNameLst>
                                          <p:attrName>style.visibility</p:attrName>
                                        </p:attrNameLst>
                                      </p:cBhvr>
                                      <p:to>
                                        <p:strVal val="visible"/>
                                      </p:to>
                                    </p:set>
                                    <p:animEffect transition="in" filter="wipe(up)">
                                      <p:cBhvr>
                                        <p:cTn id="30" dur="500"/>
                                        <p:tgtEl>
                                          <p:spTgt spid="695310"/>
                                        </p:tgtEl>
                                      </p:cBhvr>
                                    </p:animEffect>
                                  </p:childTnLst>
                                </p:cTn>
                              </p:par>
                            </p:childTnLst>
                          </p:cTn>
                        </p:par>
                        <p:par>
                          <p:cTn id="31" fill="hold" nodeType="afterGroup">
                            <p:stCondLst>
                              <p:cond delay="500"/>
                            </p:stCondLst>
                            <p:childTnLst>
                              <p:par>
                                <p:cTn id="32" presetID="22" presetClass="entr" presetSubtype="8" fill="hold" grpId="0" nodeType="afterEffect">
                                  <p:stCondLst>
                                    <p:cond delay="1000"/>
                                  </p:stCondLst>
                                  <p:childTnLst>
                                    <p:set>
                                      <p:cBhvr>
                                        <p:cTn id="33" dur="1" fill="hold">
                                          <p:stCondLst>
                                            <p:cond delay="0"/>
                                          </p:stCondLst>
                                        </p:cTn>
                                        <p:tgtEl>
                                          <p:spTgt spid="695323"/>
                                        </p:tgtEl>
                                        <p:attrNameLst>
                                          <p:attrName>style.visibility</p:attrName>
                                        </p:attrNameLst>
                                      </p:cBhvr>
                                      <p:to>
                                        <p:strVal val="visible"/>
                                      </p:to>
                                    </p:set>
                                    <p:animEffect transition="in" filter="wipe(left)">
                                      <p:cBhvr>
                                        <p:cTn id="34" dur="500"/>
                                        <p:tgtEl>
                                          <p:spTgt spid="69532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695313"/>
                                        </p:tgtEl>
                                        <p:attrNameLst>
                                          <p:attrName>style.visibility</p:attrName>
                                        </p:attrNameLst>
                                      </p:cBhvr>
                                      <p:to>
                                        <p:strVal val="visible"/>
                                      </p:to>
                                    </p:set>
                                    <p:animEffect transition="in" filter="wipe(up)">
                                      <p:cBhvr>
                                        <p:cTn id="39" dur="500"/>
                                        <p:tgtEl>
                                          <p:spTgt spid="695313"/>
                                        </p:tgtEl>
                                      </p:cBhvr>
                                    </p:animEffect>
                                  </p:childTnLst>
                                </p:cTn>
                              </p:par>
                            </p:childTnLst>
                          </p:cTn>
                        </p:par>
                        <p:par>
                          <p:cTn id="40" fill="hold" nodeType="afterGroup">
                            <p:stCondLst>
                              <p:cond delay="500"/>
                            </p:stCondLst>
                            <p:childTnLst>
                              <p:par>
                                <p:cTn id="41" presetID="22" presetClass="entr" presetSubtype="8" fill="hold" grpId="0" nodeType="afterEffect">
                                  <p:stCondLst>
                                    <p:cond delay="1000"/>
                                  </p:stCondLst>
                                  <p:childTnLst>
                                    <p:set>
                                      <p:cBhvr>
                                        <p:cTn id="42" dur="1" fill="hold">
                                          <p:stCondLst>
                                            <p:cond delay="0"/>
                                          </p:stCondLst>
                                        </p:cTn>
                                        <p:tgtEl>
                                          <p:spTgt spid="695324"/>
                                        </p:tgtEl>
                                        <p:attrNameLst>
                                          <p:attrName>style.visibility</p:attrName>
                                        </p:attrNameLst>
                                      </p:cBhvr>
                                      <p:to>
                                        <p:strVal val="visible"/>
                                      </p:to>
                                    </p:set>
                                    <p:animEffect transition="in" filter="wipe(left)">
                                      <p:cBhvr>
                                        <p:cTn id="43" dur="500"/>
                                        <p:tgtEl>
                                          <p:spTgt spid="69532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95330"/>
                                        </p:tgtEl>
                                        <p:attrNameLst>
                                          <p:attrName>style.visibility</p:attrName>
                                        </p:attrNameLst>
                                      </p:cBhvr>
                                      <p:to>
                                        <p:strVal val="visible"/>
                                      </p:to>
                                    </p:set>
                                    <p:animEffect transition="in" filter="wipe(left)">
                                      <p:cBhvr>
                                        <p:cTn id="48" dur="500"/>
                                        <p:tgtEl>
                                          <p:spTgt spid="69533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695316"/>
                                        </p:tgtEl>
                                        <p:attrNameLst>
                                          <p:attrName>style.visibility</p:attrName>
                                        </p:attrNameLst>
                                      </p:cBhvr>
                                      <p:to>
                                        <p:strVal val="visible"/>
                                      </p:to>
                                    </p:set>
                                    <p:animEffect transition="in" filter="wipe(up)">
                                      <p:cBhvr>
                                        <p:cTn id="53" dur="500"/>
                                        <p:tgtEl>
                                          <p:spTgt spid="695316"/>
                                        </p:tgtEl>
                                      </p:cBhvr>
                                    </p:animEffect>
                                  </p:childTnLst>
                                </p:cTn>
                              </p:par>
                            </p:childTnLst>
                          </p:cTn>
                        </p:par>
                        <p:par>
                          <p:cTn id="54" fill="hold" nodeType="afterGroup">
                            <p:stCondLst>
                              <p:cond delay="500"/>
                            </p:stCondLst>
                            <p:childTnLst>
                              <p:par>
                                <p:cTn id="55" presetID="22" presetClass="entr" presetSubtype="8" fill="hold" grpId="0" nodeType="afterEffect">
                                  <p:stCondLst>
                                    <p:cond delay="1000"/>
                                  </p:stCondLst>
                                  <p:childTnLst>
                                    <p:set>
                                      <p:cBhvr>
                                        <p:cTn id="56" dur="1" fill="hold">
                                          <p:stCondLst>
                                            <p:cond delay="0"/>
                                          </p:stCondLst>
                                        </p:cTn>
                                        <p:tgtEl>
                                          <p:spTgt spid="695302"/>
                                        </p:tgtEl>
                                        <p:attrNameLst>
                                          <p:attrName>style.visibility</p:attrName>
                                        </p:attrNameLst>
                                      </p:cBhvr>
                                      <p:to>
                                        <p:strVal val="visible"/>
                                      </p:to>
                                    </p:set>
                                    <p:animEffect transition="in" filter="wipe(left)">
                                      <p:cBhvr>
                                        <p:cTn id="57" dur="500"/>
                                        <p:tgtEl>
                                          <p:spTgt spid="6953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695319"/>
                                        </p:tgtEl>
                                        <p:attrNameLst>
                                          <p:attrName>style.visibility</p:attrName>
                                        </p:attrNameLst>
                                      </p:cBhvr>
                                      <p:to>
                                        <p:strVal val="visible"/>
                                      </p:to>
                                    </p:set>
                                    <p:animEffect transition="in" filter="wipe(up)">
                                      <p:cBhvr>
                                        <p:cTn id="62" dur="500"/>
                                        <p:tgtEl>
                                          <p:spTgt spid="695319"/>
                                        </p:tgtEl>
                                      </p:cBhvr>
                                    </p:animEffect>
                                  </p:childTnLst>
                                </p:cTn>
                              </p:par>
                            </p:childTnLst>
                          </p:cTn>
                        </p:par>
                        <p:par>
                          <p:cTn id="63" fill="hold" nodeType="afterGroup">
                            <p:stCondLst>
                              <p:cond delay="500"/>
                            </p:stCondLst>
                            <p:childTnLst>
                              <p:par>
                                <p:cTn id="64" presetID="22" presetClass="entr" presetSubtype="8" fill="hold" grpId="0" nodeType="afterEffect">
                                  <p:stCondLst>
                                    <p:cond delay="1000"/>
                                  </p:stCondLst>
                                  <p:childTnLst>
                                    <p:set>
                                      <p:cBhvr>
                                        <p:cTn id="65" dur="1" fill="hold">
                                          <p:stCondLst>
                                            <p:cond delay="0"/>
                                          </p:stCondLst>
                                        </p:cTn>
                                        <p:tgtEl>
                                          <p:spTgt spid="695325"/>
                                        </p:tgtEl>
                                        <p:attrNameLst>
                                          <p:attrName>style.visibility</p:attrName>
                                        </p:attrNameLst>
                                      </p:cBhvr>
                                      <p:to>
                                        <p:strVal val="visible"/>
                                      </p:to>
                                    </p:set>
                                    <p:animEffect transition="in" filter="wipe(left)">
                                      <p:cBhvr>
                                        <p:cTn id="66" dur="500"/>
                                        <p:tgtEl>
                                          <p:spTgt spid="69532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695326"/>
                                        </p:tgtEl>
                                        <p:attrNameLst>
                                          <p:attrName>style.visibility</p:attrName>
                                        </p:attrNameLst>
                                      </p:cBhvr>
                                      <p:to>
                                        <p:strVal val="visible"/>
                                      </p:to>
                                    </p:set>
                                    <p:animEffect transition="in" filter="wipe(up)">
                                      <p:cBhvr>
                                        <p:cTn id="71" dur="500"/>
                                        <p:tgtEl>
                                          <p:spTgt spid="695326"/>
                                        </p:tgtEl>
                                      </p:cBhvr>
                                    </p:animEffect>
                                  </p:childTnLst>
                                </p:cTn>
                              </p:par>
                            </p:childTnLst>
                          </p:cTn>
                        </p:par>
                        <p:par>
                          <p:cTn id="72" fill="hold" nodeType="afterGroup">
                            <p:stCondLst>
                              <p:cond delay="500"/>
                            </p:stCondLst>
                            <p:childTnLst>
                              <p:par>
                                <p:cTn id="73" presetID="22" presetClass="entr" presetSubtype="8" fill="hold" grpId="0" nodeType="afterEffect">
                                  <p:stCondLst>
                                    <p:cond delay="1000"/>
                                  </p:stCondLst>
                                  <p:childTnLst>
                                    <p:set>
                                      <p:cBhvr>
                                        <p:cTn id="74" dur="1" fill="hold">
                                          <p:stCondLst>
                                            <p:cond delay="0"/>
                                          </p:stCondLst>
                                        </p:cTn>
                                        <p:tgtEl>
                                          <p:spTgt spid="695303"/>
                                        </p:tgtEl>
                                        <p:attrNameLst>
                                          <p:attrName>style.visibility</p:attrName>
                                        </p:attrNameLst>
                                      </p:cBhvr>
                                      <p:to>
                                        <p:strVal val="visible"/>
                                      </p:to>
                                    </p:set>
                                    <p:animEffect transition="in" filter="wipe(left)">
                                      <p:cBhvr>
                                        <p:cTn id="75" dur="500"/>
                                        <p:tgtEl>
                                          <p:spTgt spid="69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301" grpId="0" animBg="1" autoUpdateAnimBg="0"/>
      <p:bldP spid="695302" grpId="0" animBg="1" autoUpdateAnimBg="0"/>
      <p:bldP spid="695303" grpId="0" animBg="1" autoUpdateAnimBg="0"/>
      <p:bldP spid="695322" grpId="0" animBg="1" autoUpdateAnimBg="0"/>
      <p:bldP spid="695323" grpId="0" animBg="1" autoUpdateAnimBg="0"/>
      <p:bldP spid="695324" grpId="0" animBg="1" autoUpdateAnimBg="0"/>
      <p:bldP spid="695325" grpId="0" animBg="1" autoUpdateAnimBg="0"/>
      <p:bldP spid="695329" grpId="0" animBg="1" autoUpdateAnimBg="0"/>
      <p:bldP spid="695330"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343569" y="1126101"/>
            <a:ext cx="2554967"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folHlink"/>
              </a:buClr>
              <a:buSzPct val="75000"/>
            </a:pPr>
            <a:r>
              <a:rPr kumimoji="1" lang="zh-CN" altLang="en-US" sz="2000" dirty="0">
                <a:latin typeface="Times New Roman" pitchFamily="18" charset="0"/>
                <a:ea typeface="微软雅黑" pitchFamily="34" charset="-122"/>
                <a:cs typeface="Times New Roman" pitchFamily="18" charset="0"/>
              </a:rPr>
              <a:t>两路归并排序算法</a:t>
            </a:r>
            <a:endParaRPr kumimoji="1" lang="en-US" altLang="zh-CN" sz="2000" dirty="0">
              <a:latin typeface="Times New Roman" pitchFamily="18" charset="0"/>
              <a:ea typeface="微软雅黑" pitchFamily="34" charset="-122"/>
              <a:cs typeface="Times New Roman" pitchFamily="18" charset="0"/>
            </a:endParaRPr>
          </a:p>
        </p:txBody>
      </p:sp>
      <p:cxnSp>
        <p:nvCxnSpPr>
          <p:cNvPr id="2" name="直接连接符 1">
            <a:extLst>
              <a:ext uri="{FF2B5EF4-FFF2-40B4-BE49-F238E27FC236}">
                <a16:creationId xmlns:a16="http://schemas.microsoft.com/office/drawing/2014/main" id="{7CF1E1A5-7E61-F05F-2C2B-2E28F4200BE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E0993EF-B981-846D-E79D-FD1600FA1084}"/>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
        <p:nvSpPr>
          <p:cNvPr id="4" name="Text Box 2">
            <a:extLst>
              <a:ext uri="{FF2B5EF4-FFF2-40B4-BE49-F238E27FC236}">
                <a16:creationId xmlns:a16="http://schemas.microsoft.com/office/drawing/2014/main" id="{C1CCCB26-1B81-769B-D98E-259E0C7228E4}"/>
              </a:ext>
            </a:extLst>
          </p:cNvPr>
          <p:cNvSpPr txBox="1">
            <a:spLocks noChangeArrowheads="1"/>
          </p:cNvSpPr>
          <p:nvPr/>
        </p:nvSpPr>
        <p:spPr bwMode="auto">
          <a:xfrm>
            <a:off x="1415480" y="1545199"/>
            <a:ext cx="7986738" cy="4380000"/>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80000" bIns="180000">
            <a:spAutoFit/>
          </a:bodyPr>
          <a:lstStyle/>
          <a:p>
            <a:pPr algn="just">
              <a:spcBef>
                <a:spcPct val="5000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a:solidFill>
                  <a:srgbClr val="FF0000"/>
                </a:solidFill>
                <a:latin typeface="Consolas" pitchFamily="49" charset="0"/>
                <a:ea typeface="仿宋" pitchFamily="49" charset="-122"/>
                <a:cs typeface="Consolas" pitchFamily="49" charset="0"/>
              </a:rPr>
              <a:t>Merge</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low</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mid</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a:t>
            </a:r>
            <a:r>
              <a:rPr kumimoji="1" lang="en-US" altLang="zh-CN" sz="1800" dirty="0">
                <a:solidFill>
                  <a:srgbClr val="1000E4"/>
                </a:solidFill>
                <a:latin typeface="Consolas" pitchFamily="49" charset="0"/>
                <a:ea typeface="仿宋" pitchFamily="49" charset="-122"/>
                <a:cs typeface="Consolas" pitchFamily="49" charset="0"/>
              </a:rPr>
              <a:t>high) </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RecType </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R1</a:t>
            </a:r>
            <a:r>
              <a:rPr kumimoji="1" lang="en-US" altLang="zh-CN" sz="1800" dirty="0">
                <a:solidFill>
                  <a:srgbClr val="1000E4"/>
                </a:solidFill>
                <a:latin typeface="Consolas" pitchFamily="49" charset="0"/>
                <a:ea typeface="仿宋" pitchFamily="49" charset="-122"/>
                <a:cs typeface="Consolas" pitchFamily="49" charset="0"/>
              </a:rPr>
              <a:t>;</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int i=low</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j=mid+1</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k=0</a:t>
            </a:r>
            <a:r>
              <a:rPr kumimoji="1" lang="en-US" altLang="zh-CN" sz="1800" dirty="0">
                <a:solidFill>
                  <a:srgbClr val="1000E4"/>
                </a:solidFill>
                <a:latin typeface="Consolas" pitchFamily="49" charset="0"/>
                <a:ea typeface="仿宋" pitchFamily="49" charset="-122"/>
                <a:cs typeface="Consolas" pitchFamily="49" charset="0"/>
              </a:rPr>
              <a:t>; </a:t>
            </a:r>
          </a:p>
          <a:p>
            <a:pPr algn="just">
              <a:spcBef>
                <a:spcPct val="50000"/>
              </a:spcBef>
            </a:pP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   //k</a:t>
            </a:r>
            <a:r>
              <a:rPr kumimoji="1" lang="zh-CN" altLang="en-US" sz="1800" dirty="0">
                <a:solidFill>
                  <a:srgbClr val="00B0F0"/>
                </a:solidFill>
                <a:latin typeface="Consolas" pitchFamily="49" charset="0"/>
                <a:ea typeface="仿宋" pitchFamily="49" charset="-122"/>
                <a:cs typeface="Consolas" pitchFamily="49" charset="0"/>
              </a:rPr>
              <a:t>是</a:t>
            </a:r>
            <a:r>
              <a:rPr kumimoji="1" lang="en-US" altLang="zh-CN" sz="1800" dirty="0" err="1">
                <a:solidFill>
                  <a:srgbClr val="00B0F0"/>
                </a:solidFill>
                <a:latin typeface="Consolas" pitchFamily="49" charset="0"/>
                <a:ea typeface="仿宋" pitchFamily="49" charset="-122"/>
                <a:cs typeface="Consolas" pitchFamily="49" charset="0"/>
              </a:rPr>
              <a:t>R1</a:t>
            </a:r>
            <a:r>
              <a:rPr kumimoji="1" lang="zh-CN" altLang="en-US" sz="1800">
                <a:solidFill>
                  <a:srgbClr val="00B0F0"/>
                </a:solidFill>
                <a:latin typeface="Consolas" pitchFamily="49" charset="0"/>
                <a:ea typeface="仿宋" pitchFamily="49" charset="-122"/>
                <a:cs typeface="Consolas" pitchFamily="49" charset="0"/>
              </a:rPr>
              <a:t>的下标，</a:t>
            </a:r>
            <a:r>
              <a:rPr kumimoji="1" lang="en-US" altLang="zh-CN" sz="1800">
                <a:solidFill>
                  <a:srgbClr val="00B0F0"/>
                </a:solidFill>
                <a:latin typeface="Consolas" pitchFamily="49" charset="0"/>
                <a:ea typeface="仿宋" pitchFamily="49" charset="-122"/>
                <a:cs typeface="Consolas" pitchFamily="49" charset="0"/>
              </a:rPr>
              <a:t>i</a:t>
            </a:r>
            <a:r>
              <a:rPr kumimoji="1" lang="zh-CN" altLang="en-US"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分别为第</a:t>
            </a:r>
            <a:r>
              <a:rPr kumimoji="1" lang="en-US" altLang="zh-CN" sz="1800" dirty="0">
                <a:solidFill>
                  <a:srgbClr val="00B0F0"/>
                </a:solidFill>
                <a:latin typeface="Consolas" pitchFamily="49" charset="0"/>
                <a:ea typeface="仿宋" pitchFamily="49" charset="-122"/>
                <a:cs typeface="Consolas" pitchFamily="49" charset="0"/>
              </a:rPr>
              <a:t>1</a:t>
            </a:r>
            <a:r>
              <a:rPr kumimoji="1" lang="zh-CN" altLang="en-US" sz="1800" dirty="0">
                <a:solidFill>
                  <a:srgbClr val="00B0F0"/>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2</a:t>
            </a:r>
            <a:r>
              <a:rPr kumimoji="1" lang="zh-CN" altLang="en-US" sz="1800" dirty="0">
                <a:solidFill>
                  <a:srgbClr val="00B0F0"/>
                </a:solidFill>
                <a:latin typeface="Consolas" pitchFamily="49" charset="0"/>
                <a:ea typeface="仿宋" pitchFamily="49" charset="-122"/>
                <a:cs typeface="Consolas" pitchFamily="49" charset="0"/>
              </a:rPr>
              <a:t>段的下标</a:t>
            </a:r>
          </a:p>
          <a:p>
            <a:pPr algn="just">
              <a:spcBef>
                <a:spcPct val="50000"/>
              </a:spcBef>
            </a:pPr>
            <a:r>
              <a:rPr kumimoji="1" lang="zh-CN" altLang="en-US" sz="1800">
                <a:solidFill>
                  <a:srgbClr val="FF00FF"/>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R1</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RecType</a:t>
            </a:r>
            <a:r>
              <a:rPr kumimoji="1" lang="en-US" altLang="zh-CN" sz="1800" dirty="0">
                <a:solidFill>
                  <a:srgbClr val="FF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malloc</a:t>
            </a:r>
            <a:r>
              <a:rPr kumimoji="1" lang="en-US" altLang="zh-CN" sz="1800" dirty="0">
                <a:solidFill>
                  <a:srgbClr val="FF00FF"/>
                </a:solidFill>
                <a:latin typeface="Consolas" pitchFamily="49" charset="0"/>
                <a:ea typeface="仿宋" pitchFamily="49" charset="-122"/>
                <a:cs typeface="Consolas" pitchFamily="49" charset="0"/>
              </a:rPr>
              <a:t>((high-</a:t>
            </a:r>
            <a:r>
              <a:rPr kumimoji="1" lang="en-US" altLang="zh-CN" sz="1800" dirty="0" err="1">
                <a:solidFill>
                  <a:srgbClr val="FF00FF"/>
                </a:solidFill>
                <a:latin typeface="Consolas" pitchFamily="49" charset="0"/>
                <a:ea typeface="仿宋" pitchFamily="49" charset="-122"/>
                <a:cs typeface="Consolas" pitchFamily="49" charset="0"/>
              </a:rPr>
              <a:t>low+1</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sizeof</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err="1">
                <a:solidFill>
                  <a:srgbClr val="FF00FF"/>
                </a:solidFill>
                <a:latin typeface="Consolas" pitchFamily="49" charset="0"/>
                <a:ea typeface="仿宋" pitchFamily="49" charset="-122"/>
                <a:cs typeface="Consolas" pitchFamily="49" charset="0"/>
              </a:rPr>
              <a:t>RecType</a:t>
            </a:r>
            <a:r>
              <a:rPr kumimoji="1" lang="en-US" altLang="zh-CN" sz="1800" dirty="0">
                <a:solidFill>
                  <a:srgbClr val="FF00FF"/>
                </a:solidFill>
                <a:latin typeface="Consolas" pitchFamily="49" charset="0"/>
                <a:ea typeface="仿宋" pitchFamily="49" charset="-122"/>
                <a:cs typeface="Consolas" pitchFamily="49" charset="0"/>
              </a:rPr>
              <a:t>));</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while </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&lt;=mid &amp;&amp; j&lt;=high) </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if (R[</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].key&lt;=R[j].key</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将第</a:t>
            </a:r>
            <a:r>
              <a:rPr kumimoji="1" lang="en-US" altLang="zh-CN" sz="1800" dirty="0">
                <a:solidFill>
                  <a:srgbClr val="00B0F0"/>
                </a:solidFill>
                <a:latin typeface="Consolas" pitchFamily="49" charset="0"/>
                <a:ea typeface="仿宋" pitchFamily="49" charset="-122"/>
                <a:cs typeface="Consolas" pitchFamily="49" charset="0"/>
              </a:rPr>
              <a:t>1</a:t>
            </a:r>
            <a:r>
              <a:rPr kumimoji="1" lang="zh-CN" altLang="en-US" sz="1800" dirty="0">
                <a:solidFill>
                  <a:srgbClr val="00B0F0"/>
                </a:solidFill>
                <a:latin typeface="Consolas" pitchFamily="49" charset="0"/>
                <a:ea typeface="仿宋" pitchFamily="49" charset="-122"/>
                <a:cs typeface="Consolas" pitchFamily="49" charset="0"/>
              </a:rPr>
              <a:t>段</a:t>
            </a:r>
            <a:r>
              <a:rPr kumimoji="1" lang="zh-CN" altLang="en-US" sz="1800">
                <a:solidFill>
                  <a:srgbClr val="00B0F0"/>
                </a:solidFill>
                <a:latin typeface="Consolas" pitchFamily="49" charset="0"/>
                <a:ea typeface="仿宋" pitchFamily="49" charset="-122"/>
                <a:cs typeface="Consolas" pitchFamily="49" charset="0"/>
              </a:rPr>
              <a:t>中的元素放</a:t>
            </a:r>
            <a:r>
              <a:rPr kumimoji="1" lang="zh-CN" altLang="en-US" sz="1800" dirty="0">
                <a:solidFill>
                  <a:srgbClr val="00B0F0"/>
                </a:solidFill>
                <a:latin typeface="Consolas" pitchFamily="49" charset="0"/>
                <a:ea typeface="仿宋" pitchFamily="49" charset="-122"/>
                <a:cs typeface="Consolas" pitchFamily="49" charset="0"/>
              </a:rPr>
              <a:t>入</a:t>
            </a:r>
            <a:r>
              <a:rPr kumimoji="1" lang="en-US" altLang="zh-CN" sz="1800" dirty="0" err="1">
                <a:solidFill>
                  <a:srgbClr val="00B0F0"/>
                </a:solidFill>
                <a:latin typeface="Consolas" pitchFamily="49" charset="0"/>
                <a:ea typeface="仿宋" pitchFamily="49" charset="-122"/>
                <a:cs typeface="Consolas" pitchFamily="49" charset="0"/>
              </a:rPr>
              <a:t>R1</a:t>
            </a:r>
            <a:r>
              <a:rPr kumimoji="1" lang="zh-CN" altLang="en-US" sz="1800" dirty="0">
                <a:solidFill>
                  <a:srgbClr val="00B0F0"/>
                </a:solidFill>
                <a:latin typeface="Consolas" pitchFamily="49" charset="0"/>
                <a:ea typeface="仿宋" pitchFamily="49" charset="-122"/>
                <a:cs typeface="Consolas" pitchFamily="49" charset="0"/>
              </a:rPr>
              <a:t>中</a:t>
            </a:r>
          </a:p>
          <a:p>
            <a:pPr algn="just">
              <a:spcBef>
                <a:spcPct val="5000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R1</a:t>
            </a:r>
            <a:r>
              <a:rPr kumimoji="1" lang="en-US" altLang="zh-CN" sz="1800" dirty="0">
                <a:solidFill>
                  <a:srgbClr val="1000E4"/>
                </a:solidFill>
                <a:latin typeface="Consolas" pitchFamily="49" charset="0"/>
                <a:ea typeface="仿宋" pitchFamily="49" charset="-122"/>
                <a:cs typeface="Consolas" pitchFamily="49" charset="0"/>
              </a:rPr>
              <a:t>[k]=</a:t>
            </a:r>
            <a:r>
              <a:rPr kumimoji="1" lang="en-US" altLang="zh-CN" sz="1800">
                <a:solidFill>
                  <a:srgbClr val="1000E4"/>
                </a:solidFill>
                <a:latin typeface="Consolas" pitchFamily="49" charset="0"/>
                <a:ea typeface="仿宋" pitchFamily="49" charset="-122"/>
                <a:cs typeface="Consolas" pitchFamily="49" charset="0"/>
              </a:rPr>
              <a:t>R[</a:t>
            </a:r>
            <a:r>
              <a:rPr kumimoji="1" lang="en-US" altLang="zh-CN" sz="1800" err="1">
                <a:solidFill>
                  <a:srgbClr val="1000E4"/>
                </a:solidFill>
                <a:latin typeface="Consolas" pitchFamily="49" charset="0"/>
                <a:ea typeface="仿宋" pitchFamily="49" charset="-122"/>
                <a:cs typeface="Consolas" pitchFamily="49" charset="0"/>
              </a:rPr>
              <a:t>i</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++;k</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else   </a:t>
            </a:r>
            <a:r>
              <a:rPr kumimoji="1" lang="zh-CN" altLang="en-US" sz="1800" dirty="0">
                <a:solidFill>
                  <a:srgbClr val="1000E4"/>
                </a:solidFill>
                <a:latin typeface="Consolas" pitchFamily="49" charset="0"/>
                <a:ea typeface="仿宋" pitchFamily="49" charset="-122"/>
                <a:cs typeface="Consolas" pitchFamily="49" charset="0"/>
              </a:rPr>
              <a:t>　　　　　　　　</a:t>
            </a: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将第</a:t>
            </a:r>
            <a:r>
              <a:rPr kumimoji="1" lang="en-US" altLang="zh-CN" sz="1800" dirty="0">
                <a:solidFill>
                  <a:srgbClr val="00B0F0"/>
                </a:solidFill>
                <a:latin typeface="Consolas" pitchFamily="49" charset="0"/>
                <a:ea typeface="仿宋" pitchFamily="49" charset="-122"/>
                <a:cs typeface="Consolas" pitchFamily="49" charset="0"/>
              </a:rPr>
              <a:t>2</a:t>
            </a:r>
            <a:r>
              <a:rPr kumimoji="1" lang="zh-CN" altLang="en-US" sz="1800" dirty="0">
                <a:solidFill>
                  <a:srgbClr val="00B0F0"/>
                </a:solidFill>
                <a:latin typeface="Consolas" pitchFamily="49" charset="0"/>
                <a:ea typeface="仿宋" pitchFamily="49" charset="-122"/>
                <a:cs typeface="Consolas" pitchFamily="49" charset="0"/>
              </a:rPr>
              <a:t>段</a:t>
            </a:r>
            <a:r>
              <a:rPr kumimoji="1" lang="zh-CN" altLang="en-US" sz="1800">
                <a:solidFill>
                  <a:srgbClr val="00B0F0"/>
                </a:solidFill>
                <a:latin typeface="Consolas" pitchFamily="49" charset="0"/>
                <a:ea typeface="仿宋" pitchFamily="49" charset="-122"/>
                <a:cs typeface="Consolas" pitchFamily="49" charset="0"/>
              </a:rPr>
              <a:t>中的元素放</a:t>
            </a:r>
            <a:r>
              <a:rPr kumimoji="1" lang="zh-CN" altLang="en-US" sz="1800" dirty="0">
                <a:solidFill>
                  <a:srgbClr val="00B0F0"/>
                </a:solidFill>
                <a:latin typeface="Consolas" pitchFamily="49" charset="0"/>
                <a:ea typeface="仿宋" pitchFamily="49" charset="-122"/>
                <a:cs typeface="Consolas" pitchFamily="49" charset="0"/>
              </a:rPr>
              <a:t>入</a:t>
            </a:r>
            <a:r>
              <a:rPr kumimoji="1" lang="en-US" altLang="zh-CN" sz="1800" dirty="0" err="1">
                <a:solidFill>
                  <a:srgbClr val="00B0F0"/>
                </a:solidFill>
                <a:latin typeface="Consolas" pitchFamily="49" charset="0"/>
                <a:ea typeface="仿宋" pitchFamily="49" charset="-122"/>
                <a:cs typeface="Consolas" pitchFamily="49" charset="0"/>
              </a:rPr>
              <a:t>R1</a:t>
            </a:r>
            <a:r>
              <a:rPr kumimoji="1" lang="zh-CN" altLang="en-US" sz="1800" dirty="0">
                <a:solidFill>
                  <a:srgbClr val="00B0F0"/>
                </a:solidFill>
                <a:latin typeface="Consolas" pitchFamily="49" charset="0"/>
                <a:ea typeface="仿宋" pitchFamily="49" charset="-122"/>
                <a:cs typeface="Consolas" pitchFamily="49" charset="0"/>
              </a:rPr>
              <a:t>中</a:t>
            </a:r>
          </a:p>
          <a:p>
            <a:pPr algn="just">
              <a:spcBef>
                <a:spcPct val="50000"/>
              </a:spcBef>
            </a:pPr>
            <a:r>
              <a:rPr kumimoji="1" lang="zh-CN" altLang="en-US" sz="180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   R1[k</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R[j]; </a:t>
            </a:r>
            <a:r>
              <a:rPr kumimoji="1" lang="en-US" altLang="zh-CN" sz="1800" dirty="0">
                <a:solidFill>
                  <a:srgbClr val="1000E4"/>
                </a:solidFill>
                <a:latin typeface="Consolas" pitchFamily="49" charset="0"/>
                <a:ea typeface="仿宋" pitchFamily="49" charset="-122"/>
                <a:cs typeface="Consolas" pitchFamily="49" charset="0"/>
              </a:rPr>
              <a:t>j++;k</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dirty="0">
                <a:solidFill>
                  <a:srgbClr val="1000E4"/>
                </a:solidFill>
                <a:latin typeface="Consolas" pitchFamily="49" charset="0"/>
                <a:ea typeface="仿宋" pitchFamily="49" charset="-122"/>
                <a:cs typeface="Consolas" pitchFamily="49" charset="0"/>
              </a:rPr>
              <a:t>}   </a:t>
            </a:r>
          </a:p>
        </p:txBody>
      </p:sp>
      <p:grpSp>
        <p:nvGrpSpPr>
          <p:cNvPr id="5" name="组合 4">
            <a:extLst>
              <a:ext uri="{FF2B5EF4-FFF2-40B4-BE49-F238E27FC236}">
                <a16:creationId xmlns:a16="http://schemas.microsoft.com/office/drawing/2014/main" id="{9AA8ABEE-E9AA-133C-AA72-DDCE52E08BFE}"/>
              </a:ext>
            </a:extLst>
          </p:cNvPr>
          <p:cNvGrpSpPr/>
          <p:nvPr/>
        </p:nvGrpSpPr>
        <p:grpSpPr>
          <a:xfrm>
            <a:off x="4215777" y="3581426"/>
            <a:ext cx="3643338" cy="2971878"/>
            <a:chOff x="3357554" y="3643314"/>
            <a:chExt cx="3643338" cy="2971878"/>
          </a:xfrm>
        </p:grpSpPr>
        <p:sp>
          <p:nvSpPr>
            <p:cNvPr id="6" name="TextBox 6">
              <a:extLst>
                <a:ext uri="{FF2B5EF4-FFF2-40B4-BE49-F238E27FC236}">
                  <a16:creationId xmlns:a16="http://schemas.microsoft.com/office/drawing/2014/main" id="{ED7AC6C4-1DD8-6D62-AE53-9D7E324459BE}"/>
                </a:ext>
              </a:extLst>
            </p:cNvPr>
            <p:cNvSpPr txBox="1"/>
            <p:nvPr/>
          </p:nvSpPr>
          <p:spPr>
            <a:xfrm>
              <a:off x="3357554" y="6215082"/>
              <a:ext cx="3643338" cy="400110"/>
            </a:xfrm>
            <a:prstGeom prst="rect">
              <a:avLst/>
            </a:prstGeom>
            <a:noFill/>
          </p:spPr>
          <p:txBody>
            <a:bodyPr wrap="square" rtlCol="0">
              <a:spAutoFit/>
            </a:bodyPr>
            <a:lstStyle/>
            <a:p>
              <a:r>
                <a:rPr lang="zh-CN" altLang="en-US" sz="2000">
                  <a:solidFill>
                    <a:srgbClr val="FF0000"/>
                  </a:solidFill>
                  <a:latin typeface="Consolas" pitchFamily="49" charset="0"/>
                  <a:ea typeface="仿宋" pitchFamily="49" charset="-122"/>
                  <a:cs typeface="Consolas" pitchFamily="49" charset="0"/>
                </a:rPr>
                <a:t>空间复杂度为</a:t>
              </a:r>
              <a:r>
                <a:rPr lang="en-US" altLang="zh-CN" sz="2000">
                  <a:solidFill>
                    <a:srgbClr val="FF0000"/>
                  </a:solidFill>
                  <a:latin typeface="Consolas" pitchFamily="49" charset="0"/>
                  <a:ea typeface="仿宋" pitchFamily="49" charset="-122"/>
                  <a:cs typeface="Consolas" pitchFamily="49" charset="0"/>
                </a:rPr>
                <a:t>O(high-low+1)</a:t>
              </a:r>
              <a:endParaRPr lang="zh-CN" altLang="en-US" sz="2000">
                <a:solidFill>
                  <a:srgbClr val="FF0000"/>
                </a:solidFill>
                <a:latin typeface="Consolas" pitchFamily="49" charset="0"/>
                <a:ea typeface="仿宋" pitchFamily="49" charset="-122"/>
                <a:cs typeface="Consolas" pitchFamily="49" charset="0"/>
              </a:endParaRPr>
            </a:p>
          </p:txBody>
        </p:sp>
        <p:cxnSp>
          <p:nvCxnSpPr>
            <p:cNvPr id="7" name="直接连接符 6">
              <a:extLst>
                <a:ext uri="{FF2B5EF4-FFF2-40B4-BE49-F238E27FC236}">
                  <a16:creationId xmlns:a16="http://schemas.microsoft.com/office/drawing/2014/main" id="{653EC98C-7B97-CC7B-8BC3-8F0916C83240}"/>
                </a:ext>
              </a:extLst>
            </p:cNvPr>
            <p:cNvCxnSpPr/>
            <p:nvPr/>
          </p:nvCxnSpPr>
          <p:spPr>
            <a:xfrm rot="16200000" flipH="1">
              <a:off x="3714744" y="4929198"/>
              <a:ext cx="2571768"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002174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F5765-AAB4-8049-2235-F70AE8F34750}"/>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727201EF-06DB-9B53-69CE-6DA9FC193E9F}"/>
              </a:ext>
            </a:extLst>
          </p:cNvPr>
          <p:cNvSpPr/>
          <p:nvPr/>
        </p:nvSpPr>
        <p:spPr>
          <a:xfrm>
            <a:off x="1055440" y="1156682"/>
            <a:ext cx="2554967"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folHlink"/>
              </a:buClr>
              <a:buSzPct val="75000"/>
            </a:pPr>
            <a:r>
              <a:rPr kumimoji="1" lang="zh-CN" altLang="en-US" sz="2000" dirty="0">
                <a:latin typeface="Times New Roman" pitchFamily="18" charset="0"/>
                <a:ea typeface="微软雅黑" pitchFamily="34" charset="-122"/>
                <a:cs typeface="Times New Roman" pitchFamily="18" charset="0"/>
              </a:rPr>
              <a:t>两路归并排序算法</a:t>
            </a:r>
            <a:endParaRPr kumimoji="1" lang="en-US" altLang="zh-CN" sz="2000" dirty="0">
              <a:latin typeface="Times New Roman" pitchFamily="18" charset="0"/>
              <a:ea typeface="微软雅黑" pitchFamily="34" charset="-122"/>
              <a:cs typeface="Times New Roman" pitchFamily="18" charset="0"/>
            </a:endParaRPr>
          </a:p>
        </p:txBody>
      </p:sp>
      <p:cxnSp>
        <p:nvCxnSpPr>
          <p:cNvPr id="2" name="直接连接符 1">
            <a:extLst>
              <a:ext uri="{FF2B5EF4-FFF2-40B4-BE49-F238E27FC236}">
                <a16:creationId xmlns:a16="http://schemas.microsoft.com/office/drawing/2014/main" id="{2D1AC7B9-8759-6286-9FAF-B0826DB1EDA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8153DDF8-A1E4-56B3-9394-CFC59D75A26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
        <p:nvSpPr>
          <p:cNvPr id="8" name="Text Box 2">
            <a:extLst>
              <a:ext uri="{FF2B5EF4-FFF2-40B4-BE49-F238E27FC236}">
                <a16:creationId xmlns:a16="http://schemas.microsoft.com/office/drawing/2014/main" id="{2B70A74B-D569-5B6A-22B5-BF7C287EBC73}"/>
              </a:ext>
            </a:extLst>
          </p:cNvPr>
          <p:cNvSpPr txBox="1">
            <a:spLocks noChangeArrowheads="1"/>
          </p:cNvSpPr>
          <p:nvPr/>
        </p:nvSpPr>
        <p:spPr bwMode="auto">
          <a:xfrm>
            <a:off x="1863280" y="1993942"/>
            <a:ext cx="8286807" cy="3697762"/>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80000" bIns="180000">
            <a:spAutoFit/>
          </a:bodyPr>
          <a:lstStyle/>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while </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&lt;=mid</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将第</a:t>
            </a:r>
            <a:r>
              <a:rPr kumimoji="1" lang="en-US" altLang="zh-CN" sz="1800" dirty="0">
                <a:solidFill>
                  <a:srgbClr val="00B0F0"/>
                </a:solidFill>
                <a:latin typeface="Consolas" pitchFamily="49" charset="0"/>
                <a:ea typeface="仿宋" pitchFamily="49" charset="-122"/>
                <a:cs typeface="Consolas" pitchFamily="49" charset="0"/>
              </a:rPr>
              <a:t>1</a:t>
            </a:r>
            <a:r>
              <a:rPr kumimoji="1" lang="zh-CN" altLang="en-US" sz="1800" dirty="0">
                <a:solidFill>
                  <a:srgbClr val="00B0F0"/>
                </a:solidFill>
                <a:latin typeface="Consolas" pitchFamily="49" charset="0"/>
                <a:ea typeface="仿宋" pitchFamily="49" charset="-122"/>
                <a:cs typeface="Consolas" pitchFamily="49" charset="0"/>
              </a:rPr>
              <a:t>段余下部分复制到</a:t>
            </a:r>
            <a:r>
              <a:rPr kumimoji="1" lang="en-US" altLang="zh-CN" sz="1800" dirty="0" err="1">
                <a:solidFill>
                  <a:srgbClr val="00B0F0"/>
                </a:solidFill>
                <a:latin typeface="Consolas" pitchFamily="49" charset="0"/>
                <a:ea typeface="仿宋" pitchFamily="49" charset="-122"/>
                <a:cs typeface="Consolas" pitchFamily="49" charset="0"/>
              </a:rPr>
              <a:t>R1</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  </a:t>
            </a:r>
            <a:r>
              <a:rPr kumimoji="1" lang="en-US" altLang="zh-CN" sz="1800" dirty="0" err="1">
                <a:solidFill>
                  <a:srgbClr val="1000E4"/>
                </a:solidFill>
                <a:latin typeface="Consolas" pitchFamily="49" charset="0"/>
                <a:ea typeface="仿宋" pitchFamily="49" charset="-122"/>
                <a:cs typeface="Consolas" pitchFamily="49" charset="0"/>
              </a:rPr>
              <a:t>R1</a:t>
            </a:r>
            <a:r>
              <a:rPr kumimoji="1" lang="en-US" altLang="zh-CN" sz="1800" dirty="0">
                <a:solidFill>
                  <a:srgbClr val="1000E4"/>
                </a:solidFill>
                <a:latin typeface="Consolas" pitchFamily="49" charset="0"/>
                <a:ea typeface="仿宋" pitchFamily="49" charset="-122"/>
                <a:cs typeface="Consolas" pitchFamily="49" charset="0"/>
              </a:rPr>
              <a:t>[k]=R[</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++;k</a:t>
            </a:r>
            <a:r>
              <a:rPr kumimoji="1" lang="en-US" altLang="zh-CN" sz="1800">
                <a:solidFill>
                  <a:srgbClr val="1000E4"/>
                </a:solidFill>
                <a:latin typeface="Consolas" pitchFamily="49" charset="0"/>
                <a:ea typeface="仿宋" pitchFamily="49" charset="-122"/>
                <a:cs typeface="Consolas" pitchFamily="49" charset="0"/>
              </a:rPr>
              <a:t>++; }</a:t>
            </a:r>
            <a:endParaRPr kumimoji="1" lang="en-US" altLang="zh-CN" sz="1800" dirty="0">
              <a:solidFill>
                <a:srgbClr val="1000E4"/>
              </a:solidFill>
              <a:latin typeface="Consolas" pitchFamily="49" charset="0"/>
              <a:ea typeface="仿宋" pitchFamily="49" charset="-122"/>
              <a:cs typeface="Consolas" pitchFamily="49" charset="0"/>
            </a:endParaRPr>
          </a:p>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while </a:t>
            </a:r>
            <a:r>
              <a:rPr kumimoji="1" lang="en-US" altLang="zh-CN" sz="1800" dirty="0">
                <a:solidFill>
                  <a:srgbClr val="1000E4"/>
                </a:solidFill>
                <a:latin typeface="Consolas" pitchFamily="49" charset="0"/>
                <a:ea typeface="仿宋" pitchFamily="49" charset="-122"/>
                <a:cs typeface="Consolas" pitchFamily="49" charset="0"/>
              </a:rPr>
              <a:t>(j&lt;=high</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将第</a:t>
            </a:r>
            <a:r>
              <a:rPr kumimoji="1" lang="en-US" altLang="zh-CN" sz="1800" dirty="0">
                <a:solidFill>
                  <a:srgbClr val="00B0F0"/>
                </a:solidFill>
                <a:latin typeface="Consolas" pitchFamily="49" charset="0"/>
                <a:ea typeface="仿宋" pitchFamily="49" charset="-122"/>
                <a:cs typeface="Consolas" pitchFamily="49" charset="0"/>
              </a:rPr>
              <a:t>2</a:t>
            </a:r>
            <a:r>
              <a:rPr kumimoji="1" lang="zh-CN" altLang="en-US" sz="1800" dirty="0">
                <a:solidFill>
                  <a:srgbClr val="00B0F0"/>
                </a:solidFill>
                <a:latin typeface="Consolas" pitchFamily="49" charset="0"/>
                <a:ea typeface="仿宋" pitchFamily="49" charset="-122"/>
                <a:cs typeface="Consolas" pitchFamily="49" charset="0"/>
              </a:rPr>
              <a:t>段余下部分复制到</a:t>
            </a:r>
            <a:r>
              <a:rPr kumimoji="1" lang="en-US" altLang="zh-CN" sz="1800" dirty="0" err="1">
                <a:solidFill>
                  <a:srgbClr val="00B0F0"/>
                </a:solidFill>
                <a:latin typeface="Consolas" pitchFamily="49" charset="0"/>
                <a:ea typeface="仿宋" pitchFamily="49" charset="-122"/>
                <a:cs typeface="Consolas" pitchFamily="49" charset="0"/>
              </a:rPr>
              <a:t>R1</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  R1[k]=R[j</a:t>
            </a:r>
            <a:r>
              <a:rPr kumimoji="1" lang="en-US" altLang="zh-CN" sz="1800" dirty="0">
                <a:solidFill>
                  <a:srgbClr val="1000E4"/>
                </a:solidFill>
                <a:latin typeface="Consolas" pitchFamily="49" charset="0"/>
                <a:ea typeface="仿宋" pitchFamily="49" charset="-122"/>
                <a:cs typeface="Consolas" pitchFamily="49" charset="0"/>
              </a:rPr>
              <a:t>];  j++;</a:t>
            </a:r>
            <a:r>
              <a:rPr kumimoji="1" lang="en-US" altLang="zh-CN" sz="1800">
                <a:solidFill>
                  <a:srgbClr val="1000E4"/>
                </a:solidFill>
                <a:latin typeface="Consolas" pitchFamily="49" charset="0"/>
                <a:ea typeface="仿宋" pitchFamily="49" charset="-122"/>
                <a:cs typeface="Consolas" pitchFamily="49" charset="0"/>
              </a:rPr>
              <a:t>k++; </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ts val="2600"/>
              </a:lnSpc>
              <a:spcBef>
                <a:spcPts val="0"/>
              </a:spcBef>
            </a:pPr>
            <a:endParaRPr kumimoji="1" lang="en-US" altLang="zh-CN" sz="1800">
              <a:solidFill>
                <a:srgbClr val="1000E4"/>
              </a:solidFill>
              <a:latin typeface="Consolas" pitchFamily="49" charset="0"/>
              <a:ea typeface="仿宋" pitchFamily="49" charset="-122"/>
              <a:cs typeface="Consolas" pitchFamily="49" charset="0"/>
            </a:endParaRPr>
          </a:p>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for (k=0</a:t>
            </a:r>
            <a:r>
              <a:rPr kumimoji="1" lang="zh-CN" altLang="en-US" sz="180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i=low;i&lt;=high;k++</a:t>
            </a:r>
            <a:r>
              <a:rPr kumimoji="1" lang="zh-CN" altLang="en-US" sz="1800">
                <a:solidFill>
                  <a:srgbClr val="FF00FF"/>
                </a:solidFill>
                <a:latin typeface="Consolas" pitchFamily="49" charset="0"/>
                <a:ea typeface="仿宋" pitchFamily="49" charset="-122"/>
                <a:cs typeface="Consolas" pitchFamily="49" charset="0"/>
              </a:rPr>
              <a:t>，</a:t>
            </a:r>
            <a:r>
              <a:rPr kumimoji="1" lang="en-US" altLang="zh-CN" sz="1800">
                <a:solidFill>
                  <a:srgbClr val="FF00FF"/>
                </a:solidFill>
                <a:latin typeface="Consolas" pitchFamily="49" charset="0"/>
                <a:ea typeface="仿宋" pitchFamily="49" charset="-122"/>
                <a:cs typeface="Consolas" pitchFamily="49" charset="0"/>
              </a:rPr>
              <a:t>i++)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a:solidFill>
                  <a:srgbClr val="00B0F0"/>
                </a:solidFill>
                <a:latin typeface="Consolas" pitchFamily="49" charset="0"/>
                <a:ea typeface="仿宋" pitchFamily="49" charset="-122"/>
                <a:cs typeface="Consolas" pitchFamily="49" charset="0"/>
              </a:rPr>
              <a:t>将</a:t>
            </a:r>
            <a:r>
              <a:rPr kumimoji="1" lang="en-US" altLang="zh-CN" sz="1800">
                <a:solidFill>
                  <a:srgbClr val="00B0F0"/>
                </a:solidFill>
                <a:latin typeface="Consolas" pitchFamily="49" charset="0"/>
                <a:ea typeface="仿宋" pitchFamily="49" charset="-122"/>
                <a:cs typeface="Consolas" pitchFamily="49" charset="0"/>
              </a:rPr>
              <a:t>R1</a:t>
            </a:r>
            <a:r>
              <a:rPr kumimoji="1" lang="zh-CN" altLang="en-US" sz="1800">
                <a:solidFill>
                  <a:srgbClr val="00B0F0"/>
                </a:solidFill>
                <a:latin typeface="Consolas" pitchFamily="49" charset="0"/>
                <a:ea typeface="仿宋" pitchFamily="49" charset="-122"/>
                <a:cs typeface="Consolas" pitchFamily="49" charset="0"/>
              </a:rPr>
              <a:t>复制回</a:t>
            </a:r>
            <a:r>
              <a:rPr kumimoji="1" lang="en-US" altLang="zh-CN" sz="1800">
                <a:solidFill>
                  <a:srgbClr val="00B0F0"/>
                </a:solidFill>
                <a:latin typeface="Consolas" pitchFamily="49" charset="0"/>
                <a:ea typeface="仿宋" pitchFamily="49" charset="-122"/>
                <a:cs typeface="Consolas" pitchFamily="49" charset="0"/>
              </a:rPr>
              <a:t>R</a:t>
            </a:r>
            <a:r>
              <a:rPr kumimoji="1" lang="zh-CN" altLang="en-US" sz="1800">
                <a:solidFill>
                  <a:srgbClr val="00B0F0"/>
                </a:solidFill>
                <a:latin typeface="Consolas" pitchFamily="49" charset="0"/>
                <a:ea typeface="仿宋" pitchFamily="49" charset="-122"/>
                <a:cs typeface="Consolas" pitchFamily="49" charset="0"/>
              </a:rPr>
              <a:t>中</a:t>
            </a:r>
          </a:p>
          <a:p>
            <a:pPr algn="just">
              <a:lnSpc>
                <a:spcPts val="2600"/>
              </a:lnSpc>
              <a:spcBef>
                <a:spcPts val="0"/>
              </a:spcBef>
            </a:pPr>
            <a:r>
              <a:rPr kumimoji="1" lang="zh-CN" altLang="en-US" sz="1800">
                <a:solidFill>
                  <a:srgbClr val="FF00FF"/>
                </a:solidFill>
                <a:latin typeface="Consolas" pitchFamily="49" charset="0"/>
                <a:ea typeface="仿宋" pitchFamily="49" charset="-122"/>
                <a:cs typeface="Consolas" pitchFamily="49" charset="0"/>
              </a:rPr>
              <a:t>    </a:t>
            </a:r>
            <a:r>
              <a:rPr kumimoji="1" lang="en-US" altLang="zh-CN" sz="1800">
                <a:solidFill>
                  <a:srgbClr val="FF00FF"/>
                </a:solidFill>
                <a:latin typeface="Consolas" pitchFamily="49" charset="0"/>
                <a:ea typeface="仿宋" pitchFamily="49" charset="-122"/>
                <a:cs typeface="Consolas" pitchFamily="49" charset="0"/>
              </a:rPr>
              <a:t>R[i]=R1[k];</a:t>
            </a:r>
          </a:p>
          <a:p>
            <a:pPr algn="just">
              <a:lnSpc>
                <a:spcPts val="2600"/>
              </a:lnSpc>
              <a:spcBef>
                <a:spcPts val="0"/>
              </a:spcBef>
            </a:pPr>
            <a:endParaRPr kumimoji="1" lang="en-US" altLang="zh-CN" sz="1800">
              <a:solidFill>
                <a:srgbClr val="1000E4"/>
              </a:solidFill>
              <a:latin typeface="Consolas" pitchFamily="49" charset="0"/>
              <a:ea typeface="仿宋" pitchFamily="49" charset="-122"/>
              <a:cs typeface="Consolas" pitchFamily="49" charset="0"/>
            </a:endParaRPr>
          </a:p>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free(R1</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ts val="2600"/>
              </a:lnSpc>
              <a:spcBef>
                <a:spcPts val="0"/>
              </a:spcBef>
            </a:pPr>
            <a:r>
              <a:rPr kumimoji="1" lang="en-US" altLang="zh-CN" sz="1800">
                <a:solidFill>
                  <a:srgbClr val="1000E4"/>
                </a:solidFill>
                <a:latin typeface="Consolas" pitchFamily="49" charset="0"/>
                <a:ea typeface="仿宋" pitchFamily="49" charset="-122"/>
                <a:cs typeface="Consolas" pitchFamily="49" charset="0"/>
              </a:rPr>
              <a:t>} </a:t>
            </a:r>
            <a:endParaRPr kumimoji="1" lang="en-US" altLang="zh-CN" sz="1800" b="0" dirty="0">
              <a:solidFill>
                <a:srgbClr val="1000E4"/>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2103519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387CF-E3C6-3C0D-3C65-8B275B46BB9E}"/>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CEB4C98-3C01-3441-F743-23AB7A5AAF1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DC840FCD-9837-62EF-7FAD-0589CD966649}"/>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
        <p:nvSpPr>
          <p:cNvPr id="4" name="Text Box 2">
            <a:extLst>
              <a:ext uri="{FF2B5EF4-FFF2-40B4-BE49-F238E27FC236}">
                <a16:creationId xmlns:a16="http://schemas.microsoft.com/office/drawing/2014/main" id="{2BE1A230-F7F6-FD5E-FDC3-BAFB7D544232}"/>
              </a:ext>
            </a:extLst>
          </p:cNvPr>
          <p:cNvSpPr txBox="1">
            <a:spLocks noChangeArrowheads="1"/>
          </p:cNvSpPr>
          <p:nvPr/>
        </p:nvSpPr>
        <p:spPr bwMode="auto">
          <a:xfrm>
            <a:off x="1170310" y="1721846"/>
            <a:ext cx="8858312" cy="2753025"/>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44000" bIns="144000">
            <a:spAutoFit/>
          </a:bodyPr>
          <a:lstStyle/>
          <a:p>
            <a:pPr algn="just">
              <a:lnSpc>
                <a:spcPts val="2400"/>
              </a:lnSpc>
              <a:spcBef>
                <a:spcPts val="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err="1">
                <a:solidFill>
                  <a:srgbClr val="FF0000"/>
                </a:solidFill>
                <a:latin typeface="Consolas" pitchFamily="49" charset="0"/>
                <a:ea typeface="仿宋" pitchFamily="49" charset="-122"/>
                <a:cs typeface="Consolas" pitchFamily="49" charset="0"/>
              </a:rPr>
              <a:t>MergePass</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length</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a:t>
            </a:r>
            <a:r>
              <a:rPr kumimoji="1" lang="en-US" altLang="zh-CN" sz="1800" dirty="0">
                <a:solidFill>
                  <a:srgbClr val="1000E4"/>
                </a:solidFill>
                <a:latin typeface="Consolas" pitchFamily="49" charset="0"/>
                <a:ea typeface="仿宋" pitchFamily="49" charset="-122"/>
                <a:cs typeface="Consolas" pitchFamily="49" charset="0"/>
              </a:rPr>
              <a:t>n)</a:t>
            </a:r>
          </a:p>
          <a:p>
            <a:pPr algn="just">
              <a:lnSpc>
                <a:spcPts val="2400"/>
              </a:lnSpc>
              <a:spcBef>
                <a:spcPts val="0"/>
              </a:spcBef>
            </a:pPr>
            <a:r>
              <a:rPr kumimoji="1" lang="en-US" altLang="zh-CN" sz="1800">
                <a:solidFill>
                  <a:srgbClr val="1000E4"/>
                </a:solidFill>
                <a:latin typeface="Consolas" pitchFamily="49" charset="0"/>
                <a:ea typeface="仿宋" pitchFamily="49" charset="-122"/>
                <a:cs typeface="Consolas" pitchFamily="49" charset="0"/>
              </a:rPr>
              <a:t>{  int </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ts val="2400"/>
              </a:lnSpc>
              <a:spcBef>
                <a:spcPts val="0"/>
              </a:spcBef>
            </a:pPr>
            <a:r>
              <a:rPr kumimoji="1" lang="en-US" altLang="zh-CN" sz="1800">
                <a:solidFill>
                  <a:srgbClr val="1000E4"/>
                </a:solidFill>
                <a:latin typeface="Consolas" pitchFamily="49" charset="0"/>
                <a:ea typeface="仿宋" pitchFamily="49" charset="-122"/>
                <a:cs typeface="Consolas" pitchFamily="49" charset="0"/>
              </a:rPr>
              <a:t>   for </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i</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0;i+2</a:t>
            </a:r>
            <a:r>
              <a:rPr kumimoji="1" lang="en-US" altLang="zh-CN" sz="1800" dirty="0">
                <a:solidFill>
                  <a:srgbClr val="1000E4"/>
                </a:solidFill>
                <a:latin typeface="Consolas" pitchFamily="49" charset="0"/>
                <a:ea typeface="仿宋" pitchFamily="49" charset="-122"/>
                <a:cs typeface="Consolas" pitchFamily="49" charset="0"/>
              </a:rPr>
              <a:t>*length-1&lt;</a:t>
            </a:r>
            <a:r>
              <a:rPr kumimoji="1" lang="en-US" altLang="zh-CN" sz="1800" dirty="0" err="1">
                <a:solidFill>
                  <a:srgbClr val="1000E4"/>
                </a:solidFill>
                <a:latin typeface="Consolas" pitchFamily="49" charset="0"/>
                <a:ea typeface="仿宋" pitchFamily="49" charset="-122"/>
                <a:cs typeface="Consolas" pitchFamily="49" charset="0"/>
              </a:rPr>
              <a:t>n;i</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i+2</a:t>
            </a:r>
            <a:r>
              <a:rPr kumimoji="1" lang="en-US" altLang="zh-CN" sz="1800" dirty="0">
                <a:solidFill>
                  <a:srgbClr val="1000E4"/>
                </a:solidFill>
                <a:latin typeface="Consolas" pitchFamily="49" charset="0"/>
                <a:ea typeface="仿宋" pitchFamily="49" charset="-122"/>
                <a:cs typeface="Consolas" pitchFamily="49" charset="0"/>
              </a:rPr>
              <a:t>*length</a:t>
            </a: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归并</a:t>
            </a:r>
            <a:r>
              <a:rPr kumimoji="1" lang="en-US" altLang="zh-CN" sz="1800" dirty="0">
                <a:solidFill>
                  <a:srgbClr val="00B0F0"/>
                </a:solidFill>
                <a:latin typeface="Consolas" pitchFamily="49" charset="0"/>
                <a:ea typeface="仿宋" pitchFamily="49" charset="-122"/>
                <a:cs typeface="Consolas" pitchFamily="49" charset="0"/>
              </a:rPr>
              <a:t>length</a:t>
            </a:r>
            <a:r>
              <a:rPr kumimoji="1" lang="zh-CN" altLang="en-US" sz="1800" dirty="0">
                <a:solidFill>
                  <a:srgbClr val="00B0F0"/>
                </a:solidFill>
                <a:latin typeface="Consolas" pitchFamily="49" charset="0"/>
                <a:ea typeface="仿宋" pitchFamily="49" charset="-122"/>
                <a:cs typeface="Consolas" pitchFamily="49" charset="0"/>
              </a:rPr>
              <a:t>长的两相邻子</a:t>
            </a:r>
            <a:r>
              <a:rPr kumimoji="1" lang="zh-CN" altLang="en-US" sz="1800">
                <a:solidFill>
                  <a:srgbClr val="00B0F0"/>
                </a:solidFill>
                <a:latin typeface="Consolas" pitchFamily="49" charset="0"/>
                <a:ea typeface="仿宋" pitchFamily="49" charset="-122"/>
                <a:cs typeface="Consolas" pitchFamily="49" charset="0"/>
              </a:rPr>
              <a:t>表</a:t>
            </a:r>
            <a:r>
              <a:rPr kumimoji="1" lang="zh-CN" altLang="en-US" sz="1800">
                <a:solidFill>
                  <a:srgbClr val="1000E4"/>
                </a:solidFill>
                <a:latin typeface="Consolas" pitchFamily="49" charset="0"/>
                <a:ea typeface="仿宋" pitchFamily="49" charset="-122"/>
                <a:cs typeface="Consolas" pitchFamily="49" charset="0"/>
              </a:rPr>
              <a:t> </a:t>
            </a:r>
            <a:endParaRPr kumimoji="1" lang="en-US" altLang="zh-CN" sz="1800">
              <a:solidFill>
                <a:srgbClr val="1000E4"/>
              </a:solidFill>
              <a:latin typeface="Consolas" pitchFamily="49" charset="0"/>
              <a:ea typeface="仿宋" pitchFamily="49" charset="-122"/>
              <a:cs typeface="Consolas" pitchFamily="49" charset="0"/>
            </a:endParaRPr>
          </a:p>
          <a:p>
            <a:pPr algn="just">
              <a:lnSpc>
                <a:spcPts val="2400"/>
              </a:lnSpc>
              <a:spcBef>
                <a:spcPts val="0"/>
              </a:spcBef>
            </a:pPr>
            <a:r>
              <a:rPr kumimoji="1" lang="en-US" altLang="zh-CN" sz="1800">
                <a:solidFill>
                  <a:srgbClr val="FF0000"/>
                </a:solidFill>
                <a:latin typeface="Consolas" pitchFamily="49" charset="0"/>
                <a:ea typeface="仿宋" pitchFamily="49" charset="-122"/>
                <a:cs typeface="Consolas" pitchFamily="49" charset="0"/>
              </a:rPr>
              <a:t>      Merge</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i+length-1</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i+2*length-1</a:t>
            </a:r>
            <a:r>
              <a:rPr kumimoji="1" lang="en-US" altLang="zh-CN" sz="1800" dirty="0">
                <a:solidFill>
                  <a:srgbClr val="1000E4"/>
                </a:solidFill>
                <a:latin typeface="Consolas" pitchFamily="49" charset="0"/>
                <a:ea typeface="仿宋" pitchFamily="49" charset="-122"/>
                <a:cs typeface="Consolas" pitchFamily="49" charset="0"/>
              </a:rPr>
              <a:t>);</a:t>
            </a:r>
          </a:p>
          <a:p>
            <a:pPr algn="just">
              <a:lnSpc>
                <a:spcPts val="2400"/>
              </a:lnSpc>
              <a:spcBef>
                <a:spcPts val="0"/>
              </a:spcBef>
            </a:pPr>
            <a:endParaRPr kumimoji="1" lang="en-US" altLang="zh-CN" sz="1800">
              <a:solidFill>
                <a:srgbClr val="1000E4"/>
              </a:solidFill>
              <a:latin typeface="Consolas" pitchFamily="49" charset="0"/>
              <a:ea typeface="仿宋" pitchFamily="49" charset="-122"/>
              <a:cs typeface="Consolas" pitchFamily="49" charset="0"/>
            </a:endParaRPr>
          </a:p>
          <a:p>
            <a:pPr algn="just">
              <a:lnSpc>
                <a:spcPts val="2400"/>
              </a:lnSpc>
              <a:spcBef>
                <a:spcPts val="0"/>
              </a:spcBef>
            </a:pPr>
            <a:r>
              <a:rPr kumimoji="1" lang="en-US" altLang="zh-CN" sz="1800">
                <a:solidFill>
                  <a:srgbClr val="1000E4"/>
                </a:solidFill>
                <a:latin typeface="Consolas" pitchFamily="49" charset="0"/>
                <a:ea typeface="仿宋" pitchFamily="49" charset="-122"/>
                <a:cs typeface="Consolas" pitchFamily="49" charset="0"/>
              </a:rPr>
              <a:t>   if (i+length-1&lt;n-1)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余下两</a:t>
            </a:r>
            <a:r>
              <a:rPr kumimoji="1" lang="zh-CN" altLang="en-US" sz="1800">
                <a:solidFill>
                  <a:srgbClr val="00B0F0"/>
                </a:solidFill>
                <a:latin typeface="Consolas" pitchFamily="49" charset="0"/>
                <a:ea typeface="仿宋" pitchFamily="49" charset="-122"/>
                <a:cs typeface="Consolas" pitchFamily="49" charset="0"/>
              </a:rPr>
              <a:t>个子表，后者</a:t>
            </a:r>
            <a:r>
              <a:rPr kumimoji="1" lang="zh-CN" altLang="en-US" sz="1800" dirty="0">
                <a:solidFill>
                  <a:srgbClr val="00B0F0"/>
                </a:solidFill>
                <a:latin typeface="Consolas" pitchFamily="49" charset="0"/>
                <a:ea typeface="仿宋" pitchFamily="49" charset="-122"/>
                <a:cs typeface="Consolas" pitchFamily="49" charset="0"/>
              </a:rPr>
              <a:t>长度小于</a:t>
            </a:r>
            <a:r>
              <a:rPr kumimoji="1" lang="en-US" altLang="zh-CN" sz="1800" dirty="0">
                <a:solidFill>
                  <a:srgbClr val="00B0F0"/>
                </a:solidFill>
                <a:latin typeface="Consolas" pitchFamily="49" charset="0"/>
                <a:ea typeface="仿宋" pitchFamily="49" charset="-122"/>
                <a:cs typeface="Consolas" pitchFamily="49" charset="0"/>
              </a:rPr>
              <a:t>length</a:t>
            </a:r>
          </a:p>
          <a:p>
            <a:pPr algn="just">
              <a:lnSpc>
                <a:spcPts val="2400"/>
              </a:lnSpc>
              <a:spcBef>
                <a:spcPts val="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Merge</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i+length-1</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n-1); </a:t>
            </a:r>
            <a:r>
              <a:rPr kumimoji="1" lang="en-US" altLang="zh-CN" sz="180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归并这两个子表</a:t>
            </a:r>
          </a:p>
          <a:p>
            <a:pPr algn="just">
              <a:lnSpc>
                <a:spcPts val="2400"/>
              </a:lnSpc>
              <a:spcBef>
                <a:spcPts val="0"/>
              </a:spcBef>
            </a:pPr>
            <a:r>
              <a:rPr kumimoji="1" lang="en-US" altLang="zh-CN" sz="1800" dirty="0">
                <a:solidFill>
                  <a:srgbClr val="1000E4"/>
                </a:solidFill>
                <a:latin typeface="Consolas" pitchFamily="49" charset="0"/>
                <a:ea typeface="仿宋" pitchFamily="49" charset="-122"/>
                <a:cs typeface="Consolas" pitchFamily="49" charset="0"/>
              </a:rPr>
              <a:t>}</a:t>
            </a:r>
          </a:p>
        </p:txBody>
      </p:sp>
      <p:sp>
        <p:nvSpPr>
          <p:cNvPr id="5" name="Text Box 3">
            <a:extLst>
              <a:ext uri="{FF2B5EF4-FFF2-40B4-BE49-F238E27FC236}">
                <a16:creationId xmlns:a16="http://schemas.microsoft.com/office/drawing/2014/main" id="{0F6283C2-6547-02AE-0FC3-32328D9FBCFE}"/>
              </a:ext>
            </a:extLst>
          </p:cNvPr>
          <p:cNvSpPr txBox="1">
            <a:spLocks noChangeArrowheads="1"/>
          </p:cNvSpPr>
          <p:nvPr/>
        </p:nvSpPr>
        <p:spPr bwMode="auto">
          <a:xfrm>
            <a:off x="1270324" y="1197913"/>
            <a:ext cx="6962794"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a:spAutoFit/>
          </a:bodyPr>
          <a:lstStyle/>
          <a:p>
            <a:pPr marL="457200" indent="-457200">
              <a:spcBef>
                <a:spcPct val="50000"/>
              </a:spcBef>
            </a:pPr>
            <a:r>
              <a:rPr kumimoji="1" lang="en-US" altLang="zh-CN" sz="2000">
                <a:solidFill>
                  <a:srgbClr val="FF0000"/>
                </a:solidFill>
                <a:latin typeface="Consolas" pitchFamily="49" charset="0"/>
                <a:ea typeface="华文中宋" pitchFamily="2" charset="-122"/>
                <a:cs typeface="Consolas" pitchFamily="49" charset="0"/>
                <a:sym typeface="Wingdings"/>
              </a:rPr>
              <a:t> </a:t>
            </a:r>
            <a:r>
              <a:rPr kumimoji="1" lang="en-US" altLang="zh-CN" sz="2000">
                <a:solidFill>
                  <a:srgbClr val="FF0000"/>
                </a:solidFill>
                <a:latin typeface="Consolas" pitchFamily="49" charset="0"/>
                <a:ea typeface="华文中宋" pitchFamily="2" charset="-122"/>
                <a:cs typeface="Consolas" pitchFamily="49" charset="0"/>
              </a:rPr>
              <a:t>MergePass</a:t>
            </a:r>
            <a:r>
              <a:rPr kumimoji="1" lang="en-US" altLang="zh-CN" sz="2000" dirty="0">
                <a:solidFill>
                  <a:srgbClr val="FF0000"/>
                </a:solidFill>
                <a:latin typeface="Consolas" pitchFamily="49" charset="0"/>
                <a:ea typeface="华文中宋" pitchFamily="2" charset="-122"/>
                <a:cs typeface="Consolas" pitchFamily="49" charset="0"/>
              </a:rPr>
              <a:t>()</a:t>
            </a:r>
            <a:r>
              <a:rPr kumimoji="1" lang="zh-CN" altLang="en-US" sz="2000" dirty="0">
                <a:solidFill>
                  <a:srgbClr val="FF0000"/>
                </a:solidFill>
                <a:latin typeface="Consolas" pitchFamily="49" charset="0"/>
                <a:ea typeface="华文中宋" pitchFamily="2" charset="-122"/>
                <a:cs typeface="Consolas" pitchFamily="49" charset="0"/>
              </a:rPr>
              <a:t>：</a:t>
            </a:r>
            <a:r>
              <a:rPr kumimoji="1" lang="zh-CN" altLang="en-US" sz="2000">
                <a:solidFill>
                  <a:srgbClr val="FF0000"/>
                </a:solidFill>
                <a:latin typeface="Consolas" pitchFamily="49" charset="0"/>
                <a:ea typeface="华文中宋" pitchFamily="2" charset="-122"/>
                <a:cs typeface="Consolas" pitchFamily="49" charset="0"/>
              </a:rPr>
              <a:t>一趟二路归并（</a:t>
            </a:r>
            <a:r>
              <a:rPr lang="zh-CN" altLang="en-US" sz="2000">
                <a:solidFill>
                  <a:srgbClr val="FF0000"/>
                </a:solidFill>
                <a:latin typeface="Consolas" pitchFamily="49" charset="0"/>
                <a:ea typeface="华文中宋" pitchFamily="2" charset="-122"/>
                <a:cs typeface="Consolas" pitchFamily="49" charset="0"/>
              </a:rPr>
              <a:t>段长度为</a:t>
            </a:r>
            <a:r>
              <a:rPr lang="en-US" altLang="zh-CN" sz="2000">
                <a:solidFill>
                  <a:srgbClr val="FF0000"/>
                </a:solidFill>
                <a:latin typeface="Consolas" pitchFamily="49" charset="0"/>
                <a:ea typeface="华文中宋" pitchFamily="2" charset="-122"/>
                <a:cs typeface="Consolas" pitchFamily="49" charset="0"/>
              </a:rPr>
              <a:t>length </a:t>
            </a:r>
            <a:r>
              <a:rPr kumimoji="1" lang="zh-CN" altLang="en-US" sz="2000">
                <a:solidFill>
                  <a:srgbClr val="FF0000"/>
                </a:solidFill>
                <a:latin typeface="Consolas" pitchFamily="49" charset="0"/>
                <a:ea typeface="华文中宋" pitchFamily="2" charset="-122"/>
                <a:cs typeface="Consolas" pitchFamily="49" charset="0"/>
              </a:rPr>
              <a:t>）</a:t>
            </a:r>
            <a:endParaRPr kumimoji="1" lang="zh-CN" altLang="en-US" sz="2000" dirty="0">
              <a:solidFill>
                <a:srgbClr val="FF0000"/>
              </a:solidFill>
              <a:latin typeface="Consolas" pitchFamily="49" charset="0"/>
              <a:ea typeface="华文中宋" pitchFamily="2" charset="-122"/>
              <a:cs typeface="Consolas" pitchFamily="49" charset="0"/>
            </a:endParaRPr>
          </a:p>
        </p:txBody>
      </p:sp>
      <p:grpSp>
        <p:nvGrpSpPr>
          <p:cNvPr id="6" name="组合 5">
            <a:extLst>
              <a:ext uri="{FF2B5EF4-FFF2-40B4-BE49-F238E27FC236}">
                <a16:creationId xmlns:a16="http://schemas.microsoft.com/office/drawing/2014/main" id="{C5D59DAA-F54E-A63D-2FB4-62EFA980E1FF}"/>
              </a:ext>
            </a:extLst>
          </p:cNvPr>
          <p:cNvGrpSpPr/>
          <p:nvPr/>
        </p:nvGrpSpPr>
        <p:grpSpPr>
          <a:xfrm>
            <a:off x="3890655" y="4669301"/>
            <a:ext cx="3071834" cy="2053066"/>
            <a:chOff x="5857884" y="3786190"/>
            <a:chExt cx="3071834" cy="2053066"/>
          </a:xfrm>
        </p:grpSpPr>
        <p:grpSp>
          <p:nvGrpSpPr>
            <p:cNvPr id="7" name="组合 6">
              <a:extLst>
                <a:ext uri="{FF2B5EF4-FFF2-40B4-BE49-F238E27FC236}">
                  <a16:creationId xmlns:a16="http://schemas.microsoft.com/office/drawing/2014/main" id="{1CC788C6-7830-5F69-CD8A-E2F6BDB5819D}"/>
                </a:ext>
              </a:extLst>
            </p:cNvPr>
            <p:cNvGrpSpPr/>
            <p:nvPr/>
          </p:nvGrpSpPr>
          <p:grpSpPr>
            <a:xfrm>
              <a:off x="5857884" y="4233397"/>
              <a:ext cx="2857520" cy="1605859"/>
              <a:chOff x="5857884" y="4233397"/>
              <a:chExt cx="2857520" cy="1605859"/>
            </a:xfrm>
          </p:grpSpPr>
          <p:sp>
            <p:nvSpPr>
              <p:cNvPr id="10" name="TextBox 54">
                <a:extLst>
                  <a:ext uri="{FF2B5EF4-FFF2-40B4-BE49-F238E27FC236}">
                    <a16:creationId xmlns:a16="http://schemas.microsoft.com/office/drawing/2014/main" id="{8BFFC3BC-1953-5F02-3E86-4B4C58F6B1FE}"/>
                  </a:ext>
                </a:extLst>
              </p:cNvPr>
              <p:cNvSpPr txBox="1"/>
              <p:nvPr/>
            </p:nvSpPr>
            <p:spPr>
              <a:xfrm>
                <a:off x="5857884" y="4714884"/>
                <a:ext cx="571504" cy="461665"/>
              </a:xfrm>
              <a:prstGeom prst="rect">
                <a:avLst/>
              </a:prstGeom>
              <a:noFill/>
            </p:spPr>
            <p:txBody>
              <a:bodyPr wrap="square" rtlCol="0">
                <a:spAutoFit/>
              </a:bodyPr>
              <a:lstStyle/>
              <a:p>
                <a:r>
                  <a:rPr lang="en-US" altLang="zh-CN"/>
                  <a:t>…</a:t>
                </a:r>
                <a:endParaRPr lang="zh-CN" altLang="en-US"/>
              </a:p>
            </p:txBody>
          </p:sp>
          <p:sp>
            <p:nvSpPr>
              <p:cNvPr id="11" name="矩形 10">
                <a:extLst>
                  <a:ext uri="{FF2B5EF4-FFF2-40B4-BE49-F238E27FC236}">
                    <a16:creationId xmlns:a16="http://schemas.microsoft.com/office/drawing/2014/main" id="{6D6DFF41-EE92-B389-DB0E-DF2268DD2334}"/>
                  </a:ext>
                </a:extLst>
              </p:cNvPr>
              <p:cNvSpPr/>
              <p:nvPr/>
            </p:nvSpPr>
            <p:spPr>
              <a:xfrm>
                <a:off x="6400813" y="4817043"/>
                <a:ext cx="1143008" cy="3571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2" name="TextBox 56">
                <a:extLst>
                  <a:ext uri="{FF2B5EF4-FFF2-40B4-BE49-F238E27FC236}">
                    <a16:creationId xmlns:a16="http://schemas.microsoft.com/office/drawing/2014/main" id="{3B99A035-81BE-65A5-2E98-16B6368EF38B}"/>
                  </a:ext>
                </a:extLst>
              </p:cNvPr>
              <p:cNvSpPr txBox="1"/>
              <p:nvPr/>
            </p:nvSpPr>
            <p:spPr>
              <a:xfrm>
                <a:off x="6286512" y="4233397"/>
                <a:ext cx="357190"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i</a:t>
                </a:r>
                <a:endParaRPr lang="zh-CN" altLang="en-US" sz="1600" i="1">
                  <a:solidFill>
                    <a:srgbClr val="C00000"/>
                  </a:solidFill>
                  <a:latin typeface="Consolas" pitchFamily="49" charset="0"/>
                  <a:cs typeface="Consolas" pitchFamily="49" charset="0"/>
                </a:endParaRPr>
              </a:p>
            </p:txBody>
          </p:sp>
          <p:sp>
            <p:nvSpPr>
              <p:cNvPr id="13" name="TextBox 57">
                <a:extLst>
                  <a:ext uri="{FF2B5EF4-FFF2-40B4-BE49-F238E27FC236}">
                    <a16:creationId xmlns:a16="http://schemas.microsoft.com/office/drawing/2014/main" id="{A71A9CF1-7CCD-D029-473C-352ED136C129}"/>
                  </a:ext>
                </a:extLst>
              </p:cNvPr>
              <p:cNvSpPr txBox="1"/>
              <p:nvPr/>
            </p:nvSpPr>
            <p:spPr>
              <a:xfrm>
                <a:off x="7186630" y="4233397"/>
                <a:ext cx="1528773"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i</a:t>
                </a:r>
                <a:r>
                  <a:rPr lang="en-US" altLang="zh-CN" sz="1600">
                    <a:solidFill>
                      <a:srgbClr val="C00000"/>
                    </a:solidFill>
                    <a:latin typeface="Consolas" pitchFamily="49" charset="0"/>
                    <a:cs typeface="Consolas" pitchFamily="49" charset="0"/>
                  </a:rPr>
                  <a:t>+length-1</a:t>
                </a:r>
                <a:endParaRPr lang="zh-CN" altLang="en-US" sz="1600">
                  <a:solidFill>
                    <a:srgbClr val="C00000"/>
                  </a:solidFill>
                  <a:latin typeface="Consolas" pitchFamily="49" charset="0"/>
                  <a:cs typeface="Consolas" pitchFamily="49" charset="0"/>
                </a:endParaRPr>
              </a:p>
            </p:txBody>
          </p:sp>
          <p:sp>
            <p:nvSpPr>
              <p:cNvPr id="14" name="矩形 13">
                <a:extLst>
                  <a:ext uri="{FF2B5EF4-FFF2-40B4-BE49-F238E27FC236}">
                    <a16:creationId xmlns:a16="http://schemas.microsoft.com/office/drawing/2014/main" id="{A8C17FF0-3E0C-0463-F1A2-6FB82E50D51F}"/>
                  </a:ext>
                </a:extLst>
              </p:cNvPr>
              <p:cNvSpPr/>
              <p:nvPr/>
            </p:nvSpPr>
            <p:spPr>
              <a:xfrm>
                <a:off x="7543821" y="4817043"/>
                <a:ext cx="885831" cy="3571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84BA6EDC-E63A-95A9-089C-36FB5270D226}"/>
                  </a:ext>
                </a:extLst>
              </p:cNvPr>
              <p:cNvCxnSpPr/>
              <p:nvPr/>
            </p:nvCxnSpPr>
            <p:spPr>
              <a:xfrm rot="16200000" flipH="1">
                <a:off x="6331756" y="4709885"/>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D8FEABD-7E63-7D61-789E-8EA896D9673A}"/>
                  </a:ext>
                </a:extLst>
              </p:cNvPr>
              <p:cNvCxnSpPr/>
              <p:nvPr/>
            </p:nvCxnSpPr>
            <p:spPr>
              <a:xfrm rot="16200000" flipH="1">
                <a:off x="7365226" y="4709886"/>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7" name="TextBox 62">
                <a:extLst>
                  <a:ext uri="{FF2B5EF4-FFF2-40B4-BE49-F238E27FC236}">
                    <a16:creationId xmlns:a16="http://schemas.microsoft.com/office/drawing/2014/main" id="{0468CC92-EBC2-B2C5-FC48-F4E8B128A1D2}"/>
                  </a:ext>
                </a:extLst>
              </p:cNvPr>
              <p:cNvSpPr txBox="1"/>
              <p:nvPr/>
            </p:nvSpPr>
            <p:spPr>
              <a:xfrm>
                <a:off x="6500826" y="5500702"/>
                <a:ext cx="1000132" cy="338554"/>
              </a:xfrm>
              <a:prstGeom prst="rect">
                <a:avLst/>
              </a:prstGeom>
              <a:noFill/>
            </p:spPr>
            <p:txBody>
              <a:bodyPr wrap="square" rtlCol="0">
                <a:spAutoFit/>
              </a:bodyPr>
              <a:lstStyle/>
              <a:p>
                <a:r>
                  <a:rPr lang="en-US" altLang="zh-CN" sz="1600">
                    <a:solidFill>
                      <a:srgbClr val="C00000"/>
                    </a:solidFill>
                    <a:latin typeface="Consolas" pitchFamily="49" charset="0"/>
                    <a:cs typeface="Consolas" pitchFamily="49" charset="0"/>
                  </a:rPr>
                  <a:t>length</a:t>
                </a:r>
                <a:endParaRPr lang="zh-CN" altLang="en-US" sz="1600">
                  <a:solidFill>
                    <a:srgbClr val="C00000"/>
                  </a:solidFill>
                  <a:latin typeface="Consolas" pitchFamily="49" charset="0"/>
                  <a:cs typeface="Consolas" pitchFamily="49" charset="0"/>
                </a:endParaRPr>
              </a:p>
            </p:txBody>
          </p:sp>
          <p:sp>
            <p:nvSpPr>
              <p:cNvPr id="18" name="TextBox 63">
                <a:extLst>
                  <a:ext uri="{FF2B5EF4-FFF2-40B4-BE49-F238E27FC236}">
                    <a16:creationId xmlns:a16="http://schemas.microsoft.com/office/drawing/2014/main" id="{DF50B00F-BEF9-6166-94B5-637EEE76759C}"/>
                  </a:ext>
                </a:extLst>
              </p:cNvPr>
              <p:cNvSpPr txBox="1"/>
              <p:nvPr/>
            </p:nvSpPr>
            <p:spPr>
              <a:xfrm>
                <a:off x="8115325" y="5376405"/>
                <a:ext cx="600079"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n</a:t>
                </a:r>
                <a:r>
                  <a:rPr lang="en-US" altLang="zh-CN" sz="1600">
                    <a:solidFill>
                      <a:srgbClr val="C00000"/>
                    </a:solidFill>
                    <a:latin typeface="Consolas" pitchFamily="49" charset="0"/>
                    <a:cs typeface="Consolas" pitchFamily="49" charset="0"/>
                  </a:rPr>
                  <a:t>-1</a:t>
                </a:r>
                <a:endParaRPr lang="zh-CN" altLang="en-US" sz="1600">
                  <a:solidFill>
                    <a:srgbClr val="C00000"/>
                  </a:solidFill>
                  <a:latin typeface="Consolas" pitchFamily="49" charset="0"/>
                  <a:cs typeface="Consolas" pitchFamily="49" charset="0"/>
                </a:endParaRPr>
              </a:p>
            </p:txBody>
          </p:sp>
          <p:cxnSp>
            <p:nvCxnSpPr>
              <p:cNvPr id="19" name="直接连接符 18">
                <a:extLst>
                  <a:ext uri="{FF2B5EF4-FFF2-40B4-BE49-F238E27FC236}">
                    <a16:creationId xmlns:a16="http://schemas.microsoft.com/office/drawing/2014/main" id="{4CC1BD69-3E7F-5E39-F48F-770F23D5B964}"/>
                  </a:ext>
                </a:extLst>
              </p:cNvPr>
              <p:cNvCxnSpPr/>
              <p:nvPr/>
            </p:nvCxnSpPr>
            <p:spPr>
              <a:xfrm rot="16200000" flipH="1">
                <a:off x="8251057" y="5300440"/>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20" name="右大括号 19">
                <a:extLst>
                  <a:ext uri="{FF2B5EF4-FFF2-40B4-BE49-F238E27FC236}">
                    <a16:creationId xmlns:a16="http://schemas.microsoft.com/office/drawing/2014/main" id="{8713A8DE-F249-61C4-CE0A-0F1219578CAB}"/>
                  </a:ext>
                </a:extLst>
              </p:cNvPr>
              <p:cNvSpPr/>
              <p:nvPr/>
            </p:nvSpPr>
            <p:spPr>
              <a:xfrm rot="5400000">
                <a:off x="6893173" y="4822603"/>
                <a:ext cx="144000" cy="1071570"/>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grpSp>
        <p:sp>
          <p:nvSpPr>
            <p:cNvPr id="8" name="TextBox 74">
              <a:extLst>
                <a:ext uri="{FF2B5EF4-FFF2-40B4-BE49-F238E27FC236}">
                  <a16:creationId xmlns:a16="http://schemas.microsoft.com/office/drawing/2014/main" id="{823E3B17-42B1-A71A-0D84-C4E4D47D6FCA}"/>
                </a:ext>
              </a:extLst>
            </p:cNvPr>
            <p:cNvSpPr txBox="1"/>
            <p:nvPr/>
          </p:nvSpPr>
          <p:spPr>
            <a:xfrm>
              <a:off x="6500826" y="3786190"/>
              <a:ext cx="2428892" cy="338554"/>
            </a:xfrm>
            <a:prstGeom prst="rect">
              <a:avLst/>
            </a:prstGeom>
            <a:noFill/>
          </p:spPr>
          <p:txBody>
            <a:bodyPr wrap="square" rtlCol="0">
              <a:spAutoFit/>
            </a:bodyPr>
            <a:lstStyle/>
            <a:p>
              <a:r>
                <a:rPr lang="en-US" altLang="zh-CN" sz="1600">
                  <a:latin typeface="Consolas" pitchFamily="49" charset="0"/>
                  <a:ea typeface="仿宋" pitchFamily="49" charset="-122"/>
                  <a:cs typeface="Consolas" pitchFamily="49" charset="0"/>
                </a:rPr>
                <a:t>&lt;</a:t>
              </a:r>
              <a:r>
                <a:rPr lang="en-US" altLang="zh-CN" sz="1600" i="1">
                  <a:latin typeface="Consolas" pitchFamily="49" charset="0"/>
                  <a:ea typeface="仿宋" pitchFamily="49" charset="-122"/>
                  <a:cs typeface="Consolas" pitchFamily="49" charset="0"/>
                </a:rPr>
                <a:t>n</a:t>
              </a:r>
              <a:r>
                <a:rPr lang="en-US" altLang="zh-CN" sz="1600">
                  <a:latin typeface="Consolas" pitchFamily="49" charset="0"/>
                  <a:ea typeface="仿宋" pitchFamily="49" charset="-122"/>
                  <a:cs typeface="Consolas" pitchFamily="49" charset="0"/>
                </a:rPr>
                <a:t>-1</a:t>
              </a:r>
              <a:r>
                <a:rPr lang="zh-CN" altLang="en-US" sz="1600">
                  <a:latin typeface="Consolas" pitchFamily="49" charset="0"/>
                  <a:ea typeface="仿宋" pitchFamily="49" charset="-122"/>
                  <a:cs typeface="Consolas" pitchFamily="49" charset="0"/>
                </a:rPr>
                <a:t>表示存在第</a:t>
              </a:r>
              <a:r>
                <a:rPr lang="en-US" altLang="zh-CN" sz="1600">
                  <a:latin typeface="Consolas" pitchFamily="49" charset="0"/>
                  <a:ea typeface="仿宋" pitchFamily="49" charset="-122"/>
                  <a:cs typeface="Consolas" pitchFamily="49" charset="0"/>
                </a:rPr>
                <a:t>2</a:t>
              </a:r>
              <a:r>
                <a:rPr lang="zh-CN" altLang="en-US" sz="1600">
                  <a:latin typeface="Consolas" pitchFamily="49" charset="0"/>
                  <a:ea typeface="仿宋" pitchFamily="49" charset="-122"/>
                  <a:cs typeface="Consolas" pitchFamily="49" charset="0"/>
                </a:rPr>
                <a:t>个段</a:t>
              </a:r>
            </a:p>
          </p:txBody>
        </p:sp>
        <p:cxnSp>
          <p:nvCxnSpPr>
            <p:cNvPr id="9" name="直接连接符 8">
              <a:extLst>
                <a:ext uri="{FF2B5EF4-FFF2-40B4-BE49-F238E27FC236}">
                  <a16:creationId xmlns:a16="http://schemas.microsoft.com/office/drawing/2014/main" id="{615D62BF-4D41-0B94-472D-1A4BBACA8BFB}"/>
                </a:ext>
              </a:extLst>
            </p:cNvPr>
            <p:cNvCxnSpPr/>
            <p:nvPr/>
          </p:nvCxnSpPr>
          <p:spPr>
            <a:xfrm rot="5400000">
              <a:off x="7649904" y="4208747"/>
              <a:ext cx="27361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E2E8C7F9-B51E-35E2-AF57-4F78F1640C68}"/>
              </a:ext>
            </a:extLst>
          </p:cNvPr>
          <p:cNvGrpSpPr/>
          <p:nvPr/>
        </p:nvGrpSpPr>
        <p:grpSpPr>
          <a:xfrm>
            <a:off x="1847528" y="4597806"/>
            <a:ext cx="6758035" cy="2124561"/>
            <a:chOff x="99981" y="4214818"/>
            <a:chExt cx="6758035" cy="2124561"/>
          </a:xfrm>
        </p:grpSpPr>
        <p:grpSp>
          <p:nvGrpSpPr>
            <p:cNvPr id="22" name="组合 21">
              <a:extLst>
                <a:ext uri="{FF2B5EF4-FFF2-40B4-BE49-F238E27FC236}">
                  <a16:creationId xmlns:a16="http://schemas.microsoft.com/office/drawing/2014/main" id="{012F4700-D1F6-8155-453D-D873C5BE558A}"/>
                </a:ext>
              </a:extLst>
            </p:cNvPr>
            <p:cNvGrpSpPr/>
            <p:nvPr/>
          </p:nvGrpSpPr>
          <p:grpSpPr>
            <a:xfrm>
              <a:off x="99981" y="4214818"/>
              <a:ext cx="3186135" cy="2124561"/>
              <a:chOff x="242857" y="4214818"/>
              <a:chExt cx="3186135" cy="2124561"/>
            </a:xfrm>
          </p:grpSpPr>
          <p:sp>
            <p:nvSpPr>
              <p:cNvPr id="39" name="矩形 38">
                <a:extLst>
                  <a:ext uri="{FF2B5EF4-FFF2-40B4-BE49-F238E27FC236}">
                    <a16:creationId xmlns:a16="http://schemas.microsoft.com/office/drawing/2014/main" id="{C9DB2EA2-2ED6-C26D-6550-9A172FA26C4A}"/>
                  </a:ext>
                </a:extLst>
              </p:cNvPr>
              <p:cNvSpPr/>
              <p:nvPr/>
            </p:nvSpPr>
            <p:spPr>
              <a:xfrm>
                <a:off x="357158" y="4798464"/>
                <a:ext cx="1143008" cy="3571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40" name="TextBox 29">
                <a:extLst>
                  <a:ext uri="{FF2B5EF4-FFF2-40B4-BE49-F238E27FC236}">
                    <a16:creationId xmlns:a16="http://schemas.microsoft.com/office/drawing/2014/main" id="{7F979B90-6D20-7900-D8B9-7405D40BE63E}"/>
                  </a:ext>
                </a:extLst>
              </p:cNvPr>
              <p:cNvSpPr txBox="1"/>
              <p:nvPr/>
            </p:nvSpPr>
            <p:spPr>
              <a:xfrm>
                <a:off x="242857" y="4214818"/>
                <a:ext cx="357190" cy="338554"/>
              </a:xfrm>
              <a:prstGeom prst="rect">
                <a:avLst/>
              </a:prstGeom>
              <a:noFill/>
            </p:spPr>
            <p:txBody>
              <a:bodyPr wrap="square" rtlCol="0">
                <a:spAutoFit/>
              </a:bodyPr>
              <a:lstStyle/>
              <a:p>
                <a:r>
                  <a:rPr lang="en-US" altLang="zh-CN" sz="1600">
                    <a:solidFill>
                      <a:srgbClr val="C00000"/>
                    </a:solidFill>
                    <a:latin typeface="Consolas" pitchFamily="49" charset="0"/>
                    <a:cs typeface="Consolas" pitchFamily="49" charset="0"/>
                  </a:rPr>
                  <a:t>0</a:t>
                </a:r>
                <a:endParaRPr lang="zh-CN" altLang="en-US" sz="1600">
                  <a:solidFill>
                    <a:srgbClr val="C00000"/>
                  </a:solidFill>
                  <a:latin typeface="Consolas" pitchFamily="49" charset="0"/>
                  <a:cs typeface="Consolas" pitchFamily="49" charset="0"/>
                </a:endParaRPr>
              </a:p>
            </p:txBody>
          </p:sp>
          <p:sp>
            <p:nvSpPr>
              <p:cNvPr id="41" name="TextBox 30">
                <a:extLst>
                  <a:ext uri="{FF2B5EF4-FFF2-40B4-BE49-F238E27FC236}">
                    <a16:creationId xmlns:a16="http://schemas.microsoft.com/office/drawing/2014/main" id="{50419785-61CE-0A55-91C7-59DDF1975DDD}"/>
                  </a:ext>
                </a:extLst>
              </p:cNvPr>
              <p:cNvSpPr txBox="1"/>
              <p:nvPr/>
            </p:nvSpPr>
            <p:spPr>
              <a:xfrm>
                <a:off x="1142976" y="4214818"/>
                <a:ext cx="1285884" cy="338554"/>
              </a:xfrm>
              <a:prstGeom prst="rect">
                <a:avLst/>
              </a:prstGeom>
              <a:noFill/>
            </p:spPr>
            <p:txBody>
              <a:bodyPr wrap="square" rtlCol="0">
                <a:spAutoFit/>
              </a:bodyPr>
              <a:lstStyle/>
              <a:p>
                <a:r>
                  <a:rPr lang="en-US" altLang="zh-CN" sz="1600">
                    <a:solidFill>
                      <a:srgbClr val="C00000"/>
                    </a:solidFill>
                    <a:latin typeface="Consolas" pitchFamily="49" charset="0"/>
                    <a:cs typeface="Consolas" pitchFamily="49" charset="0"/>
                  </a:rPr>
                  <a:t>length-1</a:t>
                </a:r>
                <a:endParaRPr lang="zh-CN" altLang="en-US" sz="1600">
                  <a:solidFill>
                    <a:srgbClr val="C00000"/>
                  </a:solidFill>
                  <a:latin typeface="Consolas" pitchFamily="49" charset="0"/>
                  <a:cs typeface="Consolas" pitchFamily="49" charset="0"/>
                </a:endParaRPr>
              </a:p>
            </p:txBody>
          </p:sp>
          <p:sp>
            <p:nvSpPr>
              <p:cNvPr id="42" name="矩形 41">
                <a:extLst>
                  <a:ext uri="{FF2B5EF4-FFF2-40B4-BE49-F238E27FC236}">
                    <a16:creationId xmlns:a16="http://schemas.microsoft.com/office/drawing/2014/main" id="{31E2BB69-203F-5CCC-9DA2-7C3C84343166}"/>
                  </a:ext>
                </a:extLst>
              </p:cNvPr>
              <p:cNvSpPr/>
              <p:nvPr/>
            </p:nvSpPr>
            <p:spPr>
              <a:xfrm>
                <a:off x="1500166" y="4798464"/>
                <a:ext cx="1143008" cy="3571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D217345B-7D2A-A25E-D1A9-DCFDA0F08B37}"/>
                  </a:ext>
                </a:extLst>
              </p:cNvPr>
              <p:cNvCxnSpPr/>
              <p:nvPr/>
            </p:nvCxnSpPr>
            <p:spPr>
              <a:xfrm rot="16200000" flipH="1">
                <a:off x="288101" y="4691306"/>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2D6CF90-C9AA-80BD-A385-AF0F63932A4D}"/>
                  </a:ext>
                </a:extLst>
              </p:cNvPr>
              <p:cNvCxnSpPr/>
              <p:nvPr/>
            </p:nvCxnSpPr>
            <p:spPr>
              <a:xfrm rot="16200000" flipH="1">
                <a:off x="1321571" y="4691307"/>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8B23FE1-AE82-3793-0EC6-BB0C8F594156}"/>
                  </a:ext>
                </a:extLst>
              </p:cNvPr>
              <p:cNvCxnSpPr/>
              <p:nvPr/>
            </p:nvCxnSpPr>
            <p:spPr>
              <a:xfrm rot="16200000" flipH="1">
                <a:off x="1464447" y="5272337"/>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46" name="TextBox 36">
                <a:extLst>
                  <a:ext uri="{FF2B5EF4-FFF2-40B4-BE49-F238E27FC236}">
                    <a16:creationId xmlns:a16="http://schemas.microsoft.com/office/drawing/2014/main" id="{435303B9-0EDC-3E5E-0BC7-64B24629A8B2}"/>
                  </a:ext>
                </a:extLst>
              </p:cNvPr>
              <p:cNvSpPr txBox="1"/>
              <p:nvPr/>
            </p:nvSpPr>
            <p:spPr>
              <a:xfrm>
                <a:off x="928662" y="5357826"/>
                <a:ext cx="1000132" cy="338554"/>
              </a:xfrm>
              <a:prstGeom prst="rect">
                <a:avLst/>
              </a:prstGeom>
              <a:noFill/>
            </p:spPr>
            <p:txBody>
              <a:bodyPr wrap="square" rtlCol="0">
                <a:spAutoFit/>
              </a:bodyPr>
              <a:lstStyle/>
              <a:p>
                <a:r>
                  <a:rPr lang="en-US" altLang="zh-CN" sz="1600">
                    <a:solidFill>
                      <a:srgbClr val="C00000"/>
                    </a:solidFill>
                    <a:latin typeface="Consolas" pitchFamily="49" charset="0"/>
                    <a:cs typeface="Consolas" pitchFamily="49" charset="0"/>
                  </a:rPr>
                  <a:t>length</a:t>
                </a:r>
                <a:endParaRPr lang="zh-CN" altLang="en-US" sz="1600">
                  <a:solidFill>
                    <a:srgbClr val="C00000"/>
                  </a:solidFill>
                  <a:latin typeface="Consolas" pitchFamily="49" charset="0"/>
                  <a:cs typeface="Consolas" pitchFamily="49" charset="0"/>
                </a:endParaRPr>
              </a:p>
            </p:txBody>
          </p:sp>
          <p:sp>
            <p:nvSpPr>
              <p:cNvPr id="47" name="TextBox 37">
                <a:extLst>
                  <a:ext uri="{FF2B5EF4-FFF2-40B4-BE49-F238E27FC236}">
                    <a16:creationId xmlns:a16="http://schemas.microsoft.com/office/drawing/2014/main" id="{30097DBC-ACBA-026D-F718-09AD7C19450B}"/>
                  </a:ext>
                </a:extLst>
              </p:cNvPr>
              <p:cNvSpPr txBox="1"/>
              <p:nvPr/>
            </p:nvSpPr>
            <p:spPr>
              <a:xfrm>
                <a:off x="1928794" y="5357826"/>
                <a:ext cx="1500198" cy="338554"/>
              </a:xfrm>
              <a:prstGeom prst="rect">
                <a:avLst/>
              </a:prstGeom>
              <a:noFill/>
            </p:spPr>
            <p:txBody>
              <a:bodyPr wrap="square" rtlCol="0">
                <a:spAutoFit/>
              </a:bodyPr>
              <a:lstStyle/>
              <a:p>
                <a:r>
                  <a:rPr lang="en-US" altLang="zh-CN" sz="1600">
                    <a:solidFill>
                      <a:srgbClr val="C00000"/>
                    </a:solidFill>
                    <a:latin typeface="Consolas" pitchFamily="49" charset="0"/>
                    <a:cs typeface="Consolas" pitchFamily="49" charset="0"/>
                  </a:rPr>
                  <a:t>2length-1</a:t>
                </a:r>
                <a:endParaRPr lang="zh-CN" altLang="en-US" sz="1600">
                  <a:solidFill>
                    <a:srgbClr val="C00000"/>
                  </a:solidFill>
                  <a:latin typeface="Consolas" pitchFamily="49" charset="0"/>
                  <a:cs typeface="Consolas" pitchFamily="49" charset="0"/>
                </a:endParaRPr>
              </a:p>
            </p:txBody>
          </p:sp>
          <p:cxnSp>
            <p:nvCxnSpPr>
              <p:cNvPr id="48" name="直接连接符 47">
                <a:extLst>
                  <a:ext uri="{FF2B5EF4-FFF2-40B4-BE49-F238E27FC236}">
                    <a16:creationId xmlns:a16="http://schemas.microsoft.com/office/drawing/2014/main" id="{E107DF3B-F8B6-F645-309D-CFFA3AEA652E}"/>
                  </a:ext>
                </a:extLst>
              </p:cNvPr>
              <p:cNvCxnSpPr/>
              <p:nvPr/>
            </p:nvCxnSpPr>
            <p:spPr>
              <a:xfrm rot="16200000" flipH="1">
                <a:off x="2483629" y="5281861"/>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49" name="右大括号 48">
                <a:extLst>
                  <a:ext uri="{FF2B5EF4-FFF2-40B4-BE49-F238E27FC236}">
                    <a16:creationId xmlns:a16="http://schemas.microsoft.com/office/drawing/2014/main" id="{8B66176B-6B0D-5008-9801-8D1D89F1277F}"/>
                  </a:ext>
                </a:extLst>
              </p:cNvPr>
              <p:cNvSpPr/>
              <p:nvPr/>
            </p:nvSpPr>
            <p:spPr>
              <a:xfrm rot="5400000">
                <a:off x="1464447" y="4834183"/>
                <a:ext cx="142876" cy="2214578"/>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sp>
            <p:nvSpPr>
              <p:cNvPr id="50" name="TextBox 40">
                <a:extLst>
                  <a:ext uri="{FF2B5EF4-FFF2-40B4-BE49-F238E27FC236}">
                    <a16:creationId xmlns:a16="http://schemas.microsoft.com/office/drawing/2014/main" id="{08B75C27-C0E9-9AAF-0690-70DA67DFFBBB}"/>
                  </a:ext>
                </a:extLst>
              </p:cNvPr>
              <p:cNvSpPr txBox="1"/>
              <p:nvPr/>
            </p:nvSpPr>
            <p:spPr>
              <a:xfrm>
                <a:off x="1000100" y="5970047"/>
                <a:ext cx="1071570" cy="369332"/>
              </a:xfrm>
              <a:prstGeom prst="rect">
                <a:avLst/>
              </a:prstGeom>
              <a:noFill/>
            </p:spPr>
            <p:txBody>
              <a:bodyPr wrap="square" rtlCol="0">
                <a:spAutoFit/>
              </a:bodyPr>
              <a:lstStyle/>
              <a:p>
                <a:r>
                  <a:rPr lang="en-US" altLang="zh-CN" sz="1800">
                    <a:solidFill>
                      <a:srgbClr val="008000"/>
                    </a:solidFill>
                    <a:latin typeface="Consolas" pitchFamily="49" charset="0"/>
                    <a:cs typeface="Consolas" pitchFamily="49" charset="0"/>
                  </a:rPr>
                  <a:t>2length</a:t>
                </a:r>
                <a:endParaRPr lang="zh-CN" altLang="en-US" sz="1800">
                  <a:solidFill>
                    <a:srgbClr val="008000"/>
                  </a:solidFill>
                  <a:latin typeface="Consolas" pitchFamily="49" charset="0"/>
                  <a:cs typeface="Consolas" pitchFamily="49" charset="0"/>
                </a:endParaRPr>
              </a:p>
            </p:txBody>
          </p:sp>
        </p:grpSp>
        <p:grpSp>
          <p:nvGrpSpPr>
            <p:cNvPr id="23" name="组合 22">
              <a:extLst>
                <a:ext uri="{FF2B5EF4-FFF2-40B4-BE49-F238E27FC236}">
                  <a16:creationId xmlns:a16="http://schemas.microsoft.com/office/drawing/2014/main" id="{E4FC9EA6-F2F3-65A5-E202-D985C6B17E14}"/>
                </a:ext>
              </a:extLst>
            </p:cNvPr>
            <p:cNvGrpSpPr/>
            <p:nvPr/>
          </p:nvGrpSpPr>
          <p:grpSpPr>
            <a:xfrm>
              <a:off x="3071802" y="4214818"/>
              <a:ext cx="3143272" cy="2124561"/>
              <a:chOff x="3357554" y="4214818"/>
              <a:chExt cx="3143272" cy="2124561"/>
            </a:xfrm>
          </p:grpSpPr>
          <p:sp>
            <p:nvSpPr>
              <p:cNvPr id="27" name="矩形 26">
                <a:extLst>
                  <a:ext uri="{FF2B5EF4-FFF2-40B4-BE49-F238E27FC236}">
                    <a16:creationId xmlns:a16="http://schemas.microsoft.com/office/drawing/2014/main" id="{1EB02BEE-58BC-893D-A8E0-0003FE37E78F}"/>
                  </a:ext>
                </a:extLst>
              </p:cNvPr>
              <p:cNvSpPr/>
              <p:nvPr/>
            </p:nvSpPr>
            <p:spPr>
              <a:xfrm>
                <a:off x="3471855" y="4798464"/>
                <a:ext cx="1143008" cy="3571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8" name="TextBox 42">
                <a:extLst>
                  <a:ext uri="{FF2B5EF4-FFF2-40B4-BE49-F238E27FC236}">
                    <a16:creationId xmlns:a16="http://schemas.microsoft.com/office/drawing/2014/main" id="{C816A835-519F-A6C2-50CF-E3E9E070A65C}"/>
                  </a:ext>
                </a:extLst>
              </p:cNvPr>
              <p:cNvSpPr txBox="1"/>
              <p:nvPr/>
            </p:nvSpPr>
            <p:spPr>
              <a:xfrm>
                <a:off x="3357554" y="4214818"/>
                <a:ext cx="357190"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i</a:t>
                </a:r>
                <a:endParaRPr lang="zh-CN" altLang="en-US" sz="1600" i="1">
                  <a:solidFill>
                    <a:srgbClr val="C00000"/>
                  </a:solidFill>
                  <a:latin typeface="Consolas" pitchFamily="49" charset="0"/>
                  <a:cs typeface="Consolas" pitchFamily="49" charset="0"/>
                </a:endParaRPr>
              </a:p>
            </p:txBody>
          </p:sp>
          <p:sp>
            <p:nvSpPr>
              <p:cNvPr id="29" name="TextBox 43">
                <a:extLst>
                  <a:ext uri="{FF2B5EF4-FFF2-40B4-BE49-F238E27FC236}">
                    <a16:creationId xmlns:a16="http://schemas.microsoft.com/office/drawing/2014/main" id="{7B278471-709E-30A9-A305-698C59FCC50A}"/>
                  </a:ext>
                </a:extLst>
              </p:cNvPr>
              <p:cNvSpPr txBox="1"/>
              <p:nvPr/>
            </p:nvSpPr>
            <p:spPr>
              <a:xfrm>
                <a:off x="4257672" y="4214818"/>
                <a:ext cx="1528773"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i</a:t>
                </a:r>
                <a:r>
                  <a:rPr lang="en-US" altLang="zh-CN" sz="1600">
                    <a:solidFill>
                      <a:srgbClr val="C00000"/>
                    </a:solidFill>
                    <a:latin typeface="Consolas" pitchFamily="49" charset="0"/>
                    <a:cs typeface="Consolas" pitchFamily="49" charset="0"/>
                  </a:rPr>
                  <a:t>+length-1</a:t>
                </a:r>
                <a:endParaRPr lang="zh-CN" altLang="en-US" sz="1600">
                  <a:solidFill>
                    <a:srgbClr val="C00000"/>
                  </a:solidFill>
                  <a:latin typeface="Consolas" pitchFamily="49" charset="0"/>
                  <a:cs typeface="Consolas" pitchFamily="49" charset="0"/>
                </a:endParaRPr>
              </a:p>
            </p:txBody>
          </p:sp>
          <p:sp>
            <p:nvSpPr>
              <p:cNvPr id="30" name="矩形 29">
                <a:extLst>
                  <a:ext uri="{FF2B5EF4-FFF2-40B4-BE49-F238E27FC236}">
                    <a16:creationId xmlns:a16="http://schemas.microsoft.com/office/drawing/2014/main" id="{9D0EF072-DEE1-F985-2DBF-5B470DD83232}"/>
                  </a:ext>
                </a:extLst>
              </p:cNvPr>
              <p:cNvSpPr/>
              <p:nvPr/>
            </p:nvSpPr>
            <p:spPr>
              <a:xfrm>
                <a:off x="4614863" y="4798464"/>
                <a:ext cx="1143008" cy="3571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cxnSp>
            <p:nvCxnSpPr>
              <p:cNvPr id="31" name="直接连接符 30">
                <a:extLst>
                  <a:ext uri="{FF2B5EF4-FFF2-40B4-BE49-F238E27FC236}">
                    <a16:creationId xmlns:a16="http://schemas.microsoft.com/office/drawing/2014/main" id="{9457222F-EE48-64DB-E4D3-F1072035502E}"/>
                  </a:ext>
                </a:extLst>
              </p:cNvPr>
              <p:cNvCxnSpPr/>
              <p:nvPr/>
            </p:nvCxnSpPr>
            <p:spPr>
              <a:xfrm rot="16200000" flipH="1">
                <a:off x="3402798" y="4691306"/>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62DF84D-F1C1-F164-DE2E-439433480CA1}"/>
                  </a:ext>
                </a:extLst>
              </p:cNvPr>
              <p:cNvCxnSpPr/>
              <p:nvPr/>
            </p:nvCxnSpPr>
            <p:spPr>
              <a:xfrm rot="16200000" flipH="1">
                <a:off x="4436268" y="4691307"/>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E69A8BA5-BD30-458B-9996-0835A9A5B97C}"/>
                  </a:ext>
                </a:extLst>
              </p:cNvPr>
              <p:cNvCxnSpPr/>
              <p:nvPr/>
            </p:nvCxnSpPr>
            <p:spPr>
              <a:xfrm rot="16200000" flipH="1">
                <a:off x="4579144" y="5272337"/>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34" name="TextBox 48">
                <a:extLst>
                  <a:ext uri="{FF2B5EF4-FFF2-40B4-BE49-F238E27FC236}">
                    <a16:creationId xmlns:a16="http://schemas.microsoft.com/office/drawing/2014/main" id="{8A491E8A-6B05-D25F-6779-51F229FD26BA}"/>
                  </a:ext>
                </a:extLst>
              </p:cNvPr>
              <p:cNvSpPr txBox="1"/>
              <p:nvPr/>
            </p:nvSpPr>
            <p:spPr>
              <a:xfrm>
                <a:off x="3786182" y="5357826"/>
                <a:ext cx="1214446"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i</a:t>
                </a:r>
                <a:r>
                  <a:rPr lang="en-US" altLang="zh-CN" sz="1600">
                    <a:solidFill>
                      <a:srgbClr val="C00000"/>
                    </a:solidFill>
                    <a:latin typeface="Consolas" pitchFamily="49" charset="0"/>
                    <a:cs typeface="Consolas" pitchFamily="49" charset="0"/>
                  </a:rPr>
                  <a:t>+length</a:t>
                </a:r>
                <a:endParaRPr lang="zh-CN" altLang="en-US" sz="1600">
                  <a:solidFill>
                    <a:srgbClr val="C00000"/>
                  </a:solidFill>
                  <a:latin typeface="Consolas" pitchFamily="49" charset="0"/>
                  <a:cs typeface="Consolas" pitchFamily="49" charset="0"/>
                </a:endParaRPr>
              </a:p>
            </p:txBody>
          </p:sp>
          <p:sp>
            <p:nvSpPr>
              <p:cNvPr id="35" name="TextBox 49">
                <a:extLst>
                  <a:ext uri="{FF2B5EF4-FFF2-40B4-BE49-F238E27FC236}">
                    <a16:creationId xmlns:a16="http://schemas.microsoft.com/office/drawing/2014/main" id="{2B34870C-0ECE-7C88-7B4E-96C24FCAB6E9}"/>
                  </a:ext>
                </a:extLst>
              </p:cNvPr>
              <p:cNvSpPr txBox="1"/>
              <p:nvPr/>
            </p:nvSpPr>
            <p:spPr>
              <a:xfrm>
                <a:off x="5000628" y="5357826"/>
                <a:ext cx="1500198" cy="338554"/>
              </a:xfrm>
              <a:prstGeom prst="rect">
                <a:avLst/>
              </a:prstGeom>
              <a:noFill/>
            </p:spPr>
            <p:txBody>
              <a:bodyPr wrap="square" rtlCol="0">
                <a:spAutoFit/>
              </a:bodyPr>
              <a:lstStyle/>
              <a:p>
                <a:r>
                  <a:rPr lang="en-US" altLang="zh-CN" sz="1600" i="1">
                    <a:solidFill>
                      <a:srgbClr val="C00000"/>
                    </a:solidFill>
                    <a:latin typeface="Consolas" pitchFamily="49" charset="0"/>
                    <a:cs typeface="Consolas" pitchFamily="49" charset="0"/>
                  </a:rPr>
                  <a:t>i</a:t>
                </a:r>
                <a:r>
                  <a:rPr lang="en-US" altLang="zh-CN" sz="1600">
                    <a:solidFill>
                      <a:srgbClr val="C00000"/>
                    </a:solidFill>
                    <a:latin typeface="Consolas" pitchFamily="49" charset="0"/>
                    <a:cs typeface="Consolas" pitchFamily="49" charset="0"/>
                  </a:rPr>
                  <a:t>+2length-1</a:t>
                </a:r>
                <a:endParaRPr lang="zh-CN" altLang="en-US" sz="1600">
                  <a:solidFill>
                    <a:srgbClr val="C00000"/>
                  </a:solidFill>
                  <a:latin typeface="Consolas" pitchFamily="49" charset="0"/>
                  <a:cs typeface="Consolas" pitchFamily="49" charset="0"/>
                </a:endParaRPr>
              </a:p>
            </p:txBody>
          </p:sp>
          <p:cxnSp>
            <p:nvCxnSpPr>
              <p:cNvPr id="36" name="直接连接符 35">
                <a:extLst>
                  <a:ext uri="{FF2B5EF4-FFF2-40B4-BE49-F238E27FC236}">
                    <a16:creationId xmlns:a16="http://schemas.microsoft.com/office/drawing/2014/main" id="{D2037509-C00F-74A0-A8BD-8FBA668E21D9}"/>
                  </a:ext>
                </a:extLst>
              </p:cNvPr>
              <p:cNvCxnSpPr/>
              <p:nvPr/>
            </p:nvCxnSpPr>
            <p:spPr>
              <a:xfrm rot="16200000" flipH="1">
                <a:off x="5598326" y="5281861"/>
                <a:ext cx="214314"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37" name="右大括号 36">
                <a:extLst>
                  <a:ext uri="{FF2B5EF4-FFF2-40B4-BE49-F238E27FC236}">
                    <a16:creationId xmlns:a16="http://schemas.microsoft.com/office/drawing/2014/main" id="{6E6AC9CC-2AA8-9E92-4645-6CA780634BC6}"/>
                  </a:ext>
                </a:extLst>
              </p:cNvPr>
              <p:cNvSpPr/>
              <p:nvPr/>
            </p:nvSpPr>
            <p:spPr>
              <a:xfrm rot="5400000">
                <a:off x="4579144" y="4834183"/>
                <a:ext cx="142876" cy="2214578"/>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sp>
            <p:nvSpPr>
              <p:cNvPr id="38" name="TextBox 52">
                <a:extLst>
                  <a:ext uri="{FF2B5EF4-FFF2-40B4-BE49-F238E27FC236}">
                    <a16:creationId xmlns:a16="http://schemas.microsoft.com/office/drawing/2014/main" id="{8362381D-86B2-5226-5C66-F8BFCCE322E3}"/>
                  </a:ext>
                </a:extLst>
              </p:cNvPr>
              <p:cNvSpPr txBox="1"/>
              <p:nvPr/>
            </p:nvSpPr>
            <p:spPr>
              <a:xfrm>
                <a:off x="4114797" y="5970047"/>
                <a:ext cx="1071570" cy="369332"/>
              </a:xfrm>
              <a:prstGeom prst="rect">
                <a:avLst/>
              </a:prstGeom>
              <a:noFill/>
            </p:spPr>
            <p:txBody>
              <a:bodyPr wrap="square" rtlCol="0">
                <a:spAutoFit/>
              </a:bodyPr>
              <a:lstStyle/>
              <a:p>
                <a:r>
                  <a:rPr lang="en-US" altLang="zh-CN" sz="1800">
                    <a:solidFill>
                      <a:srgbClr val="008000"/>
                    </a:solidFill>
                    <a:latin typeface="Consolas" pitchFamily="49" charset="0"/>
                    <a:cs typeface="Consolas" pitchFamily="49" charset="0"/>
                  </a:rPr>
                  <a:t>2length</a:t>
                </a:r>
                <a:endParaRPr lang="zh-CN" altLang="en-US" sz="1800">
                  <a:solidFill>
                    <a:srgbClr val="008000"/>
                  </a:solidFill>
                  <a:latin typeface="Consolas" pitchFamily="49" charset="0"/>
                  <a:cs typeface="Consolas" pitchFamily="49" charset="0"/>
                </a:endParaRPr>
              </a:p>
            </p:txBody>
          </p:sp>
        </p:grpSp>
        <p:sp>
          <p:nvSpPr>
            <p:cNvPr id="24" name="TextBox 53">
              <a:extLst>
                <a:ext uri="{FF2B5EF4-FFF2-40B4-BE49-F238E27FC236}">
                  <a16:creationId xmlns:a16="http://schemas.microsoft.com/office/drawing/2014/main" id="{2ACE6FB7-3362-E723-B582-DDBD36F270E5}"/>
                </a:ext>
              </a:extLst>
            </p:cNvPr>
            <p:cNvSpPr txBox="1"/>
            <p:nvPr/>
          </p:nvSpPr>
          <p:spPr>
            <a:xfrm>
              <a:off x="2571736" y="4714884"/>
              <a:ext cx="571504" cy="461665"/>
            </a:xfrm>
            <a:prstGeom prst="rect">
              <a:avLst/>
            </a:prstGeom>
            <a:noFill/>
          </p:spPr>
          <p:txBody>
            <a:bodyPr wrap="square" rtlCol="0">
              <a:spAutoFit/>
            </a:bodyPr>
            <a:lstStyle/>
            <a:p>
              <a:r>
                <a:rPr lang="en-US" altLang="zh-CN"/>
                <a:t>…</a:t>
              </a:r>
              <a:endParaRPr lang="zh-CN" altLang="en-US"/>
            </a:p>
          </p:txBody>
        </p:sp>
        <p:sp>
          <p:nvSpPr>
            <p:cNvPr id="25" name="TextBox 78">
              <a:extLst>
                <a:ext uri="{FF2B5EF4-FFF2-40B4-BE49-F238E27FC236}">
                  <a16:creationId xmlns:a16="http://schemas.microsoft.com/office/drawing/2014/main" id="{92ECAF30-49BD-1F5C-E6D8-8A9105C9E8AC}"/>
                </a:ext>
              </a:extLst>
            </p:cNvPr>
            <p:cNvSpPr txBox="1"/>
            <p:nvPr/>
          </p:nvSpPr>
          <p:spPr>
            <a:xfrm>
              <a:off x="6357950" y="5335636"/>
              <a:ext cx="500066" cy="369332"/>
            </a:xfrm>
            <a:prstGeom prst="rect">
              <a:avLst/>
            </a:prstGeom>
            <a:noFill/>
          </p:spPr>
          <p:txBody>
            <a:bodyPr wrap="square" rtlCol="0">
              <a:spAutoFit/>
            </a:bodyPr>
            <a:lstStyle/>
            <a:p>
              <a:r>
                <a:rPr lang="en-US" altLang="zh-CN" sz="1800">
                  <a:latin typeface="Consolas" pitchFamily="49" charset="0"/>
                  <a:cs typeface="Consolas" pitchFamily="49" charset="0"/>
                </a:rPr>
                <a:t>&lt;</a:t>
              </a:r>
              <a:r>
                <a:rPr lang="en-US" altLang="zh-CN" sz="1800" i="1">
                  <a:latin typeface="Consolas" pitchFamily="49" charset="0"/>
                  <a:cs typeface="Consolas" pitchFamily="49" charset="0"/>
                </a:rPr>
                <a:t>n</a:t>
              </a:r>
              <a:endParaRPr lang="zh-CN" altLang="en-US" sz="1800" i="1">
                <a:latin typeface="Consolas" pitchFamily="49" charset="0"/>
                <a:cs typeface="Consolas" pitchFamily="49" charset="0"/>
              </a:endParaRPr>
            </a:p>
          </p:txBody>
        </p:sp>
        <p:cxnSp>
          <p:nvCxnSpPr>
            <p:cNvPr id="26" name="直接连接符 25">
              <a:extLst>
                <a:ext uri="{FF2B5EF4-FFF2-40B4-BE49-F238E27FC236}">
                  <a16:creationId xmlns:a16="http://schemas.microsoft.com/office/drawing/2014/main" id="{26FE3EEC-A686-EF36-4648-1AE9ECD26557}"/>
                </a:ext>
              </a:extLst>
            </p:cNvPr>
            <p:cNvCxnSpPr/>
            <p:nvPr/>
          </p:nvCxnSpPr>
          <p:spPr>
            <a:xfrm flipV="1">
              <a:off x="6101240" y="5520798"/>
              <a:ext cx="285752"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47123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nodeType="clickEffect">
                                  <p:stCondLst>
                                    <p:cond delay="0"/>
                                  </p:stCondLst>
                                  <p:childTnLst>
                                    <p:animEffect transition="out" filter="wipe(down)">
                                      <p:cBhvr>
                                        <p:cTn id="15" dur="500"/>
                                        <p:tgtEl>
                                          <p:spTgt spid="21"/>
                                        </p:tgtEl>
                                      </p:cBhvr>
                                    </p:animEffect>
                                    <p:set>
                                      <p:cBhvr>
                                        <p:cTn id="16" dur="1" fill="hold">
                                          <p:stCondLst>
                                            <p:cond delay="499"/>
                                          </p:stCondLst>
                                        </p:cTn>
                                        <p:tgtEl>
                                          <p:spTgt spid="21"/>
                                        </p:tgtEl>
                                        <p:attrNameLst>
                                          <p:attrName>style.visibility</p:attrName>
                                        </p:attrNameLst>
                                      </p:cBhvr>
                                      <p:to>
                                        <p:strVal val="hidden"/>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4218-D9C3-7D2F-F415-C5A2F058EAC8}"/>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9D787675-44F5-C96A-A251-99B9FF6BDC7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0A4E29B2-EE3A-76F4-9A0A-772378E0800B}"/>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
        <p:nvSpPr>
          <p:cNvPr id="4" name="Text Box 5">
            <a:extLst>
              <a:ext uri="{FF2B5EF4-FFF2-40B4-BE49-F238E27FC236}">
                <a16:creationId xmlns:a16="http://schemas.microsoft.com/office/drawing/2014/main" id="{690C2025-AD9C-B92F-E0F6-B7F8BB22A5D3}"/>
              </a:ext>
            </a:extLst>
          </p:cNvPr>
          <p:cNvSpPr txBox="1">
            <a:spLocks noChangeArrowheads="1"/>
          </p:cNvSpPr>
          <p:nvPr/>
        </p:nvSpPr>
        <p:spPr bwMode="auto">
          <a:xfrm>
            <a:off x="2568624" y="1341264"/>
            <a:ext cx="4959357" cy="45318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a:spAutoFit/>
          </a:bodyPr>
          <a:lstStyle/>
          <a:p>
            <a:pPr marL="457200" indent="-457200" algn="just">
              <a:spcBef>
                <a:spcPct val="50000"/>
              </a:spcBef>
            </a:pPr>
            <a:r>
              <a:rPr kumimoji="1" lang="en-US" altLang="zh-CN" sz="2000">
                <a:solidFill>
                  <a:srgbClr val="FF0000"/>
                </a:solidFill>
                <a:latin typeface="Consolas" pitchFamily="49" charset="0"/>
                <a:ea typeface="华文中宋" pitchFamily="2" charset="-122"/>
                <a:cs typeface="Consolas" pitchFamily="49" charset="0"/>
                <a:sym typeface="Wingdings"/>
              </a:rPr>
              <a:t>  </a:t>
            </a:r>
            <a:r>
              <a:rPr kumimoji="1" lang="en-US" altLang="zh-CN" sz="2000">
                <a:solidFill>
                  <a:srgbClr val="FF0000"/>
                </a:solidFill>
                <a:latin typeface="Consolas" pitchFamily="49" charset="0"/>
                <a:ea typeface="华文中宋" pitchFamily="2" charset="-122"/>
                <a:cs typeface="Consolas" pitchFamily="49" charset="0"/>
              </a:rPr>
              <a:t>MergeSort()</a:t>
            </a:r>
            <a:r>
              <a:rPr kumimoji="1" lang="zh-CN" altLang="en-US" sz="2000">
                <a:solidFill>
                  <a:srgbClr val="FF0000"/>
                </a:solidFill>
                <a:latin typeface="Consolas" pitchFamily="49" charset="0"/>
                <a:ea typeface="华文中宋" pitchFamily="2" charset="-122"/>
                <a:cs typeface="Consolas" pitchFamily="49" charset="0"/>
              </a:rPr>
              <a:t>：二</a:t>
            </a:r>
            <a:r>
              <a:rPr kumimoji="1" lang="zh-CN" altLang="en-US" sz="2000" dirty="0">
                <a:solidFill>
                  <a:srgbClr val="FF0000"/>
                </a:solidFill>
                <a:latin typeface="Consolas" pitchFamily="49" charset="0"/>
                <a:ea typeface="华文中宋" pitchFamily="2" charset="-122"/>
                <a:cs typeface="Consolas" pitchFamily="49" charset="0"/>
              </a:rPr>
              <a:t>路归并排序</a:t>
            </a:r>
            <a:r>
              <a:rPr kumimoji="1" lang="zh-CN" altLang="en-US" sz="2000">
                <a:solidFill>
                  <a:srgbClr val="FF0000"/>
                </a:solidFill>
                <a:latin typeface="Consolas" pitchFamily="49" charset="0"/>
                <a:ea typeface="华文中宋" pitchFamily="2" charset="-122"/>
                <a:cs typeface="Consolas" pitchFamily="49" charset="0"/>
              </a:rPr>
              <a:t>算法</a:t>
            </a:r>
            <a:endParaRPr lang="zh-CN" altLang="en-US" sz="2000" dirty="0">
              <a:solidFill>
                <a:srgbClr val="FF0000"/>
              </a:solidFill>
              <a:latin typeface="Consolas" pitchFamily="49" charset="0"/>
              <a:ea typeface="华文中宋" pitchFamily="2" charset="-122"/>
              <a:cs typeface="Consolas" pitchFamily="49" charset="0"/>
            </a:endParaRPr>
          </a:p>
        </p:txBody>
      </p:sp>
      <p:grpSp>
        <p:nvGrpSpPr>
          <p:cNvPr id="5" name="组合 4">
            <a:extLst>
              <a:ext uri="{FF2B5EF4-FFF2-40B4-BE49-F238E27FC236}">
                <a16:creationId xmlns:a16="http://schemas.microsoft.com/office/drawing/2014/main" id="{478BDBA1-D6DF-86A0-659D-DB58BF060038}"/>
              </a:ext>
            </a:extLst>
          </p:cNvPr>
          <p:cNvGrpSpPr/>
          <p:nvPr/>
        </p:nvGrpSpPr>
        <p:grpSpPr>
          <a:xfrm>
            <a:off x="2495600" y="2204864"/>
            <a:ext cx="6032514" cy="3169689"/>
            <a:chOff x="611188" y="1700213"/>
            <a:chExt cx="6032514" cy="3169689"/>
          </a:xfrm>
          <a:scene3d>
            <a:camera prst="orthographicFront">
              <a:rot lat="0" lon="0" rev="0"/>
            </a:camera>
            <a:lightRig rig="chilly" dir="t">
              <a:rot lat="0" lon="0" rev="18480000"/>
            </a:lightRig>
          </a:scene3d>
        </p:grpSpPr>
        <p:sp>
          <p:nvSpPr>
            <p:cNvPr id="6" name="Text Box 2">
              <a:extLst>
                <a:ext uri="{FF2B5EF4-FFF2-40B4-BE49-F238E27FC236}">
                  <a16:creationId xmlns:a16="http://schemas.microsoft.com/office/drawing/2014/main" id="{784ED1CC-CEE5-DEE8-90F7-EAFB1000FFC0}"/>
                </a:ext>
              </a:extLst>
            </p:cNvPr>
            <p:cNvSpPr txBox="1">
              <a:spLocks noChangeArrowheads="1"/>
            </p:cNvSpPr>
            <p:nvPr/>
          </p:nvSpPr>
          <p:spPr bwMode="auto">
            <a:xfrm>
              <a:off x="611188" y="1700213"/>
              <a:ext cx="6032514" cy="2229805"/>
            </a:xfrm>
            <a:prstGeom prst="rect">
              <a:avLst/>
            </a:prstGeom>
            <a:solidFill>
              <a:schemeClr val="bg1">
                <a:lumMod val="95000"/>
              </a:schemeClr>
            </a:solidFill>
            <a:ln>
              <a:noFill/>
              <a:headEnd/>
              <a:tailEnd/>
            </a:ln>
            <a:effectLst/>
            <a:sp3d prstMaterial="clear">
              <a:bevelT h="63500"/>
            </a:sp3d>
          </p:spPr>
          <p:style>
            <a:lnRef idx="1">
              <a:schemeClr val="accent3"/>
            </a:lnRef>
            <a:fillRef idx="2">
              <a:schemeClr val="accent3"/>
            </a:fillRef>
            <a:effectRef idx="1">
              <a:schemeClr val="accent3"/>
            </a:effectRef>
            <a:fontRef idx="minor">
              <a:schemeClr val="dk1"/>
            </a:fontRef>
          </p:style>
          <p:txBody>
            <a:bodyPr wrap="square" lIns="180000" tIns="144000" rIns="180000" bIns="144000">
              <a:spAutoFit/>
            </a:bodyPr>
            <a:lstStyle/>
            <a:p>
              <a:pPr algn="just">
                <a:spcBef>
                  <a:spcPct val="50000"/>
                </a:spcBef>
              </a:pPr>
              <a:r>
                <a:rPr kumimoji="1" lang="en-US" altLang="zh-CN" sz="1800" dirty="0">
                  <a:solidFill>
                    <a:srgbClr val="1000E4"/>
                  </a:solidFill>
                  <a:latin typeface="Consolas" pitchFamily="49" charset="0"/>
                  <a:ea typeface="仿宋" pitchFamily="49" charset="-122"/>
                  <a:cs typeface="Consolas" pitchFamily="49" charset="0"/>
                </a:rPr>
                <a:t>void </a:t>
              </a:r>
              <a:r>
                <a:rPr kumimoji="1" lang="en-US" altLang="zh-CN" sz="1800" dirty="0" err="1">
                  <a:solidFill>
                    <a:srgbClr val="FF0000"/>
                  </a:solidFill>
                  <a:latin typeface="Consolas" pitchFamily="49" charset="0"/>
                  <a:ea typeface="仿宋" pitchFamily="49" charset="-122"/>
                  <a:cs typeface="Consolas" pitchFamily="49" charset="0"/>
                </a:rPr>
                <a:t>MergeSort</a:t>
              </a:r>
              <a:r>
                <a:rPr kumimoji="1" lang="en-US" altLang="zh-CN" sz="1800" dirty="0">
                  <a:solidFill>
                    <a:srgbClr val="1000E4"/>
                  </a:solidFill>
                  <a:latin typeface="Consolas" pitchFamily="49" charset="0"/>
                  <a:ea typeface="仿宋" pitchFamily="49" charset="-122"/>
                  <a:cs typeface="Consolas" pitchFamily="49" charset="0"/>
                </a:rPr>
                <a:t>(</a:t>
              </a:r>
              <a:r>
                <a:rPr kumimoji="1" lang="en-US" altLang="zh-CN" sz="1800" dirty="0" err="1">
                  <a:solidFill>
                    <a:srgbClr val="1000E4"/>
                  </a:solidFill>
                  <a:latin typeface="Consolas" pitchFamily="49" charset="0"/>
                  <a:ea typeface="仿宋" pitchFamily="49" charset="-122"/>
                  <a:cs typeface="Consolas" pitchFamily="49" charset="0"/>
                </a:rPr>
                <a:t>RecType</a:t>
              </a:r>
              <a:r>
                <a:rPr kumimoji="1" lang="en-US" altLang="zh-CN" sz="1800" dirty="0">
                  <a:solidFill>
                    <a:srgbClr val="1000E4"/>
                  </a:solidFill>
                  <a:latin typeface="Consolas" pitchFamily="49" charset="0"/>
                  <a:ea typeface="仿宋" pitchFamily="49" charset="-122"/>
                  <a:cs typeface="Consolas" pitchFamily="49" charset="0"/>
                </a:rPr>
                <a:t> </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int </a:t>
              </a:r>
              <a:r>
                <a:rPr kumimoji="1" lang="en-US" altLang="zh-CN" sz="1800" dirty="0">
                  <a:solidFill>
                    <a:srgbClr val="1000E4"/>
                  </a:solidFill>
                  <a:latin typeface="Consolas" pitchFamily="49" charset="0"/>
                  <a:ea typeface="仿宋" pitchFamily="49" charset="-122"/>
                  <a:cs typeface="Consolas" pitchFamily="49" charset="0"/>
                </a:rPr>
                <a:t>n)	</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int </a:t>
              </a:r>
              <a:r>
                <a:rPr kumimoji="1" lang="en-US" altLang="zh-CN" sz="1800" dirty="0">
                  <a:solidFill>
                    <a:srgbClr val="1000E4"/>
                  </a:solidFill>
                  <a:latin typeface="Consolas" pitchFamily="49" charset="0"/>
                  <a:ea typeface="仿宋" pitchFamily="49" charset="-122"/>
                  <a:cs typeface="Consolas" pitchFamily="49" charset="0"/>
                </a:rPr>
                <a:t>length;</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for </a:t>
              </a:r>
              <a:r>
                <a:rPr kumimoji="1" lang="en-US" altLang="zh-CN" sz="1800" dirty="0">
                  <a:solidFill>
                    <a:srgbClr val="1000E4"/>
                  </a:solidFill>
                  <a:latin typeface="Consolas" pitchFamily="49" charset="0"/>
                  <a:ea typeface="仿宋" pitchFamily="49" charset="-122"/>
                  <a:cs typeface="Consolas" pitchFamily="49" charset="0"/>
                </a:rPr>
                <a:t>(length=</a:t>
              </a:r>
              <a:r>
                <a:rPr kumimoji="1" lang="en-US" altLang="zh-CN" sz="1800" dirty="0" err="1">
                  <a:solidFill>
                    <a:srgbClr val="1000E4"/>
                  </a:solidFill>
                  <a:latin typeface="Consolas" pitchFamily="49" charset="0"/>
                  <a:ea typeface="仿宋" pitchFamily="49" charset="-122"/>
                  <a:cs typeface="Consolas" pitchFamily="49" charset="0"/>
                </a:rPr>
                <a:t>1;length</a:t>
              </a:r>
              <a:r>
                <a:rPr kumimoji="1" lang="en-US" altLang="zh-CN" sz="1800" dirty="0">
                  <a:solidFill>
                    <a:srgbClr val="1000E4"/>
                  </a:solidFill>
                  <a:latin typeface="Consolas" pitchFamily="49" charset="0"/>
                  <a:ea typeface="仿宋" pitchFamily="49" charset="-122"/>
                  <a:cs typeface="Consolas" pitchFamily="49" charset="0"/>
                </a:rPr>
                <a:t>&lt;</a:t>
              </a:r>
              <a:r>
                <a:rPr kumimoji="1" lang="en-US" altLang="zh-CN" sz="1800" dirty="0" err="1">
                  <a:solidFill>
                    <a:srgbClr val="1000E4"/>
                  </a:solidFill>
                  <a:latin typeface="Consolas" pitchFamily="49" charset="0"/>
                  <a:ea typeface="仿宋" pitchFamily="49" charset="-122"/>
                  <a:cs typeface="Consolas" pitchFamily="49" charset="0"/>
                </a:rPr>
                <a:t>n;length</a:t>
              </a:r>
              <a:r>
                <a:rPr kumimoji="1" lang="en-US" altLang="zh-CN" sz="1800" dirty="0">
                  <a:solidFill>
                    <a:srgbClr val="1000E4"/>
                  </a:solidFill>
                  <a:latin typeface="Consolas" pitchFamily="49" charset="0"/>
                  <a:ea typeface="仿宋" pitchFamily="49" charset="-122"/>
                  <a:cs typeface="Consolas" pitchFamily="49" charset="0"/>
                </a:rPr>
                <a:t>=2*length)</a:t>
              </a:r>
            </a:p>
            <a:p>
              <a:pPr algn="just">
                <a:spcBef>
                  <a:spcPct val="50000"/>
                </a:spcBef>
              </a:pPr>
              <a:r>
                <a:rPr kumimoji="1" lang="en-US" altLang="zh-CN" sz="1800">
                  <a:solidFill>
                    <a:srgbClr val="1000E4"/>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MergePass</a:t>
              </a:r>
              <a:r>
                <a:rPr kumimoji="1" lang="en-US" altLang="zh-CN" sz="1800">
                  <a:solidFill>
                    <a:srgbClr val="1000E4"/>
                  </a:solidFill>
                  <a:latin typeface="Consolas" pitchFamily="49" charset="0"/>
                  <a:ea typeface="仿宋" pitchFamily="49" charset="-122"/>
                  <a:cs typeface="Consolas" pitchFamily="49" charset="0"/>
                </a:rPr>
                <a:t>(R</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length</a:t>
              </a:r>
              <a:r>
                <a:rPr kumimoji="1" lang="zh-CN" altLang="en-US" sz="1800">
                  <a:solidFill>
                    <a:srgbClr val="1000E4"/>
                  </a:solidFill>
                  <a:latin typeface="Consolas" pitchFamily="49" charset="0"/>
                  <a:ea typeface="仿宋" pitchFamily="49" charset="-122"/>
                  <a:cs typeface="Consolas" pitchFamily="49" charset="0"/>
                </a:rPr>
                <a:t>，</a:t>
              </a:r>
              <a:r>
                <a:rPr kumimoji="1" lang="en-US" altLang="zh-CN" sz="1800">
                  <a:solidFill>
                    <a:srgbClr val="1000E4"/>
                  </a:solidFill>
                  <a:latin typeface="Consolas" pitchFamily="49" charset="0"/>
                  <a:ea typeface="仿宋" pitchFamily="49" charset="-122"/>
                  <a:cs typeface="Consolas" pitchFamily="49" charset="0"/>
                </a:rPr>
                <a:t>n</a:t>
              </a:r>
              <a:r>
                <a:rPr kumimoji="1" lang="en-US" altLang="zh-CN" sz="1800" dirty="0">
                  <a:solidFill>
                    <a:srgbClr val="1000E4"/>
                  </a:solidFill>
                  <a:latin typeface="Consolas" pitchFamily="49" charset="0"/>
                  <a:ea typeface="仿宋" pitchFamily="49" charset="-122"/>
                  <a:cs typeface="Consolas" pitchFamily="49" charset="0"/>
                </a:rPr>
                <a:t>);</a:t>
              </a:r>
            </a:p>
            <a:p>
              <a:pPr algn="just">
                <a:spcBef>
                  <a:spcPct val="50000"/>
                </a:spcBef>
              </a:pPr>
              <a:r>
                <a:rPr kumimoji="1" lang="en-US" altLang="zh-CN" sz="1800" dirty="0">
                  <a:solidFill>
                    <a:srgbClr val="1000E4"/>
                  </a:solidFill>
                  <a:latin typeface="Consolas" pitchFamily="49" charset="0"/>
                  <a:ea typeface="仿宋" pitchFamily="49" charset="-122"/>
                  <a:cs typeface="Consolas" pitchFamily="49" charset="0"/>
                </a:rPr>
                <a:t>}</a:t>
              </a:r>
            </a:p>
          </p:txBody>
        </p:sp>
        <p:grpSp>
          <p:nvGrpSpPr>
            <p:cNvPr id="7" name="组合 6">
              <a:extLst>
                <a:ext uri="{FF2B5EF4-FFF2-40B4-BE49-F238E27FC236}">
                  <a16:creationId xmlns:a16="http://schemas.microsoft.com/office/drawing/2014/main" id="{AFFD7D05-3CA2-4354-B16E-D4DD0C809667}"/>
                </a:ext>
              </a:extLst>
            </p:cNvPr>
            <p:cNvGrpSpPr/>
            <p:nvPr/>
          </p:nvGrpSpPr>
          <p:grpSpPr>
            <a:xfrm>
              <a:off x="1571604" y="3501232"/>
              <a:ext cx="1357322" cy="1368670"/>
              <a:chOff x="1571604" y="3501232"/>
              <a:chExt cx="1357322" cy="1368670"/>
            </a:xfrm>
          </p:grpSpPr>
          <p:cxnSp>
            <p:nvCxnSpPr>
              <p:cNvPr id="9" name="直接箭头连接符 8">
                <a:extLst>
                  <a:ext uri="{FF2B5EF4-FFF2-40B4-BE49-F238E27FC236}">
                    <a16:creationId xmlns:a16="http://schemas.microsoft.com/office/drawing/2014/main" id="{CDD015BF-FCF2-EB78-DDDF-0C591D179DD6}"/>
                  </a:ext>
                </a:extLst>
              </p:cNvPr>
              <p:cNvCxnSpPr/>
              <p:nvPr/>
            </p:nvCxnSpPr>
            <p:spPr>
              <a:xfrm rot="5400000" flipH="1" flipV="1">
                <a:off x="1607323" y="3964785"/>
                <a:ext cx="928694" cy="1588"/>
              </a:xfrm>
              <a:prstGeom prst="straightConnector1">
                <a:avLst/>
              </a:prstGeom>
              <a:ln w="28575">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5">
                <a:extLst>
                  <a:ext uri="{FF2B5EF4-FFF2-40B4-BE49-F238E27FC236}">
                    <a16:creationId xmlns:a16="http://schemas.microsoft.com/office/drawing/2014/main" id="{B90EFDF1-3837-521D-3507-29DA8328B9BF}"/>
                  </a:ext>
                </a:extLst>
              </p:cNvPr>
              <p:cNvSpPr txBox="1"/>
              <p:nvPr/>
            </p:nvSpPr>
            <p:spPr>
              <a:xfrm>
                <a:off x="1571604" y="4500570"/>
                <a:ext cx="1357322" cy="369332"/>
              </a:xfrm>
              <a:prstGeom prst="rect">
                <a:avLst/>
              </a:prstGeom>
              <a:noFill/>
            </p:spPr>
            <p:txBody>
              <a:bodyPr wrap="square" rtlCol="0">
                <a:spAutoFit/>
              </a:bodyPr>
              <a:lstStyle/>
              <a:p>
                <a:r>
                  <a:rPr lang="zh-CN" altLang="en-US" sz="1800">
                    <a:latin typeface="Consolas" pitchFamily="49" charset="0"/>
                    <a:ea typeface="楷体" pitchFamily="49" charset="-122"/>
                    <a:cs typeface="Consolas" pitchFamily="49" charset="0"/>
                    <a:sym typeface="Symbol"/>
                  </a:rPr>
                  <a:t></a:t>
                </a:r>
                <a:r>
                  <a:rPr lang="en-US" altLang="zh-CN" sz="1800">
                    <a:latin typeface="Consolas" pitchFamily="49" charset="0"/>
                    <a:ea typeface="楷体" pitchFamily="49" charset="-122"/>
                    <a:cs typeface="Consolas" pitchFamily="49" charset="0"/>
                    <a:sym typeface="Symbol"/>
                  </a:rPr>
                  <a:t>log</a:t>
                </a:r>
                <a:r>
                  <a:rPr lang="en-US" altLang="zh-CN" sz="1800" baseline="-25000">
                    <a:latin typeface="Consolas" pitchFamily="49" charset="0"/>
                    <a:ea typeface="楷体" pitchFamily="49" charset="-122"/>
                    <a:cs typeface="Consolas" pitchFamily="49" charset="0"/>
                    <a:sym typeface="Symbol"/>
                  </a:rPr>
                  <a:t>2</a:t>
                </a:r>
                <a:r>
                  <a:rPr lang="en-US" altLang="zh-CN" sz="1800" i="1">
                    <a:latin typeface="Consolas" pitchFamily="49" charset="0"/>
                    <a:ea typeface="楷体" pitchFamily="49" charset="-122"/>
                    <a:cs typeface="Consolas" pitchFamily="49" charset="0"/>
                    <a:sym typeface="Symbol"/>
                  </a:rPr>
                  <a:t>n</a:t>
                </a:r>
                <a:r>
                  <a:rPr lang="zh-CN" altLang="en-US" sz="1800">
                    <a:latin typeface="Consolas" pitchFamily="49" charset="0"/>
                    <a:ea typeface="楷体" pitchFamily="49" charset="-122"/>
                    <a:cs typeface="Consolas" pitchFamily="49" charset="0"/>
                    <a:sym typeface="Symbol"/>
                  </a:rPr>
                  <a:t>趟</a:t>
                </a:r>
                <a:endParaRPr lang="zh-CN" altLang="en-US" sz="1800">
                  <a:latin typeface="Consolas" pitchFamily="49" charset="0"/>
                  <a:ea typeface="楷体" pitchFamily="49" charset="-122"/>
                  <a:cs typeface="Consolas" pitchFamily="49" charset="0"/>
                </a:endParaRPr>
              </a:p>
            </p:txBody>
          </p:sp>
        </p:grpSp>
      </p:grpSp>
    </p:spTree>
    <p:extLst>
      <p:ext uri="{BB962C8B-B14F-4D97-AF65-F5344CB8AC3E}">
        <p14:creationId xmlns:p14="http://schemas.microsoft.com/office/powerpoint/2010/main" val="3415972442"/>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855640" y="1482066"/>
            <a:ext cx="2236510" cy="369332"/>
          </a:xfrm>
          <a:prstGeom prst="rect">
            <a:avLst/>
          </a:prstGeom>
        </p:spPr>
        <p:txBody>
          <a:bodyPr wrap="none">
            <a:spAutoFit/>
          </a:bodyPr>
          <a:lstStyle/>
          <a:p>
            <a:pPr>
              <a:lnSpc>
                <a:spcPct val="90000"/>
              </a:lnSpc>
              <a:buSzPct val="75000"/>
            </a:pPr>
            <a:r>
              <a:rPr kumimoji="1" lang="zh-CN" altLang="en-US" sz="2000" dirty="0">
                <a:latin typeface="Times New Roman" pitchFamily="18" charset="0"/>
                <a:ea typeface="微软雅黑" pitchFamily="34" charset="-122"/>
                <a:cs typeface="Times New Roman" pitchFamily="18" charset="0"/>
              </a:rPr>
              <a:t>归并排序算法分析</a:t>
            </a:r>
            <a:endParaRPr kumimoji="1" lang="en-US" altLang="zh-CN" sz="2000" dirty="0">
              <a:latin typeface="Times New Roman" pitchFamily="18" charset="0"/>
              <a:ea typeface="微软雅黑" pitchFamily="34" charset="-122"/>
              <a:cs typeface="Times New Roman" pitchFamily="18" charset="0"/>
            </a:endParaRPr>
          </a:p>
        </p:txBody>
      </p:sp>
      <p:sp>
        <p:nvSpPr>
          <p:cNvPr id="3" name="矩形 2"/>
          <p:cNvSpPr/>
          <p:nvPr/>
        </p:nvSpPr>
        <p:spPr>
          <a:xfrm>
            <a:off x="2855640" y="5474444"/>
            <a:ext cx="4801314" cy="400110"/>
          </a:xfrm>
          <a:prstGeom prst="rect">
            <a:avLst/>
          </a:prstGeom>
        </p:spPr>
        <p:txBody>
          <a:bodyPr wrap="none">
            <a:spAutoFit/>
          </a:bodyPr>
          <a:lstStyle/>
          <a:p>
            <a:pPr>
              <a:buClr>
                <a:schemeClr val="folHlink"/>
              </a:buClr>
              <a:buSzPct val="75000"/>
            </a:pPr>
            <a:r>
              <a:rPr kumimoji="1" lang="zh-CN" altLang="en-US" sz="2000" dirty="0">
                <a:latin typeface="Times New Roman" pitchFamily="18" charset="0"/>
                <a:ea typeface="微软雅黑" pitchFamily="34" charset="-122"/>
                <a:cs typeface="Times New Roman" pitchFamily="18" charset="0"/>
              </a:rPr>
              <a:t>用迭代取代递归进行归并排序效率更高。</a:t>
            </a:r>
          </a:p>
        </p:txBody>
      </p:sp>
      <p:sp>
        <p:nvSpPr>
          <p:cNvPr id="5" name="矩形 4"/>
          <p:cNvSpPr/>
          <p:nvPr/>
        </p:nvSpPr>
        <p:spPr>
          <a:xfrm>
            <a:off x="2855640" y="4898380"/>
            <a:ext cx="2236510" cy="400110"/>
          </a:xfrm>
          <a:prstGeom prst="rect">
            <a:avLst/>
          </a:prstGeom>
        </p:spPr>
        <p:txBody>
          <a:bodyPr wrap="none">
            <a:spAutoFit/>
          </a:bodyPr>
          <a:lstStyle/>
          <a:p>
            <a:pPr marL="0" lvl="1"/>
            <a:r>
              <a:rPr kumimoji="1" lang="zh-CN" altLang="en-US" sz="2000" dirty="0">
                <a:latin typeface="Times New Roman" pitchFamily="18" charset="0"/>
                <a:ea typeface="微软雅黑" pitchFamily="34" charset="-122"/>
                <a:cs typeface="Times New Roman" pitchFamily="18" charset="0"/>
              </a:rPr>
              <a:t>稳定的排序方法；</a:t>
            </a:r>
          </a:p>
        </p:txBody>
      </p:sp>
      <p:sp>
        <p:nvSpPr>
          <p:cNvPr id="9" name="矩形 8"/>
          <p:cNvSpPr/>
          <p:nvPr/>
        </p:nvSpPr>
        <p:spPr>
          <a:xfrm>
            <a:off x="2855640" y="1842106"/>
            <a:ext cx="4801314" cy="369332"/>
          </a:xfrm>
          <a:prstGeom prst="rect">
            <a:avLst/>
          </a:prstGeom>
        </p:spPr>
        <p:txBody>
          <a:bodyPr wrap="none">
            <a:spAutoFit/>
          </a:bodyPr>
          <a:lstStyle/>
          <a:p>
            <a:pPr>
              <a:lnSpc>
                <a:spcPct val="90000"/>
              </a:lnSpc>
              <a:buSzPct val="75000"/>
            </a:pPr>
            <a:r>
              <a:rPr kumimoji="1" lang="zh-CN" altLang="en-US" sz="2000" dirty="0">
                <a:latin typeface="Times New Roman" pitchFamily="18" charset="0"/>
                <a:ea typeface="微软雅黑" pitchFamily="34" charset="-122"/>
                <a:cs typeface="Times New Roman" pitchFamily="18" charset="0"/>
              </a:rPr>
              <a:t>以顺序表作为存储结构的归并排序算法。</a:t>
            </a:r>
          </a:p>
        </p:txBody>
      </p:sp>
      <p:sp>
        <p:nvSpPr>
          <p:cNvPr id="10" name="矩形 9"/>
          <p:cNvSpPr/>
          <p:nvPr/>
        </p:nvSpPr>
        <p:spPr>
          <a:xfrm>
            <a:off x="2855640" y="2346162"/>
            <a:ext cx="2834430"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时间复杂度：</a:t>
            </a:r>
            <a:r>
              <a:rPr kumimoji="1" lang="en-US" altLang="zh-CN" sz="2000" dirty="0">
                <a:latin typeface="Times New Roman" pitchFamily="18" charset="0"/>
                <a:ea typeface="微软雅黑" pitchFamily="34" charset="-122"/>
                <a:cs typeface="Times New Roman" pitchFamily="18" charset="0"/>
              </a:rPr>
              <a:t>O(</a:t>
            </a:r>
            <a:r>
              <a:rPr kumimoji="1" lang="en-US" altLang="zh-CN" sz="2000" dirty="0" err="1">
                <a:latin typeface="Times New Roman" pitchFamily="18" charset="0"/>
                <a:ea typeface="微软雅黑" pitchFamily="34" charset="-122"/>
                <a:cs typeface="Times New Roman" pitchFamily="18" charset="0"/>
              </a:rPr>
              <a:t>nlogn</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2" name="矩形 11"/>
          <p:cNvSpPr/>
          <p:nvPr/>
        </p:nvSpPr>
        <p:spPr>
          <a:xfrm>
            <a:off x="3426947" y="2778211"/>
            <a:ext cx="6966520" cy="646331"/>
          </a:xfrm>
          <a:prstGeom prst="rect">
            <a:avLst/>
          </a:prstGeom>
        </p:spPr>
        <p:txBody>
          <a:bodyPr wrap="square">
            <a:spAutoFit/>
          </a:bodyPr>
          <a:lstStyle/>
          <a:p>
            <a:r>
              <a:rPr kumimoji="1" lang="zh-CN" altLang="en-US" dirty="0">
                <a:latin typeface="Times New Roman" pitchFamily="18" charset="0"/>
                <a:ea typeface="微软雅黑" pitchFamily="34" charset="-122"/>
                <a:cs typeface="Times New Roman" pitchFamily="18" charset="0"/>
              </a:rPr>
              <a:t>对于一个具有</a:t>
            </a:r>
            <a:r>
              <a:rPr kumimoji="1" lang="en-US" altLang="zh-CN" dirty="0">
                <a:latin typeface="Times New Roman" pitchFamily="18" charset="0"/>
                <a:ea typeface="微软雅黑" pitchFamily="34" charset="-122"/>
                <a:cs typeface="Times New Roman" pitchFamily="18" charset="0"/>
              </a:rPr>
              <a:t>n</a:t>
            </a:r>
            <a:r>
              <a:rPr kumimoji="1" lang="zh-CN" altLang="en-US" dirty="0">
                <a:latin typeface="Times New Roman" pitchFamily="18" charset="0"/>
                <a:ea typeface="微软雅黑" pitchFamily="34" charset="-122"/>
                <a:cs typeface="Times New Roman" pitchFamily="18" charset="0"/>
              </a:rPr>
              <a:t>个元素的序列，元素的移动次数可以使用下面的递归公式计算：</a:t>
            </a:r>
            <a:endParaRPr lang="zh-CN" altLang="en-US" dirty="0"/>
          </a:p>
        </p:txBody>
      </p:sp>
      <p:sp>
        <p:nvSpPr>
          <p:cNvPr id="14" name="矩形 13"/>
          <p:cNvSpPr/>
          <p:nvPr/>
        </p:nvSpPr>
        <p:spPr>
          <a:xfrm>
            <a:off x="2855641" y="4106292"/>
            <a:ext cx="2379177"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空间复杂度：</a:t>
            </a:r>
            <a:r>
              <a:rPr kumimoji="1" lang="en-US" altLang="zh-CN" sz="2000" dirty="0">
                <a:latin typeface="Times New Roman" pitchFamily="18" charset="0"/>
                <a:ea typeface="微软雅黑" pitchFamily="34" charset="-122"/>
                <a:cs typeface="Times New Roman" pitchFamily="18" charset="0"/>
              </a:rPr>
              <a:t>O(n</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5" name="矩形 14"/>
          <p:cNvSpPr/>
          <p:nvPr/>
        </p:nvSpPr>
        <p:spPr>
          <a:xfrm>
            <a:off x="3426948" y="4475624"/>
            <a:ext cx="3031599" cy="400110"/>
          </a:xfrm>
          <a:prstGeom prst="rect">
            <a:avLst/>
          </a:prstGeom>
        </p:spPr>
        <p:txBody>
          <a:bodyPr wrap="none">
            <a:spAutoFit/>
          </a:bodyPr>
          <a:lstStyle/>
          <a:p>
            <a:pPr marL="0" lvl="2"/>
            <a:r>
              <a:rPr kumimoji="1" lang="zh-CN" altLang="en-US" dirty="0">
                <a:latin typeface="Times New Roman" pitchFamily="18" charset="0"/>
                <a:ea typeface="微软雅黑" pitchFamily="34" charset="-122"/>
                <a:cs typeface="Times New Roman" pitchFamily="18" charset="0"/>
              </a:rPr>
              <a:t>这是归并排序的严重</a:t>
            </a:r>
            <a:r>
              <a:rPr kumimoji="1" lang="zh-CN" altLang="en-US" sz="2000" dirty="0">
                <a:latin typeface="Times New Roman" pitchFamily="18" charset="0"/>
                <a:ea typeface="微软雅黑" pitchFamily="34" charset="-122"/>
                <a:cs typeface="Times New Roman" pitchFamily="18" charset="0"/>
              </a:rPr>
              <a:t>缺点；</a:t>
            </a:r>
          </a:p>
        </p:txBody>
      </p:sp>
      <p:sp>
        <p:nvSpPr>
          <p:cNvPr id="17" name="矩形 16"/>
          <p:cNvSpPr/>
          <p:nvPr/>
        </p:nvSpPr>
        <p:spPr>
          <a:xfrm>
            <a:off x="4651084" y="3322916"/>
            <a:ext cx="1019831" cy="369332"/>
          </a:xfrm>
          <a:prstGeom prst="rect">
            <a:avLst/>
          </a:prstGeom>
        </p:spPr>
        <p:txBody>
          <a:bodyPr wrap="none">
            <a:spAutoFit/>
          </a:bodyPr>
          <a:lstStyle/>
          <a:p>
            <a:r>
              <a:rPr kumimoji="1" lang="en-US" altLang="zh-CN" dirty="0">
                <a:latin typeface="Times New Roman" pitchFamily="18" charset="0"/>
                <a:ea typeface="微软雅黑" pitchFamily="34" charset="-122"/>
                <a:cs typeface="Times New Roman" pitchFamily="18" charset="0"/>
              </a:rPr>
              <a:t>M(1) =0 </a:t>
            </a:r>
            <a:endParaRPr lang="zh-CN" altLang="en-US" dirty="0"/>
          </a:p>
        </p:txBody>
      </p:sp>
      <p:sp>
        <p:nvSpPr>
          <p:cNvPr id="18" name="矩形 17"/>
          <p:cNvSpPr/>
          <p:nvPr/>
        </p:nvSpPr>
        <p:spPr>
          <a:xfrm>
            <a:off x="4651084" y="3692248"/>
            <a:ext cx="2092239" cy="369332"/>
          </a:xfrm>
          <a:prstGeom prst="rect">
            <a:avLst/>
          </a:prstGeom>
        </p:spPr>
        <p:txBody>
          <a:bodyPr wrap="none">
            <a:spAutoFit/>
          </a:bodyPr>
          <a:lstStyle/>
          <a:p>
            <a:r>
              <a:rPr kumimoji="1" lang="en-US" altLang="zh-CN" dirty="0">
                <a:latin typeface="Times New Roman" pitchFamily="18" charset="0"/>
                <a:ea typeface="微软雅黑" pitchFamily="34" charset="-122"/>
                <a:cs typeface="Times New Roman" pitchFamily="18" charset="0"/>
              </a:rPr>
              <a:t>M(n) = 2M(n/2) +2n</a:t>
            </a:r>
            <a:endParaRPr lang="zh-CN" altLang="en-US" dirty="0"/>
          </a:p>
        </p:txBody>
      </p:sp>
      <p:cxnSp>
        <p:nvCxnSpPr>
          <p:cNvPr id="2" name="直接连接符 1">
            <a:extLst>
              <a:ext uri="{FF2B5EF4-FFF2-40B4-BE49-F238E27FC236}">
                <a16:creationId xmlns:a16="http://schemas.microsoft.com/office/drawing/2014/main" id="{7D0F8D53-3515-C193-BB88-9C9A795C0018}"/>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C592B791-8BF0-08D8-B1E9-46A6883AABB7}"/>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10.5 </a:t>
            </a:r>
            <a:r>
              <a:rPr lang="zh-CN" altLang="en-US" sz="3000" b="1" dirty="0">
                <a:latin typeface="黑体" pitchFamily="49" charset="-122"/>
                <a:ea typeface="黑体" pitchFamily="49" charset="-122"/>
                <a:cs typeface="经典粗黑简" pitchFamily="49" charset="-122"/>
              </a:rPr>
              <a:t>归并排序</a:t>
            </a:r>
          </a:p>
        </p:txBody>
      </p:sp>
    </p:spTree>
    <p:extLst>
      <p:ext uri="{BB962C8B-B14F-4D97-AF65-F5344CB8AC3E}">
        <p14:creationId xmlns:p14="http://schemas.microsoft.com/office/powerpoint/2010/main" val="19083397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9" grpId="0"/>
      <p:bldP spid="10" grpId="0"/>
      <p:bldP spid="12" grpId="0"/>
      <p:bldP spid="14" grpId="0"/>
      <p:bldP spid="15" grpId="0"/>
      <p:bldP spid="17" grpId="0"/>
      <p:bldP spid="1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95600" y="1962807"/>
            <a:ext cx="3494867" cy="400110"/>
          </a:xfrm>
          <a:prstGeom prst="rect">
            <a:avLst/>
          </a:prstGeom>
        </p:spPr>
        <p:txBody>
          <a:bodyPr wrap="none">
            <a:spAutoFit/>
          </a:bodyPr>
          <a:lstStyle/>
          <a:p>
            <a:r>
              <a:rPr kumimoji="1" lang="en-US" altLang="zh-CN" sz="2000" dirty="0">
                <a:latin typeface="Calibri"/>
                <a:ea typeface="微软雅黑" pitchFamily="34" charset="-122"/>
                <a:cs typeface="Calibri"/>
              </a:rPr>
              <a:t>①</a:t>
            </a:r>
            <a:r>
              <a:rPr kumimoji="1" lang="zh-CN" altLang="en-US" sz="2000" dirty="0">
                <a:latin typeface="Times New Roman" pitchFamily="18" charset="0"/>
                <a:ea typeface="微软雅黑" pitchFamily="34" charset="-122"/>
                <a:cs typeface="Times New Roman" pitchFamily="18" charset="0"/>
              </a:rPr>
              <a:t>、</a:t>
            </a:r>
            <a:r>
              <a:rPr kumimoji="1" lang="zh-CN" altLang="en-US" sz="2000" dirty="0">
                <a:solidFill>
                  <a:srgbClr val="FF0000"/>
                </a:solidFill>
                <a:latin typeface="Times New Roman" pitchFamily="18" charset="0"/>
                <a:ea typeface="微软雅黑" pitchFamily="34" charset="-122"/>
                <a:cs typeface="Times New Roman" pitchFamily="18" charset="0"/>
              </a:rPr>
              <a:t>基数排序</a:t>
            </a:r>
            <a:r>
              <a:rPr kumimoji="1" lang="en-US" altLang="zh-CN" sz="2000" dirty="0">
                <a:latin typeface="Times New Roman" pitchFamily="18" charset="0"/>
                <a:ea typeface="微软雅黑" pitchFamily="34" charset="-122"/>
                <a:cs typeface="Times New Roman" pitchFamily="18" charset="0"/>
              </a:rPr>
              <a:t>(Radix Sorting</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6" name="矩形 5"/>
          <p:cNvSpPr/>
          <p:nvPr/>
        </p:nvSpPr>
        <p:spPr>
          <a:xfrm>
            <a:off x="2789461" y="2332140"/>
            <a:ext cx="7378450" cy="707886"/>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基数排序是一种借助多关键字排序的思想对单逻辑关键字进行排序的方法，不需要进行记录关键字间的比较。</a:t>
            </a:r>
            <a:endParaRPr lang="zh-CN" altLang="en-US" sz="2000" dirty="0"/>
          </a:p>
        </p:txBody>
      </p:sp>
      <p:sp>
        <p:nvSpPr>
          <p:cNvPr id="8" name="矩形 7"/>
          <p:cNvSpPr/>
          <p:nvPr/>
        </p:nvSpPr>
        <p:spPr>
          <a:xfrm>
            <a:off x="3337263" y="3044650"/>
            <a:ext cx="4544834" cy="400110"/>
          </a:xfrm>
          <a:prstGeom prst="rect">
            <a:avLst/>
          </a:prstGeom>
        </p:spPr>
        <p:txBody>
          <a:bodyPr wrap="none">
            <a:spAutoFit/>
          </a:bodyPr>
          <a:lstStyle/>
          <a:p>
            <a:pPr marL="0" lvl="1"/>
            <a:r>
              <a:rPr kumimoji="1" lang="zh-CN" altLang="en-US" sz="2000" dirty="0">
                <a:latin typeface="Times New Roman" pitchFamily="18" charset="0"/>
                <a:ea typeface="微软雅黑" pitchFamily="34" charset="-122"/>
                <a:cs typeface="Times New Roman" pitchFamily="18" charset="0"/>
              </a:rPr>
              <a:t>例如：整理扑克牌、图书馆卡片的排序</a:t>
            </a:r>
          </a:p>
        </p:txBody>
      </p:sp>
      <p:sp>
        <p:nvSpPr>
          <p:cNvPr id="9" name="矩形 8"/>
          <p:cNvSpPr/>
          <p:nvPr/>
        </p:nvSpPr>
        <p:spPr>
          <a:xfrm>
            <a:off x="2495599" y="3546983"/>
            <a:ext cx="2553562" cy="400110"/>
          </a:xfrm>
          <a:prstGeom prst="rect">
            <a:avLst/>
          </a:prstGeom>
        </p:spPr>
        <p:txBody>
          <a:bodyPr wrap="square">
            <a:spAutoFit/>
          </a:bodyPr>
          <a:lstStyle/>
          <a:p>
            <a:r>
              <a:rPr kumimoji="1" lang="en-US" altLang="zh-CN" sz="2000" dirty="0">
                <a:latin typeface="Times New Roman" pitchFamily="18" charset="0"/>
                <a:ea typeface="微软雅黑" pitchFamily="34" charset="-122"/>
                <a:cs typeface="Times New Roman" pitchFamily="18" charset="0"/>
              </a:rPr>
              <a:t>②</a:t>
            </a:r>
            <a:r>
              <a:rPr kumimoji="1" lang="zh-CN" altLang="en-US" sz="2000" dirty="0">
                <a:latin typeface="Times New Roman" pitchFamily="18" charset="0"/>
                <a:ea typeface="微软雅黑" pitchFamily="34" charset="-122"/>
                <a:cs typeface="Times New Roman" pitchFamily="18" charset="0"/>
              </a:rPr>
              <a:t>、</a:t>
            </a:r>
            <a:r>
              <a:rPr kumimoji="1" lang="zh-CN" altLang="en-US" sz="2000" dirty="0">
                <a:solidFill>
                  <a:srgbClr val="FF0000"/>
                </a:solidFill>
                <a:latin typeface="Times New Roman" pitchFamily="18" charset="0"/>
                <a:ea typeface="微软雅黑" pitchFamily="34" charset="-122"/>
                <a:cs typeface="Times New Roman" pitchFamily="18" charset="0"/>
              </a:rPr>
              <a:t>多关键字排序</a:t>
            </a:r>
            <a:endParaRPr lang="zh-CN" altLang="en-US" sz="2000" dirty="0">
              <a:solidFill>
                <a:srgbClr val="FF0000"/>
              </a:solidFill>
            </a:endParaRPr>
          </a:p>
        </p:txBody>
      </p:sp>
      <p:sp>
        <p:nvSpPr>
          <p:cNvPr id="10" name="矩形 9"/>
          <p:cNvSpPr/>
          <p:nvPr/>
        </p:nvSpPr>
        <p:spPr>
          <a:xfrm>
            <a:off x="3815704" y="4969420"/>
            <a:ext cx="4371710"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 </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&lt; (K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baseline="-25000" dirty="0">
                <a:latin typeface="Times New Roman" pitchFamily="18" charset="0"/>
                <a:ea typeface="微软雅黑" pitchFamily="34" charset="-122"/>
                <a:cs typeface="Times New Roman" pitchFamily="18" charset="0"/>
              </a:rPr>
              <a:t>j</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j</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j</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2" name="矩形 11"/>
          <p:cNvSpPr/>
          <p:nvPr/>
        </p:nvSpPr>
        <p:spPr>
          <a:xfrm>
            <a:off x="3193246" y="5370646"/>
            <a:ext cx="5760640" cy="400110"/>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其中</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zh-CN" altLang="en-US" sz="2000" dirty="0">
                <a:latin typeface="Times New Roman" pitchFamily="18" charset="0"/>
                <a:ea typeface="微软雅黑" pitchFamily="34" charset="-122"/>
                <a:cs typeface="Times New Roman" pitchFamily="18" charset="0"/>
              </a:rPr>
              <a:t>称为</a:t>
            </a:r>
            <a:r>
              <a:rPr kumimoji="1" lang="zh-CN" altLang="en-US" sz="2000" dirty="0">
                <a:solidFill>
                  <a:srgbClr val="FF0000"/>
                </a:solidFill>
                <a:latin typeface="Times New Roman" pitchFamily="18" charset="0"/>
                <a:ea typeface="微软雅黑" pitchFamily="34" charset="-122"/>
                <a:cs typeface="Times New Roman" pitchFamily="18" charset="0"/>
              </a:rPr>
              <a:t>最主位关键字</a:t>
            </a:r>
            <a:r>
              <a:rPr kumimoji="1" lang="zh-CN" altLang="en-US" sz="2000" dirty="0">
                <a:latin typeface="Times New Roman" pitchFamily="18" charset="0"/>
                <a:ea typeface="微软雅黑" pitchFamily="34" charset="-122"/>
                <a:cs typeface="Times New Roman" pitchFamily="18" charset="0"/>
              </a:rPr>
              <a:t>，</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d-1</a:t>
            </a:r>
            <a:r>
              <a:rPr kumimoji="1" lang="zh-CN" altLang="en-US" sz="2000" dirty="0">
                <a:latin typeface="Times New Roman" pitchFamily="18" charset="0"/>
                <a:ea typeface="微软雅黑" pitchFamily="34" charset="-122"/>
                <a:cs typeface="Times New Roman" pitchFamily="18" charset="0"/>
              </a:rPr>
              <a:t>称为</a:t>
            </a:r>
            <a:r>
              <a:rPr kumimoji="1" lang="zh-CN" altLang="en-US" sz="2000" dirty="0">
                <a:solidFill>
                  <a:srgbClr val="FF0000"/>
                </a:solidFill>
                <a:latin typeface="Times New Roman" pitchFamily="18" charset="0"/>
                <a:ea typeface="微软雅黑" pitchFamily="34" charset="-122"/>
                <a:cs typeface="Times New Roman" pitchFamily="18" charset="0"/>
              </a:rPr>
              <a:t>最次位关键字</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3" name="矩形 12"/>
          <p:cNvSpPr/>
          <p:nvPr/>
        </p:nvSpPr>
        <p:spPr>
          <a:xfrm>
            <a:off x="2617182" y="3947567"/>
            <a:ext cx="7583273" cy="1015663"/>
          </a:xfrm>
          <a:prstGeom prst="rect">
            <a:avLst/>
          </a:prstGeom>
        </p:spPr>
        <p:txBody>
          <a:bodyPr wrap="square">
            <a:spAutoFit/>
          </a:bodyPr>
          <a:lstStyle/>
          <a:p>
            <a:r>
              <a:rPr kumimoji="1" lang="en-US" altLang="zh-CN" sz="2000" dirty="0">
                <a:latin typeface="Times New Roman" pitchFamily="18" charset="0"/>
                <a:ea typeface="微软雅黑" pitchFamily="34" charset="-122"/>
                <a:cs typeface="Times New Roman" pitchFamily="18" charset="0"/>
              </a:rPr>
              <a:t>      n</a:t>
            </a:r>
            <a:r>
              <a:rPr kumimoji="1" lang="zh-CN" altLang="en-US" sz="2000" dirty="0">
                <a:latin typeface="Times New Roman" pitchFamily="18" charset="0"/>
                <a:ea typeface="微软雅黑" pitchFamily="34" charset="-122"/>
                <a:cs typeface="Times New Roman" pitchFamily="18" charset="0"/>
              </a:rPr>
              <a:t>个元素的序列</a:t>
            </a:r>
            <a:r>
              <a:rPr kumimoji="1" lang="en-US" altLang="zh-CN" sz="2000" dirty="0">
                <a:latin typeface="Times New Roman" pitchFamily="18" charset="0"/>
                <a:ea typeface="微软雅黑" pitchFamily="34" charset="-122"/>
                <a:cs typeface="Times New Roman" pitchFamily="18" charset="0"/>
              </a:rPr>
              <a:t>{R</a:t>
            </a:r>
            <a:r>
              <a:rPr kumimoji="1" lang="en-US" altLang="zh-CN" sz="2000" baseline="-25000" dirty="0">
                <a:latin typeface="Times New Roman" pitchFamily="18" charset="0"/>
                <a:ea typeface="微软雅黑" pitchFamily="34" charset="-122"/>
                <a:cs typeface="Times New Roman" pitchFamily="18" charset="0"/>
              </a:rPr>
              <a:t>1</a:t>
            </a:r>
            <a:r>
              <a:rPr kumimoji="1" lang="en-US" altLang="zh-CN" sz="2000" dirty="0">
                <a:latin typeface="Times New Roman" pitchFamily="18" charset="0"/>
                <a:ea typeface="微软雅黑" pitchFamily="34" charset="-122"/>
                <a:cs typeface="Times New Roman" pitchFamily="18" charset="0"/>
              </a:rPr>
              <a:t>,R</a:t>
            </a:r>
            <a:r>
              <a:rPr kumimoji="1" lang="en-US" altLang="zh-CN" sz="2000" baseline="-25000" dirty="0">
                <a:latin typeface="Times New Roman" pitchFamily="18" charset="0"/>
                <a:ea typeface="微软雅黑" pitchFamily="34" charset="-122"/>
                <a:cs typeface="Times New Roman" pitchFamily="18" charset="0"/>
              </a:rPr>
              <a:t>2</a:t>
            </a:r>
            <a:r>
              <a:rPr kumimoji="1" lang="en-US" altLang="zh-CN" sz="2000" dirty="0">
                <a:latin typeface="Times New Roman" pitchFamily="18" charset="0"/>
                <a:ea typeface="微软雅黑" pitchFamily="34" charset="-122"/>
                <a:cs typeface="Times New Roman" pitchFamily="18" charset="0"/>
              </a:rPr>
              <a:t>,..., </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n</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，每个元素</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i</a:t>
            </a:r>
            <a:r>
              <a:rPr kumimoji="1" lang="zh-CN" altLang="en-US" sz="2000" dirty="0">
                <a:latin typeface="Times New Roman" pitchFamily="18" charset="0"/>
                <a:ea typeface="微软雅黑" pitchFamily="34" charset="-122"/>
                <a:cs typeface="Times New Roman" pitchFamily="18" charset="0"/>
              </a:rPr>
              <a:t>有</a:t>
            </a:r>
            <a:r>
              <a:rPr kumimoji="1" lang="en-US" altLang="zh-CN" sz="2000" dirty="0">
                <a:latin typeface="Times New Roman" pitchFamily="18" charset="0"/>
                <a:ea typeface="微软雅黑" pitchFamily="34" charset="-122"/>
                <a:cs typeface="Times New Roman" pitchFamily="18" charset="0"/>
              </a:rPr>
              <a:t>d</a:t>
            </a:r>
            <a:r>
              <a:rPr kumimoji="1" lang="zh-CN" altLang="en-US" sz="2000" dirty="0">
                <a:latin typeface="Times New Roman" pitchFamily="18" charset="0"/>
                <a:ea typeface="微软雅黑" pitchFamily="34" charset="-122"/>
                <a:cs typeface="Times New Roman" pitchFamily="18" charset="0"/>
              </a:rPr>
              <a:t>个关键字</a:t>
            </a:r>
            <a:r>
              <a:rPr kumimoji="1" lang="en-US" altLang="zh-CN" sz="2000" dirty="0">
                <a:latin typeface="Times New Roman" pitchFamily="18" charset="0"/>
                <a:ea typeface="微软雅黑" pitchFamily="34" charset="-122"/>
                <a:cs typeface="Times New Roman" pitchFamily="18" charset="0"/>
              </a:rPr>
              <a:t>(K0</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，则序列对关键字</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有序是指：对于序列中任意两个记录</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i</a:t>
            </a:r>
            <a:r>
              <a:rPr kumimoji="1" lang="zh-CN" altLang="en-US" sz="2000" dirty="0">
                <a:latin typeface="Times New Roman" pitchFamily="18" charset="0"/>
                <a:ea typeface="微软雅黑" pitchFamily="34" charset="-122"/>
                <a:cs typeface="Times New Roman" pitchFamily="18" charset="0"/>
              </a:rPr>
              <a:t>和</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j</a:t>
            </a:r>
            <a:r>
              <a:rPr kumimoji="1" lang="zh-CN" altLang="en-US" sz="2000" dirty="0">
                <a:latin typeface="Times New Roman" pitchFamily="18" charset="0"/>
                <a:ea typeface="微软雅黑" pitchFamily="34" charset="-122"/>
                <a:cs typeface="Times New Roman" pitchFamily="18" charset="0"/>
              </a:rPr>
              <a:t>记都满足下列有序关系：</a:t>
            </a:r>
            <a:endParaRPr lang="zh-CN" altLang="en-US" sz="2000" dirty="0"/>
          </a:p>
        </p:txBody>
      </p:sp>
      <p:sp>
        <p:nvSpPr>
          <p:cNvPr id="2" name="矩形 1">
            <a:extLst>
              <a:ext uri="{FF2B5EF4-FFF2-40B4-BE49-F238E27FC236}">
                <a16:creationId xmlns:a16="http://schemas.microsoft.com/office/drawing/2014/main" id="{B2623374-95E3-BC1A-AF4A-94FDB5F5E4D2}"/>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10.6.1 </a:t>
            </a:r>
            <a:r>
              <a:rPr lang="zh-CN" altLang="en-US" sz="2800" b="1" dirty="0">
                <a:solidFill>
                  <a:schemeClr val="bg1"/>
                </a:solidFill>
                <a:latin typeface="经典粗黑简" pitchFamily="49" charset="-122"/>
                <a:ea typeface="经典粗黑简" pitchFamily="49" charset="-122"/>
                <a:cs typeface="经典粗黑简" pitchFamily="49" charset="-122"/>
              </a:rPr>
              <a:t>基数排序的概念</a:t>
            </a:r>
          </a:p>
        </p:txBody>
      </p:sp>
      <p:cxnSp>
        <p:nvCxnSpPr>
          <p:cNvPr id="4" name="直接连接符 3">
            <a:extLst>
              <a:ext uri="{FF2B5EF4-FFF2-40B4-BE49-F238E27FC236}">
                <a16:creationId xmlns:a16="http://schemas.microsoft.com/office/drawing/2014/main" id="{C76D6B2B-73FB-D8F1-F694-28D48930B743}"/>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6509541B-5B71-F686-9185-E347A2D2AE13}"/>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Tree>
    <p:extLst>
      <p:ext uri="{BB962C8B-B14F-4D97-AF65-F5344CB8AC3E}">
        <p14:creationId xmlns:p14="http://schemas.microsoft.com/office/powerpoint/2010/main" val="27931024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9" grpId="0"/>
      <p:bldP spid="10" grpId="0"/>
      <p:bldP spid="12" grpId="0"/>
      <p:bldP spid="1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C6905-D7B6-182E-A185-31837B391F79}"/>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8279C40C-2F85-D58D-D6E6-41544BFA52DD}"/>
              </a:ext>
            </a:extLst>
          </p:cNvPr>
          <p:cNvSpPr/>
          <p:nvPr/>
        </p:nvSpPr>
        <p:spPr>
          <a:xfrm>
            <a:off x="2495600" y="1962807"/>
            <a:ext cx="3494867" cy="400110"/>
          </a:xfrm>
          <a:prstGeom prst="rect">
            <a:avLst/>
          </a:prstGeom>
        </p:spPr>
        <p:txBody>
          <a:bodyPr wrap="none">
            <a:spAutoFit/>
          </a:bodyPr>
          <a:lstStyle/>
          <a:p>
            <a:r>
              <a:rPr kumimoji="1" lang="en-US" altLang="zh-CN" sz="2000" dirty="0">
                <a:latin typeface="Calibri"/>
                <a:ea typeface="微软雅黑" pitchFamily="34" charset="-122"/>
                <a:cs typeface="Calibri"/>
              </a:rPr>
              <a:t>①</a:t>
            </a:r>
            <a:r>
              <a:rPr kumimoji="1" lang="zh-CN" altLang="en-US" sz="2000" dirty="0">
                <a:latin typeface="Times New Roman" pitchFamily="18" charset="0"/>
                <a:ea typeface="微软雅黑" pitchFamily="34" charset="-122"/>
                <a:cs typeface="Times New Roman" pitchFamily="18" charset="0"/>
              </a:rPr>
              <a:t>、</a:t>
            </a:r>
            <a:r>
              <a:rPr kumimoji="1" lang="zh-CN" altLang="en-US" sz="2000" dirty="0">
                <a:solidFill>
                  <a:srgbClr val="FF0000"/>
                </a:solidFill>
                <a:latin typeface="Times New Roman" pitchFamily="18" charset="0"/>
                <a:ea typeface="微软雅黑" pitchFamily="34" charset="-122"/>
                <a:cs typeface="Times New Roman" pitchFamily="18" charset="0"/>
              </a:rPr>
              <a:t>基数排序</a:t>
            </a:r>
            <a:r>
              <a:rPr kumimoji="1" lang="en-US" altLang="zh-CN" sz="2000" dirty="0">
                <a:latin typeface="Times New Roman" pitchFamily="18" charset="0"/>
                <a:ea typeface="微软雅黑" pitchFamily="34" charset="-122"/>
                <a:cs typeface="Times New Roman" pitchFamily="18" charset="0"/>
              </a:rPr>
              <a:t>(Radix Sorting</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6" name="矩形 5">
            <a:extLst>
              <a:ext uri="{FF2B5EF4-FFF2-40B4-BE49-F238E27FC236}">
                <a16:creationId xmlns:a16="http://schemas.microsoft.com/office/drawing/2014/main" id="{8A9116C5-477E-8127-DE25-373EF0E71168}"/>
              </a:ext>
            </a:extLst>
          </p:cNvPr>
          <p:cNvSpPr/>
          <p:nvPr/>
        </p:nvSpPr>
        <p:spPr>
          <a:xfrm>
            <a:off x="2789461" y="2332140"/>
            <a:ext cx="7378450" cy="707886"/>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基数排序是一种借助多关键字排序的思想对单逻辑关键字进行排序的方法，不需要进行记录关键字间的比较。</a:t>
            </a:r>
            <a:endParaRPr lang="zh-CN" altLang="en-US" sz="2000" dirty="0"/>
          </a:p>
        </p:txBody>
      </p:sp>
      <p:sp>
        <p:nvSpPr>
          <p:cNvPr id="8" name="矩形 7">
            <a:extLst>
              <a:ext uri="{FF2B5EF4-FFF2-40B4-BE49-F238E27FC236}">
                <a16:creationId xmlns:a16="http://schemas.microsoft.com/office/drawing/2014/main" id="{EC46CB73-7A67-9569-2CFE-5D812530C87A}"/>
              </a:ext>
            </a:extLst>
          </p:cNvPr>
          <p:cNvSpPr/>
          <p:nvPr/>
        </p:nvSpPr>
        <p:spPr>
          <a:xfrm>
            <a:off x="3337263" y="3044650"/>
            <a:ext cx="4544834" cy="400110"/>
          </a:xfrm>
          <a:prstGeom prst="rect">
            <a:avLst/>
          </a:prstGeom>
        </p:spPr>
        <p:txBody>
          <a:bodyPr wrap="none">
            <a:spAutoFit/>
          </a:bodyPr>
          <a:lstStyle/>
          <a:p>
            <a:pPr marL="0" lvl="1"/>
            <a:r>
              <a:rPr kumimoji="1" lang="zh-CN" altLang="en-US" sz="2000" dirty="0">
                <a:latin typeface="Times New Roman" pitchFamily="18" charset="0"/>
                <a:ea typeface="微软雅黑" pitchFamily="34" charset="-122"/>
                <a:cs typeface="Times New Roman" pitchFamily="18" charset="0"/>
              </a:rPr>
              <a:t>例如：整理扑克牌、图书馆卡片的排序</a:t>
            </a:r>
          </a:p>
        </p:txBody>
      </p:sp>
      <p:sp>
        <p:nvSpPr>
          <p:cNvPr id="9" name="矩形 8">
            <a:extLst>
              <a:ext uri="{FF2B5EF4-FFF2-40B4-BE49-F238E27FC236}">
                <a16:creationId xmlns:a16="http://schemas.microsoft.com/office/drawing/2014/main" id="{4F526572-E072-B9FE-A25A-555704F59206}"/>
              </a:ext>
            </a:extLst>
          </p:cNvPr>
          <p:cNvSpPr/>
          <p:nvPr/>
        </p:nvSpPr>
        <p:spPr>
          <a:xfrm>
            <a:off x="2495599" y="3546983"/>
            <a:ext cx="2553562" cy="400110"/>
          </a:xfrm>
          <a:prstGeom prst="rect">
            <a:avLst/>
          </a:prstGeom>
        </p:spPr>
        <p:txBody>
          <a:bodyPr wrap="square">
            <a:spAutoFit/>
          </a:bodyPr>
          <a:lstStyle/>
          <a:p>
            <a:r>
              <a:rPr kumimoji="1" lang="en-US" altLang="zh-CN" sz="2000" dirty="0">
                <a:latin typeface="Times New Roman" pitchFamily="18" charset="0"/>
                <a:ea typeface="微软雅黑" pitchFamily="34" charset="-122"/>
                <a:cs typeface="Times New Roman" pitchFamily="18" charset="0"/>
              </a:rPr>
              <a:t>②</a:t>
            </a:r>
            <a:r>
              <a:rPr kumimoji="1" lang="zh-CN" altLang="en-US" sz="2000" dirty="0">
                <a:latin typeface="Times New Roman" pitchFamily="18" charset="0"/>
                <a:ea typeface="微软雅黑" pitchFamily="34" charset="-122"/>
                <a:cs typeface="Times New Roman" pitchFamily="18" charset="0"/>
              </a:rPr>
              <a:t>、</a:t>
            </a:r>
            <a:r>
              <a:rPr kumimoji="1" lang="zh-CN" altLang="en-US" sz="2000" dirty="0">
                <a:solidFill>
                  <a:srgbClr val="FF0000"/>
                </a:solidFill>
                <a:latin typeface="Times New Roman" pitchFamily="18" charset="0"/>
                <a:ea typeface="微软雅黑" pitchFamily="34" charset="-122"/>
                <a:cs typeface="Times New Roman" pitchFamily="18" charset="0"/>
              </a:rPr>
              <a:t>多关键字排序</a:t>
            </a:r>
            <a:endParaRPr lang="zh-CN" altLang="en-US" sz="2000" dirty="0">
              <a:solidFill>
                <a:srgbClr val="FF0000"/>
              </a:solidFill>
            </a:endParaRPr>
          </a:p>
        </p:txBody>
      </p:sp>
      <p:sp>
        <p:nvSpPr>
          <p:cNvPr id="10" name="矩形 9">
            <a:extLst>
              <a:ext uri="{FF2B5EF4-FFF2-40B4-BE49-F238E27FC236}">
                <a16:creationId xmlns:a16="http://schemas.microsoft.com/office/drawing/2014/main" id="{392B3E8C-65DA-D840-03F2-77BF9A3FE0AF}"/>
              </a:ext>
            </a:extLst>
          </p:cNvPr>
          <p:cNvSpPr/>
          <p:nvPr/>
        </p:nvSpPr>
        <p:spPr>
          <a:xfrm>
            <a:off x="3815704" y="4969420"/>
            <a:ext cx="4371710"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 </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&lt; (K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baseline="-25000" dirty="0">
                <a:latin typeface="Times New Roman" pitchFamily="18" charset="0"/>
                <a:ea typeface="微软雅黑" pitchFamily="34" charset="-122"/>
                <a:cs typeface="Times New Roman" pitchFamily="18" charset="0"/>
              </a:rPr>
              <a:t>j</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j</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j</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2" name="矩形 11">
            <a:extLst>
              <a:ext uri="{FF2B5EF4-FFF2-40B4-BE49-F238E27FC236}">
                <a16:creationId xmlns:a16="http://schemas.microsoft.com/office/drawing/2014/main" id="{68F31B02-6BD7-E0E5-8052-BD9CB28FFED3}"/>
              </a:ext>
            </a:extLst>
          </p:cNvPr>
          <p:cNvSpPr/>
          <p:nvPr/>
        </p:nvSpPr>
        <p:spPr>
          <a:xfrm>
            <a:off x="3193246" y="5370646"/>
            <a:ext cx="5760640" cy="400110"/>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其中</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zh-CN" altLang="en-US" sz="2000" dirty="0">
                <a:latin typeface="Times New Roman" pitchFamily="18" charset="0"/>
                <a:ea typeface="微软雅黑" pitchFamily="34" charset="-122"/>
                <a:cs typeface="Times New Roman" pitchFamily="18" charset="0"/>
              </a:rPr>
              <a:t>称为</a:t>
            </a:r>
            <a:r>
              <a:rPr kumimoji="1" lang="zh-CN" altLang="en-US" sz="2000" dirty="0">
                <a:solidFill>
                  <a:srgbClr val="FF0000"/>
                </a:solidFill>
                <a:latin typeface="Times New Roman" pitchFamily="18" charset="0"/>
                <a:ea typeface="微软雅黑" pitchFamily="34" charset="-122"/>
                <a:cs typeface="Times New Roman" pitchFamily="18" charset="0"/>
              </a:rPr>
              <a:t>最主位关键字</a:t>
            </a:r>
            <a:r>
              <a:rPr kumimoji="1" lang="zh-CN" altLang="en-US" sz="2000" dirty="0">
                <a:latin typeface="Times New Roman" pitchFamily="18" charset="0"/>
                <a:ea typeface="微软雅黑" pitchFamily="34" charset="-122"/>
                <a:cs typeface="Times New Roman" pitchFamily="18" charset="0"/>
              </a:rPr>
              <a:t>，</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d-1</a:t>
            </a:r>
            <a:r>
              <a:rPr kumimoji="1" lang="zh-CN" altLang="en-US" sz="2000" dirty="0">
                <a:latin typeface="Times New Roman" pitchFamily="18" charset="0"/>
                <a:ea typeface="微软雅黑" pitchFamily="34" charset="-122"/>
                <a:cs typeface="Times New Roman" pitchFamily="18" charset="0"/>
              </a:rPr>
              <a:t>称为</a:t>
            </a:r>
            <a:r>
              <a:rPr kumimoji="1" lang="zh-CN" altLang="en-US" sz="2000" dirty="0">
                <a:solidFill>
                  <a:srgbClr val="FF0000"/>
                </a:solidFill>
                <a:latin typeface="Times New Roman" pitchFamily="18" charset="0"/>
                <a:ea typeface="微软雅黑" pitchFamily="34" charset="-122"/>
                <a:cs typeface="Times New Roman" pitchFamily="18" charset="0"/>
              </a:rPr>
              <a:t>最次位关键字</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3" name="矩形 12">
            <a:extLst>
              <a:ext uri="{FF2B5EF4-FFF2-40B4-BE49-F238E27FC236}">
                <a16:creationId xmlns:a16="http://schemas.microsoft.com/office/drawing/2014/main" id="{46E5C180-27C5-208A-7617-76A6189FCDC0}"/>
              </a:ext>
            </a:extLst>
          </p:cNvPr>
          <p:cNvSpPr/>
          <p:nvPr/>
        </p:nvSpPr>
        <p:spPr>
          <a:xfrm>
            <a:off x="2617182" y="3947567"/>
            <a:ext cx="7583273" cy="1015663"/>
          </a:xfrm>
          <a:prstGeom prst="rect">
            <a:avLst/>
          </a:prstGeom>
        </p:spPr>
        <p:txBody>
          <a:bodyPr wrap="square">
            <a:spAutoFit/>
          </a:bodyPr>
          <a:lstStyle/>
          <a:p>
            <a:r>
              <a:rPr kumimoji="1" lang="en-US" altLang="zh-CN" sz="2000" dirty="0">
                <a:latin typeface="Times New Roman" pitchFamily="18" charset="0"/>
                <a:ea typeface="微软雅黑" pitchFamily="34" charset="-122"/>
                <a:cs typeface="Times New Roman" pitchFamily="18" charset="0"/>
              </a:rPr>
              <a:t>      n</a:t>
            </a:r>
            <a:r>
              <a:rPr kumimoji="1" lang="zh-CN" altLang="en-US" sz="2000" dirty="0">
                <a:latin typeface="Times New Roman" pitchFamily="18" charset="0"/>
                <a:ea typeface="微软雅黑" pitchFamily="34" charset="-122"/>
                <a:cs typeface="Times New Roman" pitchFamily="18" charset="0"/>
              </a:rPr>
              <a:t>个元素的序列</a:t>
            </a:r>
            <a:r>
              <a:rPr kumimoji="1" lang="en-US" altLang="zh-CN" sz="2000" dirty="0">
                <a:latin typeface="Times New Roman" pitchFamily="18" charset="0"/>
                <a:ea typeface="微软雅黑" pitchFamily="34" charset="-122"/>
                <a:cs typeface="Times New Roman" pitchFamily="18" charset="0"/>
              </a:rPr>
              <a:t>{R</a:t>
            </a:r>
            <a:r>
              <a:rPr kumimoji="1" lang="en-US" altLang="zh-CN" sz="2000" baseline="-25000" dirty="0">
                <a:latin typeface="Times New Roman" pitchFamily="18" charset="0"/>
                <a:ea typeface="微软雅黑" pitchFamily="34" charset="-122"/>
                <a:cs typeface="Times New Roman" pitchFamily="18" charset="0"/>
              </a:rPr>
              <a:t>1</a:t>
            </a:r>
            <a:r>
              <a:rPr kumimoji="1" lang="en-US" altLang="zh-CN" sz="2000" dirty="0">
                <a:latin typeface="Times New Roman" pitchFamily="18" charset="0"/>
                <a:ea typeface="微软雅黑" pitchFamily="34" charset="-122"/>
                <a:cs typeface="Times New Roman" pitchFamily="18" charset="0"/>
              </a:rPr>
              <a:t>,R</a:t>
            </a:r>
            <a:r>
              <a:rPr kumimoji="1" lang="en-US" altLang="zh-CN" sz="2000" baseline="-25000" dirty="0">
                <a:latin typeface="Times New Roman" pitchFamily="18" charset="0"/>
                <a:ea typeface="微软雅黑" pitchFamily="34" charset="-122"/>
                <a:cs typeface="Times New Roman" pitchFamily="18" charset="0"/>
              </a:rPr>
              <a:t>2</a:t>
            </a:r>
            <a:r>
              <a:rPr kumimoji="1" lang="en-US" altLang="zh-CN" sz="2000" dirty="0">
                <a:latin typeface="Times New Roman" pitchFamily="18" charset="0"/>
                <a:ea typeface="微软雅黑" pitchFamily="34" charset="-122"/>
                <a:cs typeface="Times New Roman" pitchFamily="18" charset="0"/>
              </a:rPr>
              <a:t>,..., </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n</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，每个元素</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i</a:t>
            </a:r>
            <a:r>
              <a:rPr kumimoji="1" lang="zh-CN" altLang="en-US" sz="2000" dirty="0">
                <a:latin typeface="Times New Roman" pitchFamily="18" charset="0"/>
                <a:ea typeface="微软雅黑" pitchFamily="34" charset="-122"/>
                <a:cs typeface="Times New Roman" pitchFamily="18" charset="0"/>
              </a:rPr>
              <a:t>有</a:t>
            </a:r>
            <a:r>
              <a:rPr kumimoji="1" lang="en-US" altLang="zh-CN" sz="2000" dirty="0">
                <a:latin typeface="Times New Roman" pitchFamily="18" charset="0"/>
                <a:ea typeface="微软雅黑" pitchFamily="34" charset="-122"/>
                <a:cs typeface="Times New Roman" pitchFamily="18" charset="0"/>
              </a:rPr>
              <a:t>d</a:t>
            </a:r>
            <a:r>
              <a:rPr kumimoji="1" lang="zh-CN" altLang="en-US" sz="2000" dirty="0">
                <a:latin typeface="Times New Roman" pitchFamily="18" charset="0"/>
                <a:ea typeface="微软雅黑" pitchFamily="34" charset="-122"/>
                <a:cs typeface="Times New Roman" pitchFamily="18" charset="0"/>
              </a:rPr>
              <a:t>个关键字</a:t>
            </a:r>
            <a:r>
              <a:rPr kumimoji="1" lang="en-US" altLang="zh-CN" sz="2000" dirty="0">
                <a:latin typeface="Times New Roman" pitchFamily="18" charset="0"/>
                <a:ea typeface="微软雅黑" pitchFamily="34" charset="-122"/>
                <a:cs typeface="Times New Roman" pitchFamily="18" charset="0"/>
              </a:rPr>
              <a:t>(K0</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，则序列对关键字</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baseline="-25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有序是指：对于序列中任意两个记录</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i</a:t>
            </a:r>
            <a:r>
              <a:rPr kumimoji="1" lang="zh-CN" altLang="en-US" sz="2000" dirty="0">
                <a:latin typeface="Times New Roman" pitchFamily="18" charset="0"/>
                <a:ea typeface="微软雅黑" pitchFamily="34" charset="-122"/>
                <a:cs typeface="Times New Roman" pitchFamily="18" charset="0"/>
              </a:rPr>
              <a:t>和</a:t>
            </a:r>
            <a:r>
              <a:rPr kumimoji="1" lang="en-US" altLang="zh-CN" sz="2000" dirty="0" err="1">
                <a:latin typeface="Times New Roman" pitchFamily="18" charset="0"/>
                <a:ea typeface="微软雅黑" pitchFamily="34" charset="-122"/>
                <a:cs typeface="Times New Roman" pitchFamily="18" charset="0"/>
              </a:rPr>
              <a:t>R</a:t>
            </a:r>
            <a:r>
              <a:rPr kumimoji="1" lang="en-US" altLang="zh-CN" sz="2000" baseline="-25000" dirty="0" err="1">
                <a:latin typeface="Times New Roman" pitchFamily="18" charset="0"/>
                <a:ea typeface="微软雅黑" pitchFamily="34" charset="-122"/>
                <a:cs typeface="Times New Roman" pitchFamily="18" charset="0"/>
              </a:rPr>
              <a:t>j</a:t>
            </a:r>
            <a:r>
              <a:rPr kumimoji="1" lang="zh-CN" altLang="en-US" sz="2000" dirty="0">
                <a:latin typeface="Times New Roman" pitchFamily="18" charset="0"/>
                <a:ea typeface="微软雅黑" pitchFamily="34" charset="-122"/>
                <a:cs typeface="Times New Roman" pitchFamily="18" charset="0"/>
              </a:rPr>
              <a:t>记都满足下列有序关系：</a:t>
            </a:r>
            <a:endParaRPr lang="zh-CN" altLang="en-US" sz="2000" dirty="0"/>
          </a:p>
        </p:txBody>
      </p:sp>
      <p:sp>
        <p:nvSpPr>
          <p:cNvPr id="2" name="矩形 1">
            <a:extLst>
              <a:ext uri="{FF2B5EF4-FFF2-40B4-BE49-F238E27FC236}">
                <a16:creationId xmlns:a16="http://schemas.microsoft.com/office/drawing/2014/main" id="{A8DF3F22-FAAE-44BC-A8AB-00733C7F1D41}"/>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10.6.1 </a:t>
            </a:r>
            <a:r>
              <a:rPr lang="zh-CN" altLang="en-US" sz="2800" b="1" dirty="0">
                <a:solidFill>
                  <a:schemeClr val="bg1"/>
                </a:solidFill>
                <a:latin typeface="经典粗黑简" pitchFamily="49" charset="-122"/>
                <a:ea typeface="经典粗黑简" pitchFamily="49" charset="-122"/>
                <a:cs typeface="经典粗黑简" pitchFamily="49" charset="-122"/>
              </a:rPr>
              <a:t>基数排序的概念</a:t>
            </a:r>
          </a:p>
        </p:txBody>
      </p:sp>
      <p:cxnSp>
        <p:nvCxnSpPr>
          <p:cNvPr id="4" name="直接连接符 3">
            <a:extLst>
              <a:ext uri="{FF2B5EF4-FFF2-40B4-BE49-F238E27FC236}">
                <a16:creationId xmlns:a16="http://schemas.microsoft.com/office/drawing/2014/main" id="{2775888C-4172-258A-6940-EC8B7563BBC1}"/>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A7EC96C-CF4F-7E0B-096D-CD0817059B2F}"/>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Tree>
    <p:extLst>
      <p:ext uri="{BB962C8B-B14F-4D97-AF65-F5344CB8AC3E}">
        <p14:creationId xmlns:p14="http://schemas.microsoft.com/office/powerpoint/2010/main" val="31954433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9" grpId="0"/>
      <p:bldP spid="10" grpId="0"/>
      <p:bldP spid="12" grpId="0"/>
      <p:bldP spid="1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15480" y="1871153"/>
            <a:ext cx="2236510" cy="400110"/>
          </a:xfrm>
          <a:prstGeom prst="rect">
            <a:avLst/>
          </a:prstGeom>
        </p:spPr>
        <p:txBody>
          <a:bodyPr wrap="none">
            <a:spAutoFit/>
          </a:bodyPr>
          <a:lstStyle/>
          <a:p>
            <a:r>
              <a:rPr kumimoji="1" lang="en-US" altLang="zh-CN" sz="2000" dirty="0">
                <a:latin typeface="Times New Roman" pitchFamily="18" charset="0"/>
                <a:ea typeface="微软雅黑" pitchFamily="34" charset="-122"/>
                <a:cs typeface="Times New Roman" pitchFamily="18" charset="0"/>
              </a:rPr>
              <a:t>③</a:t>
            </a:r>
            <a:r>
              <a:rPr kumimoji="1" lang="zh-CN" altLang="en-US" sz="2000" dirty="0">
                <a:latin typeface="Times New Roman" pitchFamily="18" charset="0"/>
                <a:ea typeface="微软雅黑" pitchFamily="34" charset="-122"/>
                <a:cs typeface="Times New Roman" pitchFamily="18" charset="0"/>
              </a:rPr>
              <a:t>、多关键字排序</a:t>
            </a:r>
          </a:p>
        </p:txBody>
      </p:sp>
      <p:sp>
        <p:nvSpPr>
          <p:cNvPr id="2" name="矩形 1">
            <a:extLst>
              <a:ext uri="{FF2B5EF4-FFF2-40B4-BE49-F238E27FC236}">
                <a16:creationId xmlns:a16="http://schemas.microsoft.com/office/drawing/2014/main" id="{9458506E-3BF7-7D56-7A38-8256278B6EBC}"/>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10.6.2 </a:t>
            </a:r>
            <a:r>
              <a:rPr lang="zh-CN" altLang="en-US" sz="2800" b="1" dirty="0">
                <a:solidFill>
                  <a:schemeClr val="bg1"/>
                </a:solidFill>
                <a:latin typeface="经典粗黑简" pitchFamily="49" charset="-122"/>
                <a:ea typeface="经典粗黑简" pitchFamily="49" charset="-122"/>
                <a:cs typeface="经典粗黑简" pitchFamily="49" charset="-122"/>
              </a:rPr>
              <a:t>基数排序的分类</a:t>
            </a:r>
          </a:p>
        </p:txBody>
      </p:sp>
      <p:cxnSp>
        <p:nvCxnSpPr>
          <p:cNvPr id="4" name="直接连接符 3">
            <a:extLst>
              <a:ext uri="{FF2B5EF4-FFF2-40B4-BE49-F238E27FC236}">
                <a16:creationId xmlns:a16="http://schemas.microsoft.com/office/drawing/2014/main" id="{EB999597-7165-DB86-62DC-99D89A0E51A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66C5014-45DB-F466-2F70-CD306E52C325}"/>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
        <p:nvSpPr>
          <p:cNvPr id="6" name="Text Box 2">
            <a:extLst>
              <a:ext uri="{FF2B5EF4-FFF2-40B4-BE49-F238E27FC236}">
                <a16:creationId xmlns:a16="http://schemas.microsoft.com/office/drawing/2014/main" id="{D0A6EBCE-CDB1-D68B-3702-11D9922381C1}"/>
              </a:ext>
            </a:extLst>
          </p:cNvPr>
          <p:cNvSpPr txBox="1">
            <a:spLocks noChangeArrowheads="1"/>
          </p:cNvSpPr>
          <p:nvPr/>
        </p:nvSpPr>
        <p:spPr bwMode="auto">
          <a:xfrm>
            <a:off x="1415480" y="2384553"/>
            <a:ext cx="7858180" cy="1018328"/>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rIns="126000" bIns="108000">
            <a:spAutoFit/>
          </a:bodyPr>
          <a:lstStyle/>
          <a:p>
            <a:pPr marL="457200" indent="-457200" algn="l">
              <a:lnSpc>
                <a:spcPct val="130000"/>
              </a:lnSpc>
              <a:spcBef>
                <a:spcPts val="0"/>
              </a:spcBef>
              <a:buBlip>
                <a:blip r:embed="rId2"/>
              </a:buBlip>
            </a:pPr>
            <a:r>
              <a:rPr kumimoji="1" lang="zh-CN" altLang="en-US" sz="2000">
                <a:latin typeface="Consolas" pitchFamily="49" charset="0"/>
                <a:ea typeface="楷体" pitchFamily="49" charset="-122"/>
                <a:cs typeface="Consolas" pitchFamily="49" charset="0"/>
              </a:rPr>
              <a:t>基数排序是一位一位地排序</a:t>
            </a:r>
            <a:endParaRPr lang="zh-CN" altLang="en-US" sz="2000"/>
          </a:p>
          <a:p>
            <a:pPr marL="457200" indent="-457200" algn="l">
              <a:lnSpc>
                <a:spcPct val="130000"/>
              </a:lnSpc>
              <a:spcBef>
                <a:spcPts val="0"/>
              </a:spcBef>
              <a:buBlip>
                <a:blip r:embed="rId2"/>
              </a:buBlip>
            </a:pPr>
            <a:r>
              <a:rPr kumimoji="1" lang="zh-CN" altLang="en-US" sz="2000">
                <a:latin typeface="Consolas" pitchFamily="49" charset="0"/>
                <a:ea typeface="楷体" pitchFamily="49" charset="-122"/>
                <a:cs typeface="Consolas" pitchFamily="49" charset="0"/>
              </a:rPr>
              <a:t>基</a:t>
            </a:r>
            <a:r>
              <a:rPr kumimoji="1" lang="zh-CN" altLang="en-US" sz="2000" dirty="0">
                <a:latin typeface="Consolas" pitchFamily="49" charset="0"/>
                <a:ea typeface="楷体" pitchFamily="49" charset="-122"/>
                <a:cs typeface="Consolas" pitchFamily="49" charset="0"/>
              </a:rPr>
              <a:t>数排序有两种：</a:t>
            </a:r>
            <a:r>
              <a:rPr kumimoji="1" lang="zh-CN" altLang="en-US" sz="2000" dirty="0">
                <a:solidFill>
                  <a:srgbClr val="F92D37"/>
                </a:solidFill>
                <a:latin typeface="Consolas" pitchFamily="49" charset="0"/>
                <a:ea typeface="楷体" pitchFamily="49" charset="-122"/>
                <a:cs typeface="Consolas" pitchFamily="49" charset="0"/>
              </a:rPr>
              <a:t>最低位优先（</a:t>
            </a:r>
            <a:r>
              <a:rPr kumimoji="1" lang="en-US" altLang="zh-CN" sz="2000" dirty="0">
                <a:solidFill>
                  <a:srgbClr val="F92D37"/>
                </a:solidFill>
                <a:latin typeface="Consolas" pitchFamily="49" charset="0"/>
                <a:ea typeface="楷体" pitchFamily="49" charset="-122"/>
                <a:cs typeface="Consolas" pitchFamily="49" charset="0"/>
              </a:rPr>
              <a:t>LSD</a:t>
            </a:r>
            <a:r>
              <a:rPr kumimoji="1" lang="zh-CN" altLang="en-US" sz="2000" dirty="0">
                <a:solidFill>
                  <a:srgbClr val="F92D37"/>
                </a:solidFill>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和</a:t>
            </a:r>
            <a:r>
              <a:rPr kumimoji="1" lang="zh-CN" altLang="en-US" sz="2000" dirty="0">
                <a:solidFill>
                  <a:srgbClr val="F92D37"/>
                </a:solidFill>
                <a:latin typeface="Consolas" pitchFamily="49" charset="0"/>
                <a:ea typeface="楷体" pitchFamily="49" charset="-122"/>
                <a:cs typeface="Consolas" pitchFamily="49" charset="0"/>
              </a:rPr>
              <a:t>最高位优先（</a:t>
            </a:r>
            <a:r>
              <a:rPr kumimoji="1" lang="en-US" altLang="zh-CN" sz="2000" dirty="0" err="1">
                <a:solidFill>
                  <a:srgbClr val="F92D37"/>
                </a:solidFill>
                <a:latin typeface="Consolas" pitchFamily="49" charset="0"/>
                <a:ea typeface="楷体" pitchFamily="49" charset="-122"/>
                <a:cs typeface="Consolas" pitchFamily="49" charset="0"/>
              </a:rPr>
              <a:t>MSD</a:t>
            </a:r>
            <a:r>
              <a:rPr kumimoji="1" lang="zh-CN" altLang="en-US" sz="2000" dirty="0">
                <a:solidFill>
                  <a:srgbClr val="F92D37"/>
                </a:solidFill>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　　</a:t>
            </a:r>
          </a:p>
        </p:txBody>
      </p:sp>
      <p:grpSp>
        <p:nvGrpSpPr>
          <p:cNvPr id="7" name="组合 11">
            <a:extLst>
              <a:ext uri="{FF2B5EF4-FFF2-40B4-BE49-F238E27FC236}">
                <a16:creationId xmlns:a16="http://schemas.microsoft.com/office/drawing/2014/main" id="{A6816471-E308-D0CD-30E5-DEFCEA2BD5B5}"/>
              </a:ext>
            </a:extLst>
          </p:cNvPr>
          <p:cNvGrpSpPr/>
          <p:nvPr/>
        </p:nvGrpSpPr>
        <p:grpSpPr>
          <a:xfrm>
            <a:off x="3558620" y="3396800"/>
            <a:ext cx="3016250" cy="1549400"/>
            <a:chOff x="2786050" y="2786058"/>
            <a:chExt cx="3016250" cy="1549400"/>
          </a:xfrm>
        </p:grpSpPr>
        <p:sp>
          <p:nvSpPr>
            <p:cNvPr id="11" name="Text Box 3">
              <a:extLst>
                <a:ext uri="{FF2B5EF4-FFF2-40B4-BE49-F238E27FC236}">
                  <a16:creationId xmlns:a16="http://schemas.microsoft.com/office/drawing/2014/main" id="{9403D060-464F-9E0D-56F5-A7D0E32A7127}"/>
                </a:ext>
              </a:extLst>
            </p:cNvPr>
            <p:cNvSpPr txBox="1">
              <a:spLocks noChangeArrowheads="1"/>
            </p:cNvSpPr>
            <p:nvPr/>
          </p:nvSpPr>
          <p:spPr bwMode="auto">
            <a:xfrm>
              <a:off x="3570275" y="2786058"/>
              <a:ext cx="1368425" cy="584775"/>
            </a:xfrm>
            <a:prstGeom prst="rect">
              <a:avLst/>
            </a:prstGeom>
            <a:noFill/>
            <a:ln w="9525">
              <a:noFill/>
              <a:miter lim="800000"/>
              <a:headEnd/>
              <a:tailEnd/>
            </a:ln>
            <a:effectLst/>
          </p:spPr>
          <p:txBody>
            <a:bodyPr>
              <a:spAutoFit/>
            </a:bodyPr>
            <a:lstStyle/>
            <a:p>
              <a:pPr algn="l">
                <a:spcBef>
                  <a:spcPct val="50000"/>
                </a:spcBef>
              </a:pPr>
              <a:r>
                <a:rPr lang="en-US" altLang="zh-CN" sz="3200" dirty="0">
                  <a:latin typeface="Consolas" pitchFamily="49" charset="0"/>
                  <a:cs typeface="Consolas" pitchFamily="49" charset="0"/>
                </a:rPr>
                <a:t>2 3 9</a:t>
              </a:r>
            </a:p>
          </p:txBody>
        </p:sp>
        <p:sp>
          <p:nvSpPr>
            <p:cNvPr id="12" name="Text Box 5">
              <a:extLst>
                <a:ext uri="{FF2B5EF4-FFF2-40B4-BE49-F238E27FC236}">
                  <a16:creationId xmlns:a16="http://schemas.microsoft.com/office/drawing/2014/main" id="{E2BF8676-4429-D465-53F2-05318B8751F0}"/>
                </a:ext>
              </a:extLst>
            </p:cNvPr>
            <p:cNvSpPr txBox="1">
              <a:spLocks noChangeArrowheads="1"/>
            </p:cNvSpPr>
            <p:nvPr/>
          </p:nvSpPr>
          <p:spPr bwMode="auto">
            <a:xfrm>
              <a:off x="2786050" y="3938583"/>
              <a:ext cx="1008063" cy="396875"/>
            </a:xfrm>
            <a:prstGeom prst="rect">
              <a:avLst/>
            </a:prstGeom>
            <a:noFill/>
            <a:ln w="9525">
              <a:noFill/>
              <a:miter lim="800000"/>
              <a:headEnd/>
              <a:tailEnd/>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百位</a:t>
              </a:r>
            </a:p>
          </p:txBody>
        </p:sp>
        <p:sp>
          <p:nvSpPr>
            <p:cNvPr id="13" name="Text Box 6">
              <a:extLst>
                <a:ext uri="{FF2B5EF4-FFF2-40B4-BE49-F238E27FC236}">
                  <a16:creationId xmlns:a16="http://schemas.microsoft.com/office/drawing/2014/main" id="{70126280-80B0-5896-FF61-D4C88F128307}"/>
                </a:ext>
              </a:extLst>
            </p:cNvPr>
            <p:cNvSpPr txBox="1">
              <a:spLocks noChangeArrowheads="1"/>
            </p:cNvSpPr>
            <p:nvPr/>
          </p:nvSpPr>
          <p:spPr bwMode="auto">
            <a:xfrm>
              <a:off x="3857613" y="3938583"/>
              <a:ext cx="1008062" cy="396875"/>
            </a:xfrm>
            <a:prstGeom prst="rect">
              <a:avLst/>
            </a:prstGeom>
            <a:noFill/>
            <a:ln w="9525">
              <a:noFill/>
              <a:miter lim="800000"/>
              <a:headEnd/>
              <a:tailEnd/>
            </a:ln>
            <a:effectLst/>
          </p:spPr>
          <p:txBody>
            <a:bodyPr>
              <a:spAutoFit/>
            </a:bodyPr>
            <a:lstStyle/>
            <a:p>
              <a:pPr algn="l">
                <a:spcBef>
                  <a:spcPct val="50000"/>
                </a:spcBef>
              </a:pPr>
              <a:r>
                <a:rPr lang="zh-CN" altLang="en-US" sz="2000">
                  <a:latin typeface="Consolas" pitchFamily="49" charset="0"/>
                  <a:ea typeface="楷体" pitchFamily="49" charset="-122"/>
                  <a:cs typeface="Consolas" pitchFamily="49" charset="0"/>
                </a:rPr>
                <a:t>十位</a:t>
              </a:r>
            </a:p>
          </p:txBody>
        </p:sp>
        <p:sp>
          <p:nvSpPr>
            <p:cNvPr id="17" name="Text Box 7">
              <a:extLst>
                <a:ext uri="{FF2B5EF4-FFF2-40B4-BE49-F238E27FC236}">
                  <a16:creationId xmlns:a16="http://schemas.microsoft.com/office/drawing/2014/main" id="{85D13018-A868-932D-EDEB-CC92A17E2D75}"/>
                </a:ext>
              </a:extLst>
            </p:cNvPr>
            <p:cNvSpPr txBox="1">
              <a:spLocks noChangeArrowheads="1"/>
            </p:cNvSpPr>
            <p:nvPr/>
          </p:nvSpPr>
          <p:spPr bwMode="auto">
            <a:xfrm>
              <a:off x="4794238" y="3938583"/>
              <a:ext cx="1008062" cy="396875"/>
            </a:xfrm>
            <a:prstGeom prst="rect">
              <a:avLst/>
            </a:prstGeom>
            <a:noFill/>
            <a:ln w="9525">
              <a:noFill/>
              <a:miter lim="800000"/>
              <a:headEnd/>
              <a:tailEnd/>
            </a:ln>
            <a:effectLst/>
          </p:spPr>
          <p:txBody>
            <a:bodyPr>
              <a:spAutoFit/>
            </a:bodyPr>
            <a:lstStyle/>
            <a:p>
              <a:pPr algn="l">
                <a:spcBef>
                  <a:spcPct val="50000"/>
                </a:spcBef>
              </a:pPr>
              <a:r>
                <a:rPr lang="zh-CN" altLang="en-US" sz="2000">
                  <a:latin typeface="Consolas" pitchFamily="49" charset="0"/>
                  <a:ea typeface="楷体" pitchFamily="49" charset="-122"/>
                  <a:cs typeface="Consolas" pitchFamily="49" charset="0"/>
                </a:rPr>
                <a:t>个位</a:t>
              </a:r>
            </a:p>
          </p:txBody>
        </p:sp>
        <p:sp>
          <p:nvSpPr>
            <p:cNvPr id="18" name="Freeform 8">
              <a:extLst>
                <a:ext uri="{FF2B5EF4-FFF2-40B4-BE49-F238E27FC236}">
                  <a16:creationId xmlns:a16="http://schemas.microsoft.com/office/drawing/2014/main" id="{23938040-AF87-8B83-03DE-47BD8462CC16}"/>
                </a:ext>
              </a:extLst>
            </p:cNvPr>
            <p:cNvSpPr>
              <a:spLocks/>
            </p:cNvSpPr>
            <p:nvPr/>
          </p:nvSpPr>
          <p:spPr bwMode="auto">
            <a:xfrm>
              <a:off x="3198800" y="3436933"/>
              <a:ext cx="442913" cy="522287"/>
            </a:xfrm>
            <a:custGeom>
              <a:avLst/>
              <a:gdLst/>
              <a:ahLst/>
              <a:cxnLst>
                <a:cxn ang="0">
                  <a:pos x="0" y="329"/>
                </a:cxn>
                <a:cxn ang="0">
                  <a:pos x="279" y="0"/>
                </a:cxn>
              </a:cxnLst>
              <a:rect l="0" t="0" r="r" b="b"/>
              <a:pathLst>
                <a:path w="279" h="329">
                  <a:moveTo>
                    <a:pt x="0" y="329"/>
                  </a:moveTo>
                  <a:lnTo>
                    <a:pt x="279" y="0"/>
                  </a:lnTo>
                </a:path>
              </a:pathLst>
            </a:custGeom>
            <a:noFill/>
            <a:ln w="28575" cap="flat" cmpd="sng">
              <a:solidFill>
                <a:srgbClr val="008000"/>
              </a:solidFill>
              <a:prstDash val="solid"/>
              <a:miter lim="800000"/>
              <a:headEnd type="none" w="med" len="med"/>
              <a:tailEnd type="triangle" w="med" len="med"/>
            </a:ln>
            <a:effectLst/>
          </p:spPr>
          <p:txBody>
            <a:bodyPr wrap="none"/>
            <a:lstStyle/>
            <a:p>
              <a:endParaRPr lang="zh-CN" altLang="en-US">
                <a:latin typeface="Consolas" pitchFamily="49" charset="0"/>
                <a:cs typeface="Consolas" pitchFamily="49" charset="0"/>
              </a:endParaRPr>
            </a:p>
          </p:txBody>
        </p:sp>
        <p:sp>
          <p:nvSpPr>
            <p:cNvPr id="19" name="Line 9">
              <a:extLst>
                <a:ext uri="{FF2B5EF4-FFF2-40B4-BE49-F238E27FC236}">
                  <a16:creationId xmlns:a16="http://schemas.microsoft.com/office/drawing/2014/main" id="{F1ED2CD1-2808-4DBA-65B7-AAAFEADD31BC}"/>
                </a:ext>
              </a:extLst>
            </p:cNvPr>
            <p:cNvSpPr>
              <a:spLocks noChangeShapeType="1"/>
            </p:cNvSpPr>
            <p:nvPr/>
          </p:nvSpPr>
          <p:spPr bwMode="auto">
            <a:xfrm flipV="1">
              <a:off x="4210038" y="3435345"/>
              <a:ext cx="0" cy="503238"/>
            </a:xfrm>
            <a:prstGeom prst="line">
              <a:avLst/>
            </a:prstGeom>
            <a:noFill/>
            <a:ln w="28575">
              <a:solidFill>
                <a:srgbClr val="008000"/>
              </a:solidFill>
              <a:round/>
              <a:headEnd/>
              <a:tailEnd type="triangle" w="med" len="med"/>
            </a:ln>
            <a:effectLst/>
          </p:spPr>
          <p:txBody>
            <a:bodyPr wrap="none"/>
            <a:lstStyle/>
            <a:p>
              <a:endParaRPr lang="zh-CN" altLang="en-US">
                <a:latin typeface="Consolas" pitchFamily="49" charset="0"/>
                <a:cs typeface="Consolas" pitchFamily="49" charset="0"/>
              </a:endParaRPr>
            </a:p>
          </p:txBody>
        </p:sp>
        <p:sp>
          <p:nvSpPr>
            <p:cNvPr id="20" name="Freeform 10">
              <a:extLst>
                <a:ext uri="{FF2B5EF4-FFF2-40B4-BE49-F238E27FC236}">
                  <a16:creationId xmlns:a16="http://schemas.microsoft.com/office/drawing/2014/main" id="{8F0152A7-A503-5B6C-7C80-DA71432A4315}"/>
                </a:ext>
              </a:extLst>
            </p:cNvPr>
            <p:cNvSpPr>
              <a:spLocks/>
            </p:cNvSpPr>
            <p:nvPr/>
          </p:nvSpPr>
          <p:spPr bwMode="auto">
            <a:xfrm>
              <a:off x="4722800" y="3436933"/>
              <a:ext cx="342900" cy="522287"/>
            </a:xfrm>
            <a:custGeom>
              <a:avLst/>
              <a:gdLst/>
              <a:ahLst/>
              <a:cxnLst>
                <a:cxn ang="0">
                  <a:pos x="216" y="329"/>
                </a:cxn>
                <a:cxn ang="0">
                  <a:pos x="0" y="0"/>
                </a:cxn>
              </a:cxnLst>
              <a:rect l="0" t="0" r="r" b="b"/>
              <a:pathLst>
                <a:path w="216" h="329">
                  <a:moveTo>
                    <a:pt x="216" y="329"/>
                  </a:moveTo>
                  <a:lnTo>
                    <a:pt x="0" y="0"/>
                  </a:lnTo>
                </a:path>
              </a:pathLst>
            </a:custGeom>
            <a:noFill/>
            <a:ln w="28575" cap="flat" cmpd="sng">
              <a:solidFill>
                <a:srgbClr val="008000"/>
              </a:solidFill>
              <a:prstDash val="solid"/>
              <a:round/>
              <a:headEnd type="none" w="med" len="med"/>
              <a:tailEnd type="triangle" w="med" len="med"/>
            </a:ln>
            <a:effectLst/>
          </p:spPr>
          <p:txBody>
            <a:bodyPr wrap="none"/>
            <a:lstStyle/>
            <a:p>
              <a:endParaRPr lang="zh-CN" altLang="en-US">
                <a:latin typeface="Consolas" pitchFamily="49" charset="0"/>
                <a:cs typeface="Consolas" pitchFamily="49" charset="0"/>
              </a:endParaRPr>
            </a:p>
          </p:txBody>
        </p:sp>
      </p:grpSp>
      <p:sp>
        <p:nvSpPr>
          <p:cNvPr id="21" name="TextBox 10">
            <a:extLst>
              <a:ext uri="{FF2B5EF4-FFF2-40B4-BE49-F238E27FC236}">
                <a16:creationId xmlns:a16="http://schemas.microsoft.com/office/drawing/2014/main" id="{AF9AC59B-9894-C674-B322-C4F823D4D834}"/>
              </a:ext>
            </a:extLst>
          </p:cNvPr>
          <p:cNvSpPr txBox="1"/>
          <p:nvPr/>
        </p:nvSpPr>
        <p:spPr>
          <a:xfrm>
            <a:off x="2783632" y="4868022"/>
            <a:ext cx="4572032" cy="961674"/>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marL="457200" indent="-457200" algn="l">
              <a:lnSpc>
                <a:spcPct val="150000"/>
              </a:lnSpc>
              <a:buBlip>
                <a:blip r:embed="rId3"/>
              </a:buBlip>
            </a:pPr>
            <a:r>
              <a:rPr kumimoji="1" lang="zh-CN" altLang="en-US" sz="2000" dirty="0">
                <a:latin typeface="Consolas" pitchFamily="49" charset="0"/>
                <a:ea typeface="仿宋" pitchFamily="49" charset="-122"/>
                <a:cs typeface="Consolas" pitchFamily="49" charset="0"/>
              </a:rPr>
              <a:t>最低位优先：从</a:t>
            </a:r>
            <a:r>
              <a:rPr kumimoji="1" lang="zh-CN" altLang="en-US" sz="2000" dirty="0">
                <a:solidFill>
                  <a:srgbClr val="FF00FF"/>
                </a:solidFill>
                <a:latin typeface="Consolas" pitchFamily="49" charset="0"/>
                <a:ea typeface="仿宋" pitchFamily="49" charset="-122"/>
                <a:cs typeface="Consolas" pitchFamily="49" charset="0"/>
              </a:rPr>
              <a:t>个位 </a:t>
            </a:r>
            <a:r>
              <a:rPr kumimoji="1" lang="zh-CN" altLang="en-US" sz="2000" dirty="0">
                <a:solidFill>
                  <a:srgbClr val="FF00FF"/>
                </a:solidFill>
                <a:latin typeface="Consolas" pitchFamily="49" charset="0"/>
                <a:ea typeface="仿宋" pitchFamily="49" charset="-122"/>
                <a:cs typeface="Consolas" pitchFamily="49" charset="0"/>
                <a:sym typeface="Wingdings"/>
              </a:rPr>
              <a:t> </a:t>
            </a:r>
            <a:r>
              <a:rPr lang="zh-CN" altLang="en-US" sz="2000" dirty="0">
                <a:solidFill>
                  <a:srgbClr val="FF00FF"/>
                </a:solidFill>
                <a:latin typeface="Consolas" pitchFamily="49" charset="0"/>
                <a:ea typeface="仿宋" pitchFamily="49" charset="-122"/>
                <a:cs typeface="Consolas" pitchFamily="49" charset="0"/>
              </a:rPr>
              <a:t>百位</a:t>
            </a:r>
            <a:endParaRPr kumimoji="1" lang="en-US" altLang="zh-CN" sz="2000" dirty="0">
              <a:solidFill>
                <a:srgbClr val="FF00FF"/>
              </a:solidFill>
              <a:latin typeface="Consolas" pitchFamily="49" charset="0"/>
              <a:ea typeface="仿宋" pitchFamily="49" charset="-122"/>
              <a:cs typeface="Consolas" pitchFamily="49" charset="0"/>
            </a:endParaRPr>
          </a:p>
          <a:p>
            <a:pPr marL="457200" indent="-457200" algn="l">
              <a:lnSpc>
                <a:spcPct val="150000"/>
              </a:lnSpc>
              <a:buBlip>
                <a:blip r:embed="rId3"/>
              </a:buBlip>
            </a:pPr>
            <a:r>
              <a:rPr kumimoji="1" lang="zh-CN" altLang="en-US" sz="2000" dirty="0">
                <a:latin typeface="Consolas" pitchFamily="49" charset="0"/>
                <a:ea typeface="仿宋" pitchFamily="49" charset="-122"/>
                <a:cs typeface="Consolas" pitchFamily="49" charset="0"/>
              </a:rPr>
              <a:t>最高位优先：从</a:t>
            </a:r>
            <a:r>
              <a:rPr lang="zh-CN" altLang="en-US" sz="2000" dirty="0">
                <a:solidFill>
                  <a:srgbClr val="FF00FF"/>
                </a:solidFill>
                <a:latin typeface="Consolas" pitchFamily="49" charset="0"/>
                <a:ea typeface="仿宋" pitchFamily="49" charset="-122"/>
                <a:cs typeface="Consolas" pitchFamily="49" charset="0"/>
              </a:rPr>
              <a:t>百位 </a:t>
            </a:r>
            <a:r>
              <a:rPr kumimoji="1" lang="zh-CN" altLang="en-US" sz="2000" dirty="0">
                <a:solidFill>
                  <a:srgbClr val="FF00FF"/>
                </a:solidFill>
                <a:latin typeface="Consolas" pitchFamily="49" charset="0"/>
                <a:ea typeface="仿宋" pitchFamily="49" charset="-122"/>
                <a:cs typeface="Consolas" pitchFamily="49" charset="0"/>
                <a:sym typeface="Wingdings"/>
              </a:rPr>
              <a:t> </a:t>
            </a:r>
            <a:r>
              <a:rPr kumimoji="1" lang="zh-CN" altLang="en-US" sz="2000" dirty="0">
                <a:solidFill>
                  <a:srgbClr val="FF00FF"/>
                </a:solidFill>
                <a:latin typeface="Consolas" pitchFamily="49" charset="0"/>
                <a:ea typeface="仿宋" pitchFamily="49" charset="-122"/>
                <a:cs typeface="Consolas" pitchFamily="49" charset="0"/>
              </a:rPr>
              <a:t>个位</a:t>
            </a:r>
            <a:endParaRPr lang="zh-CN" altLang="en-US" sz="2000" dirty="0">
              <a:solidFill>
                <a:srgbClr val="FF00FF"/>
              </a:solidFill>
              <a:latin typeface="Consolas" pitchFamily="49" charset="0"/>
              <a:ea typeface="仿宋" pitchFamily="49" charset="-122"/>
              <a:cs typeface="Consolas" pitchFamily="49" charset="0"/>
            </a:endParaRPr>
          </a:p>
        </p:txBody>
      </p:sp>
      <p:sp>
        <p:nvSpPr>
          <p:cNvPr id="22" name="TextBox 13">
            <a:extLst>
              <a:ext uri="{FF2B5EF4-FFF2-40B4-BE49-F238E27FC236}">
                <a16:creationId xmlns:a16="http://schemas.microsoft.com/office/drawing/2014/main" id="{57ADB8AC-4DFC-67BA-11A1-00F277FA3F10}"/>
              </a:ext>
            </a:extLst>
          </p:cNvPr>
          <p:cNvSpPr txBox="1"/>
          <p:nvPr/>
        </p:nvSpPr>
        <p:spPr>
          <a:xfrm>
            <a:off x="1415480" y="5884433"/>
            <a:ext cx="8143932" cy="714747"/>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l">
              <a:lnSpc>
                <a:spcPts val="2600"/>
              </a:lnSpc>
            </a:pPr>
            <a:r>
              <a:rPr lang="zh-CN" altLang="en-US" sz="2000" dirty="0">
                <a:latin typeface="仿宋" pitchFamily="49" charset="-122"/>
                <a:ea typeface="仿宋" pitchFamily="49" charset="-122"/>
                <a:cs typeface="Consolas" pitchFamily="49" charset="0"/>
              </a:rPr>
              <a:t>    选择哪种</a:t>
            </a:r>
            <a:r>
              <a:rPr kumimoji="1" lang="zh-CN" altLang="en-US" sz="2000" dirty="0">
                <a:latin typeface="仿宋" pitchFamily="49" charset="-122"/>
                <a:ea typeface="仿宋" pitchFamily="49" charset="-122"/>
                <a:cs typeface="Consolas" pitchFamily="49" charset="0"/>
              </a:rPr>
              <a:t>基数排序，需要根据数据的特点来定。例如，对整数序列递增排序，选择</a:t>
            </a:r>
            <a:r>
              <a:rPr kumimoji="1" lang="zh-CN" altLang="en-US" sz="2000" dirty="0">
                <a:solidFill>
                  <a:srgbClr val="F92D37"/>
                </a:solidFill>
                <a:latin typeface="仿宋" pitchFamily="49" charset="-122"/>
                <a:ea typeface="仿宋" pitchFamily="49" charset="-122"/>
                <a:cs typeface="Consolas" pitchFamily="49" charset="0"/>
              </a:rPr>
              <a:t>最低位优先，</a:t>
            </a:r>
            <a:r>
              <a:rPr kumimoji="1" lang="zh-CN" altLang="en-US" sz="2000" dirty="0">
                <a:latin typeface="仿宋" pitchFamily="49" charset="-122"/>
                <a:ea typeface="仿宋" pitchFamily="49" charset="-122"/>
                <a:cs typeface="Consolas" pitchFamily="49" charset="0"/>
              </a:rPr>
              <a:t>越重要的位越在后面排序。</a:t>
            </a:r>
            <a:endParaRPr lang="zh-CN" altLang="en-US" sz="2000" dirty="0">
              <a:latin typeface="仿宋" pitchFamily="49" charset="-122"/>
              <a:ea typeface="仿宋" pitchFamily="49" charset="-122"/>
              <a:cs typeface="Consolas" pitchFamily="49" charset="0"/>
            </a:endParaRPr>
          </a:p>
        </p:txBody>
      </p:sp>
    </p:spTree>
    <p:extLst>
      <p:ext uri="{BB962C8B-B14F-4D97-AF65-F5344CB8AC3E}">
        <p14:creationId xmlns:p14="http://schemas.microsoft.com/office/powerpoint/2010/main" val="27921896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7" presetClass="entr" presetSubtype="0" fill="hold" nodeType="clickEffect">
                                  <p:stCondLst>
                                    <p:cond delay="0"/>
                                  </p:stCondLst>
                                  <p:iterate type="lt">
                                    <p:tmPct val="50000"/>
                                  </p:iterate>
                                  <p:childTnLst>
                                    <p:set>
                                      <p:cBhvr>
                                        <p:cTn id="10" dur="1" fill="hold">
                                          <p:stCondLst>
                                            <p:cond delay="0"/>
                                          </p:stCondLst>
                                        </p:cTn>
                                        <p:tgtEl>
                                          <p:spTgt spid="21">
                                            <p:txEl>
                                              <p:pRg st="0" end="0"/>
                                            </p:txEl>
                                          </p:spTgt>
                                        </p:tgtEl>
                                        <p:attrNameLst>
                                          <p:attrName>style.visibility</p:attrName>
                                        </p:attrNameLst>
                                      </p:cBhvr>
                                      <p:to>
                                        <p:strVal val="visible"/>
                                      </p:to>
                                    </p:set>
                                    <p:anim calcmode="discrete" valueType="clr">
                                      <p:cBhvr override="childStyle">
                                        <p:cTn id="11" dur="80"/>
                                        <p:tgtEl>
                                          <p:spTgt spid="2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21">
                                            <p:txEl>
                                              <p:pRg st="0" end="0"/>
                                            </p:txEl>
                                          </p:spTgt>
                                        </p:tgtEl>
                                        <p:attrNameLst>
                                          <p:attrName>fillcolor</p:attrName>
                                        </p:attrNameLst>
                                      </p:cBhvr>
                                      <p:tavLst>
                                        <p:tav tm="0">
                                          <p:val>
                                            <p:clrVal>
                                              <a:schemeClr val="accent2"/>
                                            </p:clrVal>
                                          </p:val>
                                        </p:tav>
                                        <p:tav tm="50000">
                                          <p:val>
                                            <p:clrVal>
                                              <a:schemeClr val="hlink"/>
                                            </p:clrVal>
                                          </p:val>
                                        </p:tav>
                                      </p:tavLst>
                                    </p:anim>
                                    <p:set>
                                      <p:cBhvr>
                                        <p:cTn id="13" dur="80"/>
                                        <p:tgtEl>
                                          <p:spTgt spid="21">
                                            <p:txEl>
                                              <p:pRg st="0" end="0"/>
                                            </p:txEl>
                                          </p:spTgt>
                                        </p:tgtEl>
                                        <p:attrNameLst>
                                          <p:attrName>fill.type</p:attrName>
                                        </p:attrNameLst>
                                      </p:cBhvr>
                                      <p:to>
                                        <p:strVal val="solid"/>
                                      </p:to>
                                    </p:set>
                                  </p:childTnLst>
                                </p:cTn>
                              </p:par>
                            </p:childTnLst>
                          </p:cTn>
                        </p:par>
                        <p:par>
                          <p:cTn id="14" fill="hold">
                            <p:stCondLst>
                              <p:cond delay="520"/>
                            </p:stCondLst>
                            <p:childTnLst>
                              <p:par>
                                <p:cTn id="15" presetID="27" presetClass="entr" presetSubtype="0" fill="hold" nodeType="afterEffect">
                                  <p:stCondLst>
                                    <p:cond delay="0"/>
                                  </p:stCondLst>
                                  <p:iterate type="lt">
                                    <p:tmPct val="50000"/>
                                  </p:iterate>
                                  <p:childTnLst>
                                    <p:set>
                                      <p:cBhvr>
                                        <p:cTn id="16" dur="1" fill="hold">
                                          <p:stCondLst>
                                            <p:cond delay="0"/>
                                          </p:stCondLst>
                                        </p:cTn>
                                        <p:tgtEl>
                                          <p:spTgt spid="21">
                                            <p:txEl>
                                              <p:pRg st="1" end="1"/>
                                            </p:txEl>
                                          </p:spTgt>
                                        </p:tgtEl>
                                        <p:attrNameLst>
                                          <p:attrName>style.visibility</p:attrName>
                                        </p:attrNameLst>
                                      </p:cBhvr>
                                      <p:to>
                                        <p:strVal val="visible"/>
                                      </p:to>
                                    </p:set>
                                    <p:anim calcmode="discrete" valueType="clr">
                                      <p:cBhvr override="childStyle">
                                        <p:cTn id="17" dur="80"/>
                                        <p:tgtEl>
                                          <p:spTgt spid="2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21">
                                            <p:txEl>
                                              <p:pRg st="1" end="1"/>
                                            </p:txEl>
                                          </p:spTgt>
                                        </p:tgtEl>
                                        <p:attrNameLst>
                                          <p:attrName>fillcolor</p:attrName>
                                        </p:attrNameLst>
                                      </p:cBhvr>
                                      <p:tavLst>
                                        <p:tav tm="0">
                                          <p:val>
                                            <p:clrVal>
                                              <a:schemeClr val="accent2"/>
                                            </p:clrVal>
                                          </p:val>
                                        </p:tav>
                                        <p:tav tm="50000">
                                          <p:val>
                                            <p:clrVal>
                                              <a:schemeClr val="hlink"/>
                                            </p:clrVal>
                                          </p:val>
                                        </p:tav>
                                      </p:tavLst>
                                    </p:anim>
                                    <p:set>
                                      <p:cBhvr>
                                        <p:cTn id="19" dur="80"/>
                                        <p:tgtEl>
                                          <p:spTgt spid="21">
                                            <p:txEl>
                                              <p:pRg st="1" end="1"/>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5FA88-6E5A-46E9-8380-97A67B94DF3B}"/>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EC2A5682-0A99-CB95-70FB-A103D069A396}"/>
              </a:ext>
            </a:extLst>
          </p:cNvPr>
          <p:cNvSpPr/>
          <p:nvPr/>
        </p:nvSpPr>
        <p:spPr>
          <a:xfrm>
            <a:off x="1415480" y="1871153"/>
            <a:ext cx="2236510" cy="400110"/>
          </a:xfrm>
          <a:prstGeom prst="rect">
            <a:avLst/>
          </a:prstGeom>
        </p:spPr>
        <p:txBody>
          <a:bodyPr wrap="none">
            <a:spAutoFit/>
          </a:bodyPr>
          <a:lstStyle/>
          <a:p>
            <a:r>
              <a:rPr kumimoji="1" lang="en-US" altLang="zh-CN" sz="2000" dirty="0">
                <a:latin typeface="Times New Roman" pitchFamily="18" charset="0"/>
                <a:ea typeface="微软雅黑" pitchFamily="34" charset="-122"/>
                <a:cs typeface="Times New Roman" pitchFamily="18" charset="0"/>
              </a:rPr>
              <a:t>③</a:t>
            </a:r>
            <a:r>
              <a:rPr kumimoji="1" lang="zh-CN" altLang="en-US" sz="2000" dirty="0">
                <a:latin typeface="Times New Roman" pitchFamily="18" charset="0"/>
                <a:ea typeface="微软雅黑" pitchFamily="34" charset="-122"/>
                <a:cs typeface="Times New Roman" pitchFamily="18" charset="0"/>
              </a:rPr>
              <a:t>、多关键字排序</a:t>
            </a:r>
          </a:p>
        </p:txBody>
      </p:sp>
      <p:sp>
        <p:nvSpPr>
          <p:cNvPr id="3" name="矩形 2">
            <a:extLst>
              <a:ext uri="{FF2B5EF4-FFF2-40B4-BE49-F238E27FC236}">
                <a16:creationId xmlns:a16="http://schemas.microsoft.com/office/drawing/2014/main" id="{68128AC2-FCA4-0F10-979A-3358A2E77522}"/>
              </a:ext>
            </a:extLst>
          </p:cNvPr>
          <p:cNvSpPr/>
          <p:nvPr/>
        </p:nvSpPr>
        <p:spPr>
          <a:xfrm>
            <a:off x="1421386" y="2526096"/>
            <a:ext cx="9073008" cy="1631216"/>
          </a:xfrm>
          <a:prstGeom prst="rect">
            <a:avLst/>
          </a:prstGeom>
        </p:spPr>
        <p:txBody>
          <a:bodyPr wrap="square">
            <a:spAutoFit/>
          </a:bodyPr>
          <a:lstStyle/>
          <a:p>
            <a:r>
              <a:rPr kumimoji="1" lang="zh-CN" altLang="en-US" sz="2000" dirty="0">
                <a:solidFill>
                  <a:srgbClr val="FF0000"/>
                </a:solidFill>
                <a:latin typeface="Times New Roman" pitchFamily="18" charset="0"/>
                <a:ea typeface="微软雅黑" pitchFamily="34" charset="-122"/>
                <a:cs typeface="Times New Roman" pitchFamily="18" charset="0"/>
              </a:rPr>
              <a:t>最高位优先</a:t>
            </a:r>
            <a:r>
              <a:rPr kumimoji="1" lang="en-US" altLang="zh-CN" sz="2000" dirty="0">
                <a:solidFill>
                  <a:srgbClr val="FF0000"/>
                </a:solidFill>
                <a:latin typeface="Times New Roman" pitchFamily="18" charset="0"/>
                <a:ea typeface="微软雅黑" pitchFamily="34" charset="-122"/>
                <a:cs typeface="Times New Roman" pitchFamily="18" charset="0"/>
              </a:rPr>
              <a:t>(MSD)</a:t>
            </a:r>
            <a:r>
              <a:rPr kumimoji="1" lang="zh-CN" altLang="en-US" sz="2000" dirty="0">
                <a:latin typeface="Times New Roman" pitchFamily="18" charset="0"/>
                <a:ea typeface="微软雅黑" pitchFamily="34" charset="-122"/>
                <a:cs typeface="Times New Roman" pitchFamily="18" charset="0"/>
              </a:rPr>
              <a:t>：先对最主位关键字</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zh-CN" altLang="en-US" sz="2000" dirty="0">
                <a:latin typeface="Times New Roman" pitchFamily="18" charset="0"/>
                <a:ea typeface="微软雅黑" pitchFamily="34" charset="-122"/>
                <a:cs typeface="Times New Roman" pitchFamily="18" charset="0"/>
              </a:rPr>
              <a:t>进行排序</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将序列分成若干个子序列，每个子序列中的元素具有相同的</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zh-CN" altLang="en-US" sz="2000" dirty="0">
                <a:latin typeface="Times New Roman" pitchFamily="18" charset="0"/>
                <a:ea typeface="微软雅黑" pitchFamily="34" charset="-122"/>
                <a:cs typeface="Times New Roman" pitchFamily="18" charset="0"/>
              </a:rPr>
              <a:t>值，然后分别就每个子序列对关键字</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1</a:t>
            </a:r>
            <a:r>
              <a:rPr kumimoji="1" lang="zh-CN" altLang="en-US" sz="2000" dirty="0">
                <a:latin typeface="Times New Roman" pitchFamily="18" charset="0"/>
                <a:ea typeface="微软雅黑" pitchFamily="34" charset="-122"/>
                <a:cs typeface="Times New Roman" pitchFamily="18" charset="0"/>
              </a:rPr>
              <a:t>进行排序，按</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1</a:t>
            </a:r>
            <a:r>
              <a:rPr kumimoji="1" lang="zh-CN" altLang="en-US" sz="2000" dirty="0">
                <a:latin typeface="Times New Roman" pitchFamily="18" charset="0"/>
                <a:ea typeface="微软雅黑" pitchFamily="34" charset="-122"/>
                <a:cs typeface="Times New Roman" pitchFamily="18" charset="0"/>
              </a:rPr>
              <a:t>值的不同再分成更小的子序列，依次重复，直至对</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d-2</a:t>
            </a:r>
            <a:r>
              <a:rPr kumimoji="1" lang="zh-CN" altLang="en-US" sz="2000" dirty="0">
                <a:latin typeface="Times New Roman" pitchFamily="18" charset="0"/>
                <a:ea typeface="微软雅黑" pitchFamily="34" charset="-122"/>
                <a:cs typeface="Times New Roman" pitchFamily="18" charset="0"/>
              </a:rPr>
              <a:t>进行排序之后得到的每个子序列中的元素都具有相同的</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dirty="0">
                <a:latin typeface="Times New Roman" pitchFamily="18" charset="0"/>
                <a:ea typeface="微软雅黑" pitchFamily="34" charset="-122"/>
                <a:cs typeface="Times New Roman" pitchFamily="18" charset="0"/>
              </a:rPr>
              <a:t>,..., K</a:t>
            </a:r>
            <a:r>
              <a:rPr kumimoji="1" lang="en-US" altLang="zh-CN" sz="2000" baseline="30000" dirty="0">
                <a:latin typeface="Times New Roman" pitchFamily="18" charset="0"/>
                <a:ea typeface="微软雅黑" pitchFamily="34" charset="-122"/>
                <a:cs typeface="Times New Roman" pitchFamily="18" charset="0"/>
              </a:rPr>
              <a:t>d-2</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，而后分别每个子序列对</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d-1</a:t>
            </a:r>
            <a:r>
              <a:rPr kumimoji="1" lang="en-US" altLang="zh-CN" sz="2000" dirty="0">
                <a:latin typeface="Times New Roman" pitchFamily="18" charset="0"/>
                <a:ea typeface="微软雅黑" pitchFamily="34" charset="-122"/>
                <a:cs typeface="Times New Roman" pitchFamily="18" charset="0"/>
              </a:rPr>
              <a:t> </a:t>
            </a:r>
            <a:r>
              <a:rPr kumimoji="1" lang="zh-CN" altLang="en-US" sz="2000" dirty="0">
                <a:latin typeface="Times New Roman" pitchFamily="18" charset="0"/>
                <a:ea typeface="微软雅黑" pitchFamily="34" charset="-122"/>
                <a:cs typeface="Times New Roman" pitchFamily="18" charset="0"/>
              </a:rPr>
              <a:t>进行排序，最后将所有子序列依次联接在一起成为一个有序序列。</a:t>
            </a:r>
            <a:endParaRPr lang="zh-CN" altLang="en-US" sz="2000" dirty="0"/>
          </a:p>
        </p:txBody>
      </p:sp>
      <p:sp>
        <p:nvSpPr>
          <p:cNvPr id="9" name="矩形 8">
            <a:extLst>
              <a:ext uri="{FF2B5EF4-FFF2-40B4-BE49-F238E27FC236}">
                <a16:creationId xmlns:a16="http://schemas.microsoft.com/office/drawing/2014/main" id="{3CE24BEC-8F2F-948A-A913-BE7EF817664D}"/>
              </a:ext>
            </a:extLst>
          </p:cNvPr>
          <p:cNvSpPr/>
          <p:nvPr/>
        </p:nvSpPr>
        <p:spPr>
          <a:xfrm>
            <a:off x="1487488" y="4428179"/>
            <a:ext cx="8856984" cy="707886"/>
          </a:xfrm>
          <a:prstGeom prst="rect">
            <a:avLst/>
          </a:prstGeom>
        </p:spPr>
        <p:txBody>
          <a:bodyPr wrap="square">
            <a:spAutoFit/>
          </a:bodyPr>
          <a:lstStyle/>
          <a:p>
            <a:r>
              <a:rPr kumimoji="1" lang="zh-CN" altLang="en-US" sz="2000" dirty="0">
                <a:solidFill>
                  <a:srgbClr val="FF0000"/>
                </a:solidFill>
                <a:latin typeface="Times New Roman" pitchFamily="18" charset="0"/>
                <a:ea typeface="微软雅黑" pitchFamily="34" charset="-122"/>
                <a:cs typeface="Times New Roman" pitchFamily="18" charset="0"/>
              </a:rPr>
              <a:t>最低位优先</a:t>
            </a:r>
            <a:r>
              <a:rPr kumimoji="1" lang="en-US" altLang="zh-CN" sz="2000" dirty="0">
                <a:solidFill>
                  <a:srgbClr val="FF0000"/>
                </a:solidFill>
                <a:latin typeface="Times New Roman" pitchFamily="18" charset="0"/>
                <a:ea typeface="微软雅黑" pitchFamily="34" charset="-122"/>
                <a:cs typeface="Times New Roman" pitchFamily="18" charset="0"/>
              </a:rPr>
              <a:t>(LSD)</a:t>
            </a:r>
            <a:r>
              <a:rPr kumimoji="1" lang="zh-CN" altLang="en-US" sz="2000" dirty="0">
                <a:latin typeface="Times New Roman" pitchFamily="18" charset="0"/>
                <a:ea typeface="微软雅黑" pitchFamily="34" charset="-122"/>
                <a:cs typeface="Times New Roman" pitchFamily="18" charset="0"/>
              </a:rPr>
              <a:t>：先对最次位关键字</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d-1</a:t>
            </a:r>
            <a:r>
              <a:rPr kumimoji="1" lang="zh-CN" altLang="en-US" sz="2000" dirty="0">
                <a:latin typeface="Times New Roman" pitchFamily="18" charset="0"/>
                <a:ea typeface="微软雅黑" pitchFamily="34" charset="-122"/>
                <a:cs typeface="Times New Roman" pitchFamily="18" charset="0"/>
              </a:rPr>
              <a:t>进行排序</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然后对</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d-2</a:t>
            </a:r>
            <a:r>
              <a:rPr kumimoji="1" lang="zh-CN" altLang="en-US" sz="2000" dirty="0">
                <a:latin typeface="Times New Roman" pitchFamily="18" charset="0"/>
                <a:ea typeface="微软雅黑" pitchFamily="34" charset="-122"/>
                <a:cs typeface="Times New Roman" pitchFamily="18" charset="0"/>
              </a:rPr>
              <a:t>进行排序，依次重复，直至对</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zh-CN" altLang="en-US" sz="2000" dirty="0">
                <a:latin typeface="Times New Roman" pitchFamily="18" charset="0"/>
                <a:ea typeface="微软雅黑" pitchFamily="34" charset="-122"/>
                <a:cs typeface="Times New Roman" pitchFamily="18" charset="0"/>
              </a:rPr>
              <a:t>进行排序后便成为一个有序序列。</a:t>
            </a:r>
            <a:endParaRPr lang="zh-CN" altLang="en-US" sz="2000" dirty="0"/>
          </a:p>
        </p:txBody>
      </p:sp>
      <p:sp>
        <p:nvSpPr>
          <p:cNvPr id="2" name="矩形 1">
            <a:extLst>
              <a:ext uri="{FF2B5EF4-FFF2-40B4-BE49-F238E27FC236}">
                <a16:creationId xmlns:a16="http://schemas.microsoft.com/office/drawing/2014/main" id="{BCD6F124-B06A-FDBC-CA58-12C830526419}"/>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10.6.2 </a:t>
            </a:r>
            <a:r>
              <a:rPr lang="zh-CN" altLang="en-US" sz="2800" b="1" dirty="0">
                <a:solidFill>
                  <a:schemeClr val="bg1"/>
                </a:solidFill>
                <a:latin typeface="经典粗黑简" pitchFamily="49" charset="-122"/>
                <a:ea typeface="经典粗黑简" pitchFamily="49" charset="-122"/>
                <a:cs typeface="经典粗黑简" pitchFamily="49" charset="-122"/>
              </a:rPr>
              <a:t>基数排序的分类</a:t>
            </a:r>
          </a:p>
        </p:txBody>
      </p:sp>
      <p:cxnSp>
        <p:nvCxnSpPr>
          <p:cNvPr id="4" name="直接连接符 3">
            <a:extLst>
              <a:ext uri="{FF2B5EF4-FFF2-40B4-BE49-F238E27FC236}">
                <a16:creationId xmlns:a16="http://schemas.microsoft.com/office/drawing/2014/main" id="{6E9ADD6F-315A-D5B9-F815-3E5075966264}"/>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8D78B6D4-025B-3CEA-9AE3-E88B58076506}"/>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Tree>
    <p:extLst>
      <p:ext uri="{BB962C8B-B14F-4D97-AF65-F5344CB8AC3E}">
        <p14:creationId xmlns:p14="http://schemas.microsoft.com/office/powerpoint/2010/main" val="42809917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87488" y="1883820"/>
            <a:ext cx="7704856" cy="400110"/>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借助“</a:t>
            </a:r>
            <a:r>
              <a:rPr kumimoji="1" lang="zh-CN" altLang="en-US" sz="2000" dirty="0">
                <a:solidFill>
                  <a:srgbClr val="FF0000"/>
                </a:solidFill>
                <a:latin typeface="Times New Roman" pitchFamily="18" charset="0"/>
                <a:ea typeface="微软雅黑" pitchFamily="34" charset="-122"/>
                <a:cs typeface="Times New Roman" pitchFamily="18" charset="0"/>
              </a:rPr>
              <a:t>分配</a:t>
            </a:r>
            <a:r>
              <a:rPr kumimoji="1" lang="zh-CN" altLang="en-US" sz="2000" dirty="0">
                <a:latin typeface="Times New Roman" pitchFamily="18" charset="0"/>
                <a:ea typeface="微软雅黑" pitchFamily="34" charset="-122"/>
                <a:cs typeface="Times New Roman" pitchFamily="18" charset="0"/>
              </a:rPr>
              <a:t>”和“</a:t>
            </a:r>
            <a:r>
              <a:rPr kumimoji="1" lang="zh-CN" altLang="en-US" sz="2000" dirty="0">
                <a:solidFill>
                  <a:srgbClr val="FF0000"/>
                </a:solidFill>
                <a:latin typeface="Times New Roman" pitchFamily="18" charset="0"/>
                <a:ea typeface="微软雅黑" pitchFamily="34" charset="-122"/>
                <a:cs typeface="Times New Roman" pitchFamily="18" charset="0"/>
              </a:rPr>
              <a:t>收集</a:t>
            </a:r>
            <a:r>
              <a:rPr kumimoji="1" lang="zh-CN" altLang="en-US" sz="2000" dirty="0">
                <a:latin typeface="Times New Roman" pitchFamily="18" charset="0"/>
                <a:ea typeface="微软雅黑" pitchFamily="34" charset="-122"/>
                <a:cs typeface="Times New Roman" pitchFamily="18" charset="0"/>
              </a:rPr>
              <a:t>”两种操作对单逻辑关键字进行排序的方法。</a:t>
            </a:r>
            <a:endParaRPr lang="zh-CN" altLang="en-US" sz="2000" dirty="0"/>
          </a:p>
        </p:txBody>
      </p:sp>
      <p:sp>
        <p:nvSpPr>
          <p:cNvPr id="8" name="矩形 7"/>
          <p:cNvSpPr/>
          <p:nvPr/>
        </p:nvSpPr>
        <p:spPr>
          <a:xfrm>
            <a:off x="1487488" y="2459504"/>
            <a:ext cx="8928992" cy="1938992"/>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有的单逻辑关键字可以看成是由若干个关键字复合而成。例如，若关键字是数值，且其值都在</a:t>
            </a:r>
            <a:r>
              <a:rPr kumimoji="1" lang="en-US" altLang="zh-CN" sz="2000" dirty="0">
                <a:latin typeface="Times New Roman" pitchFamily="18" charset="0"/>
                <a:ea typeface="微软雅黑" pitchFamily="34" charset="-122"/>
                <a:cs typeface="Times New Roman" pitchFamily="18" charset="0"/>
              </a:rPr>
              <a:t>0≤K≤999</a:t>
            </a:r>
            <a:r>
              <a:rPr kumimoji="1" lang="zh-CN" altLang="en-US" sz="2000" dirty="0">
                <a:latin typeface="Times New Roman" pitchFamily="18" charset="0"/>
                <a:ea typeface="微软雅黑" pitchFamily="34" charset="-122"/>
                <a:cs typeface="Times New Roman" pitchFamily="18" charset="0"/>
              </a:rPr>
              <a:t>范围内，则可把每一个十进制数字看成一个关键字，即可认为</a:t>
            </a:r>
            <a:r>
              <a:rPr kumimoji="1" lang="en-US" altLang="zh-CN" sz="2000" dirty="0">
                <a:latin typeface="Times New Roman" pitchFamily="18" charset="0"/>
                <a:ea typeface="微软雅黑" pitchFamily="34" charset="-122"/>
                <a:cs typeface="Times New Roman" pitchFamily="18" charset="0"/>
              </a:rPr>
              <a:t>K</a:t>
            </a:r>
            <a:r>
              <a:rPr kumimoji="1" lang="zh-CN" altLang="en-US" sz="2000" dirty="0">
                <a:latin typeface="Times New Roman" pitchFamily="18" charset="0"/>
                <a:ea typeface="微软雅黑" pitchFamily="34" charset="-122"/>
                <a:cs typeface="Times New Roman" pitchFamily="18" charset="0"/>
              </a:rPr>
              <a:t>由</a:t>
            </a:r>
            <a:r>
              <a:rPr kumimoji="1" lang="en-US" altLang="zh-CN" sz="2000" dirty="0">
                <a:latin typeface="Times New Roman" pitchFamily="18" charset="0"/>
                <a:ea typeface="微软雅黑" pitchFamily="34" charset="-122"/>
                <a:cs typeface="Times New Roman" pitchFamily="18" charset="0"/>
              </a:rPr>
              <a:t>3</a:t>
            </a:r>
            <a:r>
              <a:rPr kumimoji="1" lang="zh-CN" altLang="en-US" sz="2000" dirty="0">
                <a:latin typeface="Times New Roman" pitchFamily="18" charset="0"/>
                <a:ea typeface="微软雅黑" pitchFamily="34" charset="-122"/>
                <a:cs typeface="Times New Roman" pitchFamily="18" charset="0"/>
              </a:rPr>
              <a:t>个关键字</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1</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2</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组成，其中，</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0</a:t>
            </a:r>
            <a:r>
              <a:rPr kumimoji="1" lang="zh-CN" altLang="en-US" sz="2000" dirty="0">
                <a:latin typeface="Times New Roman" pitchFamily="18" charset="0"/>
                <a:ea typeface="微软雅黑" pitchFamily="34" charset="-122"/>
                <a:cs typeface="Times New Roman" pitchFamily="18" charset="0"/>
              </a:rPr>
              <a:t>是百位数，</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1</a:t>
            </a:r>
            <a:r>
              <a:rPr kumimoji="1" lang="zh-CN" altLang="en-US" sz="2000" dirty="0">
                <a:latin typeface="Times New Roman" pitchFamily="18" charset="0"/>
                <a:ea typeface="微软雅黑" pitchFamily="34" charset="-122"/>
                <a:cs typeface="Times New Roman" pitchFamily="18" charset="0"/>
              </a:rPr>
              <a:t>是十位数，</a:t>
            </a:r>
            <a:r>
              <a:rPr kumimoji="1" lang="en-US" altLang="zh-CN" sz="2000" dirty="0">
                <a:latin typeface="Times New Roman" pitchFamily="18" charset="0"/>
                <a:ea typeface="微软雅黑" pitchFamily="34" charset="-122"/>
                <a:cs typeface="Times New Roman" pitchFamily="18" charset="0"/>
              </a:rPr>
              <a:t>K</a:t>
            </a:r>
            <a:r>
              <a:rPr kumimoji="1" lang="en-US" altLang="zh-CN" sz="2000" baseline="30000" dirty="0">
                <a:latin typeface="Times New Roman" pitchFamily="18" charset="0"/>
                <a:ea typeface="微软雅黑" pitchFamily="34" charset="-122"/>
                <a:cs typeface="Times New Roman" pitchFamily="18" charset="0"/>
              </a:rPr>
              <a:t>2</a:t>
            </a:r>
            <a:r>
              <a:rPr kumimoji="1" lang="zh-CN" altLang="en-US" sz="2000" dirty="0">
                <a:latin typeface="Times New Roman" pitchFamily="18" charset="0"/>
                <a:ea typeface="微软雅黑" pitchFamily="34" charset="-122"/>
                <a:cs typeface="Times New Roman" pitchFamily="18" charset="0"/>
              </a:rPr>
              <a:t>是个位数，且</a:t>
            </a:r>
            <a:r>
              <a:rPr kumimoji="1" lang="en-US" altLang="zh-CN" sz="2000" dirty="0">
                <a:latin typeface="Times New Roman" pitchFamily="18" charset="0"/>
                <a:ea typeface="微软雅黑" pitchFamily="34" charset="-122"/>
                <a:cs typeface="Times New Roman" pitchFamily="18" charset="0"/>
              </a:rPr>
              <a:t>0≤K</a:t>
            </a:r>
            <a:r>
              <a:rPr kumimoji="1" lang="en-US" altLang="zh-CN" sz="2000" baseline="30000" dirty="0">
                <a:latin typeface="Times New Roman" pitchFamily="18" charset="0"/>
                <a:ea typeface="微软雅黑" pitchFamily="34" charset="-122"/>
                <a:cs typeface="Times New Roman" pitchFamily="18" charset="0"/>
              </a:rPr>
              <a:t>i</a:t>
            </a:r>
            <a:r>
              <a:rPr kumimoji="1" lang="en-US" altLang="zh-CN" sz="2000" dirty="0">
                <a:latin typeface="Times New Roman" pitchFamily="18" charset="0"/>
                <a:ea typeface="微软雅黑" pitchFamily="34" charset="-122"/>
                <a:cs typeface="Times New Roman" pitchFamily="18" charset="0"/>
              </a:rPr>
              <a:t>≤9(RADIX</a:t>
            </a:r>
            <a:r>
              <a:rPr kumimoji="1" lang="zh-CN" altLang="en-US" sz="2000" dirty="0">
                <a:latin typeface="Times New Roman" pitchFamily="18" charset="0"/>
                <a:ea typeface="微软雅黑" pitchFamily="34" charset="-122"/>
                <a:cs typeface="Times New Roman" pitchFamily="18" charset="0"/>
              </a:rPr>
              <a:t>＝</a:t>
            </a:r>
            <a:r>
              <a:rPr kumimoji="1" lang="en-US" altLang="zh-CN" sz="2000" dirty="0">
                <a:latin typeface="Times New Roman" pitchFamily="18" charset="0"/>
                <a:ea typeface="微软雅黑" pitchFamily="34" charset="-122"/>
                <a:cs typeface="Times New Roman" pitchFamily="18" charset="0"/>
              </a:rPr>
              <a:t>10)</a:t>
            </a:r>
            <a:r>
              <a:rPr kumimoji="1" lang="zh-CN" altLang="en-US" sz="2000" dirty="0">
                <a:latin typeface="Times New Roman" pitchFamily="18" charset="0"/>
                <a:ea typeface="微软雅黑" pitchFamily="34" charset="-122"/>
                <a:cs typeface="Times New Roman" pitchFamily="18" charset="0"/>
              </a:rPr>
              <a:t>，由于每个关键字的范围相同，则按</a:t>
            </a:r>
            <a:r>
              <a:rPr kumimoji="1" lang="en-US" altLang="zh-CN" sz="2000" dirty="0">
                <a:latin typeface="Times New Roman" pitchFamily="18" charset="0"/>
                <a:ea typeface="微软雅黑" pitchFamily="34" charset="-122"/>
                <a:cs typeface="Times New Roman" pitchFamily="18" charset="0"/>
              </a:rPr>
              <a:t>LSD</a:t>
            </a:r>
            <a:r>
              <a:rPr kumimoji="1" lang="zh-CN" altLang="en-US" sz="2000" dirty="0">
                <a:latin typeface="Times New Roman" pitchFamily="18" charset="0"/>
                <a:ea typeface="微软雅黑" pitchFamily="34" charset="-122"/>
                <a:cs typeface="Times New Roman" pitchFamily="18" charset="0"/>
              </a:rPr>
              <a:t>进行排序，只要从最低数位关键字起，按关键字的不同值将序列中记录“分配”到</a:t>
            </a:r>
            <a:r>
              <a:rPr kumimoji="1" lang="en-US" altLang="zh-CN" sz="2000" dirty="0">
                <a:latin typeface="Times New Roman" pitchFamily="18" charset="0"/>
                <a:ea typeface="微软雅黑" pitchFamily="34" charset="-122"/>
                <a:cs typeface="Times New Roman" pitchFamily="18" charset="0"/>
              </a:rPr>
              <a:t>RADIX</a:t>
            </a:r>
            <a:r>
              <a:rPr kumimoji="1" lang="zh-CN" altLang="en-US" sz="2000" dirty="0">
                <a:latin typeface="Times New Roman" pitchFamily="18" charset="0"/>
                <a:ea typeface="微软雅黑" pitchFamily="34" charset="-122"/>
                <a:cs typeface="Times New Roman" pitchFamily="18" charset="0"/>
              </a:rPr>
              <a:t>个队列中后再“收集”之，如此重复</a:t>
            </a:r>
            <a:r>
              <a:rPr kumimoji="1" lang="en-US" altLang="zh-CN" sz="2000" dirty="0">
                <a:latin typeface="Times New Roman" pitchFamily="18" charset="0"/>
                <a:ea typeface="微软雅黑" pitchFamily="34" charset="-122"/>
                <a:cs typeface="Times New Roman" pitchFamily="18" charset="0"/>
              </a:rPr>
              <a:t>d</a:t>
            </a:r>
            <a:r>
              <a:rPr kumimoji="1" lang="zh-CN" altLang="en-US" sz="2000" dirty="0">
                <a:latin typeface="Times New Roman" pitchFamily="18" charset="0"/>
                <a:ea typeface="微软雅黑" pitchFamily="34" charset="-122"/>
                <a:cs typeface="Times New Roman" pitchFamily="18" charset="0"/>
              </a:rPr>
              <a:t>次，即可实现基数排序。</a:t>
            </a:r>
            <a:endParaRPr lang="zh-CN" altLang="en-US" sz="2000" dirty="0"/>
          </a:p>
        </p:txBody>
      </p:sp>
      <p:sp>
        <p:nvSpPr>
          <p:cNvPr id="9" name="矩形 8"/>
          <p:cNvSpPr/>
          <p:nvPr/>
        </p:nvSpPr>
        <p:spPr>
          <a:xfrm>
            <a:off x="1482546" y="4653136"/>
            <a:ext cx="9077949" cy="1015663"/>
          </a:xfrm>
          <a:prstGeom prst="rect">
            <a:avLst/>
          </a:prstGeom>
        </p:spPr>
        <p:txBody>
          <a:bodyPr wrap="square">
            <a:spAutoFit/>
          </a:bodyPr>
          <a:lstStyle/>
          <a:p>
            <a:r>
              <a:rPr kumimoji="1" lang="zh-CN" altLang="en-US" sz="2000" dirty="0">
                <a:latin typeface="Times New Roman" pitchFamily="18" charset="0"/>
                <a:ea typeface="微软雅黑" pitchFamily="34" charset="-122"/>
                <a:cs typeface="Times New Roman" pitchFamily="18" charset="0"/>
              </a:rPr>
              <a:t>具体来讲，第一次分配对最低位关键字</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个位数</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进行，将初始序列中的元素分配到</a:t>
            </a:r>
            <a:r>
              <a:rPr kumimoji="1" lang="en-US" altLang="zh-CN" sz="2000" dirty="0">
                <a:latin typeface="Times New Roman" pitchFamily="18" charset="0"/>
                <a:ea typeface="微软雅黑" pitchFamily="34" charset="-122"/>
                <a:cs typeface="Times New Roman" pitchFamily="18" charset="0"/>
              </a:rPr>
              <a:t>RADIX</a:t>
            </a:r>
            <a:r>
              <a:rPr kumimoji="1" lang="zh-CN" altLang="en-US" sz="2000" dirty="0">
                <a:latin typeface="Times New Roman" pitchFamily="18" charset="0"/>
                <a:ea typeface="微软雅黑" pitchFamily="34" charset="-122"/>
                <a:cs typeface="Times New Roman" pitchFamily="18" charset="0"/>
              </a:rPr>
              <a:t>个队列中去，每个队列中的元素到关键字的个位数相同。用</a:t>
            </a:r>
            <a:r>
              <a:rPr kumimoji="1" lang="en-US" altLang="zh-CN" sz="2000" dirty="0">
                <a:latin typeface="Times New Roman" pitchFamily="18" charset="0"/>
                <a:ea typeface="微软雅黑" pitchFamily="34" charset="-122"/>
                <a:cs typeface="Times New Roman" pitchFamily="18" charset="0"/>
              </a:rPr>
              <a:t>f[i]</a:t>
            </a:r>
            <a:r>
              <a:rPr kumimoji="1" lang="zh-CN" altLang="en-US" sz="2000" dirty="0">
                <a:latin typeface="Times New Roman" pitchFamily="18" charset="0"/>
                <a:ea typeface="微软雅黑" pitchFamily="34" charset="-122"/>
                <a:cs typeface="Times New Roman" pitchFamily="18" charset="0"/>
              </a:rPr>
              <a:t>和</a:t>
            </a:r>
            <a:r>
              <a:rPr kumimoji="1" lang="en-US" altLang="zh-CN" sz="2000" dirty="0">
                <a:latin typeface="Times New Roman" pitchFamily="18" charset="0"/>
                <a:ea typeface="微软雅黑" pitchFamily="34" charset="-122"/>
                <a:cs typeface="Times New Roman" pitchFamily="18" charset="0"/>
              </a:rPr>
              <a:t>e[i]</a:t>
            </a:r>
            <a:r>
              <a:rPr kumimoji="1" lang="zh-CN" altLang="en-US" sz="2000" dirty="0">
                <a:latin typeface="Times New Roman" pitchFamily="18" charset="0"/>
                <a:ea typeface="微软雅黑" pitchFamily="34" charset="-122"/>
                <a:cs typeface="Times New Roman" pitchFamily="18" charset="0"/>
              </a:rPr>
              <a:t>分别表示第</a:t>
            </a:r>
            <a:r>
              <a:rPr kumimoji="1" lang="en-US" altLang="zh-CN" sz="2000" dirty="0">
                <a:latin typeface="Times New Roman" pitchFamily="18" charset="0"/>
                <a:ea typeface="微软雅黑" pitchFamily="34" charset="-122"/>
                <a:cs typeface="Times New Roman" pitchFamily="18" charset="0"/>
              </a:rPr>
              <a:t>i</a:t>
            </a:r>
            <a:r>
              <a:rPr kumimoji="1" lang="zh-CN" altLang="en-US" sz="2000" dirty="0">
                <a:latin typeface="Times New Roman" pitchFamily="18" charset="0"/>
                <a:ea typeface="微软雅黑" pitchFamily="34" charset="-122"/>
                <a:cs typeface="Times New Roman" pitchFamily="18" charset="0"/>
              </a:rPr>
              <a:t>个队列的头指针和尾指针。</a:t>
            </a:r>
            <a:endParaRPr lang="zh-CN" altLang="en-US" sz="2000" dirty="0"/>
          </a:p>
        </p:txBody>
      </p:sp>
      <p:cxnSp>
        <p:nvCxnSpPr>
          <p:cNvPr id="4" name="直接连接符 3">
            <a:extLst>
              <a:ext uri="{FF2B5EF4-FFF2-40B4-BE49-F238E27FC236}">
                <a16:creationId xmlns:a16="http://schemas.microsoft.com/office/drawing/2014/main" id="{4D616CC8-9DD2-451D-6FD4-54B99FEB104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3715712B-CEEA-7C4E-C912-B7DDB8A4B8D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
        <p:nvSpPr>
          <p:cNvPr id="6" name="矩形 5">
            <a:extLst>
              <a:ext uri="{FF2B5EF4-FFF2-40B4-BE49-F238E27FC236}">
                <a16:creationId xmlns:a16="http://schemas.microsoft.com/office/drawing/2014/main" id="{A4D08766-E3D7-14F3-C260-930293D67FFC}"/>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10.6.2 </a:t>
            </a:r>
            <a:r>
              <a:rPr lang="zh-CN" altLang="en-US" sz="2800" b="1" dirty="0">
                <a:solidFill>
                  <a:schemeClr val="bg1"/>
                </a:solidFill>
                <a:latin typeface="经典粗黑简" pitchFamily="49" charset="-122"/>
                <a:ea typeface="经典粗黑简" pitchFamily="49" charset="-122"/>
                <a:cs typeface="经典粗黑简" pitchFamily="49" charset="-122"/>
              </a:rPr>
              <a:t>基数排序的分类</a:t>
            </a:r>
          </a:p>
        </p:txBody>
      </p:sp>
    </p:spTree>
    <p:extLst>
      <p:ext uri="{BB962C8B-B14F-4D97-AF65-F5344CB8AC3E}">
        <p14:creationId xmlns:p14="http://schemas.microsoft.com/office/powerpoint/2010/main" val="2778745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ChangeArrowheads="1"/>
          </p:cNvSpPr>
          <p:nvPr/>
        </p:nvSpPr>
        <p:spPr bwMode="auto">
          <a:xfrm>
            <a:off x="22098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sp>
        <p:nvSpPr>
          <p:cNvPr id="89093" name="Rectangle 5"/>
          <p:cNvSpPr>
            <a:spLocks noChangeArrowheads="1"/>
          </p:cNvSpPr>
          <p:nvPr/>
        </p:nvSpPr>
        <p:spPr bwMode="auto">
          <a:xfrm>
            <a:off x="30480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sp>
        <p:nvSpPr>
          <p:cNvPr id="89094" name="Line 6"/>
          <p:cNvSpPr>
            <a:spLocks noChangeShapeType="1"/>
          </p:cNvSpPr>
          <p:nvPr/>
        </p:nvSpPr>
        <p:spPr bwMode="auto">
          <a:xfrm>
            <a:off x="1981200" y="2151112"/>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095" name="Line 7"/>
          <p:cNvSpPr>
            <a:spLocks noChangeShapeType="1"/>
          </p:cNvSpPr>
          <p:nvPr/>
        </p:nvSpPr>
        <p:spPr bwMode="auto">
          <a:xfrm>
            <a:off x="2819400" y="2151112"/>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096" name="Rectangle 8"/>
          <p:cNvSpPr>
            <a:spLocks noChangeArrowheads="1"/>
          </p:cNvSpPr>
          <p:nvPr/>
        </p:nvSpPr>
        <p:spPr bwMode="auto">
          <a:xfrm>
            <a:off x="38862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sp>
        <p:nvSpPr>
          <p:cNvPr id="89097" name="Rectangle 9"/>
          <p:cNvSpPr>
            <a:spLocks noChangeArrowheads="1"/>
          </p:cNvSpPr>
          <p:nvPr/>
        </p:nvSpPr>
        <p:spPr bwMode="auto">
          <a:xfrm>
            <a:off x="4724400" y="1927276"/>
            <a:ext cx="609600" cy="376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sp>
        <p:nvSpPr>
          <p:cNvPr id="89098" name="Line 10"/>
          <p:cNvSpPr>
            <a:spLocks noChangeShapeType="1"/>
          </p:cNvSpPr>
          <p:nvPr/>
        </p:nvSpPr>
        <p:spPr bwMode="auto">
          <a:xfrm>
            <a:off x="3657600" y="21558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099" name="Line 11"/>
          <p:cNvSpPr>
            <a:spLocks noChangeShapeType="1"/>
          </p:cNvSpPr>
          <p:nvPr/>
        </p:nvSpPr>
        <p:spPr bwMode="auto">
          <a:xfrm>
            <a:off x="4495800" y="21558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00" name="Rectangle 12"/>
          <p:cNvSpPr>
            <a:spLocks noChangeArrowheads="1"/>
          </p:cNvSpPr>
          <p:nvPr/>
        </p:nvSpPr>
        <p:spPr bwMode="auto">
          <a:xfrm>
            <a:off x="55626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sp>
        <p:nvSpPr>
          <p:cNvPr id="89101" name="Rectangle 13"/>
          <p:cNvSpPr>
            <a:spLocks noChangeArrowheads="1"/>
          </p:cNvSpPr>
          <p:nvPr/>
        </p:nvSpPr>
        <p:spPr bwMode="auto">
          <a:xfrm>
            <a:off x="64008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sp>
        <p:nvSpPr>
          <p:cNvPr id="89102" name="Line 14"/>
          <p:cNvSpPr>
            <a:spLocks noChangeShapeType="1"/>
          </p:cNvSpPr>
          <p:nvPr/>
        </p:nvSpPr>
        <p:spPr bwMode="auto">
          <a:xfrm>
            <a:off x="5334000" y="2151112"/>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03" name="Line 15"/>
          <p:cNvSpPr>
            <a:spLocks noChangeShapeType="1"/>
          </p:cNvSpPr>
          <p:nvPr/>
        </p:nvSpPr>
        <p:spPr bwMode="auto">
          <a:xfrm>
            <a:off x="6172200" y="2151112"/>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04" name="Rectangle 16"/>
          <p:cNvSpPr>
            <a:spLocks noChangeArrowheads="1"/>
          </p:cNvSpPr>
          <p:nvPr/>
        </p:nvSpPr>
        <p:spPr bwMode="auto">
          <a:xfrm>
            <a:off x="72390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sp>
        <p:nvSpPr>
          <p:cNvPr id="89105" name="Rectangle 17"/>
          <p:cNvSpPr>
            <a:spLocks noChangeArrowheads="1"/>
          </p:cNvSpPr>
          <p:nvPr/>
        </p:nvSpPr>
        <p:spPr bwMode="auto">
          <a:xfrm>
            <a:off x="8077200" y="1927276"/>
            <a:ext cx="609600" cy="376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sp>
        <p:nvSpPr>
          <p:cNvPr id="89106" name="Line 18"/>
          <p:cNvSpPr>
            <a:spLocks noChangeShapeType="1"/>
          </p:cNvSpPr>
          <p:nvPr/>
        </p:nvSpPr>
        <p:spPr bwMode="auto">
          <a:xfrm>
            <a:off x="7010400" y="21558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07" name="Line 19"/>
          <p:cNvSpPr>
            <a:spLocks noChangeShapeType="1"/>
          </p:cNvSpPr>
          <p:nvPr/>
        </p:nvSpPr>
        <p:spPr bwMode="auto">
          <a:xfrm>
            <a:off x="7848600" y="21558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08" name="Rectangle 20"/>
          <p:cNvSpPr>
            <a:spLocks noChangeArrowheads="1"/>
          </p:cNvSpPr>
          <p:nvPr/>
        </p:nvSpPr>
        <p:spPr bwMode="auto">
          <a:xfrm>
            <a:off x="8915400" y="1922512"/>
            <a:ext cx="609600" cy="3762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sp>
        <p:nvSpPr>
          <p:cNvPr id="89109" name="Rectangle 21"/>
          <p:cNvSpPr>
            <a:spLocks noChangeArrowheads="1"/>
          </p:cNvSpPr>
          <p:nvPr/>
        </p:nvSpPr>
        <p:spPr bwMode="auto">
          <a:xfrm>
            <a:off x="9753600" y="1927276"/>
            <a:ext cx="609600" cy="376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sp>
        <p:nvSpPr>
          <p:cNvPr id="89110" name="Line 22"/>
          <p:cNvSpPr>
            <a:spLocks noChangeShapeType="1"/>
          </p:cNvSpPr>
          <p:nvPr/>
        </p:nvSpPr>
        <p:spPr bwMode="auto">
          <a:xfrm>
            <a:off x="8686800" y="21558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11" name="Line 23"/>
          <p:cNvSpPr>
            <a:spLocks noChangeShapeType="1"/>
          </p:cNvSpPr>
          <p:nvPr/>
        </p:nvSpPr>
        <p:spPr bwMode="auto">
          <a:xfrm>
            <a:off x="9525000" y="21558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nvGrpSpPr>
          <p:cNvPr id="703512" name="Group 24"/>
          <p:cNvGrpSpPr>
            <a:grpSpLocks/>
          </p:cNvGrpSpPr>
          <p:nvPr/>
        </p:nvGrpSpPr>
        <p:grpSpPr bwMode="auto">
          <a:xfrm>
            <a:off x="2362200" y="2379712"/>
            <a:ext cx="7467600" cy="3048000"/>
            <a:chOff x="528" y="1392"/>
            <a:chExt cx="4704" cy="1920"/>
          </a:xfrm>
        </p:grpSpPr>
        <p:grpSp>
          <p:nvGrpSpPr>
            <p:cNvPr id="89172" name="Group 25"/>
            <p:cNvGrpSpPr>
              <a:grpSpLocks/>
            </p:cNvGrpSpPr>
            <p:nvPr/>
          </p:nvGrpSpPr>
          <p:grpSpPr bwMode="auto">
            <a:xfrm>
              <a:off x="528" y="1392"/>
              <a:ext cx="4704" cy="240"/>
              <a:chOff x="528" y="1392"/>
              <a:chExt cx="4704" cy="240"/>
            </a:xfrm>
          </p:grpSpPr>
          <p:sp>
            <p:nvSpPr>
              <p:cNvPr id="89184" name="Rectangle 26"/>
              <p:cNvSpPr>
                <a:spLocks noChangeArrowheads="1"/>
              </p:cNvSpPr>
              <p:nvPr/>
            </p:nvSpPr>
            <p:spPr bwMode="auto">
              <a:xfrm>
                <a:off x="528" y="139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e[0]</a:t>
                </a:r>
              </a:p>
            </p:txBody>
          </p:sp>
          <p:sp>
            <p:nvSpPr>
              <p:cNvPr id="89185" name="Rectangle 27"/>
              <p:cNvSpPr>
                <a:spLocks noChangeArrowheads="1"/>
              </p:cNvSpPr>
              <p:nvPr/>
            </p:nvSpPr>
            <p:spPr bwMode="auto">
              <a:xfrm>
                <a:off x="1008" y="139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e[1]</a:t>
                </a:r>
              </a:p>
            </p:txBody>
          </p:sp>
          <p:sp>
            <p:nvSpPr>
              <p:cNvPr id="89186" name="Rectangle 28"/>
              <p:cNvSpPr>
                <a:spLocks noChangeArrowheads="1"/>
              </p:cNvSpPr>
              <p:nvPr/>
            </p:nvSpPr>
            <p:spPr bwMode="auto">
              <a:xfrm>
                <a:off x="1488" y="139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e[2]</a:t>
                </a:r>
              </a:p>
            </p:txBody>
          </p:sp>
          <p:sp>
            <p:nvSpPr>
              <p:cNvPr id="89187" name="Rectangle 29"/>
              <p:cNvSpPr>
                <a:spLocks noChangeArrowheads="1"/>
              </p:cNvSpPr>
              <p:nvPr/>
            </p:nvSpPr>
            <p:spPr bwMode="auto">
              <a:xfrm>
                <a:off x="1968" y="139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e[3]</a:t>
                </a:r>
              </a:p>
            </p:txBody>
          </p:sp>
          <p:sp>
            <p:nvSpPr>
              <p:cNvPr id="89188" name="Rectangle 30"/>
              <p:cNvSpPr>
                <a:spLocks noChangeArrowheads="1"/>
              </p:cNvSpPr>
              <p:nvPr/>
            </p:nvSpPr>
            <p:spPr bwMode="auto">
              <a:xfrm>
                <a:off x="2448" y="139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e[4]</a:t>
                </a:r>
              </a:p>
            </p:txBody>
          </p:sp>
          <p:sp>
            <p:nvSpPr>
              <p:cNvPr id="89189" name="Rectangle 31"/>
              <p:cNvSpPr>
                <a:spLocks noChangeArrowheads="1"/>
              </p:cNvSpPr>
              <p:nvPr/>
            </p:nvSpPr>
            <p:spPr bwMode="auto">
              <a:xfrm>
                <a:off x="2928" y="139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e[5]</a:t>
                </a:r>
              </a:p>
            </p:txBody>
          </p:sp>
          <p:sp>
            <p:nvSpPr>
              <p:cNvPr id="89190" name="Rectangle 32"/>
              <p:cNvSpPr>
                <a:spLocks noChangeArrowheads="1"/>
              </p:cNvSpPr>
              <p:nvPr/>
            </p:nvSpPr>
            <p:spPr bwMode="auto">
              <a:xfrm>
                <a:off x="3408" y="139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e[6]</a:t>
                </a:r>
              </a:p>
            </p:txBody>
          </p:sp>
          <p:sp>
            <p:nvSpPr>
              <p:cNvPr id="89191" name="Rectangle 33"/>
              <p:cNvSpPr>
                <a:spLocks noChangeArrowheads="1"/>
              </p:cNvSpPr>
              <p:nvPr/>
            </p:nvSpPr>
            <p:spPr bwMode="auto">
              <a:xfrm>
                <a:off x="3888" y="139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e[7]</a:t>
                </a:r>
              </a:p>
            </p:txBody>
          </p:sp>
          <p:sp>
            <p:nvSpPr>
              <p:cNvPr id="89192" name="Rectangle 34"/>
              <p:cNvSpPr>
                <a:spLocks noChangeArrowheads="1"/>
              </p:cNvSpPr>
              <p:nvPr/>
            </p:nvSpPr>
            <p:spPr bwMode="auto">
              <a:xfrm>
                <a:off x="4368" y="139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e[8]</a:t>
                </a:r>
              </a:p>
            </p:txBody>
          </p:sp>
          <p:sp>
            <p:nvSpPr>
              <p:cNvPr id="89193" name="Rectangle 35"/>
              <p:cNvSpPr>
                <a:spLocks noChangeArrowheads="1"/>
              </p:cNvSpPr>
              <p:nvPr/>
            </p:nvSpPr>
            <p:spPr bwMode="auto">
              <a:xfrm>
                <a:off x="4848" y="139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e[9]</a:t>
                </a:r>
              </a:p>
            </p:txBody>
          </p:sp>
        </p:grpSp>
        <p:grpSp>
          <p:nvGrpSpPr>
            <p:cNvPr id="89173" name="Group 36"/>
            <p:cNvGrpSpPr>
              <a:grpSpLocks/>
            </p:cNvGrpSpPr>
            <p:nvPr/>
          </p:nvGrpSpPr>
          <p:grpSpPr bwMode="auto">
            <a:xfrm>
              <a:off x="528" y="3072"/>
              <a:ext cx="4704" cy="240"/>
              <a:chOff x="528" y="3072"/>
              <a:chExt cx="4704" cy="240"/>
            </a:xfrm>
          </p:grpSpPr>
          <p:sp>
            <p:nvSpPr>
              <p:cNvPr id="89174" name="Rectangle 37"/>
              <p:cNvSpPr>
                <a:spLocks noChangeArrowheads="1"/>
              </p:cNvSpPr>
              <p:nvPr/>
            </p:nvSpPr>
            <p:spPr bwMode="auto">
              <a:xfrm>
                <a:off x="528" y="307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f[0]</a:t>
                </a:r>
              </a:p>
            </p:txBody>
          </p:sp>
          <p:sp>
            <p:nvSpPr>
              <p:cNvPr id="89175" name="Rectangle 38"/>
              <p:cNvSpPr>
                <a:spLocks noChangeArrowheads="1"/>
              </p:cNvSpPr>
              <p:nvPr/>
            </p:nvSpPr>
            <p:spPr bwMode="auto">
              <a:xfrm>
                <a:off x="1008" y="307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f[1]</a:t>
                </a:r>
              </a:p>
            </p:txBody>
          </p:sp>
          <p:sp>
            <p:nvSpPr>
              <p:cNvPr id="89176" name="Rectangle 39"/>
              <p:cNvSpPr>
                <a:spLocks noChangeArrowheads="1"/>
              </p:cNvSpPr>
              <p:nvPr/>
            </p:nvSpPr>
            <p:spPr bwMode="auto">
              <a:xfrm>
                <a:off x="1488" y="307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f[2]</a:t>
                </a:r>
              </a:p>
            </p:txBody>
          </p:sp>
          <p:sp>
            <p:nvSpPr>
              <p:cNvPr id="89177" name="Rectangle 40"/>
              <p:cNvSpPr>
                <a:spLocks noChangeArrowheads="1"/>
              </p:cNvSpPr>
              <p:nvPr/>
            </p:nvSpPr>
            <p:spPr bwMode="auto">
              <a:xfrm>
                <a:off x="1968" y="307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f[3]</a:t>
                </a:r>
              </a:p>
            </p:txBody>
          </p:sp>
          <p:sp>
            <p:nvSpPr>
              <p:cNvPr id="89178" name="Rectangle 41"/>
              <p:cNvSpPr>
                <a:spLocks noChangeArrowheads="1"/>
              </p:cNvSpPr>
              <p:nvPr/>
            </p:nvSpPr>
            <p:spPr bwMode="auto">
              <a:xfrm>
                <a:off x="2448" y="307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f[4]</a:t>
                </a:r>
              </a:p>
            </p:txBody>
          </p:sp>
          <p:sp>
            <p:nvSpPr>
              <p:cNvPr id="89179" name="Rectangle 42"/>
              <p:cNvSpPr>
                <a:spLocks noChangeArrowheads="1"/>
              </p:cNvSpPr>
              <p:nvPr/>
            </p:nvSpPr>
            <p:spPr bwMode="auto">
              <a:xfrm>
                <a:off x="2928" y="307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f[5]</a:t>
                </a:r>
              </a:p>
            </p:txBody>
          </p:sp>
          <p:sp>
            <p:nvSpPr>
              <p:cNvPr id="89180" name="Rectangle 43"/>
              <p:cNvSpPr>
                <a:spLocks noChangeArrowheads="1"/>
              </p:cNvSpPr>
              <p:nvPr/>
            </p:nvSpPr>
            <p:spPr bwMode="auto">
              <a:xfrm>
                <a:off x="3408" y="307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f[6]</a:t>
                </a:r>
              </a:p>
            </p:txBody>
          </p:sp>
          <p:sp>
            <p:nvSpPr>
              <p:cNvPr id="89181" name="Rectangle 44"/>
              <p:cNvSpPr>
                <a:spLocks noChangeArrowheads="1"/>
              </p:cNvSpPr>
              <p:nvPr/>
            </p:nvSpPr>
            <p:spPr bwMode="auto">
              <a:xfrm>
                <a:off x="3888" y="307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f[7]</a:t>
                </a:r>
              </a:p>
            </p:txBody>
          </p:sp>
          <p:sp>
            <p:nvSpPr>
              <p:cNvPr id="89182" name="Rectangle 45"/>
              <p:cNvSpPr>
                <a:spLocks noChangeArrowheads="1"/>
              </p:cNvSpPr>
              <p:nvPr/>
            </p:nvSpPr>
            <p:spPr bwMode="auto">
              <a:xfrm>
                <a:off x="4368" y="3075"/>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f[8]</a:t>
                </a:r>
              </a:p>
            </p:txBody>
          </p:sp>
          <p:sp>
            <p:nvSpPr>
              <p:cNvPr id="89183" name="Rectangle 46"/>
              <p:cNvSpPr>
                <a:spLocks noChangeArrowheads="1"/>
              </p:cNvSpPr>
              <p:nvPr/>
            </p:nvSpPr>
            <p:spPr bwMode="auto">
              <a:xfrm>
                <a:off x="4848" y="3072"/>
                <a:ext cx="384" cy="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f[9]</a:t>
                </a:r>
              </a:p>
            </p:txBody>
          </p:sp>
        </p:grpSp>
      </p:grpSp>
      <p:grpSp>
        <p:nvGrpSpPr>
          <p:cNvPr id="703535" name="Group 47"/>
          <p:cNvGrpSpPr>
            <a:grpSpLocks/>
          </p:cNvGrpSpPr>
          <p:nvPr/>
        </p:nvGrpSpPr>
        <p:grpSpPr bwMode="auto">
          <a:xfrm>
            <a:off x="8458200" y="4441876"/>
            <a:ext cx="609600" cy="604837"/>
            <a:chOff x="4368" y="3171"/>
            <a:chExt cx="384" cy="381"/>
          </a:xfrm>
        </p:grpSpPr>
        <p:sp>
          <p:nvSpPr>
            <p:cNvPr id="89170" name="Line 48"/>
            <p:cNvSpPr>
              <a:spLocks noChangeShapeType="1"/>
            </p:cNvSpPr>
            <p:nvPr/>
          </p:nvSpPr>
          <p:spPr bwMode="auto">
            <a:xfrm flipV="1">
              <a:off x="45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71" name="Rectangle 49"/>
            <p:cNvSpPr>
              <a:spLocks noChangeArrowheads="1"/>
            </p:cNvSpPr>
            <p:nvPr/>
          </p:nvSpPr>
          <p:spPr bwMode="auto">
            <a:xfrm>
              <a:off x="436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grpSp>
      <p:grpSp>
        <p:nvGrpSpPr>
          <p:cNvPr id="703538" name="Group 50"/>
          <p:cNvGrpSpPr>
            <a:grpSpLocks/>
          </p:cNvGrpSpPr>
          <p:nvPr/>
        </p:nvGrpSpPr>
        <p:grpSpPr bwMode="auto">
          <a:xfrm>
            <a:off x="9220200" y="4437112"/>
            <a:ext cx="609600" cy="609600"/>
            <a:chOff x="4848" y="3168"/>
            <a:chExt cx="384" cy="384"/>
          </a:xfrm>
        </p:grpSpPr>
        <p:sp>
          <p:nvSpPr>
            <p:cNvPr id="89168" name="Line 51"/>
            <p:cNvSpPr>
              <a:spLocks noChangeShapeType="1"/>
            </p:cNvSpPr>
            <p:nvPr/>
          </p:nvSpPr>
          <p:spPr bwMode="auto">
            <a:xfrm flipV="1">
              <a:off x="504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69" name="Rectangle 52"/>
            <p:cNvSpPr>
              <a:spLocks noChangeArrowheads="1"/>
            </p:cNvSpPr>
            <p:nvPr/>
          </p:nvSpPr>
          <p:spPr bwMode="auto">
            <a:xfrm>
              <a:off x="484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grpSp>
      <p:grpSp>
        <p:nvGrpSpPr>
          <p:cNvPr id="703541" name="Group 53"/>
          <p:cNvGrpSpPr>
            <a:grpSpLocks/>
          </p:cNvGrpSpPr>
          <p:nvPr/>
        </p:nvGrpSpPr>
        <p:grpSpPr bwMode="auto">
          <a:xfrm>
            <a:off x="4648200" y="4437112"/>
            <a:ext cx="609600" cy="609600"/>
            <a:chOff x="1968" y="3168"/>
            <a:chExt cx="384" cy="384"/>
          </a:xfrm>
        </p:grpSpPr>
        <p:sp>
          <p:nvSpPr>
            <p:cNvPr id="89166" name="Line 54"/>
            <p:cNvSpPr>
              <a:spLocks noChangeShapeType="1"/>
            </p:cNvSpPr>
            <p:nvPr/>
          </p:nvSpPr>
          <p:spPr bwMode="auto">
            <a:xfrm flipV="1">
              <a:off x="21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67" name="Rectangle 55"/>
            <p:cNvSpPr>
              <a:spLocks noChangeArrowheads="1"/>
            </p:cNvSpPr>
            <p:nvPr/>
          </p:nvSpPr>
          <p:spPr bwMode="auto">
            <a:xfrm>
              <a:off x="196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grpSp>
      <p:grpSp>
        <p:nvGrpSpPr>
          <p:cNvPr id="703544" name="Group 56"/>
          <p:cNvGrpSpPr>
            <a:grpSpLocks/>
          </p:cNvGrpSpPr>
          <p:nvPr/>
        </p:nvGrpSpPr>
        <p:grpSpPr bwMode="auto">
          <a:xfrm>
            <a:off x="2362200" y="4437112"/>
            <a:ext cx="609600" cy="609600"/>
            <a:chOff x="528" y="3168"/>
            <a:chExt cx="384" cy="384"/>
          </a:xfrm>
        </p:grpSpPr>
        <p:sp>
          <p:nvSpPr>
            <p:cNvPr id="89164" name="Line 57"/>
            <p:cNvSpPr>
              <a:spLocks noChangeShapeType="1"/>
            </p:cNvSpPr>
            <p:nvPr/>
          </p:nvSpPr>
          <p:spPr bwMode="auto">
            <a:xfrm flipV="1">
              <a:off x="7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65" name="Rectangle 58"/>
            <p:cNvSpPr>
              <a:spLocks noChangeArrowheads="1"/>
            </p:cNvSpPr>
            <p:nvPr/>
          </p:nvSpPr>
          <p:spPr bwMode="auto">
            <a:xfrm>
              <a:off x="52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grpSp>
      <p:grpSp>
        <p:nvGrpSpPr>
          <p:cNvPr id="703547" name="Group 59"/>
          <p:cNvGrpSpPr>
            <a:grpSpLocks/>
          </p:cNvGrpSpPr>
          <p:nvPr/>
        </p:nvGrpSpPr>
        <p:grpSpPr bwMode="auto">
          <a:xfrm>
            <a:off x="9220200" y="3827512"/>
            <a:ext cx="609600" cy="609600"/>
            <a:chOff x="1968" y="3168"/>
            <a:chExt cx="384" cy="384"/>
          </a:xfrm>
        </p:grpSpPr>
        <p:sp>
          <p:nvSpPr>
            <p:cNvPr id="89162" name="Line 60"/>
            <p:cNvSpPr>
              <a:spLocks noChangeShapeType="1"/>
            </p:cNvSpPr>
            <p:nvPr/>
          </p:nvSpPr>
          <p:spPr bwMode="auto">
            <a:xfrm flipV="1">
              <a:off x="21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63" name="Rectangle 61"/>
            <p:cNvSpPr>
              <a:spLocks noChangeArrowheads="1"/>
            </p:cNvSpPr>
            <p:nvPr/>
          </p:nvSpPr>
          <p:spPr bwMode="auto">
            <a:xfrm>
              <a:off x="196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grpSp>
      <p:grpSp>
        <p:nvGrpSpPr>
          <p:cNvPr id="703550" name="Group 62"/>
          <p:cNvGrpSpPr>
            <a:grpSpLocks/>
          </p:cNvGrpSpPr>
          <p:nvPr/>
        </p:nvGrpSpPr>
        <p:grpSpPr bwMode="auto">
          <a:xfrm>
            <a:off x="5410200" y="4441876"/>
            <a:ext cx="609600" cy="604837"/>
            <a:chOff x="2448" y="3171"/>
            <a:chExt cx="384" cy="381"/>
          </a:xfrm>
        </p:grpSpPr>
        <p:sp>
          <p:nvSpPr>
            <p:cNvPr id="89160" name="Line 63"/>
            <p:cNvSpPr>
              <a:spLocks noChangeShapeType="1"/>
            </p:cNvSpPr>
            <p:nvPr/>
          </p:nvSpPr>
          <p:spPr bwMode="auto">
            <a:xfrm flipV="1">
              <a:off x="264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61" name="Rectangle 64"/>
            <p:cNvSpPr>
              <a:spLocks noChangeArrowheads="1"/>
            </p:cNvSpPr>
            <p:nvPr/>
          </p:nvSpPr>
          <p:spPr bwMode="auto">
            <a:xfrm>
              <a:off x="244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grpSp>
      <p:grpSp>
        <p:nvGrpSpPr>
          <p:cNvPr id="703553" name="Group 65"/>
          <p:cNvGrpSpPr>
            <a:grpSpLocks/>
          </p:cNvGrpSpPr>
          <p:nvPr/>
        </p:nvGrpSpPr>
        <p:grpSpPr bwMode="auto">
          <a:xfrm>
            <a:off x="6172200" y="4441876"/>
            <a:ext cx="609600" cy="604837"/>
            <a:chOff x="2928" y="3171"/>
            <a:chExt cx="384" cy="381"/>
          </a:xfrm>
        </p:grpSpPr>
        <p:sp>
          <p:nvSpPr>
            <p:cNvPr id="89158" name="Line 66"/>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59" name="Rectangle 67"/>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grpSp>
      <p:grpSp>
        <p:nvGrpSpPr>
          <p:cNvPr id="703556" name="Group 68"/>
          <p:cNvGrpSpPr>
            <a:grpSpLocks/>
          </p:cNvGrpSpPr>
          <p:nvPr/>
        </p:nvGrpSpPr>
        <p:grpSpPr bwMode="auto">
          <a:xfrm>
            <a:off x="9220200" y="3217912"/>
            <a:ext cx="609600" cy="604838"/>
            <a:chOff x="2928" y="3171"/>
            <a:chExt cx="384" cy="381"/>
          </a:xfrm>
        </p:grpSpPr>
        <p:sp>
          <p:nvSpPr>
            <p:cNvPr id="89156" name="Line 69"/>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57" name="Rectangle 70"/>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grpSp>
      <p:grpSp>
        <p:nvGrpSpPr>
          <p:cNvPr id="703559" name="Group 71"/>
          <p:cNvGrpSpPr>
            <a:grpSpLocks/>
          </p:cNvGrpSpPr>
          <p:nvPr/>
        </p:nvGrpSpPr>
        <p:grpSpPr bwMode="auto">
          <a:xfrm>
            <a:off x="8458200" y="3827512"/>
            <a:ext cx="609600" cy="604838"/>
            <a:chOff x="2928" y="3171"/>
            <a:chExt cx="384" cy="381"/>
          </a:xfrm>
        </p:grpSpPr>
        <p:sp>
          <p:nvSpPr>
            <p:cNvPr id="89154" name="Line 72"/>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55" name="Rectangle 73"/>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grpSp>
      <p:grpSp>
        <p:nvGrpSpPr>
          <p:cNvPr id="703562" name="Group 74"/>
          <p:cNvGrpSpPr>
            <a:grpSpLocks/>
          </p:cNvGrpSpPr>
          <p:nvPr/>
        </p:nvGrpSpPr>
        <p:grpSpPr bwMode="auto">
          <a:xfrm>
            <a:off x="4648200" y="3832276"/>
            <a:ext cx="609600" cy="604837"/>
            <a:chOff x="2928" y="3171"/>
            <a:chExt cx="384" cy="381"/>
          </a:xfrm>
        </p:grpSpPr>
        <p:sp>
          <p:nvSpPr>
            <p:cNvPr id="89152" name="Line 75"/>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53" name="Rectangle 76"/>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grpSp>
      <p:sp>
        <p:nvSpPr>
          <p:cNvPr id="703565" name="Line 77"/>
          <p:cNvSpPr>
            <a:spLocks noChangeShapeType="1"/>
          </p:cNvSpPr>
          <p:nvPr/>
        </p:nvSpPr>
        <p:spPr bwMode="auto">
          <a:xfrm>
            <a:off x="2667000" y="2760712"/>
            <a:ext cx="0" cy="1676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3566" name="Line 78"/>
          <p:cNvSpPr>
            <a:spLocks noChangeShapeType="1"/>
          </p:cNvSpPr>
          <p:nvPr/>
        </p:nvSpPr>
        <p:spPr bwMode="auto">
          <a:xfrm>
            <a:off x="4953000" y="2760712"/>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3567" name="Line 79"/>
          <p:cNvSpPr>
            <a:spLocks noChangeShapeType="1"/>
          </p:cNvSpPr>
          <p:nvPr/>
        </p:nvSpPr>
        <p:spPr bwMode="auto">
          <a:xfrm>
            <a:off x="5715000" y="2760712"/>
            <a:ext cx="0" cy="1676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3568" name="Line 80"/>
          <p:cNvSpPr>
            <a:spLocks noChangeShapeType="1"/>
          </p:cNvSpPr>
          <p:nvPr/>
        </p:nvSpPr>
        <p:spPr bwMode="auto">
          <a:xfrm>
            <a:off x="6477000" y="2760712"/>
            <a:ext cx="0" cy="1676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3569" name="Line 81"/>
          <p:cNvSpPr>
            <a:spLocks noChangeShapeType="1"/>
          </p:cNvSpPr>
          <p:nvPr/>
        </p:nvSpPr>
        <p:spPr bwMode="auto">
          <a:xfrm>
            <a:off x="8763000" y="2760712"/>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3570" name="Line 82"/>
          <p:cNvSpPr>
            <a:spLocks noChangeShapeType="1"/>
          </p:cNvSpPr>
          <p:nvPr/>
        </p:nvSpPr>
        <p:spPr bwMode="auto">
          <a:xfrm>
            <a:off x="9525000" y="2760712"/>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3571" name="Rectangle 83"/>
          <p:cNvSpPr>
            <a:spLocks noChangeArrowheads="1"/>
          </p:cNvSpPr>
          <p:nvPr/>
        </p:nvSpPr>
        <p:spPr bwMode="auto">
          <a:xfrm>
            <a:off x="1600200" y="2455913"/>
            <a:ext cx="685800" cy="346075"/>
          </a:xfrm>
          <a:prstGeom prst="rect">
            <a:avLst/>
          </a:prstGeom>
          <a:solidFill>
            <a:srgbClr val="FFF7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spcBef>
                <a:spcPct val="50000"/>
              </a:spcBef>
              <a:buFontTx/>
              <a:buNone/>
            </a:pPr>
            <a:r>
              <a:rPr kumimoji="1" lang="zh-CN" altLang="en-US" sz="1600">
                <a:latin typeface="Tahoma" pitchFamily="34" charset="0"/>
              </a:rPr>
              <a:t>分配</a:t>
            </a:r>
            <a:r>
              <a:rPr kumimoji="1" lang="en-US" altLang="zh-CN" sz="1600">
                <a:latin typeface="Tahoma" pitchFamily="34" charset="0"/>
              </a:rPr>
              <a:t>1</a:t>
            </a:r>
          </a:p>
        </p:txBody>
      </p:sp>
      <p:sp>
        <p:nvSpPr>
          <p:cNvPr id="703572" name="Rectangle 84"/>
          <p:cNvSpPr>
            <a:spLocks noChangeArrowheads="1"/>
          </p:cNvSpPr>
          <p:nvPr/>
        </p:nvSpPr>
        <p:spPr bwMode="auto">
          <a:xfrm>
            <a:off x="1600200" y="5327105"/>
            <a:ext cx="685800" cy="346075"/>
          </a:xfrm>
          <a:prstGeom prst="rect">
            <a:avLst/>
          </a:prstGeom>
          <a:solidFill>
            <a:srgbClr val="FFF7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spcBef>
                <a:spcPct val="50000"/>
              </a:spcBef>
              <a:buFontTx/>
              <a:buNone/>
            </a:pPr>
            <a:r>
              <a:rPr kumimoji="1" lang="zh-CN" altLang="en-US" sz="1600">
                <a:latin typeface="Tahoma" pitchFamily="34" charset="0"/>
              </a:rPr>
              <a:t>收集</a:t>
            </a:r>
            <a:r>
              <a:rPr kumimoji="1" lang="en-US" altLang="zh-CN" sz="1600">
                <a:latin typeface="Tahoma" pitchFamily="34" charset="0"/>
              </a:rPr>
              <a:t>1</a:t>
            </a:r>
          </a:p>
        </p:txBody>
      </p:sp>
      <p:grpSp>
        <p:nvGrpSpPr>
          <p:cNvPr id="703573" name="Group 85"/>
          <p:cNvGrpSpPr>
            <a:grpSpLocks/>
          </p:cNvGrpSpPr>
          <p:nvPr/>
        </p:nvGrpSpPr>
        <p:grpSpPr bwMode="auto">
          <a:xfrm>
            <a:off x="1981200" y="5784304"/>
            <a:ext cx="8382000" cy="381000"/>
            <a:chOff x="288" y="3792"/>
            <a:chExt cx="5280" cy="240"/>
          </a:xfrm>
        </p:grpSpPr>
        <p:sp>
          <p:nvSpPr>
            <p:cNvPr id="89132" name="Rectangle 86"/>
            <p:cNvSpPr>
              <a:spLocks noChangeArrowheads="1"/>
            </p:cNvSpPr>
            <p:nvPr/>
          </p:nvSpPr>
          <p:spPr bwMode="auto">
            <a:xfrm>
              <a:off x="432"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sp>
          <p:nvSpPr>
            <p:cNvPr id="89133" name="Rectangle 87"/>
            <p:cNvSpPr>
              <a:spLocks noChangeArrowheads="1"/>
            </p:cNvSpPr>
            <p:nvPr/>
          </p:nvSpPr>
          <p:spPr bwMode="auto">
            <a:xfrm>
              <a:off x="960"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sp>
          <p:nvSpPr>
            <p:cNvPr id="89134" name="Line 88"/>
            <p:cNvSpPr>
              <a:spLocks noChangeShapeType="1"/>
            </p:cNvSpPr>
            <p:nvPr/>
          </p:nvSpPr>
          <p:spPr bwMode="auto">
            <a:xfrm>
              <a:off x="28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35" name="Line 89"/>
            <p:cNvSpPr>
              <a:spLocks noChangeShapeType="1"/>
            </p:cNvSpPr>
            <p:nvPr/>
          </p:nvSpPr>
          <p:spPr bwMode="auto">
            <a:xfrm>
              <a:off x="816"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36" name="Rectangle 90"/>
            <p:cNvSpPr>
              <a:spLocks noChangeArrowheads="1"/>
            </p:cNvSpPr>
            <p:nvPr/>
          </p:nvSpPr>
          <p:spPr bwMode="auto">
            <a:xfrm>
              <a:off x="1488"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sp>
          <p:nvSpPr>
            <p:cNvPr id="89137" name="Rectangle 91"/>
            <p:cNvSpPr>
              <a:spLocks noChangeArrowheads="1"/>
            </p:cNvSpPr>
            <p:nvPr/>
          </p:nvSpPr>
          <p:spPr bwMode="auto">
            <a:xfrm>
              <a:off x="2016"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sp>
          <p:nvSpPr>
            <p:cNvPr id="89138" name="Line 92"/>
            <p:cNvSpPr>
              <a:spLocks noChangeShapeType="1"/>
            </p:cNvSpPr>
            <p:nvPr/>
          </p:nvSpPr>
          <p:spPr bwMode="auto">
            <a:xfrm>
              <a:off x="134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39" name="Line 93"/>
            <p:cNvSpPr>
              <a:spLocks noChangeShapeType="1"/>
            </p:cNvSpPr>
            <p:nvPr/>
          </p:nvSpPr>
          <p:spPr bwMode="auto">
            <a:xfrm>
              <a:off x="187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40" name="Rectangle 94"/>
            <p:cNvSpPr>
              <a:spLocks noChangeArrowheads="1"/>
            </p:cNvSpPr>
            <p:nvPr/>
          </p:nvSpPr>
          <p:spPr bwMode="auto">
            <a:xfrm>
              <a:off x="2544"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sp>
          <p:nvSpPr>
            <p:cNvPr id="89141" name="Rectangle 95"/>
            <p:cNvSpPr>
              <a:spLocks noChangeArrowheads="1"/>
            </p:cNvSpPr>
            <p:nvPr/>
          </p:nvSpPr>
          <p:spPr bwMode="auto">
            <a:xfrm>
              <a:off x="3072"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sp>
          <p:nvSpPr>
            <p:cNvPr id="89142" name="Line 96"/>
            <p:cNvSpPr>
              <a:spLocks noChangeShapeType="1"/>
            </p:cNvSpPr>
            <p:nvPr/>
          </p:nvSpPr>
          <p:spPr bwMode="auto">
            <a:xfrm>
              <a:off x="2400"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43" name="Line 97"/>
            <p:cNvSpPr>
              <a:spLocks noChangeShapeType="1"/>
            </p:cNvSpPr>
            <p:nvPr/>
          </p:nvSpPr>
          <p:spPr bwMode="auto">
            <a:xfrm>
              <a:off x="292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44" name="Rectangle 98"/>
            <p:cNvSpPr>
              <a:spLocks noChangeArrowheads="1"/>
            </p:cNvSpPr>
            <p:nvPr/>
          </p:nvSpPr>
          <p:spPr bwMode="auto">
            <a:xfrm>
              <a:off x="3600"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sp>
          <p:nvSpPr>
            <p:cNvPr id="89145" name="Rectangle 99"/>
            <p:cNvSpPr>
              <a:spLocks noChangeArrowheads="1"/>
            </p:cNvSpPr>
            <p:nvPr/>
          </p:nvSpPr>
          <p:spPr bwMode="auto">
            <a:xfrm>
              <a:off x="4128"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sp>
          <p:nvSpPr>
            <p:cNvPr id="89146" name="Line 100"/>
            <p:cNvSpPr>
              <a:spLocks noChangeShapeType="1"/>
            </p:cNvSpPr>
            <p:nvPr/>
          </p:nvSpPr>
          <p:spPr bwMode="auto">
            <a:xfrm>
              <a:off x="3456"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47" name="Line 101"/>
            <p:cNvSpPr>
              <a:spLocks noChangeShapeType="1"/>
            </p:cNvSpPr>
            <p:nvPr/>
          </p:nvSpPr>
          <p:spPr bwMode="auto">
            <a:xfrm>
              <a:off x="398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48" name="Rectangle 102"/>
            <p:cNvSpPr>
              <a:spLocks noChangeArrowheads="1"/>
            </p:cNvSpPr>
            <p:nvPr/>
          </p:nvSpPr>
          <p:spPr bwMode="auto">
            <a:xfrm>
              <a:off x="4656"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sp>
          <p:nvSpPr>
            <p:cNvPr id="89149" name="Rectangle 103"/>
            <p:cNvSpPr>
              <a:spLocks noChangeArrowheads="1"/>
            </p:cNvSpPr>
            <p:nvPr/>
          </p:nvSpPr>
          <p:spPr bwMode="auto">
            <a:xfrm>
              <a:off x="5184"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sp>
          <p:nvSpPr>
            <p:cNvPr id="89150" name="Line 104"/>
            <p:cNvSpPr>
              <a:spLocks noChangeShapeType="1"/>
            </p:cNvSpPr>
            <p:nvPr/>
          </p:nvSpPr>
          <p:spPr bwMode="auto">
            <a:xfrm>
              <a:off x="451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9151" name="Line 105"/>
            <p:cNvSpPr>
              <a:spLocks noChangeShapeType="1"/>
            </p:cNvSpPr>
            <p:nvPr/>
          </p:nvSpPr>
          <p:spPr bwMode="auto">
            <a:xfrm>
              <a:off x="5040"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2" name="矩形 1">
            <a:extLst>
              <a:ext uri="{FF2B5EF4-FFF2-40B4-BE49-F238E27FC236}">
                <a16:creationId xmlns:a16="http://schemas.microsoft.com/office/drawing/2014/main" id="{4C059643-E9DB-166E-8E1F-20FC5AD27518}"/>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10.6.3 </a:t>
            </a:r>
            <a:r>
              <a:rPr lang="zh-CN" altLang="en-US" sz="2800" b="1" dirty="0">
                <a:solidFill>
                  <a:schemeClr val="bg1"/>
                </a:solidFill>
                <a:latin typeface="经典粗黑简" pitchFamily="49" charset="-122"/>
                <a:ea typeface="经典粗黑简" pitchFamily="49" charset="-122"/>
                <a:cs typeface="经典粗黑简" pitchFamily="49" charset="-122"/>
              </a:rPr>
              <a:t>基数排序的示例</a:t>
            </a:r>
          </a:p>
        </p:txBody>
      </p:sp>
      <p:cxnSp>
        <p:nvCxnSpPr>
          <p:cNvPr id="3" name="直接连接符 2">
            <a:extLst>
              <a:ext uri="{FF2B5EF4-FFF2-40B4-BE49-F238E27FC236}">
                <a16:creationId xmlns:a16="http://schemas.microsoft.com/office/drawing/2014/main" id="{C46D6F68-51BC-F3C9-FA14-18AEE29C5940}"/>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2DE147B4-4C7B-766F-EF96-3405B59E799D}"/>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Tree>
    <p:extLst>
      <p:ext uri="{BB962C8B-B14F-4D97-AF65-F5344CB8AC3E}">
        <p14:creationId xmlns:p14="http://schemas.microsoft.com/office/powerpoint/2010/main" val="10136574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03512"/>
                                        </p:tgtEl>
                                        <p:attrNameLst>
                                          <p:attrName>style.visibility</p:attrName>
                                        </p:attrNameLst>
                                      </p:cBhvr>
                                      <p:to>
                                        <p:strVal val="visible"/>
                                      </p:to>
                                    </p:set>
                                    <p:animEffect transition="in" filter="wipe(up)">
                                      <p:cBhvr>
                                        <p:cTn id="7" dur="500"/>
                                        <p:tgtEl>
                                          <p:spTgt spid="7035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03571"/>
                                        </p:tgtEl>
                                        <p:attrNameLst>
                                          <p:attrName>style.visibility</p:attrName>
                                        </p:attrNameLst>
                                      </p:cBhvr>
                                      <p:to>
                                        <p:strVal val="visible"/>
                                      </p:to>
                                    </p:set>
                                    <p:animEffect transition="in" filter="slide(fromLeft)">
                                      <p:cBhvr>
                                        <p:cTn id="12" dur="500"/>
                                        <p:tgtEl>
                                          <p:spTgt spid="7035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03535"/>
                                        </p:tgtEl>
                                        <p:attrNameLst>
                                          <p:attrName>style.visibility</p:attrName>
                                        </p:attrNameLst>
                                      </p:cBhvr>
                                      <p:to>
                                        <p:strVal val="visible"/>
                                      </p:to>
                                    </p:set>
                                    <p:animEffect transition="in" filter="slide(fromBottom)">
                                      <p:cBhvr>
                                        <p:cTn id="17" dur="500"/>
                                        <p:tgtEl>
                                          <p:spTgt spid="7035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703538"/>
                                        </p:tgtEl>
                                        <p:attrNameLst>
                                          <p:attrName>style.visibility</p:attrName>
                                        </p:attrNameLst>
                                      </p:cBhvr>
                                      <p:to>
                                        <p:strVal val="visible"/>
                                      </p:to>
                                    </p:set>
                                    <p:animEffect transition="in" filter="slide(fromBottom)">
                                      <p:cBhvr>
                                        <p:cTn id="22" dur="500"/>
                                        <p:tgtEl>
                                          <p:spTgt spid="7035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703541"/>
                                        </p:tgtEl>
                                        <p:attrNameLst>
                                          <p:attrName>style.visibility</p:attrName>
                                        </p:attrNameLst>
                                      </p:cBhvr>
                                      <p:to>
                                        <p:strVal val="visible"/>
                                      </p:to>
                                    </p:set>
                                    <p:animEffect transition="in" filter="slide(fromBottom)">
                                      <p:cBhvr>
                                        <p:cTn id="27" dur="500"/>
                                        <p:tgtEl>
                                          <p:spTgt spid="7035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703544"/>
                                        </p:tgtEl>
                                        <p:attrNameLst>
                                          <p:attrName>style.visibility</p:attrName>
                                        </p:attrNameLst>
                                      </p:cBhvr>
                                      <p:to>
                                        <p:strVal val="visible"/>
                                      </p:to>
                                    </p:set>
                                    <p:animEffect transition="in" filter="slide(fromBottom)">
                                      <p:cBhvr>
                                        <p:cTn id="32" dur="500"/>
                                        <p:tgtEl>
                                          <p:spTgt spid="7035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703547"/>
                                        </p:tgtEl>
                                        <p:attrNameLst>
                                          <p:attrName>style.visibility</p:attrName>
                                        </p:attrNameLst>
                                      </p:cBhvr>
                                      <p:to>
                                        <p:strVal val="visible"/>
                                      </p:to>
                                    </p:set>
                                    <p:animEffect transition="in" filter="slide(fromBottom)">
                                      <p:cBhvr>
                                        <p:cTn id="37" dur="500"/>
                                        <p:tgtEl>
                                          <p:spTgt spid="7035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703550"/>
                                        </p:tgtEl>
                                        <p:attrNameLst>
                                          <p:attrName>style.visibility</p:attrName>
                                        </p:attrNameLst>
                                      </p:cBhvr>
                                      <p:to>
                                        <p:strVal val="visible"/>
                                      </p:to>
                                    </p:set>
                                    <p:animEffect transition="in" filter="slide(fromBottom)">
                                      <p:cBhvr>
                                        <p:cTn id="42" dur="500"/>
                                        <p:tgtEl>
                                          <p:spTgt spid="7035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703553"/>
                                        </p:tgtEl>
                                        <p:attrNameLst>
                                          <p:attrName>style.visibility</p:attrName>
                                        </p:attrNameLst>
                                      </p:cBhvr>
                                      <p:to>
                                        <p:strVal val="visible"/>
                                      </p:to>
                                    </p:set>
                                    <p:animEffect transition="in" filter="slide(fromBottom)">
                                      <p:cBhvr>
                                        <p:cTn id="47" dur="500"/>
                                        <p:tgtEl>
                                          <p:spTgt spid="70355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703556"/>
                                        </p:tgtEl>
                                        <p:attrNameLst>
                                          <p:attrName>style.visibility</p:attrName>
                                        </p:attrNameLst>
                                      </p:cBhvr>
                                      <p:to>
                                        <p:strVal val="visible"/>
                                      </p:to>
                                    </p:set>
                                    <p:animEffect transition="in" filter="slide(fromBottom)">
                                      <p:cBhvr>
                                        <p:cTn id="52" dur="500"/>
                                        <p:tgtEl>
                                          <p:spTgt spid="7035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703559"/>
                                        </p:tgtEl>
                                        <p:attrNameLst>
                                          <p:attrName>style.visibility</p:attrName>
                                        </p:attrNameLst>
                                      </p:cBhvr>
                                      <p:to>
                                        <p:strVal val="visible"/>
                                      </p:to>
                                    </p:set>
                                    <p:animEffect transition="in" filter="slide(fromBottom)">
                                      <p:cBhvr>
                                        <p:cTn id="57" dur="500"/>
                                        <p:tgtEl>
                                          <p:spTgt spid="70355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childTnLst>
                                    <p:set>
                                      <p:cBhvr>
                                        <p:cTn id="61" dur="1" fill="hold">
                                          <p:stCondLst>
                                            <p:cond delay="0"/>
                                          </p:stCondLst>
                                        </p:cTn>
                                        <p:tgtEl>
                                          <p:spTgt spid="703562"/>
                                        </p:tgtEl>
                                        <p:attrNameLst>
                                          <p:attrName>style.visibility</p:attrName>
                                        </p:attrNameLst>
                                      </p:cBhvr>
                                      <p:to>
                                        <p:strVal val="visible"/>
                                      </p:to>
                                    </p:set>
                                    <p:animEffect transition="in" filter="slide(fromBottom)">
                                      <p:cBhvr>
                                        <p:cTn id="62" dur="500"/>
                                        <p:tgtEl>
                                          <p:spTgt spid="70356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703565"/>
                                        </p:tgtEl>
                                        <p:attrNameLst>
                                          <p:attrName>style.visibility</p:attrName>
                                        </p:attrNameLst>
                                      </p:cBhvr>
                                      <p:to>
                                        <p:strVal val="visible"/>
                                      </p:to>
                                    </p:set>
                                    <p:animEffect transition="in" filter="wipe(up)">
                                      <p:cBhvr>
                                        <p:cTn id="67" dur="500"/>
                                        <p:tgtEl>
                                          <p:spTgt spid="703565"/>
                                        </p:tgtEl>
                                      </p:cBhvr>
                                    </p:animEffect>
                                  </p:childTnLst>
                                </p:cTn>
                              </p:par>
                            </p:childTnLst>
                          </p:cTn>
                        </p:par>
                        <p:par>
                          <p:cTn id="68" fill="hold" nodeType="afterGroup">
                            <p:stCondLst>
                              <p:cond delay="500"/>
                            </p:stCondLst>
                            <p:childTnLst>
                              <p:par>
                                <p:cTn id="69" presetID="22" presetClass="entr" presetSubtype="1" fill="hold" grpId="0" nodeType="afterEffect">
                                  <p:stCondLst>
                                    <p:cond delay="1000"/>
                                  </p:stCondLst>
                                  <p:childTnLst>
                                    <p:set>
                                      <p:cBhvr>
                                        <p:cTn id="70" dur="1" fill="hold">
                                          <p:stCondLst>
                                            <p:cond delay="0"/>
                                          </p:stCondLst>
                                        </p:cTn>
                                        <p:tgtEl>
                                          <p:spTgt spid="703566"/>
                                        </p:tgtEl>
                                        <p:attrNameLst>
                                          <p:attrName>style.visibility</p:attrName>
                                        </p:attrNameLst>
                                      </p:cBhvr>
                                      <p:to>
                                        <p:strVal val="visible"/>
                                      </p:to>
                                    </p:set>
                                    <p:animEffect transition="in" filter="wipe(up)">
                                      <p:cBhvr>
                                        <p:cTn id="71" dur="500"/>
                                        <p:tgtEl>
                                          <p:spTgt spid="703566"/>
                                        </p:tgtEl>
                                      </p:cBhvr>
                                    </p:animEffect>
                                  </p:childTnLst>
                                </p:cTn>
                              </p:par>
                            </p:childTnLst>
                          </p:cTn>
                        </p:par>
                        <p:par>
                          <p:cTn id="72" fill="hold" nodeType="afterGroup">
                            <p:stCondLst>
                              <p:cond delay="2000"/>
                            </p:stCondLst>
                            <p:childTnLst>
                              <p:par>
                                <p:cTn id="73" presetID="22" presetClass="entr" presetSubtype="1" fill="hold" grpId="0" nodeType="afterEffect">
                                  <p:stCondLst>
                                    <p:cond delay="1000"/>
                                  </p:stCondLst>
                                  <p:childTnLst>
                                    <p:set>
                                      <p:cBhvr>
                                        <p:cTn id="74" dur="1" fill="hold">
                                          <p:stCondLst>
                                            <p:cond delay="0"/>
                                          </p:stCondLst>
                                        </p:cTn>
                                        <p:tgtEl>
                                          <p:spTgt spid="703567"/>
                                        </p:tgtEl>
                                        <p:attrNameLst>
                                          <p:attrName>style.visibility</p:attrName>
                                        </p:attrNameLst>
                                      </p:cBhvr>
                                      <p:to>
                                        <p:strVal val="visible"/>
                                      </p:to>
                                    </p:set>
                                    <p:animEffect transition="in" filter="wipe(up)">
                                      <p:cBhvr>
                                        <p:cTn id="75" dur="500"/>
                                        <p:tgtEl>
                                          <p:spTgt spid="703567"/>
                                        </p:tgtEl>
                                      </p:cBhvr>
                                    </p:animEffect>
                                  </p:childTnLst>
                                </p:cTn>
                              </p:par>
                            </p:childTnLst>
                          </p:cTn>
                        </p:par>
                        <p:par>
                          <p:cTn id="76" fill="hold" nodeType="afterGroup">
                            <p:stCondLst>
                              <p:cond delay="3500"/>
                            </p:stCondLst>
                            <p:childTnLst>
                              <p:par>
                                <p:cTn id="77" presetID="22" presetClass="entr" presetSubtype="1" fill="hold" grpId="0" nodeType="afterEffect">
                                  <p:stCondLst>
                                    <p:cond delay="1000"/>
                                  </p:stCondLst>
                                  <p:childTnLst>
                                    <p:set>
                                      <p:cBhvr>
                                        <p:cTn id="78" dur="1" fill="hold">
                                          <p:stCondLst>
                                            <p:cond delay="0"/>
                                          </p:stCondLst>
                                        </p:cTn>
                                        <p:tgtEl>
                                          <p:spTgt spid="703568"/>
                                        </p:tgtEl>
                                        <p:attrNameLst>
                                          <p:attrName>style.visibility</p:attrName>
                                        </p:attrNameLst>
                                      </p:cBhvr>
                                      <p:to>
                                        <p:strVal val="visible"/>
                                      </p:to>
                                    </p:set>
                                    <p:animEffect transition="in" filter="wipe(up)">
                                      <p:cBhvr>
                                        <p:cTn id="79" dur="500"/>
                                        <p:tgtEl>
                                          <p:spTgt spid="703568"/>
                                        </p:tgtEl>
                                      </p:cBhvr>
                                    </p:animEffect>
                                  </p:childTnLst>
                                </p:cTn>
                              </p:par>
                            </p:childTnLst>
                          </p:cTn>
                        </p:par>
                        <p:par>
                          <p:cTn id="80" fill="hold" nodeType="afterGroup">
                            <p:stCondLst>
                              <p:cond delay="5000"/>
                            </p:stCondLst>
                            <p:childTnLst>
                              <p:par>
                                <p:cTn id="81" presetID="22" presetClass="entr" presetSubtype="1" fill="hold" grpId="0" nodeType="afterEffect">
                                  <p:stCondLst>
                                    <p:cond delay="1000"/>
                                  </p:stCondLst>
                                  <p:childTnLst>
                                    <p:set>
                                      <p:cBhvr>
                                        <p:cTn id="82" dur="1" fill="hold">
                                          <p:stCondLst>
                                            <p:cond delay="0"/>
                                          </p:stCondLst>
                                        </p:cTn>
                                        <p:tgtEl>
                                          <p:spTgt spid="703569"/>
                                        </p:tgtEl>
                                        <p:attrNameLst>
                                          <p:attrName>style.visibility</p:attrName>
                                        </p:attrNameLst>
                                      </p:cBhvr>
                                      <p:to>
                                        <p:strVal val="visible"/>
                                      </p:to>
                                    </p:set>
                                    <p:animEffect transition="in" filter="wipe(up)">
                                      <p:cBhvr>
                                        <p:cTn id="83" dur="500"/>
                                        <p:tgtEl>
                                          <p:spTgt spid="703569"/>
                                        </p:tgtEl>
                                      </p:cBhvr>
                                    </p:animEffect>
                                  </p:childTnLst>
                                </p:cTn>
                              </p:par>
                            </p:childTnLst>
                          </p:cTn>
                        </p:par>
                        <p:par>
                          <p:cTn id="84" fill="hold" nodeType="afterGroup">
                            <p:stCondLst>
                              <p:cond delay="6500"/>
                            </p:stCondLst>
                            <p:childTnLst>
                              <p:par>
                                <p:cTn id="85" presetID="22" presetClass="entr" presetSubtype="1" fill="hold" grpId="0" nodeType="afterEffect">
                                  <p:stCondLst>
                                    <p:cond delay="1000"/>
                                  </p:stCondLst>
                                  <p:childTnLst>
                                    <p:set>
                                      <p:cBhvr>
                                        <p:cTn id="86" dur="1" fill="hold">
                                          <p:stCondLst>
                                            <p:cond delay="0"/>
                                          </p:stCondLst>
                                        </p:cTn>
                                        <p:tgtEl>
                                          <p:spTgt spid="703570"/>
                                        </p:tgtEl>
                                        <p:attrNameLst>
                                          <p:attrName>style.visibility</p:attrName>
                                        </p:attrNameLst>
                                      </p:cBhvr>
                                      <p:to>
                                        <p:strVal val="visible"/>
                                      </p:to>
                                    </p:set>
                                    <p:animEffect transition="in" filter="wipe(up)">
                                      <p:cBhvr>
                                        <p:cTn id="87" dur="500"/>
                                        <p:tgtEl>
                                          <p:spTgt spid="70357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2" presetClass="entr" presetSubtype="8" fill="hold" grpId="0" nodeType="clickEffect">
                                  <p:stCondLst>
                                    <p:cond delay="0"/>
                                  </p:stCondLst>
                                  <p:childTnLst>
                                    <p:set>
                                      <p:cBhvr>
                                        <p:cTn id="91" dur="1" fill="hold">
                                          <p:stCondLst>
                                            <p:cond delay="0"/>
                                          </p:stCondLst>
                                        </p:cTn>
                                        <p:tgtEl>
                                          <p:spTgt spid="703572"/>
                                        </p:tgtEl>
                                        <p:attrNameLst>
                                          <p:attrName>style.visibility</p:attrName>
                                        </p:attrNameLst>
                                      </p:cBhvr>
                                      <p:to>
                                        <p:strVal val="visible"/>
                                      </p:to>
                                    </p:set>
                                    <p:animEffect transition="in" filter="slide(fromLeft)">
                                      <p:cBhvr>
                                        <p:cTn id="92" dur="500"/>
                                        <p:tgtEl>
                                          <p:spTgt spid="70357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03573"/>
                                        </p:tgtEl>
                                        <p:attrNameLst>
                                          <p:attrName>style.visibility</p:attrName>
                                        </p:attrNameLst>
                                      </p:cBhvr>
                                      <p:to>
                                        <p:strVal val="visible"/>
                                      </p:to>
                                    </p:set>
                                    <p:animEffect transition="in" filter="wipe(left)">
                                      <p:cBhvr>
                                        <p:cTn id="97" dur="500"/>
                                        <p:tgtEl>
                                          <p:spTgt spid="703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565" grpId="0" animBg="1"/>
      <p:bldP spid="703566" grpId="0" animBg="1"/>
      <p:bldP spid="703567" grpId="0" animBg="1"/>
      <p:bldP spid="703568" grpId="0" animBg="1"/>
      <p:bldP spid="703569" grpId="0" animBg="1"/>
      <p:bldP spid="703570" grpId="0" animBg="1"/>
      <p:bldP spid="703571" grpId="0" animBg="1" autoUpdateAnimBg="0"/>
      <p:bldP spid="703572" grpId="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ChangeArrowheads="1"/>
          </p:cNvSpPr>
          <p:nvPr/>
        </p:nvSpPr>
        <p:spPr bwMode="auto">
          <a:xfrm>
            <a:off x="2362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e[0]</a:t>
            </a:r>
          </a:p>
        </p:txBody>
      </p:sp>
      <p:sp>
        <p:nvSpPr>
          <p:cNvPr id="90117" name="Rectangle 5"/>
          <p:cNvSpPr>
            <a:spLocks noChangeArrowheads="1"/>
          </p:cNvSpPr>
          <p:nvPr/>
        </p:nvSpPr>
        <p:spPr bwMode="auto">
          <a:xfrm>
            <a:off x="3124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e[1]</a:t>
            </a:r>
          </a:p>
        </p:txBody>
      </p:sp>
      <p:sp>
        <p:nvSpPr>
          <p:cNvPr id="90118" name="Rectangle 6"/>
          <p:cNvSpPr>
            <a:spLocks noChangeArrowheads="1"/>
          </p:cNvSpPr>
          <p:nvPr/>
        </p:nvSpPr>
        <p:spPr bwMode="auto">
          <a:xfrm>
            <a:off x="3886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e[2]</a:t>
            </a:r>
          </a:p>
        </p:txBody>
      </p:sp>
      <p:sp>
        <p:nvSpPr>
          <p:cNvPr id="90119" name="Rectangle 7"/>
          <p:cNvSpPr>
            <a:spLocks noChangeArrowheads="1"/>
          </p:cNvSpPr>
          <p:nvPr/>
        </p:nvSpPr>
        <p:spPr bwMode="auto">
          <a:xfrm>
            <a:off x="4648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e[3]</a:t>
            </a:r>
          </a:p>
        </p:txBody>
      </p:sp>
      <p:sp>
        <p:nvSpPr>
          <p:cNvPr id="90120" name="Rectangle 8"/>
          <p:cNvSpPr>
            <a:spLocks noChangeArrowheads="1"/>
          </p:cNvSpPr>
          <p:nvPr/>
        </p:nvSpPr>
        <p:spPr bwMode="auto">
          <a:xfrm>
            <a:off x="5410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e[4]</a:t>
            </a:r>
          </a:p>
        </p:txBody>
      </p:sp>
      <p:sp>
        <p:nvSpPr>
          <p:cNvPr id="90121" name="Rectangle 9"/>
          <p:cNvSpPr>
            <a:spLocks noChangeArrowheads="1"/>
          </p:cNvSpPr>
          <p:nvPr/>
        </p:nvSpPr>
        <p:spPr bwMode="auto">
          <a:xfrm>
            <a:off x="6172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e[5]</a:t>
            </a:r>
          </a:p>
        </p:txBody>
      </p:sp>
      <p:sp>
        <p:nvSpPr>
          <p:cNvPr id="90122" name="Rectangle 10"/>
          <p:cNvSpPr>
            <a:spLocks noChangeArrowheads="1"/>
          </p:cNvSpPr>
          <p:nvPr/>
        </p:nvSpPr>
        <p:spPr bwMode="auto">
          <a:xfrm>
            <a:off x="6934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e[6]</a:t>
            </a:r>
          </a:p>
        </p:txBody>
      </p:sp>
      <p:sp>
        <p:nvSpPr>
          <p:cNvPr id="90123" name="Rectangle 11"/>
          <p:cNvSpPr>
            <a:spLocks noChangeArrowheads="1"/>
          </p:cNvSpPr>
          <p:nvPr/>
        </p:nvSpPr>
        <p:spPr bwMode="auto">
          <a:xfrm>
            <a:off x="7696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e[7]</a:t>
            </a:r>
          </a:p>
        </p:txBody>
      </p:sp>
      <p:sp>
        <p:nvSpPr>
          <p:cNvPr id="90124" name="Rectangle 12"/>
          <p:cNvSpPr>
            <a:spLocks noChangeArrowheads="1"/>
          </p:cNvSpPr>
          <p:nvPr/>
        </p:nvSpPr>
        <p:spPr bwMode="auto">
          <a:xfrm>
            <a:off x="8458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e[8]</a:t>
            </a:r>
          </a:p>
        </p:txBody>
      </p:sp>
      <p:sp>
        <p:nvSpPr>
          <p:cNvPr id="90125" name="Rectangle 13"/>
          <p:cNvSpPr>
            <a:spLocks noChangeArrowheads="1"/>
          </p:cNvSpPr>
          <p:nvPr/>
        </p:nvSpPr>
        <p:spPr bwMode="auto">
          <a:xfrm>
            <a:off x="9220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e[9]</a:t>
            </a:r>
          </a:p>
        </p:txBody>
      </p:sp>
      <p:sp>
        <p:nvSpPr>
          <p:cNvPr id="90126" name="Rectangle 14"/>
          <p:cNvSpPr>
            <a:spLocks noChangeArrowheads="1"/>
          </p:cNvSpPr>
          <p:nvPr/>
        </p:nvSpPr>
        <p:spPr bwMode="auto">
          <a:xfrm>
            <a:off x="2362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f[0]</a:t>
            </a:r>
          </a:p>
        </p:txBody>
      </p:sp>
      <p:sp>
        <p:nvSpPr>
          <p:cNvPr id="90127" name="Rectangle 15"/>
          <p:cNvSpPr>
            <a:spLocks noChangeArrowheads="1"/>
          </p:cNvSpPr>
          <p:nvPr/>
        </p:nvSpPr>
        <p:spPr bwMode="auto">
          <a:xfrm>
            <a:off x="3124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f[1]</a:t>
            </a:r>
          </a:p>
        </p:txBody>
      </p:sp>
      <p:sp>
        <p:nvSpPr>
          <p:cNvPr id="90128" name="Rectangle 16"/>
          <p:cNvSpPr>
            <a:spLocks noChangeArrowheads="1"/>
          </p:cNvSpPr>
          <p:nvPr/>
        </p:nvSpPr>
        <p:spPr bwMode="auto">
          <a:xfrm>
            <a:off x="3886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f[2]</a:t>
            </a:r>
          </a:p>
        </p:txBody>
      </p:sp>
      <p:sp>
        <p:nvSpPr>
          <p:cNvPr id="90129" name="Rectangle 17"/>
          <p:cNvSpPr>
            <a:spLocks noChangeArrowheads="1"/>
          </p:cNvSpPr>
          <p:nvPr/>
        </p:nvSpPr>
        <p:spPr bwMode="auto">
          <a:xfrm>
            <a:off x="4648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f[3]</a:t>
            </a:r>
          </a:p>
        </p:txBody>
      </p:sp>
      <p:sp>
        <p:nvSpPr>
          <p:cNvPr id="90130" name="Rectangle 18"/>
          <p:cNvSpPr>
            <a:spLocks noChangeArrowheads="1"/>
          </p:cNvSpPr>
          <p:nvPr/>
        </p:nvSpPr>
        <p:spPr bwMode="auto">
          <a:xfrm>
            <a:off x="5410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f[4]</a:t>
            </a:r>
          </a:p>
        </p:txBody>
      </p:sp>
      <p:sp>
        <p:nvSpPr>
          <p:cNvPr id="90131" name="Rectangle 19"/>
          <p:cNvSpPr>
            <a:spLocks noChangeArrowheads="1"/>
          </p:cNvSpPr>
          <p:nvPr/>
        </p:nvSpPr>
        <p:spPr bwMode="auto">
          <a:xfrm>
            <a:off x="6172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f[5]</a:t>
            </a:r>
          </a:p>
        </p:txBody>
      </p:sp>
      <p:sp>
        <p:nvSpPr>
          <p:cNvPr id="90132" name="Rectangle 20"/>
          <p:cNvSpPr>
            <a:spLocks noChangeArrowheads="1"/>
          </p:cNvSpPr>
          <p:nvPr/>
        </p:nvSpPr>
        <p:spPr bwMode="auto">
          <a:xfrm>
            <a:off x="6934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f[6]</a:t>
            </a:r>
          </a:p>
        </p:txBody>
      </p:sp>
      <p:sp>
        <p:nvSpPr>
          <p:cNvPr id="90133" name="Rectangle 21"/>
          <p:cNvSpPr>
            <a:spLocks noChangeArrowheads="1"/>
          </p:cNvSpPr>
          <p:nvPr/>
        </p:nvSpPr>
        <p:spPr bwMode="auto">
          <a:xfrm>
            <a:off x="7696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f[7]</a:t>
            </a:r>
          </a:p>
        </p:txBody>
      </p:sp>
      <p:sp>
        <p:nvSpPr>
          <p:cNvPr id="90134" name="Rectangle 22"/>
          <p:cNvSpPr>
            <a:spLocks noChangeArrowheads="1"/>
          </p:cNvSpPr>
          <p:nvPr/>
        </p:nvSpPr>
        <p:spPr bwMode="auto">
          <a:xfrm>
            <a:off x="8458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f[8]</a:t>
            </a:r>
          </a:p>
        </p:txBody>
      </p:sp>
      <p:sp>
        <p:nvSpPr>
          <p:cNvPr id="90135" name="Rectangle 23"/>
          <p:cNvSpPr>
            <a:spLocks noChangeArrowheads="1"/>
          </p:cNvSpPr>
          <p:nvPr/>
        </p:nvSpPr>
        <p:spPr bwMode="auto">
          <a:xfrm>
            <a:off x="9220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f[9]</a:t>
            </a:r>
          </a:p>
        </p:txBody>
      </p:sp>
      <p:grpSp>
        <p:nvGrpSpPr>
          <p:cNvPr id="704536" name="Group 24"/>
          <p:cNvGrpSpPr>
            <a:grpSpLocks/>
          </p:cNvGrpSpPr>
          <p:nvPr/>
        </p:nvGrpSpPr>
        <p:grpSpPr bwMode="auto">
          <a:xfrm>
            <a:off x="8458200" y="4585892"/>
            <a:ext cx="609600" cy="604837"/>
            <a:chOff x="4368" y="3171"/>
            <a:chExt cx="384" cy="381"/>
          </a:xfrm>
        </p:grpSpPr>
        <p:sp>
          <p:nvSpPr>
            <p:cNvPr id="90213" name="Line 25"/>
            <p:cNvSpPr>
              <a:spLocks noChangeShapeType="1"/>
            </p:cNvSpPr>
            <p:nvPr/>
          </p:nvSpPr>
          <p:spPr bwMode="auto">
            <a:xfrm flipV="1">
              <a:off x="45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14" name="Rectangle 26"/>
            <p:cNvSpPr>
              <a:spLocks noChangeArrowheads="1"/>
            </p:cNvSpPr>
            <p:nvPr/>
          </p:nvSpPr>
          <p:spPr bwMode="auto">
            <a:xfrm>
              <a:off x="436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grpSp>
      <p:grpSp>
        <p:nvGrpSpPr>
          <p:cNvPr id="704539" name="Group 27"/>
          <p:cNvGrpSpPr>
            <a:grpSpLocks/>
          </p:cNvGrpSpPr>
          <p:nvPr/>
        </p:nvGrpSpPr>
        <p:grpSpPr bwMode="auto">
          <a:xfrm>
            <a:off x="4648200" y="4581128"/>
            <a:ext cx="609600" cy="609600"/>
            <a:chOff x="1968" y="3168"/>
            <a:chExt cx="384" cy="384"/>
          </a:xfrm>
        </p:grpSpPr>
        <p:sp>
          <p:nvSpPr>
            <p:cNvPr id="90211" name="Line 28"/>
            <p:cNvSpPr>
              <a:spLocks noChangeShapeType="1"/>
            </p:cNvSpPr>
            <p:nvPr/>
          </p:nvSpPr>
          <p:spPr bwMode="auto">
            <a:xfrm flipV="1">
              <a:off x="21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12" name="Rectangle 29"/>
            <p:cNvSpPr>
              <a:spLocks noChangeArrowheads="1"/>
            </p:cNvSpPr>
            <p:nvPr/>
          </p:nvSpPr>
          <p:spPr bwMode="auto">
            <a:xfrm>
              <a:off x="196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grpSp>
      <p:grpSp>
        <p:nvGrpSpPr>
          <p:cNvPr id="704542" name="Group 30"/>
          <p:cNvGrpSpPr>
            <a:grpSpLocks/>
          </p:cNvGrpSpPr>
          <p:nvPr/>
        </p:nvGrpSpPr>
        <p:grpSpPr bwMode="auto">
          <a:xfrm>
            <a:off x="2362200" y="4581128"/>
            <a:ext cx="609600" cy="609600"/>
            <a:chOff x="528" y="3168"/>
            <a:chExt cx="384" cy="384"/>
          </a:xfrm>
        </p:grpSpPr>
        <p:sp>
          <p:nvSpPr>
            <p:cNvPr id="90209" name="Line 31"/>
            <p:cNvSpPr>
              <a:spLocks noChangeShapeType="1"/>
            </p:cNvSpPr>
            <p:nvPr/>
          </p:nvSpPr>
          <p:spPr bwMode="auto">
            <a:xfrm flipV="1">
              <a:off x="7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10" name="Rectangle 32"/>
            <p:cNvSpPr>
              <a:spLocks noChangeArrowheads="1"/>
            </p:cNvSpPr>
            <p:nvPr/>
          </p:nvSpPr>
          <p:spPr bwMode="auto">
            <a:xfrm>
              <a:off x="52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grpSp>
      <p:grpSp>
        <p:nvGrpSpPr>
          <p:cNvPr id="704545" name="Group 33"/>
          <p:cNvGrpSpPr>
            <a:grpSpLocks/>
          </p:cNvGrpSpPr>
          <p:nvPr/>
        </p:nvGrpSpPr>
        <p:grpSpPr bwMode="auto">
          <a:xfrm>
            <a:off x="8458200" y="3971528"/>
            <a:ext cx="609600" cy="604838"/>
            <a:chOff x="2928" y="3171"/>
            <a:chExt cx="384" cy="381"/>
          </a:xfrm>
        </p:grpSpPr>
        <p:sp>
          <p:nvSpPr>
            <p:cNvPr id="90207" name="Line 34"/>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08" name="Rectangle 35"/>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grpSp>
      <p:grpSp>
        <p:nvGrpSpPr>
          <p:cNvPr id="704548" name="Group 36"/>
          <p:cNvGrpSpPr>
            <a:grpSpLocks/>
          </p:cNvGrpSpPr>
          <p:nvPr/>
        </p:nvGrpSpPr>
        <p:grpSpPr bwMode="auto">
          <a:xfrm>
            <a:off x="6934200" y="3971528"/>
            <a:ext cx="609600" cy="604838"/>
            <a:chOff x="2928" y="3171"/>
            <a:chExt cx="384" cy="381"/>
          </a:xfrm>
        </p:grpSpPr>
        <p:sp>
          <p:nvSpPr>
            <p:cNvPr id="90205" name="Line 37"/>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06" name="Rectangle 38"/>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grpSp>
      <p:sp>
        <p:nvSpPr>
          <p:cNvPr id="704551" name="Line 39"/>
          <p:cNvSpPr>
            <a:spLocks noChangeShapeType="1"/>
          </p:cNvSpPr>
          <p:nvPr/>
        </p:nvSpPr>
        <p:spPr bwMode="auto">
          <a:xfrm>
            <a:off x="2667000" y="2904728"/>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4552" name="Line 40"/>
          <p:cNvSpPr>
            <a:spLocks noChangeShapeType="1"/>
          </p:cNvSpPr>
          <p:nvPr/>
        </p:nvSpPr>
        <p:spPr bwMode="auto">
          <a:xfrm>
            <a:off x="4953000" y="2904728"/>
            <a:ext cx="0" cy="1676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4553" name="Line 41"/>
          <p:cNvSpPr>
            <a:spLocks noChangeShapeType="1"/>
          </p:cNvSpPr>
          <p:nvPr/>
        </p:nvSpPr>
        <p:spPr bwMode="auto">
          <a:xfrm>
            <a:off x="8763000" y="2904728"/>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4554" name="Rectangle 42"/>
          <p:cNvSpPr>
            <a:spLocks noChangeArrowheads="1"/>
          </p:cNvSpPr>
          <p:nvPr/>
        </p:nvSpPr>
        <p:spPr bwMode="auto">
          <a:xfrm>
            <a:off x="1600200" y="2523729"/>
            <a:ext cx="762000" cy="346075"/>
          </a:xfrm>
          <a:prstGeom prst="rect">
            <a:avLst/>
          </a:prstGeom>
          <a:solidFill>
            <a:srgbClr val="FFF7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spcBef>
                <a:spcPct val="50000"/>
              </a:spcBef>
              <a:buFontTx/>
              <a:buNone/>
            </a:pPr>
            <a:r>
              <a:rPr kumimoji="1" lang="zh-CN" altLang="en-US" sz="1600">
                <a:latin typeface="Tahoma" pitchFamily="34" charset="0"/>
              </a:rPr>
              <a:t>分配</a:t>
            </a:r>
            <a:r>
              <a:rPr kumimoji="1" lang="en-US" altLang="zh-CN" sz="1600">
                <a:latin typeface="Tahoma" pitchFamily="34" charset="0"/>
              </a:rPr>
              <a:t>2</a:t>
            </a:r>
          </a:p>
        </p:txBody>
      </p:sp>
      <p:sp>
        <p:nvSpPr>
          <p:cNvPr id="704555" name="Rectangle 43"/>
          <p:cNvSpPr>
            <a:spLocks noChangeArrowheads="1"/>
          </p:cNvSpPr>
          <p:nvPr/>
        </p:nvSpPr>
        <p:spPr bwMode="auto">
          <a:xfrm>
            <a:off x="1600200" y="5471121"/>
            <a:ext cx="762000" cy="346075"/>
          </a:xfrm>
          <a:prstGeom prst="rect">
            <a:avLst/>
          </a:prstGeom>
          <a:solidFill>
            <a:srgbClr val="FFF7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spcBef>
                <a:spcPct val="50000"/>
              </a:spcBef>
              <a:buFontTx/>
              <a:buNone/>
            </a:pPr>
            <a:r>
              <a:rPr kumimoji="1" lang="zh-CN" altLang="en-US" sz="1600">
                <a:latin typeface="Tahoma" pitchFamily="34" charset="0"/>
              </a:rPr>
              <a:t>收集</a:t>
            </a:r>
            <a:r>
              <a:rPr kumimoji="1" lang="en-US" altLang="zh-CN" sz="1600">
                <a:latin typeface="Tahoma" pitchFamily="34" charset="0"/>
              </a:rPr>
              <a:t>2</a:t>
            </a:r>
          </a:p>
        </p:txBody>
      </p:sp>
      <p:grpSp>
        <p:nvGrpSpPr>
          <p:cNvPr id="704556" name="Group 44"/>
          <p:cNvGrpSpPr>
            <a:grpSpLocks/>
          </p:cNvGrpSpPr>
          <p:nvPr/>
        </p:nvGrpSpPr>
        <p:grpSpPr bwMode="auto">
          <a:xfrm>
            <a:off x="1981200" y="5928320"/>
            <a:ext cx="8382000" cy="381000"/>
            <a:chOff x="288" y="3792"/>
            <a:chExt cx="5280" cy="240"/>
          </a:xfrm>
        </p:grpSpPr>
        <p:sp>
          <p:nvSpPr>
            <p:cNvPr id="90185" name="Rectangle 45"/>
            <p:cNvSpPr>
              <a:spLocks noChangeArrowheads="1"/>
            </p:cNvSpPr>
            <p:nvPr/>
          </p:nvSpPr>
          <p:spPr bwMode="auto">
            <a:xfrm>
              <a:off x="432"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sp>
          <p:nvSpPr>
            <p:cNvPr id="90186" name="Rectangle 46"/>
            <p:cNvSpPr>
              <a:spLocks noChangeArrowheads="1"/>
            </p:cNvSpPr>
            <p:nvPr/>
          </p:nvSpPr>
          <p:spPr bwMode="auto">
            <a:xfrm>
              <a:off x="960"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sp>
          <p:nvSpPr>
            <p:cNvPr id="90187" name="Line 47"/>
            <p:cNvSpPr>
              <a:spLocks noChangeShapeType="1"/>
            </p:cNvSpPr>
            <p:nvPr/>
          </p:nvSpPr>
          <p:spPr bwMode="auto">
            <a:xfrm>
              <a:off x="28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88" name="Line 48"/>
            <p:cNvSpPr>
              <a:spLocks noChangeShapeType="1"/>
            </p:cNvSpPr>
            <p:nvPr/>
          </p:nvSpPr>
          <p:spPr bwMode="auto">
            <a:xfrm>
              <a:off x="816"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89" name="Rectangle 49"/>
            <p:cNvSpPr>
              <a:spLocks noChangeArrowheads="1"/>
            </p:cNvSpPr>
            <p:nvPr/>
          </p:nvSpPr>
          <p:spPr bwMode="auto">
            <a:xfrm>
              <a:off x="1488"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sp>
          <p:nvSpPr>
            <p:cNvPr id="90190" name="Rectangle 50"/>
            <p:cNvSpPr>
              <a:spLocks noChangeArrowheads="1"/>
            </p:cNvSpPr>
            <p:nvPr/>
          </p:nvSpPr>
          <p:spPr bwMode="auto">
            <a:xfrm>
              <a:off x="2016"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sp>
          <p:nvSpPr>
            <p:cNvPr id="90191" name="Line 51"/>
            <p:cNvSpPr>
              <a:spLocks noChangeShapeType="1"/>
            </p:cNvSpPr>
            <p:nvPr/>
          </p:nvSpPr>
          <p:spPr bwMode="auto">
            <a:xfrm>
              <a:off x="134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92" name="Line 52"/>
            <p:cNvSpPr>
              <a:spLocks noChangeShapeType="1"/>
            </p:cNvSpPr>
            <p:nvPr/>
          </p:nvSpPr>
          <p:spPr bwMode="auto">
            <a:xfrm>
              <a:off x="187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93" name="Rectangle 53"/>
            <p:cNvSpPr>
              <a:spLocks noChangeArrowheads="1"/>
            </p:cNvSpPr>
            <p:nvPr/>
          </p:nvSpPr>
          <p:spPr bwMode="auto">
            <a:xfrm>
              <a:off x="2544"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sp>
          <p:nvSpPr>
            <p:cNvPr id="90194" name="Rectangle 54"/>
            <p:cNvSpPr>
              <a:spLocks noChangeArrowheads="1"/>
            </p:cNvSpPr>
            <p:nvPr/>
          </p:nvSpPr>
          <p:spPr bwMode="auto">
            <a:xfrm>
              <a:off x="3072"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sp>
          <p:nvSpPr>
            <p:cNvPr id="90195" name="Line 55"/>
            <p:cNvSpPr>
              <a:spLocks noChangeShapeType="1"/>
            </p:cNvSpPr>
            <p:nvPr/>
          </p:nvSpPr>
          <p:spPr bwMode="auto">
            <a:xfrm>
              <a:off x="2400"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96" name="Line 56"/>
            <p:cNvSpPr>
              <a:spLocks noChangeShapeType="1"/>
            </p:cNvSpPr>
            <p:nvPr/>
          </p:nvSpPr>
          <p:spPr bwMode="auto">
            <a:xfrm>
              <a:off x="292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97" name="Rectangle 57"/>
            <p:cNvSpPr>
              <a:spLocks noChangeArrowheads="1"/>
            </p:cNvSpPr>
            <p:nvPr/>
          </p:nvSpPr>
          <p:spPr bwMode="auto">
            <a:xfrm>
              <a:off x="3600"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sp>
          <p:nvSpPr>
            <p:cNvPr id="90198" name="Rectangle 58"/>
            <p:cNvSpPr>
              <a:spLocks noChangeArrowheads="1"/>
            </p:cNvSpPr>
            <p:nvPr/>
          </p:nvSpPr>
          <p:spPr bwMode="auto">
            <a:xfrm>
              <a:off x="4128"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sp>
          <p:nvSpPr>
            <p:cNvPr id="90199" name="Line 59"/>
            <p:cNvSpPr>
              <a:spLocks noChangeShapeType="1"/>
            </p:cNvSpPr>
            <p:nvPr/>
          </p:nvSpPr>
          <p:spPr bwMode="auto">
            <a:xfrm>
              <a:off x="3456"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00" name="Line 60"/>
            <p:cNvSpPr>
              <a:spLocks noChangeShapeType="1"/>
            </p:cNvSpPr>
            <p:nvPr/>
          </p:nvSpPr>
          <p:spPr bwMode="auto">
            <a:xfrm>
              <a:off x="398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01" name="Rectangle 61"/>
            <p:cNvSpPr>
              <a:spLocks noChangeArrowheads="1"/>
            </p:cNvSpPr>
            <p:nvPr/>
          </p:nvSpPr>
          <p:spPr bwMode="auto">
            <a:xfrm>
              <a:off x="4656"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sp>
          <p:nvSpPr>
            <p:cNvPr id="90202" name="Rectangle 62"/>
            <p:cNvSpPr>
              <a:spLocks noChangeArrowheads="1"/>
            </p:cNvSpPr>
            <p:nvPr/>
          </p:nvSpPr>
          <p:spPr bwMode="auto">
            <a:xfrm>
              <a:off x="5184"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sp>
          <p:nvSpPr>
            <p:cNvPr id="90203" name="Line 63"/>
            <p:cNvSpPr>
              <a:spLocks noChangeShapeType="1"/>
            </p:cNvSpPr>
            <p:nvPr/>
          </p:nvSpPr>
          <p:spPr bwMode="auto">
            <a:xfrm>
              <a:off x="451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204" name="Line 64"/>
            <p:cNvSpPr>
              <a:spLocks noChangeShapeType="1"/>
            </p:cNvSpPr>
            <p:nvPr/>
          </p:nvSpPr>
          <p:spPr bwMode="auto">
            <a:xfrm>
              <a:off x="5040"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90147" name="Group 65"/>
          <p:cNvGrpSpPr>
            <a:grpSpLocks/>
          </p:cNvGrpSpPr>
          <p:nvPr/>
        </p:nvGrpSpPr>
        <p:grpSpPr bwMode="auto">
          <a:xfrm>
            <a:off x="1981200" y="1990328"/>
            <a:ext cx="8382000" cy="381000"/>
            <a:chOff x="288" y="3792"/>
            <a:chExt cx="5280" cy="240"/>
          </a:xfrm>
        </p:grpSpPr>
        <p:sp>
          <p:nvSpPr>
            <p:cNvPr id="90165" name="Rectangle 66"/>
            <p:cNvSpPr>
              <a:spLocks noChangeArrowheads="1"/>
            </p:cNvSpPr>
            <p:nvPr/>
          </p:nvSpPr>
          <p:spPr bwMode="auto">
            <a:xfrm>
              <a:off x="432"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sp>
          <p:nvSpPr>
            <p:cNvPr id="90166" name="Rectangle 67"/>
            <p:cNvSpPr>
              <a:spLocks noChangeArrowheads="1"/>
            </p:cNvSpPr>
            <p:nvPr/>
          </p:nvSpPr>
          <p:spPr bwMode="auto">
            <a:xfrm>
              <a:off x="960"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sp>
          <p:nvSpPr>
            <p:cNvPr id="90167" name="Line 68"/>
            <p:cNvSpPr>
              <a:spLocks noChangeShapeType="1"/>
            </p:cNvSpPr>
            <p:nvPr/>
          </p:nvSpPr>
          <p:spPr bwMode="auto">
            <a:xfrm>
              <a:off x="28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68" name="Line 69"/>
            <p:cNvSpPr>
              <a:spLocks noChangeShapeType="1"/>
            </p:cNvSpPr>
            <p:nvPr/>
          </p:nvSpPr>
          <p:spPr bwMode="auto">
            <a:xfrm>
              <a:off x="816"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69" name="Rectangle 70"/>
            <p:cNvSpPr>
              <a:spLocks noChangeArrowheads="1"/>
            </p:cNvSpPr>
            <p:nvPr/>
          </p:nvSpPr>
          <p:spPr bwMode="auto">
            <a:xfrm>
              <a:off x="1488"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sp>
          <p:nvSpPr>
            <p:cNvPr id="90170" name="Rectangle 71"/>
            <p:cNvSpPr>
              <a:spLocks noChangeArrowheads="1"/>
            </p:cNvSpPr>
            <p:nvPr/>
          </p:nvSpPr>
          <p:spPr bwMode="auto">
            <a:xfrm>
              <a:off x="2016" y="3795"/>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sp>
          <p:nvSpPr>
            <p:cNvPr id="90171" name="Line 72"/>
            <p:cNvSpPr>
              <a:spLocks noChangeShapeType="1"/>
            </p:cNvSpPr>
            <p:nvPr/>
          </p:nvSpPr>
          <p:spPr bwMode="auto">
            <a:xfrm>
              <a:off x="134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72" name="Line 73"/>
            <p:cNvSpPr>
              <a:spLocks noChangeShapeType="1"/>
            </p:cNvSpPr>
            <p:nvPr/>
          </p:nvSpPr>
          <p:spPr bwMode="auto">
            <a:xfrm>
              <a:off x="187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73" name="Rectangle 74"/>
            <p:cNvSpPr>
              <a:spLocks noChangeArrowheads="1"/>
            </p:cNvSpPr>
            <p:nvPr/>
          </p:nvSpPr>
          <p:spPr bwMode="auto">
            <a:xfrm>
              <a:off x="2544"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sp>
          <p:nvSpPr>
            <p:cNvPr id="90174" name="Rectangle 75"/>
            <p:cNvSpPr>
              <a:spLocks noChangeArrowheads="1"/>
            </p:cNvSpPr>
            <p:nvPr/>
          </p:nvSpPr>
          <p:spPr bwMode="auto">
            <a:xfrm>
              <a:off x="3072"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sp>
          <p:nvSpPr>
            <p:cNvPr id="90175" name="Line 76"/>
            <p:cNvSpPr>
              <a:spLocks noChangeShapeType="1"/>
            </p:cNvSpPr>
            <p:nvPr/>
          </p:nvSpPr>
          <p:spPr bwMode="auto">
            <a:xfrm>
              <a:off x="2400"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76" name="Line 77"/>
            <p:cNvSpPr>
              <a:spLocks noChangeShapeType="1"/>
            </p:cNvSpPr>
            <p:nvPr/>
          </p:nvSpPr>
          <p:spPr bwMode="auto">
            <a:xfrm>
              <a:off x="292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77" name="Rectangle 78"/>
            <p:cNvSpPr>
              <a:spLocks noChangeArrowheads="1"/>
            </p:cNvSpPr>
            <p:nvPr/>
          </p:nvSpPr>
          <p:spPr bwMode="auto">
            <a:xfrm>
              <a:off x="3600"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sp>
          <p:nvSpPr>
            <p:cNvPr id="90178" name="Rectangle 79"/>
            <p:cNvSpPr>
              <a:spLocks noChangeArrowheads="1"/>
            </p:cNvSpPr>
            <p:nvPr/>
          </p:nvSpPr>
          <p:spPr bwMode="auto">
            <a:xfrm>
              <a:off x="4128" y="3795"/>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sp>
          <p:nvSpPr>
            <p:cNvPr id="90179" name="Line 80"/>
            <p:cNvSpPr>
              <a:spLocks noChangeShapeType="1"/>
            </p:cNvSpPr>
            <p:nvPr/>
          </p:nvSpPr>
          <p:spPr bwMode="auto">
            <a:xfrm>
              <a:off x="3456"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80" name="Line 81"/>
            <p:cNvSpPr>
              <a:spLocks noChangeShapeType="1"/>
            </p:cNvSpPr>
            <p:nvPr/>
          </p:nvSpPr>
          <p:spPr bwMode="auto">
            <a:xfrm>
              <a:off x="398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81" name="Rectangle 82"/>
            <p:cNvSpPr>
              <a:spLocks noChangeArrowheads="1"/>
            </p:cNvSpPr>
            <p:nvPr/>
          </p:nvSpPr>
          <p:spPr bwMode="auto">
            <a:xfrm>
              <a:off x="4656"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sp>
          <p:nvSpPr>
            <p:cNvPr id="90182" name="Rectangle 83"/>
            <p:cNvSpPr>
              <a:spLocks noChangeArrowheads="1"/>
            </p:cNvSpPr>
            <p:nvPr/>
          </p:nvSpPr>
          <p:spPr bwMode="auto">
            <a:xfrm>
              <a:off x="5184" y="3795"/>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sp>
          <p:nvSpPr>
            <p:cNvPr id="90183" name="Line 84"/>
            <p:cNvSpPr>
              <a:spLocks noChangeShapeType="1"/>
            </p:cNvSpPr>
            <p:nvPr/>
          </p:nvSpPr>
          <p:spPr bwMode="auto">
            <a:xfrm>
              <a:off x="451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84" name="Line 85"/>
            <p:cNvSpPr>
              <a:spLocks noChangeShapeType="1"/>
            </p:cNvSpPr>
            <p:nvPr/>
          </p:nvSpPr>
          <p:spPr bwMode="auto">
            <a:xfrm>
              <a:off x="5040"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704598" name="Group 86"/>
          <p:cNvGrpSpPr>
            <a:grpSpLocks/>
          </p:cNvGrpSpPr>
          <p:nvPr/>
        </p:nvGrpSpPr>
        <p:grpSpPr bwMode="auto">
          <a:xfrm>
            <a:off x="6934200" y="4581128"/>
            <a:ext cx="609600" cy="604838"/>
            <a:chOff x="2928" y="3171"/>
            <a:chExt cx="384" cy="381"/>
          </a:xfrm>
        </p:grpSpPr>
        <p:sp>
          <p:nvSpPr>
            <p:cNvPr id="90163" name="Line 87"/>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64" name="Rectangle 88"/>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grpSp>
      <p:grpSp>
        <p:nvGrpSpPr>
          <p:cNvPr id="704601" name="Group 89"/>
          <p:cNvGrpSpPr>
            <a:grpSpLocks/>
          </p:cNvGrpSpPr>
          <p:nvPr/>
        </p:nvGrpSpPr>
        <p:grpSpPr bwMode="auto">
          <a:xfrm>
            <a:off x="7696200" y="4581128"/>
            <a:ext cx="609600" cy="604838"/>
            <a:chOff x="2448" y="3171"/>
            <a:chExt cx="384" cy="381"/>
          </a:xfrm>
        </p:grpSpPr>
        <p:sp>
          <p:nvSpPr>
            <p:cNvPr id="90161" name="Line 90"/>
            <p:cNvSpPr>
              <a:spLocks noChangeShapeType="1"/>
            </p:cNvSpPr>
            <p:nvPr/>
          </p:nvSpPr>
          <p:spPr bwMode="auto">
            <a:xfrm flipV="1">
              <a:off x="264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62" name="Rectangle 91"/>
            <p:cNvSpPr>
              <a:spLocks noChangeArrowheads="1"/>
            </p:cNvSpPr>
            <p:nvPr/>
          </p:nvSpPr>
          <p:spPr bwMode="auto">
            <a:xfrm>
              <a:off x="244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grpSp>
      <p:grpSp>
        <p:nvGrpSpPr>
          <p:cNvPr id="704604" name="Group 92"/>
          <p:cNvGrpSpPr>
            <a:grpSpLocks/>
          </p:cNvGrpSpPr>
          <p:nvPr/>
        </p:nvGrpSpPr>
        <p:grpSpPr bwMode="auto">
          <a:xfrm>
            <a:off x="2362200" y="3971528"/>
            <a:ext cx="609600" cy="604838"/>
            <a:chOff x="2928" y="3171"/>
            <a:chExt cx="384" cy="381"/>
          </a:xfrm>
        </p:grpSpPr>
        <p:sp>
          <p:nvSpPr>
            <p:cNvPr id="90159" name="Line 93"/>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60" name="Rectangle 94"/>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grpSp>
      <p:grpSp>
        <p:nvGrpSpPr>
          <p:cNvPr id="704607" name="Group 95"/>
          <p:cNvGrpSpPr>
            <a:grpSpLocks/>
          </p:cNvGrpSpPr>
          <p:nvPr/>
        </p:nvGrpSpPr>
        <p:grpSpPr bwMode="auto">
          <a:xfrm>
            <a:off x="2362200" y="3361928"/>
            <a:ext cx="609600" cy="604838"/>
            <a:chOff x="2928" y="3171"/>
            <a:chExt cx="384" cy="381"/>
          </a:xfrm>
        </p:grpSpPr>
        <p:sp>
          <p:nvSpPr>
            <p:cNvPr id="90157" name="Line 96"/>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58" name="Rectangle 97"/>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grpSp>
      <p:grpSp>
        <p:nvGrpSpPr>
          <p:cNvPr id="704610" name="Group 98"/>
          <p:cNvGrpSpPr>
            <a:grpSpLocks/>
          </p:cNvGrpSpPr>
          <p:nvPr/>
        </p:nvGrpSpPr>
        <p:grpSpPr bwMode="auto">
          <a:xfrm>
            <a:off x="8458200" y="3361928"/>
            <a:ext cx="609600" cy="609600"/>
            <a:chOff x="1968" y="3168"/>
            <a:chExt cx="384" cy="384"/>
          </a:xfrm>
        </p:grpSpPr>
        <p:sp>
          <p:nvSpPr>
            <p:cNvPr id="90155" name="Line 99"/>
            <p:cNvSpPr>
              <a:spLocks noChangeShapeType="1"/>
            </p:cNvSpPr>
            <p:nvPr/>
          </p:nvSpPr>
          <p:spPr bwMode="auto">
            <a:xfrm flipV="1">
              <a:off x="21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156" name="Rectangle 100"/>
            <p:cNvSpPr>
              <a:spLocks noChangeArrowheads="1"/>
            </p:cNvSpPr>
            <p:nvPr/>
          </p:nvSpPr>
          <p:spPr bwMode="auto">
            <a:xfrm>
              <a:off x="196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grpSp>
      <p:sp>
        <p:nvSpPr>
          <p:cNvPr id="704613" name="Line 101"/>
          <p:cNvSpPr>
            <a:spLocks noChangeShapeType="1"/>
          </p:cNvSpPr>
          <p:nvPr/>
        </p:nvSpPr>
        <p:spPr bwMode="auto">
          <a:xfrm>
            <a:off x="8001000" y="2980928"/>
            <a:ext cx="0" cy="1600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4614" name="Line 102"/>
          <p:cNvSpPr>
            <a:spLocks noChangeShapeType="1"/>
          </p:cNvSpPr>
          <p:nvPr/>
        </p:nvSpPr>
        <p:spPr bwMode="auto">
          <a:xfrm>
            <a:off x="7239000" y="2980928"/>
            <a:ext cx="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cxnSp>
        <p:nvCxnSpPr>
          <p:cNvPr id="3" name="直接连接符 2">
            <a:extLst>
              <a:ext uri="{FF2B5EF4-FFF2-40B4-BE49-F238E27FC236}">
                <a16:creationId xmlns:a16="http://schemas.microsoft.com/office/drawing/2014/main" id="{638AED55-B807-D892-DF0B-2786231B5D9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A7342E7-7201-D332-40DB-D0B1D9ED81F0}"/>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
        <p:nvSpPr>
          <p:cNvPr id="5" name="矩形 4">
            <a:extLst>
              <a:ext uri="{FF2B5EF4-FFF2-40B4-BE49-F238E27FC236}">
                <a16:creationId xmlns:a16="http://schemas.microsoft.com/office/drawing/2014/main" id="{0F35DEE9-5C9F-033B-70C4-C128EB1B49FB}"/>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10.6.3 </a:t>
            </a:r>
            <a:r>
              <a:rPr lang="zh-CN" altLang="en-US" sz="2800" b="1" dirty="0">
                <a:solidFill>
                  <a:schemeClr val="bg1"/>
                </a:solidFill>
                <a:latin typeface="经典粗黑简" pitchFamily="49" charset="-122"/>
                <a:ea typeface="经典粗黑简" pitchFamily="49" charset="-122"/>
                <a:cs typeface="经典粗黑简" pitchFamily="49" charset="-122"/>
              </a:rPr>
              <a:t>基数排序的示例</a:t>
            </a:r>
          </a:p>
        </p:txBody>
      </p:sp>
    </p:spTree>
    <p:extLst>
      <p:ext uri="{BB962C8B-B14F-4D97-AF65-F5344CB8AC3E}">
        <p14:creationId xmlns:p14="http://schemas.microsoft.com/office/powerpoint/2010/main" val="29987401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04554"/>
                                        </p:tgtEl>
                                        <p:attrNameLst>
                                          <p:attrName>style.visibility</p:attrName>
                                        </p:attrNameLst>
                                      </p:cBhvr>
                                      <p:to>
                                        <p:strVal val="visible"/>
                                      </p:to>
                                    </p:set>
                                    <p:animEffect transition="in" filter="slide(fromLeft)">
                                      <p:cBhvr>
                                        <p:cTn id="7" dur="500"/>
                                        <p:tgtEl>
                                          <p:spTgt spid="704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704539"/>
                                        </p:tgtEl>
                                        <p:attrNameLst>
                                          <p:attrName>style.visibility</p:attrName>
                                        </p:attrNameLst>
                                      </p:cBhvr>
                                      <p:to>
                                        <p:strVal val="visible"/>
                                      </p:to>
                                    </p:set>
                                    <p:animEffect transition="in" filter="slide(fromBottom)">
                                      <p:cBhvr>
                                        <p:cTn id="12" dur="500"/>
                                        <p:tgtEl>
                                          <p:spTgt spid="7045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04598"/>
                                        </p:tgtEl>
                                        <p:attrNameLst>
                                          <p:attrName>style.visibility</p:attrName>
                                        </p:attrNameLst>
                                      </p:cBhvr>
                                      <p:to>
                                        <p:strVal val="visible"/>
                                      </p:to>
                                    </p:set>
                                    <p:animEffect transition="in" filter="slide(fromBottom)">
                                      <p:cBhvr>
                                        <p:cTn id="17" dur="500"/>
                                        <p:tgtEl>
                                          <p:spTgt spid="7045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704536"/>
                                        </p:tgtEl>
                                        <p:attrNameLst>
                                          <p:attrName>style.visibility</p:attrName>
                                        </p:attrNameLst>
                                      </p:cBhvr>
                                      <p:to>
                                        <p:strVal val="visible"/>
                                      </p:to>
                                    </p:set>
                                    <p:animEffect transition="in" filter="slide(fromBottom)">
                                      <p:cBhvr>
                                        <p:cTn id="22" dur="500"/>
                                        <p:tgtEl>
                                          <p:spTgt spid="7045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704545"/>
                                        </p:tgtEl>
                                        <p:attrNameLst>
                                          <p:attrName>style.visibility</p:attrName>
                                        </p:attrNameLst>
                                      </p:cBhvr>
                                      <p:to>
                                        <p:strVal val="visible"/>
                                      </p:to>
                                    </p:set>
                                    <p:animEffect transition="in" filter="slide(fromBottom)">
                                      <p:cBhvr>
                                        <p:cTn id="27" dur="500"/>
                                        <p:tgtEl>
                                          <p:spTgt spid="7045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704542"/>
                                        </p:tgtEl>
                                        <p:attrNameLst>
                                          <p:attrName>style.visibility</p:attrName>
                                        </p:attrNameLst>
                                      </p:cBhvr>
                                      <p:to>
                                        <p:strVal val="visible"/>
                                      </p:to>
                                    </p:set>
                                    <p:animEffect transition="in" filter="slide(fromBottom)">
                                      <p:cBhvr>
                                        <p:cTn id="32" dur="500"/>
                                        <p:tgtEl>
                                          <p:spTgt spid="7045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704601"/>
                                        </p:tgtEl>
                                        <p:attrNameLst>
                                          <p:attrName>style.visibility</p:attrName>
                                        </p:attrNameLst>
                                      </p:cBhvr>
                                      <p:to>
                                        <p:strVal val="visible"/>
                                      </p:to>
                                    </p:set>
                                    <p:animEffect transition="in" filter="slide(fromBottom)">
                                      <p:cBhvr>
                                        <p:cTn id="37" dur="500"/>
                                        <p:tgtEl>
                                          <p:spTgt spid="7046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704604"/>
                                        </p:tgtEl>
                                        <p:attrNameLst>
                                          <p:attrName>style.visibility</p:attrName>
                                        </p:attrNameLst>
                                      </p:cBhvr>
                                      <p:to>
                                        <p:strVal val="visible"/>
                                      </p:to>
                                    </p:set>
                                    <p:animEffect transition="in" filter="slide(fromBottom)">
                                      <p:cBhvr>
                                        <p:cTn id="42" dur="500"/>
                                        <p:tgtEl>
                                          <p:spTgt spid="7046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704607"/>
                                        </p:tgtEl>
                                        <p:attrNameLst>
                                          <p:attrName>style.visibility</p:attrName>
                                        </p:attrNameLst>
                                      </p:cBhvr>
                                      <p:to>
                                        <p:strVal val="visible"/>
                                      </p:to>
                                    </p:set>
                                    <p:animEffect transition="in" filter="slide(fromBottom)">
                                      <p:cBhvr>
                                        <p:cTn id="47" dur="500"/>
                                        <p:tgtEl>
                                          <p:spTgt spid="7046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704610"/>
                                        </p:tgtEl>
                                        <p:attrNameLst>
                                          <p:attrName>style.visibility</p:attrName>
                                        </p:attrNameLst>
                                      </p:cBhvr>
                                      <p:to>
                                        <p:strVal val="visible"/>
                                      </p:to>
                                    </p:set>
                                    <p:animEffect transition="in" filter="slide(fromBottom)">
                                      <p:cBhvr>
                                        <p:cTn id="52" dur="500"/>
                                        <p:tgtEl>
                                          <p:spTgt spid="70461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704548"/>
                                        </p:tgtEl>
                                        <p:attrNameLst>
                                          <p:attrName>style.visibility</p:attrName>
                                        </p:attrNameLst>
                                      </p:cBhvr>
                                      <p:to>
                                        <p:strVal val="visible"/>
                                      </p:to>
                                    </p:set>
                                    <p:animEffect transition="in" filter="slide(fromBottom)">
                                      <p:cBhvr>
                                        <p:cTn id="57" dur="500"/>
                                        <p:tgtEl>
                                          <p:spTgt spid="70454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704551"/>
                                        </p:tgtEl>
                                        <p:attrNameLst>
                                          <p:attrName>style.visibility</p:attrName>
                                        </p:attrNameLst>
                                      </p:cBhvr>
                                      <p:to>
                                        <p:strVal val="visible"/>
                                      </p:to>
                                    </p:set>
                                    <p:animEffect transition="in" filter="wipe(up)">
                                      <p:cBhvr>
                                        <p:cTn id="62" dur="500"/>
                                        <p:tgtEl>
                                          <p:spTgt spid="704551"/>
                                        </p:tgtEl>
                                      </p:cBhvr>
                                    </p:animEffect>
                                  </p:childTnLst>
                                </p:cTn>
                              </p:par>
                            </p:childTnLst>
                          </p:cTn>
                        </p:par>
                        <p:par>
                          <p:cTn id="63" fill="hold" nodeType="afterGroup">
                            <p:stCondLst>
                              <p:cond delay="500"/>
                            </p:stCondLst>
                            <p:childTnLst>
                              <p:par>
                                <p:cTn id="64" presetID="22" presetClass="entr" presetSubtype="1" fill="hold" grpId="0" nodeType="afterEffect">
                                  <p:stCondLst>
                                    <p:cond delay="1000"/>
                                  </p:stCondLst>
                                  <p:childTnLst>
                                    <p:set>
                                      <p:cBhvr>
                                        <p:cTn id="65" dur="1" fill="hold">
                                          <p:stCondLst>
                                            <p:cond delay="0"/>
                                          </p:stCondLst>
                                        </p:cTn>
                                        <p:tgtEl>
                                          <p:spTgt spid="704552"/>
                                        </p:tgtEl>
                                        <p:attrNameLst>
                                          <p:attrName>style.visibility</p:attrName>
                                        </p:attrNameLst>
                                      </p:cBhvr>
                                      <p:to>
                                        <p:strVal val="visible"/>
                                      </p:to>
                                    </p:set>
                                    <p:animEffect transition="in" filter="wipe(up)">
                                      <p:cBhvr>
                                        <p:cTn id="66" dur="500"/>
                                        <p:tgtEl>
                                          <p:spTgt spid="704552"/>
                                        </p:tgtEl>
                                      </p:cBhvr>
                                    </p:animEffect>
                                  </p:childTnLst>
                                </p:cTn>
                              </p:par>
                            </p:childTnLst>
                          </p:cTn>
                        </p:par>
                        <p:par>
                          <p:cTn id="67" fill="hold" nodeType="afterGroup">
                            <p:stCondLst>
                              <p:cond delay="2000"/>
                            </p:stCondLst>
                            <p:childTnLst>
                              <p:par>
                                <p:cTn id="68" presetID="22" presetClass="entr" presetSubtype="1" fill="hold" grpId="0" nodeType="afterEffect">
                                  <p:stCondLst>
                                    <p:cond delay="1000"/>
                                  </p:stCondLst>
                                  <p:childTnLst>
                                    <p:set>
                                      <p:cBhvr>
                                        <p:cTn id="69" dur="1" fill="hold">
                                          <p:stCondLst>
                                            <p:cond delay="0"/>
                                          </p:stCondLst>
                                        </p:cTn>
                                        <p:tgtEl>
                                          <p:spTgt spid="704614"/>
                                        </p:tgtEl>
                                        <p:attrNameLst>
                                          <p:attrName>style.visibility</p:attrName>
                                        </p:attrNameLst>
                                      </p:cBhvr>
                                      <p:to>
                                        <p:strVal val="visible"/>
                                      </p:to>
                                    </p:set>
                                    <p:animEffect transition="in" filter="wipe(up)">
                                      <p:cBhvr>
                                        <p:cTn id="70" dur="500"/>
                                        <p:tgtEl>
                                          <p:spTgt spid="704614"/>
                                        </p:tgtEl>
                                      </p:cBhvr>
                                    </p:animEffect>
                                  </p:childTnLst>
                                </p:cTn>
                              </p:par>
                            </p:childTnLst>
                          </p:cTn>
                        </p:par>
                        <p:par>
                          <p:cTn id="71" fill="hold" nodeType="afterGroup">
                            <p:stCondLst>
                              <p:cond delay="3500"/>
                            </p:stCondLst>
                            <p:childTnLst>
                              <p:par>
                                <p:cTn id="72" presetID="22" presetClass="entr" presetSubtype="1" fill="hold" grpId="0" nodeType="afterEffect">
                                  <p:stCondLst>
                                    <p:cond delay="1000"/>
                                  </p:stCondLst>
                                  <p:childTnLst>
                                    <p:set>
                                      <p:cBhvr>
                                        <p:cTn id="73" dur="1" fill="hold">
                                          <p:stCondLst>
                                            <p:cond delay="0"/>
                                          </p:stCondLst>
                                        </p:cTn>
                                        <p:tgtEl>
                                          <p:spTgt spid="704613"/>
                                        </p:tgtEl>
                                        <p:attrNameLst>
                                          <p:attrName>style.visibility</p:attrName>
                                        </p:attrNameLst>
                                      </p:cBhvr>
                                      <p:to>
                                        <p:strVal val="visible"/>
                                      </p:to>
                                    </p:set>
                                    <p:animEffect transition="in" filter="wipe(up)">
                                      <p:cBhvr>
                                        <p:cTn id="74" dur="500"/>
                                        <p:tgtEl>
                                          <p:spTgt spid="704613"/>
                                        </p:tgtEl>
                                      </p:cBhvr>
                                    </p:animEffect>
                                  </p:childTnLst>
                                </p:cTn>
                              </p:par>
                            </p:childTnLst>
                          </p:cTn>
                        </p:par>
                        <p:par>
                          <p:cTn id="75" fill="hold" nodeType="afterGroup">
                            <p:stCondLst>
                              <p:cond delay="5000"/>
                            </p:stCondLst>
                            <p:childTnLst>
                              <p:par>
                                <p:cTn id="76" presetID="22" presetClass="entr" presetSubtype="1" fill="hold" grpId="0" nodeType="afterEffect">
                                  <p:stCondLst>
                                    <p:cond delay="1000"/>
                                  </p:stCondLst>
                                  <p:childTnLst>
                                    <p:set>
                                      <p:cBhvr>
                                        <p:cTn id="77" dur="1" fill="hold">
                                          <p:stCondLst>
                                            <p:cond delay="0"/>
                                          </p:stCondLst>
                                        </p:cTn>
                                        <p:tgtEl>
                                          <p:spTgt spid="704553"/>
                                        </p:tgtEl>
                                        <p:attrNameLst>
                                          <p:attrName>style.visibility</p:attrName>
                                        </p:attrNameLst>
                                      </p:cBhvr>
                                      <p:to>
                                        <p:strVal val="visible"/>
                                      </p:to>
                                    </p:set>
                                    <p:animEffect transition="in" filter="wipe(up)">
                                      <p:cBhvr>
                                        <p:cTn id="78" dur="500"/>
                                        <p:tgtEl>
                                          <p:spTgt spid="70455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8" fill="hold" grpId="0" nodeType="clickEffect">
                                  <p:stCondLst>
                                    <p:cond delay="0"/>
                                  </p:stCondLst>
                                  <p:childTnLst>
                                    <p:set>
                                      <p:cBhvr>
                                        <p:cTn id="82" dur="1" fill="hold">
                                          <p:stCondLst>
                                            <p:cond delay="0"/>
                                          </p:stCondLst>
                                        </p:cTn>
                                        <p:tgtEl>
                                          <p:spTgt spid="704555"/>
                                        </p:tgtEl>
                                        <p:attrNameLst>
                                          <p:attrName>style.visibility</p:attrName>
                                        </p:attrNameLst>
                                      </p:cBhvr>
                                      <p:to>
                                        <p:strVal val="visible"/>
                                      </p:to>
                                    </p:set>
                                    <p:animEffect transition="in" filter="slide(fromLeft)">
                                      <p:cBhvr>
                                        <p:cTn id="83" dur="500"/>
                                        <p:tgtEl>
                                          <p:spTgt spid="70455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04556"/>
                                        </p:tgtEl>
                                        <p:attrNameLst>
                                          <p:attrName>style.visibility</p:attrName>
                                        </p:attrNameLst>
                                      </p:cBhvr>
                                      <p:to>
                                        <p:strVal val="visible"/>
                                      </p:to>
                                    </p:set>
                                    <p:animEffect transition="in" filter="wipe(left)">
                                      <p:cBhvr>
                                        <p:cTn id="88" dur="500"/>
                                        <p:tgtEl>
                                          <p:spTgt spid="704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51" grpId="0" animBg="1"/>
      <p:bldP spid="704552" grpId="0" animBg="1"/>
      <p:bldP spid="704553" grpId="0" animBg="1"/>
      <p:bldP spid="704554" grpId="0" animBg="1" autoUpdateAnimBg="0"/>
      <p:bldP spid="704555" grpId="0" animBg="1" autoUpdateAnimBg="0"/>
      <p:bldP spid="704613" grpId="0" animBg="1"/>
      <p:bldP spid="70461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4"/>
          <p:cNvSpPr>
            <a:spLocks noChangeArrowheads="1"/>
          </p:cNvSpPr>
          <p:nvPr/>
        </p:nvSpPr>
        <p:spPr bwMode="auto">
          <a:xfrm>
            <a:off x="2362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e[0]</a:t>
            </a:r>
          </a:p>
        </p:txBody>
      </p:sp>
      <p:sp>
        <p:nvSpPr>
          <p:cNvPr id="91141" name="Rectangle 5"/>
          <p:cNvSpPr>
            <a:spLocks noChangeArrowheads="1"/>
          </p:cNvSpPr>
          <p:nvPr/>
        </p:nvSpPr>
        <p:spPr bwMode="auto">
          <a:xfrm>
            <a:off x="3124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e[1]</a:t>
            </a:r>
          </a:p>
        </p:txBody>
      </p:sp>
      <p:sp>
        <p:nvSpPr>
          <p:cNvPr id="91142" name="Rectangle 6"/>
          <p:cNvSpPr>
            <a:spLocks noChangeArrowheads="1"/>
          </p:cNvSpPr>
          <p:nvPr/>
        </p:nvSpPr>
        <p:spPr bwMode="auto">
          <a:xfrm>
            <a:off x="3886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e[2]</a:t>
            </a:r>
          </a:p>
        </p:txBody>
      </p:sp>
      <p:sp>
        <p:nvSpPr>
          <p:cNvPr id="91143" name="Rectangle 7"/>
          <p:cNvSpPr>
            <a:spLocks noChangeArrowheads="1"/>
          </p:cNvSpPr>
          <p:nvPr/>
        </p:nvSpPr>
        <p:spPr bwMode="auto">
          <a:xfrm>
            <a:off x="4648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e[3]</a:t>
            </a:r>
          </a:p>
        </p:txBody>
      </p:sp>
      <p:sp>
        <p:nvSpPr>
          <p:cNvPr id="91144" name="Rectangle 8"/>
          <p:cNvSpPr>
            <a:spLocks noChangeArrowheads="1"/>
          </p:cNvSpPr>
          <p:nvPr/>
        </p:nvSpPr>
        <p:spPr bwMode="auto">
          <a:xfrm>
            <a:off x="5410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e[4]</a:t>
            </a:r>
          </a:p>
        </p:txBody>
      </p:sp>
      <p:sp>
        <p:nvSpPr>
          <p:cNvPr id="91145" name="Rectangle 9"/>
          <p:cNvSpPr>
            <a:spLocks noChangeArrowheads="1"/>
          </p:cNvSpPr>
          <p:nvPr/>
        </p:nvSpPr>
        <p:spPr bwMode="auto">
          <a:xfrm>
            <a:off x="6172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e[5]</a:t>
            </a:r>
          </a:p>
        </p:txBody>
      </p:sp>
      <p:sp>
        <p:nvSpPr>
          <p:cNvPr id="91146" name="Rectangle 10"/>
          <p:cNvSpPr>
            <a:spLocks noChangeArrowheads="1"/>
          </p:cNvSpPr>
          <p:nvPr/>
        </p:nvSpPr>
        <p:spPr bwMode="auto">
          <a:xfrm>
            <a:off x="6934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e[6]</a:t>
            </a:r>
          </a:p>
        </p:txBody>
      </p:sp>
      <p:sp>
        <p:nvSpPr>
          <p:cNvPr id="91147" name="Rectangle 11"/>
          <p:cNvSpPr>
            <a:spLocks noChangeArrowheads="1"/>
          </p:cNvSpPr>
          <p:nvPr/>
        </p:nvSpPr>
        <p:spPr bwMode="auto">
          <a:xfrm>
            <a:off x="7696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e[7]</a:t>
            </a:r>
          </a:p>
        </p:txBody>
      </p:sp>
      <p:sp>
        <p:nvSpPr>
          <p:cNvPr id="91148" name="Rectangle 12"/>
          <p:cNvSpPr>
            <a:spLocks noChangeArrowheads="1"/>
          </p:cNvSpPr>
          <p:nvPr/>
        </p:nvSpPr>
        <p:spPr bwMode="auto">
          <a:xfrm>
            <a:off x="8458200" y="2528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e[8]</a:t>
            </a:r>
          </a:p>
        </p:txBody>
      </p:sp>
      <p:sp>
        <p:nvSpPr>
          <p:cNvPr id="91149" name="Rectangle 13"/>
          <p:cNvSpPr>
            <a:spLocks noChangeArrowheads="1"/>
          </p:cNvSpPr>
          <p:nvPr/>
        </p:nvSpPr>
        <p:spPr bwMode="auto">
          <a:xfrm>
            <a:off x="9220200" y="2523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e[9]</a:t>
            </a:r>
          </a:p>
        </p:txBody>
      </p:sp>
      <p:sp>
        <p:nvSpPr>
          <p:cNvPr id="91150" name="Rectangle 14"/>
          <p:cNvSpPr>
            <a:spLocks noChangeArrowheads="1"/>
          </p:cNvSpPr>
          <p:nvPr/>
        </p:nvSpPr>
        <p:spPr bwMode="auto">
          <a:xfrm>
            <a:off x="2362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f[0]</a:t>
            </a:r>
          </a:p>
        </p:txBody>
      </p:sp>
      <p:sp>
        <p:nvSpPr>
          <p:cNvPr id="91151" name="Rectangle 15"/>
          <p:cNvSpPr>
            <a:spLocks noChangeArrowheads="1"/>
          </p:cNvSpPr>
          <p:nvPr/>
        </p:nvSpPr>
        <p:spPr bwMode="auto">
          <a:xfrm>
            <a:off x="3124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f[1]</a:t>
            </a:r>
          </a:p>
        </p:txBody>
      </p:sp>
      <p:sp>
        <p:nvSpPr>
          <p:cNvPr id="91152" name="Rectangle 16"/>
          <p:cNvSpPr>
            <a:spLocks noChangeArrowheads="1"/>
          </p:cNvSpPr>
          <p:nvPr/>
        </p:nvSpPr>
        <p:spPr bwMode="auto">
          <a:xfrm>
            <a:off x="3886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f[2]</a:t>
            </a:r>
          </a:p>
        </p:txBody>
      </p:sp>
      <p:sp>
        <p:nvSpPr>
          <p:cNvPr id="91153" name="Rectangle 17"/>
          <p:cNvSpPr>
            <a:spLocks noChangeArrowheads="1"/>
          </p:cNvSpPr>
          <p:nvPr/>
        </p:nvSpPr>
        <p:spPr bwMode="auto">
          <a:xfrm>
            <a:off x="4648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f[3]</a:t>
            </a:r>
          </a:p>
        </p:txBody>
      </p:sp>
      <p:sp>
        <p:nvSpPr>
          <p:cNvPr id="91154" name="Rectangle 18"/>
          <p:cNvSpPr>
            <a:spLocks noChangeArrowheads="1"/>
          </p:cNvSpPr>
          <p:nvPr/>
        </p:nvSpPr>
        <p:spPr bwMode="auto">
          <a:xfrm>
            <a:off x="5410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f[4]</a:t>
            </a:r>
          </a:p>
        </p:txBody>
      </p:sp>
      <p:sp>
        <p:nvSpPr>
          <p:cNvPr id="91155" name="Rectangle 19"/>
          <p:cNvSpPr>
            <a:spLocks noChangeArrowheads="1"/>
          </p:cNvSpPr>
          <p:nvPr/>
        </p:nvSpPr>
        <p:spPr bwMode="auto">
          <a:xfrm>
            <a:off x="6172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f[5]</a:t>
            </a:r>
          </a:p>
        </p:txBody>
      </p:sp>
      <p:sp>
        <p:nvSpPr>
          <p:cNvPr id="91156" name="Rectangle 20"/>
          <p:cNvSpPr>
            <a:spLocks noChangeArrowheads="1"/>
          </p:cNvSpPr>
          <p:nvPr/>
        </p:nvSpPr>
        <p:spPr bwMode="auto">
          <a:xfrm>
            <a:off x="6934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f[6]</a:t>
            </a:r>
          </a:p>
        </p:txBody>
      </p:sp>
      <p:sp>
        <p:nvSpPr>
          <p:cNvPr id="91157" name="Rectangle 21"/>
          <p:cNvSpPr>
            <a:spLocks noChangeArrowheads="1"/>
          </p:cNvSpPr>
          <p:nvPr/>
        </p:nvSpPr>
        <p:spPr bwMode="auto">
          <a:xfrm>
            <a:off x="7696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f[7]</a:t>
            </a:r>
          </a:p>
        </p:txBody>
      </p:sp>
      <p:sp>
        <p:nvSpPr>
          <p:cNvPr id="91158" name="Rectangle 22"/>
          <p:cNvSpPr>
            <a:spLocks noChangeArrowheads="1"/>
          </p:cNvSpPr>
          <p:nvPr/>
        </p:nvSpPr>
        <p:spPr bwMode="auto">
          <a:xfrm>
            <a:off x="8458200" y="5195492"/>
            <a:ext cx="609600" cy="3762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f[8]</a:t>
            </a:r>
          </a:p>
        </p:txBody>
      </p:sp>
      <p:sp>
        <p:nvSpPr>
          <p:cNvPr id="91159" name="Rectangle 23"/>
          <p:cNvSpPr>
            <a:spLocks noChangeArrowheads="1"/>
          </p:cNvSpPr>
          <p:nvPr/>
        </p:nvSpPr>
        <p:spPr bwMode="auto">
          <a:xfrm>
            <a:off x="9220200" y="5190728"/>
            <a:ext cx="609600" cy="376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f[9]</a:t>
            </a:r>
          </a:p>
        </p:txBody>
      </p:sp>
      <p:grpSp>
        <p:nvGrpSpPr>
          <p:cNvPr id="705560" name="Group 24"/>
          <p:cNvGrpSpPr>
            <a:grpSpLocks/>
          </p:cNvGrpSpPr>
          <p:nvPr/>
        </p:nvGrpSpPr>
        <p:grpSpPr bwMode="auto">
          <a:xfrm>
            <a:off x="2362200" y="3361928"/>
            <a:ext cx="609600" cy="604838"/>
            <a:chOff x="4368" y="3171"/>
            <a:chExt cx="384" cy="381"/>
          </a:xfrm>
        </p:grpSpPr>
        <p:sp>
          <p:nvSpPr>
            <p:cNvPr id="91237" name="Line 25"/>
            <p:cNvSpPr>
              <a:spLocks noChangeShapeType="1"/>
            </p:cNvSpPr>
            <p:nvPr/>
          </p:nvSpPr>
          <p:spPr bwMode="auto">
            <a:xfrm flipV="1">
              <a:off x="45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38" name="Rectangle 26"/>
            <p:cNvSpPr>
              <a:spLocks noChangeArrowheads="1"/>
            </p:cNvSpPr>
            <p:nvPr/>
          </p:nvSpPr>
          <p:spPr bwMode="auto">
            <a:xfrm>
              <a:off x="436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grpSp>
      <p:grpSp>
        <p:nvGrpSpPr>
          <p:cNvPr id="705563" name="Group 27"/>
          <p:cNvGrpSpPr>
            <a:grpSpLocks/>
          </p:cNvGrpSpPr>
          <p:nvPr/>
        </p:nvGrpSpPr>
        <p:grpSpPr bwMode="auto">
          <a:xfrm>
            <a:off x="9220200" y="4581128"/>
            <a:ext cx="609600" cy="609600"/>
            <a:chOff x="1968" y="3168"/>
            <a:chExt cx="384" cy="384"/>
          </a:xfrm>
        </p:grpSpPr>
        <p:sp>
          <p:nvSpPr>
            <p:cNvPr id="91235" name="Line 28"/>
            <p:cNvSpPr>
              <a:spLocks noChangeShapeType="1"/>
            </p:cNvSpPr>
            <p:nvPr/>
          </p:nvSpPr>
          <p:spPr bwMode="auto">
            <a:xfrm flipV="1">
              <a:off x="21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36" name="Rectangle 29"/>
            <p:cNvSpPr>
              <a:spLocks noChangeArrowheads="1"/>
            </p:cNvSpPr>
            <p:nvPr/>
          </p:nvSpPr>
          <p:spPr bwMode="auto">
            <a:xfrm>
              <a:off x="196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grpSp>
      <p:grpSp>
        <p:nvGrpSpPr>
          <p:cNvPr id="705566" name="Group 30"/>
          <p:cNvGrpSpPr>
            <a:grpSpLocks/>
          </p:cNvGrpSpPr>
          <p:nvPr/>
        </p:nvGrpSpPr>
        <p:grpSpPr bwMode="auto">
          <a:xfrm>
            <a:off x="6172200" y="4581128"/>
            <a:ext cx="609600" cy="609600"/>
            <a:chOff x="528" y="3168"/>
            <a:chExt cx="384" cy="384"/>
          </a:xfrm>
        </p:grpSpPr>
        <p:sp>
          <p:nvSpPr>
            <p:cNvPr id="91233" name="Line 31"/>
            <p:cNvSpPr>
              <a:spLocks noChangeShapeType="1"/>
            </p:cNvSpPr>
            <p:nvPr/>
          </p:nvSpPr>
          <p:spPr bwMode="auto">
            <a:xfrm flipV="1">
              <a:off x="7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34" name="Rectangle 32"/>
            <p:cNvSpPr>
              <a:spLocks noChangeArrowheads="1"/>
            </p:cNvSpPr>
            <p:nvPr/>
          </p:nvSpPr>
          <p:spPr bwMode="auto">
            <a:xfrm>
              <a:off x="52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grpSp>
      <p:grpSp>
        <p:nvGrpSpPr>
          <p:cNvPr id="705569" name="Group 33"/>
          <p:cNvGrpSpPr>
            <a:grpSpLocks/>
          </p:cNvGrpSpPr>
          <p:nvPr/>
        </p:nvGrpSpPr>
        <p:grpSpPr bwMode="auto">
          <a:xfrm>
            <a:off x="3124200" y="3971528"/>
            <a:ext cx="609600" cy="604838"/>
            <a:chOff x="2928" y="3171"/>
            <a:chExt cx="384" cy="381"/>
          </a:xfrm>
        </p:grpSpPr>
        <p:sp>
          <p:nvSpPr>
            <p:cNvPr id="91231" name="Line 34"/>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32" name="Rectangle 35"/>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grpSp>
      <p:grpSp>
        <p:nvGrpSpPr>
          <p:cNvPr id="705572" name="Group 36"/>
          <p:cNvGrpSpPr>
            <a:grpSpLocks/>
          </p:cNvGrpSpPr>
          <p:nvPr/>
        </p:nvGrpSpPr>
        <p:grpSpPr bwMode="auto">
          <a:xfrm>
            <a:off x="3886200" y="3971528"/>
            <a:ext cx="609600" cy="604838"/>
            <a:chOff x="2928" y="3171"/>
            <a:chExt cx="384" cy="381"/>
          </a:xfrm>
        </p:grpSpPr>
        <p:sp>
          <p:nvSpPr>
            <p:cNvPr id="91229" name="Line 37"/>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30" name="Rectangle 38"/>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grpSp>
      <p:sp>
        <p:nvSpPr>
          <p:cNvPr id="705575" name="Line 39"/>
          <p:cNvSpPr>
            <a:spLocks noChangeShapeType="1"/>
          </p:cNvSpPr>
          <p:nvPr/>
        </p:nvSpPr>
        <p:spPr bwMode="auto">
          <a:xfrm>
            <a:off x="2667000" y="2904728"/>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5576" name="Line 40"/>
          <p:cNvSpPr>
            <a:spLocks noChangeShapeType="1"/>
          </p:cNvSpPr>
          <p:nvPr/>
        </p:nvSpPr>
        <p:spPr bwMode="auto">
          <a:xfrm>
            <a:off x="3429000" y="290472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5577" name="Line 41"/>
          <p:cNvSpPr>
            <a:spLocks noChangeShapeType="1"/>
          </p:cNvSpPr>
          <p:nvPr/>
        </p:nvSpPr>
        <p:spPr bwMode="auto">
          <a:xfrm>
            <a:off x="9525000" y="2904728"/>
            <a:ext cx="0" cy="1676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5578" name="Rectangle 42"/>
          <p:cNvSpPr>
            <a:spLocks noChangeArrowheads="1"/>
          </p:cNvSpPr>
          <p:nvPr/>
        </p:nvSpPr>
        <p:spPr bwMode="auto">
          <a:xfrm>
            <a:off x="1600200" y="2523729"/>
            <a:ext cx="762000" cy="346075"/>
          </a:xfrm>
          <a:prstGeom prst="rect">
            <a:avLst/>
          </a:prstGeom>
          <a:solidFill>
            <a:srgbClr val="FFF7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spcBef>
                <a:spcPct val="50000"/>
              </a:spcBef>
              <a:buFontTx/>
              <a:buNone/>
            </a:pPr>
            <a:r>
              <a:rPr kumimoji="1" lang="zh-CN" altLang="en-US" sz="1600">
                <a:latin typeface="Tahoma" pitchFamily="34" charset="0"/>
              </a:rPr>
              <a:t>分配</a:t>
            </a:r>
            <a:r>
              <a:rPr kumimoji="1" lang="en-US" altLang="zh-CN" sz="1600">
                <a:latin typeface="Tahoma" pitchFamily="34" charset="0"/>
              </a:rPr>
              <a:t>3</a:t>
            </a:r>
          </a:p>
        </p:txBody>
      </p:sp>
      <p:sp>
        <p:nvSpPr>
          <p:cNvPr id="705579" name="Rectangle 43"/>
          <p:cNvSpPr>
            <a:spLocks noChangeArrowheads="1"/>
          </p:cNvSpPr>
          <p:nvPr/>
        </p:nvSpPr>
        <p:spPr bwMode="auto">
          <a:xfrm>
            <a:off x="1600200" y="5399113"/>
            <a:ext cx="762000" cy="346075"/>
          </a:xfrm>
          <a:prstGeom prst="rect">
            <a:avLst/>
          </a:prstGeom>
          <a:solidFill>
            <a:srgbClr val="FFF7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spcBef>
                <a:spcPct val="50000"/>
              </a:spcBef>
              <a:buFontTx/>
              <a:buNone/>
            </a:pPr>
            <a:r>
              <a:rPr kumimoji="1" lang="zh-CN" altLang="en-US" sz="1600">
                <a:latin typeface="Tahoma" pitchFamily="34" charset="0"/>
              </a:rPr>
              <a:t>收集</a:t>
            </a:r>
            <a:r>
              <a:rPr kumimoji="1" lang="en-US" altLang="zh-CN" sz="1600">
                <a:latin typeface="Tahoma" pitchFamily="34" charset="0"/>
              </a:rPr>
              <a:t>3</a:t>
            </a:r>
          </a:p>
        </p:txBody>
      </p:sp>
      <p:grpSp>
        <p:nvGrpSpPr>
          <p:cNvPr id="705580" name="Group 44"/>
          <p:cNvGrpSpPr>
            <a:grpSpLocks/>
          </p:cNvGrpSpPr>
          <p:nvPr/>
        </p:nvGrpSpPr>
        <p:grpSpPr bwMode="auto">
          <a:xfrm>
            <a:off x="1981200" y="5856312"/>
            <a:ext cx="8382000" cy="381000"/>
            <a:chOff x="288" y="3792"/>
            <a:chExt cx="5280" cy="240"/>
          </a:xfrm>
        </p:grpSpPr>
        <p:sp>
          <p:nvSpPr>
            <p:cNvPr id="91209" name="Rectangle 45"/>
            <p:cNvSpPr>
              <a:spLocks noChangeArrowheads="1"/>
            </p:cNvSpPr>
            <p:nvPr/>
          </p:nvSpPr>
          <p:spPr bwMode="auto">
            <a:xfrm>
              <a:off x="432"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sp>
          <p:nvSpPr>
            <p:cNvPr id="91210" name="Rectangle 46"/>
            <p:cNvSpPr>
              <a:spLocks noChangeArrowheads="1"/>
            </p:cNvSpPr>
            <p:nvPr/>
          </p:nvSpPr>
          <p:spPr bwMode="auto">
            <a:xfrm>
              <a:off x="960"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sp>
          <p:nvSpPr>
            <p:cNvPr id="91211" name="Line 47"/>
            <p:cNvSpPr>
              <a:spLocks noChangeShapeType="1"/>
            </p:cNvSpPr>
            <p:nvPr/>
          </p:nvSpPr>
          <p:spPr bwMode="auto">
            <a:xfrm>
              <a:off x="28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12" name="Line 48"/>
            <p:cNvSpPr>
              <a:spLocks noChangeShapeType="1"/>
            </p:cNvSpPr>
            <p:nvPr/>
          </p:nvSpPr>
          <p:spPr bwMode="auto">
            <a:xfrm>
              <a:off x="816"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13" name="Rectangle 49"/>
            <p:cNvSpPr>
              <a:spLocks noChangeArrowheads="1"/>
            </p:cNvSpPr>
            <p:nvPr/>
          </p:nvSpPr>
          <p:spPr bwMode="auto">
            <a:xfrm>
              <a:off x="1488"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sp>
          <p:nvSpPr>
            <p:cNvPr id="91214" name="Rectangle 50"/>
            <p:cNvSpPr>
              <a:spLocks noChangeArrowheads="1"/>
            </p:cNvSpPr>
            <p:nvPr/>
          </p:nvSpPr>
          <p:spPr bwMode="auto">
            <a:xfrm>
              <a:off x="2016"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sp>
          <p:nvSpPr>
            <p:cNvPr id="91215" name="Line 51"/>
            <p:cNvSpPr>
              <a:spLocks noChangeShapeType="1"/>
            </p:cNvSpPr>
            <p:nvPr/>
          </p:nvSpPr>
          <p:spPr bwMode="auto">
            <a:xfrm>
              <a:off x="134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16" name="Line 52"/>
            <p:cNvSpPr>
              <a:spLocks noChangeShapeType="1"/>
            </p:cNvSpPr>
            <p:nvPr/>
          </p:nvSpPr>
          <p:spPr bwMode="auto">
            <a:xfrm>
              <a:off x="187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17" name="Rectangle 53"/>
            <p:cNvSpPr>
              <a:spLocks noChangeArrowheads="1"/>
            </p:cNvSpPr>
            <p:nvPr/>
          </p:nvSpPr>
          <p:spPr bwMode="auto">
            <a:xfrm>
              <a:off x="2544"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sp>
          <p:nvSpPr>
            <p:cNvPr id="91218" name="Rectangle 54"/>
            <p:cNvSpPr>
              <a:spLocks noChangeArrowheads="1"/>
            </p:cNvSpPr>
            <p:nvPr/>
          </p:nvSpPr>
          <p:spPr bwMode="auto">
            <a:xfrm>
              <a:off x="3072"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sp>
          <p:nvSpPr>
            <p:cNvPr id="91219" name="Line 55"/>
            <p:cNvSpPr>
              <a:spLocks noChangeShapeType="1"/>
            </p:cNvSpPr>
            <p:nvPr/>
          </p:nvSpPr>
          <p:spPr bwMode="auto">
            <a:xfrm>
              <a:off x="2400"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20" name="Line 56"/>
            <p:cNvSpPr>
              <a:spLocks noChangeShapeType="1"/>
            </p:cNvSpPr>
            <p:nvPr/>
          </p:nvSpPr>
          <p:spPr bwMode="auto">
            <a:xfrm>
              <a:off x="292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21" name="Rectangle 57"/>
            <p:cNvSpPr>
              <a:spLocks noChangeArrowheads="1"/>
            </p:cNvSpPr>
            <p:nvPr/>
          </p:nvSpPr>
          <p:spPr bwMode="auto">
            <a:xfrm>
              <a:off x="3600"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sp>
          <p:nvSpPr>
            <p:cNvPr id="91222" name="Rectangle 58"/>
            <p:cNvSpPr>
              <a:spLocks noChangeArrowheads="1"/>
            </p:cNvSpPr>
            <p:nvPr/>
          </p:nvSpPr>
          <p:spPr bwMode="auto">
            <a:xfrm>
              <a:off x="4128"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sp>
          <p:nvSpPr>
            <p:cNvPr id="91223" name="Line 59"/>
            <p:cNvSpPr>
              <a:spLocks noChangeShapeType="1"/>
            </p:cNvSpPr>
            <p:nvPr/>
          </p:nvSpPr>
          <p:spPr bwMode="auto">
            <a:xfrm>
              <a:off x="3456"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24" name="Line 60"/>
            <p:cNvSpPr>
              <a:spLocks noChangeShapeType="1"/>
            </p:cNvSpPr>
            <p:nvPr/>
          </p:nvSpPr>
          <p:spPr bwMode="auto">
            <a:xfrm>
              <a:off x="398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25" name="Rectangle 61"/>
            <p:cNvSpPr>
              <a:spLocks noChangeArrowheads="1"/>
            </p:cNvSpPr>
            <p:nvPr/>
          </p:nvSpPr>
          <p:spPr bwMode="auto">
            <a:xfrm>
              <a:off x="4656" y="3792"/>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sp>
          <p:nvSpPr>
            <p:cNvPr id="91226" name="Rectangle 62"/>
            <p:cNvSpPr>
              <a:spLocks noChangeArrowheads="1"/>
            </p:cNvSpPr>
            <p:nvPr/>
          </p:nvSpPr>
          <p:spPr bwMode="auto">
            <a:xfrm>
              <a:off x="5184" y="3795"/>
              <a:ext cx="384" cy="237"/>
            </a:xfrm>
            <a:prstGeom prst="rect">
              <a:avLst/>
            </a:prstGeom>
            <a:solidFill>
              <a:srgbClr val="FFFFE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sp>
          <p:nvSpPr>
            <p:cNvPr id="91227" name="Line 63"/>
            <p:cNvSpPr>
              <a:spLocks noChangeShapeType="1"/>
            </p:cNvSpPr>
            <p:nvPr/>
          </p:nvSpPr>
          <p:spPr bwMode="auto">
            <a:xfrm>
              <a:off x="451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28" name="Line 64"/>
            <p:cNvSpPr>
              <a:spLocks noChangeShapeType="1"/>
            </p:cNvSpPr>
            <p:nvPr/>
          </p:nvSpPr>
          <p:spPr bwMode="auto">
            <a:xfrm>
              <a:off x="5040"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705601" name="Group 65"/>
          <p:cNvGrpSpPr>
            <a:grpSpLocks/>
          </p:cNvGrpSpPr>
          <p:nvPr/>
        </p:nvGrpSpPr>
        <p:grpSpPr bwMode="auto">
          <a:xfrm>
            <a:off x="2362200" y="3971528"/>
            <a:ext cx="609600" cy="604838"/>
            <a:chOff x="2928" y="3171"/>
            <a:chExt cx="384" cy="381"/>
          </a:xfrm>
        </p:grpSpPr>
        <p:sp>
          <p:nvSpPr>
            <p:cNvPr id="91207" name="Line 66"/>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08" name="Rectangle 67"/>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grpSp>
      <p:grpSp>
        <p:nvGrpSpPr>
          <p:cNvPr id="705604" name="Group 68"/>
          <p:cNvGrpSpPr>
            <a:grpSpLocks/>
          </p:cNvGrpSpPr>
          <p:nvPr/>
        </p:nvGrpSpPr>
        <p:grpSpPr bwMode="auto">
          <a:xfrm>
            <a:off x="3886200" y="4581128"/>
            <a:ext cx="609600" cy="604838"/>
            <a:chOff x="2448" y="3171"/>
            <a:chExt cx="384" cy="381"/>
          </a:xfrm>
        </p:grpSpPr>
        <p:sp>
          <p:nvSpPr>
            <p:cNvPr id="91205" name="Line 69"/>
            <p:cNvSpPr>
              <a:spLocks noChangeShapeType="1"/>
            </p:cNvSpPr>
            <p:nvPr/>
          </p:nvSpPr>
          <p:spPr bwMode="auto">
            <a:xfrm flipV="1">
              <a:off x="264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06" name="Rectangle 70"/>
            <p:cNvSpPr>
              <a:spLocks noChangeArrowheads="1"/>
            </p:cNvSpPr>
            <p:nvPr/>
          </p:nvSpPr>
          <p:spPr bwMode="auto">
            <a:xfrm>
              <a:off x="244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grpSp>
      <p:grpSp>
        <p:nvGrpSpPr>
          <p:cNvPr id="705607" name="Group 71"/>
          <p:cNvGrpSpPr>
            <a:grpSpLocks/>
          </p:cNvGrpSpPr>
          <p:nvPr/>
        </p:nvGrpSpPr>
        <p:grpSpPr bwMode="auto">
          <a:xfrm>
            <a:off x="2362200" y="4581128"/>
            <a:ext cx="609600" cy="604838"/>
            <a:chOff x="2928" y="3171"/>
            <a:chExt cx="384" cy="381"/>
          </a:xfrm>
        </p:grpSpPr>
        <p:sp>
          <p:nvSpPr>
            <p:cNvPr id="91203" name="Line 72"/>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04" name="Rectangle 73"/>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grpSp>
      <p:grpSp>
        <p:nvGrpSpPr>
          <p:cNvPr id="705610" name="Group 74"/>
          <p:cNvGrpSpPr>
            <a:grpSpLocks/>
          </p:cNvGrpSpPr>
          <p:nvPr/>
        </p:nvGrpSpPr>
        <p:grpSpPr bwMode="auto">
          <a:xfrm>
            <a:off x="3124200" y="4585892"/>
            <a:ext cx="609600" cy="604837"/>
            <a:chOff x="2928" y="3171"/>
            <a:chExt cx="384" cy="381"/>
          </a:xfrm>
        </p:grpSpPr>
        <p:sp>
          <p:nvSpPr>
            <p:cNvPr id="91201" name="Line 75"/>
            <p:cNvSpPr>
              <a:spLocks noChangeShapeType="1"/>
            </p:cNvSpPr>
            <p:nvPr/>
          </p:nvSpPr>
          <p:spPr bwMode="auto">
            <a:xfrm flipV="1">
              <a:off x="312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02" name="Rectangle 76"/>
            <p:cNvSpPr>
              <a:spLocks noChangeArrowheads="1"/>
            </p:cNvSpPr>
            <p:nvPr/>
          </p:nvSpPr>
          <p:spPr bwMode="auto">
            <a:xfrm>
              <a:off x="2928" y="3171"/>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grpSp>
      <p:grpSp>
        <p:nvGrpSpPr>
          <p:cNvPr id="705613" name="Group 77"/>
          <p:cNvGrpSpPr>
            <a:grpSpLocks/>
          </p:cNvGrpSpPr>
          <p:nvPr/>
        </p:nvGrpSpPr>
        <p:grpSpPr bwMode="auto">
          <a:xfrm>
            <a:off x="6172200" y="3971528"/>
            <a:ext cx="609600" cy="609600"/>
            <a:chOff x="1968" y="3168"/>
            <a:chExt cx="384" cy="384"/>
          </a:xfrm>
        </p:grpSpPr>
        <p:sp>
          <p:nvSpPr>
            <p:cNvPr id="91199" name="Line 78"/>
            <p:cNvSpPr>
              <a:spLocks noChangeShapeType="1"/>
            </p:cNvSpPr>
            <p:nvPr/>
          </p:nvSpPr>
          <p:spPr bwMode="auto">
            <a:xfrm flipV="1">
              <a:off x="2160" y="340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200" name="Rectangle 79"/>
            <p:cNvSpPr>
              <a:spLocks noChangeArrowheads="1"/>
            </p:cNvSpPr>
            <p:nvPr/>
          </p:nvSpPr>
          <p:spPr bwMode="auto">
            <a:xfrm>
              <a:off x="1968" y="3168"/>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grpSp>
      <p:sp>
        <p:nvSpPr>
          <p:cNvPr id="705616" name="Line 80"/>
          <p:cNvSpPr>
            <a:spLocks noChangeShapeType="1"/>
          </p:cNvSpPr>
          <p:nvPr/>
        </p:nvSpPr>
        <p:spPr bwMode="auto">
          <a:xfrm>
            <a:off x="6477000" y="290472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705617" name="Line 81"/>
          <p:cNvSpPr>
            <a:spLocks noChangeShapeType="1"/>
          </p:cNvSpPr>
          <p:nvPr/>
        </p:nvSpPr>
        <p:spPr bwMode="auto">
          <a:xfrm>
            <a:off x="4191000" y="290472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nvGrpSpPr>
          <p:cNvPr id="91178" name="Group 82"/>
          <p:cNvGrpSpPr>
            <a:grpSpLocks/>
          </p:cNvGrpSpPr>
          <p:nvPr/>
        </p:nvGrpSpPr>
        <p:grpSpPr bwMode="auto">
          <a:xfrm>
            <a:off x="1981200" y="1990328"/>
            <a:ext cx="8382000" cy="381000"/>
            <a:chOff x="288" y="3792"/>
            <a:chExt cx="5280" cy="240"/>
          </a:xfrm>
        </p:grpSpPr>
        <p:sp>
          <p:nvSpPr>
            <p:cNvPr id="91179" name="Rectangle 83"/>
            <p:cNvSpPr>
              <a:spLocks noChangeArrowheads="1"/>
            </p:cNvSpPr>
            <p:nvPr/>
          </p:nvSpPr>
          <p:spPr bwMode="auto">
            <a:xfrm>
              <a:off x="432"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505</a:t>
              </a:r>
            </a:p>
          </p:txBody>
        </p:sp>
        <p:sp>
          <p:nvSpPr>
            <p:cNvPr id="91180" name="Rectangle 84"/>
            <p:cNvSpPr>
              <a:spLocks noChangeArrowheads="1"/>
            </p:cNvSpPr>
            <p:nvPr/>
          </p:nvSpPr>
          <p:spPr bwMode="auto">
            <a:xfrm>
              <a:off x="960"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008</a:t>
              </a:r>
            </a:p>
          </p:txBody>
        </p:sp>
        <p:sp>
          <p:nvSpPr>
            <p:cNvPr id="91181" name="Line 85"/>
            <p:cNvSpPr>
              <a:spLocks noChangeShapeType="1"/>
            </p:cNvSpPr>
            <p:nvPr/>
          </p:nvSpPr>
          <p:spPr bwMode="auto">
            <a:xfrm>
              <a:off x="28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82" name="Line 86"/>
            <p:cNvSpPr>
              <a:spLocks noChangeShapeType="1"/>
            </p:cNvSpPr>
            <p:nvPr/>
          </p:nvSpPr>
          <p:spPr bwMode="auto">
            <a:xfrm>
              <a:off x="816"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83" name="Rectangle 87"/>
            <p:cNvSpPr>
              <a:spLocks noChangeArrowheads="1"/>
            </p:cNvSpPr>
            <p:nvPr/>
          </p:nvSpPr>
          <p:spPr bwMode="auto">
            <a:xfrm>
              <a:off x="1488"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109</a:t>
              </a:r>
            </a:p>
          </p:txBody>
        </p:sp>
        <p:sp>
          <p:nvSpPr>
            <p:cNvPr id="91184" name="Rectangle 88"/>
            <p:cNvSpPr>
              <a:spLocks noChangeArrowheads="1"/>
            </p:cNvSpPr>
            <p:nvPr/>
          </p:nvSpPr>
          <p:spPr bwMode="auto">
            <a:xfrm>
              <a:off x="2016" y="3795"/>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930</a:t>
              </a:r>
            </a:p>
          </p:txBody>
        </p:sp>
        <p:sp>
          <p:nvSpPr>
            <p:cNvPr id="91185" name="Line 89"/>
            <p:cNvSpPr>
              <a:spLocks noChangeShapeType="1"/>
            </p:cNvSpPr>
            <p:nvPr/>
          </p:nvSpPr>
          <p:spPr bwMode="auto">
            <a:xfrm>
              <a:off x="134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86" name="Line 90"/>
            <p:cNvSpPr>
              <a:spLocks noChangeShapeType="1"/>
            </p:cNvSpPr>
            <p:nvPr/>
          </p:nvSpPr>
          <p:spPr bwMode="auto">
            <a:xfrm>
              <a:off x="187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87" name="Rectangle 91"/>
            <p:cNvSpPr>
              <a:spLocks noChangeArrowheads="1"/>
            </p:cNvSpPr>
            <p:nvPr/>
          </p:nvSpPr>
          <p:spPr bwMode="auto">
            <a:xfrm>
              <a:off x="2544"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063</a:t>
              </a:r>
            </a:p>
          </p:txBody>
        </p:sp>
        <p:sp>
          <p:nvSpPr>
            <p:cNvPr id="91188" name="Rectangle 92"/>
            <p:cNvSpPr>
              <a:spLocks noChangeArrowheads="1"/>
            </p:cNvSpPr>
            <p:nvPr/>
          </p:nvSpPr>
          <p:spPr bwMode="auto">
            <a:xfrm>
              <a:off x="3072"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269</a:t>
              </a:r>
            </a:p>
          </p:txBody>
        </p:sp>
        <p:sp>
          <p:nvSpPr>
            <p:cNvPr id="91189" name="Line 93"/>
            <p:cNvSpPr>
              <a:spLocks noChangeShapeType="1"/>
            </p:cNvSpPr>
            <p:nvPr/>
          </p:nvSpPr>
          <p:spPr bwMode="auto">
            <a:xfrm>
              <a:off x="2400"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90" name="Line 94"/>
            <p:cNvSpPr>
              <a:spLocks noChangeShapeType="1"/>
            </p:cNvSpPr>
            <p:nvPr/>
          </p:nvSpPr>
          <p:spPr bwMode="auto">
            <a:xfrm>
              <a:off x="292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91" name="Rectangle 95"/>
            <p:cNvSpPr>
              <a:spLocks noChangeArrowheads="1"/>
            </p:cNvSpPr>
            <p:nvPr/>
          </p:nvSpPr>
          <p:spPr bwMode="auto">
            <a:xfrm>
              <a:off x="3600"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278</a:t>
              </a:r>
            </a:p>
          </p:txBody>
        </p:sp>
        <p:sp>
          <p:nvSpPr>
            <p:cNvPr id="91192" name="Rectangle 96"/>
            <p:cNvSpPr>
              <a:spLocks noChangeArrowheads="1"/>
            </p:cNvSpPr>
            <p:nvPr/>
          </p:nvSpPr>
          <p:spPr bwMode="auto">
            <a:xfrm>
              <a:off x="4128" y="3795"/>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083</a:t>
              </a:r>
            </a:p>
          </p:txBody>
        </p:sp>
        <p:sp>
          <p:nvSpPr>
            <p:cNvPr id="91193" name="Line 97"/>
            <p:cNvSpPr>
              <a:spLocks noChangeShapeType="1"/>
            </p:cNvSpPr>
            <p:nvPr/>
          </p:nvSpPr>
          <p:spPr bwMode="auto">
            <a:xfrm>
              <a:off x="3456"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94" name="Line 98"/>
            <p:cNvSpPr>
              <a:spLocks noChangeShapeType="1"/>
            </p:cNvSpPr>
            <p:nvPr/>
          </p:nvSpPr>
          <p:spPr bwMode="auto">
            <a:xfrm>
              <a:off x="3984"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95" name="Rectangle 99"/>
            <p:cNvSpPr>
              <a:spLocks noChangeArrowheads="1"/>
            </p:cNvSpPr>
            <p:nvPr/>
          </p:nvSpPr>
          <p:spPr bwMode="auto">
            <a:xfrm>
              <a:off x="4656" y="3792"/>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184</a:t>
              </a:r>
            </a:p>
          </p:txBody>
        </p:sp>
        <p:sp>
          <p:nvSpPr>
            <p:cNvPr id="91196" name="Rectangle 100"/>
            <p:cNvSpPr>
              <a:spLocks noChangeArrowheads="1"/>
            </p:cNvSpPr>
            <p:nvPr/>
          </p:nvSpPr>
          <p:spPr bwMode="auto">
            <a:xfrm>
              <a:off x="5184" y="3795"/>
              <a:ext cx="384" cy="23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buFont typeface="Wingdings" pitchFamily="2" charset="2"/>
                <a:buNone/>
              </a:pPr>
              <a:r>
                <a:rPr kumimoji="1" lang="en-US" altLang="zh-CN" sz="2400">
                  <a:latin typeface="Times New Roman" pitchFamily="18" charset="0"/>
                </a:rPr>
                <a:t>589</a:t>
              </a:r>
            </a:p>
          </p:txBody>
        </p:sp>
        <p:sp>
          <p:nvSpPr>
            <p:cNvPr id="91197" name="Line 101"/>
            <p:cNvSpPr>
              <a:spLocks noChangeShapeType="1"/>
            </p:cNvSpPr>
            <p:nvPr/>
          </p:nvSpPr>
          <p:spPr bwMode="auto">
            <a:xfrm>
              <a:off x="4512"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198" name="Line 102"/>
            <p:cNvSpPr>
              <a:spLocks noChangeShapeType="1"/>
            </p:cNvSpPr>
            <p:nvPr/>
          </p:nvSpPr>
          <p:spPr bwMode="auto">
            <a:xfrm>
              <a:off x="5040" y="3939"/>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cxnSp>
        <p:nvCxnSpPr>
          <p:cNvPr id="3" name="直接连接符 2">
            <a:extLst>
              <a:ext uri="{FF2B5EF4-FFF2-40B4-BE49-F238E27FC236}">
                <a16:creationId xmlns:a16="http://schemas.microsoft.com/office/drawing/2014/main" id="{CDA9EA2D-B525-A901-C613-138C7AFA3B9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AFF031B3-A125-2ED8-552A-57FF019DC7E6}"/>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
        <p:nvSpPr>
          <p:cNvPr id="5" name="矩形 4">
            <a:extLst>
              <a:ext uri="{FF2B5EF4-FFF2-40B4-BE49-F238E27FC236}">
                <a16:creationId xmlns:a16="http://schemas.microsoft.com/office/drawing/2014/main" id="{E0449E79-B648-486E-43E4-2DE542672774}"/>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10.6.3 </a:t>
            </a:r>
            <a:r>
              <a:rPr lang="zh-CN" altLang="en-US" sz="2800" b="1" dirty="0">
                <a:solidFill>
                  <a:schemeClr val="bg1"/>
                </a:solidFill>
                <a:latin typeface="经典粗黑简" pitchFamily="49" charset="-122"/>
                <a:ea typeface="经典粗黑简" pitchFamily="49" charset="-122"/>
                <a:cs typeface="经典粗黑简" pitchFamily="49" charset="-122"/>
              </a:rPr>
              <a:t>基数排序的示例</a:t>
            </a:r>
          </a:p>
        </p:txBody>
      </p:sp>
    </p:spTree>
    <p:extLst>
      <p:ext uri="{BB962C8B-B14F-4D97-AF65-F5344CB8AC3E}">
        <p14:creationId xmlns:p14="http://schemas.microsoft.com/office/powerpoint/2010/main" val="1441817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05578"/>
                                        </p:tgtEl>
                                        <p:attrNameLst>
                                          <p:attrName>style.visibility</p:attrName>
                                        </p:attrNameLst>
                                      </p:cBhvr>
                                      <p:to>
                                        <p:strVal val="visible"/>
                                      </p:to>
                                    </p:set>
                                    <p:animEffect transition="in" filter="slide(fromLeft)">
                                      <p:cBhvr>
                                        <p:cTn id="7" dur="500"/>
                                        <p:tgtEl>
                                          <p:spTgt spid="7055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705566"/>
                                        </p:tgtEl>
                                        <p:attrNameLst>
                                          <p:attrName>style.visibility</p:attrName>
                                        </p:attrNameLst>
                                      </p:cBhvr>
                                      <p:to>
                                        <p:strVal val="visible"/>
                                      </p:to>
                                    </p:set>
                                    <p:animEffect transition="in" filter="slide(fromBottom)">
                                      <p:cBhvr>
                                        <p:cTn id="12" dur="500"/>
                                        <p:tgtEl>
                                          <p:spTgt spid="7055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05607"/>
                                        </p:tgtEl>
                                        <p:attrNameLst>
                                          <p:attrName>style.visibility</p:attrName>
                                        </p:attrNameLst>
                                      </p:cBhvr>
                                      <p:to>
                                        <p:strVal val="visible"/>
                                      </p:to>
                                    </p:set>
                                    <p:animEffect transition="in" filter="slide(fromBottom)">
                                      <p:cBhvr>
                                        <p:cTn id="17" dur="500"/>
                                        <p:tgtEl>
                                          <p:spTgt spid="7056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705610"/>
                                        </p:tgtEl>
                                        <p:attrNameLst>
                                          <p:attrName>style.visibility</p:attrName>
                                        </p:attrNameLst>
                                      </p:cBhvr>
                                      <p:to>
                                        <p:strVal val="visible"/>
                                      </p:to>
                                    </p:set>
                                    <p:animEffect transition="in" filter="slide(fromBottom)">
                                      <p:cBhvr>
                                        <p:cTn id="22" dur="500"/>
                                        <p:tgtEl>
                                          <p:spTgt spid="7056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705563"/>
                                        </p:tgtEl>
                                        <p:attrNameLst>
                                          <p:attrName>style.visibility</p:attrName>
                                        </p:attrNameLst>
                                      </p:cBhvr>
                                      <p:to>
                                        <p:strVal val="visible"/>
                                      </p:to>
                                    </p:set>
                                    <p:animEffect transition="in" filter="slide(fromBottom)">
                                      <p:cBhvr>
                                        <p:cTn id="27" dur="500"/>
                                        <p:tgtEl>
                                          <p:spTgt spid="7055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705601"/>
                                        </p:tgtEl>
                                        <p:attrNameLst>
                                          <p:attrName>style.visibility</p:attrName>
                                        </p:attrNameLst>
                                      </p:cBhvr>
                                      <p:to>
                                        <p:strVal val="visible"/>
                                      </p:to>
                                    </p:set>
                                    <p:animEffect transition="in" filter="slide(fromBottom)">
                                      <p:cBhvr>
                                        <p:cTn id="32" dur="500"/>
                                        <p:tgtEl>
                                          <p:spTgt spid="7056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705604"/>
                                        </p:tgtEl>
                                        <p:attrNameLst>
                                          <p:attrName>style.visibility</p:attrName>
                                        </p:attrNameLst>
                                      </p:cBhvr>
                                      <p:to>
                                        <p:strVal val="visible"/>
                                      </p:to>
                                    </p:set>
                                    <p:animEffect transition="in" filter="slide(fromBottom)">
                                      <p:cBhvr>
                                        <p:cTn id="37" dur="500"/>
                                        <p:tgtEl>
                                          <p:spTgt spid="7056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705572"/>
                                        </p:tgtEl>
                                        <p:attrNameLst>
                                          <p:attrName>style.visibility</p:attrName>
                                        </p:attrNameLst>
                                      </p:cBhvr>
                                      <p:to>
                                        <p:strVal val="visible"/>
                                      </p:to>
                                    </p:set>
                                    <p:animEffect transition="in" filter="slide(fromBottom)">
                                      <p:cBhvr>
                                        <p:cTn id="42" dur="500"/>
                                        <p:tgtEl>
                                          <p:spTgt spid="7055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705560"/>
                                        </p:tgtEl>
                                        <p:attrNameLst>
                                          <p:attrName>style.visibility</p:attrName>
                                        </p:attrNameLst>
                                      </p:cBhvr>
                                      <p:to>
                                        <p:strVal val="visible"/>
                                      </p:to>
                                    </p:set>
                                    <p:animEffect transition="in" filter="slide(fromBottom)">
                                      <p:cBhvr>
                                        <p:cTn id="47" dur="500"/>
                                        <p:tgtEl>
                                          <p:spTgt spid="70556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705569"/>
                                        </p:tgtEl>
                                        <p:attrNameLst>
                                          <p:attrName>style.visibility</p:attrName>
                                        </p:attrNameLst>
                                      </p:cBhvr>
                                      <p:to>
                                        <p:strVal val="visible"/>
                                      </p:to>
                                    </p:set>
                                    <p:animEffect transition="in" filter="slide(fromBottom)">
                                      <p:cBhvr>
                                        <p:cTn id="52" dur="500"/>
                                        <p:tgtEl>
                                          <p:spTgt spid="70556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705613"/>
                                        </p:tgtEl>
                                        <p:attrNameLst>
                                          <p:attrName>style.visibility</p:attrName>
                                        </p:attrNameLst>
                                      </p:cBhvr>
                                      <p:to>
                                        <p:strVal val="visible"/>
                                      </p:to>
                                    </p:set>
                                    <p:animEffect transition="in" filter="slide(fromBottom)">
                                      <p:cBhvr>
                                        <p:cTn id="57" dur="500"/>
                                        <p:tgtEl>
                                          <p:spTgt spid="70561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705575"/>
                                        </p:tgtEl>
                                        <p:attrNameLst>
                                          <p:attrName>style.visibility</p:attrName>
                                        </p:attrNameLst>
                                      </p:cBhvr>
                                      <p:to>
                                        <p:strVal val="visible"/>
                                      </p:to>
                                    </p:set>
                                    <p:animEffect transition="in" filter="wipe(up)">
                                      <p:cBhvr>
                                        <p:cTn id="62" dur="500"/>
                                        <p:tgtEl>
                                          <p:spTgt spid="705575"/>
                                        </p:tgtEl>
                                      </p:cBhvr>
                                    </p:animEffect>
                                  </p:childTnLst>
                                </p:cTn>
                              </p:par>
                            </p:childTnLst>
                          </p:cTn>
                        </p:par>
                        <p:par>
                          <p:cTn id="63" fill="hold" nodeType="afterGroup">
                            <p:stCondLst>
                              <p:cond delay="500"/>
                            </p:stCondLst>
                            <p:childTnLst>
                              <p:par>
                                <p:cTn id="64" presetID="22" presetClass="entr" presetSubtype="1" fill="hold" grpId="0" nodeType="afterEffect">
                                  <p:stCondLst>
                                    <p:cond delay="1000"/>
                                  </p:stCondLst>
                                  <p:childTnLst>
                                    <p:set>
                                      <p:cBhvr>
                                        <p:cTn id="65" dur="1" fill="hold">
                                          <p:stCondLst>
                                            <p:cond delay="0"/>
                                          </p:stCondLst>
                                        </p:cTn>
                                        <p:tgtEl>
                                          <p:spTgt spid="705576"/>
                                        </p:tgtEl>
                                        <p:attrNameLst>
                                          <p:attrName>style.visibility</p:attrName>
                                        </p:attrNameLst>
                                      </p:cBhvr>
                                      <p:to>
                                        <p:strVal val="visible"/>
                                      </p:to>
                                    </p:set>
                                    <p:animEffect transition="in" filter="wipe(up)">
                                      <p:cBhvr>
                                        <p:cTn id="66" dur="500"/>
                                        <p:tgtEl>
                                          <p:spTgt spid="705576"/>
                                        </p:tgtEl>
                                      </p:cBhvr>
                                    </p:animEffect>
                                  </p:childTnLst>
                                </p:cTn>
                              </p:par>
                            </p:childTnLst>
                          </p:cTn>
                        </p:par>
                        <p:par>
                          <p:cTn id="67" fill="hold" nodeType="afterGroup">
                            <p:stCondLst>
                              <p:cond delay="2000"/>
                            </p:stCondLst>
                            <p:childTnLst>
                              <p:par>
                                <p:cTn id="68" presetID="22" presetClass="entr" presetSubtype="1" fill="hold" grpId="0" nodeType="afterEffect">
                                  <p:stCondLst>
                                    <p:cond delay="1000"/>
                                  </p:stCondLst>
                                  <p:childTnLst>
                                    <p:set>
                                      <p:cBhvr>
                                        <p:cTn id="69" dur="1" fill="hold">
                                          <p:stCondLst>
                                            <p:cond delay="0"/>
                                          </p:stCondLst>
                                        </p:cTn>
                                        <p:tgtEl>
                                          <p:spTgt spid="705617"/>
                                        </p:tgtEl>
                                        <p:attrNameLst>
                                          <p:attrName>style.visibility</p:attrName>
                                        </p:attrNameLst>
                                      </p:cBhvr>
                                      <p:to>
                                        <p:strVal val="visible"/>
                                      </p:to>
                                    </p:set>
                                    <p:animEffect transition="in" filter="wipe(up)">
                                      <p:cBhvr>
                                        <p:cTn id="70" dur="500"/>
                                        <p:tgtEl>
                                          <p:spTgt spid="705617"/>
                                        </p:tgtEl>
                                      </p:cBhvr>
                                    </p:animEffect>
                                  </p:childTnLst>
                                </p:cTn>
                              </p:par>
                            </p:childTnLst>
                          </p:cTn>
                        </p:par>
                        <p:par>
                          <p:cTn id="71" fill="hold" nodeType="afterGroup">
                            <p:stCondLst>
                              <p:cond delay="3500"/>
                            </p:stCondLst>
                            <p:childTnLst>
                              <p:par>
                                <p:cTn id="72" presetID="22" presetClass="entr" presetSubtype="1" fill="hold" grpId="0" nodeType="afterEffect">
                                  <p:stCondLst>
                                    <p:cond delay="1000"/>
                                  </p:stCondLst>
                                  <p:childTnLst>
                                    <p:set>
                                      <p:cBhvr>
                                        <p:cTn id="73" dur="1" fill="hold">
                                          <p:stCondLst>
                                            <p:cond delay="0"/>
                                          </p:stCondLst>
                                        </p:cTn>
                                        <p:tgtEl>
                                          <p:spTgt spid="705616"/>
                                        </p:tgtEl>
                                        <p:attrNameLst>
                                          <p:attrName>style.visibility</p:attrName>
                                        </p:attrNameLst>
                                      </p:cBhvr>
                                      <p:to>
                                        <p:strVal val="visible"/>
                                      </p:to>
                                    </p:set>
                                    <p:animEffect transition="in" filter="wipe(up)">
                                      <p:cBhvr>
                                        <p:cTn id="74" dur="500"/>
                                        <p:tgtEl>
                                          <p:spTgt spid="705616"/>
                                        </p:tgtEl>
                                      </p:cBhvr>
                                    </p:animEffect>
                                  </p:childTnLst>
                                </p:cTn>
                              </p:par>
                            </p:childTnLst>
                          </p:cTn>
                        </p:par>
                        <p:par>
                          <p:cTn id="75" fill="hold" nodeType="afterGroup">
                            <p:stCondLst>
                              <p:cond delay="5000"/>
                            </p:stCondLst>
                            <p:childTnLst>
                              <p:par>
                                <p:cTn id="76" presetID="22" presetClass="entr" presetSubtype="1" fill="hold" grpId="0" nodeType="afterEffect">
                                  <p:stCondLst>
                                    <p:cond delay="1000"/>
                                  </p:stCondLst>
                                  <p:childTnLst>
                                    <p:set>
                                      <p:cBhvr>
                                        <p:cTn id="77" dur="1" fill="hold">
                                          <p:stCondLst>
                                            <p:cond delay="0"/>
                                          </p:stCondLst>
                                        </p:cTn>
                                        <p:tgtEl>
                                          <p:spTgt spid="705577"/>
                                        </p:tgtEl>
                                        <p:attrNameLst>
                                          <p:attrName>style.visibility</p:attrName>
                                        </p:attrNameLst>
                                      </p:cBhvr>
                                      <p:to>
                                        <p:strVal val="visible"/>
                                      </p:to>
                                    </p:set>
                                    <p:animEffect transition="in" filter="wipe(up)">
                                      <p:cBhvr>
                                        <p:cTn id="78" dur="500"/>
                                        <p:tgtEl>
                                          <p:spTgt spid="70557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8" fill="hold" grpId="0" nodeType="clickEffect">
                                  <p:stCondLst>
                                    <p:cond delay="0"/>
                                  </p:stCondLst>
                                  <p:childTnLst>
                                    <p:set>
                                      <p:cBhvr>
                                        <p:cTn id="82" dur="1" fill="hold">
                                          <p:stCondLst>
                                            <p:cond delay="0"/>
                                          </p:stCondLst>
                                        </p:cTn>
                                        <p:tgtEl>
                                          <p:spTgt spid="705579"/>
                                        </p:tgtEl>
                                        <p:attrNameLst>
                                          <p:attrName>style.visibility</p:attrName>
                                        </p:attrNameLst>
                                      </p:cBhvr>
                                      <p:to>
                                        <p:strVal val="visible"/>
                                      </p:to>
                                    </p:set>
                                    <p:animEffect transition="in" filter="slide(fromLeft)">
                                      <p:cBhvr>
                                        <p:cTn id="83" dur="500"/>
                                        <p:tgtEl>
                                          <p:spTgt spid="70557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05580"/>
                                        </p:tgtEl>
                                        <p:attrNameLst>
                                          <p:attrName>style.visibility</p:attrName>
                                        </p:attrNameLst>
                                      </p:cBhvr>
                                      <p:to>
                                        <p:strVal val="visible"/>
                                      </p:to>
                                    </p:set>
                                    <p:animEffect transition="in" filter="wipe(left)">
                                      <p:cBhvr>
                                        <p:cTn id="88" dur="500"/>
                                        <p:tgtEl>
                                          <p:spTgt spid="705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75" grpId="0" animBg="1"/>
      <p:bldP spid="705576" grpId="0" animBg="1"/>
      <p:bldP spid="705577" grpId="0" animBg="1"/>
      <p:bldP spid="705578" grpId="0" animBg="1" autoUpdateAnimBg="0"/>
      <p:bldP spid="705579" grpId="0" animBg="1" autoUpdateAnimBg="0"/>
      <p:bldP spid="705616" grpId="0" animBg="1"/>
      <p:bldP spid="70561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67608" y="2065037"/>
            <a:ext cx="3775393"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采用链式存储，避免元素移动</a:t>
            </a:r>
            <a:r>
              <a:rPr lang="zh-CN" altLang="en-US" sz="2000" dirty="0"/>
              <a:t>。</a:t>
            </a:r>
            <a:endParaRPr kumimoji="1" lang="zh-CN" altLang="en-US" sz="2000" dirty="0">
              <a:latin typeface="Times New Roman" pitchFamily="18" charset="0"/>
              <a:ea typeface="微软雅黑" pitchFamily="34" charset="-122"/>
              <a:cs typeface="Times New Roman" pitchFamily="18" charset="0"/>
            </a:endParaRPr>
          </a:p>
        </p:txBody>
      </p:sp>
      <p:sp>
        <p:nvSpPr>
          <p:cNvPr id="7" name="矩形 6"/>
          <p:cNvSpPr/>
          <p:nvPr/>
        </p:nvSpPr>
        <p:spPr>
          <a:xfrm>
            <a:off x="2567607" y="2569093"/>
            <a:ext cx="5742384" cy="400110"/>
          </a:xfrm>
          <a:prstGeom prst="rect">
            <a:avLst/>
          </a:prstGeom>
        </p:spPr>
        <p:txBody>
          <a:bodyPr wrap="square">
            <a:spAutoFit/>
          </a:bodyPr>
          <a:lstStyle/>
          <a:p>
            <a:pPr marL="0" lvl="1"/>
            <a:r>
              <a:rPr kumimoji="1" lang="zh-CN" altLang="en-US" sz="2000" dirty="0">
                <a:latin typeface="Times New Roman" pitchFamily="18" charset="0"/>
                <a:ea typeface="微软雅黑" pitchFamily="34" charset="-122"/>
                <a:cs typeface="Times New Roman" pitchFamily="18" charset="0"/>
              </a:rPr>
              <a:t>时间复杂度：</a:t>
            </a:r>
            <a:r>
              <a:rPr kumimoji="1" lang="en-US" altLang="zh-CN" sz="2000" dirty="0">
                <a:latin typeface="Times New Roman" pitchFamily="18" charset="0"/>
                <a:ea typeface="微软雅黑" pitchFamily="34" charset="-122"/>
                <a:cs typeface="Times New Roman" pitchFamily="18" charset="0"/>
              </a:rPr>
              <a:t>O(d(</a:t>
            </a:r>
            <a:r>
              <a:rPr kumimoji="1" lang="en-US" altLang="zh-CN" sz="2000" dirty="0" err="1">
                <a:latin typeface="Times New Roman" pitchFamily="18" charset="0"/>
                <a:ea typeface="微软雅黑" pitchFamily="34" charset="-122"/>
                <a:cs typeface="Times New Roman" pitchFamily="18" charset="0"/>
              </a:rPr>
              <a:t>n+rd</a:t>
            </a:r>
            <a:r>
              <a:rPr kumimoji="1" lang="en-US" altLang="zh-CN" sz="2000" dirty="0">
                <a:latin typeface="Times New Roman" pitchFamily="18" charset="0"/>
                <a:ea typeface="微软雅黑" pitchFamily="34" charset="-122"/>
                <a:cs typeface="Times New Roman" pitchFamily="18" charset="0"/>
              </a:rPr>
              <a:t>))</a:t>
            </a:r>
            <a:r>
              <a:rPr kumimoji="1" lang="zh-CN" altLang="en-US" sz="2000" dirty="0">
                <a:latin typeface="Times New Roman" pitchFamily="18" charset="0"/>
                <a:ea typeface="微软雅黑" pitchFamily="34" charset="-122"/>
                <a:cs typeface="Times New Roman" pitchFamily="18" charset="0"/>
              </a:rPr>
              <a:t>，</a:t>
            </a:r>
            <a:r>
              <a:rPr kumimoji="1" lang="en-US" altLang="zh-CN" sz="2000" dirty="0" err="1">
                <a:latin typeface="Times New Roman" pitchFamily="18" charset="0"/>
                <a:ea typeface="微软雅黑" pitchFamily="34" charset="-122"/>
                <a:cs typeface="Times New Roman" pitchFamily="18" charset="0"/>
              </a:rPr>
              <a:t>rd</a:t>
            </a:r>
            <a:r>
              <a:rPr kumimoji="1" lang="zh-CN" altLang="en-US" sz="2000" dirty="0">
                <a:latin typeface="Times New Roman" pitchFamily="18" charset="0"/>
                <a:ea typeface="微软雅黑" pitchFamily="34" charset="-122"/>
                <a:cs typeface="Times New Roman" pitchFamily="18" charset="0"/>
              </a:rPr>
              <a:t>为每个关键字的基数</a:t>
            </a:r>
            <a:r>
              <a:rPr lang="zh-CN" altLang="en-US" sz="2000" dirty="0"/>
              <a:t>。</a:t>
            </a:r>
            <a:endParaRPr kumimoji="1" lang="zh-CN" altLang="en-US" sz="2000" dirty="0">
              <a:latin typeface="Times New Roman" pitchFamily="18" charset="0"/>
              <a:ea typeface="微软雅黑" pitchFamily="34" charset="-122"/>
              <a:cs typeface="Times New Roman" pitchFamily="18" charset="0"/>
            </a:endParaRPr>
          </a:p>
        </p:txBody>
      </p:sp>
      <p:sp>
        <p:nvSpPr>
          <p:cNvPr id="8" name="矩形 7"/>
          <p:cNvSpPr/>
          <p:nvPr/>
        </p:nvSpPr>
        <p:spPr>
          <a:xfrm>
            <a:off x="3510638" y="3001141"/>
            <a:ext cx="2217274" cy="369332"/>
          </a:xfrm>
          <a:prstGeom prst="rect">
            <a:avLst/>
          </a:prstGeom>
        </p:spPr>
        <p:txBody>
          <a:bodyPr wrap="none">
            <a:spAutoFit/>
          </a:bodyPr>
          <a:lstStyle/>
          <a:p>
            <a:r>
              <a:rPr kumimoji="1" lang="zh-CN" altLang="en-US" dirty="0">
                <a:latin typeface="Times New Roman" pitchFamily="18" charset="0"/>
                <a:ea typeface="微软雅黑" pitchFamily="34" charset="-122"/>
                <a:cs typeface="Times New Roman" pitchFamily="18" charset="0"/>
              </a:rPr>
              <a:t>每一趟分配： </a:t>
            </a:r>
            <a:r>
              <a:rPr kumimoji="1" lang="en-US" altLang="zh-CN" dirty="0">
                <a:latin typeface="Times New Roman" pitchFamily="18" charset="0"/>
                <a:ea typeface="微软雅黑" pitchFamily="34" charset="-122"/>
                <a:cs typeface="Times New Roman" pitchFamily="18" charset="0"/>
              </a:rPr>
              <a:t>O(n</a:t>
            </a:r>
            <a:r>
              <a:rPr kumimoji="1" lang="zh-CN" altLang="en-US" dirty="0">
                <a:latin typeface="Times New Roman" pitchFamily="18" charset="0"/>
                <a:ea typeface="微软雅黑" pitchFamily="34" charset="-122"/>
                <a:cs typeface="Times New Roman" pitchFamily="18" charset="0"/>
              </a:rPr>
              <a:t>）</a:t>
            </a:r>
            <a:endParaRPr lang="zh-CN" altLang="en-US" dirty="0"/>
          </a:p>
        </p:txBody>
      </p:sp>
      <p:sp>
        <p:nvSpPr>
          <p:cNvPr id="9" name="矩形 8"/>
          <p:cNvSpPr/>
          <p:nvPr/>
        </p:nvSpPr>
        <p:spPr>
          <a:xfrm>
            <a:off x="3510638" y="3379293"/>
            <a:ext cx="2294218" cy="369332"/>
          </a:xfrm>
          <a:prstGeom prst="rect">
            <a:avLst/>
          </a:prstGeom>
        </p:spPr>
        <p:txBody>
          <a:bodyPr wrap="none">
            <a:spAutoFit/>
          </a:bodyPr>
          <a:lstStyle/>
          <a:p>
            <a:r>
              <a:rPr kumimoji="1" lang="zh-CN" altLang="en-US" dirty="0">
                <a:latin typeface="Times New Roman" pitchFamily="18" charset="0"/>
                <a:ea typeface="微软雅黑" pitchFamily="34" charset="-122"/>
                <a:cs typeface="Times New Roman" pitchFamily="18" charset="0"/>
              </a:rPr>
              <a:t>每一趟收集： </a:t>
            </a:r>
            <a:r>
              <a:rPr kumimoji="1" lang="en-US" altLang="zh-CN" dirty="0">
                <a:latin typeface="Times New Roman" pitchFamily="18" charset="0"/>
                <a:ea typeface="微软雅黑" pitchFamily="34" charset="-122"/>
                <a:cs typeface="Times New Roman" pitchFamily="18" charset="0"/>
              </a:rPr>
              <a:t>O(</a:t>
            </a:r>
            <a:r>
              <a:rPr kumimoji="1" lang="en-US" altLang="zh-CN" dirty="0" err="1">
                <a:latin typeface="Times New Roman" pitchFamily="18" charset="0"/>
                <a:ea typeface="微软雅黑" pitchFamily="34" charset="-122"/>
                <a:cs typeface="Times New Roman" pitchFamily="18" charset="0"/>
              </a:rPr>
              <a:t>rd</a:t>
            </a:r>
            <a:r>
              <a:rPr kumimoji="1" lang="zh-CN" altLang="en-US" dirty="0">
                <a:latin typeface="Times New Roman" pitchFamily="18" charset="0"/>
                <a:ea typeface="微软雅黑" pitchFamily="34" charset="-122"/>
                <a:cs typeface="Times New Roman" pitchFamily="18" charset="0"/>
              </a:rPr>
              <a:t>）</a:t>
            </a:r>
            <a:endParaRPr lang="zh-CN" altLang="en-US" dirty="0"/>
          </a:p>
        </p:txBody>
      </p:sp>
      <p:sp>
        <p:nvSpPr>
          <p:cNvPr id="10" name="矩形 9"/>
          <p:cNvSpPr/>
          <p:nvPr/>
        </p:nvSpPr>
        <p:spPr>
          <a:xfrm>
            <a:off x="3510639" y="3793229"/>
            <a:ext cx="1911101" cy="369332"/>
          </a:xfrm>
          <a:prstGeom prst="rect">
            <a:avLst/>
          </a:prstGeom>
        </p:spPr>
        <p:txBody>
          <a:bodyPr wrap="none">
            <a:spAutoFit/>
          </a:bodyPr>
          <a:lstStyle/>
          <a:p>
            <a:r>
              <a:rPr kumimoji="1" lang="zh-CN" altLang="en-US" dirty="0">
                <a:latin typeface="Times New Roman" pitchFamily="18" charset="0"/>
                <a:ea typeface="微软雅黑" pitchFamily="34" charset="-122"/>
                <a:cs typeface="Times New Roman" pitchFamily="18" charset="0"/>
              </a:rPr>
              <a:t>共</a:t>
            </a:r>
            <a:r>
              <a:rPr kumimoji="1" lang="en-US" altLang="zh-CN" dirty="0">
                <a:latin typeface="Times New Roman" pitchFamily="18" charset="0"/>
                <a:ea typeface="微软雅黑" pitchFamily="34" charset="-122"/>
                <a:cs typeface="Times New Roman" pitchFamily="18" charset="0"/>
              </a:rPr>
              <a:t>d</a:t>
            </a:r>
            <a:r>
              <a:rPr kumimoji="1" lang="zh-CN" altLang="en-US" dirty="0">
                <a:latin typeface="Times New Roman" pitchFamily="18" charset="0"/>
                <a:ea typeface="微软雅黑" pitchFamily="34" charset="-122"/>
                <a:cs typeface="Times New Roman" pitchFamily="18" charset="0"/>
              </a:rPr>
              <a:t>趟： </a:t>
            </a:r>
            <a:r>
              <a:rPr kumimoji="1" lang="en-US" altLang="zh-CN" dirty="0">
                <a:latin typeface="Times New Roman" pitchFamily="18" charset="0"/>
                <a:ea typeface="微软雅黑" pitchFamily="34" charset="-122"/>
                <a:cs typeface="Times New Roman" pitchFamily="18" charset="0"/>
              </a:rPr>
              <a:t>d(</a:t>
            </a:r>
            <a:r>
              <a:rPr kumimoji="1" lang="en-US" altLang="zh-CN" dirty="0" err="1">
                <a:latin typeface="Times New Roman" pitchFamily="18" charset="0"/>
                <a:ea typeface="微软雅黑" pitchFamily="34" charset="-122"/>
                <a:cs typeface="Times New Roman" pitchFamily="18" charset="0"/>
              </a:rPr>
              <a:t>n+rd</a:t>
            </a:r>
            <a:r>
              <a:rPr kumimoji="1" lang="zh-CN" altLang="en-US" dirty="0">
                <a:latin typeface="Times New Roman" pitchFamily="18" charset="0"/>
                <a:ea typeface="微软雅黑" pitchFamily="34" charset="-122"/>
                <a:cs typeface="Times New Roman" pitchFamily="18" charset="0"/>
              </a:rPr>
              <a:t>）</a:t>
            </a:r>
            <a:endParaRPr lang="zh-CN" altLang="en-US" dirty="0"/>
          </a:p>
        </p:txBody>
      </p:sp>
      <p:sp>
        <p:nvSpPr>
          <p:cNvPr id="11" name="矩形 10"/>
          <p:cNvSpPr/>
          <p:nvPr/>
        </p:nvSpPr>
        <p:spPr>
          <a:xfrm>
            <a:off x="2567608" y="4225277"/>
            <a:ext cx="2720617" cy="400110"/>
          </a:xfrm>
          <a:prstGeom prst="rect">
            <a:avLst/>
          </a:prstGeom>
        </p:spPr>
        <p:txBody>
          <a:bodyPr wrap="none">
            <a:spAutoFit/>
          </a:bodyPr>
          <a:lstStyle/>
          <a:p>
            <a:r>
              <a:rPr kumimoji="1" lang="zh-CN" altLang="en-US" sz="2000" dirty="0">
                <a:latin typeface="Times New Roman" pitchFamily="18" charset="0"/>
                <a:ea typeface="微软雅黑" pitchFamily="34" charset="-122"/>
                <a:cs typeface="Times New Roman" pitchFamily="18" charset="0"/>
              </a:rPr>
              <a:t>空间复杂度：</a:t>
            </a:r>
            <a:r>
              <a:rPr kumimoji="1" lang="en-US" altLang="zh-CN" sz="2000" dirty="0">
                <a:latin typeface="Times New Roman" pitchFamily="18" charset="0"/>
                <a:ea typeface="微软雅黑" pitchFamily="34" charset="-122"/>
                <a:cs typeface="Times New Roman" pitchFamily="18" charset="0"/>
              </a:rPr>
              <a:t>O(</a:t>
            </a:r>
            <a:r>
              <a:rPr kumimoji="1" lang="en-US" altLang="zh-CN" sz="2000" dirty="0" err="1">
                <a:latin typeface="Times New Roman" pitchFamily="18" charset="0"/>
                <a:ea typeface="微软雅黑" pitchFamily="34" charset="-122"/>
                <a:cs typeface="Times New Roman" pitchFamily="18" charset="0"/>
              </a:rPr>
              <a:t>rd</a:t>
            </a:r>
            <a:r>
              <a:rPr kumimoji="1" lang="zh-CN" altLang="en-US" sz="2000" dirty="0">
                <a:latin typeface="Times New Roman" pitchFamily="18" charset="0"/>
                <a:ea typeface="微软雅黑" pitchFamily="34" charset="-122"/>
                <a:cs typeface="Times New Roman" pitchFamily="18" charset="0"/>
              </a:rPr>
              <a:t>）。</a:t>
            </a:r>
            <a:endParaRPr lang="zh-CN" altLang="en-US" sz="2000" dirty="0"/>
          </a:p>
        </p:txBody>
      </p:sp>
      <p:sp>
        <p:nvSpPr>
          <p:cNvPr id="12" name="矩形 11"/>
          <p:cNvSpPr/>
          <p:nvPr/>
        </p:nvSpPr>
        <p:spPr>
          <a:xfrm>
            <a:off x="3510639" y="4623056"/>
            <a:ext cx="1954381" cy="400110"/>
          </a:xfrm>
          <a:prstGeom prst="rect">
            <a:avLst/>
          </a:prstGeom>
        </p:spPr>
        <p:txBody>
          <a:bodyPr wrap="none">
            <a:spAutoFit/>
          </a:bodyPr>
          <a:lstStyle/>
          <a:p>
            <a:pPr marL="0" lvl="2"/>
            <a:r>
              <a:rPr kumimoji="1" lang="en-US" altLang="zh-CN" dirty="0">
                <a:latin typeface="Times New Roman" pitchFamily="18" charset="0"/>
                <a:ea typeface="微软雅黑" pitchFamily="34" charset="-122"/>
                <a:cs typeface="Times New Roman" pitchFamily="18" charset="0"/>
              </a:rPr>
              <a:t>2rd</a:t>
            </a:r>
            <a:r>
              <a:rPr kumimoji="1" lang="zh-CN" altLang="en-US" dirty="0">
                <a:latin typeface="Times New Roman" pitchFamily="18" charset="0"/>
                <a:ea typeface="微软雅黑" pitchFamily="34" charset="-122"/>
                <a:cs typeface="Times New Roman" pitchFamily="18" charset="0"/>
              </a:rPr>
              <a:t>个队列</a:t>
            </a:r>
            <a:r>
              <a:rPr kumimoji="1" lang="zh-CN" altLang="en-US" sz="2000" dirty="0">
                <a:latin typeface="Times New Roman" pitchFamily="18" charset="0"/>
                <a:ea typeface="微软雅黑" pitchFamily="34" charset="-122"/>
                <a:cs typeface="Times New Roman" pitchFamily="18" charset="0"/>
              </a:rPr>
              <a:t>指针。</a:t>
            </a:r>
          </a:p>
        </p:txBody>
      </p:sp>
      <p:sp>
        <p:nvSpPr>
          <p:cNvPr id="13" name="矩形 12"/>
          <p:cNvSpPr/>
          <p:nvPr/>
        </p:nvSpPr>
        <p:spPr>
          <a:xfrm>
            <a:off x="2567607" y="5034977"/>
            <a:ext cx="2236510" cy="400110"/>
          </a:xfrm>
          <a:prstGeom prst="rect">
            <a:avLst/>
          </a:prstGeom>
        </p:spPr>
        <p:txBody>
          <a:bodyPr wrap="none">
            <a:spAutoFit/>
          </a:bodyPr>
          <a:lstStyle/>
          <a:p>
            <a:pPr marL="0" lvl="1"/>
            <a:r>
              <a:rPr kumimoji="1" lang="zh-CN" altLang="en-US" sz="2000" dirty="0">
                <a:latin typeface="Times New Roman" pitchFamily="18" charset="0"/>
                <a:ea typeface="微软雅黑" pitchFamily="34" charset="-122"/>
                <a:cs typeface="Times New Roman" pitchFamily="18" charset="0"/>
              </a:rPr>
              <a:t>稳定的排序方法。</a:t>
            </a:r>
          </a:p>
        </p:txBody>
      </p:sp>
      <p:sp>
        <p:nvSpPr>
          <p:cNvPr id="14" name="矩形 13"/>
          <p:cNvSpPr/>
          <p:nvPr/>
        </p:nvSpPr>
        <p:spPr>
          <a:xfrm>
            <a:off x="2567608" y="5481351"/>
            <a:ext cx="5186035" cy="400110"/>
          </a:xfrm>
          <a:prstGeom prst="rect">
            <a:avLst/>
          </a:prstGeom>
        </p:spPr>
        <p:txBody>
          <a:bodyPr wrap="none">
            <a:spAutoFit/>
          </a:bodyPr>
          <a:lstStyle/>
          <a:p>
            <a:pPr marL="0" lvl="1"/>
            <a:r>
              <a:rPr kumimoji="1" lang="zh-CN" altLang="en-US" sz="2000" dirty="0">
                <a:latin typeface="Times New Roman" pitchFamily="18" charset="0"/>
                <a:ea typeface="微软雅黑" pitchFamily="34" charset="-122"/>
                <a:cs typeface="Times New Roman" pitchFamily="18" charset="0"/>
              </a:rPr>
              <a:t>适用于元素数目</a:t>
            </a:r>
            <a:r>
              <a:rPr kumimoji="1" lang="en-US" altLang="zh-CN" sz="2000" dirty="0">
                <a:latin typeface="Times New Roman" pitchFamily="18" charset="0"/>
                <a:ea typeface="微软雅黑" pitchFamily="34" charset="-122"/>
                <a:cs typeface="Times New Roman" pitchFamily="18" charset="0"/>
              </a:rPr>
              <a:t>n</a:t>
            </a:r>
            <a:r>
              <a:rPr kumimoji="1" lang="zh-CN" altLang="en-US" sz="2000" dirty="0">
                <a:latin typeface="Times New Roman" pitchFamily="18" charset="0"/>
                <a:ea typeface="微软雅黑" pitchFamily="34" charset="-122"/>
                <a:cs typeface="Times New Roman" pitchFamily="18" charset="0"/>
              </a:rPr>
              <a:t>很大且关键字很小的情况。</a:t>
            </a:r>
          </a:p>
        </p:txBody>
      </p:sp>
      <p:cxnSp>
        <p:nvCxnSpPr>
          <p:cNvPr id="4" name="直接连接符 3">
            <a:extLst>
              <a:ext uri="{FF2B5EF4-FFF2-40B4-BE49-F238E27FC236}">
                <a16:creationId xmlns:a16="http://schemas.microsoft.com/office/drawing/2014/main" id="{80BBEB7E-4293-1FA4-6734-811277A02EB2}"/>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6F4195D-6870-07CC-3E93-9E3E32332D1C}"/>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
        <p:nvSpPr>
          <p:cNvPr id="6" name="矩形 5">
            <a:extLst>
              <a:ext uri="{FF2B5EF4-FFF2-40B4-BE49-F238E27FC236}">
                <a16:creationId xmlns:a16="http://schemas.microsoft.com/office/drawing/2014/main" id="{434E21F2-9052-E4D9-B547-91E20D644541}"/>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10.6.3 </a:t>
            </a:r>
            <a:r>
              <a:rPr lang="zh-CN" altLang="en-US" sz="2800" b="1" dirty="0">
                <a:solidFill>
                  <a:schemeClr val="bg1"/>
                </a:solidFill>
                <a:latin typeface="经典粗黑简" pitchFamily="49" charset="-122"/>
                <a:ea typeface="经典粗黑简" pitchFamily="49" charset="-122"/>
                <a:cs typeface="经典粗黑简" pitchFamily="49" charset="-122"/>
              </a:rPr>
              <a:t>基数排序的示例</a:t>
            </a:r>
          </a:p>
        </p:txBody>
      </p:sp>
    </p:spTree>
    <p:extLst>
      <p:ext uri="{BB962C8B-B14F-4D97-AF65-F5344CB8AC3E}">
        <p14:creationId xmlns:p14="http://schemas.microsoft.com/office/powerpoint/2010/main" val="2473758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P spid="11" grpId="0"/>
      <p:bldP spid="12" grpId="0"/>
      <p:bldP spid="13" grpId="0"/>
      <p:bldP spid="1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AF53B-C38C-A3C4-B8AA-635E1216F803}"/>
            </a:ext>
          </a:extLst>
        </p:cNvPr>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CC89076B-2F0D-D112-33F3-B17C9E6F84F3}"/>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6409B00C-0094-0C42-66FE-0AFD30027472}"/>
              </a:ext>
            </a:extLst>
          </p:cNvPr>
          <p:cNvSpPr/>
          <p:nvPr/>
        </p:nvSpPr>
        <p:spPr>
          <a:xfrm>
            <a:off x="3863752" y="296069"/>
            <a:ext cx="4285864"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10.6 </a:t>
            </a:r>
            <a:r>
              <a:rPr lang="zh-CN" altLang="en-US" sz="3000" b="1" dirty="0">
                <a:latin typeface="黑体" pitchFamily="49" charset="-122"/>
                <a:ea typeface="黑体" pitchFamily="49" charset="-122"/>
                <a:cs typeface="经典粗黑简" pitchFamily="49" charset="-122"/>
              </a:rPr>
              <a:t>基数排序</a:t>
            </a:r>
          </a:p>
        </p:txBody>
      </p:sp>
      <p:sp>
        <p:nvSpPr>
          <p:cNvPr id="6" name="矩形 5">
            <a:extLst>
              <a:ext uri="{FF2B5EF4-FFF2-40B4-BE49-F238E27FC236}">
                <a16:creationId xmlns:a16="http://schemas.microsoft.com/office/drawing/2014/main" id="{CCD0A202-4F8C-82C6-3620-59402DFE11E6}"/>
              </a:ext>
            </a:extLst>
          </p:cNvPr>
          <p:cNvSpPr/>
          <p:nvPr/>
        </p:nvSpPr>
        <p:spPr>
          <a:xfrm>
            <a:off x="335360" y="1082555"/>
            <a:ext cx="4248472"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chemeClr val="bg1"/>
                </a:solidFill>
                <a:latin typeface="经典粗黑简" pitchFamily="49" charset="-122"/>
                <a:ea typeface="经典粗黑简" pitchFamily="49" charset="-122"/>
                <a:cs typeface="经典粗黑简" pitchFamily="49" charset="-122"/>
              </a:rPr>
              <a:t>10.6.3 </a:t>
            </a:r>
            <a:r>
              <a:rPr lang="zh-CN" altLang="en-US" sz="2800" b="1" dirty="0">
                <a:solidFill>
                  <a:schemeClr val="bg1"/>
                </a:solidFill>
                <a:latin typeface="经典粗黑简" pitchFamily="49" charset="-122"/>
                <a:ea typeface="经典粗黑简" pitchFamily="49" charset="-122"/>
                <a:cs typeface="经典粗黑简" pitchFamily="49" charset="-122"/>
              </a:rPr>
              <a:t>基数排序的示例</a:t>
            </a:r>
          </a:p>
        </p:txBody>
      </p:sp>
      <p:sp>
        <p:nvSpPr>
          <p:cNvPr id="2" name="TextBox 1">
            <a:extLst>
              <a:ext uri="{FF2B5EF4-FFF2-40B4-BE49-F238E27FC236}">
                <a16:creationId xmlns:a16="http://schemas.microsoft.com/office/drawing/2014/main" id="{4E341358-1105-F505-E734-A4530F324030}"/>
              </a:ext>
            </a:extLst>
          </p:cNvPr>
          <p:cNvSpPr txBox="1"/>
          <p:nvPr/>
        </p:nvSpPr>
        <p:spPr>
          <a:xfrm>
            <a:off x="1487488" y="2636912"/>
            <a:ext cx="8286808" cy="957250"/>
          </a:xfrm>
          <a:prstGeom prst="rect">
            <a:avLst/>
          </a:prstGeom>
          <a:noFill/>
        </p:spPr>
        <p:txBody>
          <a:bodyPr wrap="square" rtlCol="0">
            <a:spAutoFit/>
          </a:bodyPr>
          <a:lstStyle/>
          <a:p>
            <a:pPr algn="l">
              <a:lnSpc>
                <a:spcPct val="150000"/>
              </a:lnSpc>
            </a:pPr>
            <a:r>
              <a:rPr kumimoji="1" lang="zh-CN" altLang="en-US" sz="2000">
                <a:ea typeface="楷体" pitchFamily="49" charset="-122"/>
                <a:cs typeface="Times New Roman" pitchFamily="18" charset="0"/>
              </a:rPr>
              <a:t>基</a:t>
            </a:r>
            <a:r>
              <a:rPr kumimoji="1" lang="zh-CN" altLang="en-US" sz="2000" dirty="0">
                <a:ea typeface="楷体" pitchFamily="49" charset="-122"/>
                <a:cs typeface="Times New Roman" pitchFamily="18" charset="0"/>
              </a:rPr>
              <a:t>数排序是通过“分配”和“收集”过程来</a:t>
            </a:r>
            <a:r>
              <a:rPr kumimoji="1" lang="zh-CN" altLang="en-US" sz="2000">
                <a:ea typeface="楷体" pitchFamily="49" charset="-122"/>
                <a:cs typeface="Times New Roman" pitchFamily="18" charset="0"/>
              </a:rPr>
              <a:t>实现排序，</a:t>
            </a:r>
            <a:r>
              <a:rPr kumimoji="1" lang="zh-CN" altLang="en-US" sz="2000">
                <a:solidFill>
                  <a:srgbClr val="FF00FF"/>
                </a:solidFill>
                <a:ea typeface="楷体" pitchFamily="49" charset="-122"/>
                <a:cs typeface="Times New Roman" pitchFamily="18" charset="0"/>
              </a:rPr>
              <a:t>不</a:t>
            </a:r>
            <a:r>
              <a:rPr kumimoji="1" lang="zh-CN" altLang="en-US" sz="2000" dirty="0">
                <a:solidFill>
                  <a:srgbClr val="FF00FF"/>
                </a:solidFill>
                <a:ea typeface="楷体" pitchFamily="49" charset="-122"/>
                <a:cs typeface="Times New Roman" pitchFamily="18" charset="0"/>
              </a:rPr>
              <a:t>需要关键字的比较</a:t>
            </a:r>
            <a:r>
              <a:rPr kumimoji="1" lang="zh-CN" altLang="en-US" sz="2000" dirty="0">
                <a:ea typeface="楷体" pitchFamily="49" charset="-122"/>
                <a:cs typeface="Times New Roman" pitchFamily="18" charset="0"/>
              </a:rPr>
              <a:t>。</a:t>
            </a:r>
            <a:endParaRPr lang="zh-CN" altLang="en-US" sz="2000" dirty="0">
              <a:ea typeface="楷体" pitchFamily="49" charset="-122"/>
              <a:cs typeface="Times New Roman" pitchFamily="18" charset="0"/>
            </a:endParaRPr>
          </a:p>
        </p:txBody>
      </p:sp>
      <p:sp>
        <p:nvSpPr>
          <p:cNvPr id="15" name="TextBox 2">
            <a:extLst>
              <a:ext uri="{FF2B5EF4-FFF2-40B4-BE49-F238E27FC236}">
                <a16:creationId xmlns:a16="http://schemas.microsoft.com/office/drawing/2014/main" id="{5B62B85E-E21F-7A4F-F2B5-3391195977F8}"/>
              </a:ext>
            </a:extLst>
          </p:cNvPr>
          <p:cNvSpPr txBox="1"/>
          <p:nvPr/>
        </p:nvSpPr>
        <p:spPr>
          <a:xfrm>
            <a:off x="1844678" y="1851094"/>
            <a:ext cx="1000132" cy="400110"/>
          </a:xfrm>
          <a:prstGeom prst="rect">
            <a:avLst/>
          </a:prstGeom>
          <a:solidFill>
            <a:srgbClr val="92D050"/>
          </a:solidFill>
          <a:effectLst>
            <a:glow rad="101600">
              <a:schemeClr val="accent2">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zh-CN" altLang="en-US" sz="2000" dirty="0">
                <a:solidFill>
                  <a:srgbClr val="FF0000"/>
                </a:solidFill>
                <a:latin typeface="微软雅黑" pitchFamily="34" charset="-122"/>
                <a:ea typeface="微软雅黑" pitchFamily="34" charset="-122"/>
              </a:rPr>
              <a:t>结论</a:t>
            </a:r>
          </a:p>
        </p:txBody>
      </p:sp>
      <p:sp>
        <p:nvSpPr>
          <p:cNvPr id="16" name="TextBox 5">
            <a:extLst>
              <a:ext uri="{FF2B5EF4-FFF2-40B4-BE49-F238E27FC236}">
                <a16:creationId xmlns:a16="http://schemas.microsoft.com/office/drawing/2014/main" id="{AEAF4B71-3803-0C18-7FAD-ED7453F1368D}"/>
              </a:ext>
            </a:extLst>
          </p:cNvPr>
          <p:cNvSpPr txBox="1"/>
          <p:nvPr/>
        </p:nvSpPr>
        <p:spPr>
          <a:xfrm>
            <a:off x="2559058" y="3708482"/>
            <a:ext cx="5857916" cy="400110"/>
          </a:xfrm>
          <a:prstGeom prst="rect">
            <a:avLst/>
          </a:prstGeom>
          <a:noFill/>
        </p:spPr>
        <p:txBody>
          <a:bodyPr wrap="square" rtlCol="0">
            <a:spAutoFit/>
          </a:bodyPr>
          <a:lstStyle/>
          <a:p>
            <a:pPr algn="l"/>
            <a:r>
              <a:rPr lang="zh-CN" altLang="en-US" sz="2000">
                <a:latin typeface="方正启体简体" pitchFamily="65" charset="-122"/>
                <a:ea typeface="方正启体简体" pitchFamily="65" charset="-122"/>
              </a:rPr>
              <a:t>已知的信息：</a:t>
            </a:r>
            <a:r>
              <a:rPr kumimoji="1" lang="zh-CN" altLang="en-US" sz="2000">
                <a:latin typeface="方正启体简体" pitchFamily="65" charset="-122"/>
                <a:ea typeface="方正启体简体" pitchFamily="65" charset="-122"/>
                <a:cs typeface="Times New Roman" pitchFamily="18" charset="0"/>
              </a:rPr>
              <a:t>基数，每个位的取值，这些值的大小！</a:t>
            </a:r>
            <a:endParaRPr lang="zh-CN" altLang="en-US" sz="2000">
              <a:latin typeface="方正启体简体" pitchFamily="65" charset="-122"/>
              <a:ea typeface="方正启体简体" pitchFamily="65" charset="-122"/>
            </a:endParaRPr>
          </a:p>
        </p:txBody>
      </p:sp>
      <p:sp>
        <p:nvSpPr>
          <p:cNvPr id="17" name="TextBox 6">
            <a:extLst>
              <a:ext uri="{FF2B5EF4-FFF2-40B4-BE49-F238E27FC236}">
                <a16:creationId xmlns:a16="http://schemas.microsoft.com/office/drawing/2014/main" id="{BC7B2BD2-6575-6177-B326-30A909184CD0}"/>
              </a:ext>
            </a:extLst>
          </p:cNvPr>
          <p:cNvSpPr txBox="1"/>
          <p:nvPr/>
        </p:nvSpPr>
        <p:spPr>
          <a:xfrm>
            <a:off x="1987554" y="4780052"/>
            <a:ext cx="7500990" cy="13722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600"/>
              </a:lnSpc>
              <a:spcBef>
                <a:spcPts val="1200"/>
              </a:spcBef>
              <a:buBlip>
                <a:blip r:embed="rId2"/>
              </a:buBlip>
            </a:pPr>
            <a:r>
              <a:rPr lang="zh-CN" altLang="en-US" sz="2000">
                <a:latin typeface="Consolas" pitchFamily="49" charset="0"/>
                <a:ea typeface="仿宋" pitchFamily="49" charset="-122"/>
                <a:cs typeface="Consolas" pitchFamily="49" charset="0"/>
              </a:rPr>
              <a:t>适合字符串排序</a:t>
            </a:r>
            <a:endParaRPr lang="en-US" altLang="zh-CN" sz="2000">
              <a:latin typeface="Consolas" pitchFamily="49" charset="0"/>
              <a:ea typeface="仿宋" pitchFamily="49" charset="-122"/>
              <a:cs typeface="Consolas" pitchFamily="49" charset="0"/>
            </a:endParaRPr>
          </a:p>
          <a:p>
            <a:pPr marL="342900" indent="-342900" algn="l">
              <a:lnSpc>
                <a:spcPts val="2600"/>
              </a:lnSpc>
              <a:spcBef>
                <a:spcPts val="1200"/>
              </a:spcBef>
              <a:buBlip>
                <a:blip r:embed="rId2"/>
              </a:buBlip>
            </a:pPr>
            <a:r>
              <a:rPr lang="zh-CN" altLang="en-US" sz="2000">
                <a:latin typeface="Consolas" pitchFamily="49" charset="0"/>
                <a:ea typeface="仿宋" pitchFamily="49" charset="-122"/>
                <a:cs typeface="Consolas" pitchFamily="49" charset="0"/>
              </a:rPr>
              <a:t>适合多关键字排序：如有数学、语文成绩，排序方式：按数学成绩递减排序，数学成绩相同按语文成绩递减排序。</a:t>
            </a:r>
          </a:p>
        </p:txBody>
      </p:sp>
      <p:sp>
        <p:nvSpPr>
          <p:cNvPr id="18" name="下箭头 7">
            <a:extLst>
              <a:ext uri="{FF2B5EF4-FFF2-40B4-BE49-F238E27FC236}">
                <a16:creationId xmlns:a16="http://schemas.microsoft.com/office/drawing/2014/main" id="{82955C21-2341-774D-6F3E-273321791120}"/>
              </a:ext>
            </a:extLst>
          </p:cNvPr>
          <p:cNvSpPr/>
          <p:nvPr/>
        </p:nvSpPr>
        <p:spPr>
          <a:xfrm>
            <a:off x="4702198" y="420854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1284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ADCF7-936A-19FA-5F1E-43C62F978B7E}"/>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3D5C62A9-5DB7-03E3-6A17-05A1D9044B5B}"/>
              </a:ext>
            </a:extLst>
          </p:cNvPr>
          <p:cNvSpPr/>
          <p:nvPr/>
        </p:nvSpPr>
        <p:spPr>
          <a:xfrm>
            <a:off x="3575720" y="332656"/>
            <a:ext cx="50405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10.7 </a:t>
            </a:r>
            <a:r>
              <a:rPr lang="zh-CN" altLang="en-US" sz="3000" b="1" dirty="0">
                <a:latin typeface="黑体" pitchFamily="49" charset="-122"/>
                <a:ea typeface="黑体" pitchFamily="49" charset="-122"/>
                <a:cs typeface="经典粗黑简" pitchFamily="49" charset="-122"/>
              </a:rPr>
              <a:t>各种排序方法的比较</a:t>
            </a:r>
          </a:p>
        </p:txBody>
      </p:sp>
      <p:sp>
        <p:nvSpPr>
          <p:cNvPr id="23" name="Rectangle 3">
            <a:extLst>
              <a:ext uri="{FF2B5EF4-FFF2-40B4-BE49-F238E27FC236}">
                <a16:creationId xmlns:a16="http://schemas.microsoft.com/office/drawing/2014/main" id="{65E09259-B0CF-2793-911E-8CDD046F9062}"/>
              </a:ext>
            </a:extLst>
          </p:cNvPr>
          <p:cNvSpPr txBox="1">
            <a:spLocks noChangeArrowheads="1"/>
          </p:cNvSpPr>
          <p:nvPr/>
        </p:nvSpPr>
        <p:spPr>
          <a:xfrm>
            <a:off x="2855640" y="2000129"/>
            <a:ext cx="6773688" cy="371554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kumimoji="1" lang="zh-CN" altLang="en-US" sz="2400" dirty="0">
                <a:latin typeface="Times New Roman" pitchFamily="18" charset="0"/>
                <a:ea typeface="微软雅黑" pitchFamily="34" charset="-122"/>
                <a:cs typeface="Times New Roman" pitchFamily="18" charset="0"/>
              </a:rPr>
              <a:t>对排序算法应该从以下几个方面综合考虑：</a:t>
            </a:r>
          </a:p>
          <a:p>
            <a:pPr>
              <a:defRPr/>
            </a:pPr>
            <a:r>
              <a:rPr kumimoji="1" lang="zh-CN" altLang="en-US" sz="2400" dirty="0">
                <a:latin typeface="Times New Roman" pitchFamily="18" charset="0"/>
                <a:ea typeface="微软雅黑" pitchFamily="34" charset="-122"/>
                <a:cs typeface="Times New Roman" pitchFamily="18" charset="0"/>
              </a:rPr>
              <a:t>⑴时间复杂性；</a:t>
            </a:r>
          </a:p>
          <a:p>
            <a:pPr>
              <a:defRPr/>
            </a:pPr>
            <a:r>
              <a:rPr kumimoji="1" lang="zh-CN" altLang="en-US" sz="2400" dirty="0">
                <a:latin typeface="Times New Roman" pitchFamily="18" charset="0"/>
                <a:ea typeface="微软雅黑" pitchFamily="34" charset="-122"/>
                <a:cs typeface="Times New Roman" pitchFamily="18" charset="0"/>
              </a:rPr>
              <a:t>⑵空间复杂性；</a:t>
            </a:r>
          </a:p>
          <a:p>
            <a:pPr>
              <a:defRPr/>
            </a:pPr>
            <a:r>
              <a:rPr kumimoji="1" lang="zh-CN" altLang="en-US" sz="2400" dirty="0">
                <a:latin typeface="Times New Roman" pitchFamily="18" charset="0"/>
                <a:ea typeface="微软雅黑" pitchFamily="34" charset="-122"/>
                <a:cs typeface="Times New Roman" pitchFamily="18" charset="0"/>
              </a:rPr>
              <a:t>⑶稳定性；</a:t>
            </a:r>
          </a:p>
          <a:p>
            <a:pPr>
              <a:defRPr/>
            </a:pPr>
            <a:r>
              <a:rPr kumimoji="1" lang="zh-CN" altLang="en-US" sz="2400" dirty="0">
                <a:latin typeface="Times New Roman" pitchFamily="18" charset="0"/>
                <a:ea typeface="微软雅黑" pitchFamily="34" charset="-122"/>
                <a:cs typeface="Times New Roman" pitchFamily="18" charset="0"/>
              </a:rPr>
              <a:t>⑷算法简单性；</a:t>
            </a:r>
          </a:p>
          <a:p>
            <a:pPr>
              <a:defRPr/>
            </a:pPr>
            <a:r>
              <a:rPr kumimoji="1" lang="zh-CN" altLang="en-US" sz="2400" dirty="0">
                <a:latin typeface="Times New Roman" pitchFamily="18" charset="0"/>
                <a:ea typeface="微软雅黑" pitchFamily="34" charset="-122"/>
                <a:cs typeface="Times New Roman" pitchFamily="18" charset="0"/>
              </a:rPr>
              <a:t>⑸待排序记录个数</a:t>
            </a:r>
            <a:r>
              <a:rPr kumimoji="1" lang="en-US" altLang="zh-CN" sz="2400" dirty="0">
                <a:latin typeface="Times New Roman" pitchFamily="18" charset="0"/>
                <a:ea typeface="微软雅黑" pitchFamily="34" charset="-122"/>
                <a:cs typeface="Times New Roman" pitchFamily="18" charset="0"/>
              </a:rPr>
              <a:t>n</a:t>
            </a:r>
            <a:r>
              <a:rPr kumimoji="1" lang="zh-CN" altLang="en-US" sz="2400" dirty="0">
                <a:latin typeface="Times New Roman" pitchFamily="18" charset="0"/>
                <a:ea typeface="微软雅黑" pitchFamily="34" charset="-122"/>
                <a:cs typeface="Times New Roman" pitchFamily="18" charset="0"/>
              </a:rPr>
              <a:t>的大小；</a:t>
            </a:r>
          </a:p>
          <a:p>
            <a:pPr>
              <a:defRPr/>
            </a:pPr>
            <a:r>
              <a:rPr kumimoji="1" lang="zh-CN" altLang="en-US" sz="2400" dirty="0">
                <a:latin typeface="Times New Roman" pitchFamily="18" charset="0"/>
                <a:ea typeface="微软雅黑" pitchFamily="34" charset="-122"/>
                <a:cs typeface="Times New Roman" pitchFamily="18" charset="0"/>
              </a:rPr>
              <a:t>⑹记录本身信息量的大小；</a:t>
            </a:r>
          </a:p>
          <a:p>
            <a:pPr>
              <a:defRPr/>
            </a:pPr>
            <a:r>
              <a:rPr kumimoji="1" lang="zh-CN" altLang="en-US" sz="2400" dirty="0">
                <a:latin typeface="Times New Roman" pitchFamily="18" charset="0"/>
                <a:ea typeface="微软雅黑" pitchFamily="34" charset="-122"/>
                <a:cs typeface="Times New Roman" pitchFamily="18" charset="0"/>
              </a:rPr>
              <a:t>⑺关键码的分布情况。</a:t>
            </a:r>
          </a:p>
        </p:txBody>
      </p:sp>
      <p:cxnSp>
        <p:nvCxnSpPr>
          <p:cNvPr id="2" name="直接连接符 1">
            <a:extLst>
              <a:ext uri="{FF2B5EF4-FFF2-40B4-BE49-F238E27FC236}">
                <a16:creationId xmlns:a16="http://schemas.microsoft.com/office/drawing/2014/main" id="{58BAE781-768E-32B0-6FD3-699FB60FF58A}"/>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179031"/>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3575720" y="332656"/>
            <a:ext cx="50405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10.7 </a:t>
            </a:r>
            <a:r>
              <a:rPr lang="zh-CN" altLang="en-US" sz="3000" b="1" dirty="0">
                <a:latin typeface="黑体" pitchFamily="49" charset="-122"/>
                <a:ea typeface="黑体" pitchFamily="49" charset="-122"/>
                <a:cs typeface="经典粗黑简" pitchFamily="49" charset="-122"/>
              </a:rPr>
              <a:t>各种内排序方法的比较</a:t>
            </a:r>
          </a:p>
        </p:txBody>
      </p:sp>
      <p:cxnSp>
        <p:nvCxnSpPr>
          <p:cNvPr id="2" name="直接连接符 1">
            <a:extLst>
              <a:ext uri="{FF2B5EF4-FFF2-40B4-BE49-F238E27FC236}">
                <a16:creationId xmlns:a16="http://schemas.microsoft.com/office/drawing/2014/main" id="{B85526E2-C673-AA31-3F2F-8E504018AFF0}"/>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3" name="Group 890">
            <a:extLst>
              <a:ext uri="{FF2B5EF4-FFF2-40B4-BE49-F238E27FC236}">
                <a16:creationId xmlns:a16="http://schemas.microsoft.com/office/drawing/2014/main" id="{DEDA5FDB-20A8-8F48-6B69-5804CE1BBB4B}"/>
              </a:ext>
            </a:extLst>
          </p:cNvPr>
          <p:cNvGraphicFramePr>
            <a:graphicFrameLocks noGrp="1"/>
          </p:cNvGraphicFramePr>
          <p:nvPr>
            <p:extLst>
              <p:ext uri="{D42A27DB-BD31-4B8C-83A1-F6EECF244321}">
                <p14:modId xmlns:p14="http://schemas.microsoft.com/office/powerpoint/2010/main" val="599323867"/>
              </p:ext>
            </p:extLst>
          </p:nvPr>
        </p:nvGraphicFramePr>
        <p:xfrm>
          <a:off x="2063552" y="1853678"/>
          <a:ext cx="8501122" cy="4854840"/>
        </p:xfrm>
        <a:graphic>
          <a:graphicData uri="http://schemas.openxmlformats.org/drawingml/2006/table">
            <a:tbl>
              <a:tblPr>
                <a:tableStyleId>{35758FB7-9AC5-4552-8A53-C91805E547FA}</a:tableStyleId>
              </a:tblPr>
              <a:tblGrid>
                <a:gridCol w="1664377">
                  <a:extLst>
                    <a:ext uri="{9D8B030D-6E8A-4147-A177-3AD203B41FA5}">
                      <a16:colId xmlns:a16="http://schemas.microsoft.com/office/drawing/2014/main" val="20000"/>
                    </a:ext>
                  </a:extLst>
                </a:gridCol>
                <a:gridCol w="1548296">
                  <a:extLst>
                    <a:ext uri="{9D8B030D-6E8A-4147-A177-3AD203B41FA5}">
                      <a16:colId xmlns:a16="http://schemas.microsoft.com/office/drawing/2014/main" val="20001"/>
                    </a:ext>
                  </a:extLst>
                </a:gridCol>
                <a:gridCol w="1550004">
                  <a:extLst>
                    <a:ext uri="{9D8B030D-6E8A-4147-A177-3AD203B41FA5}">
                      <a16:colId xmlns:a16="http://schemas.microsoft.com/office/drawing/2014/main" val="20002"/>
                    </a:ext>
                  </a:extLst>
                </a:gridCol>
                <a:gridCol w="1346865">
                  <a:extLst>
                    <a:ext uri="{9D8B030D-6E8A-4147-A177-3AD203B41FA5}">
                      <a16:colId xmlns:a16="http://schemas.microsoft.com/office/drawing/2014/main" val="20003"/>
                    </a:ext>
                  </a:extLst>
                </a:gridCol>
                <a:gridCol w="1391448">
                  <a:extLst>
                    <a:ext uri="{9D8B030D-6E8A-4147-A177-3AD203B41FA5}">
                      <a16:colId xmlns:a16="http://schemas.microsoft.com/office/drawing/2014/main" val="20004"/>
                    </a:ext>
                  </a:extLst>
                </a:gridCol>
                <a:gridCol w="1000132">
                  <a:extLst>
                    <a:ext uri="{9D8B030D-6E8A-4147-A177-3AD203B41FA5}">
                      <a16:colId xmlns:a16="http://schemas.microsoft.com/office/drawing/2014/main" val="20005"/>
                    </a:ext>
                  </a:extLst>
                </a:gridCol>
              </a:tblGrid>
              <a:tr h="219075">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排序方法</a:t>
                      </a:r>
                      <a:endParaRPr kumimoji="1" lang="zh-CN" altLang="en-US" sz="1600" b="1" i="0" u="none" strike="noStrike" cap="none" normalizeH="0" baseline="0">
                        <a:ln>
                          <a:noFill/>
                        </a:ln>
                        <a:solidFill>
                          <a:srgbClr val="FF0000"/>
                        </a:solidFill>
                        <a:effectLst/>
                        <a:latin typeface="Consolas" pitchFamily="49" charset="0"/>
                        <a:ea typeface="楷体" pitchFamily="49" charset="-122"/>
                        <a:cs typeface="Consolas" pitchFamily="49" charset="0"/>
                      </a:endParaRPr>
                    </a:p>
                  </a:txBody>
                  <a:tcPr anchor="ctr" horzOverflow="overflow">
                    <a:blipFill>
                      <a:blip r:embed="rId2"/>
                      <a:tile tx="0" ty="0" sx="100000" sy="100000" flip="none" algn="tl"/>
                    </a:blip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dirty="0">
                          <a:ln>
                            <a:noFill/>
                          </a:ln>
                          <a:solidFill>
                            <a:srgbClr val="FF0000"/>
                          </a:solidFill>
                          <a:effectLst/>
                          <a:latin typeface="Times New Roman" pitchFamily="18" charset="0"/>
                          <a:ea typeface="楷体" pitchFamily="49" charset="-122"/>
                          <a:cs typeface="Times New Roman" pitchFamily="18" charset="0"/>
                        </a:rPr>
                        <a:t>时间复杂度</a:t>
                      </a:r>
                      <a:endParaRPr kumimoji="1" lang="zh-CN" altLang="en-US" sz="1600" b="1" i="0" u="none" strike="noStrike" cap="none" normalizeH="0" baseline="0" dirty="0">
                        <a:ln>
                          <a:noFill/>
                        </a:ln>
                        <a:solidFill>
                          <a:srgbClr val="FF0000"/>
                        </a:solidFill>
                        <a:effectLst/>
                        <a:latin typeface="Times New Roman" pitchFamily="18" charset="0"/>
                        <a:ea typeface="楷体" pitchFamily="49" charset="-122"/>
                        <a:cs typeface="Times New Roman" pitchFamily="18" charset="0"/>
                      </a:endParaRPr>
                    </a:p>
                  </a:txBody>
                  <a:tcPr horzOverflow="overflow">
                    <a:blipFill>
                      <a:blip r:embed="rId2"/>
                      <a:tile tx="0" ty="0" sx="100000" sy="100000" flip="none" algn="tl"/>
                    </a:blipFill>
                  </a:tcPr>
                </a:tc>
                <a:tc hMerge="1">
                  <a:txBody>
                    <a:bodyPr/>
                    <a:lstStyle/>
                    <a:p>
                      <a:endParaRPr lang="zh-CN" altLang="en-US"/>
                    </a:p>
                  </a:txBody>
                  <a:tcPr/>
                </a:tc>
                <a:tc hMerge="1">
                  <a:txBody>
                    <a:bodyPr/>
                    <a:lstStyle/>
                    <a:p>
                      <a:endParaRPr lang="zh-CN" altLang="en-US"/>
                    </a:p>
                  </a:txBody>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空间复杂度</a:t>
                      </a:r>
                      <a:endParaRPr kumimoji="1" lang="zh-CN" altLang="en-US" sz="1600" b="1" i="0" u="none" strike="noStrike" cap="none" normalizeH="0" baseline="0">
                        <a:ln>
                          <a:noFill/>
                        </a:ln>
                        <a:solidFill>
                          <a:srgbClr val="FF0000"/>
                        </a:solidFill>
                        <a:effectLst/>
                        <a:latin typeface="Consolas" pitchFamily="49" charset="0"/>
                        <a:ea typeface="楷体" pitchFamily="49" charset="-122"/>
                        <a:cs typeface="Consolas" pitchFamily="49" charset="0"/>
                      </a:endParaRPr>
                    </a:p>
                  </a:txBody>
                  <a:tcPr anchor="ctr" horzOverflow="overflow">
                    <a:blipFill>
                      <a:blip r:embed="rId2"/>
                      <a:tile tx="0" ty="0" sx="100000" sy="100000" flip="none" algn="tl"/>
                    </a:blip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稳定性</a:t>
                      </a:r>
                      <a:endParaRPr kumimoji="1" lang="zh-CN" altLang="en-US" sz="1600" b="1" i="0" u="none" strike="noStrike" cap="none" normalizeH="0" baseline="0">
                        <a:ln>
                          <a:noFill/>
                        </a:ln>
                        <a:solidFill>
                          <a:srgbClr val="FF0000"/>
                        </a:solidFill>
                        <a:effectLst/>
                        <a:latin typeface="Consolas" pitchFamily="49" charset="0"/>
                        <a:ea typeface="楷体" pitchFamily="49" charset="-122"/>
                        <a:cs typeface="Consolas" pitchFamily="49" charset="0"/>
                      </a:endParaRPr>
                    </a:p>
                  </a:txBody>
                  <a:tcPr anchor="ctr" horzOverflow="overflow">
                    <a:blipFill>
                      <a:blip r:embed="rId2"/>
                      <a:tile tx="0" ty="0" sx="100000" sy="100000" flip="none" algn="tl"/>
                    </a:blipFill>
                  </a:tcPr>
                </a:tc>
                <a:extLst>
                  <a:ext uri="{0D108BD9-81ED-4DB2-BD59-A6C34878D82A}">
                    <a16:rowId xmlns:a16="http://schemas.microsoft.com/office/drawing/2014/main" val="10000"/>
                  </a:ext>
                </a:extLst>
              </a:tr>
              <a:tr h="3810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平均情况</a:t>
                      </a:r>
                      <a:endParaRPr kumimoji="1" lang="zh-CN" altLang="en-US" sz="1600" b="1" i="0" u="none" strike="noStrike" cap="none" normalizeH="0" baseline="0">
                        <a:ln>
                          <a:noFill/>
                        </a:ln>
                        <a:solidFill>
                          <a:srgbClr val="FF0000"/>
                        </a:solidFill>
                        <a:effectLst/>
                        <a:latin typeface="Consolas" pitchFamily="49" charset="0"/>
                        <a:ea typeface="楷体" pitchFamily="49" charset="-122"/>
                        <a:cs typeface="Consolas" pitchFamily="49" charset="0"/>
                      </a:endParaRPr>
                    </a:p>
                  </a:txBody>
                  <a:tcPr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最坏情况</a:t>
                      </a:r>
                      <a:endParaRPr kumimoji="1" lang="zh-CN" altLang="en-US" sz="1600" b="1" i="0" u="none" strike="noStrike" cap="none" normalizeH="0" baseline="0">
                        <a:ln>
                          <a:noFill/>
                        </a:ln>
                        <a:solidFill>
                          <a:srgbClr val="FF0000"/>
                        </a:solidFill>
                        <a:effectLst/>
                        <a:latin typeface="Consolas" pitchFamily="49" charset="0"/>
                        <a:ea typeface="楷体" pitchFamily="49" charset="-122"/>
                        <a:cs typeface="Consolas" pitchFamily="49" charset="0"/>
                      </a:endParaRPr>
                    </a:p>
                  </a:txBody>
                  <a:tcPr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最好情况</a:t>
                      </a:r>
                      <a:endParaRPr kumimoji="1" lang="zh-CN" altLang="en-US" sz="1600" b="1" i="0" u="none" strike="noStrike" cap="none" normalizeH="0" baseline="0">
                        <a:ln>
                          <a:noFill/>
                        </a:ln>
                        <a:solidFill>
                          <a:srgbClr val="FF0000"/>
                        </a:solidFill>
                        <a:effectLst/>
                        <a:latin typeface="Consolas" pitchFamily="49" charset="0"/>
                        <a:ea typeface="楷体" pitchFamily="49" charset="-122"/>
                        <a:cs typeface="Consolas" pitchFamily="49" charset="0"/>
                      </a:endParaRPr>
                    </a:p>
                  </a:txBody>
                  <a:tcPr horzOverflow="overflow">
                    <a:blipFill>
                      <a:blip r:embed="rId2"/>
                      <a:tile tx="0" ty="0" sx="100000" sy="100000" flip="none" algn="tl"/>
                    </a:blip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直接插入排序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O(1)</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折半插入排序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O(1)</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希尔排序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1.3</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 </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 </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O(1) </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不稳定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冒泡排序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O(1) </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快速排序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不稳定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solidFill>
                      <a:srgbClr val="FFFF00"/>
                    </a:solid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简单选择排序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30000">
                          <a:ln>
                            <a:noFill/>
                          </a:ln>
                          <a:solidFill>
                            <a:srgbClr val="1000E4"/>
                          </a:solidFill>
                          <a:effectLst/>
                          <a:latin typeface="Consolas" pitchFamily="49" charset="0"/>
                          <a:ea typeface="楷体" pitchFamily="49" charset="-122"/>
                          <a:cs typeface="Consolas" pitchFamily="49" charset="0"/>
                        </a:rPr>
                        <a:t>2</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O(1) </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不稳定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堆排序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O(1) </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不稳定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3"/>
                      <a:tile tx="0" ty="0" sx="100000" sy="100000" flip="none" algn="tl"/>
                    </a:blip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二路归并排序</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log</a:t>
                      </a:r>
                      <a:r>
                        <a:rPr kumimoji="1" lang="en-US" altLang="zh-CN" sz="1600" b="1" u="none" strike="noStrike" cap="none" normalizeH="0" baseline="-25000">
                          <a:ln>
                            <a:noFill/>
                          </a:ln>
                          <a:solidFill>
                            <a:srgbClr val="1000E4"/>
                          </a:solidFill>
                          <a:effectLst/>
                          <a:latin typeface="Consolas" pitchFamily="49" charset="0"/>
                          <a:ea typeface="楷体" pitchFamily="49" charset="-122"/>
                          <a:cs typeface="Consolas" pitchFamily="49" charset="0"/>
                        </a:rPr>
                        <a:t>2</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rgbClr val="1000E4"/>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rgbClr val="1000E4"/>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4"/>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rgbClr val="1000E4"/>
                          </a:solidFill>
                          <a:effectLst/>
                          <a:latin typeface="Consolas" pitchFamily="49" charset="0"/>
                          <a:ea typeface="楷体" pitchFamily="49" charset="-122"/>
                          <a:cs typeface="Consolas" pitchFamily="49" charset="0"/>
                        </a:rPr>
                        <a:t>稳定</a:t>
                      </a:r>
                      <a:endParaRPr kumimoji="1" lang="zh-CN" altLang="en-US" sz="1600" b="1" i="0" u="none" strike="noStrike" cap="none" normalizeH="0" baseline="0">
                        <a:ln>
                          <a:noFill/>
                        </a:ln>
                        <a:solidFill>
                          <a:srgbClr val="1000E4"/>
                        </a:solidFill>
                        <a:effectLst/>
                        <a:latin typeface="Consolas" pitchFamily="49" charset="0"/>
                        <a:ea typeface="楷体" pitchFamily="49" charset="-122"/>
                        <a:cs typeface="Consolas" pitchFamily="49" charset="0"/>
                      </a:endParaRPr>
                    </a:p>
                  </a:txBody>
                  <a:tcPr marT="108000" marB="108000" horzOverflow="overflow">
                    <a:blipFill>
                      <a:blip r:embed="rId4"/>
                      <a:tile tx="0" ty="0" sx="100000" sy="100000" flip="none" algn="tl"/>
                    </a:blipFill>
                  </a:tcPr>
                </a:tc>
                <a:extLst>
                  <a:ext uri="{0D108BD9-81ED-4DB2-BD59-A6C34878D82A}">
                    <a16:rowId xmlns:a16="http://schemas.microsoft.com/office/drawing/2014/main" val="10009"/>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a:ln>
                            <a:noFill/>
                          </a:ln>
                          <a:solidFill>
                            <a:schemeClr val="bg1"/>
                          </a:solidFill>
                          <a:effectLst/>
                          <a:latin typeface="Consolas" pitchFamily="49" charset="0"/>
                          <a:ea typeface="楷体" pitchFamily="49" charset="-122"/>
                          <a:cs typeface="Consolas" pitchFamily="49" charset="0"/>
                        </a:rPr>
                        <a:t>基数排序</a:t>
                      </a:r>
                      <a:endParaRPr kumimoji="1" lang="zh-CN" altLang="en-US" sz="1600" b="1" i="0" u="none" strike="noStrike" cap="none" normalizeH="0" baseline="0">
                        <a:ln>
                          <a:noFill/>
                        </a:ln>
                        <a:solidFill>
                          <a:schemeClr val="bg1"/>
                        </a:solidFill>
                        <a:effectLst/>
                        <a:latin typeface="Consolas" pitchFamily="49" charset="0"/>
                        <a:ea typeface="楷体" pitchFamily="49" charset="-122"/>
                        <a:cs typeface="Consolas"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d</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r</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chemeClr val="bg1"/>
                        </a:solidFill>
                        <a:effectLst/>
                        <a:latin typeface="Consolas" pitchFamily="49" charset="0"/>
                        <a:ea typeface="楷体" pitchFamily="49" charset="-122"/>
                        <a:cs typeface="Consolas"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d</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r</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chemeClr val="bg1"/>
                        </a:solidFill>
                        <a:effectLst/>
                        <a:latin typeface="Consolas" pitchFamily="49" charset="0"/>
                        <a:ea typeface="楷体" pitchFamily="49" charset="-122"/>
                        <a:cs typeface="Consolas"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d</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n</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r</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chemeClr val="bg1"/>
                        </a:solidFill>
                        <a:effectLst/>
                        <a:latin typeface="Consolas" pitchFamily="49" charset="0"/>
                        <a:ea typeface="楷体" pitchFamily="49" charset="-122"/>
                        <a:cs typeface="Consolas"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O(</a:t>
                      </a:r>
                      <a:r>
                        <a:rPr kumimoji="1" lang="en-US" altLang="zh-CN" sz="1600" b="1" i="1" u="none" strike="noStrike" cap="none" normalizeH="0" baseline="0">
                          <a:ln>
                            <a:noFill/>
                          </a:ln>
                          <a:solidFill>
                            <a:schemeClr val="bg1"/>
                          </a:solidFill>
                          <a:effectLst/>
                          <a:latin typeface="Consolas" pitchFamily="49" charset="0"/>
                          <a:ea typeface="楷体" pitchFamily="49" charset="-122"/>
                          <a:cs typeface="Consolas" pitchFamily="49" charset="0"/>
                        </a:rPr>
                        <a:t>r</a:t>
                      </a:r>
                      <a:r>
                        <a:rPr kumimoji="1" lang="en-US" altLang="zh-CN" sz="1600" b="1" u="none" strike="noStrike" cap="none" normalizeH="0" baseline="0">
                          <a:ln>
                            <a:noFill/>
                          </a:ln>
                          <a:solidFill>
                            <a:schemeClr val="bg1"/>
                          </a:solidFill>
                          <a:effectLst/>
                          <a:latin typeface="Consolas" pitchFamily="49" charset="0"/>
                          <a:ea typeface="楷体" pitchFamily="49" charset="-122"/>
                          <a:cs typeface="Consolas" pitchFamily="49" charset="0"/>
                        </a:rPr>
                        <a:t>)</a:t>
                      </a:r>
                      <a:endParaRPr kumimoji="1" lang="en-US" altLang="zh-CN" sz="1600" b="1" i="0" u="none" strike="noStrike" cap="none" normalizeH="0" baseline="0">
                        <a:ln>
                          <a:noFill/>
                        </a:ln>
                        <a:solidFill>
                          <a:schemeClr val="bg1"/>
                        </a:solidFill>
                        <a:effectLst/>
                        <a:latin typeface="Consolas" pitchFamily="49" charset="0"/>
                        <a:ea typeface="楷体" pitchFamily="49" charset="-122"/>
                        <a:cs typeface="Consolas"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u="none" strike="noStrike" cap="none" normalizeH="0" baseline="0" dirty="0">
                          <a:ln>
                            <a:noFill/>
                          </a:ln>
                          <a:solidFill>
                            <a:schemeClr val="bg1"/>
                          </a:solidFill>
                          <a:effectLst/>
                          <a:latin typeface="Consolas" pitchFamily="49" charset="0"/>
                          <a:ea typeface="楷体" pitchFamily="49" charset="-122"/>
                          <a:cs typeface="Consolas" pitchFamily="49" charset="0"/>
                        </a:rPr>
                        <a:t>稳定</a:t>
                      </a:r>
                      <a:endParaRPr kumimoji="1" lang="zh-CN" altLang="en-US" sz="1600" b="1" i="0" u="none" strike="noStrike" cap="none" normalizeH="0" baseline="0" dirty="0">
                        <a:ln>
                          <a:noFill/>
                        </a:ln>
                        <a:solidFill>
                          <a:schemeClr val="bg1"/>
                        </a:solidFill>
                        <a:effectLst/>
                        <a:latin typeface="Consolas" pitchFamily="49" charset="0"/>
                        <a:ea typeface="楷体" pitchFamily="49" charset="-122"/>
                        <a:cs typeface="Consolas"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extLst>
                  <a:ext uri="{0D108BD9-81ED-4DB2-BD59-A6C34878D82A}">
                    <a16:rowId xmlns:a16="http://schemas.microsoft.com/office/drawing/2014/main" val="10010"/>
                  </a:ext>
                </a:extLst>
              </a:tr>
            </a:tbl>
          </a:graphicData>
        </a:graphic>
      </p:graphicFrame>
      <p:sp>
        <p:nvSpPr>
          <p:cNvPr id="4" name="Text Box 888">
            <a:extLst>
              <a:ext uri="{FF2B5EF4-FFF2-40B4-BE49-F238E27FC236}">
                <a16:creationId xmlns:a16="http://schemas.microsoft.com/office/drawing/2014/main" id="{EEDD9383-21F4-8591-041E-9CC907B2EE47}"/>
              </a:ext>
            </a:extLst>
          </p:cNvPr>
          <p:cNvSpPr txBox="1">
            <a:spLocks noChangeArrowheads="1"/>
          </p:cNvSpPr>
          <p:nvPr/>
        </p:nvSpPr>
        <p:spPr bwMode="auto">
          <a:xfrm>
            <a:off x="4277604" y="1213736"/>
            <a:ext cx="4073018" cy="553998"/>
          </a:xfrm>
          <a:prstGeom prst="rect">
            <a:avLst/>
          </a:prstGeom>
          <a:noFill/>
          <a:ln w="9525">
            <a:noFill/>
            <a:miter lim="800000"/>
            <a:headEnd/>
            <a:tailEnd/>
          </a:ln>
          <a:effectLst/>
        </p:spPr>
        <p:txBody>
          <a:bodyPr wrap="square">
            <a:spAutoFit/>
          </a:bodyPr>
          <a:lstStyle/>
          <a:p>
            <a:pPr>
              <a:spcBef>
                <a:spcPct val="50000"/>
              </a:spcBef>
            </a:pPr>
            <a:r>
              <a:rPr lang="zh-CN" altLang="en-US" sz="3000" b="1" dirty="0">
                <a:latin typeface="黑体" pitchFamily="49" charset="-122"/>
                <a:ea typeface="黑体" pitchFamily="49" charset="-122"/>
                <a:cs typeface="经典粗黑简" pitchFamily="49" charset="-122"/>
              </a:rPr>
              <a:t>各种内排序方法的性能 </a:t>
            </a:r>
          </a:p>
        </p:txBody>
      </p:sp>
    </p:spTree>
    <p:extLst>
      <p:ext uri="{BB962C8B-B14F-4D97-AF65-F5344CB8AC3E}">
        <p14:creationId xmlns:p14="http://schemas.microsoft.com/office/powerpoint/2010/main" val="2239097073"/>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D394-85BE-F7F7-93E9-F895B4389276}"/>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C081FBC1-EA7A-36CB-11CC-94ACAE2E1618}"/>
              </a:ext>
            </a:extLst>
          </p:cNvPr>
          <p:cNvSpPr/>
          <p:nvPr/>
        </p:nvSpPr>
        <p:spPr>
          <a:xfrm>
            <a:off x="3575720" y="332656"/>
            <a:ext cx="50405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10.7 </a:t>
            </a:r>
            <a:r>
              <a:rPr lang="zh-CN" altLang="en-US" sz="3000" b="1" dirty="0">
                <a:latin typeface="黑体" pitchFamily="49" charset="-122"/>
                <a:ea typeface="黑体" pitchFamily="49" charset="-122"/>
                <a:cs typeface="经典粗黑简" pitchFamily="49" charset="-122"/>
              </a:rPr>
              <a:t>各种内排序方法的比较</a:t>
            </a:r>
          </a:p>
        </p:txBody>
      </p:sp>
      <p:cxnSp>
        <p:nvCxnSpPr>
          <p:cNvPr id="2" name="直接连接符 1">
            <a:extLst>
              <a:ext uri="{FF2B5EF4-FFF2-40B4-BE49-F238E27FC236}">
                <a16:creationId xmlns:a16="http://schemas.microsoft.com/office/drawing/2014/main" id="{CB7CE0AC-14A3-389B-AD8E-D7BDF439014C}"/>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id="{2B4285FD-9B6A-8E9B-A28D-80C59B7B1E23}"/>
              </a:ext>
            </a:extLst>
          </p:cNvPr>
          <p:cNvSpPr txBox="1">
            <a:spLocks noChangeArrowheads="1"/>
          </p:cNvSpPr>
          <p:nvPr/>
        </p:nvSpPr>
        <p:spPr bwMode="auto">
          <a:xfrm>
            <a:off x="1487488" y="1429346"/>
            <a:ext cx="8572528" cy="1444975"/>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6"/>
          </a:lnRef>
          <a:fillRef idx="2">
            <a:schemeClr val="accent6"/>
          </a:fillRef>
          <a:effectRef idx="1">
            <a:schemeClr val="accent6"/>
          </a:effectRef>
          <a:fontRef idx="minor">
            <a:schemeClr val="dk1"/>
          </a:fontRef>
        </p:style>
        <p:txBody>
          <a:bodyPr wrap="square" lIns="144000" tIns="144000" rIns="144000" bIns="144000">
            <a:spAutoFit/>
          </a:bodyPr>
          <a:lstStyle/>
          <a:p>
            <a:pPr marL="457200" indent="-457200" algn="l">
              <a:lnSpc>
                <a:spcPts val="2200"/>
              </a:lnSpc>
              <a:spcBef>
                <a:spcPct val="50000"/>
              </a:spcBef>
              <a:buBlip>
                <a:blip r:embed="rId2"/>
              </a:buBlip>
            </a:pPr>
            <a:r>
              <a:rPr kumimoji="1" lang="zh-CN" altLang="en-US" sz="2000" dirty="0">
                <a:solidFill>
                  <a:srgbClr val="008000"/>
                </a:solidFill>
                <a:latin typeface="Consolas" pitchFamily="49" charset="0"/>
                <a:ea typeface="仿宋" pitchFamily="49" charset="-122"/>
                <a:cs typeface="Consolas" pitchFamily="49" charset="0"/>
              </a:rPr>
              <a:t>平方阶</a:t>
            </a:r>
            <a:r>
              <a:rPr kumimoji="1" lang="en-US" altLang="zh-CN" sz="2000" dirty="0">
                <a:solidFill>
                  <a:srgbClr val="008000"/>
                </a:solidFill>
                <a:latin typeface="Consolas" pitchFamily="49" charset="0"/>
                <a:ea typeface="仿宋" pitchFamily="49" charset="-122"/>
                <a:cs typeface="Consolas" pitchFamily="49" charset="0"/>
              </a:rPr>
              <a:t>O(</a:t>
            </a:r>
            <a:r>
              <a:rPr kumimoji="1" lang="en-US" altLang="zh-CN" sz="2000" i="1" dirty="0">
                <a:solidFill>
                  <a:srgbClr val="008000"/>
                </a:solidFill>
                <a:latin typeface="Consolas" pitchFamily="49" charset="0"/>
                <a:ea typeface="仿宋" pitchFamily="49" charset="-122"/>
                <a:cs typeface="Consolas" pitchFamily="49" charset="0"/>
              </a:rPr>
              <a:t>n</a:t>
            </a:r>
            <a:r>
              <a:rPr kumimoji="1" lang="en-US" altLang="zh-CN" sz="2000" baseline="30000" dirty="0">
                <a:solidFill>
                  <a:srgbClr val="008000"/>
                </a:solidFill>
                <a:latin typeface="Consolas" pitchFamily="49" charset="0"/>
                <a:ea typeface="仿宋" pitchFamily="49" charset="-122"/>
                <a:cs typeface="Consolas" pitchFamily="49" charset="0"/>
              </a:rPr>
              <a:t>2</a:t>
            </a:r>
            <a:r>
              <a:rPr kumimoji="1" lang="en-US" altLang="zh-CN"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即简单排序方法，例如直接插入、简单选择和冒泡排序。</a:t>
            </a:r>
          </a:p>
          <a:p>
            <a:pPr marL="457200" indent="-457200" algn="l">
              <a:lnSpc>
                <a:spcPts val="2200"/>
              </a:lnSpc>
              <a:spcBef>
                <a:spcPct val="50000"/>
              </a:spcBef>
              <a:buBlip>
                <a:blip r:embed="rId2"/>
              </a:buBlip>
            </a:pPr>
            <a:r>
              <a:rPr kumimoji="1" lang="zh-CN" altLang="en-US" sz="2000" dirty="0">
                <a:solidFill>
                  <a:srgbClr val="008000"/>
                </a:solidFill>
                <a:latin typeface="Consolas" pitchFamily="49" charset="0"/>
                <a:ea typeface="仿宋" pitchFamily="49" charset="-122"/>
                <a:cs typeface="Consolas" pitchFamily="49" charset="0"/>
              </a:rPr>
              <a:t>线性对数阶</a:t>
            </a:r>
            <a:r>
              <a:rPr kumimoji="1" lang="en-US" altLang="zh-CN" sz="2000" dirty="0">
                <a:solidFill>
                  <a:srgbClr val="008000"/>
                </a:solidFill>
                <a:latin typeface="Consolas" pitchFamily="49" charset="0"/>
                <a:ea typeface="仿宋" pitchFamily="49" charset="-122"/>
                <a:cs typeface="Consolas" pitchFamily="49" charset="0"/>
              </a:rPr>
              <a:t>O(</a:t>
            </a:r>
            <a:r>
              <a:rPr kumimoji="1" lang="en-US" altLang="zh-CN" sz="2000" i="1" dirty="0">
                <a:solidFill>
                  <a:srgbClr val="008000"/>
                </a:solidFill>
                <a:latin typeface="Consolas" pitchFamily="49" charset="0"/>
                <a:ea typeface="仿宋" pitchFamily="49" charset="-122"/>
                <a:cs typeface="Consolas" pitchFamily="49" charset="0"/>
              </a:rPr>
              <a:t>n</a:t>
            </a:r>
            <a:r>
              <a:rPr kumimoji="1" lang="en-US" altLang="zh-CN" sz="2000" dirty="0">
                <a:solidFill>
                  <a:srgbClr val="008000"/>
                </a:solidFill>
                <a:latin typeface="Consolas" pitchFamily="49" charset="0"/>
                <a:ea typeface="仿宋" pitchFamily="49" charset="-122"/>
                <a:cs typeface="Consolas" pitchFamily="49" charset="0"/>
              </a:rPr>
              <a:t>log</a:t>
            </a:r>
            <a:r>
              <a:rPr kumimoji="1" lang="en-US" altLang="zh-CN" sz="2000" baseline="-30000" dirty="0">
                <a:solidFill>
                  <a:srgbClr val="008000"/>
                </a:solidFill>
                <a:latin typeface="Consolas" pitchFamily="49" charset="0"/>
                <a:ea typeface="仿宋" pitchFamily="49" charset="-122"/>
                <a:cs typeface="Consolas" pitchFamily="49" charset="0"/>
              </a:rPr>
              <a:t>2</a:t>
            </a:r>
            <a:r>
              <a:rPr kumimoji="1" lang="en-US" altLang="zh-CN" sz="2000" i="1" dirty="0">
                <a:solidFill>
                  <a:srgbClr val="008000"/>
                </a:solidFill>
                <a:latin typeface="Consolas" pitchFamily="49" charset="0"/>
                <a:ea typeface="仿宋" pitchFamily="49" charset="-122"/>
                <a:cs typeface="Consolas" pitchFamily="49" charset="0"/>
              </a:rPr>
              <a:t>n</a:t>
            </a:r>
            <a:r>
              <a:rPr kumimoji="1" lang="en-US" altLang="zh-CN"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例如快速、堆和归并排序。</a:t>
            </a:r>
          </a:p>
          <a:p>
            <a:pPr marL="457200" indent="-457200" algn="l">
              <a:lnSpc>
                <a:spcPts val="2200"/>
              </a:lnSpc>
              <a:spcBef>
                <a:spcPct val="50000"/>
              </a:spcBef>
              <a:buBlip>
                <a:blip r:embed="rId2"/>
              </a:buBlip>
            </a:pPr>
            <a:r>
              <a:rPr kumimoji="1" lang="zh-CN" altLang="en-US" sz="2000" dirty="0">
                <a:solidFill>
                  <a:srgbClr val="008000"/>
                </a:solidFill>
                <a:latin typeface="Consolas" pitchFamily="49" charset="0"/>
                <a:ea typeface="仿宋" pitchFamily="49" charset="-122"/>
                <a:cs typeface="Consolas" pitchFamily="49" charset="0"/>
              </a:rPr>
              <a:t>线性阶</a:t>
            </a:r>
            <a:r>
              <a:rPr kumimoji="1" lang="en-US" altLang="zh-CN" sz="2000" dirty="0">
                <a:solidFill>
                  <a:srgbClr val="008000"/>
                </a:solidFill>
                <a:latin typeface="Consolas" pitchFamily="49" charset="0"/>
                <a:ea typeface="仿宋" pitchFamily="49" charset="-122"/>
                <a:cs typeface="Consolas" pitchFamily="49" charset="0"/>
              </a:rPr>
              <a:t>O(</a:t>
            </a:r>
            <a:r>
              <a:rPr kumimoji="1" lang="en-US" altLang="zh-CN" sz="2000" i="1" dirty="0">
                <a:solidFill>
                  <a:srgbClr val="008000"/>
                </a:solidFill>
                <a:latin typeface="Consolas" pitchFamily="49" charset="0"/>
                <a:ea typeface="仿宋" pitchFamily="49" charset="-122"/>
                <a:cs typeface="Consolas" pitchFamily="49" charset="0"/>
              </a:rPr>
              <a:t>n</a:t>
            </a:r>
            <a:r>
              <a:rPr kumimoji="1" lang="en-US" altLang="zh-CN"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例如基数排序（假设</a:t>
            </a:r>
            <a:r>
              <a:rPr kumimoji="1" lang="en-US" altLang="zh-CN" sz="2000" i="1" dirty="0">
                <a:solidFill>
                  <a:srgbClr val="1000E4"/>
                </a:solidFill>
                <a:latin typeface="Consolas" pitchFamily="49" charset="0"/>
                <a:ea typeface="仿宋" pitchFamily="49" charset="-122"/>
                <a:cs typeface="Consolas" pitchFamily="49" charset="0"/>
              </a:rPr>
              <a:t>r</a:t>
            </a:r>
            <a:r>
              <a:rPr kumimoji="1" lang="zh-CN" altLang="en-US" sz="2000" dirty="0">
                <a:solidFill>
                  <a:srgbClr val="1000E4"/>
                </a:solidFill>
                <a:latin typeface="Consolas" pitchFamily="49" charset="0"/>
                <a:ea typeface="仿宋" pitchFamily="49" charset="-122"/>
                <a:cs typeface="Consolas" pitchFamily="49" charset="0"/>
              </a:rPr>
              <a:t>、</a:t>
            </a:r>
            <a:r>
              <a:rPr kumimoji="1" lang="en-US" altLang="zh-CN" sz="2000" i="1" dirty="0">
                <a:solidFill>
                  <a:srgbClr val="1000E4"/>
                </a:solidFill>
                <a:latin typeface="Consolas" pitchFamily="49" charset="0"/>
                <a:ea typeface="仿宋" pitchFamily="49" charset="-122"/>
                <a:cs typeface="Consolas" pitchFamily="49" charset="0"/>
              </a:rPr>
              <a:t>d</a:t>
            </a:r>
            <a:r>
              <a:rPr kumimoji="1" lang="zh-CN" altLang="en-US" sz="2000" dirty="0">
                <a:solidFill>
                  <a:srgbClr val="1000E4"/>
                </a:solidFill>
                <a:latin typeface="Consolas" pitchFamily="49" charset="0"/>
                <a:ea typeface="仿宋" pitchFamily="49" charset="-122"/>
                <a:cs typeface="Consolas" pitchFamily="49" charset="0"/>
              </a:rPr>
              <a:t>为常量）。 </a:t>
            </a:r>
          </a:p>
        </p:txBody>
      </p:sp>
      <p:sp>
        <p:nvSpPr>
          <p:cNvPr id="6" name="TextBox 3">
            <a:extLst>
              <a:ext uri="{FF2B5EF4-FFF2-40B4-BE49-F238E27FC236}">
                <a16:creationId xmlns:a16="http://schemas.microsoft.com/office/drawing/2014/main" id="{E5D4BE80-FB72-CE29-6DC8-F0665AABEA06}"/>
              </a:ext>
            </a:extLst>
          </p:cNvPr>
          <p:cNvSpPr txBox="1"/>
          <p:nvPr/>
        </p:nvSpPr>
        <p:spPr>
          <a:xfrm>
            <a:off x="983432" y="995774"/>
            <a:ext cx="4000528" cy="400110"/>
          </a:xfrm>
          <a:prstGeom prst="rect">
            <a:avLst/>
          </a:prstGeom>
          <a:noFill/>
        </p:spPr>
        <p:txBody>
          <a:bodyPr wrap="square" rtlCol="0">
            <a:spAutoFit/>
          </a:bodyPr>
          <a:lstStyle/>
          <a:p>
            <a:pPr algn="l"/>
            <a:r>
              <a:rPr kumimoji="1" lang="en-US" altLang="zh-CN" sz="2000">
                <a:solidFill>
                  <a:srgbClr val="FF0000"/>
                </a:solidFill>
                <a:latin typeface="Consolas" pitchFamily="49" charset="0"/>
                <a:ea typeface="华文中宋" pitchFamily="2" charset="-122"/>
                <a:cs typeface="Consolas" pitchFamily="49" charset="0"/>
              </a:rPr>
              <a:t>1</a:t>
            </a:r>
            <a:r>
              <a:rPr kumimoji="1" lang="zh-CN" altLang="en-US" sz="2000">
                <a:solidFill>
                  <a:srgbClr val="FF0000"/>
                </a:solidFill>
                <a:latin typeface="Consolas" pitchFamily="49" charset="0"/>
                <a:ea typeface="华文中宋" pitchFamily="2" charset="-122"/>
                <a:cs typeface="Consolas" pitchFamily="49" charset="0"/>
              </a:rPr>
              <a:t>、按算法平均时间复杂度分类</a:t>
            </a:r>
            <a:endParaRPr lang="zh-CN" altLang="en-US" sz="2000">
              <a:solidFill>
                <a:srgbClr val="FF0000"/>
              </a:solidFill>
              <a:latin typeface="Consolas" pitchFamily="49" charset="0"/>
              <a:ea typeface="华文中宋" pitchFamily="2" charset="-122"/>
              <a:cs typeface="Consolas" pitchFamily="49" charset="0"/>
            </a:endParaRPr>
          </a:p>
        </p:txBody>
      </p:sp>
      <p:sp>
        <p:nvSpPr>
          <p:cNvPr id="7" name="TextBox 2">
            <a:extLst>
              <a:ext uri="{FF2B5EF4-FFF2-40B4-BE49-F238E27FC236}">
                <a16:creationId xmlns:a16="http://schemas.microsoft.com/office/drawing/2014/main" id="{601E561B-BCFB-59DF-4505-FB87D69623E4}"/>
              </a:ext>
            </a:extLst>
          </p:cNvPr>
          <p:cNvSpPr txBox="1"/>
          <p:nvPr/>
        </p:nvSpPr>
        <p:spPr>
          <a:xfrm>
            <a:off x="839416" y="3028890"/>
            <a:ext cx="5143536" cy="400110"/>
          </a:xfrm>
          <a:prstGeom prst="rect">
            <a:avLst/>
          </a:prstGeom>
          <a:noFill/>
        </p:spPr>
        <p:txBody>
          <a:bodyPr wrap="square" rtlCol="0">
            <a:spAutoFit/>
          </a:bodyPr>
          <a:lstStyle/>
          <a:p>
            <a:pPr algn="l"/>
            <a:r>
              <a:rPr kumimoji="1" lang="en-US" altLang="zh-CN" sz="2000" dirty="0">
                <a:solidFill>
                  <a:srgbClr val="FF0000"/>
                </a:solidFill>
                <a:latin typeface="Consolas" pitchFamily="49" charset="0"/>
                <a:ea typeface="华文中宋" pitchFamily="2" charset="-122"/>
                <a:cs typeface="Consolas" pitchFamily="49" charset="0"/>
              </a:rPr>
              <a:t>2</a:t>
            </a:r>
            <a:r>
              <a:rPr kumimoji="1" lang="zh-CN" altLang="en-US" sz="2000" dirty="0">
                <a:solidFill>
                  <a:srgbClr val="FF0000"/>
                </a:solidFill>
                <a:latin typeface="Consolas" pitchFamily="49" charset="0"/>
                <a:ea typeface="华文中宋" pitchFamily="2" charset="-122"/>
                <a:cs typeface="Consolas" pitchFamily="49" charset="0"/>
              </a:rPr>
              <a:t>、按算法空间复杂度分类</a:t>
            </a:r>
            <a:endParaRPr lang="zh-CN" altLang="en-US" sz="2000" dirty="0">
              <a:solidFill>
                <a:srgbClr val="FF0000"/>
              </a:solidFill>
              <a:latin typeface="Consolas" pitchFamily="49" charset="0"/>
              <a:ea typeface="华文中宋" pitchFamily="2" charset="-122"/>
              <a:cs typeface="Consolas" pitchFamily="49" charset="0"/>
            </a:endParaRPr>
          </a:p>
        </p:txBody>
      </p:sp>
      <p:sp>
        <p:nvSpPr>
          <p:cNvPr id="8" name="Text Box 2">
            <a:extLst>
              <a:ext uri="{FF2B5EF4-FFF2-40B4-BE49-F238E27FC236}">
                <a16:creationId xmlns:a16="http://schemas.microsoft.com/office/drawing/2014/main" id="{67F77A88-ABF0-0173-B46D-3597F55A8ABB}"/>
              </a:ext>
            </a:extLst>
          </p:cNvPr>
          <p:cNvSpPr txBox="1">
            <a:spLocks noChangeArrowheads="1"/>
          </p:cNvSpPr>
          <p:nvPr/>
        </p:nvSpPr>
        <p:spPr bwMode="auto">
          <a:xfrm>
            <a:off x="1485778" y="3421357"/>
            <a:ext cx="6357982" cy="1444975"/>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6"/>
          </a:lnRef>
          <a:fillRef idx="2">
            <a:schemeClr val="accent6"/>
          </a:fillRef>
          <a:effectRef idx="1">
            <a:schemeClr val="accent6"/>
          </a:effectRef>
          <a:fontRef idx="minor">
            <a:schemeClr val="dk1"/>
          </a:fontRef>
        </p:style>
        <p:txBody>
          <a:bodyPr wrap="square" lIns="144000" tIns="144000" rIns="144000" bIns="144000">
            <a:spAutoFit/>
          </a:bodyPr>
          <a:lstStyle/>
          <a:p>
            <a:pPr marL="457200" lvl="0" indent="-457200" algn="l">
              <a:lnSpc>
                <a:spcPts val="2200"/>
              </a:lnSpc>
              <a:spcBef>
                <a:spcPct val="50000"/>
              </a:spcBef>
              <a:buBlip>
                <a:blip r:embed="rId2"/>
              </a:buBlip>
            </a:pPr>
            <a:r>
              <a:rPr kumimoji="1" lang="en-US" altLang="zh-CN" sz="2000" dirty="0">
                <a:solidFill>
                  <a:srgbClr val="008000"/>
                </a:solidFill>
                <a:latin typeface="Consolas" pitchFamily="49" charset="0"/>
                <a:ea typeface="仿宋" pitchFamily="49" charset="-122"/>
                <a:cs typeface="Consolas" pitchFamily="49" charset="0"/>
              </a:rPr>
              <a:t>O(</a:t>
            </a:r>
            <a:r>
              <a:rPr kumimoji="1" lang="en-US" altLang="zh-CN" sz="2000" i="1" dirty="0">
                <a:solidFill>
                  <a:srgbClr val="008000"/>
                </a:solidFill>
                <a:latin typeface="Consolas" pitchFamily="49" charset="0"/>
                <a:ea typeface="仿宋" pitchFamily="49" charset="-122"/>
                <a:cs typeface="Consolas" pitchFamily="49" charset="0"/>
              </a:rPr>
              <a:t>n</a:t>
            </a:r>
            <a:r>
              <a:rPr kumimoji="1" lang="en-US" altLang="zh-CN"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归并排序，基数排序为</a:t>
            </a:r>
            <a:r>
              <a:rPr kumimoji="1" lang="en-US" altLang="zh-CN" sz="2000" dirty="0">
                <a:solidFill>
                  <a:srgbClr val="1000E4"/>
                </a:solidFill>
                <a:latin typeface="Consolas" pitchFamily="49" charset="0"/>
                <a:ea typeface="仿宋" pitchFamily="49" charset="-122"/>
                <a:cs typeface="Consolas" pitchFamily="49" charset="0"/>
              </a:rPr>
              <a:t>O(</a:t>
            </a:r>
            <a:r>
              <a:rPr kumimoji="1" lang="en-US" altLang="zh-CN" sz="2000" i="1" dirty="0">
                <a:solidFill>
                  <a:srgbClr val="1000E4"/>
                </a:solidFill>
                <a:latin typeface="Consolas" pitchFamily="49" charset="0"/>
                <a:ea typeface="仿宋" pitchFamily="49" charset="-122"/>
                <a:cs typeface="Consolas" pitchFamily="49" charset="0"/>
              </a:rPr>
              <a:t>r</a:t>
            </a:r>
            <a:r>
              <a:rPr kumimoji="1" lang="en-US" altLang="zh-CN" sz="2000" dirty="0">
                <a:solidFill>
                  <a:srgbClr val="1000E4"/>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a:t>
            </a:r>
          </a:p>
          <a:p>
            <a:pPr marL="457200" indent="-457200" algn="l">
              <a:lnSpc>
                <a:spcPts val="2200"/>
              </a:lnSpc>
              <a:spcBef>
                <a:spcPct val="50000"/>
              </a:spcBef>
              <a:buBlip>
                <a:blip r:embed="rId2"/>
              </a:buBlip>
            </a:pPr>
            <a:r>
              <a:rPr kumimoji="1" lang="en-US" altLang="zh-CN" sz="2000" dirty="0">
                <a:solidFill>
                  <a:srgbClr val="008000"/>
                </a:solidFill>
                <a:latin typeface="Consolas" pitchFamily="49" charset="0"/>
                <a:ea typeface="仿宋" pitchFamily="49" charset="-122"/>
                <a:cs typeface="Consolas" pitchFamily="49" charset="0"/>
              </a:rPr>
              <a:t>O(log</a:t>
            </a:r>
            <a:r>
              <a:rPr kumimoji="1" lang="en-US" altLang="zh-CN" sz="2000" baseline="-30000" dirty="0">
                <a:solidFill>
                  <a:srgbClr val="008000"/>
                </a:solidFill>
                <a:latin typeface="Consolas" pitchFamily="49" charset="0"/>
                <a:ea typeface="仿宋" pitchFamily="49" charset="-122"/>
                <a:cs typeface="Consolas" pitchFamily="49" charset="0"/>
              </a:rPr>
              <a:t>2</a:t>
            </a:r>
            <a:r>
              <a:rPr kumimoji="1" lang="en-US" altLang="zh-CN" sz="2000" i="1" dirty="0">
                <a:solidFill>
                  <a:srgbClr val="008000"/>
                </a:solidFill>
                <a:latin typeface="Consolas" pitchFamily="49" charset="0"/>
                <a:ea typeface="仿宋" pitchFamily="49" charset="-122"/>
                <a:cs typeface="Consolas" pitchFamily="49" charset="0"/>
              </a:rPr>
              <a:t>n</a:t>
            </a:r>
            <a:r>
              <a:rPr kumimoji="1" lang="en-US" altLang="zh-CN"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008000"/>
                </a:solidFill>
                <a:latin typeface="Consolas" pitchFamily="49" charset="0"/>
                <a:ea typeface="仿宋" pitchFamily="49" charset="-122"/>
                <a:cs typeface="Consolas" pitchFamily="49" charset="0"/>
              </a:rPr>
              <a:t>：</a:t>
            </a:r>
            <a:r>
              <a:rPr kumimoji="1" lang="zh-CN" altLang="en-US" sz="2000" dirty="0">
                <a:solidFill>
                  <a:srgbClr val="1000E4"/>
                </a:solidFill>
                <a:latin typeface="Consolas" pitchFamily="49" charset="0"/>
                <a:ea typeface="仿宋" pitchFamily="49" charset="-122"/>
                <a:cs typeface="Consolas" pitchFamily="49" charset="0"/>
              </a:rPr>
              <a:t>快速排序。</a:t>
            </a:r>
          </a:p>
          <a:p>
            <a:pPr marL="457200" indent="-457200" algn="l">
              <a:lnSpc>
                <a:spcPts val="2200"/>
              </a:lnSpc>
              <a:spcBef>
                <a:spcPct val="50000"/>
              </a:spcBef>
              <a:buBlip>
                <a:blip r:embed="rId2"/>
              </a:buBlip>
            </a:pPr>
            <a:r>
              <a:rPr kumimoji="1" lang="en-US" altLang="zh-CN" sz="2000" dirty="0">
                <a:solidFill>
                  <a:srgbClr val="008000"/>
                </a:solidFill>
                <a:latin typeface="Consolas" pitchFamily="49" charset="0"/>
                <a:ea typeface="仿宋" pitchFamily="49" charset="-122"/>
                <a:cs typeface="Consolas" pitchFamily="49" charset="0"/>
              </a:rPr>
              <a:t>O(1)</a:t>
            </a:r>
            <a:r>
              <a:rPr kumimoji="1" lang="zh-CN" altLang="en-US" sz="2000" dirty="0">
                <a:solidFill>
                  <a:srgbClr val="008000"/>
                </a:solidFill>
                <a:latin typeface="Consolas" pitchFamily="49" charset="0"/>
                <a:ea typeface="仿宋" pitchFamily="49" charset="-122"/>
                <a:cs typeface="Consolas" pitchFamily="49" charset="0"/>
              </a:rPr>
              <a:t> ：</a:t>
            </a:r>
            <a:r>
              <a:rPr kumimoji="1" lang="zh-CN" altLang="en-US" sz="2000" dirty="0">
                <a:solidFill>
                  <a:srgbClr val="1000E4"/>
                </a:solidFill>
                <a:latin typeface="Consolas" pitchFamily="49" charset="0"/>
                <a:ea typeface="仿宋" pitchFamily="49" charset="-122"/>
                <a:cs typeface="Consolas" pitchFamily="49" charset="0"/>
              </a:rPr>
              <a:t>其他排序方法。 </a:t>
            </a:r>
          </a:p>
        </p:txBody>
      </p:sp>
      <p:sp>
        <p:nvSpPr>
          <p:cNvPr id="9" name="TextBox 2">
            <a:extLst>
              <a:ext uri="{FF2B5EF4-FFF2-40B4-BE49-F238E27FC236}">
                <a16:creationId xmlns:a16="http://schemas.microsoft.com/office/drawing/2014/main" id="{D61511A7-810A-67F6-09F2-3656153F9A26}"/>
              </a:ext>
            </a:extLst>
          </p:cNvPr>
          <p:cNvSpPr txBox="1"/>
          <p:nvPr/>
        </p:nvSpPr>
        <p:spPr>
          <a:xfrm>
            <a:off x="839416" y="5028544"/>
            <a:ext cx="5143536" cy="400110"/>
          </a:xfrm>
          <a:prstGeom prst="rect">
            <a:avLst/>
          </a:prstGeom>
          <a:noFill/>
        </p:spPr>
        <p:txBody>
          <a:bodyPr wrap="square" rtlCol="0">
            <a:spAutoFit/>
          </a:bodyPr>
          <a:lstStyle/>
          <a:p>
            <a:pPr algn="l"/>
            <a:r>
              <a:rPr kumimoji="1" lang="en-US" altLang="zh-CN" sz="2000" dirty="0">
                <a:solidFill>
                  <a:srgbClr val="FF0000"/>
                </a:solidFill>
                <a:latin typeface="Consolas" pitchFamily="49" charset="0"/>
                <a:ea typeface="华文中宋" pitchFamily="2" charset="-122"/>
                <a:cs typeface="Consolas" pitchFamily="49" charset="0"/>
              </a:rPr>
              <a:t>3</a:t>
            </a:r>
            <a:r>
              <a:rPr kumimoji="1" lang="zh-CN" altLang="en-US" sz="2000" dirty="0">
                <a:solidFill>
                  <a:srgbClr val="FF0000"/>
                </a:solidFill>
                <a:latin typeface="Consolas" pitchFamily="49" charset="0"/>
                <a:ea typeface="华文中宋" pitchFamily="2" charset="-122"/>
                <a:cs typeface="Consolas" pitchFamily="49" charset="0"/>
              </a:rPr>
              <a:t>、按算法稳定性分类</a:t>
            </a:r>
            <a:endParaRPr lang="zh-CN" altLang="en-US" sz="2000" dirty="0">
              <a:solidFill>
                <a:srgbClr val="FF0000"/>
              </a:solidFill>
              <a:latin typeface="Consolas" pitchFamily="49" charset="0"/>
              <a:ea typeface="华文中宋" pitchFamily="2" charset="-122"/>
              <a:cs typeface="Consolas" pitchFamily="49" charset="0"/>
            </a:endParaRPr>
          </a:p>
        </p:txBody>
      </p:sp>
      <p:sp>
        <p:nvSpPr>
          <p:cNvPr id="10" name="Text Box 2">
            <a:extLst>
              <a:ext uri="{FF2B5EF4-FFF2-40B4-BE49-F238E27FC236}">
                <a16:creationId xmlns:a16="http://schemas.microsoft.com/office/drawing/2014/main" id="{0D709AA4-8C01-B82C-B308-1A58CEC99F58}"/>
              </a:ext>
            </a:extLst>
          </p:cNvPr>
          <p:cNvSpPr txBox="1">
            <a:spLocks noChangeArrowheads="1"/>
          </p:cNvSpPr>
          <p:nvPr/>
        </p:nvSpPr>
        <p:spPr bwMode="auto">
          <a:xfrm>
            <a:off x="1485778" y="5442717"/>
            <a:ext cx="7215238" cy="1008958"/>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6"/>
          </a:lnRef>
          <a:fillRef idx="2">
            <a:schemeClr val="accent6"/>
          </a:fillRef>
          <a:effectRef idx="1">
            <a:schemeClr val="accent6"/>
          </a:effectRef>
          <a:fontRef idx="minor">
            <a:schemeClr val="dk1"/>
          </a:fontRef>
        </p:style>
        <p:txBody>
          <a:bodyPr wrap="square" lIns="144000" tIns="144000" rIns="144000" bIns="144000">
            <a:spAutoFit/>
          </a:bodyPr>
          <a:lstStyle/>
          <a:p>
            <a:pPr marL="457200" lvl="0" indent="-457200" algn="l">
              <a:lnSpc>
                <a:spcPts val="2200"/>
              </a:lnSpc>
              <a:spcBef>
                <a:spcPct val="50000"/>
              </a:spcBef>
              <a:buBlip>
                <a:blip r:embed="rId2"/>
              </a:buBlip>
            </a:pPr>
            <a:r>
              <a:rPr kumimoji="1" lang="zh-CN" altLang="en-US" sz="2000" dirty="0">
                <a:solidFill>
                  <a:srgbClr val="008000"/>
                </a:solidFill>
                <a:latin typeface="Consolas" pitchFamily="49" charset="0"/>
                <a:ea typeface="仿宋" pitchFamily="49" charset="-122"/>
                <a:cs typeface="Consolas" pitchFamily="49" charset="0"/>
              </a:rPr>
              <a:t>不稳定的：</a:t>
            </a:r>
            <a:r>
              <a:rPr kumimoji="1" lang="zh-CN" altLang="en-US" sz="2000" dirty="0">
                <a:solidFill>
                  <a:srgbClr val="1000E4"/>
                </a:solidFill>
                <a:latin typeface="Consolas" pitchFamily="49" charset="0"/>
                <a:ea typeface="仿宋" pitchFamily="49" charset="-122"/>
                <a:cs typeface="Consolas" pitchFamily="49" charset="0"/>
              </a:rPr>
              <a:t>希尔排序、快速排序、堆排序、简单选择排序。</a:t>
            </a:r>
          </a:p>
          <a:p>
            <a:pPr marL="457200" indent="-457200" algn="l">
              <a:lnSpc>
                <a:spcPts val="2200"/>
              </a:lnSpc>
              <a:spcBef>
                <a:spcPct val="50000"/>
              </a:spcBef>
              <a:buBlip>
                <a:blip r:embed="rId2"/>
              </a:buBlip>
            </a:pPr>
            <a:r>
              <a:rPr kumimoji="1" lang="zh-CN" altLang="en-US" sz="2000" dirty="0">
                <a:solidFill>
                  <a:srgbClr val="008000"/>
                </a:solidFill>
                <a:latin typeface="Consolas" pitchFamily="49" charset="0"/>
                <a:ea typeface="仿宋" pitchFamily="49" charset="-122"/>
                <a:cs typeface="Consolas" pitchFamily="49" charset="0"/>
              </a:rPr>
              <a:t>稳定的：</a:t>
            </a:r>
            <a:r>
              <a:rPr kumimoji="1" lang="zh-CN" altLang="en-US" sz="2000" dirty="0">
                <a:solidFill>
                  <a:srgbClr val="1000E4"/>
                </a:solidFill>
                <a:latin typeface="Consolas" pitchFamily="49" charset="0"/>
                <a:ea typeface="仿宋" pitchFamily="49" charset="-122"/>
                <a:cs typeface="Consolas" pitchFamily="49" charset="0"/>
              </a:rPr>
              <a:t>其他排序方法。 </a:t>
            </a:r>
          </a:p>
        </p:txBody>
      </p:sp>
    </p:spTree>
    <p:extLst>
      <p:ext uri="{BB962C8B-B14F-4D97-AF65-F5344CB8AC3E}">
        <p14:creationId xmlns:p14="http://schemas.microsoft.com/office/powerpoint/2010/main" val="2902697860"/>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5D152-7819-9F23-6D91-88C7BD8DCBC4}"/>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46B60AF4-54C8-6FB5-0B63-FCC26CA12963}"/>
              </a:ext>
            </a:extLst>
          </p:cNvPr>
          <p:cNvSpPr/>
          <p:nvPr/>
        </p:nvSpPr>
        <p:spPr>
          <a:xfrm>
            <a:off x="3575720" y="332656"/>
            <a:ext cx="5040560"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10.7 </a:t>
            </a:r>
            <a:r>
              <a:rPr lang="zh-CN" altLang="en-US" sz="3000" b="1" dirty="0">
                <a:latin typeface="黑体" pitchFamily="49" charset="-122"/>
                <a:ea typeface="黑体" pitchFamily="49" charset="-122"/>
                <a:cs typeface="经典粗黑简" pitchFamily="49" charset="-122"/>
              </a:rPr>
              <a:t>各种内排序方法的比较</a:t>
            </a:r>
          </a:p>
        </p:txBody>
      </p:sp>
      <p:cxnSp>
        <p:nvCxnSpPr>
          <p:cNvPr id="2" name="直接连接符 1">
            <a:extLst>
              <a:ext uri="{FF2B5EF4-FFF2-40B4-BE49-F238E27FC236}">
                <a16:creationId xmlns:a16="http://schemas.microsoft.com/office/drawing/2014/main" id="{882A8CC0-35C4-A857-EF14-47CD3D7B48E9}"/>
              </a:ext>
            </a:extLst>
          </p:cNvPr>
          <p:cNvCxnSpPr>
            <a:cxnSpLocks/>
          </p:cNvCxnSpPr>
          <p:nvPr/>
        </p:nvCxnSpPr>
        <p:spPr>
          <a:xfrm>
            <a:off x="0" y="98072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 Box 2">
            <a:extLst>
              <a:ext uri="{FF2B5EF4-FFF2-40B4-BE49-F238E27FC236}">
                <a16:creationId xmlns:a16="http://schemas.microsoft.com/office/drawing/2014/main" id="{18DCF892-8815-FCC7-30E4-EA0F343CD8A9}"/>
              </a:ext>
            </a:extLst>
          </p:cNvPr>
          <p:cNvSpPr txBox="1">
            <a:spLocks noChangeArrowheads="1"/>
          </p:cNvSpPr>
          <p:nvPr/>
        </p:nvSpPr>
        <p:spPr bwMode="auto">
          <a:xfrm>
            <a:off x="1854938" y="1396781"/>
            <a:ext cx="8135937" cy="3323987"/>
          </a:xfrm>
          <a:prstGeom prst="rect">
            <a:avLst/>
          </a:prstGeom>
          <a:noFill/>
          <a:ln w="9525">
            <a:noFill/>
            <a:miter lim="800000"/>
            <a:headEnd/>
            <a:tailEnd/>
          </a:ln>
          <a:effectLst/>
          <a:scene3d>
            <a:camera prst="orthographicFront">
              <a:rot lat="0" lon="0" rev="0"/>
            </a:camera>
            <a:lightRig rig="contrasting" dir="t">
              <a:rot lat="0" lon="0" rev="1500000"/>
            </a:lightRig>
          </a:scene3d>
          <a:sp3d prstMaterial="metal">
            <a:bevelT w="88900" h="88900"/>
          </a:sp3d>
        </p:spPr>
        <p:txBody>
          <a:bodyPr>
            <a:spAutoFit/>
          </a:bodyPr>
          <a:lstStyle/>
          <a:p>
            <a:pPr algn="l">
              <a:lnSpc>
                <a:spcPct val="150000"/>
              </a:lnSpc>
            </a:pPr>
            <a:r>
              <a:rPr lang="zh-CN" altLang="en-US" sz="2000" dirty="0">
                <a:latin typeface="Consolas" pitchFamily="49" charset="0"/>
                <a:ea typeface="楷体" pitchFamily="49" charset="-122"/>
                <a:cs typeface="Consolas" pitchFamily="49" charset="0"/>
              </a:rPr>
              <a:t>   对一组数据</a:t>
            </a:r>
            <a:r>
              <a:rPr lang="en-US" altLang="zh-CN" sz="2000" dirty="0">
                <a:latin typeface="Consolas" pitchFamily="49" charset="0"/>
                <a:ea typeface="楷体" pitchFamily="49" charset="-122"/>
                <a:cs typeface="Consolas" pitchFamily="49" charset="0"/>
              </a:rPr>
              <a:t>(2,12,16,88,5,10)</a:t>
            </a:r>
            <a:r>
              <a:rPr lang="zh-CN" altLang="en-US" sz="2000" dirty="0">
                <a:latin typeface="Consolas" pitchFamily="49" charset="0"/>
                <a:ea typeface="楷体" pitchFamily="49" charset="-122"/>
                <a:cs typeface="Consolas" pitchFamily="49" charset="0"/>
              </a:rPr>
              <a:t>进行排序，若前三趟的结果如下：</a:t>
            </a:r>
          </a:p>
          <a:p>
            <a:pPr algn="l">
              <a:lnSpc>
                <a:spcPct val="150000"/>
              </a:lnSpc>
            </a:pPr>
            <a:r>
              <a:rPr lang="zh-CN" altLang="en-US" sz="2000" dirty="0">
                <a:latin typeface="Consolas" pitchFamily="49" charset="0"/>
                <a:ea typeface="仿宋" pitchFamily="49" charset="-122"/>
                <a:cs typeface="Consolas" pitchFamily="49" charset="0"/>
              </a:rPr>
              <a:t>     第</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趟：</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16</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5</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10</a:t>
            </a:r>
            <a:r>
              <a:rPr lang="zh-CN" altLang="en-US" sz="2000" dirty="0">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88</a:t>
            </a:r>
          </a:p>
          <a:p>
            <a:pPr algn="l">
              <a:lnSpc>
                <a:spcPct val="150000"/>
              </a:lnSpc>
            </a:pPr>
            <a:r>
              <a:rPr lang="en-US" altLang="zh-CN" sz="2000" dirty="0">
                <a:latin typeface="Consolas" pitchFamily="49" charset="0"/>
                <a:ea typeface="仿宋" pitchFamily="49" charset="-122"/>
                <a:cs typeface="Consolas" pitchFamily="49" charset="0"/>
              </a:rPr>
              <a:t>     </a:t>
            </a:r>
            <a:r>
              <a:rPr lang="zh-CN" altLang="en-US" sz="2000" dirty="0">
                <a:latin typeface="Consolas" pitchFamily="49" charset="0"/>
                <a:ea typeface="仿宋" pitchFamily="49" charset="-122"/>
                <a:cs typeface="Consolas" pitchFamily="49" charset="0"/>
              </a:rPr>
              <a:t>第</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趟：</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5</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10</a:t>
            </a:r>
            <a:r>
              <a:rPr lang="zh-CN" altLang="en-US" sz="2000" dirty="0">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16</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88</a:t>
            </a:r>
          </a:p>
          <a:p>
            <a:pPr algn="l">
              <a:lnSpc>
                <a:spcPct val="150000"/>
              </a:lnSpc>
            </a:pPr>
            <a:r>
              <a:rPr lang="en-US" altLang="zh-CN" sz="2000" dirty="0">
                <a:latin typeface="Consolas" pitchFamily="49" charset="0"/>
                <a:ea typeface="仿宋" pitchFamily="49" charset="-122"/>
                <a:cs typeface="Consolas" pitchFamily="49" charset="0"/>
              </a:rPr>
              <a:t>     </a:t>
            </a:r>
            <a:r>
              <a:rPr lang="zh-CN" altLang="en-US" sz="2000" dirty="0">
                <a:latin typeface="Consolas" pitchFamily="49" charset="0"/>
                <a:ea typeface="仿宋" pitchFamily="49" charset="-122"/>
                <a:cs typeface="Consolas" pitchFamily="49" charset="0"/>
              </a:rPr>
              <a:t>第</a:t>
            </a:r>
            <a:r>
              <a:rPr lang="en-US" altLang="zh-CN" sz="2000" dirty="0">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趟：</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5</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10</a:t>
            </a:r>
            <a:r>
              <a:rPr lang="zh-CN" altLang="en-US" sz="2000" dirty="0">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12</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16</a:t>
            </a:r>
            <a:r>
              <a:rPr lang="zh-CN" altLang="en-US" sz="2000" dirty="0">
                <a:latin typeface="Consolas" pitchFamily="49" charset="0"/>
                <a:ea typeface="仿宋" pitchFamily="49" charset="-122"/>
                <a:cs typeface="Consolas" pitchFamily="49" charset="0"/>
              </a:rPr>
              <a:t>，</a:t>
            </a:r>
            <a:r>
              <a:rPr lang="en-US" altLang="zh-CN" sz="2000" dirty="0">
                <a:latin typeface="Consolas" pitchFamily="49" charset="0"/>
                <a:ea typeface="仿宋" pitchFamily="49" charset="-122"/>
                <a:cs typeface="Consolas" pitchFamily="49" charset="0"/>
              </a:rPr>
              <a:t>88</a:t>
            </a:r>
          </a:p>
          <a:p>
            <a:pPr algn="l">
              <a:lnSpc>
                <a:spcPct val="150000"/>
              </a:lnSpc>
            </a:pPr>
            <a:r>
              <a:rPr lang="zh-CN" altLang="en-US" sz="2000" dirty="0">
                <a:latin typeface="Consolas" pitchFamily="49" charset="0"/>
                <a:ea typeface="楷体" pitchFamily="49" charset="-122"/>
                <a:cs typeface="Consolas" pitchFamily="49" charset="0"/>
              </a:rPr>
              <a:t>则采用的排序方法可能是（ ）。</a:t>
            </a:r>
          </a:p>
          <a:p>
            <a:pPr algn="l">
              <a:lnSpc>
                <a:spcPct val="150000"/>
              </a:lnSpc>
            </a:pPr>
            <a:r>
              <a:rPr lang="zh-CN" altLang="en-US" sz="2000" dirty="0">
                <a:latin typeface="Consolas" pitchFamily="49" charset="0"/>
                <a:ea typeface="仿宋" pitchFamily="49" charset="-122"/>
                <a:cs typeface="Consolas" pitchFamily="49" charset="0"/>
              </a:rPr>
              <a:t>    </a:t>
            </a:r>
            <a:r>
              <a:rPr lang="en-US" altLang="zh-CN" sz="2000" dirty="0">
                <a:solidFill>
                  <a:srgbClr val="F92D37"/>
                </a:solidFill>
                <a:latin typeface="Consolas" pitchFamily="49" charset="0"/>
                <a:ea typeface="仿宋" pitchFamily="49" charset="-122"/>
                <a:cs typeface="Consolas" pitchFamily="49" charset="0"/>
              </a:rPr>
              <a:t>A. </a:t>
            </a:r>
            <a:r>
              <a:rPr lang="zh-CN" altLang="en-US" sz="2000" dirty="0">
                <a:solidFill>
                  <a:srgbClr val="F92D37"/>
                </a:solidFill>
                <a:latin typeface="Consolas" pitchFamily="49" charset="0"/>
                <a:ea typeface="仿宋" pitchFamily="49" charset="-122"/>
                <a:cs typeface="Consolas" pitchFamily="49" charset="0"/>
              </a:rPr>
              <a:t>冒泡排序</a:t>
            </a:r>
            <a:r>
              <a:rPr lang="zh-CN" altLang="en-US" sz="2000" dirty="0">
                <a:latin typeface="Consolas" pitchFamily="49" charset="0"/>
                <a:ea typeface="仿宋" pitchFamily="49" charset="-122"/>
                <a:cs typeface="Consolas" pitchFamily="49" charset="0"/>
              </a:rPr>
              <a:t>			</a:t>
            </a:r>
            <a:r>
              <a:rPr lang="en-US" altLang="zh-CN" sz="2000" dirty="0">
                <a:latin typeface="Consolas" pitchFamily="49" charset="0"/>
                <a:ea typeface="仿宋" pitchFamily="49" charset="-122"/>
                <a:cs typeface="Consolas" pitchFamily="49" charset="0"/>
              </a:rPr>
              <a:t>B. </a:t>
            </a:r>
            <a:r>
              <a:rPr lang="zh-CN" altLang="en-US" sz="2000" dirty="0">
                <a:latin typeface="Consolas" pitchFamily="49" charset="0"/>
                <a:ea typeface="仿宋" pitchFamily="49" charset="-122"/>
                <a:cs typeface="Consolas" pitchFamily="49" charset="0"/>
              </a:rPr>
              <a:t>希尔排序</a:t>
            </a:r>
          </a:p>
          <a:p>
            <a:pPr algn="l">
              <a:lnSpc>
                <a:spcPct val="150000"/>
              </a:lnSpc>
            </a:pPr>
            <a:r>
              <a:rPr lang="zh-CN" altLang="en-US" sz="2000" dirty="0">
                <a:latin typeface="Consolas" pitchFamily="49" charset="0"/>
                <a:ea typeface="仿宋" pitchFamily="49" charset="-122"/>
                <a:cs typeface="Consolas" pitchFamily="49" charset="0"/>
              </a:rPr>
              <a:t>    </a:t>
            </a:r>
            <a:r>
              <a:rPr lang="en-US" altLang="zh-CN" sz="2000" dirty="0">
                <a:latin typeface="Consolas" pitchFamily="49" charset="0"/>
                <a:ea typeface="仿宋" pitchFamily="49" charset="-122"/>
                <a:cs typeface="Consolas" pitchFamily="49" charset="0"/>
              </a:rPr>
              <a:t>C. </a:t>
            </a:r>
            <a:r>
              <a:rPr lang="zh-CN" altLang="en-US" sz="2000" dirty="0">
                <a:latin typeface="Consolas" pitchFamily="49" charset="0"/>
                <a:ea typeface="仿宋" pitchFamily="49" charset="-122"/>
                <a:cs typeface="Consolas" pitchFamily="49" charset="0"/>
              </a:rPr>
              <a:t>二路归并排序		</a:t>
            </a:r>
            <a:r>
              <a:rPr lang="en-US" altLang="zh-CN" sz="2000" dirty="0">
                <a:latin typeface="Consolas" pitchFamily="49" charset="0"/>
                <a:ea typeface="仿宋" pitchFamily="49" charset="-122"/>
                <a:cs typeface="Consolas" pitchFamily="49" charset="0"/>
              </a:rPr>
              <a:t>D. </a:t>
            </a:r>
            <a:r>
              <a:rPr lang="zh-CN" altLang="en-US" sz="2000" dirty="0">
                <a:latin typeface="Consolas" pitchFamily="49" charset="0"/>
                <a:ea typeface="仿宋" pitchFamily="49" charset="-122"/>
                <a:cs typeface="Consolas" pitchFamily="49" charset="0"/>
              </a:rPr>
              <a:t>基数排序</a:t>
            </a:r>
          </a:p>
        </p:txBody>
      </p:sp>
      <p:sp>
        <p:nvSpPr>
          <p:cNvPr id="4" name="Text Box 3">
            <a:extLst>
              <a:ext uri="{FF2B5EF4-FFF2-40B4-BE49-F238E27FC236}">
                <a16:creationId xmlns:a16="http://schemas.microsoft.com/office/drawing/2014/main" id="{5F3BE8EC-F240-460C-954A-CE3F6B3E07EF}"/>
              </a:ext>
            </a:extLst>
          </p:cNvPr>
          <p:cNvSpPr txBox="1">
            <a:spLocks noChangeArrowheads="1"/>
          </p:cNvSpPr>
          <p:nvPr/>
        </p:nvSpPr>
        <p:spPr bwMode="auto">
          <a:xfrm>
            <a:off x="2783632" y="4725144"/>
            <a:ext cx="4214842" cy="400110"/>
          </a:xfrm>
          <a:prstGeom prst="rect">
            <a:avLst/>
          </a:prstGeom>
          <a:noFill/>
          <a:ln w="9525">
            <a:noFill/>
            <a:miter lim="800000"/>
            <a:headEnd/>
            <a:tailEnd/>
          </a:ln>
          <a:effectLst/>
        </p:spPr>
        <p:txBody>
          <a:bodyPr wrap="square">
            <a:spAutoFit/>
          </a:bodyPr>
          <a:lstStyle/>
          <a:p>
            <a:pPr>
              <a:spcBef>
                <a:spcPct val="50000"/>
              </a:spcBef>
            </a:pPr>
            <a:r>
              <a:rPr lang="zh-CN" altLang="en-US" sz="2000">
                <a:solidFill>
                  <a:srgbClr val="FF3300"/>
                </a:solidFill>
                <a:latin typeface="Consolas" pitchFamily="49" charset="0"/>
                <a:ea typeface="楷体" pitchFamily="49" charset="-122"/>
                <a:cs typeface="Consolas" pitchFamily="49" charset="0"/>
              </a:rPr>
              <a:t>说明：本题为</a:t>
            </a:r>
            <a:r>
              <a:rPr lang="en-US" altLang="zh-CN" sz="2000">
                <a:solidFill>
                  <a:srgbClr val="FF3300"/>
                </a:solidFill>
                <a:latin typeface="Consolas" pitchFamily="49" charset="0"/>
                <a:ea typeface="楷体" pitchFamily="49" charset="-122"/>
                <a:cs typeface="Consolas" pitchFamily="49" charset="0"/>
              </a:rPr>
              <a:t>2010</a:t>
            </a:r>
            <a:r>
              <a:rPr lang="zh-CN" altLang="en-US" sz="2000">
                <a:solidFill>
                  <a:srgbClr val="FF3300"/>
                </a:solidFill>
                <a:latin typeface="Consolas" pitchFamily="49" charset="0"/>
                <a:ea typeface="楷体" pitchFamily="49" charset="-122"/>
                <a:cs typeface="Consolas" pitchFamily="49" charset="0"/>
              </a:rPr>
              <a:t>年全国考研题 </a:t>
            </a:r>
          </a:p>
        </p:txBody>
      </p:sp>
    </p:spTree>
    <p:extLst>
      <p:ext uri="{BB962C8B-B14F-4D97-AF65-F5344CB8AC3E}">
        <p14:creationId xmlns:p14="http://schemas.microsoft.com/office/powerpoint/2010/main" val="757217998"/>
      </p:ext>
    </p:extLst>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2456</TotalTime>
  <Words>11049</Words>
  <Application>Microsoft Office PowerPoint</Application>
  <PresentationFormat>宽屏</PresentationFormat>
  <Paragraphs>2225</Paragraphs>
  <Slides>100</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100</vt:i4>
      </vt:variant>
    </vt:vector>
  </HeadingPairs>
  <TitlesOfParts>
    <vt:vector size="116" baseType="lpstr">
      <vt:lpstr>方正启体简体</vt:lpstr>
      <vt:lpstr>仿宋</vt:lpstr>
      <vt:lpstr>黑体</vt:lpstr>
      <vt:lpstr>经典粗黑简</vt:lpstr>
      <vt:lpstr>楷体</vt:lpstr>
      <vt:lpstr>楷体_GB2312</vt:lpstr>
      <vt:lpstr>宋体</vt:lpstr>
      <vt:lpstr>微软雅黑</vt:lpstr>
      <vt:lpstr>Arial</vt:lpstr>
      <vt:lpstr>Calibri</vt:lpstr>
      <vt:lpstr>Consolas</vt:lpstr>
      <vt:lpstr>Tahoma</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快速排序中的一趟划分</vt:lpstr>
      <vt:lpstr>快速排序中的一趟划分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①、初始建堆</vt:lpstr>
      <vt:lpstr>PowerPoint 演示文稿</vt:lpstr>
      <vt:lpstr>PowerPoint 演示文稿</vt:lpstr>
      <vt:lpstr>PowerPoint 演示文稿</vt:lpstr>
      <vt:lpstr>①、初始建堆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堆排序算法分析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丽娟 徐</cp:lastModifiedBy>
  <cp:revision>291</cp:revision>
  <dcterms:created xsi:type="dcterms:W3CDTF">2021-02-25T03:49:55Z</dcterms:created>
  <dcterms:modified xsi:type="dcterms:W3CDTF">2025-10-18T05:36:01Z</dcterms:modified>
</cp:coreProperties>
</file>