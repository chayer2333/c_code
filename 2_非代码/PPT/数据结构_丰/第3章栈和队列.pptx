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5"/>
  </p:notesMasterIdLst>
  <p:sldIdLst>
    <p:sldId id="744" r:id="rId2"/>
    <p:sldId id="333" r:id="rId3"/>
    <p:sldId id="571" r:id="rId4"/>
    <p:sldId id="575" r:id="rId5"/>
    <p:sldId id="576" r:id="rId6"/>
    <p:sldId id="577" r:id="rId7"/>
    <p:sldId id="578" r:id="rId8"/>
    <p:sldId id="579" r:id="rId9"/>
    <p:sldId id="580" r:id="rId10"/>
    <p:sldId id="581" r:id="rId11"/>
    <p:sldId id="583" r:id="rId12"/>
    <p:sldId id="689" r:id="rId13"/>
    <p:sldId id="586" r:id="rId14"/>
    <p:sldId id="752" r:id="rId15"/>
    <p:sldId id="753" r:id="rId16"/>
    <p:sldId id="690" r:id="rId17"/>
    <p:sldId id="754" r:id="rId18"/>
    <p:sldId id="691" r:id="rId19"/>
    <p:sldId id="755" r:id="rId20"/>
    <p:sldId id="692" r:id="rId21"/>
    <p:sldId id="693" r:id="rId22"/>
    <p:sldId id="756" r:id="rId23"/>
    <p:sldId id="757" r:id="rId24"/>
    <p:sldId id="758" r:id="rId25"/>
    <p:sldId id="759" r:id="rId26"/>
    <p:sldId id="762" r:id="rId27"/>
    <p:sldId id="763" r:id="rId28"/>
    <p:sldId id="694" r:id="rId29"/>
    <p:sldId id="695" r:id="rId30"/>
    <p:sldId id="764" r:id="rId31"/>
    <p:sldId id="696" r:id="rId32"/>
    <p:sldId id="765" r:id="rId33"/>
    <p:sldId id="766" r:id="rId34"/>
    <p:sldId id="697" r:id="rId35"/>
    <p:sldId id="768" r:id="rId36"/>
    <p:sldId id="769" r:id="rId37"/>
    <p:sldId id="699" r:id="rId38"/>
    <p:sldId id="770" r:id="rId39"/>
    <p:sldId id="771" r:id="rId40"/>
    <p:sldId id="772" r:id="rId41"/>
    <p:sldId id="773" r:id="rId42"/>
    <p:sldId id="774" r:id="rId43"/>
    <p:sldId id="775" r:id="rId44"/>
    <p:sldId id="776" r:id="rId45"/>
    <p:sldId id="706" r:id="rId46"/>
    <p:sldId id="714" r:id="rId47"/>
    <p:sldId id="795" r:id="rId48"/>
    <p:sldId id="668" r:id="rId49"/>
    <p:sldId id="669" r:id="rId50"/>
    <p:sldId id="796" r:id="rId51"/>
    <p:sldId id="797" r:id="rId52"/>
    <p:sldId id="798" r:id="rId53"/>
    <p:sldId id="799" r:id="rId54"/>
    <p:sldId id="800" r:id="rId55"/>
    <p:sldId id="801" r:id="rId56"/>
    <p:sldId id="802" r:id="rId57"/>
    <p:sldId id="803" r:id="rId58"/>
    <p:sldId id="805" r:id="rId59"/>
    <p:sldId id="804" r:id="rId60"/>
    <p:sldId id="806" r:id="rId61"/>
    <p:sldId id="807" r:id="rId62"/>
    <p:sldId id="809" r:id="rId63"/>
    <p:sldId id="808" r:id="rId64"/>
    <p:sldId id="810" r:id="rId65"/>
    <p:sldId id="811" r:id="rId66"/>
    <p:sldId id="812" r:id="rId67"/>
    <p:sldId id="813" r:id="rId68"/>
    <p:sldId id="814" r:id="rId69"/>
    <p:sldId id="650" r:id="rId70"/>
    <p:sldId id="651" r:id="rId71"/>
    <p:sldId id="815" r:id="rId72"/>
    <p:sldId id="816" r:id="rId73"/>
    <p:sldId id="817" r:id="rId74"/>
    <p:sldId id="818" r:id="rId75"/>
    <p:sldId id="822" r:id="rId76"/>
    <p:sldId id="823" r:id="rId77"/>
    <p:sldId id="819" r:id="rId78"/>
    <p:sldId id="820" r:id="rId79"/>
    <p:sldId id="821" r:id="rId80"/>
    <p:sldId id="824" r:id="rId81"/>
    <p:sldId id="825" r:id="rId82"/>
    <p:sldId id="826" r:id="rId83"/>
    <p:sldId id="827" r:id="rId84"/>
    <p:sldId id="828" r:id="rId85"/>
    <p:sldId id="829" r:id="rId86"/>
    <p:sldId id="830" r:id="rId87"/>
    <p:sldId id="831" r:id="rId88"/>
    <p:sldId id="832" r:id="rId89"/>
    <p:sldId id="833" r:id="rId90"/>
    <p:sldId id="834" r:id="rId91"/>
    <p:sldId id="835" r:id="rId92"/>
    <p:sldId id="836" r:id="rId93"/>
    <p:sldId id="837" r:id="rId94"/>
    <p:sldId id="838" r:id="rId95"/>
    <p:sldId id="839" r:id="rId96"/>
    <p:sldId id="840" r:id="rId97"/>
    <p:sldId id="842" r:id="rId98"/>
    <p:sldId id="843" r:id="rId99"/>
    <p:sldId id="844" r:id="rId100"/>
    <p:sldId id="845" r:id="rId101"/>
    <p:sldId id="476" r:id="rId102"/>
    <p:sldId id="477" r:id="rId103"/>
    <p:sldId id="751" r:id="rId10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47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34CBF-F2A7-4204-8063-9BFDC9C0A20E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859C8-35D3-4E84-A3D2-815F7F7E38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83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84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85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72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12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00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86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34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733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14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02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05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3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3512" y="383177"/>
            <a:ext cx="8784976" cy="925286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黑体" pitchFamily="49" charset="-122"/>
                <a:ea typeface="黑体" pitchFamily="49" charset="-122"/>
                <a:cs typeface="+mn-cs"/>
              </a:rPr>
              <a:t>第</a:t>
            </a:r>
            <a:r>
              <a:rPr lang="en-US" altLang="zh-CN" b="1" dirty="0">
                <a:latin typeface="黑体" pitchFamily="49" charset="-122"/>
                <a:ea typeface="黑体" pitchFamily="49" charset="-122"/>
                <a:cs typeface="+mn-cs"/>
              </a:rPr>
              <a:t>3</a:t>
            </a:r>
            <a:r>
              <a:rPr lang="zh-CN" altLang="en-US" b="1" dirty="0">
                <a:latin typeface="黑体" pitchFamily="49" charset="-122"/>
                <a:ea typeface="黑体" pitchFamily="49" charset="-122"/>
                <a:cs typeface="+mn-cs"/>
              </a:rPr>
              <a:t>章 栈和队列</a:t>
            </a:r>
            <a:endParaRPr lang="en-US" altLang="zh-CN" dirty="0"/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 flipH="1">
            <a:off x="0" y="1419497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157928" y="2780928"/>
            <a:ext cx="1876146" cy="5847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3.1 栈</a:t>
            </a:r>
          </a:p>
        </p:txBody>
      </p:sp>
      <p:sp>
        <p:nvSpPr>
          <p:cNvPr id="14" name="矩形 13"/>
          <p:cNvSpPr/>
          <p:nvPr/>
        </p:nvSpPr>
        <p:spPr>
          <a:xfrm>
            <a:off x="5157927" y="3933056"/>
            <a:ext cx="1876146" cy="5847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 队列</a:t>
            </a:r>
          </a:p>
        </p:txBody>
      </p:sp>
    </p:spTree>
    <p:extLst>
      <p:ext uri="{BB962C8B-B14F-4D97-AF65-F5344CB8AC3E}">
        <p14:creationId xmlns:p14="http://schemas.microsoft.com/office/powerpoint/2010/main" val="161245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"/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2" name="矩形 1"/>
          <p:cNvSpPr/>
          <p:nvPr/>
        </p:nvSpPr>
        <p:spPr>
          <a:xfrm>
            <a:off x="713642" y="1091060"/>
            <a:ext cx="280450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栈的定义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2014541" y="2311384"/>
            <a:ext cx="7791000" cy="46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Stack)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是仅限定在表尾进行插入和删除操作的线性表。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graphicFrame>
        <p:nvGraphicFramePr>
          <p:cNvPr id="32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41617"/>
              </p:ext>
            </p:extLst>
          </p:nvPr>
        </p:nvGraphicFramePr>
        <p:xfrm>
          <a:off x="2872334" y="3569597"/>
          <a:ext cx="1371600" cy="28749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0" lang="zh-CN" altLang="en-US" sz="24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n-1</a:t>
                      </a:r>
                      <a:endParaRPr kumimoji="0" lang="zh-CN" altLang="en-US" sz="24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...</a:t>
                      </a:r>
                    </a:p>
                  </a:txBody>
                  <a:tcPr marT="45730" marB="45730" vert="eaVert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Text Box 124"/>
          <p:cNvSpPr txBox="1">
            <a:spLocks noChangeArrowheads="1"/>
          </p:cNvSpPr>
          <p:nvPr/>
        </p:nvSpPr>
        <p:spPr bwMode="auto">
          <a:xfrm>
            <a:off x="4742500" y="3994140"/>
            <a:ext cx="91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</a:t>
            </a:r>
          </a:p>
        </p:txBody>
      </p:sp>
      <p:sp>
        <p:nvSpPr>
          <p:cNvPr id="34" name="Line 131"/>
          <p:cNvSpPr>
            <a:spLocks noChangeShapeType="1"/>
          </p:cNvSpPr>
          <p:nvPr/>
        </p:nvSpPr>
        <p:spPr bwMode="auto">
          <a:xfrm flipH="1">
            <a:off x="4285300" y="4222740"/>
            <a:ext cx="5334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35" name="Line 130"/>
          <p:cNvSpPr>
            <a:spLocks noChangeShapeType="1"/>
          </p:cNvSpPr>
          <p:nvPr/>
        </p:nvSpPr>
        <p:spPr bwMode="auto">
          <a:xfrm flipH="1">
            <a:off x="4285300" y="6203940"/>
            <a:ext cx="5334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/>
          </a:p>
        </p:txBody>
      </p:sp>
      <p:sp>
        <p:nvSpPr>
          <p:cNvPr id="36" name="Text Box 122"/>
          <p:cNvSpPr txBox="1">
            <a:spLocks noChangeArrowheads="1"/>
          </p:cNvSpPr>
          <p:nvPr/>
        </p:nvSpPr>
        <p:spPr bwMode="auto">
          <a:xfrm>
            <a:off x="4757737" y="5975340"/>
            <a:ext cx="91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栈底</a:t>
            </a:r>
          </a:p>
        </p:txBody>
      </p:sp>
      <p:cxnSp>
        <p:nvCxnSpPr>
          <p:cNvPr id="37" name="AutoShape 136"/>
          <p:cNvCxnSpPr>
            <a:cxnSpLocks noChangeShapeType="1"/>
          </p:cNvCxnSpPr>
          <p:nvPr/>
        </p:nvCxnSpPr>
        <p:spPr bwMode="auto">
          <a:xfrm rot="16200000">
            <a:off x="3768226" y="3269709"/>
            <a:ext cx="762000" cy="5334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 Box 135"/>
          <p:cNvSpPr txBox="1">
            <a:spLocks noChangeArrowheads="1"/>
          </p:cNvSpPr>
          <p:nvPr/>
        </p:nvSpPr>
        <p:spPr bwMode="auto">
          <a:xfrm>
            <a:off x="4300537" y="2996952"/>
            <a:ext cx="91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出栈</a:t>
            </a:r>
          </a:p>
        </p:txBody>
      </p:sp>
      <p:sp>
        <p:nvSpPr>
          <p:cNvPr id="39" name="Text Box 132"/>
          <p:cNvSpPr txBox="1">
            <a:spLocks noChangeArrowheads="1"/>
          </p:cNvSpPr>
          <p:nvPr/>
        </p:nvSpPr>
        <p:spPr bwMode="auto">
          <a:xfrm>
            <a:off x="1953579" y="2996952"/>
            <a:ext cx="91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入栈</a:t>
            </a:r>
          </a:p>
        </p:txBody>
      </p:sp>
      <p:cxnSp>
        <p:nvCxnSpPr>
          <p:cNvPr id="40" name="AutoShape 134"/>
          <p:cNvCxnSpPr>
            <a:cxnSpLocks noChangeShapeType="1"/>
          </p:cNvCxnSpPr>
          <p:nvPr/>
        </p:nvCxnSpPr>
        <p:spPr bwMode="auto">
          <a:xfrm>
            <a:off x="2791779" y="3155409"/>
            <a:ext cx="533400" cy="7620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矩形 40"/>
          <p:cNvSpPr/>
          <p:nvPr/>
        </p:nvSpPr>
        <p:spPr>
          <a:xfrm>
            <a:off x="6977065" y="2889195"/>
            <a:ext cx="25710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栈顶(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top)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：栈的表尾</a:t>
            </a:r>
          </a:p>
        </p:txBody>
      </p:sp>
      <p:sp>
        <p:nvSpPr>
          <p:cNvPr id="42" name="矩形 41"/>
          <p:cNvSpPr/>
          <p:nvPr/>
        </p:nvSpPr>
        <p:spPr>
          <a:xfrm>
            <a:off x="6977064" y="3281173"/>
            <a:ext cx="29862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栈底(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bottom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：栈的表头</a:t>
            </a:r>
          </a:p>
        </p:txBody>
      </p:sp>
      <p:sp>
        <p:nvSpPr>
          <p:cNvPr id="43" name="矩形 42"/>
          <p:cNvSpPr/>
          <p:nvPr/>
        </p:nvSpPr>
        <p:spPr>
          <a:xfrm>
            <a:off x="6977064" y="36412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空栈：没有元素的栈</a:t>
            </a:r>
          </a:p>
        </p:txBody>
      </p:sp>
      <p:sp>
        <p:nvSpPr>
          <p:cNvPr id="44" name="矩形 43"/>
          <p:cNvSpPr/>
          <p:nvPr/>
        </p:nvSpPr>
        <p:spPr>
          <a:xfrm>
            <a:off x="6977064" y="4001253"/>
            <a:ext cx="35942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入栈(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push)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：向栈顶压入元素</a:t>
            </a:r>
          </a:p>
        </p:txBody>
      </p:sp>
      <p:sp>
        <p:nvSpPr>
          <p:cNvPr id="45" name="矩形 44"/>
          <p:cNvSpPr/>
          <p:nvPr/>
        </p:nvSpPr>
        <p:spPr>
          <a:xfrm>
            <a:off x="6977065" y="4401363"/>
            <a:ext cx="34852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出栈(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pop)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：从栈顶弹出元素</a:t>
            </a:r>
          </a:p>
        </p:txBody>
      </p:sp>
      <p:sp>
        <p:nvSpPr>
          <p:cNvPr id="46" name="矩形 45"/>
          <p:cNvSpPr/>
          <p:nvPr/>
        </p:nvSpPr>
        <p:spPr>
          <a:xfrm>
            <a:off x="2115896" y="2674410"/>
            <a:ext cx="3097323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，…，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000" baseline="-25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…，a</a:t>
            </a:r>
            <a:r>
              <a:rPr lang="en-US" altLang="zh-CN" sz="20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</a:p>
        </p:txBody>
      </p:sp>
      <p:sp>
        <p:nvSpPr>
          <p:cNvPr id="47" name="矩形 46"/>
          <p:cNvSpPr/>
          <p:nvPr/>
        </p:nvSpPr>
        <p:spPr>
          <a:xfrm>
            <a:off x="6974822" y="4761404"/>
            <a:ext cx="42237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栈的特点：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栈的修改是按后进先出的原则进行的，因此，栈称为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后进先出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的线性表（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LIFO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）。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2049D66-9FC6-48EA-BA50-7DBF86D15FA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30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  <p:bldP spid="34" grpId="0" animBg="1"/>
      <p:bldP spid="35" grpId="0" animBg="1"/>
      <p:bldP spid="36" grpId="0"/>
      <p:bldP spid="38" grpId="0"/>
      <p:bldP spid="39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2014541" y="2311384"/>
            <a:ext cx="7791000" cy="46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Stack)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是仅限定在表尾进行插入和删除操作的线性表。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cxnSp>
        <p:nvCxnSpPr>
          <p:cNvPr id="23" name="AutoShape 136"/>
          <p:cNvCxnSpPr>
            <a:cxnSpLocks noChangeShapeType="1"/>
          </p:cNvCxnSpPr>
          <p:nvPr/>
        </p:nvCxnSpPr>
        <p:spPr bwMode="auto">
          <a:xfrm rot="16200000">
            <a:off x="4112545" y="3400723"/>
            <a:ext cx="762000" cy="5334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135"/>
          <p:cNvSpPr txBox="1">
            <a:spLocks noChangeArrowheads="1"/>
          </p:cNvSpPr>
          <p:nvPr/>
        </p:nvSpPr>
        <p:spPr bwMode="auto">
          <a:xfrm>
            <a:off x="4644856" y="3127966"/>
            <a:ext cx="11103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DCBA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5" name="Text Box 132"/>
          <p:cNvSpPr txBox="1">
            <a:spLocks noChangeArrowheads="1"/>
          </p:cNvSpPr>
          <p:nvPr/>
        </p:nvSpPr>
        <p:spPr bwMode="auto">
          <a:xfrm>
            <a:off x="2141146" y="3127966"/>
            <a:ext cx="10711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ABCD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cxnSp>
        <p:nvCxnSpPr>
          <p:cNvPr id="26" name="AutoShape 134"/>
          <p:cNvCxnSpPr>
            <a:cxnSpLocks noChangeShapeType="1"/>
          </p:cNvCxnSpPr>
          <p:nvPr/>
        </p:nvCxnSpPr>
        <p:spPr bwMode="auto">
          <a:xfrm>
            <a:off x="3136098" y="3286423"/>
            <a:ext cx="533400" cy="7620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矩形 26"/>
          <p:cNvSpPr/>
          <p:nvPr/>
        </p:nvSpPr>
        <p:spPr>
          <a:xfrm>
            <a:off x="5719524" y="2783439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栈的运算演示</a:t>
            </a:r>
          </a:p>
        </p:txBody>
      </p:sp>
      <p:sp>
        <p:nvSpPr>
          <p:cNvPr id="31" name="矩形 30"/>
          <p:cNvSpPr/>
          <p:nvPr/>
        </p:nvSpPr>
        <p:spPr>
          <a:xfrm>
            <a:off x="6096000" y="3390526"/>
            <a:ext cx="43204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(1)A、B、C、D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四个元素依次进入一个栈，再依次出栈，得到一个输出序列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DCBA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graphicFrame>
        <p:nvGraphicFramePr>
          <p:cNvPr id="48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01121"/>
              </p:ext>
            </p:extLst>
          </p:nvPr>
        </p:nvGraphicFramePr>
        <p:xfrm>
          <a:off x="3216653" y="3700611"/>
          <a:ext cx="1371600" cy="227634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D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C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B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A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矩形 48"/>
          <p:cNvSpPr/>
          <p:nvPr/>
        </p:nvSpPr>
        <p:spPr>
          <a:xfrm>
            <a:off x="5755203" y="4797153"/>
            <a:ext cx="46969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栈的特点：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栈的修改是按后进先出的原则进行的，因此，栈称为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后进先出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的线性表（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LIFO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6C02403-3A30-CCC6-FF0B-B64E9631CC88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B7775B-A2FF-297E-E4CA-D16BBBC8C544}"/>
              </a:ext>
            </a:extLst>
          </p:cNvPr>
          <p:cNvSpPr/>
          <p:nvPr/>
        </p:nvSpPr>
        <p:spPr>
          <a:xfrm>
            <a:off x="713642" y="1091060"/>
            <a:ext cx="280450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栈的定义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3A30967-A736-AAC8-A3CF-FC996A5E0B99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02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7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5755203" y="5201906"/>
            <a:ext cx="46969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栈的特点：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栈的修改是按后进先出的原则进行的，因此，栈称为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后进先出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的线性表（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LIFO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）。</a:t>
            </a:r>
          </a:p>
        </p:txBody>
      </p:sp>
      <p:sp>
        <p:nvSpPr>
          <p:cNvPr id="38" name="矩形 37"/>
          <p:cNvSpPr/>
          <p:nvPr/>
        </p:nvSpPr>
        <p:spPr>
          <a:xfrm>
            <a:off x="5719524" y="2783439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栈的运算演示</a:t>
            </a:r>
          </a:p>
        </p:txBody>
      </p:sp>
      <p:sp>
        <p:nvSpPr>
          <p:cNvPr id="39" name="矩形 38"/>
          <p:cNvSpPr/>
          <p:nvPr/>
        </p:nvSpPr>
        <p:spPr>
          <a:xfrm>
            <a:off x="6096000" y="3390526"/>
            <a:ext cx="43204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(1)A、B、C、D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四个元素依次进入一个栈，再依次出栈，得到一个输出序列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DCBA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21" name="矩形 20"/>
          <p:cNvSpPr/>
          <p:nvPr/>
        </p:nvSpPr>
        <p:spPr>
          <a:xfrm>
            <a:off x="6095999" y="4406188"/>
            <a:ext cx="4356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(2)能否由入栈序列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A、B、C、D、E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得到出栈序列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CBDAE?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graphicFrame>
        <p:nvGraphicFramePr>
          <p:cNvPr id="27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852426"/>
              </p:ext>
            </p:extLst>
          </p:nvPr>
        </p:nvGraphicFramePr>
        <p:xfrm>
          <a:off x="3278396" y="3733800"/>
          <a:ext cx="1371600" cy="23372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8" name="AutoShape 136"/>
          <p:cNvCxnSpPr>
            <a:cxnSpLocks noChangeShapeType="1"/>
          </p:cNvCxnSpPr>
          <p:nvPr/>
        </p:nvCxnSpPr>
        <p:spPr bwMode="auto">
          <a:xfrm rot="16200000">
            <a:off x="4174288" y="3433912"/>
            <a:ext cx="762000" cy="5334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Text Box 135"/>
          <p:cNvSpPr txBox="1">
            <a:spLocks noChangeArrowheads="1"/>
          </p:cNvSpPr>
          <p:nvPr/>
        </p:nvSpPr>
        <p:spPr bwMode="auto">
          <a:xfrm>
            <a:off x="4706599" y="3161156"/>
            <a:ext cx="1519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CBDAE?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30" name="Text Box 132"/>
          <p:cNvSpPr txBox="1">
            <a:spLocks noChangeArrowheads="1"/>
          </p:cNvSpPr>
          <p:nvPr/>
        </p:nvSpPr>
        <p:spPr bwMode="auto">
          <a:xfrm>
            <a:off x="2063552" y="3161156"/>
            <a:ext cx="12104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ABCDE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cxnSp>
        <p:nvCxnSpPr>
          <p:cNvPr id="31" name="AutoShape 134"/>
          <p:cNvCxnSpPr>
            <a:cxnSpLocks noChangeShapeType="1"/>
          </p:cNvCxnSpPr>
          <p:nvPr/>
        </p:nvCxnSpPr>
        <p:spPr bwMode="auto">
          <a:xfrm>
            <a:off x="3197841" y="3319612"/>
            <a:ext cx="533400" cy="7620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014541" y="2311384"/>
            <a:ext cx="7791000" cy="46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Stack)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是仅限定在表尾进行插入和删除操作的线性表。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3A2A968-DD08-EDC0-5485-4CB6794071C6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AEA4B4-384F-4B3E-5425-9FF5C7446DF3}"/>
              </a:ext>
            </a:extLst>
          </p:cNvPr>
          <p:cNvSpPr/>
          <p:nvPr/>
        </p:nvSpPr>
        <p:spPr>
          <a:xfrm>
            <a:off x="713642" y="1091060"/>
            <a:ext cx="280450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栈的定义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F041EDF-9312-ED09-53EE-85FBA1C0819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96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5755203" y="5201906"/>
            <a:ext cx="46969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栈的特点：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栈的修改是按后进先出的原则进行的，因此，栈称为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后进先出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的线性表（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LIFO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）。</a:t>
            </a:r>
          </a:p>
        </p:txBody>
      </p:sp>
      <p:sp>
        <p:nvSpPr>
          <p:cNvPr id="38" name="矩形 37"/>
          <p:cNvSpPr/>
          <p:nvPr/>
        </p:nvSpPr>
        <p:spPr>
          <a:xfrm>
            <a:off x="5719524" y="2783439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栈的运算演示</a:t>
            </a:r>
          </a:p>
        </p:txBody>
      </p:sp>
      <p:sp>
        <p:nvSpPr>
          <p:cNvPr id="39" name="矩形 38"/>
          <p:cNvSpPr/>
          <p:nvPr/>
        </p:nvSpPr>
        <p:spPr>
          <a:xfrm>
            <a:off x="6096000" y="3390526"/>
            <a:ext cx="43204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(1)A、B、C、D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四个元素依次进入一个栈，再依次出栈，得到一个输出序列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DCBA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21" name="矩形 20"/>
          <p:cNvSpPr/>
          <p:nvPr/>
        </p:nvSpPr>
        <p:spPr>
          <a:xfrm>
            <a:off x="6095999" y="4406188"/>
            <a:ext cx="4356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(2)能否由入栈序列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A、B、C、D、E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得到出栈序列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CBDAE?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graphicFrame>
        <p:nvGraphicFramePr>
          <p:cNvPr id="27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039205"/>
              </p:ext>
            </p:extLst>
          </p:nvPr>
        </p:nvGraphicFramePr>
        <p:xfrm>
          <a:off x="3278396" y="3733800"/>
          <a:ext cx="1371600" cy="23372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C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B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A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8" name="AutoShape 136"/>
          <p:cNvCxnSpPr>
            <a:cxnSpLocks noChangeShapeType="1"/>
          </p:cNvCxnSpPr>
          <p:nvPr/>
        </p:nvCxnSpPr>
        <p:spPr bwMode="auto">
          <a:xfrm rot="16200000">
            <a:off x="4174288" y="3433912"/>
            <a:ext cx="762000" cy="5334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Text Box 135"/>
          <p:cNvSpPr txBox="1">
            <a:spLocks noChangeArrowheads="1"/>
          </p:cNvSpPr>
          <p:nvPr/>
        </p:nvSpPr>
        <p:spPr bwMode="auto">
          <a:xfrm>
            <a:off x="4706599" y="3161156"/>
            <a:ext cx="1519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CB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30" name="Text Box 132"/>
          <p:cNvSpPr txBox="1">
            <a:spLocks noChangeArrowheads="1"/>
          </p:cNvSpPr>
          <p:nvPr/>
        </p:nvSpPr>
        <p:spPr bwMode="auto">
          <a:xfrm>
            <a:off x="2063552" y="3161156"/>
            <a:ext cx="12104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ABC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DE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cxnSp>
        <p:nvCxnSpPr>
          <p:cNvPr id="31" name="AutoShape 134"/>
          <p:cNvCxnSpPr>
            <a:cxnSpLocks noChangeShapeType="1"/>
          </p:cNvCxnSpPr>
          <p:nvPr/>
        </p:nvCxnSpPr>
        <p:spPr bwMode="auto">
          <a:xfrm>
            <a:off x="3197841" y="3319612"/>
            <a:ext cx="533400" cy="7620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014541" y="2311384"/>
            <a:ext cx="7791000" cy="46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Stack)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是仅限定在表尾进行插入和删除操作的线性表。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A2ADAB5-0FA8-11D7-6252-3EC528EA4A19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FAD3F0-54C3-CF0A-6D47-46E27BE27F80}"/>
              </a:ext>
            </a:extLst>
          </p:cNvPr>
          <p:cNvSpPr/>
          <p:nvPr/>
        </p:nvSpPr>
        <p:spPr>
          <a:xfrm>
            <a:off x="713642" y="1091060"/>
            <a:ext cx="280450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栈的定义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0077945-84C8-41BA-1157-6D436FA5432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97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5755203" y="5201906"/>
            <a:ext cx="46969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栈的特点：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栈的修改是按后进先出的原则进行的，因此，栈称为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后进先出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的线性表（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LIFO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）。</a:t>
            </a:r>
          </a:p>
        </p:txBody>
      </p:sp>
      <p:sp>
        <p:nvSpPr>
          <p:cNvPr id="38" name="矩形 37"/>
          <p:cNvSpPr/>
          <p:nvPr/>
        </p:nvSpPr>
        <p:spPr>
          <a:xfrm>
            <a:off x="5719524" y="2783439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栈的运算演示</a:t>
            </a:r>
          </a:p>
        </p:txBody>
      </p:sp>
      <p:sp>
        <p:nvSpPr>
          <p:cNvPr id="39" name="矩形 38"/>
          <p:cNvSpPr/>
          <p:nvPr/>
        </p:nvSpPr>
        <p:spPr>
          <a:xfrm>
            <a:off x="6096000" y="3390526"/>
            <a:ext cx="43204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(1)A、B、C、D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四个元素依次进入一个栈，再依次出栈，得到一个输出序列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DCBA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21" name="矩形 20"/>
          <p:cNvSpPr/>
          <p:nvPr/>
        </p:nvSpPr>
        <p:spPr>
          <a:xfrm>
            <a:off x="6095999" y="4406188"/>
            <a:ext cx="4356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(2)能否由入栈序列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A、B、C、D、E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得到出栈序列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CBDAE?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graphicFrame>
        <p:nvGraphicFramePr>
          <p:cNvPr id="17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884540"/>
              </p:ext>
            </p:extLst>
          </p:nvPr>
        </p:nvGraphicFramePr>
        <p:xfrm>
          <a:off x="3278396" y="3733800"/>
          <a:ext cx="1371600" cy="23372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D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A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8" name="AutoShape 136"/>
          <p:cNvCxnSpPr>
            <a:cxnSpLocks noChangeShapeType="1"/>
          </p:cNvCxnSpPr>
          <p:nvPr/>
        </p:nvCxnSpPr>
        <p:spPr bwMode="auto">
          <a:xfrm rot="16200000">
            <a:off x="4174288" y="3433912"/>
            <a:ext cx="762000" cy="5334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 Box 135"/>
          <p:cNvSpPr txBox="1">
            <a:spLocks noChangeArrowheads="1"/>
          </p:cNvSpPr>
          <p:nvPr/>
        </p:nvSpPr>
        <p:spPr bwMode="auto">
          <a:xfrm>
            <a:off x="4706599" y="3161156"/>
            <a:ext cx="1519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CBDA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0" name="Text Box 132"/>
          <p:cNvSpPr txBox="1">
            <a:spLocks noChangeArrowheads="1"/>
          </p:cNvSpPr>
          <p:nvPr/>
        </p:nvSpPr>
        <p:spPr bwMode="auto">
          <a:xfrm>
            <a:off x="2063552" y="3161156"/>
            <a:ext cx="12104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ABCD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cxnSp>
        <p:nvCxnSpPr>
          <p:cNvPr id="27" name="AutoShape 134"/>
          <p:cNvCxnSpPr>
            <a:cxnSpLocks noChangeShapeType="1"/>
          </p:cNvCxnSpPr>
          <p:nvPr/>
        </p:nvCxnSpPr>
        <p:spPr bwMode="auto">
          <a:xfrm>
            <a:off x="3197841" y="3319612"/>
            <a:ext cx="533400" cy="7620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2014541" y="2311384"/>
            <a:ext cx="7791000" cy="46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Stack)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是仅限定在表尾进行插入和删除操作的线性表。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0157B9F-E59E-3539-EB92-23EB5FA83927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4A4A09-4953-9937-0A41-E3EABF6DD4C9}"/>
              </a:ext>
            </a:extLst>
          </p:cNvPr>
          <p:cNvSpPr/>
          <p:nvPr/>
        </p:nvSpPr>
        <p:spPr>
          <a:xfrm>
            <a:off x="713642" y="1091060"/>
            <a:ext cx="280450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栈的定义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9812DDD-3D60-225D-6A85-6F5EEEEDE12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98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5755203" y="5201906"/>
            <a:ext cx="46969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栈的特点：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栈的修改是按后进先出的原则进行的，因此，栈称为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后进先出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的线性表（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LIFO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）。</a:t>
            </a:r>
          </a:p>
        </p:txBody>
      </p:sp>
      <p:sp>
        <p:nvSpPr>
          <p:cNvPr id="38" name="矩形 37"/>
          <p:cNvSpPr/>
          <p:nvPr/>
        </p:nvSpPr>
        <p:spPr>
          <a:xfrm>
            <a:off x="5719524" y="2783439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栈的运算演示</a:t>
            </a:r>
          </a:p>
        </p:txBody>
      </p:sp>
      <p:sp>
        <p:nvSpPr>
          <p:cNvPr id="39" name="矩形 38"/>
          <p:cNvSpPr/>
          <p:nvPr/>
        </p:nvSpPr>
        <p:spPr>
          <a:xfrm>
            <a:off x="6096000" y="3390526"/>
            <a:ext cx="43204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(1)A、B、C、D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四个元素依次进入一个栈，再依次出栈，得到一个输出序列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DCBA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21" name="矩形 20"/>
          <p:cNvSpPr/>
          <p:nvPr/>
        </p:nvSpPr>
        <p:spPr>
          <a:xfrm>
            <a:off x="6095999" y="4406188"/>
            <a:ext cx="4356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(2)能否由入栈序列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A、B、C、D、E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得到出栈序列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CBDAE?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graphicFrame>
        <p:nvGraphicFramePr>
          <p:cNvPr id="17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384298"/>
              </p:ext>
            </p:extLst>
          </p:nvPr>
        </p:nvGraphicFramePr>
        <p:xfrm>
          <a:off x="3278396" y="3733800"/>
          <a:ext cx="1371600" cy="23372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E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8" name="AutoShape 136"/>
          <p:cNvCxnSpPr>
            <a:cxnSpLocks noChangeShapeType="1"/>
          </p:cNvCxnSpPr>
          <p:nvPr/>
        </p:nvCxnSpPr>
        <p:spPr bwMode="auto">
          <a:xfrm rot="16200000">
            <a:off x="4174288" y="3433912"/>
            <a:ext cx="762000" cy="5334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 Box 135"/>
          <p:cNvSpPr txBox="1">
            <a:spLocks noChangeArrowheads="1"/>
          </p:cNvSpPr>
          <p:nvPr/>
        </p:nvSpPr>
        <p:spPr bwMode="auto">
          <a:xfrm>
            <a:off x="4706599" y="3161156"/>
            <a:ext cx="1519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CBDAE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0" name="Text Box 132"/>
          <p:cNvSpPr txBox="1">
            <a:spLocks noChangeArrowheads="1"/>
          </p:cNvSpPr>
          <p:nvPr/>
        </p:nvSpPr>
        <p:spPr bwMode="auto">
          <a:xfrm>
            <a:off x="2063552" y="3161156"/>
            <a:ext cx="12104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ABCDE</a:t>
            </a:r>
            <a:endParaRPr lang="zh-CN" altLang="en-US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cxnSp>
        <p:nvCxnSpPr>
          <p:cNvPr id="27" name="AutoShape 134"/>
          <p:cNvCxnSpPr>
            <a:cxnSpLocks noChangeShapeType="1"/>
          </p:cNvCxnSpPr>
          <p:nvPr/>
        </p:nvCxnSpPr>
        <p:spPr bwMode="auto">
          <a:xfrm>
            <a:off x="3197841" y="3319612"/>
            <a:ext cx="533400" cy="7620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2014541" y="2311384"/>
            <a:ext cx="7791000" cy="46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Stack)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是仅限定在表尾进行插入和删除操作的线性表。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F9DE72F-2449-B1C0-F120-3667E243614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B50DCF-88B7-D534-7354-37C0F5011C4D}"/>
              </a:ext>
            </a:extLst>
          </p:cNvPr>
          <p:cNvSpPr/>
          <p:nvPr/>
        </p:nvSpPr>
        <p:spPr>
          <a:xfrm>
            <a:off x="713642" y="1091060"/>
            <a:ext cx="280450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栈的定义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8BBC4A7-F792-19E6-4B09-B6BD0A5CB96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88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5755203" y="5201906"/>
            <a:ext cx="46969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栈的特点：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栈的修改是按后进先出的原则进行的，因此，栈称为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后进先出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的线性表（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LIFO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）。</a:t>
            </a:r>
          </a:p>
        </p:txBody>
      </p:sp>
      <p:sp>
        <p:nvSpPr>
          <p:cNvPr id="38" name="矩形 37"/>
          <p:cNvSpPr/>
          <p:nvPr/>
        </p:nvSpPr>
        <p:spPr>
          <a:xfrm>
            <a:off x="5719524" y="2783439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栈的运算演示</a:t>
            </a:r>
          </a:p>
        </p:txBody>
      </p:sp>
      <p:sp>
        <p:nvSpPr>
          <p:cNvPr id="39" name="矩形 38"/>
          <p:cNvSpPr/>
          <p:nvPr/>
        </p:nvSpPr>
        <p:spPr>
          <a:xfrm>
            <a:off x="6096000" y="3390526"/>
            <a:ext cx="43204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(1)A、B、C、D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四个元素依次进入一个栈，再依次出栈，得到一个输出序列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DCBA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21" name="矩形 20"/>
          <p:cNvSpPr/>
          <p:nvPr/>
        </p:nvSpPr>
        <p:spPr>
          <a:xfrm>
            <a:off x="6095999" y="4406188"/>
            <a:ext cx="4356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(2)能否由入栈序列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A、B、C、D、E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得到出栈序列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CBDAE?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graphicFrame>
        <p:nvGraphicFramePr>
          <p:cNvPr id="22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626974"/>
              </p:ext>
            </p:extLst>
          </p:nvPr>
        </p:nvGraphicFramePr>
        <p:xfrm>
          <a:off x="3278396" y="3733800"/>
          <a:ext cx="1371600" cy="23372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3" name="AutoShape 136"/>
          <p:cNvCxnSpPr>
            <a:cxnSpLocks noChangeShapeType="1"/>
          </p:cNvCxnSpPr>
          <p:nvPr/>
        </p:nvCxnSpPr>
        <p:spPr bwMode="auto">
          <a:xfrm rot="16200000">
            <a:off x="4174288" y="3433912"/>
            <a:ext cx="762000" cy="5334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135"/>
          <p:cNvSpPr txBox="1">
            <a:spLocks noChangeArrowheads="1"/>
          </p:cNvSpPr>
          <p:nvPr/>
        </p:nvSpPr>
        <p:spPr bwMode="auto">
          <a:xfrm>
            <a:off x="4706599" y="3161156"/>
            <a:ext cx="1519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CBDAE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5" name="Text Box 132"/>
          <p:cNvSpPr txBox="1">
            <a:spLocks noChangeArrowheads="1"/>
          </p:cNvSpPr>
          <p:nvPr/>
        </p:nvSpPr>
        <p:spPr bwMode="auto">
          <a:xfrm>
            <a:off x="2063552" y="3161156"/>
            <a:ext cx="12104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ABCDE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cxnSp>
        <p:nvCxnSpPr>
          <p:cNvPr id="26" name="AutoShape 134"/>
          <p:cNvCxnSpPr>
            <a:cxnSpLocks noChangeShapeType="1"/>
          </p:cNvCxnSpPr>
          <p:nvPr/>
        </p:nvCxnSpPr>
        <p:spPr bwMode="auto">
          <a:xfrm>
            <a:off x="3197841" y="3319612"/>
            <a:ext cx="533400" cy="7620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2014541" y="2311384"/>
            <a:ext cx="7791000" cy="46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Stack)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是仅限定在表尾进行插入和删除操作的线性表。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82F53B4-C886-10FC-0650-851F363CE3F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5AC543-2822-C725-ADA8-6247ED2ED4FF}"/>
              </a:ext>
            </a:extLst>
          </p:cNvPr>
          <p:cNvSpPr/>
          <p:nvPr/>
        </p:nvSpPr>
        <p:spPr>
          <a:xfrm>
            <a:off x="713642" y="1091060"/>
            <a:ext cx="280450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栈的定义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8E31E93-917B-F116-52D7-39091FA8C2F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859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5719524" y="2783439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栈的运算演示</a:t>
            </a:r>
          </a:p>
        </p:txBody>
      </p:sp>
      <p:sp>
        <p:nvSpPr>
          <p:cNvPr id="17" name="矩形 16"/>
          <p:cNvSpPr/>
          <p:nvPr/>
        </p:nvSpPr>
        <p:spPr>
          <a:xfrm>
            <a:off x="6096001" y="3391987"/>
            <a:ext cx="43561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(3)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能否由入栈序列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A、B、C、D、E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得到出栈序列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EDCBA?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graphicFrame>
        <p:nvGraphicFramePr>
          <p:cNvPr id="18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021049"/>
              </p:ext>
            </p:extLst>
          </p:nvPr>
        </p:nvGraphicFramePr>
        <p:xfrm>
          <a:off x="3278396" y="3733800"/>
          <a:ext cx="1371600" cy="23372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9" name="AutoShape 136"/>
          <p:cNvCxnSpPr>
            <a:cxnSpLocks noChangeShapeType="1"/>
          </p:cNvCxnSpPr>
          <p:nvPr/>
        </p:nvCxnSpPr>
        <p:spPr bwMode="auto">
          <a:xfrm rot="16200000">
            <a:off x="4174288" y="3433912"/>
            <a:ext cx="762000" cy="5334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 Box 135"/>
          <p:cNvSpPr txBox="1">
            <a:spLocks noChangeArrowheads="1"/>
          </p:cNvSpPr>
          <p:nvPr/>
        </p:nvSpPr>
        <p:spPr bwMode="auto">
          <a:xfrm>
            <a:off x="4706599" y="3161156"/>
            <a:ext cx="1519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EDCBA?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7" name="Text Box 132"/>
          <p:cNvSpPr txBox="1">
            <a:spLocks noChangeArrowheads="1"/>
          </p:cNvSpPr>
          <p:nvPr/>
        </p:nvSpPr>
        <p:spPr bwMode="auto">
          <a:xfrm>
            <a:off x="2063552" y="3161156"/>
            <a:ext cx="12104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ABCDE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cxnSp>
        <p:nvCxnSpPr>
          <p:cNvPr id="28" name="AutoShape 134"/>
          <p:cNvCxnSpPr>
            <a:cxnSpLocks noChangeShapeType="1"/>
          </p:cNvCxnSpPr>
          <p:nvPr/>
        </p:nvCxnSpPr>
        <p:spPr bwMode="auto">
          <a:xfrm>
            <a:off x="3197841" y="3319612"/>
            <a:ext cx="533400" cy="7620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2014541" y="2311384"/>
            <a:ext cx="7791000" cy="46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Stack)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是仅限定在表尾进行插入和删除操作的线性表。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4" name="Text Box 32"/>
          <p:cNvSpPr txBox="1">
            <a:spLocks noChangeArrowheads="1"/>
          </p:cNvSpPr>
          <p:nvPr/>
        </p:nvSpPr>
        <p:spPr bwMode="auto">
          <a:xfrm>
            <a:off x="5231905" y="4581129"/>
            <a:ext cx="5220255" cy="1200329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注意：栈只是对表插入和删除操作的位置进行了限制，并没有限定插入和删除操作进行的时间。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BBA0B64-FD70-B618-17A3-945EC6FF707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0425B1-AC4F-2D36-4306-6C9148AA5227}"/>
              </a:ext>
            </a:extLst>
          </p:cNvPr>
          <p:cNvSpPr/>
          <p:nvPr/>
        </p:nvSpPr>
        <p:spPr>
          <a:xfrm>
            <a:off x="713642" y="1091060"/>
            <a:ext cx="280450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栈的定义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92B9783-BD98-7AFB-25A8-A26B7B81F6F7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43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5719524" y="2783439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栈的运算演示</a:t>
            </a:r>
          </a:p>
        </p:txBody>
      </p:sp>
      <p:sp>
        <p:nvSpPr>
          <p:cNvPr id="17" name="矩形 16"/>
          <p:cNvSpPr/>
          <p:nvPr/>
        </p:nvSpPr>
        <p:spPr>
          <a:xfrm>
            <a:off x="6096001" y="3391987"/>
            <a:ext cx="43561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(3)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能否由入栈序列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A、B、C、D、E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得到出栈序列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EDCBA?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93667" y="4364586"/>
            <a:ext cx="43584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)能否由入栈序列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A、B、C、D、E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得到出栈序列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EABCD?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graphicFrame>
        <p:nvGraphicFramePr>
          <p:cNvPr id="14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630843"/>
              </p:ext>
            </p:extLst>
          </p:nvPr>
        </p:nvGraphicFramePr>
        <p:xfrm>
          <a:off x="3278396" y="3733800"/>
          <a:ext cx="1371600" cy="23372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1" name="AutoShape 136"/>
          <p:cNvCxnSpPr>
            <a:cxnSpLocks noChangeShapeType="1"/>
          </p:cNvCxnSpPr>
          <p:nvPr/>
        </p:nvCxnSpPr>
        <p:spPr bwMode="auto">
          <a:xfrm rot="16200000">
            <a:off x="4174288" y="3433912"/>
            <a:ext cx="762000" cy="5334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 Box 135"/>
          <p:cNvSpPr txBox="1">
            <a:spLocks noChangeArrowheads="1"/>
          </p:cNvSpPr>
          <p:nvPr/>
        </p:nvSpPr>
        <p:spPr bwMode="auto">
          <a:xfrm>
            <a:off x="4706599" y="3161156"/>
            <a:ext cx="1519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EABCD?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Text Box 132"/>
          <p:cNvSpPr txBox="1">
            <a:spLocks noChangeArrowheads="1"/>
          </p:cNvSpPr>
          <p:nvPr/>
        </p:nvSpPr>
        <p:spPr bwMode="auto">
          <a:xfrm>
            <a:off x="2063552" y="3161156"/>
            <a:ext cx="12104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ABCDE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cxnSp>
        <p:nvCxnSpPr>
          <p:cNvPr id="24" name="AutoShape 134"/>
          <p:cNvCxnSpPr>
            <a:cxnSpLocks noChangeShapeType="1"/>
          </p:cNvCxnSpPr>
          <p:nvPr/>
        </p:nvCxnSpPr>
        <p:spPr bwMode="auto">
          <a:xfrm>
            <a:off x="3197841" y="3319612"/>
            <a:ext cx="533400" cy="7620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2014541" y="2311384"/>
            <a:ext cx="7791000" cy="46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Stack)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是仅限定在表尾进行插入和删除操作的线性表。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C67160B-3F08-4B88-4FCC-F4169AF4C61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C72723-886C-AFE1-EC46-B4ECF65B3B1C}"/>
              </a:ext>
            </a:extLst>
          </p:cNvPr>
          <p:cNvSpPr/>
          <p:nvPr/>
        </p:nvSpPr>
        <p:spPr>
          <a:xfrm>
            <a:off x="713642" y="1091060"/>
            <a:ext cx="280450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栈的定义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4AA5330-9BCB-5878-22DE-3825CD12EFF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155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104944"/>
              </p:ext>
            </p:extLst>
          </p:nvPr>
        </p:nvGraphicFramePr>
        <p:xfrm>
          <a:off x="8252196" y="3533215"/>
          <a:ext cx="1027612" cy="2663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7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sz="2400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</a:t>
                      </a:r>
                      <a:r>
                        <a:rPr lang="en-US" altLang="zh-CN" sz="2400" baseline="-25000" dirty="0"/>
                        <a:t>n</a:t>
                      </a:r>
                      <a:endParaRPr lang="zh-CN" altLang="en-US" sz="2400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a</a:t>
                      </a:r>
                      <a:r>
                        <a:rPr lang="en-US" altLang="zh-CN" sz="2400" baseline="-25000" dirty="0"/>
                        <a:t>n-1</a:t>
                      </a:r>
                      <a:endParaRPr lang="zh-CN" altLang="en-US" sz="2400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……</a:t>
                      </a:r>
                      <a:endParaRPr lang="zh-CN" altLang="en-US" sz="2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a</a:t>
                      </a:r>
                      <a:r>
                        <a:rPr lang="en-US" altLang="zh-CN" sz="2400" baseline="-25000" dirty="0"/>
                        <a:t>2</a:t>
                      </a:r>
                      <a:endParaRPr lang="zh-CN" altLang="en-US" sz="2400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a</a:t>
                      </a:r>
                      <a:r>
                        <a:rPr lang="en-US" altLang="zh-CN" sz="2400" baseline="-25000" dirty="0"/>
                        <a:t>1</a:t>
                      </a:r>
                      <a:endParaRPr lang="zh-CN" altLang="en-US" sz="2400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8074866" y="299695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内存状态</a:t>
            </a:r>
            <a:endParaRPr lang="zh-CN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05374" y="5134117"/>
            <a:ext cx="1482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逻辑结构</a:t>
            </a:r>
          </a:p>
        </p:txBody>
      </p:sp>
      <p:sp>
        <p:nvSpPr>
          <p:cNvPr id="12" name="矩形 11"/>
          <p:cNvSpPr/>
          <p:nvPr/>
        </p:nvSpPr>
        <p:spPr>
          <a:xfrm>
            <a:off x="6240016" y="4649558"/>
            <a:ext cx="1482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物理结构</a:t>
            </a:r>
          </a:p>
        </p:txBody>
      </p:sp>
      <p:sp>
        <p:nvSpPr>
          <p:cNvPr id="13" name="矩形 12"/>
          <p:cNvSpPr/>
          <p:nvPr/>
        </p:nvSpPr>
        <p:spPr>
          <a:xfrm>
            <a:off x="1775521" y="3520278"/>
            <a:ext cx="5255623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 ：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lvl="1">
              <a:lnSpc>
                <a:spcPct val="90000"/>
              </a:lnSpc>
            </a:pP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4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 a</a:t>
            </a:r>
            <a:r>
              <a:rPr lang="en-US" altLang="zh-CN" sz="24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 …, a</a:t>
            </a:r>
            <a:r>
              <a:rPr lang="en-US" altLang="zh-CN" sz="24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i-1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400" baseline="-25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 a</a:t>
            </a:r>
            <a:r>
              <a:rPr lang="en-US" altLang="zh-CN" sz="24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i＋1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 …, a</a:t>
            </a:r>
            <a:r>
              <a:rPr lang="en-US" altLang="zh-CN" sz="24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</a:p>
        </p:txBody>
      </p:sp>
      <p:sp>
        <p:nvSpPr>
          <p:cNvPr id="14" name="左大括号 13"/>
          <p:cNvSpPr/>
          <p:nvPr/>
        </p:nvSpPr>
        <p:spPr>
          <a:xfrm>
            <a:off x="7722424" y="3543563"/>
            <a:ext cx="348342" cy="267365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左大括号 14"/>
          <p:cNvSpPr/>
          <p:nvPr/>
        </p:nvSpPr>
        <p:spPr>
          <a:xfrm rot="16200000">
            <a:off x="4110258" y="3034437"/>
            <a:ext cx="272642" cy="38112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207569" y="2204865"/>
            <a:ext cx="91450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顺序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Sequence Stack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是指用顺序存储结构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表示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，它利用内存中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起始位置确定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地址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连续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一片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存储区域来存放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中的所有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数据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元素。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grpSp>
        <p:nvGrpSpPr>
          <p:cNvPr id="21" name="Group 189"/>
          <p:cNvGrpSpPr>
            <a:grpSpLocks/>
          </p:cNvGrpSpPr>
          <p:nvPr/>
        </p:nvGrpSpPr>
        <p:grpSpPr bwMode="auto">
          <a:xfrm>
            <a:off x="9304845" y="5760017"/>
            <a:ext cx="1219200" cy="457200"/>
            <a:chOff x="2688" y="2832"/>
            <a:chExt cx="768" cy="288"/>
          </a:xfrm>
        </p:grpSpPr>
        <p:sp>
          <p:nvSpPr>
            <p:cNvPr id="22" name="Text Box 73"/>
            <p:cNvSpPr txBox="1">
              <a:spLocks noChangeArrowheads="1"/>
            </p:cNvSpPr>
            <p:nvPr/>
          </p:nvSpPr>
          <p:spPr bwMode="auto">
            <a:xfrm>
              <a:off x="2880" y="2832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栈底</a:t>
              </a:r>
            </a:p>
          </p:txBody>
        </p:sp>
        <p:sp>
          <p:nvSpPr>
            <p:cNvPr id="23" name="Line 74"/>
            <p:cNvSpPr>
              <a:spLocks noChangeShapeType="1"/>
            </p:cNvSpPr>
            <p:nvPr/>
          </p:nvSpPr>
          <p:spPr bwMode="auto">
            <a:xfrm flipH="1">
              <a:off x="2688" y="2976"/>
              <a:ext cx="2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190"/>
          <p:cNvGrpSpPr>
            <a:grpSpLocks/>
          </p:cNvGrpSpPr>
          <p:nvPr/>
        </p:nvGrpSpPr>
        <p:grpSpPr bwMode="auto">
          <a:xfrm>
            <a:off x="9304845" y="3934172"/>
            <a:ext cx="1219200" cy="457200"/>
            <a:chOff x="2688" y="1536"/>
            <a:chExt cx="768" cy="288"/>
          </a:xfrm>
        </p:grpSpPr>
        <p:sp>
          <p:nvSpPr>
            <p:cNvPr id="25" name="Text Box 78"/>
            <p:cNvSpPr txBox="1">
              <a:spLocks noChangeArrowheads="1"/>
            </p:cNvSpPr>
            <p:nvPr/>
          </p:nvSpPr>
          <p:spPr bwMode="auto">
            <a:xfrm>
              <a:off x="2880" y="1536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栈顶</a:t>
              </a:r>
            </a:p>
          </p:txBody>
        </p:sp>
        <p:sp>
          <p:nvSpPr>
            <p:cNvPr id="26" name="Line 79"/>
            <p:cNvSpPr>
              <a:spLocks noChangeShapeType="1"/>
            </p:cNvSpPr>
            <p:nvPr/>
          </p:nvSpPr>
          <p:spPr bwMode="auto">
            <a:xfrm flipH="1">
              <a:off x="2688" y="1680"/>
              <a:ext cx="2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798A59F7-437E-2050-FF6E-7C00E884215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B2384C-B30C-9909-E793-9B30BA816E26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67DECB7-4A3D-ECC1-FFDC-B529A858A958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06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4" grpId="0" animBg="1"/>
      <p:bldP spid="15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7770118" y="5562663"/>
            <a:ext cx="23088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349849"/>
              </p:ext>
            </p:extLst>
          </p:nvPr>
        </p:nvGraphicFramePr>
        <p:xfrm>
          <a:off x="7989802" y="2708921"/>
          <a:ext cx="1094967" cy="3077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a</a:t>
                      </a:r>
                      <a:r>
                        <a:rPr lang="en-US" altLang="zh-CN" sz="2000" baseline="-25000" dirty="0"/>
                        <a:t>n</a:t>
                      </a:r>
                      <a:endParaRPr lang="zh-CN" altLang="en-US" sz="2000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a</a:t>
                      </a:r>
                      <a:r>
                        <a:rPr lang="en-US" altLang="zh-CN" sz="2000" baseline="-25000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a</a:t>
                      </a:r>
                      <a:r>
                        <a:rPr lang="en-US" altLang="zh-CN" sz="2000" baseline="-25000" dirty="0"/>
                        <a:t>1</a:t>
                      </a:r>
                      <a:endParaRPr lang="zh-CN" altLang="en-US" sz="2000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" name="矩形 28"/>
          <p:cNvSpPr/>
          <p:nvPr/>
        </p:nvSpPr>
        <p:spPr>
          <a:xfrm>
            <a:off x="6957856" y="5377997"/>
            <a:ext cx="925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s-&gt;</a:t>
            </a:r>
            <a:r>
              <a:rPr lang="en-US" altLang="zh-CN" dirty="0">
                <a:latin typeface="Times New Roman" pitchFamily="18" charset="0"/>
                <a:ea typeface="楷体_GB2312" pitchFamily="49" charset="-122"/>
              </a:rPr>
              <a:t> data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0" name="左大括号 29"/>
          <p:cNvSpPr/>
          <p:nvPr/>
        </p:nvSpPr>
        <p:spPr>
          <a:xfrm rot="10800000">
            <a:off x="9137355" y="2736336"/>
            <a:ext cx="213368" cy="2948333"/>
          </a:xfrm>
          <a:prstGeom prst="leftBrace">
            <a:avLst>
              <a:gd name="adj1" fmla="val 8333"/>
              <a:gd name="adj2" fmla="val 4940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296293" y="4039807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楷体_GB2312" pitchFamily="49" charset="-122"/>
              </a:rPr>
              <a:t>MaxSize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823305" y="4211796"/>
            <a:ext cx="776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s-&gt;top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Line 29"/>
          <p:cNvSpPr>
            <a:spLocks noChangeShapeType="1"/>
          </p:cNvSpPr>
          <p:nvPr/>
        </p:nvSpPr>
        <p:spPr bwMode="auto">
          <a:xfrm>
            <a:off x="7526278" y="4386164"/>
            <a:ext cx="474724" cy="102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471916" y="4869160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SqStack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*s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；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82B3DD8-5231-EE08-DEB7-0AD00A909EE4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AEF2BC-86B9-69E7-BB1B-80239F5D4A6D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00EECD7-B53A-AB4A-242D-61FE871FA6D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3">
            <a:extLst>
              <a:ext uri="{FF2B5EF4-FFF2-40B4-BE49-F238E27FC236}">
                <a16:creationId xmlns:a16="http://schemas.microsoft.com/office/drawing/2014/main" id="{F686CB0A-1C4F-DFA0-F5C8-7E4826BB2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1916" y="3140968"/>
            <a:ext cx="5241937" cy="1592579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88000" tIns="144000" rIns="288000" bIns="14400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typedef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data[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； </a:t>
            </a:r>
          </a:p>
          <a:p>
            <a:pPr algn="l">
              <a:lnSpc>
                <a:spcPct val="120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top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；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栈顶指针</a:t>
            </a:r>
          </a:p>
          <a:p>
            <a:pPr algn="l">
              <a:lnSpc>
                <a:spcPct val="120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 </a:t>
            </a:r>
            <a:r>
              <a:rPr kumimoji="1" lang="en-US" altLang="zh-CN" sz="1800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SqStack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sz="1800" b="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71A5D7-2D31-32EA-5726-76AF1DFDEFB1}"/>
              </a:ext>
            </a:extLst>
          </p:cNvPr>
          <p:cNvSpPr txBox="1"/>
          <p:nvPr/>
        </p:nvSpPr>
        <p:spPr>
          <a:xfrm>
            <a:off x="1462040" y="2367004"/>
            <a:ext cx="251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itchFamily="18" charset="0"/>
                <a:ea typeface="楷体_GB2312" pitchFamily="49" charset="-122"/>
              </a:rPr>
              <a:t>typedef int </a:t>
            </a:r>
            <a:r>
              <a:rPr lang="en-US" altLang="zh-CN" sz="1800" dirty="0" err="1">
                <a:latin typeface="Times New Roman" pitchFamily="18" charset="0"/>
                <a:ea typeface="楷体_GB2312" pitchFamily="49" charset="-122"/>
              </a:rPr>
              <a:t>ElemType</a:t>
            </a:r>
            <a:r>
              <a:rPr lang="en-US" altLang="zh-CN" sz="1800" dirty="0">
                <a:latin typeface="Times New Roman" pitchFamily="18" charset="0"/>
                <a:ea typeface="楷体_GB2312" pitchFamily="49" charset="-122"/>
              </a:rPr>
              <a:t>;</a:t>
            </a:r>
            <a:endParaRPr lang="zh-CN" altLang="zh-CN" sz="1800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EA07D6-B09D-602E-777A-96C23680AF11}"/>
              </a:ext>
            </a:extLst>
          </p:cNvPr>
          <p:cNvSpPr txBox="1"/>
          <p:nvPr/>
        </p:nvSpPr>
        <p:spPr>
          <a:xfrm>
            <a:off x="1462040" y="2771635"/>
            <a:ext cx="251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itchFamily="18" charset="0"/>
                <a:ea typeface="楷体_GB2312" pitchFamily="49" charset="-122"/>
              </a:rPr>
              <a:t>#</a:t>
            </a:r>
            <a:r>
              <a:rPr lang="en-US" altLang="zh-CN" dirty="0">
                <a:latin typeface="Times New Roman" pitchFamily="18" charset="0"/>
                <a:ea typeface="楷体_GB2312" pitchFamily="49" charset="-122"/>
              </a:rPr>
              <a:t>define </a:t>
            </a:r>
            <a:r>
              <a:rPr lang="en-US" altLang="zh-CN" dirty="0" err="1">
                <a:latin typeface="Times New Roman" pitchFamily="18" charset="0"/>
                <a:ea typeface="楷体_GB2312" pitchFamily="49" charset="-122"/>
              </a:rPr>
              <a:t>MaxSize</a:t>
            </a:r>
            <a:r>
              <a:rPr lang="en-US" altLang="zh-CN" dirty="0">
                <a:latin typeface="Times New Roman" pitchFamily="18" charset="0"/>
                <a:ea typeface="楷体_GB2312" pitchFamily="49" charset="-122"/>
              </a:rPr>
              <a:t> 100</a:t>
            </a:r>
            <a:endParaRPr lang="zh-CN" altLang="zh-CN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70E7C0-8E8B-D20C-9E9A-8838FE408639}"/>
              </a:ext>
            </a:extLst>
          </p:cNvPr>
          <p:cNvSpPr txBox="1"/>
          <p:nvPr/>
        </p:nvSpPr>
        <p:spPr>
          <a:xfrm>
            <a:off x="6661074" y="5602250"/>
            <a:ext cx="380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s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8A36049-95D7-881E-E9E8-7F382853C6B9}"/>
              </a:ext>
            </a:extLst>
          </p:cNvPr>
          <p:cNvCxnSpPr>
            <a:cxnSpLocks/>
          </p:cNvCxnSpPr>
          <p:nvPr/>
        </p:nvCxnSpPr>
        <p:spPr>
          <a:xfrm>
            <a:off x="6957856" y="5786916"/>
            <a:ext cx="10431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18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/>
      <p:bldP spid="30" grpId="0" animBg="1"/>
      <p:bldP spid="31" grpId="0"/>
      <p:bldP spid="32" grpId="0"/>
      <p:bldP spid="33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151015" y="2444471"/>
            <a:ext cx="445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、初始化顺序栈 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</a:rPr>
              <a:t>InitStack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(&amp;S)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307095"/>
              </p:ext>
            </p:extLst>
          </p:nvPr>
        </p:nvGraphicFramePr>
        <p:xfrm>
          <a:off x="9218550" y="2492896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pattFill prst="wdUp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2634342" y="2906134"/>
            <a:ext cx="44500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en-US" dirty="0"/>
              <a:t>函数功能：</a:t>
            </a:r>
            <a:r>
              <a:rPr lang="zh-CN" altLang="zh-CN" dirty="0"/>
              <a:t>初始化</a:t>
            </a:r>
            <a:r>
              <a:rPr lang="zh-CN" altLang="en-US" dirty="0"/>
              <a:t>栈</a:t>
            </a:r>
            <a:r>
              <a:rPr lang="en-US" altLang="zh-CN" dirty="0"/>
              <a:t>S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操作结果：在内存中构造一个空的栈</a:t>
            </a:r>
            <a:r>
              <a:rPr lang="en-US" altLang="zh-CN" dirty="0"/>
              <a:t>S </a:t>
            </a:r>
            <a:r>
              <a:rPr lang="zh-CN" altLang="en-US" dirty="0"/>
              <a:t>；</a:t>
            </a:r>
          </a:p>
        </p:txBody>
      </p:sp>
      <p:sp>
        <p:nvSpPr>
          <p:cNvPr id="19" name="Line 29"/>
          <p:cNvSpPr>
            <a:spLocks noChangeShapeType="1"/>
          </p:cNvSpPr>
          <p:nvPr/>
        </p:nvSpPr>
        <p:spPr bwMode="auto">
          <a:xfrm>
            <a:off x="8996495" y="5348836"/>
            <a:ext cx="23088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84233" y="5164170"/>
            <a:ext cx="8675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s-&gt;</a:t>
            </a:r>
            <a:r>
              <a:rPr lang="en-US" altLang="zh-CN" dirty="0">
                <a:latin typeface="Times New Roman" pitchFamily="18" charset="0"/>
                <a:ea typeface="楷体_GB2312" pitchFamily="49" charset="-122"/>
              </a:rPr>
              <a:t>data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184233" y="5608051"/>
            <a:ext cx="776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s-&gt;top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>
            <a:off x="8887206" y="5782419"/>
            <a:ext cx="474724" cy="102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Box 1027">
            <a:extLst>
              <a:ext uri="{FF2B5EF4-FFF2-40B4-BE49-F238E27FC236}">
                <a16:creationId xmlns:a16="http://schemas.microsoft.com/office/drawing/2014/main" id="{693A959D-7473-C150-B5C2-71CA3EA11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756" y="3645024"/>
            <a:ext cx="5643602" cy="1600530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52000" tIns="144000" rIns="144000" bIns="144000">
            <a:spAutoFit/>
          </a:bodyPr>
          <a:lstStyle/>
          <a:p>
            <a:pPr algn="l">
              <a:lnSpc>
                <a:spcPts val="26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void </a:t>
            </a:r>
            <a:r>
              <a:rPr kumimoji="1" lang="en-US" altLang="zh-CN" sz="18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InitStack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SqStack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*&amp;s)</a:t>
            </a:r>
          </a:p>
          <a:p>
            <a:pPr algn="l">
              <a:lnSpc>
                <a:spcPts val="26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s=(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SqStack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*)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malloc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sizeof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SqStack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));</a:t>
            </a:r>
          </a:p>
          <a:p>
            <a:pPr algn="l">
              <a:lnSpc>
                <a:spcPts val="26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s-&gt;top=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+mj-ea"/>
                <a:cs typeface="Consolas" pitchFamily="49" charset="0"/>
              </a:rPr>
              <a:t>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1;</a:t>
            </a:r>
          </a:p>
          <a:p>
            <a:pPr algn="l">
              <a:lnSpc>
                <a:spcPts val="26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  <a:r>
              <a:rPr kumimoji="1" lang="en-US" altLang="zh-CN" sz="1800" b="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1AC780-6B04-5717-22D8-004F8304C7C3}"/>
              </a:ext>
            </a:extLst>
          </p:cNvPr>
          <p:cNvSpPr txBox="1"/>
          <p:nvPr/>
        </p:nvSpPr>
        <p:spPr>
          <a:xfrm>
            <a:off x="7878622" y="5333712"/>
            <a:ext cx="380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s</a:t>
            </a:r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5CF2319-9113-6C8D-227A-2FBDD291C403}"/>
              </a:ext>
            </a:extLst>
          </p:cNvPr>
          <p:cNvCxnSpPr>
            <a:cxnSpLocks/>
          </p:cNvCxnSpPr>
          <p:nvPr/>
        </p:nvCxnSpPr>
        <p:spPr>
          <a:xfrm>
            <a:off x="8175404" y="5518378"/>
            <a:ext cx="10431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81F33DA7-37D8-5D8C-B821-ECE22956DC5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C0B70C-1548-F6C9-F951-3A7FC4C271AB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863DC9-8745-4D2A-6401-1EF3E7A0AFD6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41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25B1E-5CB6-DD7C-05E2-A772335F9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56976C7D-6F79-E04E-AA18-1030E744F334}"/>
              </a:ext>
            </a:extLst>
          </p:cNvPr>
          <p:cNvSpPr/>
          <p:nvPr/>
        </p:nvSpPr>
        <p:spPr>
          <a:xfrm>
            <a:off x="2151015" y="2444471"/>
            <a:ext cx="43770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、销毁顺序栈 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</a:rPr>
              <a:t>DestroyStack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(&amp;s)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FAEA401-9339-4C79-E71F-F526223162A5}"/>
              </a:ext>
            </a:extLst>
          </p:cNvPr>
          <p:cNvSpPr/>
          <p:nvPr/>
        </p:nvSpPr>
        <p:spPr>
          <a:xfrm>
            <a:off x="2634342" y="2906134"/>
            <a:ext cx="44500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en-US" dirty="0"/>
              <a:t>函数功能：释放栈</a:t>
            </a:r>
            <a:r>
              <a:rPr lang="en-US" altLang="zh-CN" dirty="0"/>
              <a:t>s</a:t>
            </a:r>
            <a:r>
              <a:rPr lang="zh-CN" altLang="en-US" dirty="0"/>
              <a:t>占用的存储空间；</a:t>
            </a:r>
          </a:p>
          <a:p>
            <a:pPr marL="179388" indent="-179388"/>
            <a:r>
              <a:rPr lang="zh-CN" altLang="en-US" dirty="0"/>
              <a:t>操作结果：栈</a:t>
            </a:r>
            <a:r>
              <a:rPr lang="en-US" altLang="zh-CN" dirty="0"/>
              <a:t>S</a:t>
            </a:r>
            <a:r>
              <a:rPr lang="zh-CN" altLang="en-US" dirty="0"/>
              <a:t>在内存中从有到无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3B7300-9E32-1A3A-33C5-E74768DED3C2}"/>
              </a:ext>
            </a:extLst>
          </p:cNvPr>
          <p:cNvSpPr txBox="1"/>
          <p:nvPr/>
        </p:nvSpPr>
        <p:spPr>
          <a:xfrm>
            <a:off x="2634342" y="3717032"/>
            <a:ext cx="43770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void </a:t>
            </a:r>
            <a:r>
              <a:rPr lang="en-US" altLang="zh-CN" sz="18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DestroyStack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SqStack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*&amp;s)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　　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free(s);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0850A1F-DD6F-C6A8-7907-4D26B61F65C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864DD5-FB8B-B865-B99D-8D5CE6BC2DC1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3DE34A5-577F-C76A-9132-880D969A7C66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421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888B6-D444-3383-BC8A-2EFEA080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A45B1C3-6FAC-92CC-338C-D4700E4BFC37}"/>
              </a:ext>
            </a:extLst>
          </p:cNvPr>
          <p:cNvSpPr/>
          <p:nvPr/>
        </p:nvSpPr>
        <p:spPr>
          <a:xfrm>
            <a:off x="2151015" y="2444471"/>
            <a:ext cx="45930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、判断栈是否为空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</a:rPr>
              <a:t>StackEmpty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(s)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D6A980B-0420-DB15-F769-3579910EC7A7}"/>
              </a:ext>
            </a:extLst>
          </p:cNvPr>
          <p:cNvSpPr/>
          <p:nvPr/>
        </p:nvSpPr>
        <p:spPr>
          <a:xfrm>
            <a:off x="2635323" y="3059668"/>
            <a:ext cx="44500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en-US" dirty="0"/>
              <a:t>栈</a:t>
            </a:r>
            <a:r>
              <a:rPr lang="en-US" altLang="zh-CN" dirty="0"/>
              <a:t>S</a:t>
            </a:r>
            <a:r>
              <a:rPr lang="zh-CN" altLang="en-US" dirty="0"/>
              <a:t>为空的条件是</a:t>
            </a:r>
            <a:r>
              <a:rPr lang="en-US" altLang="zh-CN" dirty="0"/>
              <a:t>s-&gt;top==-1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11519A1-60F0-1F97-6DC8-273D2DFC2FCB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E87409-B09B-744A-D0FA-8C2FE69DBC1A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EBEFBB1-0B5D-0C21-0D6E-C8BD83E708A1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E516162-3B9F-2D9F-0130-833273581081}"/>
              </a:ext>
            </a:extLst>
          </p:cNvPr>
          <p:cNvSpPr txBox="1"/>
          <p:nvPr/>
        </p:nvSpPr>
        <p:spPr>
          <a:xfrm>
            <a:off x="2656033" y="3641710"/>
            <a:ext cx="37279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bool </a:t>
            </a:r>
            <a:r>
              <a:rPr lang="en-US" altLang="zh-CN" sz="18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StackEmpty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SqStack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*s)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　　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return(s-&gt;top==-1);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4313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216080" y="2380671"/>
            <a:ext cx="26691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、进栈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Push(&amp;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</a:rPr>
              <a:t>s,x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) 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9" name="Line 29"/>
          <p:cNvSpPr>
            <a:spLocks noChangeShapeType="1"/>
          </p:cNvSpPr>
          <p:nvPr/>
        </p:nvSpPr>
        <p:spPr bwMode="auto">
          <a:xfrm>
            <a:off x="8815198" y="5562663"/>
            <a:ext cx="47472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811251"/>
              </p:ext>
            </p:extLst>
          </p:nvPr>
        </p:nvGraphicFramePr>
        <p:xfrm>
          <a:off x="9278722" y="2708920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矩形 20"/>
          <p:cNvSpPr/>
          <p:nvPr/>
        </p:nvSpPr>
        <p:spPr>
          <a:xfrm>
            <a:off x="8112225" y="4283804"/>
            <a:ext cx="776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s-&gt;top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8815198" y="4458172"/>
            <a:ext cx="474724" cy="102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993164" y="5377997"/>
            <a:ext cx="865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s-&gt;data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692006" y="2865710"/>
            <a:ext cx="61676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en-US" dirty="0"/>
              <a:t>初始条件：栈</a:t>
            </a:r>
            <a:r>
              <a:rPr lang="en-US" altLang="zh-CN" dirty="0"/>
              <a:t>s</a:t>
            </a:r>
            <a:r>
              <a:rPr lang="zh-CN" altLang="en-US" dirty="0"/>
              <a:t>已经存在；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函数功能：将</a:t>
            </a:r>
            <a:r>
              <a:rPr lang="zh-CN" altLang="zh-CN" dirty="0"/>
              <a:t>数据元素</a:t>
            </a:r>
            <a:r>
              <a:rPr lang="zh-CN" altLang="en-US" dirty="0"/>
              <a:t>进栈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操作结果：在栈</a:t>
            </a:r>
            <a:r>
              <a:rPr lang="en-US" altLang="zh-CN" dirty="0"/>
              <a:t>s</a:t>
            </a:r>
            <a:r>
              <a:rPr lang="zh-CN" altLang="en-US" dirty="0"/>
              <a:t>的栈顶插入一个数据元素，</a:t>
            </a:r>
            <a:r>
              <a:rPr lang="en-US" altLang="zh-CN" dirty="0"/>
              <a:t>s</a:t>
            </a:r>
            <a:r>
              <a:rPr lang="zh-CN" altLang="en-US" dirty="0"/>
              <a:t>的长度增加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F16F471-C47D-8016-F76D-4C450A827004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012E21-1504-D3AA-E23E-FBE3C9C6BC35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58E6E90-4AFC-FAA5-FB3E-D27CEB4F339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AD05A1B-77A9-817E-8C63-5540AF485904}"/>
              </a:ext>
            </a:extLst>
          </p:cNvPr>
          <p:cNvSpPr txBox="1"/>
          <p:nvPr/>
        </p:nvSpPr>
        <p:spPr>
          <a:xfrm>
            <a:off x="982972" y="3955998"/>
            <a:ext cx="71105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SqStack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*&amp;s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e)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</a:t>
            </a:r>
            <a:r>
              <a:rPr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s-&gt;top==MaxSize-1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栈满的情况，即栈上溢出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false;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s-&gt;top++;		   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栈顶指针增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s-&gt;data[s-&gt;top]=e;	   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1800" i="1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放在栈顶指针处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true;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1077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81734-DEB8-25AA-541E-A896E762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44350C7-1F83-391E-A3BA-B70C734BF854}"/>
              </a:ext>
            </a:extLst>
          </p:cNvPr>
          <p:cNvSpPr/>
          <p:nvPr/>
        </p:nvSpPr>
        <p:spPr>
          <a:xfrm>
            <a:off x="2216080" y="2380671"/>
            <a:ext cx="26691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、进栈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Push(&amp;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</a:rPr>
              <a:t>s,x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) 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9" name="Line 29">
            <a:extLst>
              <a:ext uri="{FF2B5EF4-FFF2-40B4-BE49-F238E27FC236}">
                <a16:creationId xmlns:a16="http://schemas.microsoft.com/office/drawing/2014/main" id="{2A354F0E-79E8-F87F-E3B1-BF80C9DDF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5198" y="5562663"/>
            <a:ext cx="47472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BE154072-BA6B-43DA-6D2F-4E1E3ADC7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322428"/>
              </p:ext>
            </p:extLst>
          </p:nvPr>
        </p:nvGraphicFramePr>
        <p:xfrm>
          <a:off x="9278722" y="2708920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8BF8662E-6A1F-8D7E-85D5-98DD883D5508}"/>
              </a:ext>
            </a:extLst>
          </p:cNvPr>
          <p:cNvSpPr/>
          <p:nvPr/>
        </p:nvSpPr>
        <p:spPr>
          <a:xfrm>
            <a:off x="8123085" y="3926587"/>
            <a:ext cx="776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s-&gt;top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Line 29">
            <a:extLst>
              <a:ext uri="{FF2B5EF4-FFF2-40B4-BE49-F238E27FC236}">
                <a16:creationId xmlns:a16="http://schemas.microsoft.com/office/drawing/2014/main" id="{346CD0A6-2682-FC15-39B6-D672AFE467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26058" y="4100955"/>
            <a:ext cx="474724" cy="102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26AF2E9-A541-89E8-0750-BCB55F8455FD}"/>
              </a:ext>
            </a:extLst>
          </p:cNvPr>
          <p:cNvSpPr/>
          <p:nvPr/>
        </p:nvSpPr>
        <p:spPr>
          <a:xfrm>
            <a:off x="7993164" y="5377997"/>
            <a:ext cx="865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s-&gt;data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815CDC-1E37-EEB0-DED1-A08A3F13B4ED}"/>
              </a:ext>
            </a:extLst>
          </p:cNvPr>
          <p:cNvSpPr/>
          <p:nvPr/>
        </p:nvSpPr>
        <p:spPr>
          <a:xfrm>
            <a:off x="2692006" y="2865710"/>
            <a:ext cx="61676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en-US" dirty="0"/>
              <a:t>初始条件：栈</a:t>
            </a:r>
            <a:r>
              <a:rPr lang="en-US" altLang="zh-CN" dirty="0"/>
              <a:t>s</a:t>
            </a:r>
            <a:r>
              <a:rPr lang="zh-CN" altLang="en-US" dirty="0"/>
              <a:t>已经存在；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函数功能：将</a:t>
            </a:r>
            <a:r>
              <a:rPr lang="zh-CN" altLang="zh-CN" dirty="0"/>
              <a:t>数据元素</a:t>
            </a:r>
            <a:r>
              <a:rPr lang="zh-CN" altLang="en-US" dirty="0"/>
              <a:t>进栈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操作结果：在栈</a:t>
            </a:r>
            <a:r>
              <a:rPr lang="en-US" altLang="zh-CN" dirty="0"/>
              <a:t>s</a:t>
            </a:r>
            <a:r>
              <a:rPr lang="zh-CN" altLang="en-US" dirty="0"/>
              <a:t>的栈顶插入一个数据元素，</a:t>
            </a:r>
            <a:r>
              <a:rPr lang="en-US" altLang="zh-CN" dirty="0"/>
              <a:t>s</a:t>
            </a:r>
            <a:r>
              <a:rPr lang="zh-CN" altLang="en-US" dirty="0"/>
              <a:t>的长度增加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9EBFB01-0982-D333-05CB-AA85501E6FA7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CE0EE9-1CFC-E82D-9873-85939433C4F0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1BF4A98-DFD7-8444-8104-DE7AC91E6DE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0E0962A-4BD9-68EE-E139-0BA6DFDA072D}"/>
              </a:ext>
            </a:extLst>
          </p:cNvPr>
          <p:cNvSpPr txBox="1"/>
          <p:nvPr/>
        </p:nvSpPr>
        <p:spPr>
          <a:xfrm>
            <a:off x="982972" y="3955998"/>
            <a:ext cx="71105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SqStack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*&amp;s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e)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</a:t>
            </a:r>
            <a:r>
              <a:rPr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s-&gt;top==MaxSize-1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栈满的情况，即栈上溢出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false;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s-&gt;top++;		   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栈顶指针增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s-&gt;data[s-&gt;top]=e;	   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1800" i="1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放在栈顶指针处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true;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7218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177142" y="2285002"/>
            <a:ext cx="2956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5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、出栈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Pop(&amp;s, &amp;e) 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6" name="Line 29"/>
          <p:cNvSpPr>
            <a:spLocks noChangeShapeType="1"/>
          </p:cNvSpPr>
          <p:nvPr/>
        </p:nvSpPr>
        <p:spPr bwMode="auto">
          <a:xfrm>
            <a:off x="8732518" y="5850695"/>
            <a:ext cx="47472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373162"/>
              </p:ext>
            </p:extLst>
          </p:nvPr>
        </p:nvGraphicFramePr>
        <p:xfrm>
          <a:off x="9196042" y="2996952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n-1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矩形 22"/>
          <p:cNvSpPr/>
          <p:nvPr/>
        </p:nvSpPr>
        <p:spPr>
          <a:xfrm>
            <a:off x="7921919" y="4117458"/>
            <a:ext cx="776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s-&gt;top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8732518" y="4291826"/>
            <a:ext cx="474724" cy="102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825771" y="5674388"/>
            <a:ext cx="865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s-&gt;data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607202" y="2733612"/>
            <a:ext cx="63691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en-US" dirty="0"/>
              <a:t>初始条件：栈</a:t>
            </a:r>
            <a:r>
              <a:rPr lang="en-US" altLang="zh-CN" dirty="0"/>
              <a:t>s</a:t>
            </a:r>
            <a:r>
              <a:rPr lang="zh-CN" altLang="en-US" dirty="0"/>
              <a:t>已经存在；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函数功能：删除栈</a:t>
            </a:r>
            <a:r>
              <a:rPr lang="en-US" altLang="zh-CN" dirty="0"/>
              <a:t>s</a:t>
            </a:r>
            <a:r>
              <a:rPr lang="zh-CN" altLang="en-US" dirty="0"/>
              <a:t>的栈顶</a:t>
            </a:r>
            <a:r>
              <a:rPr lang="zh-CN" altLang="zh-CN" dirty="0"/>
              <a:t>数据元素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操作结果：将栈</a:t>
            </a:r>
            <a:r>
              <a:rPr lang="en-US" altLang="zh-CN" dirty="0"/>
              <a:t>s </a:t>
            </a:r>
            <a:r>
              <a:rPr lang="zh-CN" altLang="en-US" dirty="0"/>
              <a:t>的栈顶</a:t>
            </a:r>
            <a:r>
              <a:rPr lang="zh-CN" altLang="zh-CN" dirty="0"/>
              <a:t>数据元素</a:t>
            </a:r>
            <a:r>
              <a:rPr lang="zh-CN" altLang="en-US" dirty="0"/>
              <a:t>删除，并用</a:t>
            </a:r>
            <a:r>
              <a:rPr lang="en-US" altLang="zh-CN" dirty="0"/>
              <a:t>e</a:t>
            </a:r>
            <a:r>
              <a:rPr lang="zh-CN" altLang="en-US" dirty="0"/>
              <a:t>返回其值，</a:t>
            </a:r>
            <a:r>
              <a:rPr lang="en-US" altLang="zh-CN" dirty="0"/>
              <a:t>s</a:t>
            </a:r>
            <a:r>
              <a:rPr lang="zh-CN" altLang="en-US" dirty="0"/>
              <a:t>的长度减少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3B1F50D-B55A-8346-98C3-6EAC12B576BB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2085F1-EE90-76BD-728E-F96CE728D69B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FC01D54-39A5-568B-E3F4-3BF6E1A28B12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867063D-65EC-CF04-4634-EFA43BB737CC}"/>
              </a:ext>
            </a:extLst>
          </p:cNvPr>
          <p:cNvSpPr txBox="1"/>
          <p:nvPr/>
        </p:nvSpPr>
        <p:spPr>
          <a:xfrm>
            <a:off x="718883" y="3943026"/>
            <a:ext cx="72008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SqStack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*&amp;s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&amp;e)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</a:t>
            </a:r>
            <a:r>
              <a:rPr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s-&gt;top==-1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栈为空的情况，即栈下溢出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false;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e=s-&gt;data[s-&gt;top];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取栈顶指针元素的元素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s-&gt;top--;	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栈顶指针减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7626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7D773-62F6-DA21-A5BC-8A3F11714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F935E5C-C1D6-0E53-6BEE-3623425D9C24}"/>
              </a:ext>
            </a:extLst>
          </p:cNvPr>
          <p:cNvSpPr/>
          <p:nvPr/>
        </p:nvSpPr>
        <p:spPr>
          <a:xfrm>
            <a:off x="2177142" y="2285002"/>
            <a:ext cx="2956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5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、出栈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Pop(&amp;s, &amp;e) 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F5C24009-5D40-B086-3F89-B5F947FB21C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2518" y="5850695"/>
            <a:ext cx="47472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3E7268E9-9BEC-F216-239F-125D25994596}"/>
              </a:ext>
            </a:extLst>
          </p:cNvPr>
          <p:cNvGraphicFramePr>
            <a:graphicFrameLocks noGrp="1"/>
          </p:cNvGraphicFramePr>
          <p:nvPr/>
        </p:nvGraphicFramePr>
        <p:xfrm>
          <a:off x="9196042" y="2996952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n-1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B52FC030-00D4-11CB-942A-A97A5D449226}"/>
              </a:ext>
            </a:extLst>
          </p:cNvPr>
          <p:cNvSpPr/>
          <p:nvPr/>
        </p:nvSpPr>
        <p:spPr>
          <a:xfrm>
            <a:off x="7928359" y="4522986"/>
            <a:ext cx="776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s-&gt;top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Line 29">
            <a:extLst>
              <a:ext uri="{FF2B5EF4-FFF2-40B4-BE49-F238E27FC236}">
                <a16:creationId xmlns:a16="http://schemas.microsoft.com/office/drawing/2014/main" id="{9006689A-F90C-A5E6-FCD3-3AF2F46DA22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8958" y="4697354"/>
            <a:ext cx="474724" cy="102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7390092-F4CC-DDCB-066B-D2767E0730BA}"/>
              </a:ext>
            </a:extLst>
          </p:cNvPr>
          <p:cNvSpPr/>
          <p:nvPr/>
        </p:nvSpPr>
        <p:spPr>
          <a:xfrm>
            <a:off x="7825771" y="5674388"/>
            <a:ext cx="865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s-&gt;data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CECE04E-4A47-B55A-436C-B67190250A9B}"/>
              </a:ext>
            </a:extLst>
          </p:cNvPr>
          <p:cNvSpPr/>
          <p:nvPr/>
        </p:nvSpPr>
        <p:spPr>
          <a:xfrm>
            <a:off x="2607202" y="2733612"/>
            <a:ext cx="63691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en-US" dirty="0"/>
              <a:t>初始条件：栈</a:t>
            </a:r>
            <a:r>
              <a:rPr lang="en-US" altLang="zh-CN" dirty="0"/>
              <a:t>s</a:t>
            </a:r>
            <a:r>
              <a:rPr lang="zh-CN" altLang="en-US" dirty="0"/>
              <a:t>已经存在；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函数功能：删除栈</a:t>
            </a:r>
            <a:r>
              <a:rPr lang="en-US" altLang="zh-CN" dirty="0"/>
              <a:t>s</a:t>
            </a:r>
            <a:r>
              <a:rPr lang="zh-CN" altLang="en-US" dirty="0"/>
              <a:t>的栈顶</a:t>
            </a:r>
            <a:r>
              <a:rPr lang="zh-CN" altLang="zh-CN" dirty="0"/>
              <a:t>数据元素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操作结果：将栈</a:t>
            </a:r>
            <a:r>
              <a:rPr lang="en-US" altLang="zh-CN" dirty="0"/>
              <a:t>s </a:t>
            </a:r>
            <a:r>
              <a:rPr lang="zh-CN" altLang="en-US" dirty="0"/>
              <a:t>的栈顶</a:t>
            </a:r>
            <a:r>
              <a:rPr lang="zh-CN" altLang="zh-CN" dirty="0"/>
              <a:t>数据元素</a:t>
            </a:r>
            <a:r>
              <a:rPr lang="zh-CN" altLang="en-US" dirty="0"/>
              <a:t>删除，并用</a:t>
            </a:r>
            <a:r>
              <a:rPr lang="en-US" altLang="zh-CN" dirty="0"/>
              <a:t>e</a:t>
            </a:r>
            <a:r>
              <a:rPr lang="zh-CN" altLang="en-US" dirty="0"/>
              <a:t>返回其值，</a:t>
            </a:r>
            <a:r>
              <a:rPr lang="en-US" altLang="zh-CN" dirty="0"/>
              <a:t>s</a:t>
            </a:r>
            <a:r>
              <a:rPr lang="zh-CN" altLang="en-US" dirty="0"/>
              <a:t>的长度减少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15A7E98-A218-5A1B-BFD6-58D3EFB9984F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CDDA8B-D097-0182-6859-D9463A59BA0B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3BD0A24-B065-568A-5FA3-DDADE9D490A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4C8BCA2-9921-2A2A-0A0B-037B6D066795}"/>
              </a:ext>
            </a:extLst>
          </p:cNvPr>
          <p:cNvSpPr txBox="1"/>
          <p:nvPr/>
        </p:nvSpPr>
        <p:spPr>
          <a:xfrm>
            <a:off x="718883" y="3943026"/>
            <a:ext cx="72008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SqStack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*&amp;s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&amp;e)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</a:t>
            </a:r>
            <a:r>
              <a:rPr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s-&gt;top==-1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栈为空的情况，即栈下溢出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false;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e=s-&gt;data[s-&gt;top];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取栈顶指针元素的元素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s-&gt;top--;	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栈顶指针减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FBC8DA-506A-3E7B-DD0F-CF4A0C3E6F53}"/>
              </a:ext>
            </a:extLst>
          </p:cNvPr>
          <p:cNvSpPr txBox="1"/>
          <p:nvPr/>
        </p:nvSpPr>
        <p:spPr>
          <a:xfrm>
            <a:off x="10782517" y="4153654"/>
            <a:ext cx="43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en-US" dirty="0"/>
          </a:p>
        </p:txBody>
      </p:sp>
      <p:sp>
        <p:nvSpPr>
          <p:cNvPr id="8" name="Line 29">
            <a:extLst>
              <a:ext uri="{FF2B5EF4-FFF2-40B4-BE49-F238E27FC236}">
                <a16:creationId xmlns:a16="http://schemas.microsoft.com/office/drawing/2014/main" id="{1A6DCC90-2A64-0EE3-DA09-EC30C98144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8447" y="4338320"/>
            <a:ext cx="666889" cy="102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145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063553" y="2348881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6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、取栈顶元素 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</a:rPr>
              <a:t>GetTop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(*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</a:rPr>
              <a:t>s,&amp;e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) 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535138" y="2808094"/>
            <a:ext cx="50730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en-US" dirty="0"/>
              <a:t>初始条件：栈</a:t>
            </a:r>
            <a:r>
              <a:rPr lang="en-US" altLang="zh-CN" dirty="0"/>
              <a:t>S</a:t>
            </a:r>
            <a:r>
              <a:rPr lang="zh-CN" altLang="en-US" dirty="0"/>
              <a:t>已经存在；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函数功能：</a:t>
            </a:r>
            <a:r>
              <a:rPr lang="zh-CN" altLang="zh-CN" dirty="0"/>
              <a:t>获取</a:t>
            </a:r>
            <a:r>
              <a:rPr lang="zh-CN" altLang="en-US" dirty="0"/>
              <a:t>栈</a:t>
            </a:r>
            <a:r>
              <a:rPr lang="en-US" altLang="zh-CN" dirty="0"/>
              <a:t>s</a:t>
            </a:r>
            <a:r>
              <a:rPr lang="zh-CN" altLang="zh-CN" dirty="0"/>
              <a:t>的</a:t>
            </a:r>
            <a:r>
              <a:rPr lang="zh-CN" altLang="en-US" dirty="0"/>
              <a:t>栈顶</a:t>
            </a:r>
            <a:r>
              <a:rPr lang="zh-CN" altLang="zh-CN" dirty="0"/>
              <a:t>数据元素</a:t>
            </a:r>
            <a:r>
              <a:rPr lang="zh-CN" altLang="en-US" dirty="0"/>
              <a:t>给</a:t>
            </a:r>
            <a:r>
              <a:rPr lang="en-US" altLang="zh-CN" dirty="0"/>
              <a:t>e</a:t>
            </a:r>
            <a:r>
              <a:rPr lang="zh-CN" altLang="en-US" dirty="0"/>
              <a:t>；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D926B0-4426-B858-DEB8-8504080F3E3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D4A94-CDB2-EC01-B89F-9BB565AFCDC5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3D25263-5B95-7732-8D22-7B45C0425A3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DABA928-1233-B1FA-A9CC-5545010298BA}"/>
              </a:ext>
            </a:extLst>
          </p:cNvPr>
          <p:cNvSpPr txBox="1"/>
          <p:nvPr/>
        </p:nvSpPr>
        <p:spPr>
          <a:xfrm>
            <a:off x="977435" y="3621471"/>
            <a:ext cx="7110550" cy="1996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GetTop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SqStack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*s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&amp;e)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 if (s-&gt;top==-1)	   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栈为空的情况，即栈下溢出     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return false;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e=s-&gt;data[s-&gt;top];   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取栈顶指针元素的元素</a:t>
            </a:r>
          </a:p>
          <a:p>
            <a:pPr algn="l">
              <a:lnSpc>
                <a:spcPts val="25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true;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dirty="0"/>
          </a:p>
        </p:txBody>
      </p:sp>
      <p:sp>
        <p:nvSpPr>
          <p:cNvPr id="12" name="Line 29">
            <a:extLst>
              <a:ext uri="{FF2B5EF4-FFF2-40B4-BE49-F238E27FC236}">
                <a16:creationId xmlns:a16="http://schemas.microsoft.com/office/drawing/2014/main" id="{5D177725-BE8F-42C1-03CE-612485DE2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2518" y="5850695"/>
            <a:ext cx="47472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C8056BA-2FCA-708D-8A3C-405EEC79A295}"/>
              </a:ext>
            </a:extLst>
          </p:cNvPr>
          <p:cNvGraphicFramePr>
            <a:graphicFrameLocks noGrp="1"/>
          </p:cNvGraphicFramePr>
          <p:nvPr/>
        </p:nvGraphicFramePr>
        <p:xfrm>
          <a:off x="9196042" y="2996952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n-1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1B6EE80E-0B62-9630-6B49-8489BC2B3FFE}"/>
              </a:ext>
            </a:extLst>
          </p:cNvPr>
          <p:cNvSpPr/>
          <p:nvPr/>
        </p:nvSpPr>
        <p:spPr>
          <a:xfrm>
            <a:off x="7905275" y="4139820"/>
            <a:ext cx="776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s-&gt;top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" name="Line 29">
            <a:extLst>
              <a:ext uri="{FF2B5EF4-FFF2-40B4-BE49-F238E27FC236}">
                <a16:creationId xmlns:a16="http://schemas.microsoft.com/office/drawing/2014/main" id="{C13B3A44-D91B-5CBE-4216-A4720ECC7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5874" y="4314188"/>
            <a:ext cx="474724" cy="102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B318C98-BCF3-F400-065A-9E48BED7FEE4}"/>
              </a:ext>
            </a:extLst>
          </p:cNvPr>
          <p:cNvSpPr/>
          <p:nvPr/>
        </p:nvSpPr>
        <p:spPr>
          <a:xfrm>
            <a:off x="7825771" y="5674388"/>
            <a:ext cx="865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s-&gt;data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9F704B4-9F17-C1D2-4FDA-BF397AB7B5F2}"/>
              </a:ext>
            </a:extLst>
          </p:cNvPr>
          <p:cNvSpPr txBox="1"/>
          <p:nvPr/>
        </p:nvSpPr>
        <p:spPr>
          <a:xfrm>
            <a:off x="10782517" y="4153654"/>
            <a:ext cx="43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en-US" dirty="0"/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F7E7294B-FBBE-AEF6-7FD3-681DCC27BB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8447" y="4338320"/>
            <a:ext cx="666889" cy="102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595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135560" y="2379914"/>
            <a:ext cx="4693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7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、判断栈是否为满 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</a:rPr>
              <a:t>StackEmpty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(s)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6" name="Line 29"/>
          <p:cNvSpPr>
            <a:spLocks noChangeShapeType="1"/>
          </p:cNvSpPr>
          <p:nvPr/>
        </p:nvSpPr>
        <p:spPr bwMode="auto">
          <a:xfrm>
            <a:off x="8598383" y="5706679"/>
            <a:ext cx="47472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484063"/>
              </p:ext>
            </p:extLst>
          </p:nvPr>
        </p:nvGraphicFramePr>
        <p:xfrm>
          <a:off x="9061907" y="2852936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n-1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矩形 22"/>
          <p:cNvSpPr/>
          <p:nvPr/>
        </p:nvSpPr>
        <p:spPr>
          <a:xfrm>
            <a:off x="7895410" y="4009774"/>
            <a:ext cx="6655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S.top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8598383" y="4184142"/>
            <a:ext cx="474724" cy="102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895410" y="5522013"/>
            <a:ext cx="755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S.data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570991" y="2849245"/>
            <a:ext cx="51811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zh-CN" altLang="en-US" dirty="0"/>
              <a:t>初始条件：栈</a:t>
            </a:r>
            <a:r>
              <a:rPr lang="en-US" altLang="zh-CN" dirty="0"/>
              <a:t>s</a:t>
            </a:r>
            <a:r>
              <a:rPr lang="zh-CN" altLang="en-US" dirty="0"/>
              <a:t>已经存在；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函数功能：判断栈</a:t>
            </a:r>
            <a:r>
              <a:rPr lang="en-US" altLang="zh-CN" dirty="0"/>
              <a:t>s</a:t>
            </a:r>
            <a:r>
              <a:rPr lang="zh-CN" altLang="en-US" dirty="0"/>
              <a:t>是否为栈满；</a:t>
            </a:r>
            <a:endParaRPr lang="en-US" altLang="zh-CN" dirty="0"/>
          </a:p>
          <a:p>
            <a:pPr marL="179388" indent="-179388"/>
            <a:r>
              <a:rPr lang="zh-CN" altLang="en-US" dirty="0"/>
              <a:t>操作结果：若</a:t>
            </a:r>
            <a:r>
              <a:rPr lang="en-US" altLang="zh-CN" dirty="0"/>
              <a:t>s</a:t>
            </a:r>
            <a:r>
              <a:rPr lang="zh-CN" altLang="en-US" dirty="0"/>
              <a:t>为满，返回</a:t>
            </a:r>
            <a:r>
              <a:rPr lang="en-US" altLang="zh-CN" dirty="0"/>
              <a:t>TRUE</a:t>
            </a:r>
            <a:r>
              <a:rPr lang="zh-CN" altLang="en-US" dirty="0"/>
              <a:t>，否则返回</a:t>
            </a:r>
            <a:r>
              <a:rPr lang="en-US" altLang="zh-CN" dirty="0"/>
              <a:t>FALSE</a:t>
            </a:r>
            <a:r>
              <a:rPr lang="zh-CN" altLang="en-US" dirty="0"/>
              <a:t>；</a:t>
            </a:r>
          </a:p>
        </p:txBody>
      </p:sp>
      <p:sp>
        <p:nvSpPr>
          <p:cNvPr id="3" name="矩形 2"/>
          <p:cNvSpPr/>
          <p:nvPr/>
        </p:nvSpPr>
        <p:spPr>
          <a:xfrm>
            <a:off x="2579003" y="3827585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bool 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</a:rPr>
              <a:t>StackEmpty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</a:rPr>
              <a:t>SqStack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 S)</a:t>
            </a:r>
            <a:endParaRPr lang="zh-CN" altLang="zh-CN" sz="20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{</a:t>
            </a:r>
            <a:endParaRPr lang="zh-CN" altLang="zh-CN" sz="20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	return s-&gt;top==MaxSize-1;</a:t>
            </a:r>
            <a:endParaRPr lang="zh-CN" altLang="zh-CN" sz="2000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}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848CB1E-376A-9D6C-DD32-532773CB191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A2DEAD-229F-FFAE-E246-63302CD2C75F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645457A-A7DA-F99A-ECB8-08B9EF30EC73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08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66EC-02D6-7FE1-4C78-15C5EA274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C083B48-5A2B-450A-A71D-80895C7A6C0A}"/>
              </a:ext>
            </a:extLst>
          </p:cNvPr>
          <p:cNvSpPr/>
          <p:nvPr/>
        </p:nvSpPr>
        <p:spPr>
          <a:xfrm>
            <a:off x="1631504" y="1913606"/>
            <a:ext cx="3456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顺序栈的应用算法设计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FD8CE08-D0C3-17AF-B98E-C303BBD6834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EDBA24-08A9-4BB7-C8CA-486E94BD9091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67ED41D-0192-F039-F0A4-5750F764FC73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4">
            <a:extLst>
              <a:ext uri="{FF2B5EF4-FFF2-40B4-BE49-F238E27FC236}">
                <a16:creationId xmlns:a16="http://schemas.microsoft.com/office/drawing/2014/main" id="{15B54518-8D8A-1ACA-3D99-2385358D0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448" y="2375271"/>
            <a:ext cx="10297144" cy="827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【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例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3.4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】</a:t>
            </a:r>
            <a:r>
              <a:rPr lang="en-US" altLang="zh-CN" sz="2000" dirty="0">
                <a:latin typeface="Consolas" pitchFamily="49" charset="0"/>
                <a:ea typeface="黑体" pitchFamily="49" charset="-122"/>
                <a:cs typeface="Consolas" pitchFamily="49" charset="0"/>
              </a:rPr>
              <a:t> </a:t>
            </a: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设计一个算法利用顺序栈判断一个字符串是否是对称串。所谓</a:t>
            </a: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对称串</a:t>
            </a: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是指从左向右读和从右向左读的序列相同。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763B6229-659F-A524-8EB2-B0ACDB2AB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4131566"/>
            <a:ext cx="5688632" cy="1449087"/>
          </a:xfrm>
          <a:prstGeom prst="rect">
            <a:avLst/>
          </a:prstGeom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08000" bIns="108000">
            <a:spAutoFit/>
          </a:bodyPr>
          <a:lstStyle/>
          <a:p>
            <a:pPr marL="342900" indent="-342900" algn="l">
              <a:lnSpc>
                <a:spcPct val="120000"/>
              </a:lnSpc>
              <a:spcBef>
                <a:spcPct val="50000"/>
              </a:spcBef>
              <a:buBlip>
                <a:blip r:embed="rId2"/>
              </a:buBlip>
            </a:pP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字符串</a:t>
            </a:r>
            <a:r>
              <a:rPr lang="en-US" altLang="zh-CN" sz="20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的所有元素依次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进栈，产生的连续出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栈序列正好与</a:t>
            </a:r>
            <a:r>
              <a:rPr lang="en-US" altLang="zh-CN" sz="20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的顺序相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反。</a:t>
            </a: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ct val="120000"/>
              </a:lnSpc>
              <a:spcBef>
                <a:spcPct val="50000"/>
              </a:spcBef>
              <a:buBlip>
                <a:blip r:embed="rId2"/>
              </a:buBlip>
            </a:pP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如果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与连续出栈序列相同，则是</a:t>
            </a:r>
            <a:r>
              <a:rPr lang="zh-CN" altLang="en-US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对称串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E8177145-B242-48F1-159A-EB0217EFD114}"/>
              </a:ext>
            </a:extLst>
          </p:cNvPr>
          <p:cNvSpPr txBox="1"/>
          <p:nvPr/>
        </p:nvSpPr>
        <p:spPr>
          <a:xfrm>
            <a:off x="1630934" y="3403604"/>
            <a:ext cx="1928826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perspectiveRight"/>
            <a:lightRig rig="threePt" dir="t"/>
          </a:scene3d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算法设计思路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08C7B3CA-490E-3FAD-5595-6DED61BB5DF6}"/>
              </a:ext>
            </a:extLst>
          </p:cNvPr>
          <p:cNvSpPr txBox="1"/>
          <p:nvPr/>
        </p:nvSpPr>
        <p:spPr>
          <a:xfrm>
            <a:off x="8177392" y="3364123"/>
            <a:ext cx="3143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latin typeface="Consolas" pitchFamily="49" charset="0"/>
                <a:ea typeface="楷体" pitchFamily="49" charset="-122"/>
                <a:cs typeface="Consolas" pitchFamily="49" charset="0"/>
              </a:rPr>
              <a:t>例如，</a:t>
            </a:r>
            <a:r>
              <a:rPr lang="en-US" altLang="zh-CN" sz="2000">
                <a:latin typeface="Consolas" pitchFamily="49" charset="0"/>
                <a:ea typeface="楷体" pitchFamily="49" charset="-122"/>
                <a:cs typeface="Consolas" pitchFamily="49" charset="0"/>
              </a:rPr>
              <a:t>str="abcba"</a:t>
            </a:r>
            <a:endParaRPr lang="zh-CN" altLang="en-US" sz="2000"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A7A2F78D-F2B1-DB92-0E5B-7EB0DAE8A3FE}"/>
              </a:ext>
            </a:extLst>
          </p:cNvPr>
          <p:cNvSpPr txBox="1"/>
          <p:nvPr/>
        </p:nvSpPr>
        <p:spPr>
          <a:xfrm>
            <a:off x="7320136" y="4292817"/>
            <a:ext cx="5072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str</a:t>
            </a:r>
            <a:r>
              <a: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rPr>
              <a:t>进栈并连续出栈序列</a:t>
            </a:r>
            <a:r>
              <a:rPr lang="en-US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str'="abcba"</a:t>
            </a:r>
            <a:endParaRPr lang="zh-CN" altLang="en-US" sz="2000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DC162CD3-D256-92D1-31C0-66DC3F0CA87F}"/>
              </a:ext>
            </a:extLst>
          </p:cNvPr>
          <p:cNvSpPr txBox="1"/>
          <p:nvPr/>
        </p:nvSpPr>
        <p:spPr>
          <a:xfrm>
            <a:off x="8105954" y="5292949"/>
            <a:ext cx="3214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str=str',str</a:t>
            </a:r>
            <a:r>
              <a: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rPr>
              <a:t>是</a:t>
            </a:r>
            <a:r>
              <a:rPr lang="zh-CN" altLang="en-US" sz="20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对称串</a:t>
            </a:r>
            <a:endParaRPr lang="zh-CN" altLang="en-US" sz="2000"/>
          </a:p>
        </p:txBody>
      </p:sp>
      <p:sp>
        <p:nvSpPr>
          <p:cNvPr id="12" name="下箭头 5">
            <a:extLst>
              <a:ext uri="{FF2B5EF4-FFF2-40B4-BE49-F238E27FC236}">
                <a16:creationId xmlns:a16="http://schemas.microsoft.com/office/drawing/2014/main" id="{E3AFF291-AC29-E691-41F1-E4CAD99C5772}"/>
              </a:ext>
            </a:extLst>
          </p:cNvPr>
          <p:cNvSpPr/>
          <p:nvPr/>
        </p:nvSpPr>
        <p:spPr>
          <a:xfrm>
            <a:off x="9320400" y="3864189"/>
            <a:ext cx="214314" cy="357190"/>
          </a:xfrm>
          <a:prstGeom prst="downArrow">
            <a:avLst/>
          </a:prstGeom>
          <a:ln>
            <a:tailEnd type="triangle" w="med" len="lg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4" name="下箭头 6">
            <a:extLst>
              <a:ext uri="{FF2B5EF4-FFF2-40B4-BE49-F238E27FC236}">
                <a16:creationId xmlns:a16="http://schemas.microsoft.com/office/drawing/2014/main" id="{86B406D0-2704-3287-C2CD-3B5A6F715AB8}"/>
              </a:ext>
            </a:extLst>
          </p:cNvPr>
          <p:cNvSpPr/>
          <p:nvPr/>
        </p:nvSpPr>
        <p:spPr>
          <a:xfrm>
            <a:off x="9320400" y="4792883"/>
            <a:ext cx="214314" cy="357190"/>
          </a:xfrm>
          <a:prstGeom prst="downArrow">
            <a:avLst/>
          </a:prstGeom>
          <a:ln>
            <a:tailEnd type="triangle" w="med" len="lg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19569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78E4-9B37-3BE1-5A91-700B7D28D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0BC90082-8888-1815-F208-2BAA3F5FF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44" y="1935064"/>
            <a:ext cx="8858312" cy="46039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08000" bIns="10800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6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symmetry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[])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e; 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SqStack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InitStack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	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初始化栈</a:t>
            </a:r>
            <a:endParaRPr lang="en-US" altLang="zh-CN" sz="16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</a:pPr>
            <a:endParaRPr lang="zh-CN" altLang="en-US" sz="16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for 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=0;str[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]!='\0';i++)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将串所有元素进栈</a:t>
            </a:r>
          </a:p>
          <a:p>
            <a:pPr algn="l">
              <a:lnSpc>
                <a:spcPts val="18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str[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]);		        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元素进栈</a:t>
            </a:r>
            <a:endParaRPr lang="en-US" altLang="zh-CN" sz="16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</a:pPr>
            <a:endParaRPr lang="zh-CN" altLang="en-US" sz="16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for 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0;str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]!='\0';i++)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Pop(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e);	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退栈元素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if (str[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]!=e)	 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与当前串元素不同则不是对称串</a:t>
            </a:r>
          </a:p>
          <a:p>
            <a:pPr algn="l">
              <a:lnSpc>
                <a:spcPts val="18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DestroyStack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销毁栈</a:t>
            </a:r>
          </a:p>
          <a:p>
            <a:pPr algn="l">
              <a:lnSpc>
                <a:spcPts val="18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false;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</a:p>
          <a:p>
            <a:pPr algn="l">
              <a:lnSpc>
                <a:spcPts val="1800"/>
              </a:lnSpc>
            </a:pPr>
            <a:endParaRPr lang="en-US" altLang="zh-CN" sz="16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DestroyStack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	 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销毁栈</a:t>
            </a:r>
          </a:p>
          <a:p>
            <a:pPr algn="l">
              <a:lnSpc>
                <a:spcPts val="18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true;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0F2CD59-4464-34E4-7E62-03D95E233014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B30037-52DA-9A2E-29BF-EFA92D0B6EB9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B17048B-8308-6396-1553-42873A8051C1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03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DB2A5-B12A-96CF-ECBF-1987E9045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F5894FC-8C55-A9EA-AC9F-305BFA7E557A}"/>
              </a:ext>
            </a:extLst>
          </p:cNvPr>
          <p:cNvSpPr/>
          <p:nvPr/>
        </p:nvSpPr>
        <p:spPr>
          <a:xfrm>
            <a:off x="1631504" y="1913606"/>
            <a:ext cx="3456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顺序栈的应用算法设计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F3C691-949D-9E8E-C6B9-B6919E17CA47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9483E5-00B0-A559-1E0B-3EFE19CFC54A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EA5727B-F215-73DC-D00B-B534578CA21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8">
            <a:extLst>
              <a:ext uri="{FF2B5EF4-FFF2-40B4-BE49-F238E27FC236}">
                <a16:creationId xmlns:a16="http://schemas.microsoft.com/office/drawing/2014/main" id="{0ABEE826-AE30-933E-462F-38C00CEF921D}"/>
              </a:ext>
            </a:extLst>
          </p:cNvPr>
          <p:cNvSpPr txBox="1"/>
          <p:nvPr/>
        </p:nvSpPr>
        <p:spPr>
          <a:xfrm>
            <a:off x="1559496" y="2492896"/>
            <a:ext cx="7643866" cy="40011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设计一个算法，利用栈将一个正十进制整数转换为二进制数并输出。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47AB7BE9-71A0-6FB3-9DC8-450B2E454681}"/>
              </a:ext>
            </a:extLst>
          </p:cNvPr>
          <p:cNvSpPr txBox="1"/>
          <p:nvPr/>
        </p:nvSpPr>
        <p:spPr>
          <a:xfrm>
            <a:off x="1558497" y="3051401"/>
            <a:ext cx="300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>
                <a:latin typeface="Consolas" pitchFamily="49" charset="0"/>
                <a:ea typeface="华文中宋" pitchFamily="2" charset="-122"/>
                <a:cs typeface="Consolas" pitchFamily="49" charset="0"/>
              </a:rPr>
              <a:t>十进制 </a:t>
            </a:r>
            <a:r>
              <a:rPr lang="zh-CN" altLang="en-US" sz="1800">
                <a:latin typeface="Consolas" pitchFamily="49" charset="0"/>
                <a:ea typeface="华文中宋" pitchFamily="2" charset="-122"/>
                <a:cs typeface="Consolas" pitchFamily="49" charset="0"/>
                <a:sym typeface="Wingdings"/>
              </a:rPr>
              <a:t> 二进制：</a:t>
            </a:r>
            <a:r>
              <a:rPr lang="en-US" altLang="zh-CN" sz="1800" i="1">
                <a:latin typeface="Consolas" pitchFamily="49" charset="0"/>
                <a:ea typeface="华文中宋" pitchFamily="2" charset="-122"/>
                <a:cs typeface="Consolas" pitchFamily="49" charset="0"/>
                <a:sym typeface="Wingdings"/>
              </a:rPr>
              <a:t>n</a:t>
            </a:r>
            <a:r>
              <a:rPr lang="en-US" altLang="zh-CN" sz="1800">
                <a:latin typeface="Consolas" pitchFamily="49" charset="0"/>
                <a:ea typeface="华文中宋" pitchFamily="2" charset="-122"/>
                <a:cs typeface="Consolas" pitchFamily="49" charset="0"/>
                <a:sym typeface="Wingdings"/>
              </a:rPr>
              <a:t>=10</a:t>
            </a:r>
            <a:endParaRPr lang="zh-CN" altLang="en-US" sz="1800"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  <p:grpSp>
        <p:nvGrpSpPr>
          <p:cNvPr id="16" name="组合 48">
            <a:extLst>
              <a:ext uri="{FF2B5EF4-FFF2-40B4-BE49-F238E27FC236}">
                <a16:creationId xmlns:a16="http://schemas.microsoft.com/office/drawing/2014/main" id="{121E3A5F-9F74-DC28-B4DD-6A8FC36EBAE1}"/>
              </a:ext>
            </a:extLst>
          </p:cNvPr>
          <p:cNvGrpSpPr/>
          <p:nvPr/>
        </p:nvGrpSpPr>
        <p:grpSpPr>
          <a:xfrm>
            <a:off x="2207568" y="3798214"/>
            <a:ext cx="4857784" cy="2100277"/>
            <a:chOff x="1142976" y="2786058"/>
            <a:chExt cx="4857784" cy="2100277"/>
          </a:xfrm>
        </p:grpSpPr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6EC19122-77D6-A260-0A9F-D3E747DF046E}"/>
                </a:ext>
              </a:extLst>
            </p:cNvPr>
            <p:cNvSpPr txBox="1"/>
            <p:nvPr/>
          </p:nvSpPr>
          <p:spPr>
            <a:xfrm>
              <a:off x="2357422" y="2786058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10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D6C80FE-DD15-651E-342A-A79C17433F39}"/>
                </a:ext>
              </a:extLst>
            </p:cNvPr>
            <p:cNvCxnSpPr/>
            <p:nvPr/>
          </p:nvCxnSpPr>
          <p:spPr>
            <a:xfrm>
              <a:off x="1571604" y="3214686"/>
              <a:ext cx="1584000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9093980-F770-D402-8F93-B7809A942941}"/>
                </a:ext>
              </a:extLst>
            </p:cNvPr>
            <p:cNvCxnSpPr/>
            <p:nvPr/>
          </p:nvCxnSpPr>
          <p:spPr>
            <a:xfrm rot="5400000">
              <a:off x="1373604" y="3017396"/>
              <a:ext cx="396000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B1B9691D-5792-C95D-89AB-4F393AE50062}"/>
                </a:ext>
              </a:extLst>
            </p:cNvPr>
            <p:cNvSpPr txBox="1"/>
            <p:nvPr/>
          </p:nvSpPr>
          <p:spPr>
            <a:xfrm>
              <a:off x="1142976" y="2814576"/>
              <a:ext cx="357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2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FC02B10A-8F9E-51A7-D4A1-147314A3387E}"/>
                </a:ext>
              </a:extLst>
            </p:cNvPr>
            <p:cNvSpPr txBox="1"/>
            <p:nvPr/>
          </p:nvSpPr>
          <p:spPr>
            <a:xfrm>
              <a:off x="2500298" y="3214686"/>
              <a:ext cx="5715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5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7B0A13A4-F32A-A4FD-5D09-5C1F140DFEC9}"/>
                </a:ext>
              </a:extLst>
            </p:cNvPr>
            <p:cNvCxnSpPr/>
            <p:nvPr/>
          </p:nvCxnSpPr>
          <p:spPr>
            <a:xfrm rot="10800000">
              <a:off x="3286115" y="3424180"/>
              <a:ext cx="928694" cy="0"/>
            </a:xfrm>
            <a:prstGeom prst="line">
              <a:avLst/>
            </a:prstGeom>
            <a:ln>
              <a:solidFill>
                <a:srgbClr val="008000"/>
              </a:solidFill>
              <a:prstDash val="dash"/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3" name="TextBox 20">
              <a:extLst>
                <a:ext uri="{FF2B5EF4-FFF2-40B4-BE49-F238E27FC236}">
                  <a16:creationId xmlns:a16="http://schemas.microsoft.com/office/drawing/2014/main" id="{F89B17AF-0FAF-86F3-13B1-F40C6B0C5091}"/>
                </a:ext>
              </a:extLst>
            </p:cNvPr>
            <p:cNvSpPr txBox="1"/>
            <p:nvPr/>
          </p:nvSpPr>
          <p:spPr>
            <a:xfrm>
              <a:off x="4286248" y="3209866"/>
              <a:ext cx="17145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10 % 2 = 0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922BA9DE-9811-64DB-2E79-C29A2D4DD0FF}"/>
                </a:ext>
              </a:extLst>
            </p:cNvPr>
            <p:cNvCxnSpPr/>
            <p:nvPr/>
          </p:nvCxnSpPr>
          <p:spPr>
            <a:xfrm>
              <a:off x="1714480" y="3614796"/>
              <a:ext cx="1440000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A6E0B79-291B-885B-15A0-8208869E951A}"/>
                </a:ext>
              </a:extLst>
            </p:cNvPr>
            <p:cNvCxnSpPr/>
            <p:nvPr/>
          </p:nvCxnSpPr>
          <p:spPr>
            <a:xfrm rot="5400000">
              <a:off x="1516480" y="3417506"/>
              <a:ext cx="396000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6" name="TextBox 23">
              <a:extLst>
                <a:ext uri="{FF2B5EF4-FFF2-40B4-BE49-F238E27FC236}">
                  <a16:creationId xmlns:a16="http://schemas.microsoft.com/office/drawing/2014/main" id="{D8AB1F49-0B5B-878E-0AAC-B0A95743485C}"/>
                </a:ext>
              </a:extLst>
            </p:cNvPr>
            <p:cNvSpPr txBox="1"/>
            <p:nvPr/>
          </p:nvSpPr>
          <p:spPr>
            <a:xfrm>
              <a:off x="1285852" y="3214686"/>
              <a:ext cx="357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2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DD62A4B-3DDB-A2C9-3468-8C82820C23D5}"/>
                </a:ext>
              </a:extLst>
            </p:cNvPr>
            <p:cNvCxnSpPr/>
            <p:nvPr/>
          </p:nvCxnSpPr>
          <p:spPr>
            <a:xfrm rot="10800000">
              <a:off x="3286116" y="3852808"/>
              <a:ext cx="928694" cy="0"/>
            </a:xfrm>
            <a:prstGeom prst="line">
              <a:avLst/>
            </a:prstGeom>
            <a:ln>
              <a:solidFill>
                <a:srgbClr val="008000"/>
              </a:solidFill>
              <a:prstDash val="dash"/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8" name="TextBox 25">
              <a:extLst>
                <a:ext uri="{FF2B5EF4-FFF2-40B4-BE49-F238E27FC236}">
                  <a16:creationId xmlns:a16="http://schemas.microsoft.com/office/drawing/2014/main" id="{BBDB9FAB-D995-D38A-6421-C30BA5DAFC75}"/>
                </a:ext>
              </a:extLst>
            </p:cNvPr>
            <p:cNvSpPr txBox="1"/>
            <p:nvPr/>
          </p:nvSpPr>
          <p:spPr>
            <a:xfrm>
              <a:off x="4286248" y="3638494"/>
              <a:ext cx="17145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5 % 2  = 1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B2E5620-CC09-820F-5E45-0F91C243D5D9}"/>
                </a:ext>
              </a:extLst>
            </p:cNvPr>
            <p:cNvCxnSpPr/>
            <p:nvPr/>
          </p:nvCxnSpPr>
          <p:spPr>
            <a:xfrm>
              <a:off x="1919269" y="4052182"/>
              <a:ext cx="1242000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EE841C7-BD1C-A8A8-8728-19AA9E8B57D4}"/>
                </a:ext>
              </a:extLst>
            </p:cNvPr>
            <p:cNvCxnSpPr/>
            <p:nvPr/>
          </p:nvCxnSpPr>
          <p:spPr>
            <a:xfrm rot="5400000">
              <a:off x="1721269" y="3845367"/>
              <a:ext cx="396000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31" name="TextBox 28">
              <a:extLst>
                <a:ext uri="{FF2B5EF4-FFF2-40B4-BE49-F238E27FC236}">
                  <a16:creationId xmlns:a16="http://schemas.microsoft.com/office/drawing/2014/main" id="{D8AF2EEF-3EAF-6A93-8049-ED6766D3D717}"/>
                </a:ext>
              </a:extLst>
            </p:cNvPr>
            <p:cNvSpPr txBox="1"/>
            <p:nvPr/>
          </p:nvSpPr>
          <p:spPr>
            <a:xfrm>
              <a:off x="1490641" y="3642547"/>
              <a:ext cx="357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2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2" name="TextBox 29">
              <a:extLst>
                <a:ext uri="{FF2B5EF4-FFF2-40B4-BE49-F238E27FC236}">
                  <a16:creationId xmlns:a16="http://schemas.microsoft.com/office/drawing/2014/main" id="{F8229206-2B2F-647D-9757-B9FF0245B956}"/>
                </a:ext>
              </a:extLst>
            </p:cNvPr>
            <p:cNvSpPr txBox="1"/>
            <p:nvPr/>
          </p:nvSpPr>
          <p:spPr>
            <a:xfrm>
              <a:off x="2500298" y="3662307"/>
              <a:ext cx="5715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2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43B3154-2558-1E6D-0328-8E9B030DB2E5}"/>
                </a:ext>
              </a:extLst>
            </p:cNvPr>
            <p:cNvCxnSpPr/>
            <p:nvPr/>
          </p:nvCxnSpPr>
          <p:spPr>
            <a:xfrm>
              <a:off x="2143108" y="4462527"/>
              <a:ext cx="1026000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3EAD89DB-5D86-0635-869C-A04D3C33A794}"/>
                </a:ext>
              </a:extLst>
            </p:cNvPr>
            <p:cNvCxnSpPr/>
            <p:nvPr/>
          </p:nvCxnSpPr>
          <p:spPr>
            <a:xfrm rot="5400000">
              <a:off x="1945108" y="4265237"/>
              <a:ext cx="396000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35" name="TextBox 32">
              <a:extLst>
                <a:ext uri="{FF2B5EF4-FFF2-40B4-BE49-F238E27FC236}">
                  <a16:creationId xmlns:a16="http://schemas.microsoft.com/office/drawing/2014/main" id="{FB47ED83-0219-7902-7C7E-93CDF825CE94}"/>
                </a:ext>
              </a:extLst>
            </p:cNvPr>
            <p:cNvSpPr txBox="1"/>
            <p:nvPr/>
          </p:nvSpPr>
          <p:spPr>
            <a:xfrm>
              <a:off x="1714480" y="4062417"/>
              <a:ext cx="357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2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6" name="TextBox 33">
              <a:extLst>
                <a:ext uri="{FF2B5EF4-FFF2-40B4-BE49-F238E27FC236}">
                  <a16:creationId xmlns:a16="http://schemas.microsoft.com/office/drawing/2014/main" id="{2B012A25-E585-970E-6B25-46B8819572D6}"/>
                </a:ext>
              </a:extLst>
            </p:cNvPr>
            <p:cNvSpPr txBox="1"/>
            <p:nvPr/>
          </p:nvSpPr>
          <p:spPr>
            <a:xfrm>
              <a:off x="2500298" y="4100460"/>
              <a:ext cx="5715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1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A1FFAEA-8B25-D34D-115D-F0901B090FD8}"/>
                </a:ext>
              </a:extLst>
            </p:cNvPr>
            <p:cNvCxnSpPr/>
            <p:nvPr/>
          </p:nvCxnSpPr>
          <p:spPr>
            <a:xfrm>
              <a:off x="2357422" y="4838767"/>
              <a:ext cx="828000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5ECA4120-FEE6-6567-192E-CE0DE6553F8E}"/>
                </a:ext>
              </a:extLst>
            </p:cNvPr>
            <p:cNvCxnSpPr/>
            <p:nvPr/>
          </p:nvCxnSpPr>
          <p:spPr>
            <a:xfrm rot="5400000">
              <a:off x="2159422" y="4651002"/>
              <a:ext cx="396000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39" name="TextBox 36">
              <a:extLst>
                <a:ext uri="{FF2B5EF4-FFF2-40B4-BE49-F238E27FC236}">
                  <a16:creationId xmlns:a16="http://schemas.microsoft.com/office/drawing/2014/main" id="{F2E93CAA-AE29-41D7-52AD-A11EC7F6B88A}"/>
                </a:ext>
              </a:extLst>
            </p:cNvPr>
            <p:cNvSpPr txBox="1"/>
            <p:nvPr/>
          </p:nvSpPr>
          <p:spPr>
            <a:xfrm>
              <a:off x="1928794" y="4448182"/>
              <a:ext cx="357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2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0" name="TextBox 37">
              <a:extLst>
                <a:ext uri="{FF2B5EF4-FFF2-40B4-BE49-F238E27FC236}">
                  <a16:creationId xmlns:a16="http://schemas.microsoft.com/office/drawing/2014/main" id="{785AB324-1D0B-AAA3-2041-97259EF9945C}"/>
                </a:ext>
              </a:extLst>
            </p:cNvPr>
            <p:cNvSpPr txBox="1"/>
            <p:nvPr/>
          </p:nvSpPr>
          <p:spPr>
            <a:xfrm>
              <a:off x="2500298" y="4486225"/>
              <a:ext cx="5715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0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A33E4F9D-C786-F836-21F0-2BF58728168F}"/>
                </a:ext>
              </a:extLst>
            </p:cNvPr>
            <p:cNvCxnSpPr/>
            <p:nvPr/>
          </p:nvCxnSpPr>
          <p:spPr>
            <a:xfrm rot="10800000">
              <a:off x="3286116" y="4286256"/>
              <a:ext cx="928694" cy="0"/>
            </a:xfrm>
            <a:prstGeom prst="line">
              <a:avLst/>
            </a:prstGeom>
            <a:ln>
              <a:solidFill>
                <a:srgbClr val="008000"/>
              </a:solidFill>
              <a:prstDash val="dash"/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2" name="TextBox 39">
              <a:extLst>
                <a:ext uri="{FF2B5EF4-FFF2-40B4-BE49-F238E27FC236}">
                  <a16:creationId xmlns:a16="http://schemas.microsoft.com/office/drawing/2014/main" id="{88B76018-2C43-0CBB-622D-A70F59F22124}"/>
                </a:ext>
              </a:extLst>
            </p:cNvPr>
            <p:cNvSpPr txBox="1"/>
            <p:nvPr/>
          </p:nvSpPr>
          <p:spPr>
            <a:xfrm>
              <a:off x="4286248" y="4071942"/>
              <a:ext cx="17145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2 % 2  = 0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D0D81FFC-30A7-DEDE-A8AC-A09D6C4C7169}"/>
                </a:ext>
              </a:extLst>
            </p:cNvPr>
            <p:cNvCxnSpPr/>
            <p:nvPr/>
          </p:nvCxnSpPr>
          <p:spPr>
            <a:xfrm rot="10800000">
              <a:off x="3286116" y="4671964"/>
              <a:ext cx="928694" cy="0"/>
            </a:xfrm>
            <a:prstGeom prst="line">
              <a:avLst/>
            </a:prstGeom>
            <a:ln>
              <a:solidFill>
                <a:srgbClr val="008000"/>
              </a:solidFill>
              <a:prstDash val="dash"/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4" name="TextBox 41">
              <a:extLst>
                <a:ext uri="{FF2B5EF4-FFF2-40B4-BE49-F238E27FC236}">
                  <a16:creationId xmlns:a16="http://schemas.microsoft.com/office/drawing/2014/main" id="{1B4A4DBD-C2B8-1EB7-A71A-FEFB3232B43C}"/>
                </a:ext>
              </a:extLst>
            </p:cNvPr>
            <p:cNvSpPr txBox="1"/>
            <p:nvPr/>
          </p:nvSpPr>
          <p:spPr>
            <a:xfrm>
              <a:off x="4286248" y="4457650"/>
              <a:ext cx="17145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1 % 2  = 1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45" name="组合 49">
            <a:extLst>
              <a:ext uri="{FF2B5EF4-FFF2-40B4-BE49-F238E27FC236}">
                <a16:creationId xmlns:a16="http://schemas.microsoft.com/office/drawing/2014/main" id="{85BC7D68-D45C-ED8F-DEE9-39A15C6FB91B}"/>
              </a:ext>
            </a:extLst>
          </p:cNvPr>
          <p:cNvGrpSpPr/>
          <p:nvPr/>
        </p:nvGrpSpPr>
        <p:grpSpPr>
          <a:xfrm>
            <a:off x="7350310" y="4155404"/>
            <a:ext cx="858050" cy="1726654"/>
            <a:chOff x="6285718" y="3143248"/>
            <a:chExt cx="858050" cy="1726654"/>
          </a:xfrm>
        </p:grpSpPr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FD0D59FE-E6FD-07AA-A169-E49811999ED3}"/>
                </a:ext>
              </a:extLst>
            </p:cNvPr>
            <p:cNvCxnSpPr/>
            <p:nvPr/>
          </p:nvCxnSpPr>
          <p:spPr>
            <a:xfrm rot="5400000" flipH="1" flipV="1">
              <a:off x="5464975" y="4035429"/>
              <a:ext cx="1643074" cy="1588"/>
            </a:xfrm>
            <a:prstGeom prst="straightConnector1">
              <a:avLst/>
            </a:prstGeom>
            <a:ln>
              <a:solidFill>
                <a:srgbClr val="FF00FF"/>
              </a:solidFill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7" name="TextBox 44">
              <a:extLst>
                <a:ext uri="{FF2B5EF4-FFF2-40B4-BE49-F238E27FC236}">
                  <a16:creationId xmlns:a16="http://schemas.microsoft.com/office/drawing/2014/main" id="{4D481A53-4870-68DE-02E0-8C37B3973699}"/>
                </a:ext>
              </a:extLst>
            </p:cNvPr>
            <p:cNvSpPr txBox="1"/>
            <p:nvPr/>
          </p:nvSpPr>
          <p:spPr>
            <a:xfrm>
              <a:off x="6429388" y="3143248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800">
                  <a:latin typeface="仿宋" pitchFamily="49" charset="-122"/>
                  <a:ea typeface="仿宋" pitchFamily="49" charset="-122"/>
                </a:rPr>
                <a:t>低位</a:t>
              </a:r>
            </a:p>
          </p:txBody>
        </p:sp>
        <p:sp>
          <p:nvSpPr>
            <p:cNvPr id="48" name="TextBox 45">
              <a:extLst>
                <a:ext uri="{FF2B5EF4-FFF2-40B4-BE49-F238E27FC236}">
                  <a16:creationId xmlns:a16="http://schemas.microsoft.com/office/drawing/2014/main" id="{0DE2564B-5925-019D-E45D-90251B6C0756}"/>
                </a:ext>
              </a:extLst>
            </p:cNvPr>
            <p:cNvSpPr txBox="1"/>
            <p:nvPr/>
          </p:nvSpPr>
          <p:spPr>
            <a:xfrm>
              <a:off x="6429388" y="4500570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800">
                  <a:latin typeface="仿宋" pitchFamily="49" charset="-122"/>
                  <a:ea typeface="仿宋" pitchFamily="49" charset="-122"/>
                </a:rPr>
                <a:t>高位</a:t>
              </a:r>
            </a:p>
          </p:txBody>
        </p:sp>
      </p:grpSp>
      <p:grpSp>
        <p:nvGrpSpPr>
          <p:cNvPr id="49" name="组合 50">
            <a:extLst>
              <a:ext uri="{FF2B5EF4-FFF2-40B4-BE49-F238E27FC236}">
                <a16:creationId xmlns:a16="http://schemas.microsoft.com/office/drawing/2014/main" id="{2DC150F9-2450-9AF2-747F-244E7E6CD7F9}"/>
              </a:ext>
            </a:extLst>
          </p:cNvPr>
          <p:cNvGrpSpPr/>
          <p:nvPr/>
        </p:nvGrpSpPr>
        <p:grpSpPr>
          <a:xfrm>
            <a:off x="8208360" y="4369718"/>
            <a:ext cx="1593936" cy="1357322"/>
            <a:chOff x="7143768" y="3357562"/>
            <a:chExt cx="1593936" cy="1357322"/>
          </a:xfrm>
        </p:grpSpPr>
        <p:sp>
          <p:nvSpPr>
            <p:cNvPr id="50" name="右大括号 49">
              <a:extLst>
                <a:ext uri="{FF2B5EF4-FFF2-40B4-BE49-F238E27FC236}">
                  <a16:creationId xmlns:a16="http://schemas.microsoft.com/office/drawing/2014/main" id="{C2AAD12A-4BB4-D7AC-AFA5-B39F6527E413}"/>
                </a:ext>
              </a:extLst>
            </p:cNvPr>
            <p:cNvSpPr/>
            <p:nvPr/>
          </p:nvSpPr>
          <p:spPr>
            <a:xfrm>
              <a:off x="7143768" y="3357562"/>
              <a:ext cx="214314" cy="1357322"/>
            </a:xfrm>
            <a:prstGeom prst="rightBrace">
              <a:avLst/>
            </a:prstGeom>
            <a:ln>
              <a:tailEnd type="non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TextBox 47">
              <a:extLst>
                <a:ext uri="{FF2B5EF4-FFF2-40B4-BE49-F238E27FC236}">
                  <a16:creationId xmlns:a16="http://schemas.microsoft.com/office/drawing/2014/main" id="{0B811E88-60BA-0E8C-E7F0-A2F747720660}"/>
                </a:ext>
              </a:extLst>
            </p:cNvPr>
            <p:cNvSpPr txBox="1"/>
            <p:nvPr/>
          </p:nvSpPr>
          <p:spPr>
            <a:xfrm>
              <a:off x="7380382" y="3826382"/>
              <a:ext cx="1357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800">
                  <a:latin typeface="楷体" pitchFamily="49" charset="-122"/>
                  <a:ea typeface="楷体" pitchFamily="49" charset="-122"/>
                </a:rPr>
                <a:t>用栈保存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946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26102-767E-170D-F178-411064ADD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1733129-8BBB-3E5A-591A-1050EC6B361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357C25-7CE6-99D4-25D4-5BAAB9973244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19D92A3-6DD3-FAED-A6B7-79C3DB9D89A9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66B4DF2-B75F-F2E3-7679-B822B81BAF08}"/>
              </a:ext>
            </a:extLst>
          </p:cNvPr>
          <p:cNvSpPr txBox="1"/>
          <p:nvPr/>
        </p:nvSpPr>
        <p:spPr>
          <a:xfrm>
            <a:off x="2158622" y="1951092"/>
            <a:ext cx="7874755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 "sqstack1.cpp"     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包含整数栈的基本运算函数</a:t>
            </a:r>
            <a:endParaRPr lang="en-US" altLang="zh-CN" sz="16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6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trans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n)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int e;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SqStack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InitStack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while (n&gt;0)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{  Push(st,n%2);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n=n/2;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}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while (!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StackEmpty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   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输出对应的二进制数</a:t>
            </a:r>
            <a:endParaRPr lang="en-US" altLang="zh-CN" sz="16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{  Pop(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st,e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printf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("%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d",e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}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printf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("\n");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DestroyStack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</a:t>
            </a:r>
          </a:p>
          <a:p>
            <a:pPr algn="l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sz="16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466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BCB7B-5869-4C71-C4D7-ABC550EE5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637A64F-9237-6006-79A5-95A33ABCBDC0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044007-DA74-85F4-4CEB-1E620C8486EC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C311E3A-E969-3D71-2D68-5F331C9D09B6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DC6377F-DF68-F42E-6742-73277B9ABE28}"/>
              </a:ext>
            </a:extLst>
          </p:cNvPr>
          <p:cNvSpPr/>
          <p:nvPr/>
        </p:nvSpPr>
        <p:spPr>
          <a:xfrm>
            <a:off x="1631504" y="1913606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共享栈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B7F5A6BA-9D21-0C8F-E02C-E5C5BE7E5486}"/>
              </a:ext>
            </a:extLst>
          </p:cNvPr>
          <p:cNvSpPr txBox="1"/>
          <p:nvPr/>
        </p:nvSpPr>
        <p:spPr>
          <a:xfrm>
            <a:off x="1505290" y="2295407"/>
            <a:ext cx="9193084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</a:pP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    若需要用到两个相同类型的栈，可用一个数组</a:t>
            </a:r>
            <a:r>
              <a:rPr lang="en-US" altLang="zh-CN" sz="20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data[0..MaxSize-1]</a:t>
            </a: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来实现这两个栈，这称为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共享栈</a:t>
            </a: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99B52D-82F8-7942-6E3E-49A6E9D9A64C}"/>
              </a:ext>
            </a:extLst>
          </p:cNvPr>
          <p:cNvSpPr/>
          <p:nvPr/>
        </p:nvSpPr>
        <p:spPr>
          <a:xfrm>
            <a:off x="3307243" y="3450489"/>
            <a:ext cx="576000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2AB378-F438-AFAB-E0C4-502A83196A1F}"/>
              </a:ext>
            </a:extLst>
          </p:cNvPr>
          <p:cNvSpPr/>
          <p:nvPr/>
        </p:nvSpPr>
        <p:spPr>
          <a:xfrm>
            <a:off x="3878747" y="3450489"/>
            <a:ext cx="576000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6A4DDD-E5F6-1365-0612-7938729E5CDF}"/>
              </a:ext>
            </a:extLst>
          </p:cNvPr>
          <p:cNvSpPr/>
          <p:nvPr/>
        </p:nvSpPr>
        <p:spPr>
          <a:xfrm>
            <a:off x="4450251" y="3450489"/>
            <a:ext cx="857256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D2A160-0AC2-17C7-6D2F-726DE07B2504}"/>
              </a:ext>
            </a:extLst>
          </p:cNvPr>
          <p:cNvSpPr/>
          <p:nvPr/>
        </p:nvSpPr>
        <p:spPr>
          <a:xfrm>
            <a:off x="5307507" y="3450489"/>
            <a:ext cx="576000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i="1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468D65-CFD2-C438-E32B-9877F2155040}"/>
              </a:ext>
            </a:extLst>
          </p:cNvPr>
          <p:cNvSpPr/>
          <p:nvPr/>
        </p:nvSpPr>
        <p:spPr>
          <a:xfrm>
            <a:off x="5891711" y="3450489"/>
            <a:ext cx="857256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00DC65-AA89-8319-78CD-BCC9C9019F6F}"/>
              </a:ext>
            </a:extLst>
          </p:cNvPr>
          <p:cNvSpPr/>
          <p:nvPr/>
        </p:nvSpPr>
        <p:spPr>
          <a:xfrm>
            <a:off x="6744471" y="3450489"/>
            <a:ext cx="576000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i="1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9245CC-9F55-A8A9-3FC2-DDF46F1BEBDC}"/>
              </a:ext>
            </a:extLst>
          </p:cNvPr>
          <p:cNvSpPr/>
          <p:nvPr/>
        </p:nvSpPr>
        <p:spPr>
          <a:xfrm>
            <a:off x="8761931" y="3450489"/>
            <a:ext cx="576000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62445F-0C7E-099C-9048-E282E6E8B2A9}"/>
              </a:ext>
            </a:extLst>
          </p:cNvPr>
          <p:cNvSpPr/>
          <p:nvPr/>
        </p:nvSpPr>
        <p:spPr>
          <a:xfrm>
            <a:off x="7320471" y="3450489"/>
            <a:ext cx="857256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9C16FD-238B-120D-1D6C-EF4B5AAC46A3}"/>
              </a:ext>
            </a:extLst>
          </p:cNvPr>
          <p:cNvSpPr/>
          <p:nvPr/>
        </p:nvSpPr>
        <p:spPr>
          <a:xfrm>
            <a:off x="8177727" y="3450489"/>
            <a:ext cx="576000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24FA01B1-CBC2-8DFD-9612-727960667F88}"/>
              </a:ext>
            </a:extLst>
          </p:cNvPr>
          <p:cNvSpPr txBox="1"/>
          <p:nvPr/>
        </p:nvSpPr>
        <p:spPr>
          <a:xfrm>
            <a:off x="3378681" y="3021861"/>
            <a:ext cx="3571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0</a:t>
            </a:r>
            <a:endParaRPr lang="zh-CN" altLang="en-US" sz="160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1099829D-EFBB-F1E6-2650-5DB970926648}"/>
              </a:ext>
            </a:extLst>
          </p:cNvPr>
          <p:cNvSpPr txBox="1"/>
          <p:nvPr/>
        </p:nvSpPr>
        <p:spPr>
          <a:xfrm>
            <a:off x="3950185" y="3021861"/>
            <a:ext cx="3571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1</a:t>
            </a:r>
            <a:endParaRPr lang="zh-CN" altLang="en-US" sz="160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92736DEA-DF90-FABA-5150-C3033B5387AC}"/>
              </a:ext>
            </a:extLst>
          </p:cNvPr>
          <p:cNvSpPr txBox="1"/>
          <p:nvPr/>
        </p:nvSpPr>
        <p:spPr>
          <a:xfrm>
            <a:off x="4521689" y="3021861"/>
            <a:ext cx="3571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00B0F0"/>
                </a:solidFill>
                <a:latin typeface="+mn-ea"/>
                <a:ea typeface="+mn-ea"/>
                <a:cs typeface="Consolas" pitchFamily="49" charset="0"/>
              </a:rPr>
              <a:t>…</a:t>
            </a:r>
            <a:endParaRPr lang="zh-CN" altLang="en-US" sz="1600">
              <a:solidFill>
                <a:srgbClr val="00B0F0"/>
              </a:solidFill>
              <a:latin typeface="+mn-ea"/>
              <a:ea typeface="+mn-ea"/>
              <a:cs typeface="Consolas" pitchFamily="49" charset="0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A8E69F19-EDE3-7AB4-F98C-7A4EC77D17E2}"/>
              </a:ext>
            </a:extLst>
          </p:cNvPr>
          <p:cNvSpPr txBox="1"/>
          <p:nvPr/>
        </p:nvSpPr>
        <p:spPr>
          <a:xfrm>
            <a:off x="6593391" y="2999836"/>
            <a:ext cx="3571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宋体" pitchFamily="2" charset="-122"/>
                <a:ea typeface="宋体" pitchFamily="2" charset="-122"/>
                <a:cs typeface="Consolas" pitchFamily="49" charset="0"/>
              </a:rPr>
              <a:t>…</a:t>
            </a:r>
            <a:endParaRPr lang="zh-CN" altLang="en-US" sz="1600" dirty="0">
              <a:solidFill>
                <a:srgbClr val="00B0F0"/>
              </a:solidFill>
              <a:latin typeface="宋体" pitchFamily="2" charset="-122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670E7A08-244F-5D28-5327-668AD4DC78DB}"/>
              </a:ext>
            </a:extLst>
          </p:cNvPr>
          <p:cNvSpPr txBox="1"/>
          <p:nvPr/>
        </p:nvSpPr>
        <p:spPr>
          <a:xfrm>
            <a:off x="8795269" y="3021861"/>
            <a:ext cx="121444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MaxSize-1</a:t>
            </a:r>
            <a:endParaRPr lang="zh-CN" altLang="en-US" sz="160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418E8D0D-4AFF-A83D-4829-CC8C67878878}"/>
              </a:ext>
            </a:extLst>
          </p:cNvPr>
          <p:cNvSpPr txBox="1"/>
          <p:nvPr/>
        </p:nvSpPr>
        <p:spPr>
          <a:xfrm>
            <a:off x="2521425" y="3450490"/>
            <a:ext cx="64294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800">
                <a:latin typeface="Consolas" pitchFamily="49" charset="0"/>
                <a:cs typeface="Consolas" pitchFamily="49" charset="0"/>
              </a:rPr>
              <a:t>data</a:t>
            </a:r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25" name="组合 48">
            <a:extLst>
              <a:ext uri="{FF2B5EF4-FFF2-40B4-BE49-F238E27FC236}">
                <a16:creationId xmlns:a16="http://schemas.microsoft.com/office/drawing/2014/main" id="{FD131B0E-DFF5-E94F-180E-8C602199E535}"/>
              </a:ext>
            </a:extLst>
          </p:cNvPr>
          <p:cNvGrpSpPr/>
          <p:nvPr/>
        </p:nvGrpSpPr>
        <p:grpSpPr>
          <a:xfrm>
            <a:off x="5307507" y="3917550"/>
            <a:ext cx="571504" cy="535127"/>
            <a:chOff x="3436860" y="2094497"/>
            <a:chExt cx="571504" cy="535127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4F850D24-63E6-4CB0-AB49-EECD44B8E4BA}"/>
                </a:ext>
              </a:extLst>
            </p:cNvPr>
            <p:cNvCxnSpPr/>
            <p:nvPr/>
          </p:nvCxnSpPr>
          <p:spPr>
            <a:xfrm rot="5400000" flipH="1" flipV="1">
              <a:off x="3501224" y="2236579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TextBox 50">
              <a:extLst>
                <a:ext uri="{FF2B5EF4-FFF2-40B4-BE49-F238E27FC236}">
                  <a16:creationId xmlns:a16="http://schemas.microsoft.com/office/drawing/2014/main" id="{12967987-1A39-FF0A-54CD-8784854CFBD7}"/>
                </a:ext>
              </a:extLst>
            </p:cNvPr>
            <p:cNvSpPr txBox="1"/>
            <p:nvPr/>
          </p:nvSpPr>
          <p:spPr>
            <a:xfrm>
              <a:off x="3436860" y="2352625"/>
              <a:ext cx="57150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top1</a:t>
              </a:r>
              <a:endParaRPr lang="zh-CN" altLang="en-US" sz="1800" dirty="0"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8" name="组合 51">
            <a:extLst>
              <a:ext uri="{FF2B5EF4-FFF2-40B4-BE49-F238E27FC236}">
                <a16:creationId xmlns:a16="http://schemas.microsoft.com/office/drawing/2014/main" id="{614B021C-5A28-961B-3A2F-D59801374D50}"/>
              </a:ext>
            </a:extLst>
          </p:cNvPr>
          <p:cNvGrpSpPr/>
          <p:nvPr/>
        </p:nvGrpSpPr>
        <p:grpSpPr>
          <a:xfrm>
            <a:off x="6664829" y="3916756"/>
            <a:ext cx="571504" cy="535920"/>
            <a:chOff x="4794182" y="2093703"/>
            <a:chExt cx="571504" cy="53592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9AF6F2F-CF49-679A-AC6D-B7E2784581A6}"/>
                </a:ext>
              </a:extLst>
            </p:cNvPr>
            <p:cNvCxnSpPr/>
            <p:nvPr/>
          </p:nvCxnSpPr>
          <p:spPr>
            <a:xfrm rot="5400000" flipH="1" flipV="1">
              <a:off x="4887121" y="2235785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0" name="TextBox 53">
              <a:extLst>
                <a:ext uri="{FF2B5EF4-FFF2-40B4-BE49-F238E27FC236}">
                  <a16:creationId xmlns:a16="http://schemas.microsoft.com/office/drawing/2014/main" id="{F5F9097C-5FCB-2755-3C64-3F8AC7ED844A}"/>
                </a:ext>
              </a:extLst>
            </p:cNvPr>
            <p:cNvSpPr txBox="1"/>
            <p:nvPr/>
          </p:nvSpPr>
          <p:spPr>
            <a:xfrm>
              <a:off x="4794182" y="2352624"/>
              <a:ext cx="57150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top2</a:t>
              </a:r>
              <a:endParaRPr lang="zh-CN" altLang="en-US" sz="1800" dirty="0"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31" name="组合 54">
            <a:extLst>
              <a:ext uri="{FF2B5EF4-FFF2-40B4-BE49-F238E27FC236}">
                <a16:creationId xmlns:a16="http://schemas.microsoft.com/office/drawing/2014/main" id="{DFE62F21-A228-BC12-31A2-522CCD843E3F}"/>
              </a:ext>
            </a:extLst>
          </p:cNvPr>
          <p:cNvGrpSpPr/>
          <p:nvPr/>
        </p:nvGrpSpPr>
        <p:grpSpPr>
          <a:xfrm>
            <a:off x="3355125" y="4461430"/>
            <a:ext cx="2158828" cy="634189"/>
            <a:chOff x="1571604" y="2808083"/>
            <a:chExt cx="2016000" cy="634189"/>
          </a:xfrm>
        </p:grpSpPr>
        <p:sp>
          <p:nvSpPr>
            <p:cNvPr id="32" name="右大括号 31">
              <a:extLst>
                <a:ext uri="{FF2B5EF4-FFF2-40B4-BE49-F238E27FC236}">
                  <a16:creationId xmlns:a16="http://schemas.microsoft.com/office/drawing/2014/main" id="{853C44E0-2F29-5B75-43B9-105B2F62F87C}"/>
                </a:ext>
              </a:extLst>
            </p:cNvPr>
            <p:cNvSpPr/>
            <p:nvPr/>
          </p:nvSpPr>
          <p:spPr>
            <a:xfrm rot="5400000">
              <a:off x="2471604" y="1908083"/>
              <a:ext cx="216000" cy="2016000"/>
            </a:xfrm>
            <a:prstGeom prst="rightBrace">
              <a:avLst/>
            </a:prstGeom>
            <a:ln w="28575">
              <a:solidFill>
                <a:srgbClr val="008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3" name="TextBox 56">
              <a:extLst>
                <a:ext uri="{FF2B5EF4-FFF2-40B4-BE49-F238E27FC236}">
                  <a16:creationId xmlns:a16="http://schemas.microsoft.com/office/drawing/2014/main" id="{EA357E92-5BED-CA35-88A3-15490BE173C9}"/>
                </a:ext>
              </a:extLst>
            </p:cNvPr>
            <p:cNvSpPr txBox="1"/>
            <p:nvPr/>
          </p:nvSpPr>
          <p:spPr>
            <a:xfrm>
              <a:off x="2214546" y="3165273"/>
              <a:ext cx="64294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800" dirty="0"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</a:t>
              </a:r>
              <a:r>
                <a:rPr lang="en-US" altLang="zh-CN" sz="1800" dirty="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34" name="组合 57">
            <a:extLst>
              <a:ext uri="{FF2B5EF4-FFF2-40B4-BE49-F238E27FC236}">
                <a16:creationId xmlns:a16="http://schemas.microsoft.com/office/drawing/2014/main" id="{A60798BC-F60B-0333-27A7-A6846D70C29F}"/>
              </a:ext>
            </a:extLst>
          </p:cNvPr>
          <p:cNvGrpSpPr/>
          <p:nvPr/>
        </p:nvGrpSpPr>
        <p:grpSpPr>
          <a:xfrm>
            <a:off x="6949817" y="4464769"/>
            <a:ext cx="2339516" cy="634189"/>
            <a:chOff x="5127768" y="2786058"/>
            <a:chExt cx="2016000" cy="634189"/>
          </a:xfrm>
        </p:grpSpPr>
        <p:sp>
          <p:nvSpPr>
            <p:cNvPr id="35" name="右大括号 34">
              <a:extLst>
                <a:ext uri="{FF2B5EF4-FFF2-40B4-BE49-F238E27FC236}">
                  <a16:creationId xmlns:a16="http://schemas.microsoft.com/office/drawing/2014/main" id="{3691A2C2-8A28-5049-6395-7B8B21B1D09F}"/>
                </a:ext>
              </a:extLst>
            </p:cNvPr>
            <p:cNvSpPr/>
            <p:nvPr/>
          </p:nvSpPr>
          <p:spPr>
            <a:xfrm rot="5400000">
              <a:off x="6027768" y="1886058"/>
              <a:ext cx="216000" cy="2016000"/>
            </a:xfrm>
            <a:prstGeom prst="rightBrace">
              <a:avLst/>
            </a:prstGeom>
            <a:ln w="28575">
              <a:solidFill>
                <a:srgbClr val="008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6" name="TextBox 59">
              <a:extLst>
                <a:ext uri="{FF2B5EF4-FFF2-40B4-BE49-F238E27FC236}">
                  <a16:creationId xmlns:a16="http://schemas.microsoft.com/office/drawing/2014/main" id="{9F3F3E8C-41AA-DFAB-BCE1-1DB415EC4C69}"/>
                </a:ext>
              </a:extLst>
            </p:cNvPr>
            <p:cNvSpPr txBox="1"/>
            <p:nvPr/>
          </p:nvSpPr>
          <p:spPr>
            <a:xfrm>
              <a:off x="5770710" y="3143248"/>
              <a:ext cx="64294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8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</a:t>
              </a:r>
              <a:r>
                <a:rPr lang="en-US" altLang="zh-CN" sz="18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18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37" name="组合 31">
            <a:extLst>
              <a:ext uri="{FF2B5EF4-FFF2-40B4-BE49-F238E27FC236}">
                <a16:creationId xmlns:a16="http://schemas.microsoft.com/office/drawing/2014/main" id="{1B7C6683-D5EA-45CD-4441-853C5907A400}"/>
              </a:ext>
            </a:extLst>
          </p:cNvPr>
          <p:cNvGrpSpPr/>
          <p:nvPr/>
        </p:nvGrpSpPr>
        <p:grpSpPr>
          <a:xfrm>
            <a:off x="2488128" y="4925299"/>
            <a:ext cx="6452572" cy="1816070"/>
            <a:chOff x="857224" y="4202676"/>
            <a:chExt cx="7000924" cy="1946385"/>
          </a:xfrm>
        </p:grpSpPr>
        <p:sp>
          <p:nvSpPr>
            <p:cNvPr id="38" name="TextBox 61">
              <a:extLst>
                <a:ext uri="{FF2B5EF4-FFF2-40B4-BE49-F238E27FC236}">
                  <a16:creationId xmlns:a16="http://schemas.microsoft.com/office/drawing/2014/main" id="{DC837609-C42F-5D85-A6B7-6D477D9472D5}"/>
                </a:ext>
              </a:extLst>
            </p:cNvPr>
            <p:cNvSpPr txBox="1"/>
            <p:nvPr/>
          </p:nvSpPr>
          <p:spPr>
            <a:xfrm>
              <a:off x="1357290" y="4572008"/>
              <a:ext cx="6500858" cy="1577053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144000" tIns="180000" bIns="180000" rtlCol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typedef struct</a:t>
              </a:r>
              <a:endPara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  <a:p>
              <a:pPr algn="l">
                <a:lnSpc>
                  <a:spcPts val="2400"/>
                </a:lnSpc>
              </a:pPr>
              <a:r>
                <a:rPr lang="en-US" sz="16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{  </a:t>
              </a:r>
              <a:r>
                <a:rPr lang="en-US" sz="1600" dirty="0" err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ElemType</a:t>
              </a:r>
              <a:r>
                <a:rPr lang="en-US" sz="16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 data[</a:t>
              </a:r>
              <a:r>
                <a:rPr lang="en-US" sz="1600" dirty="0" err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MaxSize</a:t>
              </a:r>
              <a:r>
                <a:rPr lang="en-US" sz="16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];	</a:t>
              </a:r>
              <a:r>
                <a:rPr lang="en-US" sz="1600" dirty="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//</a:t>
              </a:r>
              <a:r>
                <a:rPr lang="zh-CN" altLang="en-US" sz="1600" dirty="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存放共享栈中元素</a:t>
              </a:r>
            </a:p>
            <a:p>
              <a:pPr algn="l">
                <a:lnSpc>
                  <a:spcPts val="2400"/>
                </a:lnSpc>
              </a:pPr>
              <a:r>
                <a:rPr lang="en-US" sz="16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   int top1，top2;		</a:t>
              </a:r>
              <a:r>
                <a:rPr lang="en-US" sz="1600" dirty="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//</a:t>
              </a:r>
              <a:r>
                <a:rPr lang="zh-CN" altLang="en-US" sz="1600" dirty="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两个栈的栈顶指针</a:t>
              </a:r>
            </a:p>
            <a:p>
              <a:pPr algn="l">
                <a:lnSpc>
                  <a:spcPts val="2400"/>
                </a:lnSpc>
              </a:pPr>
              <a:r>
                <a:rPr lang="en-US" sz="16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} </a:t>
              </a:r>
              <a:r>
                <a:rPr lang="en-US" sz="1600" dirty="0" err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DStack</a:t>
              </a:r>
              <a:r>
                <a:rPr lang="en-US" sz="16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;	</a:t>
              </a:r>
              <a:endPara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9" name="TextBox 62">
              <a:extLst>
                <a:ext uri="{FF2B5EF4-FFF2-40B4-BE49-F238E27FC236}">
                  <a16:creationId xmlns:a16="http://schemas.microsoft.com/office/drawing/2014/main" id="{F7B163BC-FF7B-4CFB-41BE-685FDAE3509A}"/>
                </a:ext>
              </a:extLst>
            </p:cNvPr>
            <p:cNvSpPr txBox="1"/>
            <p:nvPr/>
          </p:nvSpPr>
          <p:spPr>
            <a:xfrm>
              <a:off x="857224" y="4202676"/>
              <a:ext cx="2214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800" dirty="0">
                  <a:solidFill>
                    <a:srgbClr val="C00000"/>
                  </a:solidFill>
                  <a:latin typeface="Consolas" pitchFamily="49" charset="0"/>
                  <a:ea typeface="微软雅黑" pitchFamily="34" charset="-122"/>
                  <a:cs typeface="Consolas" pitchFamily="49" charset="0"/>
                </a:rPr>
                <a:t>共享栈类型：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185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102D5-ECFA-139D-8348-D4CDEFF9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F01DEFF-77CC-DBF3-D959-9A14354E5411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B9E70B-F0CC-AAD3-4CF7-C59129688DA0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06F7C22-130B-FE52-F30A-2A105AD263E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714F550F-2FEA-6570-0AA2-A19D144B411A}"/>
              </a:ext>
            </a:extLst>
          </p:cNvPr>
          <p:cNvSpPr/>
          <p:nvPr/>
        </p:nvSpPr>
        <p:spPr>
          <a:xfrm>
            <a:off x="3082904" y="2276872"/>
            <a:ext cx="576000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DAEEE2-137F-1234-99A7-16F3D6955640}"/>
              </a:ext>
            </a:extLst>
          </p:cNvPr>
          <p:cNvSpPr/>
          <p:nvPr/>
        </p:nvSpPr>
        <p:spPr>
          <a:xfrm>
            <a:off x="3654408" y="2276872"/>
            <a:ext cx="576000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6A1A66-9E21-3476-BE8D-20C4654DB773}"/>
              </a:ext>
            </a:extLst>
          </p:cNvPr>
          <p:cNvSpPr/>
          <p:nvPr/>
        </p:nvSpPr>
        <p:spPr>
          <a:xfrm>
            <a:off x="4225912" y="2276872"/>
            <a:ext cx="857256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8ABB8D-D932-E37F-7C72-B6A493A5B989}"/>
              </a:ext>
            </a:extLst>
          </p:cNvPr>
          <p:cNvSpPr/>
          <p:nvPr/>
        </p:nvSpPr>
        <p:spPr>
          <a:xfrm>
            <a:off x="5083168" y="2276872"/>
            <a:ext cx="576000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i="1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BEC0BF-6F2F-8CA4-3468-5FB31801142B}"/>
              </a:ext>
            </a:extLst>
          </p:cNvPr>
          <p:cNvSpPr/>
          <p:nvPr/>
        </p:nvSpPr>
        <p:spPr>
          <a:xfrm>
            <a:off x="5667372" y="2276872"/>
            <a:ext cx="857256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1A626E-2415-C4A7-7992-813A96DA25C1}"/>
              </a:ext>
            </a:extLst>
          </p:cNvPr>
          <p:cNvSpPr/>
          <p:nvPr/>
        </p:nvSpPr>
        <p:spPr>
          <a:xfrm>
            <a:off x="6520132" y="2276872"/>
            <a:ext cx="576000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i="1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93D993-392F-3FBD-85EB-E0CD8B7F3F32}"/>
              </a:ext>
            </a:extLst>
          </p:cNvPr>
          <p:cNvSpPr/>
          <p:nvPr/>
        </p:nvSpPr>
        <p:spPr>
          <a:xfrm>
            <a:off x="8537592" y="2276872"/>
            <a:ext cx="576000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53083E-2589-4123-BC20-DE62826464D6}"/>
              </a:ext>
            </a:extLst>
          </p:cNvPr>
          <p:cNvSpPr/>
          <p:nvPr/>
        </p:nvSpPr>
        <p:spPr>
          <a:xfrm>
            <a:off x="7096132" y="2276872"/>
            <a:ext cx="857256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C80364-21B5-A141-F85A-9EBC075C5D22}"/>
              </a:ext>
            </a:extLst>
          </p:cNvPr>
          <p:cNvSpPr/>
          <p:nvPr/>
        </p:nvSpPr>
        <p:spPr>
          <a:xfrm>
            <a:off x="7953388" y="2276872"/>
            <a:ext cx="576000" cy="396000"/>
          </a:xfrm>
          <a:prstGeom prst="rect">
            <a:avLst/>
          </a:prstGeom>
          <a:ln>
            <a:tailEnd type="triangl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ctr"/>
          <a:lstStyle/>
          <a:p>
            <a:pPr algn="ctr"/>
            <a:endParaRPr lang="zh-CN" altLang="en-US" sz="2000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DE302DE9-5645-A1B6-6CB3-1A4F231ACBF3}"/>
              </a:ext>
            </a:extLst>
          </p:cNvPr>
          <p:cNvSpPr txBox="1"/>
          <p:nvPr/>
        </p:nvSpPr>
        <p:spPr>
          <a:xfrm>
            <a:off x="3154342" y="1848244"/>
            <a:ext cx="3571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0</a:t>
            </a:r>
            <a:endParaRPr lang="zh-CN" altLang="en-US" sz="160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986DAC3A-47EB-3730-4533-CFF0E95C4A19}"/>
              </a:ext>
            </a:extLst>
          </p:cNvPr>
          <p:cNvSpPr txBox="1"/>
          <p:nvPr/>
        </p:nvSpPr>
        <p:spPr>
          <a:xfrm>
            <a:off x="3725846" y="1848244"/>
            <a:ext cx="3571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1</a:t>
            </a:r>
            <a:endParaRPr lang="zh-CN" altLang="en-US" sz="160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1E87EDE5-FC15-56BC-CC3C-5AF9390C11E2}"/>
              </a:ext>
            </a:extLst>
          </p:cNvPr>
          <p:cNvSpPr txBox="1"/>
          <p:nvPr/>
        </p:nvSpPr>
        <p:spPr>
          <a:xfrm>
            <a:off x="4297350" y="1848244"/>
            <a:ext cx="3571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00B0F0"/>
                </a:solidFill>
                <a:latin typeface="+mn-ea"/>
                <a:ea typeface="+mn-ea"/>
                <a:cs typeface="Consolas" pitchFamily="49" charset="0"/>
              </a:rPr>
              <a:t>…</a:t>
            </a:r>
            <a:endParaRPr lang="zh-CN" altLang="en-US" sz="1600">
              <a:solidFill>
                <a:srgbClr val="00B0F0"/>
              </a:solidFill>
              <a:latin typeface="+mn-ea"/>
              <a:ea typeface="+mn-ea"/>
              <a:cs typeface="Consolas" pitchFamily="49" charset="0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3C76F37C-7C58-FBDB-2232-EE8C8F44018C}"/>
              </a:ext>
            </a:extLst>
          </p:cNvPr>
          <p:cNvSpPr txBox="1"/>
          <p:nvPr/>
        </p:nvSpPr>
        <p:spPr>
          <a:xfrm>
            <a:off x="6369052" y="1826219"/>
            <a:ext cx="3571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宋体" pitchFamily="2" charset="-122"/>
                <a:ea typeface="宋体" pitchFamily="2" charset="-122"/>
                <a:cs typeface="Consolas" pitchFamily="49" charset="0"/>
              </a:rPr>
              <a:t>…</a:t>
            </a:r>
            <a:endParaRPr lang="zh-CN" altLang="en-US" sz="1600" dirty="0">
              <a:solidFill>
                <a:srgbClr val="00B0F0"/>
              </a:solidFill>
              <a:latin typeface="宋体" pitchFamily="2" charset="-122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B9DD29AA-7381-742A-7458-A9E9582B1262}"/>
              </a:ext>
            </a:extLst>
          </p:cNvPr>
          <p:cNvSpPr txBox="1"/>
          <p:nvPr/>
        </p:nvSpPr>
        <p:spPr>
          <a:xfrm>
            <a:off x="8570930" y="1848244"/>
            <a:ext cx="121444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MaxSize-1</a:t>
            </a:r>
            <a:endParaRPr lang="zh-CN" altLang="en-US" sz="160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04073837-189D-0D36-39B9-3EBDC564103C}"/>
              </a:ext>
            </a:extLst>
          </p:cNvPr>
          <p:cNvSpPr txBox="1"/>
          <p:nvPr/>
        </p:nvSpPr>
        <p:spPr>
          <a:xfrm>
            <a:off x="2297086" y="2276873"/>
            <a:ext cx="64294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800">
                <a:latin typeface="Consolas" pitchFamily="49" charset="0"/>
                <a:cs typeface="Consolas" pitchFamily="49" charset="0"/>
              </a:rPr>
              <a:t>data</a:t>
            </a:r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25" name="组合 48">
            <a:extLst>
              <a:ext uri="{FF2B5EF4-FFF2-40B4-BE49-F238E27FC236}">
                <a16:creationId xmlns:a16="http://schemas.microsoft.com/office/drawing/2014/main" id="{3BE93EAA-D000-3903-FDAF-9A749A17C81D}"/>
              </a:ext>
            </a:extLst>
          </p:cNvPr>
          <p:cNvGrpSpPr/>
          <p:nvPr/>
        </p:nvGrpSpPr>
        <p:grpSpPr>
          <a:xfrm>
            <a:off x="5083168" y="2743933"/>
            <a:ext cx="571504" cy="535127"/>
            <a:chOff x="3436860" y="2094497"/>
            <a:chExt cx="571504" cy="535127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678FE84E-BB3F-0CCD-7E0B-5F1DEBD0FDB4}"/>
                </a:ext>
              </a:extLst>
            </p:cNvPr>
            <p:cNvCxnSpPr/>
            <p:nvPr/>
          </p:nvCxnSpPr>
          <p:spPr>
            <a:xfrm rot="5400000" flipH="1" flipV="1">
              <a:off x="3501224" y="2236579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TextBox 50">
              <a:extLst>
                <a:ext uri="{FF2B5EF4-FFF2-40B4-BE49-F238E27FC236}">
                  <a16:creationId xmlns:a16="http://schemas.microsoft.com/office/drawing/2014/main" id="{A1643D52-0120-8434-73E1-A4413474C9DD}"/>
                </a:ext>
              </a:extLst>
            </p:cNvPr>
            <p:cNvSpPr txBox="1"/>
            <p:nvPr/>
          </p:nvSpPr>
          <p:spPr>
            <a:xfrm>
              <a:off x="3436860" y="2352625"/>
              <a:ext cx="57150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top1</a:t>
              </a:r>
              <a:endParaRPr lang="zh-CN" altLang="en-US" sz="1800" dirty="0"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8" name="组合 51">
            <a:extLst>
              <a:ext uri="{FF2B5EF4-FFF2-40B4-BE49-F238E27FC236}">
                <a16:creationId xmlns:a16="http://schemas.microsoft.com/office/drawing/2014/main" id="{1F53D888-DBA4-43AA-5E5A-2583AAFA43A4}"/>
              </a:ext>
            </a:extLst>
          </p:cNvPr>
          <p:cNvGrpSpPr/>
          <p:nvPr/>
        </p:nvGrpSpPr>
        <p:grpSpPr>
          <a:xfrm>
            <a:off x="6440490" y="2743139"/>
            <a:ext cx="571504" cy="535920"/>
            <a:chOff x="4794182" y="2093703"/>
            <a:chExt cx="571504" cy="53592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9EDBEF5-F97D-D404-3EEF-3805661C3492}"/>
                </a:ext>
              </a:extLst>
            </p:cNvPr>
            <p:cNvCxnSpPr/>
            <p:nvPr/>
          </p:nvCxnSpPr>
          <p:spPr>
            <a:xfrm rot="5400000" flipH="1" flipV="1">
              <a:off x="4887121" y="2235785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0" name="TextBox 53">
              <a:extLst>
                <a:ext uri="{FF2B5EF4-FFF2-40B4-BE49-F238E27FC236}">
                  <a16:creationId xmlns:a16="http://schemas.microsoft.com/office/drawing/2014/main" id="{C904731C-8666-5A28-DC93-9F713567A91B}"/>
                </a:ext>
              </a:extLst>
            </p:cNvPr>
            <p:cNvSpPr txBox="1"/>
            <p:nvPr/>
          </p:nvSpPr>
          <p:spPr>
            <a:xfrm>
              <a:off x="4794182" y="2352624"/>
              <a:ext cx="57150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top2</a:t>
              </a:r>
              <a:endParaRPr lang="zh-CN" altLang="en-US" sz="1800" dirty="0"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31" name="组合 54">
            <a:extLst>
              <a:ext uri="{FF2B5EF4-FFF2-40B4-BE49-F238E27FC236}">
                <a16:creationId xmlns:a16="http://schemas.microsoft.com/office/drawing/2014/main" id="{742A4275-0431-F090-CCBF-E8B0BBD5E7B8}"/>
              </a:ext>
            </a:extLst>
          </p:cNvPr>
          <p:cNvGrpSpPr/>
          <p:nvPr/>
        </p:nvGrpSpPr>
        <p:grpSpPr>
          <a:xfrm>
            <a:off x="3130786" y="3287813"/>
            <a:ext cx="2158828" cy="634189"/>
            <a:chOff x="1571604" y="2808083"/>
            <a:chExt cx="2016000" cy="634189"/>
          </a:xfrm>
        </p:grpSpPr>
        <p:sp>
          <p:nvSpPr>
            <p:cNvPr id="32" name="右大括号 31">
              <a:extLst>
                <a:ext uri="{FF2B5EF4-FFF2-40B4-BE49-F238E27FC236}">
                  <a16:creationId xmlns:a16="http://schemas.microsoft.com/office/drawing/2014/main" id="{45F258BB-84BD-FAB0-A11E-7B4864BDA6DD}"/>
                </a:ext>
              </a:extLst>
            </p:cNvPr>
            <p:cNvSpPr/>
            <p:nvPr/>
          </p:nvSpPr>
          <p:spPr>
            <a:xfrm rot="5400000">
              <a:off x="2471604" y="1908083"/>
              <a:ext cx="216000" cy="2016000"/>
            </a:xfrm>
            <a:prstGeom prst="rightBrace">
              <a:avLst/>
            </a:prstGeom>
            <a:ln w="28575">
              <a:solidFill>
                <a:srgbClr val="008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3" name="TextBox 56">
              <a:extLst>
                <a:ext uri="{FF2B5EF4-FFF2-40B4-BE49-F238E27FC236}">
                  <a16:creationId xmlns:a16="http://schemas.microsoft.com/office/drawing/2014/main" id="{1123D813-C0B5-E0EF-AFE1-BAD7C92CA63E}"/>
                </a:ext>
              </a:extLst>
            </p:cNvPr>
            <p:cNvSpPr txBox="1"/>
            <p:nvPr/>
          </p:nvSpPr>
          <p:spPr>
            <a:xfrm>
              <a:off x="2214546" y="3165273"/>
              <a:ext cx="64294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800" dirty="0"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</a:t>
              </a:r>
              <a:r>
                <a:rPr lang="en-US" altLang="zh-CN" sz="1800" dirty="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34" name="组合 57">
            <a:extLst>
              <a:ext uri="{FF2B5EF4-FFF2-40B4-BE49-F238E27FC236}">
                <a16:creationId xmlns:a16="http://schemas.microsoft.com/office/drawing/2014/main" id="{F8C0ECE2-4F5C-6130-7918-376C7254CE6F}"/>
              </a:ext>
            </a:extLst>
          </p:cNvPr>
          <p:cNvGrpSpPr/>
          <p:nvPr/>
        </p:nvGrpSpPr>
        <p:grpSpPr>
          <a:xfrm>
            <a:off x="6725478" y="3291152"/>
            <a:ext cx="2339516" cy="634189"/>
            <a:chOff x="5127768" y="2786058"/>
            <a:chExt cx="2016000" cy="634189"/>
          </a:xfrm>
        </p:grpSpPr>
        <p:sp>
          <p:nvSpPr>
            <p:cNvPr id="35" name="右大括号 34">
              <a:extLst>
                <a:ext uri="{FF2B5EF4-FFF2-40B4-BE49-F238E27FC236}">
                  <a16:creationId xmlns:a16="http://schemas.microsoft.com/office/drawing/2014/main" id="{FB4A5BB7-C9AE-679A-A141-8CA670CC8141}"/>
                </a:ext>
              </a:extLst>
            </p:cNvPr>
            <p:cNvSpPr/>
            <p:nvPr/>
          </p:nvSpPr>
          <p:spPr>
            <a:xfrm rot="5400000">
              <a:off x="6027768" y="1886058"/>
              <a:ext cx="216000" cy="2016000"/>
            </a:xfrm>
            <a:prstGeom prst="rightBrace">
              <a:avLst/>
            </a:prstGeom>
            <a:ln w="28575">
              <a:solidFill>
                <a:srgbClr val="008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6" name="TextBox 59">
              <a:extLst>
                <a:ext uri="{FF2B5EF4-FFF2-40B4-BE49-F238E27FC236}">
                  <a16:creationId xmlns:a16="http://schemas.microsoft.com/office/drawing/2014/main" id="{1C26DA25-9D2C-42E7-D0BF-25DF5E8BA37D}"/>
                </a:ext>
              </a:extLst>
            </p:cNvPr>
            <p:cNvSpPr txBox="1"/>
            <p:nvPr/>
          </p:nvSpPr>
          <p:spPr>
            <a:xfrm>
              <a:off x="5770710" y="3143248"/>
              <a:ext cx="64294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8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</a:t>
              </a:r>
              <a:r>
                <a:rPr lang="en-US" altLang="zh-CN" sz="18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18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7" name="TextBox 48">
            <a:extLst>
              <a:ext uri="{FF2B5EF4-FFF2-40B4-BE49-F238E27FC236}">
                <a16:creationId xmlns:a16="http://schemas.microsoft.com/office/drawing/2014/main" id="{AA96071A-B8F2-DCB2-8083-1A9C5BBDF0AF}"/>
              </a:ext>
            </a:extLst>
          </p:cNvPr>
          <p:cNvSpPr txBox="1"/>
          <p:nvPr/>
        </p:nvSpPr>
        <p:spPr>
          <a:xfrm>
            <a:off x="427640" y="4048389"/>
            <a:ext cx="2214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共享栈的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要素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: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TextBox 51">
            <a:extLst>
              <a:ext uri="{FF2B5EF4-FFF2-40B4-BE49-F238E27FC236}">
                <a16:creationId xmlns:a16="http://schemas.microsoft.com/office/drawing/2014/main" id="{27B4C80B-6969-7DDC-C31B-682C45C73865}"/>
              </a:ext>
            </a:extLst>
          </p:cNvPr>
          <p:cNvSpPr txBox="1"/>
          <p:nvPr/>
        </p:nvSpPr>
        <p:spPr>
          <a:xfrm>
            <a:off x="549335" y="4616214"/>
            <a:ext cx="11093329" cy="185689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①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栈空条件，栈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空：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top1==-1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空：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top2==</a:t>
            </a:r>
            <a:r>
              <a:rPr lang="en-US" altLang="zh-CN" sz="20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endParaRPr lang="zh-CN" altLang="zh-CN" sz="2000" dirty="0"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②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栈满条件：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top1==top2-1</a:t>
            </a:r>
            <a:endParaRPr lang="zh-CN" altLang="zh-CN" sz="2000" dirty="0"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③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元素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x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进栈操作，进栈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操作：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top1++;data[top1]=x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操作：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top2--;data[top2]=x;</a:t>
            </a:r>
            <a:endParaRPr lang="zh-CN" altLang="zh-CN" sz="2000" dirty="0"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④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出栈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x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操作，出栈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x=data[top1];top1--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出栈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操作，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x=data[top2];top2++</a:t>
            </a:r>
            <a:r>
              <a:rPr lang="zh-CN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sz="2000" dirty="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37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94963" y="1864011"/>
            <a:ext cx="3310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——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栈的链式存储</a:t>
            </a:r>
          </a:p>
        </p:txBody>
      </p:sp>
      <p:graphicFrame>
        <p:nvGraphicFramePr>
          <p:cNvPr id="18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657707"/>
              </p:ext>
            </p:extLst>
          </p:nvPr>
        </p:nvGraphicFramePr>
        <p:xfrm>
          <a:off x="2355221" y="2924944"/>
          <a:ext cx="1371600" cy="28749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0" lang="zh-CN" altLang="en-US" sz="24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n-1</a:t>
                      </a:r>
                      <a:endParaRPr kumimoji="0" lang="zh-CN" altLang="en-US" sz="24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...</a:t>
                      </a:r>
                    </a:p>
                  </a:txBody>
                  <a:tcPr marT="45730" marB="45730" vert="eaVert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Box 124"/>
          <p:cNvSpPr txBox="1">
            <a:spLocks noChangeArrowheads="1"/>
          </p:cNvSpPr>
          <p:nvPr/>
        </p:nvSpPr>
        <p:spPr bwMode="auto">
          <a:xfrm>
            <a:off x="4029472" y="3349487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</a:t>
            </a:r>
          </a:p>
        </p:txBody>
      </p:sp>
      <p:sp>
        <p:nvSpPr>
          <p:cNvPr id="27" name="Line 131"/>
          <p:cNvSpPr>
            <a:spLocks noChangeShapeType="1"/>
          </p:cNvSpPr>
          <p:nvPr/>
        </p:nvSpPr>
        <p:spPr bwMode="auto">
          <a:xfrm flipH="1">
            <a:off x="3768188" y="3578087"/>
            <a:ext cx="383597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130"/>
          <p:cNvSpPr>
            <a:spLocks noChangeShapeType="1"/>
          </p:cNvSpPr>
          <p:nvPr/>
        </p:nvSpPr>
        <p:spPr bwMode="auto">
          <a:xfrm flipH="1">
            <a:off x="3768188" y="5559287"/>
            <a:ext cx="383597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122"/>
          <p:cNvSpPr txBox="1">
            <a:spLocks noChangeArrowheads="1"/>
          </p:cNvSpPr>
          <p:nvPr/>
        </p:nvSpPr>
        <p:spPr bwMode="auto">
          <a:xfrm>
            <a:off x="4007768" y="5330687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栈底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4871865" y="3789040"/>
            <a:ext cx="5570401" cy="1384300"/>
            <a:chOff x="5899150" y="2701857"/>
            <a:chExt cx="4800600" cy="1384300"/>
          </a:xfrm>
        </p:grpSpPr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8064500" y="3533707"/>
              <a:ext cx="435442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500" b="1" dirty="0">
                  <a:latin typeface="Times New Roman" pitchFamily="18" charset="0"/>
                </a:rPr>
                <a:t>…</a:t>
              </a:r>
              <a:endParaRPr lang="zh-CN" altLang="en-US" sz="2500" b="1" dirty="0">
                <a:latin typeface="Times New Roman" pitchFamily="18" charset="0"/>
              </a:endParaRPr>
            </a:p>
          </p:txBody>
        </p:sp>
        <p:sp>
          <p:nvSpPr>
            <p:cNvPr id="32" name="Rectangle 34"/>
            <p:cNvSpPr>
              <a:spLocks noChangeArrowheads="1"/>
            </p:cNvSpPr>
            <p:nvPr/>
          </p:nvSpPr>
          <p:spPr bwMode="auto">
            <a:xfrm>
              <a:off x="5975350" y="2701857"/>
              <a:ext cx="533400" cy="457200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itchFamily="18" charset="0"/>
                </a:rPr>
                <a:t>S</a:t>
              </a:r>
            </a:p>
          </p:txBody>
        </p:sp>
        <p:cxnSp>
          <p:nvCxnSpPr>
            <p:cNvPr id="33" name="AutoShape 38"/>
            <p:cNvCxnSpPr>
              <a:cxnSpLocks noChangeShapeType="1"/>
              <a:stCxn id="32" idx="3"/>
              <a:endCxn id="48" idx="1"/>
            </p:cNvCxnSpPr>
            <p:nvPr/>
          </p:nvCxnSpPr>
          <p:spPr bwMode="auto">
            <a:xfrm flipH="1">
              <a:off x="5899150" y="2930457"/>
              <a:ext cx="609600" cy="927100"/>
            </a:xfrm>
            <a:prstGeom prst="curvedConnector5">
              <a:avLst>
                <a:gd name="adj1" fmla="val -37500"/>
                <a:gd name="adj2" fmla="val 50000"/>
                <a:gd name="adj3" fmla="val 1375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4" name="Group 40"/>
            <p:cNvGrpSpPr>
              <a:grpSpLocks/>
            </p:cNvGrpSpPr>
            <p:nvPr/>
          </p:nvGrpSpPr>
          <p:grpSpPr bwMode="auto">
            <a:xfrm>
              <a:off x="5899150" y="3628957"/>
              <a:ext cx="762000" cy="457200"/>
              <a:chOff x="1920" y="2112"/>
              <a:chExt cx="480" cy="288"/>
            </a:xfrm>
          </p:grpSpPr>
          <p:sp>
            <p:nvSpPr>
              <p:cNvPr id="48" name="Rectangle 41"/>
              <p:cNvSpPr>
                <a:spLocks noChangeArrowheads="1"/>
              </p:cNvSpPr>
              <p:nvPr/>
            </p:nvSpPr>
            <p:spPr bwMode="auto">
              <a:xfrm>
                <a:off x="1920" y="2112"/>
                <a:ext cx="336" cy="288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kumimoji="1" lang="en-US" altLang="zh-CN" sz="2400" i="1">
                    <a:latin typeface="Times New Roman" pitchFamily="18" charset="0"/>
                  </a:rPr>
                  <a:t>a</a:t>
                </a:r>
                <a:r>
                  <a:rPr kumimoji="1" lang="en-US" altLang="zh-CN" sz="2400" i="1" baseline="-25000">
                    <a:latin typeface="Times New Roman" pitchFamily="18" charset="0"/>
                  </a:rPr>
                  <a:t>n</a:t>
                </a:r>
                <a:endParaRPr kumimoji="1" lang="en-US" altLang="zh-CN" sz="2400" i="1">
                  <a:latin typeface="Times New Roman" pitchFamily="18" charset="0"/>
                </a:endParaRPr>
              </a:p>
            </p:txBody>
          </p:sp>
          <p:sp>
            <p:nvSpPr>
              <p:cNvPr id="49" name="Rectangle 42"/>
              <p:cNvSpPr>
                <a:spLocks noChangeArrowheads="1"/>
              </p:cNvSpPr>
              <p:nvPr/>
            </p:nvSpPr>
            <p:spPr bwMode="auto">
              <a:xfrm>
                <a:off x="2256" y="2112"/>
                <a:ext cx="14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kumimoji="1" lang="en-US" altLang="zh-CN" sz="2400">
                    <a:latin typeface="Times New Roman" pitchFamily="18" charset="0"/>
                  </a:rPr>
                  <a:t> </a:t>
                </a:r>
              </a:p>
            </p:txBody>
          </p:sp>
        </p:grpSp>
        <p:sp>
          <p:nvSpPr>
            <p:cNvPr id="35" name="Line 43"/>
            <p:cNvSpPr>
              <a:spLocks noChangeShapeType="1"/>
            </p:cNvSpPr>
            <p:nvPr/>
          </p:nvSpPr>
          <p:spPr bwMode="auto">
            <a:xfrm>
              <a:off x="6584950" y="385438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" name="Group 44"/>
            <p:cNvGrpSpPr>
              <a:grpSpLocks/>
            </p:cNvGrpSpPr>
            <p:nvPr/>
          </p:nvGrpSpPr>
          <p:grpSpPr bwMode="auto">
            <a:xfrm>
              <a:off x="6997700" y="3628957"/>
              <a:ext cx="762000" cy="457200"/>
              <a:chOff x="1920" y="2112"/>
              <a:chExt cx="480" cy="288"/>
            </a:xfrm>
          </p:grpSpPr>
          <p:sp>
            <p:nvSpPr>
              <p:cNvPr id="46" name="Rectangle 45"/>
              <p:cNvSpPr>
                <a:spLocks noChangeArrowheads="1"/>
              </p:cNvSpPr>
              <p:nvPr/>
            </p:nvSpPr>
            <p:spPr bwMode="auto">
              <a:xfrm>
                <a:off x="1920" y="2112"/>
                <a:ext cx="336" cy="288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kumimoji="1" lang="en-US" altLang="zh-CN" sz="2400" i="1" dirty="0">
                    <a:latin typeface="Times New Roman" pitchFamily="18" charset="0"/>
                  </a:rPr>
                  <a:t>a</a:t>
                </a:r>
                <a:r>
                  <a:rPr kumimoji="1" lang="en-US" altLang="zh-CN" sz="2400" i="1" baseline="-25000" dirty="0">
                    <a:latin typeface="Times New Roman" pitchFamily="18" charset="0"/>
                  </a:rPr>
                  <a:t>n-1</a:t>
                </a:r>
              </a:p>
            </p:txBody>
          </p:sp>
          <p:sp>
            <p:nvSpPr>
              <p:cNvPr id="47" name="Rectangle 46"/>
              <p:cNvSpPr>
                <a:spLocks noChangeArrowheads="1"/>
              </p:cNvSpPr>
              <p:nvPr/>
            </p:nvSpPr>
            <p:spPr bwMode="auto">
              <a:xfrm>
                <a:off x="2256" y="2112"/>
                <a:ext cx="14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kumimoji="1" lang="en-US" altLang="zh-CN" sz="2400">
                    <a:latin typeface="Times New Roman" pitchFamily="18" charset="0"/>
                  </a:rPr>
                  <a:t> </a:t>
                </a:r>
              </a:p>
            </p:txBody>
          </p:sp>
        </p:grpSp>
        <p:sp>
          <p:nvSpPr>
            <p:cNvPr id="37" name="Line 47"/>
            <p:cNvSpPr>
              <a:spLocks noChangeShapeType="1"/>
            </p:cNvSpPr>
            <p:nvPr/>
          </p:nvSpPr>
          <p:spPr bwMode="auto">
            <a:xfrm>
              <a:off x="7683500" y="385438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8" name="Group 52"/>
            <p:cNvGrpSpPr>
              <a:grpSpLocks/>
            </p:cNvGrpSpPr>
            <p:nvPr/>
          </p:nvGrpSpPr>
          <p:grpSpPr bwMode="auto">
            <a:xfrm>
              <a:off x="9937750" y="3628957"/>
              <a:ext cx="762000" cy="457200"/>
              <a:chOff x="1920" y="2112"/>
              <a:chExt cx="480" cy="288"/>
            </a:xfrm>
          </p:grpSpPr>
          <p:sp>
            <p:nvSpPr>
              <p:cNvPr id="44" name="Rectangle 53"/>
              <p:cNvSpPr>
                <a:spLocks noChangeArrowheads="1"/>
              </p:cNvSpPr>
              <p:nvPr/>
            </p:nvSpPr>
            <p:spPr bwMode="auto">
              <a:xfrm>
                <a:off x="1920" y="2112"/>
                <a:ext cx="336" cy="288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kumimoji="1" lang="en-US" altLang="zh-CN" sz="2400" i="1">
                    <a:latin typeface="Times New Roman" pitchFamily="18" charset="0"/>
                  </a:rPr>
                  <a:t>a</a:t>
                </a:r>
                <a:r>
                  <a:rPr kumimoji="1" lang="en-US" altLang="zh-CN" sz="2400" i="1" baseline="-2500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45" name="Rectangle 54"/>
              <p:cNvSpPr>
                <a:spLocks noChangeArrowheads="1"/>
              </p:cNvSpPr>
              <p:nvPr/>
            </p:nvSpPr>
            <p:spPr bwMode="auto">
              <a:xfrm>
                <a:off x="2256" y="2112"/>
                <a:ext cx="14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kumimoji="1" lang="en-US" altLang="zh-CN" sz="2400">
                    <a:latin typeface="Times New Roman" pitchFamily="18" charset="0"/>
                  </a:rPr>
                  <a:t>^</a:t>
                </a:r>
              </a:p>
            </p:txBody>
          </p:sp>
        </p:grpSp>
        <p:grpSp>
          <p:nvGrpSpPr>
            <p:cNvPr id="39" name="Group 55"/>
            <p:cNvGrpSpPr>
              <a:grpSpLocks/>
            </p:cNvGrpSpPr>
            <p:nvPr/>
          </p:nvGrpSpPr>
          <p:grpSpPr bwMode="auto">
            <a:xfrm>
              <a:off x="8902700" y="3616257"/>
              <a:ext cx="762000" cy="457200"/>
              <a:chOff x="1920" y="2112"/>
              <a:chExt cx="480" cy="288"/>
            </a:xfrm>
          </p:grpSpPr>
          <p:sp>
            <p:nvSpPr>
              <p:cNvPr id="42" name="Rectangle 56"/>
              <p:cNvSpPr>
                <a:spLocks noChangeArrowheads="1"/>
              </p:cNvSpPr>
              <p:nvPr/>
            </p:nvSpPr>
            <p:spPr bwMode="auto">
              <a:xfrm>
                <a:off x="1920" y="2112"/>
                <a:ext cx="336" cy="288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kumimoji="1" lang="en-US" altLang="zh-CN" sz="2400" i="1">
                    <a:latin typeface="Times New Roman" pitchFamily="18" charset="0"/>
                  </a:rPr>
                  <a:t>a</a:t>
                </a:r>
                <a:r>
                  <a:rPr kumimoji="1" lang="en-US" altLang="zh-CN" sz="2400" i="1" baseline="-2500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43" name="Rectangle 57"/>
              <p:cNvSpPr>
                <a:spLocks noChangeArrowheads="1"/>
              </p:cNvSpPr>
              <p:nvPr/>
            </p:nvSpPr>
            <p:spPr bwMode="auto">
              <a:xfrm>
                <a:off x="2256" y="2112"/>
                <a:ext cx="14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kumimoji="1" lang="en-US" altLang="zh-CN" sz="2400">
                    <a:latin typeface="Times New Roman" pitchFamily="18" charset="0"/>
                  </a:rPr>
                  <a:t> </a:t>
                </a:r>
              </a:p>
            </p:txBody>
          </p:sp>
        </p:grpSp>
        <p:sp>
          <p:nvSpPr>
            <p:cNvPr id="40" name="Line 32"/>
            <p:cNvSpPr>
              <a:spLocks noChangeShapeType="1"/>
            </p:cNvSpPr>
            <p:nvPr/>
          </p:nvSpPr>
          <p:spPr bwMode="auto">
            <a:xfrm>
              <a:off x="9556750" y="385438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58"/>
            <p:cNvSpPr>
              <a:spLocks noChangeShapeType="1"/>
            </p:cNvSpPr>
            <p:nvPr/>
          </p:nvSpPr>
          <p:spPr bwMode="auto">
            <a:xfrm>
              <a:off x="8518525" y="3844857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" name="矩形 49"/>
          <p:cNvSpPr/>
          <p:nvPr/>
        </p:nvSpPr>
        <p:spPr>
          <a:xfrm>
            <a:off x="6659823" y="5361963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栈的链式存储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71892" y="4095180"/>
            <a:ext cx="1845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LinkStNode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*S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；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31C227-7439-5520-1B77-8EEDA3D4597B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35ADD5-F076-E201-DC7F-84EB9FE6FA0B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F9C2237-1F6C-9E62-CB48-B790F87AB28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">
            <a:extLst>
              <a:ext uri="{FF2B5EF4-FFF2-40B4-BE49-F238E27FC236}">
                <a16:creationId xmlns:a16="http://schemas.microsoft.com/office/drawing/2014/main" id="{FA29DAE5-22EE-7792-0AFD-93D185537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148" y="2150789"/>
            <a:ext cx="6029342" cy="1830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88000" tIns="180000" rIns="144000" bIns="180000">
            <a:spAutoFit/>
          </a:bodyPr>
          <a:lstStyle/>
          <a:p>
            <a:pPr algn="l">
              <a:lnSpc>
                <a:spcPct val="140000"/>
              </a:lnSpc>
            </a:pP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typedef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linknode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40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data;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数据域</a:t>
            </a:r>
          </a:p>
          <a:p>
            <a:pPr algn="l">
              <a:lnSpc>
                <a:spcPct val="140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*next;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指针域</a:t>
            </a:r>
          </a:p>
          <a:p>
            <a:pPr algn="l">
              <a:lnSpc>
                <a:spcPct val="120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</a:t>
            </a:r>
            <a:r>
              <a:rPr kumimoji="1" lang="en-US" altLang="zh-CN" sz="1800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D72013-CD9B-F6C0-9767-CE4A5ACFC378}"/>
              </a:ext>
            </a:extLst>
          </p:cNvPr>
          <p:cNvSpPr txBox="1"/>
          <p:nvPr/>
        </p:nvSpPr>
        <p:spPr>
          <a:xfrm>
            <a:off x="6088602" y="1764934"/>
            <a:ext cx="6103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typedef int </a:t>
            </a:r>
            <a:r>
              <a:rPr lang="en-US" altLang="zh-CN" sz="1800" dirty="0" err="1">
                <a:latin typeface="Times New Roman" pitchFamily="18" charset="0"/>
                <a:ea typeface="宋体" pitchFamily="2" charset="-122"/>
              </a:rPr>
              <a:t>ElemType</a:t>
            </a:r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;</a:t>
            </a:r>
            <a:endParaRPr lang="zh-CN" altLang="zh-CN" sz="1800" dirty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628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 animBg="1"/>
      <p:bldP spid="28" grpId="0" animBg="1"/>
      <p:bldP spid="29" grpId="0"/>
      <p:bldP spid="5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5005"/>
              </p:ext>
            </p:extLst>
          </p:nvPr>
        </p:nvGraphicFramePr>
        <p:xfrm>
          <a:off x="2355221" y="2924944"/>
          <a:ext cx="1371600" cy="28749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0" lang="zh-CN" altLang="en-US" sz="24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n-1</a:t>
                      </a:r>
                      <a:endParaRPr kumimoji="0" lang="zh-CN" altLang="en-US" sz="24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...</a:t>
                      </a:r>
                    </a:p>
                  </a:txBody>
                  <a:tcPr marT="45730" marB="45730" vert="eaVert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Box 124"/>
          <p:cNvSpPr txBox="1">
            <a:spLocks noChangeArrowheads="1"/>
          </p:cNvSpPr>
          <p:nvPr/>
        </p:nvSpPr>
        <p:spPr bwMode="auto">
          <a:xfrm>
            <a:off x="4029472" y="3349487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</a:t>
            </a:r>
          </a:p>
        </p:txBody>
      </p:sp>
      <p:sp>
        <p:nvSpPr>
          <p:cNvPr id="27" name="Line 131"/>
          <p:cNvSpPr>
            <a:spLocks noChangeShapeType="1"/>
          </p:cNvSpPr>
          <p:nvPr/>
        </p:nvSpPr>
        <p:spPr bwMode="auto">
          <a:xfrm flipH="1">
            <a:off x="3768188" y="3578087"/>
            <a:ext cx="383597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130"/>
          <p:cNvSpPr>
            <a:spLocks noChangeShapeType="1"/>
          </p:cNvSpPr>
          <p:nvPr/>
        </p:nvSpPr>
        <p:spPr bwMode="auto">
          <a:xfrm flipH="1">
            <a:off x="3768188" y="5559287"/>
            <a:ext cx="383597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122"/>
          <p:cNvSpPr txBox="1">
            <a:spLocks noChangeArrowheads="1"/>
          </p:cNvSpPr>
          <p:nvPr/>
        </p:nvSpPr>
        <p:spPr bwMode="auto">
          <a:xfrm>
            <a:off x="4007768" y="5330687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栈底</a:t>
            </a:r>
          </a:p>
        </p:txBody>
      </p:sp>
      <p:sp>
        <p:nvSpPr>
          <p:cNvPr id="31" name="Rectangle 31"/>
          <p:cNvSpPr>
            <a:spLocks noChangeArrowheads="1"/>
          </p:cNvSpPr>
          <p:nvPr/>
        </p:nvSpPr>
        <p:spPr bwMode="auto">
          <a:xfrm>
            <a:off x="6140302" y="3945011"/>
            <a:ext cx="50526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500" b="1" dirty="0">
                <a:latin typeface="Times New Roman" pitchFamily="18" charset="0"/>
              </a:rPr>
              <a:t>…</a:t>
            </a:r>
            <a:endParaRPr lang="zh-CN" altLang="en-US" sz="2500" b="1" dirty="0">
              <a:latin typeface="Times New Roman" pitchFamily="18" charset="0"/>
            </a:endParaRPr>
          </a:p>
        </p:txBody>
      </p:sp>
      <p:grpSp>
        <p:nvGrpSpPr>
          <p:cNvPr id="34" name="Group 40"/>
          <p:cNvGrpSpPr>
            <a:grpSpLocks/>
          </p:cNvGrpSpPr>
          <p:nvPr/>
        </p:nvGrpSpPr>
        <p:grpSpPr bwMode="auto">
          <a:xfrm>
            <a:off x="5904519" y="2761902"/>
            <a:ext cx="884191" cy="457200"/>
            <a:chOff x="1920" y="2112"/>
            <a:chExt cx="480" cy="288"/>
          </a:xfrm>
        </p:grpSpPr>
        <p:sp>
          <p:nvSpPr>
            <p:cNvPr id="48" name="Rectangle 41"/>
            <p:cNvSpPr>
              <a:spLocks noChangeArrowheads="1"/>
            </p:cNvSpPr>
            <p:nvPr/>
          </p:nvSpPr>
          <p:spPr bwMode="auto">
            <a:xfrm>
              <a:off x="1920" y="2112"/>
              <a:ext cx="336" cy="288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kumimoji="1" lang="en-US" altLang="zh-CN" sz="2400" i="1" dirty="0">
                  <a:latin typeface="Times New Roman" pitchFamily="18" charset="0"/>
                </a:rPr>
                <a:t>a</a:t>
              </a:r>
              <a:r>
                <a:rPr kumimoji="1" lang="en-US" altLang="zh-CN" sz="2400" i="1" baseline="-25000" dirty="0">
                  <a:latin typeface="Times New Roman" pitchFamily="18" charset="0"/>
                </a:rPr>
                <a:t>n</a:t>
              </a:r>
              <a:endParaRPr kumimoji="1" lang="en-US" altLang="zh-CN" sz="2400" i="1" dirty="0">
                <a:latin typeface="Times New Roman" pitchFamily="18" charset="0"/>
              </a:endParaRPr>
            </a:p>
          </p:txBody>
        </p:sp>
        <p:sp>
          <p:nvSpPr>
            <p:cNvPr id="49" name="Rectangle 42"/>
            <p:cNvSpPr>
              <a:spLocks noChangeArrowheads="1"/>
            </p:cNvSpPr>
            <p:nvPr/>
          </p:nvSpPr>
          <p:spPr bwMode="auto">
            <a:xfrm>
              <a:off x="2256" y="2112"/>
              <a:ext cx="14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 </a:t>
              </a:r>
            </a:p>
          </p:txBody>
        </p:sp>
      </p:grpSp>
      <p:grpSp>
        <p:nvGrpSpPr>
          <p:cNvPr id="36" name="Group 44"/>
          <p:cNvGrpSpPr>
            <a:grpSpLocks/>
          </p:cNvGrpSpPr>
          <p:nvPr/>
        </p:nvGrpSpPr>
        <p:grpSpPr bwMode="auto">
          <a:xfrm>
            <a:off x="5912866" y="3554099"/>
            <a:ext cx="884191" cy="457200"/>
            <a:chOff x="1920" y="2112"/>
            <a:chExt cx="480" cy="288"/>
          </a:xfrm>
        </p:grpSpPr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1920" y="2112"/>
              <a:ext cx="336" cy="288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kumimoji="1" lang="en-US" altLang="zh-CN" sz="2400" i="1" dirty="0">
                  <a:latin typeface="Times New Roman" pitchFamily="18" charset="0"/>
                </a:rPr>
                <a:t>a</a:t>
              </a:r>
              <a:r>
                <a:rPr kumimoji="1" lang="en-US" altLang="zh-CN" sz="2400" i="1" baseline="-25000" dirty="0">
                  <a:latin typeface="Times New Roman" pitchFamily="18" charset="0"/>
                </a:rPr>
                <a:t>n-1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256" y="2112"/>
              <a:ext cx="14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 </a:t>
              </a:r>
            </a:p>
          </p:txBody>
        </p:sp>
      </p:grpSp>
      <p:grpSp>
        <p:nvGrpSpPr>
          <p:cNvPr id="38" name="Group 52"/>
          <p:cNvGrpSpPr>
            <a:grpSpLocks/>
          </p:cNvGrpSpPr>
          <p:nvPr/>
        </p:nvGrpSpPr>
        <p:grpSpPr bwMode="auto">
          <a:xfrm>
            <a:off x="5958683" y="5498206"/>
            <a:ext cx="884191" cy="457200"/>
            <a:chOff x="1920" y="2112"/>
            <a:chExt cx="480" cy="288"/>
          </a:xfrm>
        </p:grpSpPr>
        <p:sp>
          <p:nvSpPr>
            <p:cNvPr id="44" name="Rectangle 53"/>
            <p:cNvSpPr>
              <a:spLocks noChangeArrowheads="1"/>
            </p:cNvSpPr>
            <p:nvPr/>
          </p:nvSpPr>
          <p:spPr bwMode="auto">
            <a:xfrm>
              <a:off x="1920" y="2112"/>
              <a:ext cx="336" cy="288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kumimoji="1" lang="en-US" altLang="zh-CN" sz="2400" i="1">
                  <a:latin typeface="Times New Roman" pitchFamily="18" charset="0"/>
                </a:rPr>
                <a:t>a</a:t>
              </a:r>
              <a:r>
                <a:rPr kumimoji="1" lang="en-US" altLang="zh-CN" sz="2400" i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5" name="Rectangle 54"/>
            <p:cNvSpPr>
              <a:spLocks noChangeArrowheads="1"/>
            </p:cNvSpPr>
            <p:nvPr/>
          </p:nvSpPr>
          <p:spPr bwMode="auto">
            <a:xfrm>
              <a:off x="2256" y="2112"/>
              <a:ext cx="14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^</a:t>
              </a:r>
            </a:p>
          </p:txBody>
        </p:sp>
      </p:grpSp>
      <p:grpSp>
        <p:nvGrpSpPr>
          <p:cNvPr id="39" name="Group 55"/>
          <p:cNvGrpSpPr>
            <a:grpSpLocks/>
          </p:cNvGrpSpPr>
          <p:nvPr/>
        </p:nvGrpSpPr>
        <p:grpSpPr bwMode="auto">
          <a:xfrm>
            <a:off x="5945037" y="4706118"/>
            <a:ext cx="884191" cy="457200"/>
            <a:chOff x="1920" y="2112"/>
            <a:chExt cx="480" cy="288"/>
          </a:xfrm>
        </p:grpSpPr>
        <p:sp>
          <p:nvSpPr>
            <p:cNvPr id="42" name="Rectangle 56"/>
            <p:cNvSpPr>
              <a:spLocks noChangeArrowheads="1"/>
            </p:cNvSpPr>
            <p:nvPr/>
          </p:nvSpPr>
          <p:spPr bwMode="auto">
            <a:xfrm>
              <a:off x="1920" y="2112"/>
              <a:ext cx="336" cy="288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kumimoji="1" lang="en-US" altLang="zh-CN" sz="2400" i="1">
                  <a:latin typeface="Times New Roman" pitchFamily="18" charset="0"/>
                </a:rPr>
                <a:t>a</a:t>
              </a:r>
              <a:r>
                <a:rPr kumimoji="1" lang="en-US" altLang="zh-CN" sz="2400" i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3" name="Rectangle 57"/>
            <p:cNvSpPr>
              <a:spLocks noChangeArrowheads="1"/>
            </p:cNvSpPr>
            <p:nvPr/>
          </p:nvSpPr>
          <p:spPr bwMode="auto">
            <a:xfrm>
              <a:off x="2256" y="2112"/>
              <a:ext cx="14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40" name="Line 32"/>
          <p:cNvSpPr>
            <a:spLocks noChangeShapeType="1"/>
          </p:cNvSpPr>
          <p:nvPr/>
        </p:nvSpPr>
        <p:spPr bwMode="auto">
          <a:xfrm>
            <a:off x="6696599" y="5058926"/>
            <a:ext cx="13646" cy="43928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5198323" y="61413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栈的链式存储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1" name="Line 32"/>
          <p:cNvSpPr>
            <a:spLocks noChangeShapeType="1"/>
          </p:cNvSpPr>
          <p:nvPr/>
        </p:nvSpPr>
        <p:spPr bwMode="auto">
          <a:xfrm>
            <a:off x="6701297" y="4418086"/>
            <a:ext cx="8948" cy="28803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32"/>
          <p:cNvSpPr>
            <a:spLocks noChangeShapeType="1"/>
          </p:cNvSpPr>
          <p:nvPr/>
        </p:nvSpPr>
        <p:spPr bwMode="auto">
          <a:xfrm>
            <a:off x="6686519" y="3791659"/>
            <a:ext cx="13646" cy="43928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Line 32"/>
          <p:cNvSpPr>
            <a:spLocks noChangeShapeType="1"/>
          </p:cNvSpPr>
          <p:nvPr/>
        </p:nvSpPr>
        <p:spPr bwMode="auto">
          <a:xfrm>
            <a:off x="6679696" y="3114819"/>
            <a:ext cx="13646" cy="43928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Text Box 122"/>
          <p:cNvSpPr txBox="1">
            <a:spLocks noChangeArrowheads="1"/>
          </p:cNvSpPr>
          <p:nvPr/>
        </p:nvSpPr>
        <p:spPr bwMode="auto">
          <a:xfrm>
            <a:off x="4943380" y="5498206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栈底</a:t>
            </a:r>
          </a:p>
        </p:txBody>
      </p:sp>
      <p:sp>
        <p:nvSpPr>
          <p:cNvPr id="55" name="Text Box 124"/>
          <p:cNvSpPr txBox="1">
            <a:spLocks noChangeArrowheads="1"/>
          </p:cNvSpPr>
          <p:nvPr/>
        </p:nvSpPr>
        <p:spPr bwMode="auto">
          <a:xfrm>
            <a:off x="6385673" y="2204864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6" name="Rectangle 59"/>
          <p:cNvSpPr>
            <a:spLocks noChangeArrowheads="1"/>
          </p:cNvSpPr>
          <p:nvPr/>
        </p:nvSpPr>
        <p:spPr bwMode="auto">
          <a:xfrm>
            <a:off x="7287716" y="3007886"/>
            <a:ext cx="3635895" cy="108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spcBef>
                <a:spcPct val="15000"/>
              </a:spcBef>
              <a:buClr>
                <a:srgbClr val="0066FF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思考：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algn="l">
              <a:spcBef>
                <a:spcPct val="15000"/>
              </a:spcBef>
              <a:buClr>
                <a:srgbClr val="0066FF"/>
              </a:buClr>
              <a:buSzPct val="80000"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</a:rPr>
              <a:t>① 链栈是否需要另外设置头指针？② 链栈的基本操作如何实现？</a:t>
            </a:r>
          </a:p>
        </p:txBody>
      </p:sp>
      <p:sp>
        <p:nvSpPr>
          <p:cNvPr id="57" name="Line 32"/>
          <p:cNvSpPr>
            <a:spLocks noChangeShapeType="1"/>
          </p:cNvSpPr>
          <p:nvPr/>
        </p:nvSpPr>
        <p:spPr bwMode="auto">
          <a:xfrm>
            <a:off x="6674999" y="2524120"/>
            <a:ext cx="0" cy="23778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Text Box 124"/>
          <p:cNvSpPr txBox="1">
            <a:spLocks noChangeArrowheads="1"/>
          </p:cNvSpPr>
          <p:nvPr/>
        </p:nvSpPr>
        <p:spPr bwMode="auto">
          <a:xfrm>
            <a:off x="4958485" y="2803927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F9BC59-7B66-C23E-177B-C3C904947676}"/>
              </a:ext>
            </a:extLst>
          </p:cNvPr>
          <p:cNvSpPr/>
          <p:nvPr/>
        </p:nvSpPr>
        <p:spPr>
          <a:xfrm>
            <a:off x="1594963" y="1864011"/>
            <a:ext cx="3310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——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栈的链式存储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CB26DC-C613-7220-2220-CC0ABE6A3FC4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55B069-5D01-3828-AE33-976BACD3033B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2525FF6-C202-75BD-FC00-96D8016DB42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5">
            <a:extLst>
              <a:ext uri="{FF2B5EF4-FFF2-40B4-BE49-F238E27FC236}">
                <a16:creationId xmlns:a16="http://schemas.microsoft.com/office/drawing/2014/main" id="{8536AB27-5077-C052-4E6C-652306072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853" y="3550692"/>
            <a:ext cx="3168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99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 animBg="1"/>
      <p:bldP spid="28" grpId="0" animBg="1"/>
      <p:bldP spid="29" grpId="0"/>
      <p:bldP spid="31" grpId="0"/>
      <p:bldP spid="40" grpId="0" animBg="1"/>
      <p:bldP spid="50" grpId="0"/>
      <p:bldP spid="51" grpId="0" animBg="1"/>
      <p:bldP spid="52" grpId="0" animBg="1"/>
      <p:bldP spid="53" grpId="0" animBg="1"/>
      <p:bldP spid="54" grpId="0"/>
      <p:bldP spid="55" grpId="0"/>
      <p:bldP spid="56" grpId="0"/>
      <p:bldP spid="57" grpId="0" animBg="1"/>
      <p:bldP spid="5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741F-B04E-662C-9A83-EC87FF774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Group 34">
            <a:extLst>
              <a:ext uri="{FF2B5EF4-FFF2-40B4-BE49-F238E27FC236}">
                <a16:creationId xmlns:a16="http://schemas.microsoft.com/office/drawing/2014/main" id="{50C9D07F-13D1-5867-7E6B-1E9982854472}"/>
              </a:ext>
            </a:extLst>
          </p:cNvPr>
          <p:cNvGraphicFramePr>
            <a:graphicFrameLocks noGrp="1"/>
          </p:cNvGraphicFramePr>
          <p:nvPr/>
        </p:nvGraphicFramePr>
        <p:xfrm>
          <a:off x="2355221" y="2924944"/>
          <a:ext cx="1371600" cy="28749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0" lang="zh-CN" altLang="en-US" sz="24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n-1</a:t>
                      </a:r>
                      <a:endParaRPr kumimoji="0" lang="zh-CN" altLang="en-US" sz="24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...</a:t>
                      </a:r>
                    </a:p>
                  </a:txBody>
                  <a:tcPr marT="45730" marB="45730" vert="eaVert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Box 124">
            <a:extLst>
              <a:ext uri="{FF2B5EF4-FFF2-40B4-BE49-F238E27FC236}">
                <a16:creationId xmlns:a16="http://schemas.microsoft.com/office/drawing/2014/main" id="{728E9E84-968C-2A3E-C1BE-A05C4D203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472" y="3349487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</a:t>
            </a:r>
          </a:p>
        </p:txBody>
      </p:sp>
      <p:sp>
        <p:nvSpPr>
          <p:cNvPr id="27" name="Line 131">
            <a:extLst>
              <a:ext uri="{FF2B5EF4-FFF2-40B4-BE49-F238E27FC236}">
                <a16:creationId xmlns:a16="http://schemas.microsoft.com/office/drawing/2014/main" id="{B8A38C80-E725-FCCD-F58B-BEE58CE679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8188" y="3578087"/>
            <a:ext cx="383597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130">
            <a:extLst>
              <a:ext uri="{FF2B5EF4-FFF2-40B4-BE49-F238E27FC236}">
                <a16:creationId xmlns:a16="http://schemas.microsoft.com/office/drawing/2014/main" id="{A7BC29D0-A359-03E5-B4D8-5459C72842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8188" y="5559287"/>
            <a:ext cx="383597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122">
            <a:extLst>
              <a:ext uri="{FF2B5EF4-FFF2-40B4-BE49-F238E27FC236}">
                <a16:creationId xmlns:a16="http://schemas.microsoft.com/office/drawing/2014/main" id="{625C08B2-14EB-D998-AA25-C214372E4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8" y="5330687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CE1887-2E28-778B-39F3-937FDC9291F3}"/>
              </a:ext>
            </a:extLst>
          </p:cNvPr>
          <p:cNvSpPr/>
          <p:nvPr/>
        </p:nvSpPr>
        <p:spPr>
          <a:xfrm>
            <a:off x="1594963" y="1864011"/>
            <a:ext cx="3310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——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栈的链式存储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4A7E0-B793-3C59-1AE7-D43C83DDDFC4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CF51D6-8A5D-87FF-A137-F30C4D4705B2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675E723-7E2A-8CA8-9ECC-21AC3CFC9DA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5">
            <a:extLst>
              <a:ext uri="{FF2B5EF4-FFF2-40B4-BE49-F238E27FC236}">
                <a16:creationId xmlns:a16="http://schemas.microsoft.com/office/drawing/2014/main" id="{B0E4673A-164B-F985-0E78-5FA6700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853" y="3550692"/>
            <a:ext cx="3168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C0161528-D07B-DC25-CF65-8128FD380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391" y="3242260"/>
            <a:ext cx="23034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要素：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9E650551-1659-906B-F438-C74F76939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4915" y="3734048"/>
            <a:ext cx="6192837" cy="1910880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44000" tIns="108000" rIns="144000" bIns="108000">
            <a:spAutoFit/>
          </a:bodyPr>
          <a:lstStyle/>
          <a:p>
            <a:pPr algn="l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栈空条件：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s-&gt;next=NULL</a:t>
            </a:r>
          </a:p>
          <a:p>
            <a:pPr algn="l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栈满条件：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不考虑</a:t>
            </a:r>
          </a:p>
          <a:p>
            <a:pPr algn="l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  <a:r>
              <a:rPr lang="en-US" altLang="zh-CN" sz="2000" i="1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操作</a:t>
            </a:r>
            <a:r>
              <a:rPr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将存放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的结点插入到头结点之后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退栈操作：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取出头结点之后结点的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元素并删除之</a:t>
            </a:r>
          </a:p>
        </p:txBody>
      </p:sp>
    </p:spTree>
    <p:extLst>
      <p:ext uri="{BB962C8B-B14F-4D97-AF65-F5344CB8AC3E}">
        <p14:creationId xmlns:p14="http://schemas.microsoft.com/office/powerpoint/2010/main" val="88341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 animBg="1"/>
      <p:bldP spid="28" grpId="0" animBg="1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2135560" y="2379914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、链栈的初始化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3521FF-3788-6886-2CD9-4BB286E1C959}"/>
              </a:ext>
            </a:extLst>
          </p:cNvPr>
          <p:cNvSpPr/>
          <p:nvPr/>
        </p:nvSpPr>
        <p:spPr>
          <a:xfrm>
            <a:off x="1594963" y="186401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链栈的基本运算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1B911-4C78-965F-C98A-D2C7281E82CA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FBDF02-A6D8-517F-DB55-E7BBBB5D5934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0641A38-FF3B-1D49-2A28-91C73037DA42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D9518B1-492B-FEB6-FC2B-96D97F8DF713}"/>
              </a:ext>
            </a:extLst>
          </p:cNvPr>
          <p:cNvSpPr txBox="1"/>
          <p:nvPr/>
        </p:nvSpPr>
        <p:spPr>
          <a:xfrm>
            <a:off x="2135560" y="2913416"/>
            <a:ext cx="770485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建立一个空栈</a:t>
            </a:r>
            <a:r>
              <a:rPr kumimoji="1" lang="en-US" altLang="zh-CN" sz="1800" i="1" dirty="0"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。实际上是创建链栈的头结点，并将其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next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域置为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NULL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kumimoji="1" lang="en-US" altLang="zh-CN" sz="1800" dirty="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86E0221E-9C63-74EB-4524-8C0120984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7608" y="3361723"/>
            <a:ext cx="6624637" cy="15966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324000" tIns="144000" bIns="14400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void </a:t>
            </a:r>
            <a:r>
              <a:rPr kumimoji="1" lang="en-US" altLang="zh-CN" sz="18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InitStack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(LinkStNode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*&amp;s)</a:t>
            </a:r>
          </a:p>
          <a:p>
            <a:pPr algn="l">
              <a:lnSpc>
                <a:spcPct val="1200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  s=(LinkStNode *)malloc(sizeof(LinkStNode)); </a:t>
            </a:r>
          </a:p>
          <a:p>
            <a:pPr algn="l">
              <a:lnSpc>
                <a:spcPct val="1200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s-&gt;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next=NULL;</a:t>
            </a:r>
          </a:p>
          <a:p>
            <a:pPr algn="l">
              <a:lnSpc>
                <a:spcPct val="120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pSp>
        <p:nvGrpSpPr>
          <p:cNvPr id="12" name="组合 9">
            <a:extLst>
              <a:ext uri="{FF2B5EF4-FFF2-40B4-BE49-F238E27FC236}">
                <a16:creationId xmlns:a16="http://schemas.microsoft.com/office/drawing/2014/main" id="{B3FB1B20-4539-2B30-F23A-FF98E6403421}"/>
              </a:ext>
            </a:extLst>
          </p:cNvPr>
          <p:cNvGrpSpPr/>
          <p:nvPr/>
        </p:nvGrpSpPr>
        <p:grpSpPr>
          <a:xfrm>
            <a:off x="4282120" y="5076235"/>
            <a:ext cx="1643074" cy="1428760"/>
            <a:chOff x="2571736" y="4143380"/>
            <a:chExt cx="1643074" cy="1428760"/>
          </a:xfrm>
        </p:grpSpPr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E2ED93D1-0086-2988-44F8-63E06CFB7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5" y="514034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baseline="-25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ADE3BB03-0C09-042B-D2AC-4CE84FFB7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0" y="514034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∧</a:t>
              </a:r>
              <a:endParaRPr lang="zh-CN" altLang="zh-CN" sz="1800" baseline="-250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5" name="Arc 40">
              <a:extLst>
                <a:ext uri="{FF2B5EF4-FFF2-40B4-BE49-F238E27FC236}">
                  <a16:creationId xmlns:a16="http://schemas.microsoft.com/office/drawing/2014/main" id="{36C4E67D-178E-BA0E-3935-1B6E20A70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536" y="4779978"/>
              <a:ext cx="360362" cy="36036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6" name="Text Box 41">
              <a:extLst>
                <a:ext uri="{FF2B5EF4-FFF2-40B4-BE49-F238E27FC236}">
                  <a16:creationId xmlns:a16="http://schemas.microsoft.com/office/drawing/2014/main" id="{99A43FAB-038B-7C58-CF80-60A6D220E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736" y="4492640"/>
              <a:ext cx="431800" cy="40011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>
                  <a:latin typeface="Consolas" pitchFamily="49" charset="0"/>
                  <a:cs typeface="Consolas" pitchFamily="49" charset="0"/>
                </a:rPr>
                <a:t>s</a:t>
              </a:r>
            </a:p>
          </p:txBody>
        </p:sp>
        <p:sp>
          <p:nvSpPr>
            <p:cNvPr id="17" name="下箭头 24">
              <a:extLst>
                <a:ext uri="{FF2B5EF4-FFF2-40B4-BE49-F238E27FC236}">
                  <a16:creationId xmlns:a16="http://schemas.microsoft.com/office/drawing/2014/main" id="{8559386A-A377-DDB7-C791-36408236F370}"/>
                </a:ext>
              </a:extLst>
            </p:cNvPr>
            <p:cNvSpPr/>
            <p:nvPr/>
          </p:nvSpPr>
          <p:spPr>
            <a:xfrm>
              <a:off x="3643306" y="4143380"/>
              <a:ext cx="357190" cy="571504"/>
            </a:xfrm>
            <a:prstGeom prst="downArrow">
              <a:avLst/>
            </a:prstGeom>
            <a:ln>
              <a:tailEnd type="triangle" w="med" len="lg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311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60276-6B70-2FD1-EF0A-6EA1463E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A16D8879-A7BD-C5DB-2476-8D1679728E97}"/>
              </a:ext>
            </a:extLst>
          </p:cNvPr>
          <p:cNvSpPr/>
          <p:nvPr/>
        </p:nvSpPr>
        <p:spPr>
          <a:xfrm>
            <a:off x="2135560" y="2379914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、链栈的销毁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77174D-DC6C-7C18-46D4-FF100E2722E7}"/>
              </a:ext>
            </a:extLst>
          </p:cNvPr>
          <p:cNvSpPr/>
          <p:nvPr/>
        </p:nvSpPr>
        <p:spPr>
          <a:xfrm>
            <a:off x="1594963" y="186401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链栈的基本运算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0ECC6B-E22F-0955-6F45-28AFF537550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A39198-D5DA-3122-20DF-695C5488E81C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A6F9077-8D71-47DB-C523-51C19F1E68F7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1F79E80B-55B5-8569-5B75-DDEDF9320288}"/>
              </a:ext>
            </a:extLst>
          </p:cNvPr>
          <p:cNvSpPr txBox="1"/>
          <p:nvPr/>
        </p:nvSpPr>
        <p:spPr>
          <a:xfrm>
            <a:off x="2135560" y="2913416"/>
            <a:ext cx="338437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dirty="0">
                <a:latin typeface="Consolas" pitchFamily="49" charset="0"/>
                <a:ea typeface="仿宋" pitchFamily="49" charset="-122"/>
                <a:cs typeface="Consolas" pitchFamily="49" charset="0"/>
              </a:rPr>
              <a:t>释放栈</a:t>
            </a:r>
            <a:r>
              <a:rPr kumimoji="1" lang="en-US" altLang="zh-CN" i="1" dirty="0"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kumimoji="1" lang="zh-CN" altLang="en-US" dirty="0">
                <a:latin typeface="Consolas" pitchFamily="49" charset="0"/>
                <a:ea typeface="仿宋" pitchFamily="49" charset="-122"/>
                <a:cs typeface="Consolas" pitchFamily="49" charset="0"/>
              </a:rPr>
              <a:t>占用的全部存储空间。</a:t>
            </a:r>
            <a:endParaRPr kumimoji="1" lang="en-US" altLang="zh-CN" sz="1800" dirty="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8A584F-88D0-788D-6BE3-838101DF3ADF}"/>
              </a:ext>
            </a:extLst>
          </p:cNvPr>
          <p:cNvSpPr txBox="1"/>
          <p:nvPr/>
        </p:nvSpPr>
        <p:spPr>
          <a:xfrm>
            <a:off x="665651" y="3255048"/>
            <a:ext cx="5832648" cy="306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DestroyStack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*&amp;s)</a:t>
            </a: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*p=s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*q=s-&gt;next;</a:t>
            </a: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while (q!=NULL)</a:t>
            </a: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{	free(p);</a:t>
            </a: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p=q;</a:t>
            </a: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q=p-&gt;next;</a:t>
            </a: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}</a:t>
            </a: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free(p);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此时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指向尾结点，释放其空间</a:t>
            </a: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8B15DEC9-AA7C-1778-7A67-AA0FB5CB0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078" y="4459567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3" name="Rectangle 28">
            <a:extLst>
              <a:ext uri="{FF2B5EF4-FFF2-40B4-BE49-F238E27FC236}">
                <a16:creationId xmlns:a16="http://schemas.microsoft.com/office/drawing/2014/main" id="{DF04E29B-A313-18AD-956D-A702EF342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003" y="4459567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4" name="Rectangle 29">
            <a:extLst>
              <a:ext uri="{FF2B5EF4-FFF2-40B4-BE49-F238E27FC236}">
                <a16:creationId xmlns:a16="http://schemas.microsoft.com/office/drawing/2014/main" id="{6C5907E1-7310-FEBD-6CA0-881FC0092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966" y="4459567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</a:p>
        </p:txBody>
      </p:sp>
      <p:sp>
        <p:nvSpPr>
          <p:cNvPr id="45" name="Rectangle 30">
            <a:extLst>
              <a:ext uri="{FF2B5EF4-FFF2-40B4-BE49-F238E27FC236}">
                <a16:creationId xmlns:a16="http://schemas.microsoft.com/office/drawing/2014/main" id="{CB5DC9C7-9FA7-5AC6-C895-53B809843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791" y="4459567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6" name="Line 31">
            <a:extLst>
              <a:ext uri="{FF2B5EF4-FFF2-40B4-BE49-F238E27FC236}">
                <a16:creationId xmlns:a16="http://schemas.microsoft.com/office/drawing/2014/main" id="{84D0CBF2-54F2-6C52-1F81-0CD8F011F3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3316" y="4675467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7" name="Rectangle 32">
            <a:extLst>
              <a:ext uri="{FF2B5EF4-FFF2-40B4-BE49-F238E27FC236}">
                <a16:creationId xmlns:a16="http://schemas.microsoft.com/office/drawing/2014/main" id="{78B67279-825B-E85E-7D5A-AE63C2FC9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1853" y="4459567"/>
            <a:ext cx="60801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n-1</a:t>
            </a:r>
          </a:p>
        </p:txBody>
      </p:sp>
      <p:sp>
        <p:nvSpPr>
          <p:cNvPr id="48" name="Rectangle 33">
            <a:extLst>
              <a:ext uri="{FF2B5EF4-FFF2-40B4-BE49-F238E27FC236}">
                <a16:creationId xmlns:a16="http://schemas.microsoft.com/office/drawing/2014/main" id="{5CC685B8-BB9D-0D7B-C0DF-8459EA52C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6996" y="4459567"/>
            <a:ext cx="459431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9" name="Line 34">
            <a:extLst>
              <a:ext uri="{FF2B5EF4-FFF2-40B4-BE49-F238E27FC236}">
                <a16:creationId xmlns:a16="http://schemas.microsoft.com/office/drawing/2014/main" id="{84F11AD9-D6B9-0B57-303C-88430E5CE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6203" y="4675467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Rectangle 35">
            <a:extLst>
              <a:ext uri="{FF2B5EF4-FFF2-40B4-BE49-F238E27FC236}">
                <a16:creationId xmlns:a16="http://schemas.microsoft.com/office/drawing/2014/main" id="{1260AF08-827C-2021-B6FF-9605364B4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0503" y="4459567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51" name="Rectangle 36">
            <a:extLst>
              <a:ext uri="{FF2B5EF4-FFF2-40B4-BE49-F238E27FC236}">
                <a16:creationId xmlns:a16="http://schemas.microsoft.com/office/drawing/2014/main" id="{5B4B8789-4F18-A512-8590-0AFFC7D49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5328" y="4459567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52" name="Line 37">
            <a:extLst>
              <a:ext uri="{FF2B5EF4-FFF2-40B4-BE49-F238E27FC236}">
                <a16:creationId xmlns:a16="http://schemas.microsoft.com/office/drawing/2014/main" id="{C6A7FD33-B74E-18A8-B9E4-0EA61F57C2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4853" y="4675467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3" name="Line 38">
            <a:extLst>
              <a:ext uri="{FF2B5EF4-FFF2-40B4-BE49-F238E27FC236}">
                <a16:creationId xmlns:a16="http://schemas.microsoft.com/office/drawing/2014/main" id="{74025A24-DE13-3AFF-46EB-2FB96055F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7503" y="4675467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4" name="Text Box 39">
            <a:extLst>
              <a:ext uri="{FF2B5EF4-FFF2-40B4-BE49-F238E27FC236}">
                <a16:creationId xmlns:a16="http://schemas.microsoft.com/office/drawing/2014/main" id="{925F2815-0218-6BBE-AC98-38C969BB8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9828" y="4434167"/>
            <a:ext cx="865187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nsolas" pitchFamily="49" charset="0"/>
                <a:ea typeface="宋体" pitchFamily="2" charset="-122"/>
                <a:cs typeface="Consolas" pitchFamily="49" charset="0"/>
              </a:rPr>
              <a:t>…</a:t>
            </a:r>
          </a:p>
        </p:txBody>
      </p:sp>
      <p:sp>
        <p:nvSpPr>
          <p:cNvPr id="55" name="Line 32">
            <a:extLst>
              <a:ext uri="{FF2B5EF4-FFF2-40B4-BE49-F238E27FC236}">
                <a16:creationId xmlns:a16="http://schemas.microsoft.com/office/drawing/2014/main" id="{1E946F86-7A3A-DF5A-A8F1-989A7DDDC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8005" y="4694392"/>
            <a:ext cx="60169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Text Box 124">
            <a:extLst>
              <a:ext uri="{FF2B5EF4-FFF2-40B4-BE49-F238E27FC236}">
                <a16:creationId xmlns:a16="http://schemas.microsoft.com/office/drawing/2014/main" id="{9A751D66-09B6-5BB6-74C6-3B30DFD15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370" y="4494337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7" name="Text Box 124">
            <a:extLst>
              <a:ext uri="{FF2B5EF4-FFF2-40B4-BE49-F238E27FC236}">
                <a16:creationId xmlns:a16="http://schemas.microsoft.com/office/drawing/2014/main" id="{FAACB363-DE48-3C5D-10DB-CFF887D03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570" y="3844713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8" name="Text Box 124">
            <a:extLst>
              <a:ext uri="{FF2B5EF4-FFF2-40B4-BE49-F238E27FC236}">
                <a16:creationId xmlns:a16="http://schemas.microsoft.com/office/drawing/2014/main" id="{415F9FB4-5CBF-D1C9-CCB0-B451E8364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6322" y="3844713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9" name="Line 32">
            <a:extLst>
              <a:ext uri="{FF2B5EF4-FFF2-40B4-BE49-F238E27FC236}">
                <a16:creationId xmlns:a16="http://schemas.microsoft.com/office/drawing/2014/main" id="{7BFC9CAD-8081-5E73-750C-56470AFD2C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2007" y="4275164"/>
            <a:ext cx="215455" cy="1940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Line 32">
            <a:extLst>
              <a:ext uri="{FF2B5EF4-FFF2-40B4-BE49-F238E27FC236}">
                <a16:creationId xmlns:a16="http://schemas.microsoft.com/office/drawing/2014/main" id="{7048F153-F50B-BB03-4270-D08276741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6739" y="4256747"/>
            <a:ext cx="215455" cy="1940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73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CAED-C243-4F88-39D2-9C5E4BB81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6C525140-800C-6C1D-05E1-769D6C8EB7D4}"/>
              </a:ext>
            </a:extLst>
          </p:cNvPr>
          <p:cNvSpPr/>
          <p:nvPr/>
        </p:nvSpPr>
        <p:spPr>
          <a:xfrm>
            <a:off x="2135560" y="2379914"/>
            <a:ext cx="3456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、判断链栈是否为空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C0EEA9-5992-586F-E9DC-1E01BC363C10}"/>
              </a:ext>
            </a:extLst>
          </p:cNvPr>
          <p:cNvSpPr/>
          <p:nvPr/>
        </p:nvSpPr>
        <p:spPr>
          <a:xfrm>
            <a:off x="1594963" y="186401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链栈的基本运算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B7048C-138D-DDC8-B01A-A5255F5CA3B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3E10CE-93F6-3261-0D2B-68DB29F14C72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A6E6CC7-F64A-7DC0-E154-0AAF433CD072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9">
            <a:extLst>
              <a:ext uri="{FF2B5EF4-FFF2-40B4-BE49-F238E27FC236}">
                <a16:creationId xmlns:a16="http://schemas.microsoft.com/office/drawing/2014/main" id="{312212A5-75E5-C5F3-4397-DB18DD5D05B8}"/>
              </a:ext>
            </a:extLst>
          </p:cNvPr>
          <p:cNvGrpSpPr/>
          <p:nvPr/>
        </p:nvGrpSpPr>
        <p:grpSpPr>
          <a:xfrm>
            <a:off x="4676693" y="4873256"/>
            <a:ext cx="1643074" cy="1079500"/>
            <a:chOff x="2571736" y="4492640"/>
            <a:chExt cx="1643074" cy="1079500"/>
          </a:xfrm>
        </p:grpSpPr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7E443DC5-0F98-6A7E-EA05-8AFFEDB16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5" y="514034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baseline="-25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4EE551A2-BDF0-3C14-5020-63F2A580C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0" y="5140340"/>
              <a:ext cx="539750" cy="4318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∧</a:t>
              </a:r>
              <a:endParaRPr lang="zh-CN" altLang="zh-CN" sz="1800" baseline="-250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5" name="Arc 40">
              <a:extLst>
                <a:ext uri="{FF2B5EF4-FFF2-40B4-BE49-F238E27FC236}">
                  <a16:creationId xmlns:a16="http://schemas.microsoft.com/office/drawing/2014/main" id="{60716DEE-D647-F57C-7CE0-E86809E6A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536" y="4779978"/>
              <a:ext cx="360362" cy="36036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6" name="Text Box 41">
              <a:extLst>
                <a:ext uri="{FF2B5EF4-FFF2-40B4-BE49-F238E27FC236}">
                  <a16:creationId xmlns:a16="http://schemas.microsoft.com/office/drawing/2014/main" id="{176CEAA4-4279-0A31-E81A-EEECADE9E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736" y="4492640"/>
              <a:ext cx="431800" cy="40011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>
                  <a:latin typeface="Consolas" pitchFamily="49" charset="0"/>
                  <a:cs typeface="Consolas" pitchFamily="49" charset="0"/>
                </a:rPr>
                <a:t>s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04621761-0293-5782-DAC6-FA1932A37688}"/>
              </a:ext>
            </a:extLst>
          </p:cNvPr>
          <p:cNvSpPr txBox="1"/>
          <p:nvPr/>
        </p:nvSpPr>
        <p:spPr>
          <a:xfrm>
            <a:off x="2135437" y="3001592"/>
            <a:ext cx="6725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栈</a:t>
            </a:r>
            <a:r>
              <a:rPr kumimoji="1" lang="en-US" altLang="zh-CN" sz="1800" i="1" dirty="0"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为空的条件是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s-&gt;next==NULL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，即单链表中没有数据结点。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769AF4E-68BA-76E4-104F-E1B5C0F728B6}"/>
              </a:ext>
            </a:extLst>
          </p:cNvPr>
          <p:cNvSpPr txBox="1"/>
          <p:nvPr/>
        </p:nvSpPr>
        <p:spPr>
          <a:xfrm>
            <a:off x="2165020" y="3474195"/>
            <a:ext cx="61033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bool </a:t>
            </a:r>
            <a:r>
              <a:rPr lang="en-US" altLang="zh-CN" sz="18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StackEmpty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*s)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return(s-&gt;next==NULL);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911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2135560" y="2379914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、链栈的进栈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9D2341-A1DC-7448-1EE3-24691DCB08E0}"/>
              </a:ext>
            </a:extLst>
          </p:cNvPr>
          <p:cNvSpPr/>
          <p:nvPr/>
        </p:nvSpPr>
        <p:spPr>
          <a:xfrm>
            <a:off x="1594963" y="186401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链栈的基本运算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574E541-2174-A4B2-A8C0-91F001B2C82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9571C5-B09C-B70B-D031-31FDB9C55A8F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96E0D35-130E-78DE-43D7-6F6FFF453AE8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3F903CE3-ECAC-B11B-9CC6-B13D5952D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1109" y="489843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Rectangle 28">
            <a:extLst>
              <a:ext uri="{FF2B5EF4-FFF2-40B4-BE49-F238E27FC236}">
                <a16:creationId xmlns:a16="http://schemas.microsoft.com/office/drawing/2014/main" id="{94A7CB59-6DCB-5A15-EC97-0DAA8C770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034" y="489843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Line 32">
            <a:extLst>
              <a:ext uri="{FF2B5EF4-FFF2-40B4-BE49-F238E27FC236}">
                <a16:creationId xmlns:a16="http://schemas.microsoft.com/office/drawing/2014/main" id="{57D16ECF-F25E-EA60-89BE-1AE153AC4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3036" y="5133258"/>
            <a:ext cx="60169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Text Box 124">
            <a:extLst>
              <a:ext uri="{FF2B5EF4-FFF2-40B4-BE49-F238E27FC236}">
                <a16:creationId xmlns:a16="http://schemas.microsoft.com/office/drawing/2014/main" id="{A26651F5-8D82-9E0E-322F-7ECB0093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401" y="4933203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2" name="Text Box 124">
            <a:extLst>
              <a:ext uri="{FF2B5EF4-FFF2-40B4-BE49-F238E27FC236}">
                <a16:creationId xmlns:a16="http://schemas.microsoft.com/office/drawing/2014/main" id="{B53BA0BE-BBD0-8E21-AD8B-0200743B8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14" y="6326810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8" name="Text Box 3">
            <a:extLst>
              <a:ext uri="{FF2B5EF4-FFF2-40B4-BE49-F238E27FC236}">
                <a16:creationId xmlns:a16="http://schemas.microsoft.com/office/drawing/2014/main" id="{1BE59521-1F78-71F0-8359-2B4059ECC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348" y="2149086"/>
            <a:ext cx="7031059" cy="23091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*&amp;s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e)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*p;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*)malloc(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sizeof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));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p-&gt;data=e;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新建元素</a:t>
            </a:r>
            <a:r>
              <a:rPr lang="en-US" altLang="zh-CN" sz="1800" i="1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对应的结点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p-&gt;next=s-&gt;next;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插入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结点作为开始结点</a:t>
            </a:r>
          </a:p>
          <a:p>
            <a:pPr algn="l">
              <a:lnSpc>
                <a:spcPts val="25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s-&gt;next=p;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26643" name="Line 19"/>
          <p:cNvSpPr>
            <a:spLocks noChangeShapeType="1"/>
          </p:cNvSpPr>
          <p:nvPr/>
        </p:nvSpPr>
        <p:spPr bwMode="auto">
          <a:xfrm flipV="1">
            <a:off x="4337014" y="6166503"/>
            <a:ext cx="0" cy="2873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647" name="Rectangle 23"/>
          <p:cNvSpPr>
            <a:spLocks noChangeArrowheads="1"/>
          </p:cNvSpPr>
          <p:nvPr/>
        </p:nvSpPr>
        <p:spPr bwMode="auto">
          <a:xfrm>
            <a:off x="4048089" y="5806141"/>
            <a:ext cx="504825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e</a:t>
            </a:r>
            <a:endParaRPr lang="en-US" altLang="zh-CN" sz="1800" i="1" baseline="-25000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648" name="Rectangle 24"/>
          <p:cNvSpPr>
            <a:spLocks noChangeArrowheads="1"/>
          </p:cNvSpPr>
          <p:nvPr/>
        </p:nvSpPr>
        <p:spPr bwMode="auto">
          <a:xfrm>
            <a:off x="4552914" y="5806141"/>
            <a:ext cx="360362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7ECACDA7-4B5B-A985-01A3-D3D82421F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079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5204EC99-7C34-B27B-301B-303857B21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04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Line 31">
            <a:extLst>
              <a:ext uri="{FF2B5EF4-FFF2-40B4-BE49-F238E27FC236}">
                <a16:creationId xmlns:a16="http://schemas.microsoft.com/office/drawing/2014/main" id="{4A65EEAB-CF69-2541-D5A9-A4CF190815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1429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32">
            <a:extLst>
              <a:ext uri="{FF2B5EF4-FFF2-40B4-BE49-F238E27FC236}">
                <a16:creationId xmlns:a16="http://schemas.microsoft.com/office/drawing/2014/main" id="{FAAA5BD3-411D-F930-8AE3-0F2C652BB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9966" y="4962975"/>
            <a:ext cx="60801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n-1</a:t>
            </a: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2A5D12B0-9E2B-E082-15EA-0056691B0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109" y="4962975"/>
            <a:ext cx="459431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Line 34">
            <a:extLst>
              <a:ext uri="{FF2B5EF4-FFF2-40B4-BE49-F238E27FC236}">
                <a16:creationId xmlns:a16="http://schemas.microsoft.com/office/drawing/2014/main" id="{EAD9BBA5-AEDE-B19F-E67C-4467B66D5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431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2739FBC5-B88D-B9FD-A06A-1E5B06DCB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8616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6" name="Rectangle 36">
            <a:extLst>
              <a:ext uri="{FF2B5EF4-FFF2-40B4-BE49-F238E27FC236}">
                <a16:creationId xmlns:a16="http://schemas.microsoft.com/office/drawing/2014/main" id="{D1737512-4FC7-9185-98CF-57248D513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441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18" name="Line 37">
            <a:extLst>
              <a:ext uri="{FF2B5EF4-FFF2-40B4-BE49-F238E27FC236}">
                <a16:creationId xmlns:a16="http://schemas.microsoft.com/office/drawing/2014/main" id="{9009B59A-8A34-65CD-D972-CF8EE3A87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296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" name="Line 38">
            <a:extLst>
              <a:ext uri="{FF2B5EF4-FFF2-40B4-BE49-F238E27FC236}">
                <a16:creationId xmlns:a16="http://schemas.microsoft.com/office/drawing/2014/main" id="{2382E33B-69B0-EC3C-6999-3C01E653CE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561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Text Box 39">
            <a:extLst>
              <a:ext uri="{FF2B5EF4-FFF2-40B4-BE49-F238E27FC236}">
                <a16:creationId xmlns:a16="http://schemas.microsoft.com/office/drawing/2014/main" id="{A73F3FE4-0730-FF72-4C0F-141136710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7941" y="4937575"/>
            <a:ext cx="865187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nsolas" pitchFamily="49" charset="0"/>
                <a:ea typeface="宋体" pitchFamily="2" charset="-122"/>
                <a:cs typeface="Consolas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7486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B5D3A-2AA7-B577-CBCE-8459ECFA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6650E870-5141-D64F-0274-39C641C4A58A}"/>
              </a:ext>
            </a:extLst>
          </p:cNvPr>
          <p:cNvSpPr/>
          <p:nvPr/>
        </p:nvSpPr>
        <p:spPr>
          <a:xfrm>
            <a:off x="2135560" y="2379914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、链栈的进栈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9E4447-EAA8-A7D4-F152-7C93073897EA}"/>
              </a:ext>
            </a:extLst>
          </p:cNvPr>
          <p:cNvSpPr/>
          <p:nvPr/>
        </p:nvSpPr>
        <p:spPr>
          <a:xfrm>
            <a:off x="1594963" y="186401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链栈的基本运算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F1DFFB2-0529-E88A-A0BE-CC0ECA0F68C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3CE23F-A84F-5A6B-A605-F8FB1C8118AA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0DDF762-7E93-1E3E-1BC6-80BA61D5CEA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A132022B-301F-7EE5-F97C-D11A508F0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1109" y="489843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Rectangle 28">
            <a:extLst>
              <a:ext uri="{FF2B5EF4-FFF2-40B4-BE49-F238E27FC236}">
                <a16:creationId xmlns:a16="http://schemas.microsoft.com/office/drawing/2014/main" id="{90134727-B0BB-6D0F-1BDB-498253082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034" y="489843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Line 32">
            <a:extLst>
              <a:ext uri="{FF2B5EF4-FFF2-40B4-BE49-F238E27FC236}">
                <a16:creationId xmlns:a16="http://schemas.microsoft.com/office/drawing/2014/main" id="{4900873B-ED0D-88EE-4C8E-C9FA47F118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3036" y="5133258"/>
            <a:ext cx="60169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Text Box 124">
            <a:extLst>
              <a:ext uri="{FF2B5EF4-FFF2-40B4-BE49-F238E27FC236}">
                <a16:creationId xmlns:a16="http://schemas.microsoft.com/office/drawing/2014/main" id="{CB47ED69-60FC-F88C-BC4D-727A0DF98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401" y="4933203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2" name="Text Box 124">
            <a:extLst>
              <a:ext uri="{FF2B5EF4-FFF2-40B4-BE49-F238E27FC236}">
                <a16:creationId xmlns:a16="http://schemas.microsoft.com/office/drawing/2014/main" id="{391BDA9E-0C6D-BBC3-3436-1D881293A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14" y="6326810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8" name="Text Box 3">
            <a:extLst>
              <a:ext uri="{FF2B5EF4-FFF2-40B4-BE49-F238E27FC236}">
                <a16:creationId xmlns:a16="http://schemas.microsoft.com/office/drawing/2014/main" id="{DE9F2AB6-5021-A083-3B4F-470CA4056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348" y="2149086"/>
            <a:ext cx="7031059" cy="23091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*&amp;s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e)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*p;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*)malloc(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sizeof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));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p-&gt;data=e;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新建元素</a:t>
            </a:r>
            <a:r>
              <a:rPr lang="en-US" altLang="zh-CN" sz="1800" i="1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对应的结点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p-&gt;next=s-&gt;next;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插入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结点作为开始结点</a:t>
            </a:r>
          </a:p>
          <a:p>
            <a:pPr algn="l">
              <a:lnSpc>
                <a:spcPts val="25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s-&gt;next=p;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26643" name="Line 19">
            <a:extLst>
              <a:ext uri="{FF2B5EF4-FFF2-40B4-BE49-F238E27FC236}">
                <a16:creationId xmlns:a16="http://schemas.microsoft.com/office/drawing/2014/main" id="{2EF3C289-D4B5-32E0-C803-5B09C54263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7014" y="6166503"/>
            <a:ext cx="0" cy="2873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647" name="Rectangle 23">
            <a:extLst>
              <a:ext uri="{FF2B5EF4-FFF2-40B4-BE49-F238E27FC236}">
                <a16:creationId xmlns:a16="http://schemas.microsoft.com/office/drawing/2014/main" id="{E4413DA5-7BCE-54C3-FA28-B55D3C52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089" y="5806141"/>
            <a:ext cx="504825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e</a:t>
            </a:r>
            <a:endParaRPr lang="en-US" altLang="zh-CN" sz="1800" i="1" baseline="-25000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648" name="Rectangle 24">
            <a:extLst>
              <a:ext uri="{FF2B5EF4-FFF2-40B4-BE49-F238E27FC236}">
                <a16:creationId xmlns:a16="http://schemas.microsoft.com/office/drawing/2014/main" id="{88DB0082-EA26-5986-DE83-6F11AA09C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14" y="5806141"/>
            <a:ext cx="360362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Line 19">
            <a:extLst>
              <a:ext uri="{FF2B5EF4-FFF2-40B4-BE49-F238E27FC236}">
                <a16:creationId xmlns:a16="http://schemas.microsoft.com/office/drawing/2014/main" id="{86C08415-EF95-66FC-5E4A-00B9209B52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0509" y="5330232"/>
            <a:ext cx="0" cy="69105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Line 19">
            <a:extLst>
              <a:ext uri="{FF2B5EF4-FFF2-40B4-BE49-F238E27FC236}">
                <a16:creationId xmlns:a16="http://schemas.microsoft.com/office/drawing/2014/main" id="{5C8CD2C3-5F46-935A-615F-7996FE14C2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4064" y="5278729"/>
            <a:ext cx="161649" cy="61975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 Box 124">
            <a:extLst>
              <a:ext uri="{FF2B5EF4-FFF2-40B4-BE49-F238E27FC236}">
                <a16:creationId xmlns:a16="http://schemas.microsoft.com/office/drawing/2014/main" id="{9C386DE5-692B-C5C5-CF1B-3D00B2DBB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14" y="4978820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X</a:t>
            </a:r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0" name="Rectangle 29">
            <a:extLst>
              <a:ext uri="{FF2B5EF4-FFF2-40B4-BE49-F238E27FC236}">
                <a16:creationId xmlns:a16="http://schemas.microsoft.com/office/drawing/2014/main" id="{1B5B46F6-3311-1573-2897-5342518BB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079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CD920DFA-3795-04D0-B97F-255E24EC8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04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Line 31">
            <a:extLst>
              <a:ext uri="{FF2B5EF4-FFF2-40B4-BE49-F238E27FC236}">
                <a16:creationId xmlns:a16="http://schemas.microsoft.com/office/drawing/2014/main" id="{A418AE4F-5EEC-BB3A-9E5F-B11E1C105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1429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Rectangle 32">
            <a:extLst>
              <a:ext uri="{FF2B5EF4-FFF2-40B4-BE49-F238E27FC236}">
                <a16:creationId xmlns:a16="http://schemas.microsoft.com/office/drawing/2014/main" id="{03D71FC8-22F7-7B12-A496-B8FCC60A8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9966" y="4962975"/>
            <a:ext cx="60801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n-1</a:t>
            </a:r>
          </a:p>
        </p:txBody>
      </p:sp>
      <p:sp>
        <p:nvSpPr>
          <p:cNvPr id="14" name="Rectangle 33">
            <a:extLst>
              <a:ext uri="{FF2B5EF4-FFF2-40B4-BE49-F238E27FC236}">
                <a16:creationId xmlns:a16="http://schemas.microsoft.com/office/drawing/2014/main" id="{774153B8-9A8E-9864-7EAC-501EFAA28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109" y="4962975"/>
            <a:ext cx="459431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Line 34">
            <a:extLst>
              <a:ext uri="{FF2B5EF4-FFF2-40B4-BE49-F238E27FC236}">
                <a16:creationId xmlns:a16="http://schemas.microsoft.com/office/drawing/2014/main" id="{898E20BA-A237-E1FC-3BAF-9CA3E1EA03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431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Rectangle 35">
            <a:extLst>
              <a:ext uri="{FF2B5EF4-FFF2-40B4-BE49-F238E27FC236}">
                <a16:creationId xmlns:a16="http://schemas.microsoft.com/office/drawing/2014/main" id="{488019EF-39E1-438B-95B1-2BCC40DD2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8616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44F47DC6-09FA-1B25-5022-C3DA0DFA6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441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21" name="Line 37">
            <a:extLst>
              <a:ext uri="{FF2B5EF4-FFF2-40B4-BE49-F238E27FC236}">
                <a16:creationId xmlns:a16="http://schemas.microsoft.com/office/drawing/2014/main" id="{6DF13CD3-FF15-E385-6DA7-2351CDC788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296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Line 38">
            <a:extLst>
              <a:ext uri="{FF2B5EF4-FFF2-40B4-BE49-F238E27FC236}">
                <a16:creationId xmlns:a16="http://schemas.microsoft.com/office/drawing/2014/main" id="{7AC2FC04-3139-5649-FE25-62971B516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561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3" name="Text Box 39">
            <a:extLst>
              <a:ext uri="{FF2B5EF4-FFF2-40B4-BE49-F238E27FC236}">
                <a16:creationId xmlns:a16="http://schemas.microsoft.com/office/drawing/2014/main" id="{A210B841-5CBD-E7ED-8DF7-8A29D53BE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7941" y="4937575"/>
            <a:ext cx="865187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nsolas" pitchFamily="49" charset="0"/>
                <a:ea typeface="宋体" pitchFamily="2" charset="-122"/>
                <a:cs typeface="Consolas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3964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EB0BD-D764-BF60-03A2-7CF65BED1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6D954BDD-604A-2DF4-2123-25CC420411F1}"/>
              </a:ext>
            </a:extLst>
          </p:cNvPr>
          <p:cNvSpPr/>
          <p:nvPr/>
        </p:nvSpPr>
        <p:spPr>
          <a:xfrm>
            <a:off x="2135560" y="2379914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、链栈的进栈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EDB6C0-5AE3-DCFA-0A41-020D589BFEEA}"/>
              </a:ext>
            </a:extLst>
          </p:cNvPr>
          <p:cNvSpPr/>
          <p:nvPr/>
        </p:nvSpPr>
        <p:spPr>
          <a:xfrm>
            <a:off x="1594963" y="186401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链栈的基本运算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808249-6F68-449C-9AF7-7581BB9352EF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6FE0CB-7BA4-E48E-8746-37189E30F259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121D999-8DFA-EF7C-4CD8-0C65C4A7A85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BA857590-CAC7-A52F-A789-1E2145FA1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1109" y="489843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Rectangle 28">
            <a:extLst>
              <a:ext uri="{FF2B5EF4-FFF2-40B4-BE49-F238E27FC236}">
                <a16:creationId xmlns:a16="http://schemas.microsoft.com/office/drawing/2014/main" id="{40DE2B45-F8F4-F4FD-7A60-116C58487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034" y="489843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Line 32">
            <a:extLst>
              <a:ext uri="{FF2B5EF4-FFF2-40B4-BE49-F238E27FC236}">
                <a16:creationId xmlns:a16="http://schemas.microsoft.com/office/drawing/2014/main" id="{38D7350A-065A-27C8-9FEF-174E529203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3036" y="5133258"/>
            <a:ext cx="60169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Text Box 124">
            <a:extLst>
              <a:ext uri="{FF2B5EF4-FFF2-40B4-BE49-F238E27FC236}">
                <a16:creationId xmlns:a16="http://schemas.microsoft.com/office/drawing/2014/main" id="{32C0DB6D-BD2C-340E-B056-A71B7DCF2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401" y="4933203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2" name="Text Box 124">
            <a:extLst>
              <a:ext uri="{FF2B5EF4-FFF2-40B4-BE49-F238E27FC236}">
                <a16:creationId xmlns:a16="http://schemas.microsoft.com/office/drawing/2014/main" id="{6264084E-257D-4EEF-6B6D-372D87F33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14" y="6326810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8" name="Text Box 3">
            <a:extLst>
              <a:ext uri="{FF2B5EF4-FFF2-40B4-BE49-F238E27FC236}">
                <a16:creationId xmlns:a16="http://schemas.microsoft.com/office/drawing/2014/main" id="{5012B5F8-3812-6256-AB62-A9D39D72A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348" y="2149086"/>
            <a:ext cx="7031059" cy="23091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*&amp;s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e)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*p;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*)malloc(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sizeof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));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p-&gt;data=e;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新建元素</a:t>
            </a:r>
            <a:r>
              <a:rPr lang="en-US" altLang="zh-CN" sz="1800" i="1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对应的结点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p-&gt;next=s-&gt;next;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插入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结点作为开始结点</a:t>
            </a:r>
          </a:p>
          <a:p>
            <a:pPr algn="l">
              <a:lnSpc>
                <a:spcPts val="25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s-&gt;next=p;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26643" name="Line 19">
            <a:extLst>
              <a:ext uri="{FF2B5EF4-FFF2-40B4-BE49-F238E27FC236}">
                <a16:creationId xmlns:a16="http://schemas.microsoft.com/office/drawing/2014/main" id="{56901DFC-39A6-44C5-5656-BC97CC0DAF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7014" y="6166503"/>
            <a:ext cx="0" cy="2873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647" name="Rectangle 23">
            <a:extLst>
              <a:ext uri="{FF2B5EF4-FFF2-40B4-BE49-F238E27FC236}">
                <a16:creationId xmlns:a16="http://schemas.microsoft.com/office/drawing/2014/main" id="{2184984F-C5E0-E11F-E4B0-1BAF8F7AB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089" y="5806141"/>
            <a:ext cx="504825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e</a:t>
            </a:r>
            <a:endParaRPr lang="en-US" altLang="zh-CN" sz="1800" i="1" baseline="-25000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648" name="Rectangle 24">
            <a:extLst>
              <a:ext uri="{FF2B5EF4-FFF2-40B4-BE49-F238E27FC236}">
                <a16:creationId xmlns:a16="http://schemas.microsoft.com/office/drawing/2014/main" id="{EEA2F58C-406A-0FCA-40FA-786331064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14" y="5806141"/>
            <a:ext cx="360362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Line 19">
            <a:extLst>
              <a:ext uri="{FF2B5EF4-FFF2-40B4-BE49-F238E27FC236}">
                <a16:creationId xmlns:a16="http://schemas.microsoft.com/office/drawing/2014/main" id="{3C2F24D7-B2D8-1C08-4C35-442019782D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0509" y="5330232"/>
            <a:ext cx="0" cy="69105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Line 19">
            <a:extLst>
              <a:ext uri="{FF2B5EF4-FFF2-40B4-BE49-F238E27FC236}">
                <a16:creationId xmlns:a16="http://schemas.microsoft.com/office/drawing/2014/main" id="{A4971298-C3C6-9DFC-447D-22E59FA187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4064" y="5278729"/>
            <a:ext cx="161649" cy="61975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71074B44-21E1-551F-5E41-46C4B8E56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079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FDAA3E24-427E-F3CE-3621-8B0CF04B1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04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ectangle 32">
            <a:extLst>
              <a:ext uri="{FF2B5EF4-FFF2-40B4-BE49-F238E27FC236}">
                <a16:creationId xmlns:a16="http://schemas.microsoft.com/office/drawing/2014/main" id="{D174E5DB-FB63-C7C4-96E7-B51E5384F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9966" y="4962975"/>
            <a:ext cx="60801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n-1</a:t>
            </a: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9099645F-69C3-D559-6337-B01AE0AD0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109" y="4962975"/>
            <a:ext cx="459431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Line 34">
            <a:extLst>
              <a:ext uri="{FF2B5EF4-FFF2-40B4-BE49-F238E27FC236}">
                <a16:creationId xmlns:a16="http://schemas.microsoft.com/office/drawing/2014/main" id="{23E04CA1-00E5-BD15-6DDE-E454858B17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431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65AF90FA-16D4-DE1C-C3C1-E84B3C31E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8616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35706281-DA0A-F87D-FEEE-39D43ED6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441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20" name="Line 37">
            <a:extLst>
              <a:ext uri="{FF2B5EF4-FFF2-40B4-BE49-F238E27FC236}">
                <a16:creationId xmlns:a16="http://schemas.microsoft.com/office/drawing/2014/main" id="{CDFC44E6-8868-13C6-D227-70A0F38E6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296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Line 38">
            <a:extLst>
              <a:ext uri="{FF2B5EF4-FFF2-40B4-BE49-F238E27FC236}">
                <a16:creationId xmlns:a16="http://schemas.microsoft.com/office/drawing/2014/main" id="{FC024AE8-EFBD-BC65-3F4A-B4C0A9C57A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561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E7DF2B1E-E34A-227D-4F0C-A6F5CAAA9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7941" y="4937575"/>
            <a:ext cx="865187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nsolas" pitchFamily="49" charset="0"/>
                <a:ea typeface="宋体" pitchFamily="2" charset="-122"/>
                <a:cs typeface="Consolas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102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2135560" y="2379914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5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、链栈的出栈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5CDF9D-F995-418C-340E-F85CD6413E9A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DE346D-DAE7-1D6C-DD99-AB508EDA018E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0BE1CAE-4629-E536-71BB-DC5AF32BCAD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15A346C-DBDE-DF07-A23E-72433375D47D}"/>
              </a:ext>
            </a:extLst>
          </p:cNvPr>
          <p:cNvSpPr/>
          <p:nvPr/>
        </p:nvSpPr>
        <p:spPr>
          <a:xfrm>
            <a:off x="1594963" y="186401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链栈的基本运算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623BCF-551C-7EED-0F77-21BCC534AC12}"/>
              </a:ext>
            </a:extLst>
          </p:cNvPr>
          <p:cNvSpPr txBox="1"/>
          <p:nvPr/>
        </p:nvSpPr>
        <p:spPr>
          <a:xfrm>
            <a:off x="4727848" y="1924457"/>
            <a:ext cx="5641256" cy="264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6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*&amp;s</a:t>
            </a: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&amp;e)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*p;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</a:t>
            </a:r>
            <a:r>
              <a:rPr lang="en-US" altLang="zh-CN" sz="16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s-&gt;next==NULL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栈空的情况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return false;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p=s-&gt;next;	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指向开始结点</a:t>
            </a:r>
          </a:p>
          <a:p>
            <a:pPr algn="l">
              <a:lnSpc>
                <a:spcPts val="20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e=p-&gt;data;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s-&gt;next=p-&gt;next;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删除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</a:t>
            </a:r>
          </a:p>
          <a:p>
            <a:pPr algn="l">
              <a:lnSpc>
                <a:spcPts val="20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free(p);	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释放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</a:t>
            </a:r>
          </a:p>
          <a:p>
            <a:pPr algn="l">
              <a:lnSpc>
                <a:spcPts val="20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true;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sz="1600" dirty="0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50F6C7A5-78D1-8ECD-BF48-1A903F483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1109" y="489843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81BAEA0-B75C-FD77-5539-E5245E26A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034" y="489843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Line 32">
            <a:extLst>
              <a:ext uri="{FF2B5EF4-FFF2-40B4-BE49-F238E27FC236}">
                <a16:creationId xmlns:a16="http://schemas.microsoft.com/office/drawing/2014/main" id="{32928975-3244-06E6-DE20-3697A181B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3036" y="5133258"/>
            <a:ext cx="60169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Text Box 124">
            <a:extLst>
              <a:ext uri="{FF2B5EF4-FFF2-40B4-BE49-F238E27FC236}">
                <a16:creationId xmlns:a16="http://schemas.microsoft.com/office/drawing/2014/main" id="{EA18528E-109B-5B47-41B3-A935E5157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401" y="4933203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2" name="Text Box 124">
            <a:extLst>
              <a:ext uri="{FF2B5EF4-FFF2-40B4-BE49-F238E27FC236}">
                <a16:creationId xmlns:a16="http://schemas.microsoft.com/office/drawing/2014/main" id="{0AD6DB15-2189-FD60-2A79-C08D216EE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248" y="5507594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5" name="Text Box 124">
            <a:extLst>
              <a:ext uri="{FF2B5EF4-FFF2-40B4-BE49-F238E27FC236}">
                <a16:creationId xmlns:a16="http://schemas.microsoft.com/office/drawing/2014/main" id="{19709645-5630-8C07-1D23-B158240B1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822" y="4390373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7379E0D8-CBBE-3419-9126-1A9B0CA35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079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7BCD9CF2-1850-C43B-4C66-038BF9E5B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04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Line 31">
            <a:extLst>
              <a:ext uri="{FF2B5EF4-FFF2-40B4-BE49-F238E27FC236}">
                <a16:creationId xmlns:a16="http://schemas.microsoft.com/office/drawing/2014/main" id="{9952A570-9E4E-9633-BA9E-AB9B43F889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1429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32">
            <a:extLst>
              <a:ext uri="{FF2B5EF4-FFF2-40B4-BE49-F238E27FC236}">
                <a16:creationId xmlns:a16="http://schemas.microsoft.com/office/drawing/2014/main" id="{D55B653A-C520-5E2D-78A8-2D30C03D3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9966" y="4962975"/>
            <a:ext cx="60801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n-1</a:t>
            </a:r>
          </a:p>
        </p:txBody>
      </p:sp>
      <p:sp>
        <p:nvSpPr>
          <p:cNvPr id="10" name="Rectangle 33">
            <a:extLst>
              <a:ext uri="{FF2B5EF4-FFF2-40B4-BE49-F238E27FC236}">
                <a16:creationId xmlns:a16="http://schemas.microsoft.com/office/drawing/2014/main" id="{0743C161-EA94-ADB8-6BCA-2EEA848B0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109" y="4962975"/>
            <a:ext cx="459431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Line 34">
            <a:extLst>
              <a:ext uri="{FF2B5EF4-FFF2-40B4-BE49-F238E27FC236}">
                <a16:creationId xmlns:a16="http://schemas.microsoft.com/office/drawing/2014/main" id="{0569BCB8-F97A-C4CC-DE5C-0E544362AE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431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ectangle 35">
            <a:extLst>
              <a:ext uri="{FF2B5EF4-FFF2-40B4-BE49-F238E27FC236}">
                <a16:creationId xmlns:a16="http://schemas.microsoft.com/office/drawing/2014/main" id="{2336C389-5B59-24C2-CE77-F4A1EF21E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8616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3" name="Rectangle 36">
            <a:extLst>
              <a:ext uri="{FF2B5EF4-FFF2-40B4-BE49-F238E27FC236}">
                <a16:creationId xmlns:a16="http://schemas.microsoft.com/office/drawing/2014/main" id="{2585D0C0-F455-ABB9-599B-ED82455E5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441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14" name="Line 37">
            <a:extLst>
              <a:ext uri="{FF2B5EF4-FFF2-40B4-BE49-F238E27FC236}">
                <a16:creationId xmlns:a16="http://schemas.microsoft.com/office/drawing/2014/main" id="{609C452B-368E-FD78-B27E-489E54735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296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Line 38">
            <a:extLst>
              <a:ext uri="{FF2B5EF4-FFF2-40B4-BE49-F238E27FC236}">
                <a16:creationId xmlns:a16="http://schemas.microsoft.com/office/drawing/2014/main" id="{C85FC981-0D50-756A-0A0B-3C09607E7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561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Text Box 39">
            <a:extLst>
              <a:ext uri="{FF2B5EF4-FFF2-40B4-BE49-F238E27FC236}">
                <a16:creationId xmlns:a16="http://schemas.microsoft.com/office/drawing/2014/main" id="{093EF2B2-536B-1462-B94E-DA4F909D5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7941" y="4937575"/>
            <a:ext cx="865187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nsolas" pitchFamily="49" charset="0"/>
                <a:ea typeface="宋体" pitchFamily="2" charset="-122"/>
                <a:cs typeface="Consolas" pitchFamily="49" charset="0"/>
              </a:rPr>
              <a:t>…</a:t>
            </a:r>
          </a:p>
        </p:txBody>
      </p:sp>
      <p:sp>
        <p:nvSpPr>
          <p:cNvPr id="53" name="Line 19">
            <a:extLst>
              <a:ext uri="{FF2B5EF4-FFF2-40B4-BE49-F238E27FC236}">
                <a16:creationId xmlns:a16="http://schemas.microsoft.com/office/drawing/2014/main" id="{EB29E4B0-6964-B873-00E2-E182E634DB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0548" y="5347287"/>
            <a:ext cx="0" cy="2873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4" name="Line 19">
            <a:extLst>
              <a:ext uri="{FF2B5EF4-FFF2-40B4-BE49-F238E27FC236}">
                <a16:creationId xmlns:a16="http://schemas.microsoft.com/office/drawing/2014/main" id="{6B31F970-B5CE-E0FB-0577-92AF98B8B3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9271" y="4571271"/>
            <a:ext cx="312737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84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03D4-8BB2-2D52-BBD5-EF16D076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AF8EB124-AEB9-2255-1106-79ECFFC0FFA5}"/>
              </a:ext>
            </a:extLst>
          </p:cNvPr>
          <p:cNvSpPr/>
          <p:nvPr/>
        </p:nvSpPr>
        <p:spPr>
          <a:xfrm>
            <a:off x="2135560" y="2379914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5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、链栈的出栈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57ABD8C-3AC8-4461-0918-23C46E51B0B4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0F8F5E-CA4E-60D5-8861-DC013E2CA3AB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2AA0CBF-FB1D-004C-3321-9B550060DAC1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55233FF-86C1-BFFB-D194-1D2014FF028C}"/>
              </a:ext>
            </a:extLst>
          </p:cNvPr>
          <p:cNvSpPr/>
          <p:nvPr/>
        </p:nvSpPr>
        <p:spPr>
          <a:xfrm>
            <a:off x="1594963" y="186401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链栈的基本运算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441FC9-5A87-4879-83EF-423144D61C89}"/>
              </a:ext>
            </a:extLst>
          </p:cNvPr>
          <p:cNvSpPr txBox="1"/>
          <p:nvPr/>
        </p:nvSpPr>
        <p:spPr>
          <a:xfrm>
            <a:off x="4727848" y="1924457"/>
            <a:ext cx="5641256" cy="264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6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*&amp;s</a:t>
            </a: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&amp;e)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*p;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</a:t>
            </a:r>
            <a:r>
              <a:rPr lang="en-US" altLang="zh-CN" sz="16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s-&gt;next==NULL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栈空的情况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return false;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p=s-&gt;next;	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指向开始结点</a:t>
            </a:r>
          </a:p>
          <a:p>
            <a:pPr algn="l">
              <a:lnSpc>
                <a:spcPts val="20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e=p-&gt;data;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s-&gt;next=p-&gt;next;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删除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</a:t>
            </a:r>
          </a:p>
          <a:p>
            <a:pPr algn="l">
              <a:lnSpc>
                <a:spcPts val="20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free(p);	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释放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</a:t>
            </a:r>
          </a:p>
          <a:p>
            <a:pPr algn="l">
              <a:lnSpc>
                <a:spcPts val="20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true;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sz="1600" dirty="0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61F13EBE-C624-00C4-8225-C3C58F78D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1109" y="489843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692C611B-9B09-59D5-9E1F-4F06092AF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034" y="489843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8" name="Line 31">
            <a:extLst>
              <a:ext uri="{FF2B5EF4-FFF2-40B4-BE49-F238E27FC236}">
                <a16:creationId xmlns:a16="http://schemas.microsoft.com/office/drawing/2014/main" id="{803AD283-CC59-75D0-3C64-78B0F01ED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8347" y="5114333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Line 32">
            <a:extLst>
              <a:ext uri="{FF2B5EF4-FFF2-40B4-BE49-F238E27FC236}">
                <a16:creationId xmlns:a16="http://schemas.microsoft.com/office/drawing/2014/main" id="{33986A9F-03AC-20BB-DC3B-26A7B499E9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3036" y="5133258"/>
            <a:ext cx="60169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Text Box 124">
            <a:extLst>
              <a:ext uri="{FF2B5EF4-FFF2-40B4-BE49-F238E27FC236}">
                <a16:creationId xmlns:a16="http://schemas.microsoft.com/office/drawing/2014/main" id="{1D25CAE3-4CF2-BAF4-A11A-FF5D16D1B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401" y="4933203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2" name="Text Box 124">
            <a:extLst>
              <a:ext uri="{FF2B5EF4-FFF2-40B4-BE49-F238E27FC236}">
                <a16:creationId xmlns:a16="http://schemas.microsoft.com/office/drawing/2014/main" id="{67B41F50-C348-00F2-DEF1-641F16EA8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248" y="5507594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p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3" name="Line 19">
            <a:extLst>
              <a:ext uri="{FF2B5EF4-FFF2-40B4-BE49-F238E27FC236}">
                <a16:creationId xmlns:a16="http://schemas.microsoft.com/office/drawing/2014/main" id="{13785689-AE79-3D7E-648B-B877934545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6301" y="5347286"/>
            <a:ext cx="0" cy="746009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Line 31">
            <a:extLst>
              <a:ext uri="{FF2B5EF4-FFF2-40B4-BE49-F238E27FC236}">
                <a16:creationId xmlns:a16="http://schemas.microsoft.com/office/drawing/2014/main" id="{B96C5737-AC0E-28DC-B501-283D4CBA8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4859" y="6093295"/>
            <a:ext cx="22685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Line 19">
            <a:extLst>
              <a:ext uri="{FF2B5EF4-FFF2-40B4-BE49-F238E27FC236}">
                <a16:creationId xmlns:a16="http://schemas.microsoft.com/office/drawing/2014/main" id="{E51A7CE4-6FEE-32E3-B541-2DAE31ACDB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54859" y="5133257"/>
            <a:ext cx="0" cy="9600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965DCACE-FD8F-07B0-CB82-019FC8F94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079" y="4962975"/>
            <a:ext cx="539750" cy="431800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AF0A6205-7885-9391-1CEE-61CB528D7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04" y="4962975"/>
            <a:ext cx="539750" cy="431800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ectangle 32">
            <a:extLst>
              <a:ext uri="{FF2B5EF4-FFF2-40B4-BE49-F238E27FC236}">
                <a16:creationId xmlns:a16="http://schemas.microsoft.com/office/drawing/2014/main" id="{7BCFBD30-1554-9F0E-FB88-052A07F8E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9966" y="4962975"/>
            <a:ext cx="60801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n-1</a:t>
            </a: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A729F601-389C-693F-DC14-49BEDB191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109" y="4962975"/>
            <a:ext cx="459431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Line 34">
            <a:extLst>
              <a:ext uri="{FF2B5EF4-FFF2-40B4-BE49-F238E27FC236}">
                <a16:creationId xmlns:a16="http://schemas.microsoft.com/office/drawing/2014/main" id="{85936150-01B9-C214-4658-8B09A874A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431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4A779474-0571-4FE3-E1C4-8D552873D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8616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49FC7D80-7184-3735-53D6-3DD5E9DEC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441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20" name="Line 37">
            <a:extLst>
              <a:ext uri="{FF2B5EF4-FFF2-40B4-BE49-F238E27FC236}">
                <a16:creationId xmlns:a16="http://schemas.microsoft.com/office/drawing/2014/main" id="{957DF86E-DDDF-8997-FE3C-7D02FB355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296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Line 38">
            <a:extLst>
              <a:ext uri="{FF2B5EF4-FFF2-40B4-BE49-F238E27FC236}">
                <a16:creationId xmlns:a16="http://schemas.microsoft.com/office/drawing/2014/main" id="{7E4EADFD-8C60-121B-5293-D00AF716E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561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0CD4D649-4014-2677-5DEE-71CBD2AAA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7941" y="4937575"/>
            <a:ext cx="865187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nsolas" pitchFamily="49" charset="0"/>
                <a:ea typeface="宋体" pitchFamily="2" charset="-122"/>
                <a:cs typeface="Consolas" pitchFamily="49" charset="0"/>
              </a:rPr>
              <a:t>…</a:t>
            </a:r>
          </a:p>
        </p:txBody>
      </p:sp>
      <p:sp>
        <p:nvSpPr>
          <p:cNvPr id="8" name="Line 19">
            <a:extLst>
              <a:ext uri="{FF2B5EF4-FFF2-40B4-BE49-F238E27FC236}">
                <a16:creationId xmlns:a16="http://schemas.microsoft.com/office/drawing/2014/main" id="{CCD6B349-7C93-61BD-B6AF-0AFF6C670D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0548" y="5347287"/>
            <a:ext cx="0" cy="2873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01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A03A1-0ADD-8050-3A9E-159D21B94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EBB1E953-6E5B-CAC3-8682-9F902067227E}"/>
              </a:ext>
            </a:extLst>
          </p:cNvPr>
          <p:cNvSpPr/>
          <p:nvPr/>
        </p:nvSpPr>
        <p:spPr>
          <a:xfrm>
            <a:off x="2135560" y="2379914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5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、链栈的出栈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37A604-7CEF-31E7-CA82-FE051E52DDA7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2D6953-130F-4251-4A92-597C1B313A7E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0D2FABE-B930-483F-92B5-37AF65142AA6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611026-BB49-20FD-2718-F88464D73DB6}"/>
              </a:ext>
            </a:extLst>
          </p:cNvPr>
          <p:cNvSpPr/>
          <p:nvPr/>
        </p:nvSpPr>
        <p:spPr>
          <a:xfrm>
            <a:off x="1594963" y="186401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链栈的基本运算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26EF3A-DF6F-F69C-04DB-1F19DFC4CC0A}"/>
              </a:ext>
            </a:extLst>
          </p:cNvPr>
          <p:cNvSpPr txBox="1"/>
          <p:nvPr/>
        </p:nvSpPr>
        <p:spPr>
          <a:xfrm>
            <a:off x="4727848" y="1924457"/>
            <a:ext cx="5641256" cy="264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6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*&amp;s</a:t>
            </a: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&amp;e)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LinkStNode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*p;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</a:t>
            </a:r>
            <a:r>
              <a:rPr lang="en-US" altLang="zh-CN" sz="16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s-&gt;next==NULL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栈空的情况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return false;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p=s-&gt;next;	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指向开始结点</a:t>
            </a:r>
          </a:p>
          <a:p>
            <a:pPr algn="l">
              <a:lnSpc>
                <a:spcPts val="20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e=p-&gt;data;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s-&gt;next=p-&gt;next;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删除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</a:t>
            </a:r>
          </a:p>
          <a:p>
            <a:pPr algn="l">
              <a:lnSpc>
                <a:spcPts val="20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free(p);	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释放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</a:t>
            </a:r>
          </a:p>
          <a:p>
            <a:pPr algn="l">
              <a:lnSpc>
                <a:spcPts val="20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true;</a:t>
            </a:r>
          </a:p>
          <a:p>
            <a:pPr algn="l">
              <a:lnSpc>
                <a:spcPts val="20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sz="1600" dirty="0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B4216767-2B9C-843E-4ED3-C9AB41FCD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1109" y="489843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B8341B2A-71FB-0786-4534-17051FBBC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034" y="489843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Line 32">
            <a:extLst>
              <a:ext uri="{FF2B5EF4-FFF2-40B4-BE49-F238E27FC236}">
                <a16:creationId xmlns:a16="http://schemas.microsoft.com/office/drawing/2014/main" id="{C2AF58F4-669F-56C2-4960-8DFCAF293F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3036" y="5133258"/>
            <a:ext cx="60169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Text Box 124">
            <a:extLst>
              <a:ext uri="{FF2B5EF4-FFF2-40B4-BE49-F238E27FC236}">
                <a16:creationId xmlns:a16="http://schemas.microsoft.com/office/drawing/2014/main" id="{1EDEC53E-9631-D857-6109-999347459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401" y="4933203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53" name="Line 19">
            <a:extLst>
              <a:ext uri="{FF2B5EF4-FFF2-40B4-BE49-F238E27FC236}">
                <a16:creationId xmlns:a16="http://schemas.microsoft.com/office/drawing/2014/main" id="{1FB5EE77-A435-9048-EE15-D744E97331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6301" y="5347286"/>
            <a:ext cx="0" cy="746009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Line 31">
            <a:extLst>
              <a:ext uri="{FF2B5EF4-FFF2-40B4-BE49-F238E27FC236}">
                <a16:creationId xmlns:a16="http://schemas.microsoft.com/office/drawing/2014/main" id="{C9F7323F-CFC8-D7FB-2B7C-70B64D9939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4859" y="6093295"/>
            <a:ext cx="22685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Line 19">
            <a:extLst>
              <a:ext uri="{FF2B5EF4-FFF2-40B4-BE49-F238E27FC236}">
                <a16:creationId xmlns:a16="http://schemas.microsoft.com/office/drawing/2014/main" id="{497CE10D-3343-BBE5-5D8E-DA673E04C9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54859" y="5133257"/>
            <a:ext cx="0" cy="9600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32">
            <a:extLst>
              <a:ext uri="{FF2B5EF4-FFF2-40B4-BE49-F238E27FC236}">
                <a16:creationId xmlns:a16="http://schemas.microsoft.com/office/drawing/2014/main" id="{A81B2A79-17F9-CC97-FB49-42427DA1C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9966" y="4962975"/>
            <a:ext cx="60801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n-1</a:t>
            </a: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5E4A0C89-846F-761D-5343-5439D7413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109" y="4962975"/>
            <a:ext cx="459431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4CEFB9CC-196A-0722-7534-1D94D4AF3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8616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6" name="Rectangle 36">
            <a:extLst>
              <a:ext uri="{FF2B5EF4-FFF2-40B4-BE49-F238E27FC236}">
                <a16:creationId xmlns:a16="http://schemas.microsoft.com/office/drawing/2014/main" id="{D2FDC80B-A335-BD1E-9234-6AA62D61C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441" y="4962975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18" name="Line 37">
            <a:extLst>
              <a:ext uri="{FF2B5EF4-FFF2-40B4-BE49-F238E27FC236}">
                <a16:creationId xmlns:a16="http://schemas.microsoft.com/office/drawing/2014/main" id="{F0E9339F-4120-1F0C-BB1C-0073E740AA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296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" name="Line 38">
            <a:extLst>
              <a:ext uri="{FF2B5EF4-FFF2-40B4-BE49-F238E27FC236}">
                <a16:creationId xmlns:a16="http://schemas.microsoft.com/office/drawing/2014/main" id="{2FA7F1C1-2790-92CB-582E-D7243E330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5616" y="5178875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Text Box 39">
            <a:extLst>
              <a:ext uri="{FF2B5EF4-FFF2-40B4-BE49-F238E27FC236}">
                <a16:creationId xmlns:a16="http://schemas.microsoft.com/office/drawing/2014/main" id="{01D46FDF-13EB-BA54-F3CB-BA904A807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7941" y="4937575"/>
            <a:ext cx="865187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nsolas" pitchFamily="49" charset="0"/>
                <a:ea typeface="宋体" pitchFamily="2" charset="-122"/>
                <a:cs typeface="Consolas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1742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FD247-4997-BECF-1A9B-C1BBD0908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82AF009A-5FF2-9DDA-092F-D0631D080D8E}"/>
              </a:ext>
            </a:extLst>
          </p:cNvPr>
          <p:cNvSpPr/>
          <p:nvPr/>
        </p:nvSpPr>
        <p:spPr>
          <a:xfrm>
            <a:off x="2135560" y="2379914"/>
            <a:ext cx="3960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6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、取链栈的栈顶数据元素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AC20EC-2455-3B68-2498-E4A523DE34B9}"/>
              </a:ext>
            </a:extLst>
          </p:cNvPr>
          <p:cNvSpPr/>
          <p:nvPr/>
        </p:nvSpPr>
        <p:spPr>
          <a:xfrm>
            <a:off x="1594963" y="186401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链栈的基本运算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781CC4A-46DE-B5A2-0EAE-F9BADEBD2A2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98164A-A130-FBC0-BE7B-2395EDC99112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830509C-79ED-E632-7046-B9356D754FE1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D68273D3-901C-B63B-1D42-FDD613A2C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960" y="567232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Rectangle 28">
            <a:extLst>
              <a:ext uri="{FF2B5EF4-FFF2-40B4-BE49-F238E27FC236}">
                <a16:creationId xmlns:a16="http://schemas.microsoft.com/office/drawing/2014/main" id="{FB1AB1D1-CDC3-1840-0B06-6CC4B7BA6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885" y="567232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94148037-2CA5-8608-7613-C45B76A23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2198" y="5888223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Line 32">
            <a:extLst>
              <a:ext uri="{FF2B5EF4-FFF2-40B4-BE49-F238E27FC236}">
                <a16:creationId xmlns:a16="http://schemas.microsoft.com/office/drawing/2014/main" id="{55014ACB-6986-5B2C-5655-3C71EB183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6887" y="5907148"/>
            <a:ext cx="60169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Text Box 124">
            <a:extLst>
              <a:ext uri="{FF2B5EF4-FFF2-40B4-BE49-F238E27FC236}">
                <a16:creationId xmlns:a16="http://schemas.microsoft.com/office/drawing/2014/main" id="{762655D9-6609-6A54-814A-D430B7D4F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8252" y="5707093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Text Box 1027">
            <a:extLst>
              <a:ext uri="{FF2B5EF4-FFF2-40B4-BE49-F238E27FC236}">
                <a16:creationId xmlns:a16="http://schemas.microsoft.com/office/drawing/2014/main" id="{B845E0F5-5A70-EE55-F94D-233123994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029" y="2912657"/>
            <a:ext cx="6121400" cy="2259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216000" tIns="180000" bIns="18000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altLang="zh-CN" sz="180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bool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lang="en-US" altLang="zh-CN" sz="18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GetTop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(LinkStNode *s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ElemType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&amp;e)</a:t>
            </a:r>
          </a:p>
          <a:p>
            <a:pPr algn="l">
              <a:lnSpc>
                <a:spcPts val="25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  if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(s-&gt;next==NULL)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		</a:t>
            </a:r>
            <a:r>
              <a:rPr lang="en-US" altLang="zh-CN" sz="1800">
                <a:solidFill>
                  <a:srgbClr val="00B0F0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栈空的情况</a:t>
            </a:r>
          </a:p>
          <a:p>
            <a:pPr algn="l">
              <a:lnSpc>
                <a:spcPts val="25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 return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false;</a:t>
            </a:r>
          </a:p>
          <a:p>
            <a:pPr algn="l">
              <a:lnSpc>
                <a:spcPts val="25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e=s-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&gt;next-&gt;data;</a:t>
            </a:r>
          </a:p>
          <a:p>
            <a:pPr algn="l">
              <a:lnSpc>
                <a:spcPts val="25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return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true;</a:t>
            </a:r>
          </a:p>
          <a:p>
            <a:pPr algn="l">
              <a:lnSpc>
                <a:spcPts val="25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9" name="Text Box 124">
            <a:extLst>
              <a:ext uri="{FF2B5EF4-FFF2-40B4-BE49-F238E27FC236}">
                <a16:creationId xmlns:a16="http://schemas.microsoft.com/office/drawing/2014/main" id="{FA4B8EC5-FC8E-2B59-DB81-2148E0EA6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361" y="5221860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0" name="Rectangle 29">
            <a:extLst>
              <a:ext uri="{FF2B5EF4-FFF2-40B4-BE49-F238E27FC236}">
                <a16:creationId xmlns:a16="http://schemas.microsoft.com/office/drawing/2014/main" id="{E8B92732-6DC8-BC7D-8AFC-E4C1ACCEC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0573" y="567232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442D1E13-3841-CC07-6728-8EEE918EF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5398" y="567232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Rectangle 32">
            <a:extLst>
              <a:ext uri="{FF2B5EF4-FFF2-40B4-BE49-F238E27FC236}">
                <a16:creationId xmlns:a16="http://schemas.microsoft.com/office/drawing/2014/main" id="{AEBB8842-CAAB-1067-F20A-BA720DBBD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3460" y="5672323"/>
            <a:ext cx="608012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n-1</a:t>
            </a:r>
          </a:p>
        </p:txBody>
      </p:sp>
      <p:sp>
        <p:nvSpPr>
          <p:cNvPr id="14" name="Rectangle 33">
            <a:extLst>
              <a:ext uri="{FF2B5EF4-FFF2-40B4-BE49-F238E27FC236}">
                <a16:creationId xmlns:a16="http://schemas.microsoft.com/office/drawing/2014/main" id="{DC5B7F49-DD23-028D-2687-8B02ED75D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03" y="5672323"/>
            <a:ext cx="459431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baseline="-25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Line 34">
            <a:extLst>
              <a:ext uri="{FF2B5EF4-FFF2-40B4-BE49-F238E27FC236}">
                <a16:creationId xmlns:a16="http://schemas.microsoft.com/office/drawing/2014/main" id="{4623E409-7110-D20E-CB68-A0FF58A7D6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7810" y="5888223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Rectangle 35">
            <a:extLst>
              <a:ext uri="{FF2B5EF4-FFF2-40B4-BE49-F238E27FC236}">
                <a16:creationId xmlns:a16="http://schemas.microsoft.com/office/drawing/2014/main" id="{84C19592-AE7B-4206-D3FE-3B451FEB2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2110" y="567232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3C19F2E3-194E-043D-27E3-49AB406BF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6935" y="5672323"/>
            <a:ext cx="539750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21" name="Line 37">
            <a:extLst>
              <a:ext uri="{FF2B5EF4-FFF2-40B4-BE49-F238E27FC236}">
                <a16:creationId xmlns:a16="http://schemas.microsoft.com/office/drawing/2014/main" id="{A7BD15C8-96D5-2BA1-CA60-8F98957A674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6460" y="5888223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Line 38">
            <a:extLst>
              <a:ext uri="{FF2B5EF4-FFF2-40B4-BE49-F238E27FC236}">
                <a16:creationId xmlns:a16="http://schemas.microsoft.com/office/drawing/2014/main" id="{3FFC0D00-B7A1-1576-A861-7363D09EC2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9110" y="5888223"/>
            <a:ext cx="792162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3" name="Text Box 39">
            <a:extLst>
              <a:ext uri="{FF2B5EF4-FFF2-40B4-BE49-F238E27FC236}">
                <a16:creationId xmlns:a16="http://schemas.microsoft.com/office/drawing/2014/main" id="{7976ABFF-E2D4-0E18-E8DF-B5BEAAE8D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1435" y="5646923"/>
            <a:ext cx="865187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nsolas" pitchFamily="49" charset="0"/>
                <a:ea typeface="宋体" pitchFamily="2" charset="-122"/>
                <a:cs typeface="Consolas" pitchFamily="49" charset="0"/>
              </a:rPr>
              <a:t>…</a:t>
            </a:r>
          </a:p>
        </p:txBody>
      </p:sp>
      <p:sp>
        <p:nvSpPr>
          <p:cNvPr id="7" name="Line 19">
            <a:extLst>
              <a:ext uri="{FF2B5EF4-FFF2-40B4-BE49-F238E27FC236}">
                <a16:creationId xmlns:a16="http://schemas.microsoft.com/office/drawing/2014/main" id="{CE7E0C5D-6CC8-CA40-6D81-165FC43274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7412" y="5402758"/>
            <a:ext cx="338136" cy="39326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3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8C69-6B81-DD1D-090F-93D4D1539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EF8784D-94D5-A536-C661-D3AF39946B0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53D4A7-E821-5EF0-8114-379A3B4D26B8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F300523-0FEA-E3BE-629D-FAE742DFE972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22D182F-A08E-242E-FA35-D14F6BA5C9E9}"/>
              </a:ext>
            </a:extLst>
          </p:cNvPr>
          <p:cNvSpPr txBox="1"/>
          <p:nvPr/>
        </p:nvSpPr>
        <p:spPr>
          <a:xfrm>
            <a:off x="1559496" y="1961282"/>
            <a:ext cx="302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链栈的应用算法设计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3D06F143-00A0-7244-706B-4D3DF127C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2422947"/>
            <a:ext cx="10873208" cy="43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000" dirty="0">
                <a:solidFill>
                  <a:schemeClr val="tx1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【</a:t>
            </a:r>
            <a:r>
              <a:rPr kumimoji="1"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例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3.5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】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编写一个算法判断输入的表达式中括号是否配对（假设只含有左、右圆括号）。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2E9E7C-F931-70F7-F824-94B751FCA1BB}"/>
              </a:ext>
            </a:extLst>
          </p:cNvPr>
          <p:cNvSpPr txBox="1"/>
          <p:nvPr/>
        </p:nvSpPr>
        <p:spPr>
          <a:xfrm>
            <a:off x="1582838" y="2921232"/>
            <a:ext cx="1560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算法设计思路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326B74-4874-2730-160F-44986F7F2338}"/>
              </a:ext>
            </a:extLst>
          </p:cNvPr>
          <p:cNvSpPr txBox="1"/>
          <p:nvPr/>
        </p:nvSpPr>
        <p:spPr>
          <a:xfrm>
            <a:off x="1559496" y="3358090"/>
            <a:ext cx="9577064" cy="39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一个表达式中的左右括号是按</a:t>
            </a:r>
            <a:r>
              <a:rPr kumimoji="1" lang="zh-CN" altLang="en-US" sz="1800" dirty="0">
                <a:solidFill>
                  <a:srgbClr val="C0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最近位置配对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的。所以利用一个栈来进行求解。这里采用链栈。</a:t>
            </a:r>
          </a:p>
        </p:txBody>
      </p:sp>
      <p:sp>
        <p:nvSpPr>
          <p:cNvPr id="3" name="Text Box 26">
            <a:extLst>
              <a:ext uri="{FF2B5EF4-FFF2-40B4-BE49-F238E27FC236}">
                <a16:creationId xmlns:a16="http://schemas.microsoft.com/office/drawing/2014/main" id="{9F8D24C4-881E-0EC8-DB8B-20533BE2B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3789040"/>
            <a:ext cx="3533769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表达式括号</a:t>
            </a:r>
            <a:r>
              <a:rPr lang="zh-CN" altLang="en-US" sz="200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配对</a:t>
            </a:r>
            <a:r>
              <a:rPr lang="zh-CN" altLang="en-US" sz="20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情况的演示</a:t>
            </a:r>
          </a:p>
        </p:txBody>
      </p:sp>
      <p:sp>
        <p:nvSpPr>
          <p:cNvPr id="4" name="Line 2">
            <a:extLst>
              <a:ext uri="{FF2B5EF4-FFF2-40B4-BE49-F238E27FC236}">
                <a16:creationId xmlns:a16="http://schemas.microsoft.com/office/drawing/2014/main" id="{898A9B54-9E74-5D84-A78B-DDA054F9D6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2838" y="4581128"/>
            <a:ext cx="0" cy="2160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964AD8D3-3DC7-F4D0-47DC-B506D97842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2838" y="6741716"/>
            <a:ext cx="115252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761C599B-F882-AE43-17E9-E9BBDA9109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363" y="4581128"/>
            <a:ext cx="0" cy="2160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0302EC20-33F8-D835-B1B5-AB1A00C7A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505" y="5660628"/>
            <a:ext cx="647700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17DA8A0E-16CB-5408-0DBD-5C5F8DD2B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813" y="6165453"/>
            <a:ext cx="647700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endParaRPr lang="zh-CN" altLang="en-US" sz="2000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1D7B5A7F-0A72-3BE1-039B-BCE15776B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585" y="4221088"/>
            <a:ext cx="3143271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例如：</a:t>
            </a:r>
            <a:r>
              <a:rPr lang="en-US" altLang="zh-CN" sz="2000">
                <a:latin typeface="Consolas" pitchFamily="49" charset="0"/>
                <a:ea typeface="楷体" pitchFamily="49" charset="-122"/>
                <a:cs typeface="Consolas" pitchFamily="49" charset="0"/>
              </a:rPr>
              <a:t>exp=</a:t>
            </a:r>
            <a:r>
              <a:rPr lang="zh-CN" altLang="en-US" sz="2000">
                <a:latin typeface="Consolas" pitchFamily="49" charset="0"/>
                <a:ea typeface="楷体" pitchFamily="49" charset="-122"/>
                <a:cs typeface="Consolas" pitchFamily="49" charset="0"/>
              </a:rPr>
              <a:t>“</a:t>
            </a:r>
            <a:r>
              <a:rPr lang="en-US" altLang="zh-CN" sz="2000">
                <a:latin typeface="Consolas" pitchFamily="49" charset="0"/>
                <a:ea typeface="楷体" pitchFamily="49" charset="-122"/>
                <a:cs typeface="Consolas" pitchFamily="49" charset="0"/>
              </a:rPr>
              <a:t>( ( ) )</a:t>
            </a:r>
            <a:r>
              <a:rPr lang="zh-CN" altLang="en-US" sz="2000">
                <a:latin typeface="Consolas" pitchFamily="49" charset="0"/>
                <a:ea typeface="楷体" pitchFamily="49" charset="-122"/>
                <a:cs typeface="Consolas" pitchFamily="49" charset="0"/>
              </a:rPr>
              <a:t>”</a:t>
            </a:r>
            <a:endParaRPr lang="en-US" altLang="zh-CN" sz="2000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C1959D8-78A0-622D-7802-3048D4FB1E84}"/>
              </a:ext>
            </a:extLst>
          </p:cNvPr>
          <p:cNvCxnSpPr/>
          <p:nvPr/>
        </p:nvCxnSpPr>
        <p:spPr>
          <a:xfrm rot="5400000" flipH="1" flipV="1">
            <a:off x="3239334" y="4814010"/>
            <a:ext cx="357190" cy="1588"/>
          </a:xfrm>
          <a:prstGeom prst="straightConnector1">
            <a:avLst/>
          </a:prstGeom>
          <a:ln w="28575">
            <a:solidFill>
              <a:srgbClr val="66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1FDCAB2-627D-CB55-6E13-6179CA7CA724}"/>
              </a:ext>
            </a:extLst>
          </p:cNvPr>
          <p:cNvCxnSpPr/>
          <p:nvPr/>
        </p:nvCxnSpPr>
        <p:spPr>
          <a:xfrm rot="5400000" flipH="1" flipV="1">
            <a:off x="3537677" y="4814010"/>
            <a:ext cx="357190" cy="1588"/>
          </a:xfrm>
          <a:prstGeom prst="straightConnector1">
            <a:avLst/>
          </a:prstGeom>
          <a:ln w="28575">
            <a:solidFill>
              <a:srgbClr val="66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C3CD8AE-E134-CC45-B336-8DB3211D2AD8}"/>
              </a:ext>
            </a:extLst>
          </p:cNvPr>
          <p:cNvCxnSpPr/>
          <p:nvPr/>
        </p:nvCxnSpPr>
        <p:spPr>
          <a:xfrm rot="5400000" flipH="1" flipV="1">
            <a:off x="3778978" y="4814010"/>
            <a:ext cx="357190" cy="1588"/>
          </a:xfrm>
          <a:prstGeom prst="straightConnector1">
            <a:avLst/>
          </a:prstGeom>
          <a:ln w="28575">
            <a:solidFill>
              <a:srgbClr val="66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ABE100F-7D0A-21E4-07E9-90FB82EDC3F9}"/>
              </a:ext>
            </a:extLst>
          </p:cNvPr>
          <p:cNvCxnSpPr/>
          <p:nvPr/>
        </p:nvCxnSpPr>
        <p:spPr>
          <a:xfrm rot="5400000" flipH="1" flipV="1">
            <a:off x="4047158" y="4814010"/>
            <a:ext cx="357190" cy="1588"/>
          </a:xfrm>
          <a:prstGeom prst="straightConnector1">
            <a:avLst/>
          </a:prstGeom>
          <a:ln w="28575">
            <a:solidFill>
              <a:srgbClr val="66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10">
            <a:extLst>
              <a:ext uri="{FF2B5EF4-FFF2-40B4-BE49-F238E27FC236}">
                <a16:creationId xmlns:a16="http://schemas.microsoft.com/office/drawing/2014/main" id="{F8B99B41-53F1-0088-5BBE-1E225DF1D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142" y="4490801"/>
            <a:ext cx="1581152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② ‘(‘</a:t>
            </a: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45218FA5-4C95-7432-83D9-B7BDE3C49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379" y="4026148"/>
            <a:ext cx="1725616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① ‘(‘</a:t>
            </a: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113CD65C-DE41-D5A4-0FC2-DF64064BE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669" y="4955454"/>
            <a:ext cx="4248150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③ 遇到’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)’</a:t>
            </a: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，栈顶为’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(‘</a:t>
            </a: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，退栈</a:t>
            </a:r>
          </a:p>
        </p:txBody>
      </p:sp>
      <p:sp>
        <p:nvSpPr>
          <p:cNvPr id="23" name="Text Box 13">
            <a:extLst>
              <a:ext uri="{FF2B5EF4-FFF2-40B4-BE49-F238E27FC236}">
                <a16:creationId xmlns:a16="http://schemas.microsoft.com/office/drawing/2014/main" id="{EBE60882-FA88-3433-73EB-D2FC5613D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5546" y="5420107"/>
            <a:ext cx="4248150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④ 遇到’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)’</a:t>
            </a: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，栈顶为’</a:t>
            </a:r>
            <a:r>
              <a:rPr lang="en-US" altLang="zh-CN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(‘</a:t>
            </a:r>
            <a:r>
              <a: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，退栈</a:t>
            </a:r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D7408C6F-6409-F721-3527-AA8854C24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379" y="5937803"/>
            <a:ext cx="3938607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栈空且</a:t>
            </a:r>
            <a:r>
              <a:rPr lang="en-US" altLang="zh-CN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</a:t>
            </a: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扫描完，返回</a:t>
            </a:r>
            <a:r>
              <a:rPr lang="en-US" altLang="zh-CN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76206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  <p:bldP spid="20" grpId="0"/>
      <p:bldP spid="21" grpId="0"/>
      <p:bldP spid="22" grpId="0"/>
      <p:bldP spid="23" grpId="0"/>
      <p:bldP spid="2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CBE5-0537-7D04-8A03-5C5DF73CC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3FAECBC-04C5-F119-C9F4-DDDFC90325F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C83048-0FAD-4617-626A-35548F71005A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5ED5A8-11AC-5CE8-0DF3-CA98594969C9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3ED55C9-20FE-17F5-71C8-BAFF97FE93C0}"/>
              </a:ext>
            </a:extLst>
          </p:cNvPr>
          <p:cNvSpPr txBox="1"/>
          <p:nvPr/>
        </p:nvSpPr>
        <p:spPr>
          <a:xfrm>
            <a:off x="1559496" y="1961282"/>
            <a:ext cx="302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链栈的应用算法设计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374591E9-48EC-1757-48C7-2EEABD9B4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2422947"/>
            <a:ext cx="10873208" cy="43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000" dirty="0">
                <a:solidFill>
                  <a:schemeClr val="tx1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【</a:t>
            </a:r>
            <a:r>
              <a:rPr kumimoji="1"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例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3.5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】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编写一个算法判断输入的表达式中括号是否配对（假设只含有左、右圆括号）。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6C44AEC-E277-E4BD-10C1-21FFB6581803}"/>
              </a:ext>
            </a:extLst>
          </p:cNvPr>
          <p:cNvSpPr txBox="1"/>
          <p:nvPr/>
        </p:nvSpPr>
        <p:spPr>
          <a:xfrm>
            <a:off x="1582838" y="2921232"/>
            <a:ext cx="1560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算法设计思路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915201B-E79F-46CB-C85D-25DCFEC33812}"/>
              </a:ext>
            </a:extLst>
          </p:cNvPr>
          <p:cNvSpPr txBox="1"/>
          <p:nvPr/>
        </p:nvSpPr>
        <p:spPr>
          <a:xfrm>
            <a:off x="1559496" y="3358090"/>
            <a:ext cx="9577064" cy="39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一个表达式中的左右括号是按</a:t>
            </a:r>
            <a:r>
              <a:rPr kumimoji="1" lang="zh-CN" altLang="en-US" sz="1800" dirty="0">
                <a:solidFill>
                  <a:srgbClr val="C0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最近位置配对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的。所以利用一个栈来进行求解。这里采用链栈。</a:t>
            </a:r>
          </a:p>
        </p:txBody>
      </p:sp>
      <p:sp>
        <p:nvSpPr>
          <p:cNvPr id="25" name="Text Box 2">
            <a:extLst>
              <a:ext uri="{FF2B5EF4-FFF2-40B4-BE49-F238E27FC236}">
                <a16:creationId xmlns:a16="http://schemas.microsoft.com/office/drawing/2014/main" id="{A840F039-7F82-62D1-9A08-C9331D78D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552" y="3841735"/>
            <a:ext cx="7643866" cy="26360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bool </a:t>
            </a:r>
            <a:r>
              <a:rPr kumimoji="1" lang="en-US" altLang="zh-CN" sz="14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Match</a:t>
            </a: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(char exp[]</a:t>
            </a:r>
            <a:r>
              <a:rPr kumimoji="1" lang="zh-CN" altLang="en-US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int n)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  int </a:t>
            </a:r>
            <a:r>
              <a:rPr kumimoji="1" lang="en-US" altLang="zh-CN" sz="14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=0; char e;  </a:t>
            </a:r>
          </a:p>
          <a:p>
            <a:pPr algn="l">
              <a:lnSpc>
                <a:spcPts val="2000"/>
              </a:lnSpc>
            </a:pPr>
            <a:endParaRPr kumimoji="1" lang="en-US" altLang="zh-CN" sz="14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bool match=true; 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kumimoji="1" lang="en-US" altLang="zh-CN" sz="14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LinkStNode</a:t>
            </a: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</a:t>
            </a:r>
            <a:r>
              <a:rPr kumimoji="1" lang="en-US" altLang="zh-CN" sz="14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</a:t>
            </a: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kumimoji="1" lang="en-US" altLang="zh-CN" sz="14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InitStack</a:t>
            </a: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kumimoji="1" lang="en-US" altLang="zh-CN" sz="14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</a:t>
            </a: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);			</a:t>
            </a:r>
            <a:r>
              <a:rPr kumimoji="1" lang="en-US" altLang="zh-CN" sz="1400" dirty="0">
                <a:solidFill>
                  <a:srgbClr val="00B0F0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400" dirty="0">
                <a:solidFill>
                  <a:srgbClr val="00B0F0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初始化栈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while (</a:t>
            </a:r>
            <a:r>
              <a:rPr kumimoji="1" lang="en-US" altLang="zh-CN" sz="14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&lt;n &amp;&amp; match)		</a:t>
            </a:r>
            <a:r>
              <a:rPr kumimoji="1" lang="en-US" altLang="zh-CN" sz="14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4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扫描</a:t>
            </a:r>
            <a:r>
              <a:rPr kumimoji="1" lang="en-US" altLang="zh-CN" sz="14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exp</a:t>
            </a:r>
            <a:r>
              <a:rPr kumimoji="1" lang="zh-CN" altLang="en-US" sz="14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中所有字符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 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  </a:t>
            </a:r>
            <a:r>
              <a:rPr kumimoji="1" lang="en-US" altLang="zh-CN" sz="14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if (exp[</a:t>
            </a:r>
            <a:r>
              <a:rPr kumimoji="1" lang="en-US" altLang="zh-CN" sz="1400" dirty="0" err="1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kumimoji="1" lang="en-US" altLang="zh-CN" sz="14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]=='(')</a:t>
            </a:r>
            <a:endParaRPr kumimoji="1" lang="zh-CN" altLang="en-US" sz="1400" dirty="0">
              <a:solidFill>
                <a:srgbClr val="FF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kumimoji="1" lang="en-US" altLang="zh-CN" sz="14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      Push(</a:t>
            </a:r>
            <a:r>
              <a:rPr kumimoji="1" lang="en-US" altLang="zh-CN" sz="1400" dirty="0" err="1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</a:t>
            </a:r>
            <a:r>
              <a:rPr kumimoji="1" lang="zh-CN" altLang="en-US" sz="14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14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exp[</a:t>
            </a:r>
            <a:r>
              <a:rPr kumimoji="1" lang="en-US" altLang="zh-CN" sz="1400" dirty="0" err="1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kumimoji="1" lang="en-US" altLang="zh-CN" sz="14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]);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46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61BCB-946F-D2BF-BF8C-41974070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8D0E184-462E-BAFD-1A79-22E7F2EB2540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89E5C6-A5AF-99C0-3870-7E59CB619AA4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523D1CE-9987-DCF7-06FA-2185042F8D7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C7869A3-0EC6-E51A-FFB0-101A2A34C6E8}"/>
              </a:ext>
            </a:extLst>
          </p:cNvPr>
          <p:cNvSpPr txBox="1"/>
          <p:nvPr/>
        </p:nvSpPr>
        <p:spPr>
          <a:xfrm>
            <a:off x="1559496" y="1961282"/>
            <a:ext cx="302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链栈的应用算法设计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A7EBCF06-F56E-4B02-4B6A-A92BF3D49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2422947"/>
            <a:ext cx="10873208" cy="43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000" dirty="0">
                <a:solidFill>
                  <a:schemeClr val="tx1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【</a:t>
            </a:r>
            <a:r>
              <a:rPr kumimoji="1"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例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3.5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】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编写一个算法判断输入的表达式中括号是否配对（假设只含有左、右圆括号）。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6647430-51D5-789C-FF50-FEB352ED6DA6}"/>
              </a:ext>
            </a:extLst>
          </p:cNvPr>
          <p:cNvSpPr txBox="1"/>
          <p:nvPr/>
        </p:nvSpPr>
        <p:spPr>
          <a:xfrm>
            <a:off x="1582838" y="2921232"/>
            <a:ext cx="1560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算法设计思路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6044300-4AEC-1A85-34B3-43098B103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536" y="3358090"/>
            <a:ext cx="7915267" cy="3184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tIns="180000" bIns="180000">
            <a:spAutoFit/>
          </a:bodyPr>
          <a:lstStyle/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else if (exp[</a:t>
            </a:r>
            <a:r>
              <a:rPr kumimoji="1"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]==')') 	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当前字符为右括号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</a:t>
            </a:r>
            <a:r>
              <a:rPr kumimoji="1"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GetTop</a:t>
            </a: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kumimoji="1"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kumimoji="1"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e)==true)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{  if (</a:t>
            </a:r>
            <a:r>
              <a:rPr kumimoji="1" lang="en-US" altLang="zh-CN" sz="16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e!='('</a:t>
            </a: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   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栈顶元素不为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'('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时不匹配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match=false;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  else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Pop(</a:t>
            </a:r>
            <a:r>
              <a:rPr kumimoji="1"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kumimoji="1"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e);    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将栈顶元素出栈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</a:t>
            </a: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else match=false;  	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无法取栈顶元素时不匹配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kumimoji="1"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++;				</a:t>
            </a:r>
            <a:r>
              <a:rPr kumimoji="1"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继续处理其他字符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kumimoji="1"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826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ECF10-1E4D-8031-D5F8-9744F750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CE21B2A-3534-E63B-C3F3-F7AE4DF335EF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AC7211-1982-5538-2FAD-57FA127E68DE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EA7C154-8824-F0DE-803B-C0B6FC4C9678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FAD3F01-D50B-0FC1-B049-5075ED6E31AB}"/>
              </a:ext>
            </a:extLst>
          </p:cNvPr>
          <p:cNvSpPr txBox="1"/>
          <p:nvPr/>
        </p:nvSpPr>
        <p:spPr>
          <a:xfrm>
            <a:off x="1559496" y="1961282"/>
            <a:ext cx="302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链栈的应用算法设计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6710EEE8-B5B0-9797-4965-05F37E9E9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2422947"/>
            <a:ext cx="10873208" cy="43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000" dirty="0">
                <a:solidFill>
                  <a:schemeClr val="tx1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【</a:t>
            </a:r>
            <a:r>
              <a:rPr kumimoji="1"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例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3.5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黑体" pitchFamily="49" charset="-122"/>
                <a:cs typeface="Consolas" pitchFamily="49" charset="0"/>
              </a:rPr>
              <a:t>】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编写一个算法判断输入的表达式中括号是否配对（假设只含有左、右圆括号）。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13A9B50-7994-1FAC-DB91-D41C26524138}"/>
              </a:ext>
            </a:extLst>
          </p:cNvPr>
          <p:cNvSpPr txBox="1"/>
          <p:nvPr/>
        </p:nvSpPr>
        <p:spPr>
          <a:xfrm>
            <a:off x="1582838" y="2921232"/>
            <a:ext cx="1560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算法设计思路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248DED7B-D99C-A978-6BFD-BD1ACF41B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600" y="3487778"/>
            <a:ext cx="6500858" cy="24415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72000" bIns="144000">
            <a:spAutoFit/>
          </a:bodyPr>
          <a:lstStyle/>
          <a:p>
            <a:pPr algn="l">
              <a:lnSpc>
                <a:spcPts val="2500"/>
              </a:lnSpc>
            </a:pP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if (!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StackEmpty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	</a:t>
            </a:r>
            <a:endParaRPr kumimoji="1" lang="zh-CN" altLang="en-US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	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match=false;</a:t>
            </a:r>
          </a:p>
          <a:p>
            <a:pPr algn="l">
              <a:lnSpc>
                <a:spcPts val="2500"/>
              </a:lnSpc>
            </a:pPr>
            <a:endParaRPr kumimoji="1" lang="en-US" altLang="zh-CN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DestroyStack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);	     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销毁栈</a:t>
            </a:r>
          </a:p>
          <a:p>
            <a:pPr algn="l">
              <a:lnSpc>
                <a:spcPts val="2500"/>
              </a:lnSpc>
            </a:pP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return match;</a:t>
            </a:r>
          </a:p>
          <a:p>
            <a:pPr algn="l">
              <a:lnSpc>
                <a:spcPts val="25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820DA-C17A-3495-267E-61EE292EEAD3}"/>
              </a:ext>
            </a:extLst>
          </p:cNvPr>
          <p:cNvSpPr txBox="1"/>
          <p:nvPr/>
        </p:nvSpPr>
        <p:spPr>
          <a:xfrm>
            <a:off x="2331677" y="6290156"/>
            <a:ext cx="53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800" dirty="0">
                <a:solidFill>
                  <a:srgbClr val="FF0000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注意：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只有在表达式扫描完毕且栈空时返回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true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。</a:t>
            </a:r>
            <a:endParaRPr lang="zh-CN" altLang="en-US" sz="1800" dirty="0"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33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1559496" y="1821465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顺序栈和链栈的比较</a:t>
            </a: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1939200" y="2302264"/>
            <a:ext cx="5398368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时间性能：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相同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，都是常数时间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O(1)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1868110" y="3025966"/>
            <a:ext cx="955648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空间性能：</a:t>
            </a:r>
          </a:p>
          <a:p>
            <a:pPr lvl="1"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顺序栈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：有元素个数的限制和空间浪费的问题。</a:t>
            </a:r>
          </a:p>
          <a:p>
            <a:pPr lvl="1"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链栈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：没有栈满的问题，只有当内存没有可用空间时才会出现栈满，但是每个元素都需要一个指针域，从而产生了结构性开销。</a:t>
            </a:r>
          </a:p>
        </p:txBody>
      </p:sp>
      <p:sp>
        <p:nvSpPr>
          <p:cNvPr id="4" name="矩形 3"/>
          <p:cNvSpPr/>
          <p:nvPr/>
        </p:nvSpPr>
        <p:spPr>
          <a:xfrm>
            <a:off x="1868110" y="4894553"/>
            <a:ext cx="94124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总之，当栈的使用过程中元素个数变化较大时，用链栈是适宜的，反之，应该采用顺序栈。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62E4DB1-1098-01DB-D233-074A861B6F2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4CE9FD-A61E-7A45-7C65-1DFD170DF913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08CE984-9275-B501-1AB8-585EA1E4A9D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4938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2459309" y="2303000"/>
            <a:ext cx="7669140" cy="4059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队列(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Queue)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是仅限定在表尾进行插入和表头删除操作的线性表。</a:t>
            </a:r>
          </a:p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 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176121" y="2855407"/>
            <a:ext cx="34918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队头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(front)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：允许删除的一端</a:t>
            </a:r>
          </a:p>
        </p:txBody>
      </p:sp>
      <p:sp>
        <p:nvSpPr>
          <p:cNvPr id="22" name="矩形 21"/>
          <p:cNvSpPr/>
          <p:nvPr/>
        </p:nvSpPr>
        <p:spPr>
          <a:xfrm>
            <a:off x="7176122" y="3244914"/>
            <a:ext cx="33843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队尾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(rear)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：允许插入的一端</a:t>
            </a:r>
          </a:p>
        </p:txBody>
      </p:sp>
      <p:sp>
        <p:nvSpPr>
          <p:cNvPr id="23" name="矩形 22"/>
          <p:cNvSpPr/>
          <p:nvPr/>
        </p:nvSpPr>
        <p:spPr>
          <a:xfrm>
            <a:off x="7883034" y="364502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空队：没有元素的队列</a:t>
            </a:r>
          </a:p>
        </p:txBody>
      </p:sp>
      <p:sp>
        <p:nvSpPr>
          <p:cNvPr id="24" name="矩形 23"/>
          <p:cNvSpPr/>
          <p:nvPr/>
        </p:nvSpPr>
        <p:spPr>
          <a:xfrm>
            <a:off x="7176121" y="4005064"/>
            <a:ext cx="31683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入队(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EnQueue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：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向队列插入元素</a:t>
            </a:r>
          </a:p>
        </p:txBody>
      </p:sp>
      <p:sp>
        <p:nvSpPr>
          <p:cNvPr id="25" name="矩形 24"/>
          <p:cNvSpPr/>
          <p:nvPr/>
        </p:nvSpPr>
        <p:spPr>
          <a:xfrm>
            <a:off x="7176119" y="4653136"/>
            <a:ext cx="33118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出队(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DeQueue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：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队列中删除元素 </a:t>
            </a:r>
          </a:p>
        </p:txBody>
      </p:sp>
      <p:sp>
        <p:nvSpPr>
          <p:cNvPr id="26" name="矩形 25"/>
          <p:cNvSpPr/>
          <p:nvPr/>
        </p:nvSpPr>
        <p:spPr>
          <a:xfrm>
            <a:off x="2560664" y="2735350"/>
            <a:ext cx="4269117" cy="5016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，a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，…， 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800" baseline="-25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…，a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)</a:t>
            </a:r>
          </a:p>
        </p:txBody>
      </p:sp>
      <p:sp>
        <p:nvSpPr>
          <p:cNvPr id="27" name="矩形 26"/>
          <p:cNvSpPr/>
          <p:nvPr/>
        </p:nvSpPr>
        <p:spPr>
          <a:xfrm>
            <a:off x="2074123" y="5013177"/>
            <a:ext cx="84138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队列的特点：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 队列的修改是按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先进先出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的原则进行的，因此，队列称为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先进先出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的线性表（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FIFO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）。</a:t>
            </a:r>
          </a:p>
        </p:txBody>
      </p:sp>
      <p:sp>
        <p:nvSpPr>
          <p:cNvPr id="28" name="Line 14"/>
          <p:cNvSpPr>
            <a:spLocks noChangeShapeType="1"/>
          </p:cNvSpPr>
          <p:nvPr/>
        </p:nvSpPr>
        <p:spPr bwMode="auto">
          <a:xfrm>
            <a:off x="2657131" y="3709396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5"/>
          <p:cNvSpPr>
            <a:spLocks noChangeShapeType="1"/>
          </p:cNvSpPr>
          <p:nvPr/>
        </p:nvSpPr>
        <p:spPr bwMode="auto">
          <a:xfrm>
            <a:off x="2657131" y="4318996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0" name="Group 28"/>
          <p:cNvGrpSpPr>
            <a:grpSpLocks/>
          </p:cNvGrpSpPr>
          <p:nvPr/>
        </p:nvGrpSpPr>
        <p:grpSpPr bwMode="auto">
          <a:xfrm>
            <a:off x="1487488" y="3840229"/>
            <a:ext cx="1008358" cy="381000"/>
            <a:chOff x="964" y="2581"/>
            <a:chExt cx="716" cy="240"/>
          </a:xfrm>
        </p:grpSpPr>
        <p:sp>
          <p:nvSpPr>
            <p:cNvPr id="31" name="AutoShape 20"/>
            <p:cNvSpPr>
              <a:spLocks noChangeArrowheads="1"/>
            </p:cNvSpPr>
            <p:nvPr/>
          </p:nvSpPr>
          <p:spPr bwMode="auto">
            <a:xfrm>
              <a:off x="1450" y="2640"/>
              <a:ext cx="230" cy="144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2" name="Rectangle 22"/>
            <p:cNvSpPr>
              <a:spLocks noChangeArrowheads="1"/>
            </p:cNvSpPr>
            <p:nvPr/>
          </p:nvSpPr>
          <p:spPr bwMode="auto">
            <a:xfrm>
              <a:off x="964" y="2581"/>
              <a:ext cx="52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indent="-342900" algn="ctr">
                <a:spcBef>
                  <a:spcPct val="2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出队</a:t>
              </a:r>
            </a:p>
          </p:txBody>
        </p:sp>
      </p:grpSp>
      <p:grpSp>
        <p:nvGrpSpPr>
          <p:cNvPr id="33" name="Group 27"/>
          <p:cNvGrpSpPr>
            <a:grpSpLocks/>
          </p:cNvGrpSpPr>
          <p:nvPr/>
        </p:nvGrpSpPr>
        <p:grpSpPr bwMode="auto">
          <a:xfrm>
            <a:off x="6434479" y="3840343"/>
            <a:ext cx="1029857" cy="381000"/>
            <a:chOff x="4080" y="2573"/>
            <a:chExt cx="919" cy="240"/>
          </a:xfrm>
        </p:grpSpPr>
        <p:sp>
          <p:nvSpPr>
            <p:cNvPr id="34" name="AutoShape 21"/>
            <p:cNvSpPr>
              <a:spLocks noChangeArrowheads="1"/>
            </p:cNvSpPr>
            <p:nvPr/>
          </p:nvSpPr>
          <p:spPr bwMode="auto">
            <a:xfrm>
              <a:off x="4080" y="2640"/>
              <a:ext cx="212" cy="144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5" name="Rectangle 23"/>
            <p:cNvSpPr>
              <a:spLocks noChangeArrowheads="1"/>
            </p:cNvSpPr>
            <p:nvPr/>
          </p:nvSpPr>
          <p:spPr bwMode="auto">
            <a:xfrm>
              <a:off x="4264" y="2573"/>
              <a:ext cx="73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入队</a:t>
              </a:r>
            </a:p>
          </p:txBody>
        </p:sp>
      </p:grpSp>
      <p:sp>
        <p:nvSpPr>
          <p:cNvPr id="36" name="矩形 35"/>
          <p:cNvSpPr/>
          <p:nvPr/>
        </p:nvSpPr>
        <p:spPr>
          <a:xfrm>
            <a:off x="2513265" y="3755421"/>
            <a:ext cx="4028667" cy="5016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，a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，…， 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800" baseline="-25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…，a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endParaRPr lang="en-US" altLang="zh-CN" sz="28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333966" y="456519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队头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839997" y="456519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队尾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39" name="Line 9"/>
          <p:cNvSpPr>
            <a:spLocks noChangeShapeType="1"/>
          </p:cNvSpPr>
          <p:nvPr/>
        </p:nvSpPr>
        <p:spPr bwMode="auto">
          <a:xfrm flipV="1">
            <a:off x="2718834" y="4342621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9"/>
          <p:cNvSpPr>
            <a:spLocks noChangeShapeType="1"/>
          </p:cNvSpPr>
          <p:nvPr/>
        </p:nvSpPr>
        <p:spPr bwMode="auto">
          <a:xfrm flipV="1">
            <a:off x="6202262" y="432382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D860C2-15EE-B8F0-6399-C11725A60D27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F85989-3735-44E9-B406-AA78B01A2D64}"/>
              </a:ext>
            </a:extLst>
          </p:cNvPr>
          <p:cNvSpPr/>
          <p:nvPr/>
        </p:nvSpPr>
        <p:spPr>
          <a:xfrm>
            <a:off x="691303" y="1185677"/>
            <a:ext cx="302843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队列的定义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38876D2-8045-F685-65E8-00C7A9FBD45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99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  <p:bldP spid="29" grpId="0" animBg="1"/>
      <p:bldP spid="36" grpId="0"/>
      <p:bldP spid="37" grpId="0"/>
      <p:bldP spid="38" grpId="0"/>
      <p:bldP spid="39" grpId="0" animBg="1"/>
      <p:bldP spid="4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6555D-31FA-2DC3-DFE2-FDBCC9974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863247-9C94-7D4B-57BA-9DD8326203E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753459-1DDB-CFD5-5338-85B146611CEF}"/>
              </a:ext>
            </a:extLst>
          </p:cNvPr>
          <p:cNvSpPr/>
          <p:nvPr/>
        </p:nvSpPr>
        <p:spPr>
          <a:xfrm>
            <a:off x="691303" y="1185677"/>
            <a:ext cx="302843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队列的定义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92B0444-CD94-9DDB-99E2-FD435B769868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4">
            <a:extLst>
              <a:ext uri="{FF2B5EF4-FFF2-40B4-BE49-F238E27FC236}">
                <a16:creationId xmlns:a16="http://schemas.microsoft.com/office/drawing/2014/main" id="{71DD3A54-EE68-BB68-6D66-E459AD395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1922513"/>
            <a:ext cx="2673201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队列的基本运算如下：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1F11F1-4920-3A67-CB4C-5307EC98BE98}"/>
              </a:ext>
            </a:extLst>
          </p:cNvPr>
          <p:cNvSpPr txBox="1"/>
          <p:nvPr/>
        </p:nvSpPr>
        <p:spPr>
          <a:xfrm>
            <a:off x="1991544" y="2671900"/>
            <a:ext cx="9289032" cy="2346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50000"/>
              </a:lnSpc>
            </a:pPr>
            <a:r>
              <a:rPr lang="en-US" altLang="zh-CN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 </a:t>
            </a:r>
            <a:r>
              <a:rPr lang="en-US" altLang="zh-CN" sz="1800" dirty="0" err="1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InitQueue</a:t>
            </a:r>
            <a:r>
              <a:rPr lang="en-US" altLang="zh-CN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(&amp;q)</a:t>
            </a:r>
            <a:r>
              <a:rPr lang="zh-CN" altLang="en-US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初始化队列。构造一个空队列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  <a:p>
            <a:pPr marL="457200" indent="-457200" algn="l">
              <a:lnSpc>
                <a:spcPct val="150000"/>
              </a:lnSpc>
            </a:pPr>
            <a:r>
              <a:rPr lang="en-US" altLang="zh-CN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 </a:t>
            </a:r>
            <a:r>
              <a:rPr lang="en-US" altLang="zh-CN" sz="1800" dirty="0" err="1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DestroyQueue</a:t>
            </a:r>
            <a:r>
              <a:rPr lang="en-US" altLang="zh-CN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(&amp;q)</a:t>
            </a:r>
            <a:r>
              <a:rPr lang="zh-CN" altLang="en-US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销毁队列。释放队列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占用的存储空间。</a:t>
            </a:r>
          </a:p>
          <a:p>
            <a:pPr marL="457200" indent="-457200" algn="l">
              <a:lnSpc>
                <a:spcPct val="150000"/>
              </a:lnSpc>
            </a:pPr>
            <a:r>
              <a:rPr lang="en-US" altLang="zh-CN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 </a:t>
            </a:r>
            <a:r>
              <a:rPr lang="en-US" altLang="zh-CN" sz="1800" dirty="0" err="1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QueueEmpty</a:t>
            </a:r>
            <a:r>
              <a:rPr lang="en-US" altLang="zh-CN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(q)</a:t>
            </a:r>
            <a:r>
              <a:rPr lang="zh-CN" altLang="en-US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判断队列是否为空。若队列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为空，则返回真；否则返回假。</a:t>
            </a:r>
          </a:p>
          <a:p>
            <a:pPr marL="457200" indent="-457200" algn="l">
              <a:lnSpc>
                <a:spcPct val="150000"/>
              </a:lnSpc>
            </a:pPr>
            <a:r>
              <a:rPr lang="en-US" altLang="zh-CN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 </a:t>
            </a:r>
            <a:r>
              <a:rPr lang="en-US" altLang="zh-CN" sz="1800" dirty="0" err="1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enQueue</a:t>
            </a:r>
            <a:r>
              <a:rPr lang="en-US" altLang="zh-CN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(&amp;q</a:t>
            </a:r>
            <a:r>
              <a:rPr lang="zh-CN" altLang="en-US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e)</a:t>
            </a:r>
            <a:r>
              <a:rPr lang="zh-CN" altLang="en-US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进队列。将元素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进队作为队尾元素。</a:t>
            </a:r>
          </a:p>
          <a:p>
            <a:pPr marL="457200" indent="-457200" algn="l">
              <a:lnSpc>
                <a:spcPct val="150000"/>
              </a:lnSpc>
            </a:pPr>
            <a:r>
              <a:rPr lang="en-US" altLang="zh-CN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 </a:t>
            </a:r>
            <a:r>
              <a:rPr lang="en-US" altLang="zh-CN" sz="1800" dirty="0" err="1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lang="en-US" altLang="zh-CN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(&amp;q</a:t>
            </a:r>
            <a:r>
              <a:rPr lang="zh-CN" altLang="en-US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&amp;e)</a:t>
            </a:r>
            <a:r>
              <a:rPr lang="zh-CN" altLang="en-US" sz="18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出队列。从队列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中出队一个元素，并将其值赋给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71457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1559497" y="2302636"/>
            <a:ext cx="9001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顺序队列（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Sequence Queue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是指用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顺序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存储结构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表示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队列，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它利用内存中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起始位置确定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地址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连续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一片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存储区域来存放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队列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中的所有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数据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元素。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2964969" y="363419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821103" y="3680215"/>
            <a:ext cx="4028667" cy="5016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，a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，…， 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800" baseline="-25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…，a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endParaRPr lang="en-US" altLang="zh-CN" sz="28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>
            <a:off x="2964969" y="4231734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641804" y="447793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队头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147835" y="447793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队尾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4" name="Line 9"/>
          <p:cNvSpPr>
            <a:spLocks noChangeShapeType="1"/>
          </p:cNvSpPr>
          <p:nvPr/>
        </p:nvSpPr>
        <p:spPr bwMode="auto">
          <a:xfrm flipV="1">
            <a:off x="3026672" y="4255359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 flipV="1">
            <a:off x="6528048" y="4255359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801796" y="3741709"/>
            <a:ext cx="10487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队列：</a:t>
            </a:r>
          </a:p>
        </p:txBody>
      </p:sp>
      <p:sp>
        <p:nvSpPr>
          <p:cNvPr id="27" name="矩形 26"/>
          <p:cNvSpPr/>
          <p:nvPr/>
        </p:nvSpPr>
        <p:spPr>
          <a:xfrm>
            <a:off x="4052565" y="4922419"/>
            <a:ext cx="1482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逻辑结构</a:t>
            </a:r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8080717" y="3533215"/>
          <a:ext cx="1027612" cy="2663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7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algn="ctr"/>
                      <a:endParaRPr lang="zh-CN" altLang="en-US" sz="2400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</a:t>
                      </a:r>
                      <a:r>
                        <a:rPr lang="en-US" altLang="zh-CN" sz="2400" baseline="-25000" dirty="0"/>
                        <a:t>n</a:t>
                      </a:r>
                      <a:endParaRPr lang="zh-CN" altLang="en-US" sz="2400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a</a:t>
                      </a:r>
                      <a:r>
                        <a:rPr lang="en-US" altLang="zh-CN" sz="2400" baseline="-25000" dirty="0"/>
                        <a:t>n-1</a:t>
                      </a:r>
                      <a:endParaRPr lang="zh-CN" altLang="en-US" sz="2400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……</a:t>
                      </a:r>
                      <a:endParaRPr lang="zh-CN" altLang="en-US" sz="2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a</a:t>
                      </a:r>
                      <a:r>
                        <a:rPr lang="en-US" altLang="zh-CN" sz="2400" baseline="-25000" dirty="0"/>
                        <a:t>2</a:t>
                      </a:r>
                      <a:endParaRPr lang="zh-CN" altLang="en-US" sz="2400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a</a:t>
                      </a:r>
                      <a:r>
                        <a:rPr lang="en-US" altLang="zh-CN" sz="2400" baseline="-25000" dirty="0"/>
                        <a:t>1</a:t>
                      </a:r>
                      <a:endParaRPr lang="zh-CN" altLang="en-US" sz="2400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矩形 28"/>
          <p:cNvSpPr/>
          <p:nvPr/>
        </p:nvSpPr>
        <p:spPr>
          <a:xfrm>
            <a:off x="7903387" y="299695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内存状态</a:t>
            </a:r>
            <a:endParaRPr lang="zh-CN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128970" y="4162772"/>
            <a:ext cx="5090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物理结构</a:t>
            </a:r>
          </a:p>
        </p:txBody>
      </p:sp>
      <p:sp>
        <p:nvSpPr>
          <p:cNvPr id="32" name="左大括号 31"/>
          <p:cNvSpPr/>
          <p:nvPr/>
        </p:nvSpPr>
        <p:spPr>
          <a:xfrm>
            <a:off x="7550945" y="3560981"/>
            <a:ext cx="348342" cy="26562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Group 189"/>
          <p:cNvGrpSpPr>
            <a:grpSpLocks/>
          </p:cNvGrpSpPr>
          <p:nvPr/>
        </p:nvGrpSpPr>
        <p:grpSpPr bwMode="auto">
          <a:xfrm>
            <a:off x="9133366" y="5760017"/>
            <a:ext cx="1219200" cy="457200"/>
            <a:chOff x="2688" y="2832"/>
            <a:chExt cx="768" cy="288"/>
          </a:xfrm>
        </p:grpSpPr>
        <p:sp>
          <p:nvSpPr>
            <p:cNvPr id="34" name="Text Box 73"/>
            <p:cNvSpPr txBox="1">
              <a:spLocks noChangeArrowheads="1"/>
            </p:cNvSpPr>
            <p:nvPr/>
          </p:nvSpPr>
          <p:spPr bwMode="auto">
            <a:xfrm>
              <a:off x="2880" y="2832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marL="342900" indent="-342900">
                <a:spcBef>
                  <a:spcPct val="2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队头</a:t>
              </a:r>
              <a:endPara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endParaRPr>
            </a:p>
          </p:txBody>
        </p:sp>
        <p:sp>
          <p:nvSpPr>
            <p:cNvPr id="35" name="Line 74"/>
            <p:cNvSpPr>
              <a:spLocks noChangeShapeType="1"/>
            </p:cNvSpPr>
            <p:nvPr/>
          </p:nvSpPr>
          <p:spPr bwMode="auto">
            <a:xfrm flipH="1">
              <a:off x="2688" y="2976"/>
              <a:ext cx="2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" name="Group 190"/>
          <p:cNvGrpSpPr>
            <a:grpSpLocks/>
          </p:cNvGrpSpPr>
          <p:nvPr/>
        </p:nvGrpSpPr>
        <p:grpSpPr bwMode="auto">
          <a:xfrm>
            <a:off x="9133366" y="3934172"/>
            <a:ext cx="1219200" cy="457200"/>
            <a:chOff x="2688" y="1536"/>
            <a:chExt cx="768" cy="288"/>
          </a:xfrm>
        </p:grpSpPr>
        <p:sp>
          <p:nvSpPr>
            <p:cNvPr id="37" name="Text Box 78"/>
            <p:cNvSpPr txBox="1">
              <a:spLocks noChangeArrowheads="1"/>
            </p:cNvSpPr>
            <p:nvPr/>
          </p:nvSpPr>
          <p:spPr bwMode="auto">
            <a:xfrm>
              <a:off x="2880" y="1536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marL="342900" indent="-342900">
                <a:spcBef>
                  <a:spcPct val="20000"/>
                </a:spcBef>
              </a:pPr>
              <a:r>
                <a:rPr lang="zh-CN" altLang="en-US" sz="24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队尾</a:t>
              </a:r>
              <a:endPara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endParaRPr>
            </a:p>
          </p:txBody>
        </p:sp>
        <p:sp>
          <p:nvSpPr>
            <p:cNvPr id="38" name="Line 79"/>
            <p:cNvSpPr>
              <a:spLocks noChangeShapeType="1"/>
            </p:cNvSpPr>
            <p:nvPr/>
          </p:nvSpPr>
          <p:spPr bwMode="auto">
            <a:xfrm flipH="1">
              <a:off x="2688" y="1680"/>
              <a:ext cx="24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4A19497E-D5B9-78D8-31E6-BB840E517CF3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62C818-27AF-7B2A-72BA-64E1B4144B9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239B605-99EB-FA57-B253-D51BABA9633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14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  <p:bldP spid="20" grpId="0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9" grpId="0"/>
      <p:bldP spid="30" grpId="0"/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89CE0A-D614-288E-23D7-F4C0D837EBC5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067B5-EC50-EA70-04DC-36CE8215403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184BDAC-2118-A7A3-7F97-7CFBC45B05E9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3">
            <a:extLst>
              <a:ext uri="{FF2B5EF4-FFF2-40B4-BE49-F238E27FC236}">
                <a16:creationId xmlns:a16="http://schemas.microsoft.com/office/drawing/2014/main" id="{FE7BACEF-945E-F93C-0626-FB04070A1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07" y="3197271"/>
            <a:ext cx="5786478" cy="18356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88000" tIns="108000" rIns="180000" bIns="108000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typedef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data[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； 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front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；      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队首和队尾指针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</a:t>
            </a:r>
            <a:r>
              <a:rPr kumimoji="1" lang="en-US" altLang="zh-CN" sz="1800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b="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3BA46D0C-85C6-86A4-C91D-39887419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169" y="1851299"/>
            <a:ext cx="4539532" cy="47025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顺序队类型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SqQueue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声明如下：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43D6608B-9962-600F-9157-4D0B73B06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169" y="5406315"/>
            <a:ext cx="5982037" cy="83099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因为队列两端都在变化，所以需要两个指针来标识队列的状态。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1E13F2-3944-CD8F-9B7C-4DA613A301A7}"/>
              </a:ext>
            </a:extLst>
          </p:cNvPr>
          <p:cNvSpPr txBox="1"/>
          <p:nvPr/>
        </p:nvSpPr>
        <p:spPr>
          <a:xfrm>
            <a:off x="911424" y="2386119"/>
            <a:ext cx="251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itchFamily="18" charset="0"/>
                <a:ea typeface="楷体_GB2312" pitchFamily="49" charset="-122"/>
              </a:rPr>
              <a:t>typedef int </a:t>
            </a:r>
            <a:r>
              <a:rPr lang="en-US" altLang="zh-CN" sz="1800" dirty="0" err="1">
                <a:latin typeface="Times New Roman" pitchFamily="18" charset="0"/>
                <a:ea typeface="楷体_GB2312" pitchFamily="49" charset="-122"/>
              </a:rPr>
              <a:t>ElemType</a:t>
            </a:r>
            <a:r>
              <a:rPr lang="en-US" altLang="zh-CN" sz="1800" dirty="0">
                <a:latin typeface="Times New Roman" pitchFamily="18" charset="0"/>
                <a:ea typeface="楷体_GB2312" pitchFamily="49" charset="-122"/>
              </a:rPr>
              <a:t>;</a:t>
            </a:r>
            <a:endParaRPr lang="zh-CN" altLang="zh-CN" sz="1800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9D2206-88FE-CCCC-2DA2-4C802C073725}"/>
              </a:ext>
            </a:extLst>
          </p:cNvPr>
          <p:cNvSpPr txBox="1"/>
          <p:nvPr/>
        </p:nvSpPr>
        <p:spPr>
          <a:xfrm>
            <a:off x="911424" y="2790750"/>
            <a:ext cx="251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itchFamily="18" charset="0"/>
                <a:ea typeface="楷体_GB2312" pitchFamily="49" charset="-122"/>
              </a:rPr>
              <a:t>#</a:t>
            </a:r>
            <a:r>
              <a:rPr lang="en-US" altLang="zh-CN" dirty="0">
                <a:latin typeface="Times New Roman" pitchFamily="18" charset="0"/>
                <a:ea typeface="楷体_GB2312" pitchFamily="49" charset="-122"/>
              </a:rPr>
              <a:t>define </a:t>
            </a:r>
            <a:r>
              <a:rPr lang="en-US" altLang="zh-CN" dirty="0" err="1">
                <a:latin typeface="Times New Roman" pitchFamily="18" charset="0"/>
                <a:ea typeface="楷体_GB2312" pitchFamily="49" charset="-122"/>
              </a:rPr>
              <a:t>MaxSize</a:t>
            </a:r>
            <a:r>
              <a:rPr lang="en-US" altLang="zh-CN" dirty="0">
                <a:latin typeface="Times New Roman" pitchFamily="18" charset="0"/>
                <a:ea typeface="楷体_GB2312" pitchFamily="49" charset="-122"/>
              </a:rPr>
              <a:t> 100</a:t>
            </a:r>
            <a:endParaRPr lang="zh-CN" altLang="zh-CN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9E554D6-1183-0A9C-E038-58E5B971D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332226"/>
              </p:ext>
            </p:extLst>
          </p:nvPr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2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左大括号 12">
            <a:extLst>
              <a:ext uri="{FF2B5EF4-FFF2-40B4-BE49-F238E27FC236}">
                <a16:creationId xmlns:a16="http://schemas.microsoft.com/office/drawing/2014/main" id="{5DAB2F59-D475-F53F-7693-95E620EC92E2}"/>
              </a:ext>
            </a:extLst>
          </p:cNvPr>
          <p:cNvSpPr/>
          <p:nvPr/>
        </p:nvSpPr>
        <p:spPr>
          <a:xfrm rot="10800000">
            <a:off x="11037537" y="3255870"/>
            <a:ext cx="213368" cy="2948333"/>
          </a:xfrm>
          <a:prstGeom prst="leftBrace">
            <a:avLst>
              <a:gd name="adj1" fmla="val 8333"/>
              <a:gd name="adj2" fmla="val 4940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Line 29">
            <a:extLst>
              <a:ext uri="{FF2B5EF4-FFF2-40B4-BE49-F238E27FC236}">
                <a16:creationId xmlns:a16="http://schemas.microsoft.com/office/drawing/2014/main" id="{69EB39BB-9C3D-C1CA-B494-6207EEA7F342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6718" y="3513963"/>
            <a:ext cx="518786" cy="49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25A1EC-A9C7-09AA-7449-531ABA87C01F}"/>
              </a:ext>
            </a:extLst>
          </p:cNvPr>
          <p:cNvSpPr/>
          <p:nvPr/>
        </p:nvSpPr>
        <p:spPr>
          <a:xfrm>
            <a:off x="8394832" y="3342931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30B907-7060-67E8-68CD-93A3CEEA7CF6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" name="Line 29">
            <a:extLst>
              <a:ext uri="{FF2B5EF4-FFF2-40B4-BE49-F238E27FC236}">
                <a16:creationId xmlns:a16="http://schemas.microsoft.com/office/drawing/2014/main" id="{FC70C871-085F-0D0C-02DE-30751A5F44C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661" y="3075381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A0305062-EE6F-FF54-BB1C-A38EA60BA8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71198" y="4582281"/>
            <a:ext cx="518786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EC1391-82BA-7950-67C0-991208945AF6}"/>
              </a:ext>
            </a:extLst>
          </p:cNvPr>
          <p:cNvSpPr/>
          <p:nvPr/>
        </p:nvSpPr>
        <p:spPr>
          <a:xfrm>
            <a:off x="8461004" y="4369128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651254-B35E-C6D5-E294-FDB96A4023A5}"/>
              </a:ext>
            </a:extLst>
          </p:cNvPr>
          <p:cNvSpPr txBox="1"/>
          <p:nvPr/>
        </p:nvSpPr>
        <p:spPr>
          <a:xfrm>
            <a:off x="9725006" y="249289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EE01407-BB48-79E0-0982-AE3DBA85E8E2}"/>
              </a:ext>
            </a:extLst>
          </p:cNvPr>
          <p:cNvSpPr/>
          <p:nvPr/>
        </p:nvSpPr>
        <p:spPr>
          <a:xfrm>
            <a:off x="11196475" y="4559341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MaxSize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0171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3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B04B-1CB2-871C-A65C-3F3B6386E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FEB8B715-437D-E40D-4153-EDCBAB8E1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453342"/>
              </p:ext>
            </p:extLst>
          </p:nvPr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左大括号 21">
            <a:extLst>
              <a:ext uri="{FF2B5EF4-FFF2-40B4-BE49-F238E27FC236}">
                <a16:creationId xmlns:a16="http://schemas.microsoft.com/office/drawing/2014/main" id="{B9DE4D69-7405-D47F-7E79-C4037AE2636B}"/>
              </a:ext>
            </a:extLst>
          </p:cNvPr>
          <p:cNvSpPr/>
          <p:nvPr/>
        </p:nvSpPr>
        <p:spPr>
          <a:xfrm rot="10800000">
            <a:off x="11037537" y="3255870"/>
            <a:ext cx="213368" cy="2948333"/>
          </a:xfrm>
          <a:prstGeom prst="leftBrace">
            <a:avLst>
              <a:gd name="adj1" fmla="val 8333"/>
              <a:gd name="adj2" fmla="val 4940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E1165E-D09F-97A7-17E0-DF5CFC0D37C7}"/>
              </a:ext>
            </a:extLst>
          </p:cNvPr>
          <p:cNvSpPr/>
          <p:nvPr/>
        </p:nvSpPr>
        <p:spPr>
          <a:xfrm>
            <a:off x="11196475" y="4559341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MaxSize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Line 29">
            <a:extLst>
              <a:ext uri="{FF2B5EF4-FFF2-40B4-BE49-F238E27FC236}">
                <a16:creationId xmlns:a16="http://schemas.microsoft.com/office/drawing/2014/main" id="{A6B1D26A-8276-3E77-53C0-104133A8F3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51435" y="3036078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1AD4DAD-0AE6-3973-E694-C4A3D4C511C9}"/>
              </a:ext>
            </a:extLst>
          </p:cNvPr>
          <p:cNvSpPr/>
          <p:nvPr/>
        </p:nvSpPr>
        <p:spPr>
          <a:xfrm>
            <a:off x="11174033" y="2713833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DEECD07-9EDE-60DB-AAC5-F2334E7BA8A2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Line 29">
            <a:extLst>
              <a:ext uri="{FF2B5EF4-FFF2-40B4-BE49-F238E27FC236}">
                <a16:creationId xmlns:a16="http://schemas.microsoft.com/office/drawing/2014/main" id="{48A830FD-ADDC-D8D4-C1C6-C572344A0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1446" y="3036078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24639B4-7226-4785-57C0-E476E091B9ED}"/>
              </a:ext>
            </a:extLst>
          </p:cNvPr>
          <p:cNvSpPr/>
          <p:nvPr/>
        </p:nvSpPr>
        <p:spPr>
          <a:xfrm>
            <a:off x="11214462" y="2984852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F5ED1B-550D-FF45-8281-F413594AC361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66F74B-5F5B-69B6-B203-AAC0C644CD26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341826F-927B-348E-7D94-DCA6273935B1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E27478C-F04D-6BD5-15F2-93B6953C2CBB}"/>
              </a:ext>
            </a:extLst>
          </p:cNvPr>
          <p:cNvSpPr txBox="1"/>
          <p:nvPr/>
        </p:nvSpPr>
        <p:spPr>
          <a:xfrm>
            <a:off x="9709437" y="233311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95415C9A-55F7-FBDA-7C4C-A538C204F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730" y="2898499"/>
            <a:ext cx="7337145" cy="90358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①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初始化队列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InitQueue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(q)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构造一个空队列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。将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front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指针均设置成初始状态即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-1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值。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1A7B1859-828A-580E-7C79-F1ED985AB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301" y="4076054"/>
            <a:ext cx="5715040" cy="1835603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void </a:t>
            </a:r>
            <a:r>
              <a:rPr lang="en-US" altLang="zh-CN" sz="18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InitQueue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*&amp;q)</a:t>
            </a:r>
          </a:p>
          <a:p>
            <a:pPr algn="l">
              <a:lnSpc>
                <a:spcPct val="15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  q=(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*)malloc 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sizeof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));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　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q-&gt;front=q-&gt;rear=-1;</a:t>
            </a:r>
          </a:p>
          <a:p>
            <a:pPr algn="l">
              <a:lnSpc>
                <a:spcPct val="15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13" name="Line 29">
            <a:extLst>
              <a:ext uri="{FF2B5EF4-FFF2-40B4-BE49-F238E27FC236}">
                <a16:creationId xmlns:a16="http://schemas.microsoft.com/office/drawing/2014/main" id="{7B1B17BE-2991-55FC-814B-88F26FB91A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51435" y="3162433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24AA5A-E7D6-1129-C585-A5199964D8B2}"/>
              </a:ext>
            </a:extLst>
          </p:cNvPr>
          <p:cNvSpPr/>
          <p:nvPr/>
        </p:nvSpPr>
        <p:spPr>
          <a:xfrm>
            <a:off x="9537316" y="32595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0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356ABA-EC93-5FDB-AF19-B6707EDAC100}"/>
              </a:ext>
            </a:extLst>
          </p:cNvPr>
          <p:cNvSpPr/>
          <p:nvPr/>
        </p:nvSpPr>
        <p:spPr>
          <a:xfrm>
            <a:off x="9559396" y="3628872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1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20024F-1E10-A7F8-2D64-3A011A5FE632}"/>
              </a:ext>
            </a:extLst>
          </p:cNvPr>
          <p:cNvSpPr/>
          <p:nvPr/>
        </p:nvSpPr>
        <p:spPr>
          <a:xfrm>
            <a:off x="9570318" y="398253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2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835A6E-423D-EE1C-2E4E-E0DEDA4DBC03}"/>
              </a:ext>
            </a:extLst>
          </p:cNvPr>
          <p:cNvSpPr/>
          <p:nvPr/>
        </p:nvSpPr>
        <p:spPr>
          <a:xfrm>
            <a:off x="8695278" y="583487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MaxSize-1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ECBA3B-4992-3FCF-2152-36738021B403}"/>
              </a:ext>
            </a:extLst>
          </p:cNvPr>
          <p:cNvSpPr/>
          <p:nvPr/>
        </p:nvSpPr>
        <p:spPr>
          <a:xfrm>
            <a:off x="9474486" y="4705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…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E6057E5-89A4-08B2-9481-54BAB25E9E7C}"/>
              </a:ext>
            </a:extLst>
          </p:cNvPr>
          <p:cNvSpPr txBox="1"/>
          <p:nvPr/>
        </p:nvSpPr>
        <p:spPr>
          <a:xfrm>
            <a:off x="1559496" y="1983305"/>
            <a:ext cx="5328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、顺序队中实现队列的基本运算算法</a:t>
            </a:r>
          </a:p>
        </p:txBody>
      </p:sp>
    </p:spTree>
    <p:extLst>
      <p:ext uri="{BB962C8B-B14F-4D97-AF65-F5344CB8AC3E}">
        <p14:creationId xmlns:p14="http://schemas.microsoft.com/office/powerpoint/2010/main" val="156779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 animBg="1"/>
      <p:bldP spid="25" grpId="0"/>
      <p:bldP spid="26" grpId="0"/>
      <p:bldP spid="27" grpId="0" animBg="1"/>
      <p:bldP spid="29" grpId="0"/>
      <p:bldP spid="13" grpId="0" animBg="1"/>
      <p:bldP spid="14" grpId="0"/>
      <p:bldP spid="15" grpId="0"/>
      <p:bldP spid="16" grpId="0"/>
      <p:bldP spid="17" grpId="0"/>
      <p:bldP spid="1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8EA0-A379-1E67-A75F-0E09B296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596EF8BD-7D0C-77AE-0056-5911F4143F54}"/>
              </a:ext>
            </a:extLst>
          </p:cNvPr>
          <p:cNvGraphicFramePr>
            <a:graphicFrameLocks noGrp="1"/>
          </p:cNvGraphicFramePr>
          <p:nvPr/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左大括号 21">
            <a:extLst>
              <a:ext uri="{FF2B5EF4-FFF2-40B4-BE49-F238E27FC236}">
                <a16:creationId xmlns:a16="http://schemas.microsoft.com/office/drawing/2014/main" id="{E2486D98-7E8A-B652-B96E-63207B361341}"/>
              </a:ext>
            </a:extLst>
          </p:cNvPr>
          <p:cNvSpPr/>
          <p:nvPr/>
        </p:nvSpPr>
        <p:spPr>
          <a:xfrm rot="10800000">
            <a:off x="11037537" y="3255870"/>
            <a:ext cx="213368" cy="2948333"/>
          </a:xfrm>
          <a:prstGeom prst="leftBrace">
            <a:avLst>
              <a:gd name="adj1" fmla="val 8333"/>
              <a:gd name="adj2" fmla="val 4940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856D22-BCD3-0262-1E40-49BBF7685E78}"/>
              </a:ext>
            </a:extLst>
          </p:cNvPr>
          <p:cNvSpPr/>
          <p:nvPr/>
        </p:nvSpPr>
        <p:spPr>
          <a:xfrm>
            <a:off x="11196475" y="4559341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MaxSize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FB930F-A72D-9B2A-62E3-DAC34E1D6C32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Line 29">
            <a:extLst>
              <a:ext uri="{FF2B5EF4-FFF2-40B4-BE49-F238E27FC236}">
                <a16:creationId xmlns:a16="http://schemas.microsoft.com/office/drawing/2014/main" id="{1BB8911D-DE4F-4044-7A36-EE3E2533D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1446" y="3036078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65D3F8-425E-2403-5086-99F72C81438F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90547A-78FA-8748-20F4-F9F07419E4C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BDE232C-C081-2928-30BD-94627ABC406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F59436A-D89F-6AA8-CA2C-4A9444A423D5}"/>
              </a:ext>
            </a:extLst>
          </p:cNvPr>
          <p:cNvSpPr txBox="1"/>
          <p:nvPr/>
        </p:nvSpPr>
        <p:spPr>
          <a:xfrm>
            <a:off x="9709437" y="233311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316B03D5-2393-6934-C266-8FFBA9C26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9703" y="2805735"/>
            <a:ext cx="4610222" cy="90358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②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销毁队列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DestroyQueue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(q)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释放队列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占用的存储空间。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79D8D1-4CBB-CC7B-6E74-29C8CD5D5F23}"/>
              </a:ext>
            </a:extLst>
          </p:cNvPr>
          <p:cNvSpPr/>
          <p:nvPr/>
        </p:nvSpPr>
        <p:spPr>
          <a:xfrm>
            <a:off x="9537316" y="32595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0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3E5F35-D678-B84A-0DDA-8286BF31A68A}"/>
              </a:ext>
            </a:extLst>
          </p:cNvPr>
          <p:cNvSpPr/>
          <p:nvPr/>
        </p:nvSpPr>
        <p:spPr>
          <a:xfrm>
            <a:off x="9559396" y="3628872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1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098E70-980D-DFE5-616A-F373527B9B55}"/>
              </a:ext>
            </a:extLst>
          </p:cNvPr>
          <p:cNvSpPr/>
          <p:nvPr/>
        </p:nvSpPr>
        <p:spPr>
          <a:xfrm>
            <a:off x="9570318" y="398253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2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770B00-9389-50DC-8795-B8AB5A357F76}"/>
              </a:ext>
            </a:extLst>
          </p:cNvPr>
          <p:cNvSpPr/>
          <p:nvPr/>
        </p:nvSpPr>
        <p:spPr>
          <a:xfrm>
            <a:off x="8695278" y="583487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MaxSize-1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B49F3C-979E-730E-DCDF-628A99EB405C}"/>
              </a:ext>
            </a:extLst>
          </p:cNvPr>
          <p:cNvSpPr/>
          <p:nvPr/>
        </p:nvSpPr>
        <p:spPr>
          <a:xfrm>
            <a:off x="9474486" y="4705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…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DEC20B3F-A4F8-D067-704E-2E6903DCF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3203" y="3998204"/>
            <a:ext cx="5030795" cy="1523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void </a:t>
            </a:r>
            <a:r>
              <a:rPr lang="en-US" altLang="zh-CN" sz="18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DestroyQueue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*&amp;q)</a:t>
            </a: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free(q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C69EE3-7486-1F05-B55D-839C0F63E8A1}"/>
              </a:ext>
            </a:extLst>
          </p:cNvPr>
          <p:cNvSpPr txBox="1"/>
          <p:nvPr/>
        </p:nvSpPr>
        <p:spPr>
          <a:xfrm>
            <a:off x="1559496" y="1983305"/>
            <a:ext cx="5328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、顺序队中实现队列的基本运算算法</a:t>
            </a:r>
          </a:p>
        </p:txBody>
      </p:sp>
    </p:spTree>
    <p:extLst>
      <p:ext uri="{BB962C8B-B14F-4D97-AF65-F5344CB8AC3E}">
        <p14:creationId xmlns:p14="http://schemas.microsoft.com/office/powerpoint/2010/main" val="205425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6" grpId="0"/>
      <p:bldP spid="27" grpId="0" animBg="1"/>
      <p:bldP spid="14" grpId="0"/>
      <p:bldP spid="15" grpId="0"/>
      <p:bldP spid="16" grpId="0"/>
      <p:bldP spid="17" grpId="0"/>
      <p:bldP spid="1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C08D1-9159-9707-510A-7FD3B5C4A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52888EB2-46F2-9CB4-FEAB-8136103E1638}"/>
              </a:ext>
            </a:extLst>
          </p:cNvPr>
          <p:cNvGraphicFramePr>
            <a:graphicFrameLocks noGrp="1"/>
          </p:cNvGraphicFramePr>
          <p:nvPr/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左大括号 21">
            <a:extLst>
              <a:ext uri="{FF2B5EF4-FFF2-40B4-BE49-F238E27FC236}">
                <a16:creationId xmlns:a16="http://schemas.microsoft.com/office/drawing/2014/main" id="{828373DE-0061-0CEC-E138-A5F3D1498EFB}"/>
              </a:ext>
            </a:extLst>
          </p:cNvPr>
          <p:cNvSpPr/>
          <p:nvPr/>
        </p:nvSpPr>
        <p:spPr>
          <a:xfrm rot="10800000">
            <a:off x="11037537" y="3255870"/>
            <a:ext cx="213368" cy="2948333"/>
          </a:xfrm>
          <a:prstGeom prst="leftBrace">
            <a:avLst>
              <a:gd name="adj1" fmla="val 8333"/>
              <a:gd name="adj2" fmla="val 4940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3069C1F-2A88-F20E-CF38-3F48850B415F}"/>
              </a:ext>
            </a:extLst>
          </p:cNvPr>
          <p:cNvSpPr/>
          <p:nvPr/>
        </p:nvSpPr>
        <p:spPr>
          <a:xfrm>
            <a:off x="11196475" y="4559341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MaxSize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Line 29">
            <a:extLst>
              <a:ext uri="{FF2B5EF4-FFF2-40B4-BE49-F238E27FC236}">
                <a16:creationId xmlns:a16="http://schemas.microsoft.com/office/drawing/2014/main" id="{7D30D30F-8283-343E-DC3C-01F790F5DD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51435" y="3036078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5FC9FDA-60CC-9B6F-2730-7514741683F4}"/>
              </a:ext>
            </a:extLst>
          </p:cNvPr>
          <p:cNvSpPr/>
          <p:nvPr/>
        </p:nvSpPr>
        <p:spPr>
          <a:xfrm>
            <a:off x="11174033" y="2713833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C106A81-D55C-181A-B504-DD127452A936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Line 29">
            <a:extLst>
              <a:ext uri="{FF2B5EF4-FFF2-40B4-BE49-F238E27FC236}">
                <a16:creationId xmlns:a16="http://schemas.microsoft.com/office/drawing/2014/main" id="{BBBD23A5-3154-10D0-4EA4-A5512DB2846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1446" y="3036078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77F68AC-474A-10CE-9A8B-CA68C370A9F9}"/>
              </a:ext>
            </a:extLst>
          </p:cNvPr>
          <p:cNvSpPr/>
          <p:nvPr/>
        </p:nvSpPr>
        <p:spPr>
          <a:xfrm>
            <a:off x="11214462" y="2984852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DEEE93-AC26-EA25-A4AE-2193BB87C3D0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7EC192-54E8-2144-B494-F6DF168D74E4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D37F8BC-287F-9644-3633-16039F5B681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ACFE863-6888-2DF9-AF53-FFF5EAC35A6F}"/>
              </a:ext>
            </a:extLst>
          </p:cNvPr>
          <p:cNvSpPr txBox="1"/>
          <p:nvPr/>
        </p:nvSpPr>
        <p:spPr>
          <a:xfrm>
            <a:off x="9709437" y="233311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76084440-2662-2876-EDD7-88DF0A8F5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964" y="3091024"/>
            <a:ext cx="6259509" cy="12883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③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判断队列是否为空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QueueEmpty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(q)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若队列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满足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q-&gt;front==q-&gt;rear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条件，则返回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true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；否则返回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false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13" name="Line 29">
            <a:extLst>
              <a:ext uri="{FF2B5EF4-FFF2-40B4-BE49-F238E27FC236}">
                <a16:creationId xmlns:a16="http://schemas.microsoft.com/office/drawing/2014/main" id="{4569A54C-454E-9443-758D-F8AFA861D0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51435" y="3162433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EE0A81-5D4F-0BD6-20C2-B30B348C4BAD}"/>
              </a:ext>
            </a:extLst>
          </p:cNvPr>
          <p:cNvSpPr/>
          <p:nvPr/>
        </p:nvSpPr>
        <p:spPr>
          <a:xfrm>
            <a:off x="9537316" y="32595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0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18D52F-92CD-E45E-3409-A38CDB050CF2}"/>
              </a:ext>
            </a:extLst>
          </p:cNvPr>
          <p:cNvSpPr/>
          <p:nvPr/>
        </p:nvSpPr>
        <p:spPr>
          <a:xfrm>
            <a:off x="9559396" y="3628872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1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8C9F58-A7BD-CADE-2A53-02E219310E1A}"/>
              </a:ext>
            </a:extLst>
          </p:cNvPr>
          <p:cNvSpPr/>
          <p:nvPr/>
        </p:nvSpPr>
        <p:spPr>
          <a:xfrm>
            <a:off x="9570318" y="398253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2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FDAD35-9030-5438-D3FF-D0E36F3023D0}"/>
              </a:ext>
            </a:extLst>
          </p:cNvPr>
          <p:cNvSpPr/>
          <p:nvPr/>
        </p:nvSpPr>
        <p:spPr>
          <a:xfrm>
            <a:off x="8695278" y="583487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MaxSize-1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919ACD0-54EC-AA0E-18FF-9CE4709CED7D}"/>
              </a:ext>
            </a:extLst>
          </p:cNvPr>
          <p:cNvSpPr/>
          <p:nvPr/>
        </p:nvSpPr>
        <p:spPr>
          <a:xfrm>
            <a:off x="9474486" y="4705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…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21D4542-5B79-1331-98FC-99F7D32DA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964" y="4848388"/>
            <a:ext cx="4786346" cy="1398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44000" rIns="180000" bIns="144000">
            <a:spAutoFit/>
          </a:bodyPr>
          <a:lstStyle/>
          <a:p>
            <a:pPr algn="l"/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bool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QueueEmpty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*q)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</a:t>
            </a:r>
          </a:p>
          <a:p>
            <a:pPr algn="l"/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return(q-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&gt;front==q-&gt;rear);</a:t>
            </a:r>
          </a:p>
          <a:p>
            <a:pPr algn="l"/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8C8948-DF75-A149-C8CC-17C18A8DFCDD}"/>
              </a:ext>
            </a:extLst>
          </p:cNvPr>
          <p:cNvSpPr txBox="1"/>
          <p:nvPr/>
        </p:nvSpPr>
        <p:spPr>
          <a:xfrm>
            <a:off x="1559496" y="1983305"/>
            <a:ext cx="5328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、顺序队中实现队列的基本运算算法</a:t>
            </a:r>
          </a:p>
        </p:txBody>
      </p:sp>
    </p:spTree>
    <p:extLst>
      <p:ext uri="{BB962C8B-B14F-4D97-AF65-F5344CB8AC3E}">
        <p14:creationId xmlns:p14="http://schemas.microsoft.com/office/powerpoint/2010/main" val="234918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 animBg="1"/>
      <p:bldP spid="25" grpId="0"/>
      <p:bldP spid="26" grpId="0"/>
      <p:bldP spid="27" grpId="0" animBg="1"/>
      <p:bldP spid="29" grpId="0"/>
      <p:bldP spid="13" grpId="0" animBg="1"/>
      <p:bldP spid="14" grpId="0"/>
      <p:bldP spid="15" grpId="0"/>
      <p:bldP spid="16" grpId="0"/>
      <p:bldP spid="17" grpId="0"/>
      <p:bldP spid="1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8CB87-0915-E2C6-99D9-62865DF4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0FCD8EF-9F72-BB33-32F5-0798F0AECB6C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AD494D-626A-35B6-C549-89E585D9CCB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AF9C4F2-644F-2282-D1EF-9804FBE4D96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5">
            <a:extLst>
              <a:ext uri="{FF2B5EF4-FFF2-40B4-BE49-F238E27FC236}">
                <a16:creationId xmlns:a16="http://schemas.microsoft.com/office/drawing/2014/main" id="{8517E28B-1B22-C053-1682-388289A49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132" y="2602311"/>
            <a:ext cx="6505009" cy="12883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进队列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enQueue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(q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e)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在队列不满的条件下，先将队尾指针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循环增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，然后将元素添加到该位置。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96E6CA0F-BAAD-1107-8182-A27DF9B6C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824" y="3989484"/>
            <a:ext cx="6530993" cy="22618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>
              <a:lnSpc>
                <a:spcPts val="2300"/>
              </a:lnSpc>
            </a:pP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enQueue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(SqQueue </a:t>
            </a:r>
            <a:r>
              <a:rPr lang="pt-BR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*&amp;q</a:t>
            </a:r>
            <a:r>
              <a:rPr lang="zh-CN" altLang="pt-BR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e)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 if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(q-&gt;rear==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队满上溢出</a:t>
            </a:r>
          </a:p>
          <a:p>
            <a:pPr algn="l">
              <a:lnSpc>
                <a:spcPts val="2300"/>
              </a:lnSpc>
            </a:pP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false;</a:t>
            </a:r>
          </a:p>
          <a:p>
            <a:pPr algn="l">
              <a:lnSpc>
                <a:spcPts val="23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en-US" altLang="zh-CN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</a:t>
            </a:r>
            <a:r>
              <a:rPr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&gt;rear++;</a:t>
            </a:r>
          </a:p>
          <a:p>
            <a:pPr algn="l">
              <a:lnSpc>
                <a:spcPts val="23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q-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&gt;data[q-&gt;rear]=e;</a:t>
            </a:r>
          </a:p>
          <a:p>
            <a:pPr algn="l">
              <a:lnSpc>
                <a:spcPts val="23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return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true;</a:t>
            </a:r>
          </a:p>
          <a:p>
            <a:pPr algn="l">
              <a:lnSpc>
                <a:spcPts val="23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B15A205-82A4-1C3F-3026-15ABC7DFD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504987"/>
              </p:ext>
            </p:extLst>
          </p:nvPr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2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5DEB0F85-D739-FDA0-942E-71A875EB9EA4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Line 29">
            <a:extLst>
              <a:ext uri="{FF2B5EF4-FFF2-40B4-BE49-F238E27FC236}">
                <a16:creationId xmlns:a16="http://schemas.microsoft.com/office/drawing/2014/main" id="{8E8D7993-483C-6286-E753-AC177CED0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661" y="3075381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30BA980-9C2A-30F8-66B3-93FAD500B113}"/>
              </a:ext>
            </a:extLst>
          </p:cNvPr>
          <p:cNvSpPr txBox="1"/>
          <p:nvPr/>
        </p:nvSpPr>
        <p:spPr>
          <a:xfrm>
            <a:off x="9725006" y="249289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34" name="Line 29">
            <a:extLst>
              <a:ext uri="{FF2B5EF4-FFF2-40B4-BE49-F238E27FC236}">
                <a16:creationId xmlns:a16="http://schemas.microsoft.com/office/drawing/2014/main" id="{60FC0211-F9D6-FAF5-6577-05E2DE62E5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51435" y="3036078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3EC352-F0DB-246C-4118-C85FC0A1F72B}"/>
              </a:ext>
            </a:extLst>
          </p:cNvPr>
          <p:cNvSpPr/>
          <p:nvPr/>
        </p:nvSpPr>
        <p:spPr>
          <a:xfrm>
            <a:off x="11206020" y="2784139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D8584B4-E8DE-5049-C04E-01B9475868E8}"/>
              </a:ext>
            </a:extLst>
          </p:cNvPr>
          <p:cNvSpPr/>
          <p:nvPr/>
        </p:nvSpPr>
        <p:spPr>
          <a:xfrm>
            <a:off x="11250905" y="4301318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Line 29">
            <a:extLst>
              <a:ext uri="{FF2B5EF4-FFF2-40B4-BE49-F238E27FC236}">
                <a16:creationId xmlns:a16="http://schemas.microsoft.com/office/drawing/2014/main" id="{61586208-A4D8-2755-D495-93E6A30B9B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87878" y="4478899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7FAF2F8-A9FB-A02D-FDF1-255BED7AAAFF}"/>
              </a:ext>
            </a:extLst>
          </p:cNvPr>
          <p:cNvSpPr/>
          <p:nvPr/>
        </p:nvSpPr>
        <p:spPr>
          <a:xfrm>
            <a:off x="9537316" y="32595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0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542B035-E151-B797-B554-3AE5C0AC6A0A}"/>
              </a:ext>
            </a:extLst>
          </p:cNvPr>
          <p:cNvSpPr/>
          <p:nvPr/>
        </p:nvSpPr>
        <p:spPr>
          <a:xfrm>
            <a:off x="9559396" y="3628872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1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56E9FEF-5DBC-D33F-8F7B-2D9E50F4DA5A}"/>
              </a:ext>
            </a:extLst>
          </p:cNvPr>
          <p:cNvSpPr/>
          <p:nvPr/>
        </p:nvSpPr>
        <p:spPr>
          <a:xfrm>
            <a:off x="9570318" y="398253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2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D6FD6BE-35FE-B1A9-1129-8BBCBC1D7B4A}"/>
              </a:ext>
            </a:extLst>
          </p:cNvPr>
          <p:cNvSpPr/>
          <p:nvPr/>
        </p:nvSpPr>
        <p:spPr>
          <a:xfrm>
            <a:off x="8695278" y="583487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MaxSize-1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540CA41-B91B-9A4D-95C8-06E73B902055}"/>
              </a:ext>
            </a:extLst>
          </p:cNvPr>
          <p:cNvSpPr/>
          <p:nvPr/>
        </p:nvSpPr>
        <p:spPr>
          <a:xfrm>
            <a:off x="9474486" y="4705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…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276E064-162B-08EF-710F-A52F9AABFE83}"/>
              </a:ext>
            </a:extLst>
          </p:cNvPr>
          <p:cNvSpPr txBox="1"/>
          <p:nvPr/>
        </p:nvSpPr>
        <p:spPr>
          <a:xfrm>
            <a:off x="1559496" y="1983305"/>
            <a:ext cx="5328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、顺序队中实现队列的基本运算算法</a:t>
            </a:r>
          </a:p>
        </p:txBody>
      </p:sp>
    </p:spTree>
    <p:extLst>
      <p:ext uri="{BB962C8B-B14F-4D97-AF65-F5344CB8AC3E}">
        <p14:creationId xmlns:p14="http://schemas.microsoft.com/office/powerpoint/2010/main" val="327228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34" grpId="0" animBg="1"/>
      <p:bldP spid="35" grpId="0"/>
      <p:bldP spid="36" grpId="0"/>
      <p:bldP spid="37" grpId="0" animBg="1"/>
      <p:bldP spid="39" grpId="0"/>
      <p:bldP spid="40" grpId="0"/>
      <p:bldP spid="41" grpId="0"/>
      <p:bldP spid="42" grpId="0"/>
      <p:bldP spid="4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6EE97-1227-06A5-B81E-8676996BE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19A13DF-D120-9BBC-EFED-4707EA8B97F4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A277F0-E890-A402-8C18-C7E83531D987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3E65F89-A88D-4B7E-046C-B458A312838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A323A59-C640-2377-30E6-F1631DC6B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429001"/>
              </p:ext>
            </p:extLst>
          </p:nvPr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2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43DDA5EB-6E43-F2BE-5E68-FF25C5F123F8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Line 29">
            <a:extLst>
              <a:ext uri="{FF2B5EF4-FFF2-40B4-BE49-F238E27FC236}">
                <a16:creationId xmlns:a16="http://schemas.microsoft.com/office/drawing/2014/main" id="{AE8B5647-DF9A-148A-DAC3-E86EA60EB76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661" y="3075381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E649E82-417F-E43F-310C-9D41437C93FB}"/>
              </a:ext>
            </a:extLst>
          </p:cNvPr>
          <p:cNvSpPr txBox="1"/>
          <p:nvPr/>
        </p:nvSpPr>
        <p:spPr>
          <a:xfrm>
            <a:off x="9725006" y="249289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13" name="Line 29">
            <a:extLst>
              <a:ext uri="{FF2B5EF4-FFF2-40B4-BE49-F238E27FC236}">
                <a16:creationId xmlns:a16="http://schemas.microsoft.com/office/drawing/2014/main" id="{B3E5F741-9C11-16AB-2DB3-594C608B39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51435" y="3036078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F42719-16DD-4464-A0EB-FA8717544FE3}"/>
              </a:ext>
            </a:extLst>
          </p:cNvPr>
          <p:cNvSpPr/>
          <p:nvPr/>
        </p:nvSpPr>
        <p:spPr>
          <a:xfrm>
            <a:off x="11206020" y="2784139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92798F-D627-7053-1EA3-86E1D7C34EA7}"/>
              </a:ext>
            </a:extLst>
          </p:cNvPr>
          <p:cNvSpPr/>
          <p:nvPr/>
        </p:nvSpPr>
        <p:spPr>
          <a:xfrm>
            <a:off x="11253923" y="4706836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59795017-A1D5-5976-CF22-C23C220ADD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90896" y="4884417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CBE4CD-BDA6-240F-A085-894BF7AF2C5F}"/>
              </a:ext>
            </a:extLst>
          </p:cNvPr>
          <p:cNvSpPr/>
          <p:nvPr/>
        </p:nvSpPr>
        <p:spPr>
          <a:xfrm>
            <a:off x="9537316" y="32595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0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717750-A84D-EF8F-E23F-116101FE1997}"/>
              </a:ext>
            </a:extLst>
          </p:cNvPr>
          <p:cNvSpPr/>
          <p:nvPr/>
        </p:nvSpPr>
        <p:spPr>
          <a:xfrm>
            <a:off x="9559396" y="3628872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1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3D3FB4B-1AB7-D838-8DA0-4A0E5C2D61FE}"/>
              </a:ext>
            </a:extLst>
          </p:cNvPr>
          <p:cNvSpPr/>
          <p:nvPr/>
        </p:nvSpPr>
        <p:spPr>
          <a:xfrm>
            <a:off x="9570318" y="398253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2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6348B38-39F7-E4C7-7AC2-5F289F6C295F}"/>
              </a:ext>
            </a:extLst>
          </p:cNvPr>
          <p:cNvSpPr/>
          <p:nvPr/>
        </p:nvSpPr>
        <p:spPr>
          <a:xfrm>
            <a:off x="8695278" y="583487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MaxSize-1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12E55F-F253-AB4D-E856-6B005BB81ED9}"/>
              </a:ext>
            </a:extLst>
          </p:cNvPr>
          <p:cNvSpPr/>
          <p:nvPr/>
        </p:nvSpPr>
        <p:spPr>
          <a:xfrm>
            <a:off x="9474486" y="4705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…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8D21518A-9C00-FBDC-3093-B6E73854C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132" y="2602311"/>
            <a:ext cx="6505009" cy="12883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进队列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enQueue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(q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e)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在队列不满的条件下，先将队尾指针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循环增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，然后将元素添加到该位置。</a:t>
            </a:r>
          </a:p>
        </p:txBody>
      </p:sp>
      <p:sp>
        <p:nvSpPr>
          <p:cNvPr id="25" name="Text Box 3">
            <a:extLst>
              <a:ext uri="{FF2B5EF4-FFF2-40B4-BE49-F238E27FC236}">
                <a16:creationId xmlns:a16="http://schemas.microsoft.com/office/drawing/2014/main" id="{F09B20AF-85EC-ACCB-7064-C90F8AF37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824" y="3989484"/>
            <a:ext cx="6530993" cy="22618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>
              <a:lnSpc>
                <a:spcPts val="2300"/>
              </a:lnSpc>
            </a:pP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enQueue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(SqQueue </a:t>
            </a:r>
            <a:r>
              <a:rPr lang="pt-BR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*&amp;q</a:t>
            </a:r>
            <a:r>
              <a:rPr lang="zh-CN" altLang="pt-BR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e)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 if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(q-&gt;rear==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队满上溢出</a:t>
            </a:r>
          </a:p>
          <a:p>
            <a:pPr algn="l">
              <a:lnSpc>
                <a:spcPts val="2300"/>
              </a:lnSpc>
            </a:pP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false;</a:t>
            </a:r>
          </a:p>
          <a:p>
            <a:pPr algn="l">
              <a:lnSpc>
                <a:spcPts val="23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en-US" altLang="zh-CN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</a:t>
            </a:r>
            <a:r>
              <a:rPr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&gt;rear++;</a:t>
            </a:r>
          </a:p>
          <a:p>
            <a:pPr algn="l">
              <a:lnSpc>
                <a:spcPts val="23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q-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&gt;data[q-&gt;rear]=e;</a:t>
            </a:r>
          </a:p>
          <a:p>
            <a:pPr algn="l">
              <a:lnSpc>
                <a:spcPts val="23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return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true;</a:t>
            </a:r>
          </a:p>
          <a:p>
            <a:pPr algn="l">
              <a:lnSpc>
                <a:spcPts val="23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2B38BB-7491-AF1D-B918-5AE2C72CFAE4}"/>
              </a:ext>
            </a:extLst>
          </p:cNvPr>
          <p:cNvSpPr txBox="1"/>
          <p:nvPr/>
        </p:nvSpPr>
        <p:spPr>
          <a:xfrm>
            <a:off x="1559496" y="1983305"/>
            <a:ext cx="5328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、顺序队中实现队列的基本运算算法</a:t>
            </a:r>
          </a:p>
        </p:txBody>
      </p:sp>
    </p:spTree>
    <p:extLst>
      <p:ext uri="{BB962C8B-B14F-4D97-AF65-F5344CB8AC3E}">
        <p14:creationId xmlns:p14="http://schemas.microsoft.com/office/powerpoint/2010/main" val="401758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13" grpId="0" animBg="1"/>
      <p:bldP spid="14" grpId="0"/>
      <p:bldP spid="15" grpId="0"/>
      <p:bldP spid="16" grpId="0" animBg="1"/>
      <p:bldP spid="17" grpId="0"/>
      <p:bldP spid="18" grpId="0"/>
      <p:bldP spid="21" grpId="0"/>
      <p:bldP spid="22" grpId="0"/>
      <p:bldP spid="2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61C79-3071-1BCD-C274-5443FF6D6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7947B1-576B-7BA0-2914-1DB247C06C6D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67A8BD-3B56-1E6C-E5CE-7E162DE84C82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7A25151-36B0-8064-C7E5-476D32C6F251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5">
            <a:extLst>
              <a:ext uri="{FF2B5EF4-FFF2-40B4-BE49-F238E27FC236}">
                <a16:creationId xmlns:a16="http://schemas.microsoft.com/office/drawing/2014/main" id="{8EE598BF-A1E8-8310-33AD-3FF4AF584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2739887"/>
            <a:ext cx="6567740" cy="12883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⑤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出队列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dnQueue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(q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e)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在队列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不为空的条件下，将队首指针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front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循环增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，并将该位置的元素值赋给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8EFD1131-21BF-5B85-E985-CE6A74403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793" y="4102277"/>
            <a:ext cx="6345137" cy="2372545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>
              <a:lnSpc>
                <a:spcPts val="2400"/>
              </a:lnSpc>
            </a:pP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(SqQueue *&amp;q</a:t>
            </a:r>
            <a:r>
              <a:rPr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 if (q-&gt;front==q-&gt;rear)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队空下溢出</a:t>
            </a:r>
          </a:p>
          <a:p>
            <a:pPr algn="l">
              <a:lnSpc>
                <a:spcPts val="24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false;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q-&gt;front++;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e=q-&gt;data[q-&gt;front];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return true;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8802461-78BF-1BB2-3403-31AC99BBF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815027"/>
              </p:ext>
            </p:extLst>
          </p:nvPr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2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64F7700E-AE73-6B12-78FC-073BA82BA3E5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6526517E-FFDF-15C5-A4FB-61F829E6E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661" y="3075381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8E61259-EE10-BE85-E654-1B3101C6F0D5}"/>
              </a:ext>
            </a:extLst>
          </p:cNvPr>
          <p:cNvSpPr txBox="1"/>
          <p:nvPr/>
        </p:nvSpPr>
        <p:spPr>
          <a:xfrm>
            <a:off x="9725006" y="249289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F06F6FD5-8113-A02B-879D-4AA2ABD27F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51435" y="3036078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DB8AD57-3002-3963-2E5E-28DA77C3384A}"/>
              </a:ext>
            </a:extLst>
          </p:cNvPr>
          <p:cNvSpPr/>
          <p:nvPr/>
        </p:nvSpPr>
        <p:spPr>
          <a:xfrm>
            <a:off x="11206020" y="2784139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E72851-E4EB-92F4-7279-B6E50CA02063}"/>
              </a:ext>
            </a:extLst>
          </p:cNvPr>
          <p:cNvSpPr/>
          <p:nvPr/>
        </p:nvSpPr>
        <p:spPr>
          <a:xfrm>
            <a:off x="11250905" y="4301318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225B924E-E7BD-1BF4-264B-4AD2432025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87878" y="4478899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04E9222-B4B8-672B-BE90-B40DF773C453}"/>
              </a:ext>
            </a:extLst>
          </p:cNvPr>
          <p:cNvSpPr/>
          <p:nvPr/>
        </p:nvSpPr>
        <p:spPr>
          <a:xfrm>
            <a:off x="9537316" y="32595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0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6CAB4A7-30F5-DD82-7B31-CE64176171A4}"/>
              </a:ext>
            </a:extLst>
          </p:cNvPr>
          <p:cNvSpPr/>
          <p:nvPr/>
        </p:nvSpPr>
        <p:spPr>
          <a:xfrm>
            <a:off x="9559396" y="3628872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1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CEA19B4-3CA2-AE1C-2504-8FFFBF713637}"/>
              </a:ext>
            </a:extLst>
          </p:cNvPr>
          <p:cNvSpPr/>
          <p:nvPr/>
        </p:nvSpPr>
        <p:spPr>
          <a:xfrm>
            <a:off x="9570318" y="398253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2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714A5E7-21E3-3B1A-E1EC-2A21A2ECC544}"/>
              </a:ext>
            </a:extLst>
          </p:cNvPr>
          <p:cNvSpPr/>
          <p:nvPr/>
        </p:nvSpPr>
        <p:spPr>
          <a:xfrm>
            <a:off x="8695278" y="583487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MaxSize-1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0C78BE-012D-E020-C90B-9BE92523D905}"/>
              </a:ext>
            </a:extLst>
          </p:cNvPr>
          <p:cNvSpPr/>
          <p:nvPr/>
        </p:nvSpPr>
        <p:spPr>
          <a:xfrm>
            <a:off x="9474486" y="4705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…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7496D65-D489-342B-14CB-ED07503B502B}"/>
              </a:ext>
            </a:extLst>
          </p:cNvPr>
          <p:cNvSpPr txBox="1"/>
          <p:nvPr/>
        </p:nvSpPr>
        <p:spPr>
          <a:xfrm>
            <a:off x="1559496" y="1983305"/>
            <a:ext cx="5328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、顺序队中实现队列的基本运算算法</a:t>
            </a:r>
          </a:p>
        </p:txBody>
      </p:sp>
    </p:spTree>
    <p:extLst>
      <p:ext uri="{BB962C8B-B14F-4D97-AF65-F5344CB8AC3E}">
        <p14:creationId xmlns:p14="http://schemas.microsoft.com/office/powerpoint/2010/main" val="150799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 animBg="1"/>
      <p:bldP spid="21" grpId="0"/>
      <p:bldP spid="22" grpId="0"/>
      <p:bldP spid="23" grpId="0" animBg="1"/>
      <p:bldP spid="24" grpId="0"/>
      <p:bldP spid="25" grpId="0"/>
      <p:bldP spid="26" grpId="0"/>
      <p:bldP spid="27" grpId="0"/>
      <p:bldP spid="2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B9233-0B53-E209-AA84-97CDC0125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F9273CD-6C3D-4885-4382-438D8D2EA161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52DA5D-9524-BB01-60BC-855AD0970E2B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27B4EC6-DF0F-4E8E-C377-B61048A02DC1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1371A8C7-38E9-832A-822D-F5AEDC6A67ED}"/>
              </a:ext>
            </a:extLst>
          </p:cNvPr>
          <p:cNvGraphicFramePr>
            <a:graphicFrameLocks noGrp="1"/>
          </p:cNvGraphicFramePr>
          <p:nvPr/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2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9B8D16B4-F55D-B452-186E-8603AC33B120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F7B554B4-7A1B-AC34-7C43-5457073A0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661" y="3075381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822A1C3-E9FB-908D-C08A-91816BF91AB4}"/>
              </a:ext>
            </a:extLst>
          </p:cNvPr>
          <p:cNvSpPr txBox="1"/>
          <p:nvPr/>
        </p:nvSpPr>
        <p:spPr>
          <a:xfrm>
            <a:off x="9725006" y="249289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DA182C2D-836F-8BA1-D86B-D6DA8BD78A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55165" y="3489654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7F677D-8A45-DB81-A269-2A434F51E72D}"/>
              </a:ext>
            </a:extLst>
          </p:cNvPr>
          <p:cNvSpPr/>
          <p:nvPr/>
        </p:nvSpPr>
        <p:spPr>
          <a:xfrm>
            <a:off x="11209750" y="3237715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4A11ED9-DCA6-B825-65AA-E376698086CE}"/>
              </a:ext>
            </a:extLst>
          </p:cNvPr>
          <p:cNvSpPr/>
          <p:nvPr/>
        </p:nvSpPr>
        <p:spPr>
          <a:xfrm>
            <a:off x="11250905" y="4301318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004CF6BD-39A7-C68C-D01D-4B2F66F445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87878" y="4478899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4C9A2F2-0BC5-1C75-38A1-6AD38AE35F2F}"/>
              </a:ext>
            </a:extLst>
          </p:cNvPr>
          <p:cNvSpPr/>
          <p:nvPr/>
        </p:nvSpPr>
        <p:spPr>
          <a:xfrm>
            <a:off x="9537316" y="32595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0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D0C4ECD-CE57-28FF-7350-7C06E87D6702}"/>
              </a:ext>
            </a:extLst>
          </p:cNvPr>
          <p:cNvSpPr/>
          <p:nvPr/>
        </p:nvSpPr>
        <p:spPr>
          <a:xfrm>
            <a:off x="9559396" y="3628872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1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CA3938-69B5-9D42-9932-C09B993E0EC0}"/>
              </a:ext>
            </a:extLst>
          </p:cNvPr>
          <p:cNvSpPr/>
          <p:nvPr/>
        </p:nvSpPr>
        <p:spPr>
          <a:xfrm>
            <a:off x="9570318" y="398253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2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9FCA92-55F1-0F7F-394B-DA3832107301}"/>
              </a:ext>
            </a:extLst>
          </p:cNvPr>
          <p:cNvSpPr/>
          <p:nvPr/>
        </p:nvSpPr>
        <p:spPr>
          <a:xfrm>
            <a:off x="8695278" y="583487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MaxSize-1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73B961F-02C5-C477-8B4F-9B4931912FFD}"/>
              </a:ext>
            </a:extLst>
          </p:cNvPr>
          <p:cNvSpPr/>
          <p:nvPr/>
        </p:nvSpPr>
        <p:spPr>
          <a:xfrm>
            <a:off x="9474486" y="4705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…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7BAA46-7FBD-0313-0100-A33306EA8712}"/>
              </a:ext>
            </a:extLst>
          </p:cNvPr>
          <p:cNvSpPr/>
          <p:nvPr/>
        </p:nvSpPr>
        <p:spPr>
          <a:xfrm>
            <a:off x="11104900" y="2840031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e</a:t>
            </a:r>
          </a:p>
        </p:txBody>
      </p:sp>
      <p:sp>
        <p:nvSpPr>
          <p:cNvPr id="6" name="Line 29">
            <a:extLst>
              <a:ext uri="{FF2B5EF4-FFF2-40B4-BE49-F238E27FC236}">
                <a16:creationId xmlns:a16="http://schemas.microsoft.com/office/drawing/2014/main" id="{C87B9180-AD0B-F93C-E6CA-4C10DEC5A0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91629" y="3075382"/>
            <a:ext cx="680015" cy="26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28885ACC-E72D-D259-3092-FC7562142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2739887"/>
            <a:ext cx="6567740" cy="12883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⑤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出队列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dnQueue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(q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e)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在队列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不为空的条件下，将队首指针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front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循环增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，并将该位置的元素值赋给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480438CC-8DEB-7BBD-F2FD-6FD65F6BA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793" y="4102277"/>
            <a:ext cx="6345137" cy="2372545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>
              <a:lnSpc>
                <a:spcPts val="2400"/>
              </a:lnSpc>
            </a:pP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(SqQueue *&amp;q</a:t>
            </a:r>
            <a:r>
              <a:rPr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 if (q-&gt;front==q-&gt;rear)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队空下溢出</a:t>
            </a:r>
          </a:p>
          <a:p>
            <a:pPr algn="l">
              <a:lnSpc>
                <a:spcPts val="24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false;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q-&gt;front++;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e=q-&gt;data[q-&gt;front];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return true;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120CB1-7D5E-326E-85E5-9C14E1D8D316}"/>
              </a:ext>
            </a:extLst>
          </p:cNvPr>
          <p:cNvSpPr txBox="1"/>
          <p:nvPr/>
        </p:nvSpPr>
        <p:spPr>
          <a:xfrm>
            <a:off x="1559496" y="1983305"/>
            <a:ext cx="5328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、顺序队中实现队列的基本运算算法</a:t>
            </a:r>
          </a:p>
        </p:txBody>
      </p:sp>
    </p:spTree>
    <p:extLst>
      <p:ext uri="{BB962C8B-B14F-4D97-AF65-F5344CB8AC3E}">
        <p14:creationId xmlns:p14="http://schemas.microsoft.com/office/powerpoint/2010/main" val="213931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 animBg="1"/>
      <p:bldP spid="21" grpId="0"/>
      <p:bldP spid="22" grpId="0"/>
      <p:bldP spid="23" grpId="0" animBg="1"/>
      <p:bldP spid="24" grpId="0"/>
      <p:bldP spid="25" grpId="0"/>
      <p:bldP spid="26" grpId="0"/>
      <p:bldP spid="27" grpId="0"/>
      <p:bldP spid="29" grpId="0"/>
      <p:bldP spid="5" grpId="0"/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55C87-9E70-E489-E17B-4AFED390F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55F4BC-C861-3E8E-1F60-74662015A9AB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67DA14-31D7-05AD-F3BE-DD466756CAC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394F2F9-9046-76AC-849A-0166D5F853F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D2B24BB-B185-E7FC-250D-0628BC976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483837"/>
              </p:ext>
            </p:extLst>
          </p:nvPr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2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E5C65BD5-6414-64C2-E28D-7841F3875061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5729FAE5-0BDA-D3F7-75CE-640AD878C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661" y="3075381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37CC38F-EC77-BB90-4F51-AE55E147BC68}"/>
              </a:ext>
            </a:extLst>
          </p:cNvPr>
          <p:cNvSpPr txBox="1"/>
          <p:nvPr/>
        </p:nvSpPr>
        <p:spPr>
          <a:xfrm>
            <a:off x="9725006" y="249289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6533C3F7-FEBB-6450-9016-D48D70F7F2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55165" y="3489654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F29BE4-AB84-0D98-12B3-9AC202421122}"/>
              </a:ext>
            </a:extLst>
          </p:cNvPr>
          <p:cNvSpPr/>
          <p:nvPr/>
        </p:nvSpPr>
        <p:spPr>
          <a:xfrm>
            <a:off x="11209750" y="3237715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70204C4-F903-34BF-1D9E-D7A9A323A147}"/>
              </a:ext>
            </a:extLst>
          </p:cNvPr>
          <p:cNvSpPr/>
          <p:nvPr/>
        </p:nvSpPr>
        <p:spPr>
          <a:xfrm>
            <a:off x="11250905" y="4301318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53154510-D309-1ABE-9BE4-AB38662C02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87878" y="4478899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BEACB1C-A279-7E51-FD0E-6E50DF956B29}"/>
              </a:ext>
            </a:extLst>
          </p:cNvPr>
          <p:cNvSpPr/>
          <p:nvPr/>
        </p:nvSpPr>
        <p:spPr>
          <a:xfrm>
            <a:off x="9537316" y="32595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0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4F77F12-1E29-5FF4-53F8-7BFFB7215751}"/>
              </a:ext>
            </a:extLst>
          </p:cNvPr>
          <p:cNvSpPr/>
          <p:nvPr/>
        </p:nvSpPr>
        <p:spPr>
          <a:xfrm>
            <a:off x="9559396" y="3628872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1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6DA918E-C751-B7F6-D61D-D818124A54CE}"/>
              </a:ext>
            </a:extLst>
          </p:cNvPr>
          <p:cNvSpPr/>
          <p:nvPr/>
        </p:nvSpPr>
        <p:spPr>
          <a:xfrm>
            <a:off x="9570318" y="398253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2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77C7DD5-E318-14A9-23A9-15C01ACBA67C}"/>
              </a:ext>
            </a:extLst>
          </p:cNvPr>
          <p:cNvSpPr/>
          <p:nvPr/>
        </p:nvSpPr>
        <p:spPr>
          <a:xfrm>
            <a:off x="8695278" y="583487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MaxSize-1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F21435C-EED8-77CA-D18D-2F71914AEE8F}"/>
              </a:ext>
            </a:extLst>
          </p:cNvPr>
          <p:cNvSpPr/>
          <p:nvPr/>
        </p:nvSpPr>
        <p:spPr>
          <a:xfrm>
            <a:off x="9474486" y="4705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…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099A8912-95EE-4E89-E69A-A8D0E02D2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2739887"/>
            <a:ext cx="6567740" cy="12883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⑤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出队列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dnQueue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(q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e)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在队列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不为空的条件下，将队首指针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front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循环增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，并将该位置的元素值赋给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83822ED0-22E3-4940-7294-FB08F46AC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793" y="4102277"/>
            <a:ext cx="6345137" cy="2372545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>
              <a:lnSpc>
                <a:spcPts val="2400"/>
              </a:lnSpc>
            </a:pP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(SqQueue *&amp;q</a:t>
            </a:r>
            <a:r>
              <a:rPr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 if (q-&gt;front==q-&gt;rear)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队空下溢出</a:t>
            </a:r>
          </a:p>
          <a:p>
            <a:pPr algn="l">
              <a:lnSpc>
                <a:spcPts val="24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false;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q-&gt;front++;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e=q-&gt;data[q-&gt;front];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return true;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DF8C21-FC4E-B8D8-063E-F32695660817}"/>
              </a:ext>
            </a:extLst>
          </p:cNvPr>
          <p:cNvSpPr txBox="1"/>
          <p:nvPr/>
        </p:nvSpPr>
        <p:spPr>
          <a:xfrm>
            <a:off x="1559496" y="1983305"/>
            <a:ext cx="5328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、顺序队中实现队列的基本运算算法</a:t>
            </a:r>
          </a:p>
        </p:txBody>
      </p:sp>
    </p:spTree>
    <p:extLst>
      <p:ext uri="{BB962C8B-B14F-4D97-AF65-F5344CB8AC3E}">
        <p14:creationId xmlns:p14="http://schemas.microsoft.com/office/powerpoint/2010/main" val="349050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 animBg="1"/>
      <p:bldP spid="21" grpId="0"/>
      <p:bldP spid="22" grpId="0"/>
      <p:bldP spid="23" grpId="0" animBg="1"/>
      <p:bldP spid="24" grpId="0"/>
      <p:bldP spid="25" grpId="0"/>
      <p:bldP spid="26" grpId="0"/>
      <p:bldP spid="27" grpId="0"/>
      <p:bldP spid="2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85966-DC73-5464-720C-CF46B3171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02160AE-C178-9E5F-EECB-199CCFD31612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0A7B97-E3BB-5B1B-D902-84E576AF3240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AA6F685-FBCD-6489-81E7-2EDD7D4410FA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1B8FA03-B1EE-B291-6A3E-5C3F73EE8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895038"/>
              </p:ext>
            </p:extLst>
          </p:nvPr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altLang="zh-CN" baseline="-25000" dirty="0"/>
                        <a:t>1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sz="1800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3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9B2234AD-CD11-06D0-595E-4438CF306548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EC211101-9347-6B03-0CED-F212A886C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661" y="3075381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DC7F65-4D3A-435E-8051-5D91B837726F}"/>
              </a:ext>
            </a:extLst>
          </p:cNvPr>
          <p:cNvSpPr txBox="1"/>
          <p:nvPr/>
        </p:nvSpPr>
        <p:spPr>
          <a:xfrm>
            <a:off x="9725006" y="249289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64019717-585B-E688-2A16-E8EC4FA7CC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68818" y="3111737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3A5957-1667-6695-B1F2-20BE873367AB}"/>
              </a:ext>
            </a:extLst>
          </p:cNvPr>
          <p:cNvSpPr/>
          <p:nvPr/>
        </p:nvSpPr>
        <p:spPr>
          <a:xfrm>
            <a:off x="11223403" y="2859798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9391264-B3A9-3D9A-3D5F-DC305EF712B5}"/>
              </a:ext>
            </a:extLst>
          </p:cNvPr>
          <p:cNvSpPr/>
          <p:nvPr/>
        </p:nvSpPr>
        <p:spPr>
          <a:xfrm>
            <a:off x="9537316" y="32595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0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0A034E2-1148-B4D9-7A60-31B7414FAEB8}"/>
              </a:ext>
            </a:extLst>
          </p:cNvPr>
          <p:cNvSpPr/>
          <p:nvPr/>
        </p:nvSpPr>
        <p:spPr>
          <a:xfrm>
            <a:off x="9559396" y="3628872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1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3F756D-6837-72D4-BD22-EFCB3F287D07}"/>
              </a:ext>
            </a:extLst>
          </p:cNvPr>
          <p:cNvSpPr/>
          <p:nvPr/>
        </p:nvSpPr>
        <p:spPr>
          <a:xfrm>
            <a:off x="9570318" y="398253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2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AA7590-D1BA-C082-2E57-098C432DB33F}"/>
              </a:ext>
            </a:extLst>
          </p:cNvPr>
          <p:cNvSpPr/>
          <p:nvPr/>
        </p:nvSpPr>
        <p:spPr>
          <a:xfrm>
            <a:off x="8695278" y="583487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MaxSize-1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67A46A9-7AA4-6827-1ACF-52886FEA3D5F}"/>
              </a:ext>
            </a:extLst>
          </p:cNvPr>
          <p:cNvSpPr/>
          <p:nvPr/>
        </p:nvSpPr>
        <p:spPr>
          <a:xfrm>
            <a:off x="9474486" y="4705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…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0B12E4-305D-2BD9-DC5E-84C0F6E6B7A6}"/>
              </a:ext>
            </a:extLst>
          </p:cNvPr>
          <p:cNvSpPr txBox="1"/>
          <p:nvPr/>
        </p:nvSpPr>
        <p:spPr>
          <a:xfrm>
            <a:off x="1559495" y="1983305"/>
            <a:ext cx="792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、环形队列（或循环队列）中实现队列的基本运算算法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AA6875-0A94-4C9C-3EF0-FF66B31480B2}"/>
              </a:ext>
            </a:extLst>
          </p:cNvPr>
          <p:cNvSpPr/>
          <p:nvPr/>
        </p:nvSpPr>
        <p:spPr>
          <a:xfrm>
            <a:off x="11278442" y="5902271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Line 29">
            <a:extLst>
              <a:ext uri="{FF2B5EF4-FFF2-40B4-BE49-F238E27FC236}">
                <a16:creationId xmlns:a16="http://schemas.microsoft.com/office/drawing/2014/main" id="{B396D627-9510-8837-B63D-B004AF1826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015415" y="6079852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742D4E-B367-8EF6-0D38-3D4360481327}"/>
              </a:ext>
            </a:extLst>
          </p:cNvPr>
          <p:cNvSpPr txBox="1"/>
          <p:nvPr/>
        </p:nvSpPr>
        <p:spPr>
          <a:xfrm>
            <a:off x="2011954" y="3111737"/>
            <a:ext cx="55446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采用</a:t>
            </a:r>
            <a:r>
              <a:rPr lang="en-US" altLang="zh-CN" sz="3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rear==MaxSize-1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作为队满条件，</a:t>
            </a:r>
            <a:r>
              <a:rPr lang="zh-CN" altLang="en-US" sz="3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溢出！</a:t>
            </a:r>
          </a:p>
        </p:txBody>
      </p:sp>
    </p:spTree>
    <p:extLst>
      <p:ext uri="{BB962C8B-B14F-4D97-AF65-F5344CB8AC3E}">
        <p14:creationId xmlns:p14="http://schemas.microsoft.com/office/powerpoint/2010/main" val="187184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 animBg="1"/>
      <p:bldP spid="21" grpId="0"/>
      <p:bldP spid="24" grpId="0"/>
      <p:bldP spid="25" grpId="0"/>
      <p:bldP spid="26" grpId="0"/>
      <p:bldP spid="27" grpId="0"/>
      <p:bldP spid="29" grpId="0"/>
      <p:bldP spid="11" grpId="0"/>
      <p:bldP spid="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966ED-0570-B929-ABDA-231D7F2BF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3EB600-B40B-9F15-A921-ADE79B1A6BD7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173A30-E2C5-ED96-C5D4-8DB97F73EFE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14B4FCD-79C9-A7B0-0DF2-3C058446F63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9E977FE-CA30-3381-3FF0-21422D6B0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446624"/>
              </p:ext>
            </p:extLst>
          </p:nvPr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3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9B1CDE95-DF98-B6C4-0F21-DA79635113EE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CE37580E-9AFF-99DF-3647-C01BB93C2B9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661" y="3075381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DE179A-5CC3-9B3E-1074-374803CFFD77}"/>
              </a:ext>
            </a:extLst>
          </p:cNvPr>
          <p:cNvSpPr txBox="1"/>
          <p:nvPr/>
        </p:nvSpPr>
        <p:spPr>
          <a:xfrm>
            <a:off x="9725006" y="249289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DCD8BF67-3D04-BB57-59AD-DD9CB83C18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51171" y="3851152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182251-AB43-5696-BA65-D792C3D14CED}"/>
              </a:ext>
            </a:extLst>
          </p:cNvPr>
          <p:cNvSpPr/>
          <p:nvPr/>
        </p:nvSpPr>
        <p:spPr>
          <a:xfrm>
            <a:off x="11205756" y="3599213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9C128CC-B45C-8B0B-9960-9C75B54DA042}"/>
              </a:ext>
            </a:extLst>
          </p:cNvPr>
          <p:cNvSpPr/>
          <p:nvPr/>
        </p:nvSpPr>
        <p:spPr>
          <a:xfrm>
            <a:off x="9537316" y="32595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0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11EA206-FCE0-F919-09ED-D300D57EF2A2}"/>
              </a:ext>
            </a:extLst>
          </p:cNvPr>
          <p:cNvSpPr/>
          <p:nvPr/>
        </p:nvSpPr>
        <p:spPr>
          <a:xfrm>
            <a:off x="9559396" y="3628872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1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62D6F9-818E-49C5-2F3D-0C8174FA6C34}"/>
              </a:ext>
            </a:extLst>
          </p:cNvPr>
          <p:cNvSpPr/>
          <p:nvPr/>
        </p:nvSpPr>
        <p:spPr>
          <a:xfrm>
            <a:off x="9570318" y="398253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2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B1D13C6-BCC3-FEAC-0383-38950D2A6977}"/>
              </a:ext>
            </a:extLst>
          </p:cNvPr>
          <p:cNvSpPr/>
          <p:nvPr/>
        </p:nvSpPr>
        <p:spPr>
          <a:xfrm>
            <a:off x="8695278" y="583487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MaxSize-1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0D59423-D2EE-A6DC-FF12-7A66326E487E}"/>
              </a:ext>
            </a:extLst>
          </p:cNvPr>
          <p:cNvSpPr/>
          <p:nvPr/>
        </p:nvSpPr>
        <p:spPr>
          <a:xfrm>
            <a:off x="9474486" y="4705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…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B2487A-8ABC-7180-7077-9782C7C2A713}"/>
              </a:ext>
            </a:extLst>
          </p:cNvPr>
          <p:cNvSpPr txBox="1"/>
          <p:nvPr/>
        </p:nvSpPr>
        <p:spPr>
          <a:xfrm>
            <a:off x="1559495" y="1983305"/>
            <a:ext cx="792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、环形队列（或循环队列）中实现队列的基本运算算法</a:t>
            </a:r>
          </a:p>
        </p:txBody>
      </p:sp>
      <p:sp>
        <p:nvSpPr>
          <p:cNvPr id="5" name="Text Box 18">
            <a:extLst>
              <a:ext uri="{FF2B5EF4-FFF2-40B4-BE49-F238E27FC236}">
                <a16:creationId xmlns:a16="http://schemas.microsoft.com/office/drawing/2014/main" id="{F41F6A64-4903-448E-A493-5E1CD127F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709" y="4925608"/>
            <a:ext cx="7921625" cy="125418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这是因为采用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rear==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MaxSize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-1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作为队满条件的缺陷。当队满条件为真时，队中可能还有若干空位置。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这种溢出并不是真正的溢出，称为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假溢出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pic>
        <p:nvPicPr>
          <p:cNvPr id="6" name="Picture 20" descr="u=2526405664,2876647245&amp;fm=23&amp;gp=0">
            <a:extLst>
              <a:ext uri="{FF2B5EF4-FFF2-40B4-BE49-F238E27FC236}">
                <a16:creationId xmlns:a16="http://schemas.microsoft.com/office/drawing/2014/main" id="{E208CB27-13C4-5F1A-53AE-0011295BF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81532" y="2396523"/>
            <a:ext cx="2823817" cy="2049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AutoShape 21">
            <a:extLst>
              <a:ext uri="{FF2B5EF4-FFF2-40B4-BE49-F238E27FC236}">
                <a16:creationId xmlns:a16="http://schemas.microsoft.com/office/drawing/2014/main" id="{F9BC3492-1A54-629A-9A77-02AB00501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881" y="2923962"/>
            <a:ext cx="2071703" cy="1160455"/>
          </a:xfrm>
          <a:prstGeom prst="wedgeEllipseCallout">
            <a:avLst>
              <a:gd name="adj1" fmla="val 82620"/>
              <a:gd name="adj2" fmla="val 13815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还有两个位置，为何不能进队？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231AA3-0DA9-A2C5-3061-14078E727072}"/>
              </a:ext>
            </a:extLst>
          </p:cNvPr>
          <p:cNvSpPr/>
          <p:nvPr/>
        </p:nvSpPr>
        <p:spPr>
          <a:xfrm>
            <a:off x="11278442" y="5902271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Line 29">
            <a:extLst>
              <a:ext uri="{FF2B5EF4-FFF2-40B4-BE49-F238E27FC236}">
                <a16:creationId xmlns:a16="http://schemas.microsoft.com/office/drawing/2014/main" id="{530C69E0-32BE-1B53-E68C-6E0D49042A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015415" y="6079852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52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 animBg="1"/>
      <p:bldP spid="21" grpId="0"/>
      <p:bldP spid="24" grpId="0"/>
      <p:bldP spid="25" grpId="0"/>
      <p:bldP spid="26" grpId="0"/>
      <p:bldP spid="27" grpId="0"/>
      <p:bldP spid="29" grpId="0"/>
      <p:bldP spid="5" grpId="0"/>
      <p:bldP spid="11" grpId="0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C1651-6A5B-832C-F899-87D517AB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16BC43C-57BC-F1DB-BF42-673B0A097EC9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64547F-39B2-4668-6526-1CA652B014E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E6BE37D-E247-CF80-43AD-491BF925808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39ED70C-8132-6607-4AD9-41E9BA0E9350}"/>
              </a:ext>
            </a:extLst>
          </p:cNvPr>
          <p:cNvGraphicFramePr>
            <a:graphicFrameLocks noGrp="1"/>
          </p:cNvGraphicFramePr>
          <p:nvPr/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3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D723D81C-7D7A-B503-4E86-115E9ED67E40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1C32D5CD-2E29-3B28-D333-D4D9B9962D7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661" y="3075381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AFC8F1-5954-352A-0EB1-932CE33B61C7}"/>
              </a:ext>
            </a:extLst>
          </p:cNvPr>
          <p:cNvSpPr txBox="1"/>
          <p:nvPr/>
        </p:nvSpPr>
        <p:spPr>
          <a:xfrm>
            <a:off x="9725006" y="249289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A3A8C453-A9B0-014A-906C-70A23ED4AE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78972" y="3845480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6604A8A-D252-C060-33AC-92011AF15B64}"/>
              </a:ext>
            </a:extLst>
          </p:cNvPr>
          <p:cNvSpPr/>
          <p:nvPr/>
        </p:nvSpPr>
        <p:spPr>
          <a:xfrm>
            <a:off x="11233557" y="3593541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DCA549-706A-56D2-7D93-F305129FFC27}"/>
              </a:ext>
            </a:extLst>
          </p:cNvPr>
          <p:cNvSpPr/>
          <p:nvPr/>
        </p:nvSpPr>
        <p:spPr>
          <a:xfrm>
            <a:off x="9537316" y="32595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0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EAA3BD-05EC-B477-553F-766F77B0DAFB}"/>
              </a:ext>
            </a:extLst>
          </p:cNvPr>
          <p:cNvSpPr/>
          <p:nvPr/>
        </p:nvSpPr>
        <p:spPr>
          <a:xfrm>
            <a:off x="9559396" y="3628872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1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B193DC2-9007-E18D-218D-199F7D8CD132}"/>
              </a:ext>
            </a:extLst>
          </p:cNvPr>
          <p:cNvSpPr/>
          <p:nvPr/>
        </p:nvSpPr>
        <p:spPr>
          <a:xfrm>
            <a:off x="9570318" y="398253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2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DDE5611-69E6-D25E-324E-D87979083F7C}"/>
              </a:ext>
            </a:extLst>
          </p:cNvPr>
          <p:cNvSpPr/>
          <p:nvPr/>
        </p:nvSpPr>
        <p:spPr>
          <a:xfrm>
            <a:off x="8695278" y="583487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MaxSize-1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2B261A-1BD5-29F5-CE70-35DEA68562FE}"/>
              </a:ext>
            </a:extLst>
          </p:cNvPr>
          <p:cNvSpPr/>
          <p:nvPr/>
        </p:nvSpPr>
        <p:spPr>
          <a:xfrm>
            <a:off x="9474486" y="4705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…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01BA57-42E3-4F8D-42E6-95311CBD9919}"/>
              </a:ext>
            </a:extLst>
          </p:cNvPr>
          <p:cNvSpPr txBox="1"/>
          <p:nvPr/>
        </p:nvSpPr>
        <p:spPr>
          <a:xfrm>
            <a:off x="1559495" y="1983305"/>
            <a:ext cx="792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、环形队列（或循环队列）中实现队列的基本运算算法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AC5AC0-390F-135C-326D-248180BB144D}"/>
              </a:ext>
            </a:extLst>
          </p:cNvPr>
          <p:cNvSpPr/>
          <p:nvPr/>
        </p:nvSpPr>
        <p:spPr>
          <a:xfrm>
            <a:off x="11278442" y="5902271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Line 29">
            <a:extLst>
              <a:ext uri="{FF2B5EF4-FFF2-40B4-BE49-F238E27FC236}">
                <a16:creationId xmlns:a16="http://schemas.microsoft.com/office/drawing/2014/main" id="{CC8BAE0A-8B0A-1DD7-2038-489CFFCDB9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015415" y="6079852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6BA27B02-FC71-D4F7-EF7F-16B4F2FA1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9534" y="3054855"/>
            <a:ext cx="6430607" cy="1211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  <a:spcBef>
                <a:spcPts val="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把数组的前端和后端连接起来，形成一个环形的顺序表，即把存储队列元素的表从逻辑上看成一个环，称为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环形队列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或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循环队列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59" name="Text Box 65">
            <a:extLst>
              <a:ext uri="{FF2B5EF4-FFF2-40B4-BE49-F238E27FC236}">
                <a16:creationId xmlns:a16="http://schemas.microsoft.com/office/drawing/2014/main" id="{49AC2E63-254F-1A92-05FE-5D31AC076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11" y="5081151"/>
            <a:ext cx="2701954" cy="101566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当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rear==MaxSize-1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时，下一步到位置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，可以进队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60" name="TextBox 42">
            <a:extLst>
              <a:ext uri="{FF2B5EF4-FFF2-40B4-BE49-F238E27FC236}">
                <a16:creationId xmlns:a16="http://schemas.microsoft.com/office/drawing/2014/main" id="{77A6165D-7F95-E337-23CF-0C29A11CB63B}"/>
              </a:ext>
            </a:extLst>
          </p:cNvPr>
          <p:cNvSpPr txBox="1"/>
          <p:nvPr/>
        </p:nvSpPr>
        <p:spPr>
          <a:xfrm>
            <a:off x="2084737" y="2519323"/>
            <a:ext cx="1368456" cy="40011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解决方案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1E03DA77-BEC2-3CD2-E8D8-D165D190C28D}"/>
              </a:ext>
            </a:extLst>
          </p:cNvPr>
          <p:cNvGrpSpPr/>
          <p:nvPr/>
        </p:nvGrpSpPr>
        <p:grpSpPr>
          <a:xfrm>
            <a:off x="3930443" y="4017081"/>
            <a:ext cx="2679245" cy="2724287"/>
            <a:chOff x="3750162" y="1361479"/>
            <a:chExt cx="4070986" cy="4908878"/>
          </a:xfrm>
        </p:grpSpPr>
        <p:sp>
          <p:nvSpPr>
            <p:cNvPr id="68" name="Line 29">
              <a:extLst>
                <a:ext uri="{FF2B5EF4-FFF2-40B4-BE49-F238E27FC236}">
                  <a16:creationId xmlns:a16="http://schemas.microsoft.com/office/drawing/2014/main" id="{0E105448-BBA0-565E-9234-9E4373DED1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37771" y="1950720"/>
              <a:ext cx="78377" cy="5279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0FE97BE5-B92E-9FC8-BF50-360EF094D70F}"/>
                </a:ext>
              </a:extLst>
            </p:cNvPr>
            <p:cNvSpPr/>
            <p:nvPr/>
          </p:nvSpPr>
          <p:spPr>
            <a:xfrm>
              <a:off x="5300918" y="1361479"/>
              <a:ext cx="1532534" cy="6696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b="1" dirty="0">
                  <a:latin typeface="Times New Roman" pitchFamily="18" charset="0"/>
                  <a:ea typeface="宋体" pitchFamily="2" charset="-122"/>
                </a:rPr>
                <a:t>Q-&gt;data</a:t>
              </a:r>
              <a:endParaRPr lang="zh-CN" altLang="en-US" b="1" dirty="0"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3C549D40-904F-096E-16E1-46B60CF14E34}"/>
                </a:ext>
              </a:extLst>
            </p:cNvPr>
            <p:cNvGrpSpPr/>
            <p:nvPr/>
          </p:nvGrpSpPr>
          <p:grpSpPr>
            <a:xfrm>
              <a:off x="3750162" y="1992539"/>
              <a:ext cx="4070986" cy="4277818"/>
              <a:chOff x="4478505" y="1983339"/>
              <a:chExt cx="4070986" cy="4277818"/>
            </a:xfrm>
          </p:grpSpPr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B37AEAE6-0D23-0AE8-43D9-D35996A98DAF}"/>
                  </a:ext>
                </a:extLst>
              </p:cNvPr>
              <p:cNvGrpSpPr/>
              <p:nvPr/>
            </p:nvGrpSpPr>
            <p:grpSpPr>
              <a:xfrm>
                <a:off x="4720046" y="2446900"/>
                <a:ext cx="3492137" cy="3492137"/>
                <a:chOff x="4720046" y="2446900"/>
                <a:chExt cx="3492137" cy="3492137"/>
              </a:xfrm>
            </p:grpSpPr>
            <p:sp>
              <p:nvSpPr>
                <p:cNvPr id="92" name="椭圆 91">
                  <a:extLst>
                    <a:ext uri="{FF2B5EF4-FFF2-40B4-BE49-F238E27FC236}">
                      <a16:creationId xmlns:a16="http://schemas.microsoft.com/office/drawing/2014/main" id="{0F3CFE4A-9F44-2CCF-3D66-E05ECC0056A7}"/>
                    </a:ext>
                  </a:extLst>
                </p:cNvPr>
                <p:cNvSpPr/>
                <p:nvPr/>
              </p:nvSpPr>
              <p:spPr>
                <a:xfrm>
                  <a:off x="4720046" y="2446900"/>
                  <a:ext cx="3492137" cy="349213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椭圆 92">
                  <a:extLst>
                    <a:ext uri="{FF2B5EF4-FFF2-40B4-BE49-F238E27FC236}">
                      <a16:creationId xmlns:a16="http://schemas.microsoft.com/office/drawing/2014/main" id="{20AF3075-72B8-0022-67B3-C56E5D7B1A92}"/>
                    </a:ext>
                  </a:extLst>
                </p:cNvPr>
                <p:cNvSpPr/>
                <p:nvPr/>
              </p:nvSpPr>
              <p:spPr>
                <a:xfrm>
                  <a:off x="5626799" y="3353653"/>
                  <a:ext cx="1678630" cy="167863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2" name="Line 29">
                <a:extLst>
                  <a:ext uri="{FF2B5EF4-FFF2-40B4-BE49-F238E27FC236}">
                    <a16:creationId xmlns:a16="http://schemas.microsoft.com/office/drawing/2014/main" id="{C1F87813-9371-40E0-A9A3-83C7F059F1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08021" y="2814521"/>
                <a:ext cx="609601" cy="6715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3" name="Line 29">
                <a:extLst>
                  <a:ext uri="{FF2B5EF4-FFF2-40B4-BE49-F238E27FC236}">
                    <a16:creationId xmlns:a16="http://schemas.microsoft.com/office/drawing/2014/main" id="{2AAEA202-1C6B-CE6F-CD9F-234F7D929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98623" y="2442973"/>
                <a:ext cx="0" cy="9280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4" name="Line 29">
                <a:extLst>
                  <a:ext uri="{FF2B5EF4-FFF2-40B4-BE49-F238E27FC236}">
                    <a16:creationId xmlns:a16="http://schemas.microsoft.com/office/drawing/2014/main" id="{6B9B3955-3E11-9E32-015B-3276E143A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66405" y="2643847"/>
                <a:ext cx="539023" cy="78344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5" name="Line 29">
                <a:extLst>
                  <a:ext uri="{FF2B5EF4-FFF2-40B4-BE49-F238E27FC236}">
                    <a16:creationId xmlns:a16="http://schemas.microsoft.com/office/drawing/2014/main" id="{EBECDF53-6C29-44C5-329B-75D8DE1AC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87477" y="4036213"/>
                <a:ext cx="9247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6" name="Line 29">
                <a:extLst>
                  <a:ext uri="{FF2B5EF4-FFF2-40B4-BE49-F238E27FC236}">
                    <a16:creationId xmlns:a16="http://schemas.microsoft.com/office/drawing/2014/main" id="{E6B08222-0C79-43C4-DE23-F936D6BAB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22868" y="5006846"/>
                <a:ext cx="0" cy="9067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7" name="Line 29">
                <a:extLst>
                  <a:ext uri="{FF2B5EF4-FFF2-40B4-BE49-F238E27FC236}">
                    <a16:creationId xmlns:a16="http://schemas.microsoft.com/office/drawing/2014/main" id="{A8848955-8889-7FBF-95E8-C94C7F640C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69024" y="4747563"/>
                <a:ext cx="618508" cy="5733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0C887D4F-C85F-69D4-FB5C-14687B360CA7}"/>
                  </a:ext>
                </a:extLst>
              </p:cNvPr>
              <p:cNvSpPr/>
              <p:nvPr/>
            </p:nvSpPr>
            <p:spPr>
              <a:xfrm>
                <a:off x="6828889" y="1983339"/>
                <a:ext cx="3000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0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79" name="Line 29">
                <a:extLst>
                  <a:ext uri="{FF2B5EF4-FFF2-40B4-BE49-F238E27FC236}">
                    <a16:creationId xmlns:a16="http://schemas.microsoft.com/office/drawing/2014/main" id="{3AFE50D1-3E53-9CD1-9E5A-98CD060BDC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27293" y="3232882"/>
                <a:ext cx="769704" cy="4168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24A950FC-8978-2EE0-A03F-E021496DD038}"/>
                  </a:ext>
                </a:extLst>
              </p:cNvPr>
              <p:cNvSpPr/>
              <p:nvPr/>
            </p:nvSpPr>
            <p:spPr>
              <a:xfrm>
                <a:off x="7698099" y="2545249"/>
                <a:ext cx="3000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1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E592077D-B470-B815-CEFC-FAC383C393A8}"/>
                  </a:ext>
                </a:extLst>
              </p:cNvPr>
              <p:cNvSpPr/>
              <p:nvPr/>
            </p:nvSpPr>
            <p:spPr>
              <a:xfrm>
                <a:off x="4478505" y="1988900"/>
                <a:ext cx="1644970" cy="6138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altLang="zh-CN" sz="1600" dirty="0">
                    <a:latin typeface="Times New Roman" pitchFamily="18" charset="0"/>
                    <a:ea typeface="宋体" pitchFamily="2" charset="-122"/>
                  </a:rPr>
                  <a:t>MaxSize-1</a:t>
                </a:r>
                <a:endParaRPr lang="zh-CN" altLang="en-US" sz="1600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55E322D5-5547-7B2C-BD16-E1108476ED08}"/>
                  </a:ext>
                </a:extLst>
              </p:cNvPr>
              <p:cNvSpPr/>
              <p:nvPr/>
            </p:nvSpPr>
            <p:spPr>
              <a:xfrm>
                <a:off x="4845858" y="4300551"/>
                <a:ext cx="6463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……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83" name="Line 29">
                <a:extLst>
                  <a:ext uri="{FF2B5EF4-FFF2-40B4-BE49-F238E27FC236}">
                    <a16:creationId xmlns:a16="http://schemas.microsoft.com/office/drawing/2014/main" id="{F32E730C-2DBC-9FA3-B2F1-458690C2A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87476" y="4451808"/>
                <a:ext cx="802786" cy="43370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0783AF3-B032-51B6-86C8-2C6D16BE1792}"/>
                  </a:ext>
                </a:extLst>
              </p:cNvPr>
              <p:cNvSpPr/>
              <p:nvPr/>
            </p:nvSpPr>
            <p:spPr>
              <a:xfrm>
                <a:off x="8159132" y="3353653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2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58F372A3-8781-D815-0CD2-147230F9E304}"/>
                  </a:ext>
                </a:extLst>
              </p:cNvPr>
              <p:cNvSpPr/>
              <p:nvPr/>
            </p:nvSpPr>
            <p:spPr>
              <a:xfrm>
                <a:off x="8249409" y="4317749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3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86" name="Line 29">
                <a:extLst>
                  <a:ext uri="{FF2B5EF4-FFF2-40B4-BE49-F238E27FC236}">
                    <a16:creationId xmlns:a16="http://schemas.microsoft.com/office/drawing/2014/main" id="{664406F4-577A-AB64-E045-A6EBF6D63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046" y="4192519"/>
                <a:ext cx="9023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87" name="Line 29">
                <a:extLst>
                  <a:ext uri="{FF2B5EF4-FFF2-40B4-BE49-F238E27FC236}">
                    <a16:creationId xmlns:a16="http://schemas.microsoft.com/office/drawing/2014/main" id="{29558AF0-41B4-4323-CD72-CBC3C8781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1634" y="3427294"/>
                <a:ext cx="818605" cy="36964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CB8D9309-D82E-565E-6288-E89B3F3C610A}"/>
                  </a:ext>
                </a:extLst>
              </p:cNvPr>
              <p:cNvSpPr/>
              <p:nvPr/>
            </p:nvSpPr>
            <p:spPr>
              <a:xfrm>
                <a:off x="5622401" y="5041255"/>
                <a:ext cx="6463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……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89" name="Line 29">
                <a:extLst>
                  <a:ext uri="{FF2B5EF4-FFF2-40B4-BE49-F238E27FC236}">
                    <a16:creationId xmlns:a16="http://schemas.microsoft.com/office/drawing/2014/main" id="{A94C1B8C-F36C-DBE5-CB25-A35E1D800D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035915" y="4783088"/>
                <a:ext cx="476230" cy="80850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9AE47257-D64D-8450-3E9D-EC72C2CAED79}"/>
                  </a:ext>
                </a:extLst>
              </p:cNvPr>
              <p:cNvSpPr/>
              <p:nvPr/>
            </p:nvSpPr>
            <p:spPr>
              <a:xfrm>
                <a:off x="7949327" y="5225921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4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664679CE-40A4-80D2-ED00-C7C17A419575}"/>
                  </a:ext>
                </a:extLst>
              </p:cNvPr>
              <p:cNvSpPr/>
              <p:nvPr/>
            </p:nvSpPr>
            <p:spPr>
              <a:xfrm>
                <a:off x="7128970" y="5891825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5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sp>
        <p:nvSpPr>
          <p:cNvPr id="95" name="文本框 94">
            <a:extLst>
              <a:ext uri="{FF2B5EF4-FFF2-40B4-BE49-F238E27FC236}">
                <a16:creationId xmlns:a16="http://schemas.microsoft.com/office/drawing/2014/main" id="{B7467DA4-EFE4-6998-A8A9-1AE0DA000C0B}"/>
              </a:ext>
            </a:extLst>
          </p:cNvPr>
          <p:cNvSpPr txBox="1"/>
          <p:nvPr/>
        </p:nvSpPr>
        <p:spPr>
          <a:xfrm>
            <a:off x="7355376" y="5008668"/>
            <a:ext cx="24336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当</a:t>
            </a:r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rear==MaxSize-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时，不能再进队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C767C328-E402-234F-0782-6A76622CA093}"/>
              </a:ext>
            </a:extLst>
          </p:cNvPr>
          <p:cNvSpPr/>
          <p:nvPr/>
        </p:nvSpPr>
        <p:spPr>
          <a:xfrm>
            <a:off x="3189666" y="4691934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7" name="Line 29">
            <a:extLst>
              <a:ext uri="{FF2B5EF4-FFF2-40B4-BE49-F238E27FC236}">
                <a16:creationId xmlns:a16="http://schemas.microsoft.com/office/drawing/2014/main" id="{99F858D2-AFE8-EF95-06AD-747FA7022E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58945" y="4720917"/>
            <a:ext cx="624332" cy="17704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Line 29">
            <a:extLst>
              <a:ext uri="{FF2B5EF4-FFF2-40B4-BE49-F238E27FC236}">
                <a16:creationId xmlns:a16="http://schemas.microsoft.com/office/drawing/2014/main" id="{B43B8F2E-41F0-7BB3-3782-873275BDAA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6978" y="4691935"/>
            <a:ext cx="237503" cy="13155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AF3234C-2D24-3B65-50D2-FE2D4E9395C1}"/>
              </a:ext>
            </a:extLst>
          </p:cNvPr>
          <p:cNvSpPr/>
          <p:nvPr/>
        </p:nvSpPr>
        <p:spPr>
          <a:xfrm>
            <a:off x="6116190" y="4375719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858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 animBg="1"/>
      <p:bldP spid="21" grpId="0"/>
      <p:bldP spid="24" grpId="0"/>
      <p:bldP spid="25" grpId="0"/>
      <p:bldP spid="26" grpId="0"/>
      <p:bldP spid="27" grpId="0"/>
      <p:bldP spid="29" grpId="0"/>
      <p:bldP spid="11" grpId="0"/>
      <p:bldP spid="12" grpId="0" animBg="1"/>
      <p:bldP spid="59" grpId="0"/>
      <p:bldP spid="96" grpId="0"/>
      <p:bldP spid="97" grpId="0" animBg="1"/>
      <p:bldP spid="98" grpId="0" animBg="1"/>
      <p:bldP spid="9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98B9B-D175-1663-BFB9-3DCAC7071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384D0E5-A488-77AE-86C3-14EAAD4FB830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E717FE-8182-C876-ACB9-16CA18E2CDD1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97A5585-D98F-60D8-4D0F-B400E860D66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CB6EDD6F-E068-C84B-166E-7FB4DAD088DA}"/>
              </a:ext>
            </a:extLst>
          </p:cNvPr>
          <p:cNvGraphicFramePr>
            <a:graphicFrameLocks noGrp="1"/>
          </p:cNvGraphicFramePr>
          <p:nvPr/>
        </p:nvGraphicFramePr>
        <p:xfrm>
          <a:off x="9889984" y="3228454"/>
          <a:ext cx="1094967" cy="302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3</a:t>
                      </a: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aseline="-25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</a:t>
                      </a:r>
                      <a:r>
                        <a:rPr lang="en-US" altLang="zh-CN" baseline="-250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CA4C6136-1615-1340-366B-64877D7276C8}"/>
              </a:ext>
            </a:extLst>
          </p:cNvPr>
          <p:cNvSpPr/>
          <p:nvPr/>
        </p:nvSpPr>
        <p:spPr>
          <a:xfrm>
            <a:off x="8624565" y="274240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q-&gt;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data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12276206-CC02-173F-416A-FC79348578B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661" y="3075381"/>
            <a:ext cx="689843" cy="1530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3E315F6-DD4A-8D98-15CC-2DFB51B10239}"/>
              </a:ext>
            </a:extLst>
          </p:cNvPr>
          <p:cNvSpPr txBox="1"/>
          <p:nvPr/>
        </p:nvSpPr>
        <p:spPr>
          <a:xfrm>
            <a:off x="9725006" y="2492896"/>
            <a:ext cx="1634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kumimoji="1" lang="en-US" altLang="zh-CN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 *q</a:t>
            </a:r>
            <a:r>
              <a:rPr kumimoji="1" lang="zh-CN" altLang="en-US" sz="1800" dirty="0">
                <a:latin typeface="Consolas" pitchFamily="49" charset="0"/>
                <a:ea typeface="仿宋" pitchFamily="49" charset="-122"/>
                <a:cs typeface="Consolas" pitchFamily="49" charset="0"/>
              </a:rPr>
              <a:t>；</a:t>
            </a:r>
            <a:endParaRPr lang="zh-CN" altLang="en-US" dirty="0"/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CEC11ADC-4DCC-543A-AFCA-D270C414F1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78972" y="3845480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79220E-709D-8248-CFAE-FD39D80A7712}"/>
              </a:ext>
            </a:extLst>
          </p:cNvPr>
          <p:cNvSpPr/>
          <p:nvPr/>
        </p:nvSpPr>
        <p:spPr>
          <a:xfrm>
            <a:off x="11233557" y="3593541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F795A6B-C518-609A-A221-FB1B1CE922D7}"/>
              </a:ext>
            </a:extLst>
          </p:cNvPr>
          <p:cNvSpPr/>
          <p:nvPr/>
        </p:nvSpPr>
        <p:spPr>
          <a:xfrm>
            <a:off x="9537316" y="325954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0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969725D-2E3F-3B54-141F-5A99E31F33C2}"/>
              </a:ext>
            </a:extLst>
          </p:cNvPr>
          <p:cNvSpPr/>
          <p:nvPr/>
        </p:nvSpPr>
        <p:spPr>
          <a:xfrm>
            <a:off x="9559396" y="3628872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1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9DE4D0-B32C-6B36-7A26-CAFE6CEE3CC2}"/>
              </a:ext>
            </a:extLst>
          </p:cNvPr>
          <p:cNvSpPr/>
          <p:nvPr/>
        </p:nvSpPr>
        <p:spPr>
          <a:xfrm>
            <a:off x="9570318" y="398253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2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197F4C7-199F-E28E-831D-6C5E9077C52C}"/>
              </a:ext>
            </a:extLst>
          </p:cNvPr>
          <p:cNvSpPr/>
          <p:nvPr/>
        </p:nvSpPr>
        <p:spPr>
          <a:xfrm>
            <a:off x="8695278" y="583487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MaxSize-1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007928D-BFB5-CC5C-F541-C548473C1979}"/>
              </a:ext>
            </a:extLst>
          </p:cNvPr>
          <p:cNvSpPr/>
          <p:nvPr/>
        </p:nvSpPr>
        <p:spPr>
          <a:xfrm>
            <a:off x="9474486" y="4705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…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DC6DC8-DC9B-67DA-01ED-0F60D45D487F}"/>
              </a:ext>
            </a:extLst>
          </p:cNvPr>
          <p:cNvSpPr txBox="1"/>
          <p:nvPr/>
        </p:nvSpPr>
        <p:spPr>
          <a:xfrm>
            <a:off x="1559495" y="1983305"/>
            <a:ext cx="792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、环形队列（或循环队列）中实现队列的基本运算算法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468507-BBA7-0A2D-AC00-0DFA2C640270}"/>
              </a:ext>
            </a:extLst>
          </p:cNvPr>
          <p:cNvSpPr/>
          <p:nvPr/>
        </p:nvSpPr>
        <p:spPr>
          <a:xfrm>
            <a:off x="11278442" y="5902271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Line 29">
            <a:extLst>
              <a:ext uri="{FF2B5EF4-FFF2-40B4-BE49-F238E27FC236}">
                <a16:creationId xmlns:a16="http://schemas.microsoft.com/office/drawing/2014/main" id="{62CB78CA-9BE8-4F90-23F4-12C799A9FA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015415" y="6079852"/>
            <a:ext cx="29947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TextBox 42">
            <a:extLst>
              <a:ext uri="{FF2B5EF4-FFF2-40B4-BE49-F238E27FC236}">
                <a16:creationId xmlns:a16="http://schemas.microsoft.com/office/drawing/2014/main" id="{6DBD7A39-9A29-B94B-212E-1E985D165EF8}"/>
              </a:ext>
            </a:extLst>
          </p:cNvPr>
          <p:cNvSpPr txBox="1"/>
          <p:nvPr/>
        </p:nvSpPr>
        <p:spPr>
          <a:xfrm>
            <a:off x="2084737" y="2519323"/>
            <a:ext cx="1368456" cy="40011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解决方案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31132EA0-7D10-2155-D022-68B5228DABBC}"/>
              </a:ext>
            </a:extLst>
          </p:cNvPr>
          <p:cNvGrpSpPr/>
          <p:nvPr/>
        </p:nvGrpSpPr>
        <p:grpSpPr>
          <a:xfrm>
            <a:off x="3930443" y="4017081"/>
            <a:ext cx="2679245" cy="2724287"/>
            <a:chOff x="3750162" y="1361479"/>
            <a:chExt cx="4070986" cy="4908878"/>
          </a:xfrm>
        </p:grpSpPr>
        <p:sp>
          <p:nvSpPr>
            <p:cNvPr id="68" name="Line 29">
              <a:extLst>
                <a:ext uri="{FF2B5EF4-FFF2-40B4-BE49-F238E27FC236}">
                  <a16:creationId xmlns:a16="http://schemas.microsoft.com/office/drawing/2014/main" id="{BB7E8B97-D0F5-5565-5443-8505A4B7E7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37771" y="1950720"/>
              <a:ext cx="78377" cy="5279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94CADF0A-D34C-082C-7C98-4E8999B585B3}"/>
                </a:ext>
              </a:extLst>
            </p:cNvPr>
            <p:cNvSpPr/>
            <p:nvPr/>
          </p:nvSpPr>
          <p:spPr>
            <a:xfrm>
              <a:off x="5300918" y="1361479"/>
              <a:ext cx="1532534" cy="6696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b="1" dirty="0">
                  <a:latin typeface="Times New Roman" pitchFamily="18" charset="0"/>
                  <a:ea typeface="宋体" pitchFamily="2" charset="-122"/>
                </a:rPr>
                <a:t>Q-&gt;data</a:t>
              </a:r>
              <a:endParaRPr lang="zh-CN" altLang="en-US" b="1" dirty="0"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B8CB0AD6-37C7-CF45-506D-5FC0445D9FAE}"/>
                </a:ext>
              </a:extLst>
            </p:cNvPr>
            <p:cNvGrpSpPr/>
            <p:nvPr/>
          </p:nvGrpSpPr>
          <p:grpSpPr>
            <a:xfrm>
              <a:off x="3750162" y="1992539"/>
              <a:ext cx="4070986" cy="4277818"/>
              <a:chOff x="4478505" y="1983339"/>
              <a:chExt cx="4070986" cy="4277818"/>
            </a:xfrm>
          </p:grpSpPr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A72AB79A-004B-FE1A-9CAB-095D93087C9A}"/>
                  </a:ext>
                </a:extLst>
              </p:cNvPr>
              <p:cNvGrpSpPr/>
              <p:nvPr/>
            </p:nvGrpSpPr>
            <p:grpSpPr>
              <a:xfrm>
                <a:off x="4720046" y="2446900"/>
                <a:ext cx="3492137" cy="3492137"/>
                <a:chOff x="4720046" y="2446900"/>
                <a:chExt cx="3492137" cy="3492137"/>
              </a:xfrm>
            </p:grpSpPr>
            <p:sp>
              <p:nvSpPr>
                <p:cNvPr id="92" name="椭圆 91">
                  <a:extLst>
                    <a:ext uri="{FF2B5EF4-FFF2-40B4-BE49-F238E27FC236}">
                      <a16:creationId xmlns:a16="http://schemas.microsoft.com/office/drawing/2014/main" id="{855A2EB5-40C7-E011-BA09-90BD8363F7A3}"/>
                    </a:ext>
                  </a:extLst>
                </p:cNvPr>
                <p:cNvSpPr/>
                <p:nvPr/>
              </p:nvSpPr>
              <p:spPr>
                <a:xfrm>
                  <a:off x="4720046" y="2446900"/>
                  <a:ext cx="3492137" cy="349213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椭圆 92">
                  <a:extLst>
                    <a:ext uri="{FF2B5EF4-FFF2-40B4-BE49-F238E27FC236}">
                      <a16:creationId xmlns:a16="http://schemas.microsoft.com/office/drawing/2014/main" id="{8F0DE2B0-19B4-5B7A-72BE-2AC0E97C15DD}"/>
                    </a:ext>
                  </a:extLst>
                </p:cNvPr>
                <p:cNvSpPr/>
                <p:nvPr/>
              </p:nvSpPr>
              <p:spPr>
                <a:xfrm>
                  <a:off x="5626799" y="3353653"/>
                  <a:ext cx="1678630" cy="167863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2" name="Line 29">
                <a:extLst>
                  <a:ext uri="{FF2B5EF4-FFF2-40B4-BE49-F238E27FC236}">
                    <a16:creationId xmlns:a16="http://schemas.microsoft.com/office/drawing/2014/main" id="{BAADA81E-1370-D6E8-91BF-B5647A848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08021" y="2814521"/>
                <a:ext cx="609601" cy="6715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3" name="Line 29">
                <a:extLst>
                  <a:ext uri="{FF2B5EF4-FFF2-40B4-BE49-F238E27FC236}">
                    <a16:creationId xmlns:a16="http://schemas.microsoft.com/office/drawing/2014/main" id="{F22E4E17-198F-E90D-11E6-877AD4400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98623" y="2442973"/>
                <a:ext cx="0" cy="9280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4" name="Line 29">
                <a:extLst>
                  <a:ext uri="{FF2B5EF4-FFF2-40B4-BE49-F238E27FC236}">
                    <a16:creationId xmlns:a16="http://schemas.microsoft.com/office/drawing/2014/main" id="{837C1200-E0D0-03EC-542F-6B9193F97A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66405" y="2643847"/>
                <a:ext cx="539023" cy="78344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5" name="Line 29">
                <a:extLst>
                  <a:ext uri="{FF2B5EF4-FFF2-40B4-BE49-F238E27FC236}">
                    <a16:creationId xmlns:a16="http://schemas.microsoft.com/office/drawing/2014/main" id="{5B5DD2D3-B4CF-C86E-1308-1970E517D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87477" y="4036213"/>
                <a:ext cx="9247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6" name="Line 29">
                <a:extLst>
                  <a:ext uri="{FF2B5EF4-FFF2-40B4-BE49-F238E27FC236}">
                    <a16:creationId xmlns:a16="http://schemas.microsoft.com/office/drawing/2014/main" id="{6D99516F-281F-3347-3EB8-103DA2F807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22868" y="5006846"/>
                <a:ext cx="0" cy="9067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7" name="Line 29">
                <a:extLst>
                  <a:ext uri="{FF2B5EF4-FFF2-40B4-BE49-F238E27FC236}">
                    <a16:creationId xmlns:a16="http://schemas.microsoft.com/office/drawing/2014/main" id="{3E7A0DA2-7AE8-A66B-EA87-4C852695C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69024" y="4747563"/>
                <a:ext cx="618508" cy="5733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AE2C0500-78C5-7FFA-D677-4C1F47191B4A}"/>
                  </a:ext>
                </a:extLst>
              </p:cNvPr>
              <p:cNvSpPr/>
              <p:nvPr/>
            </p:nvSpPr>
            <p:spPr>
              <a:xfrm>
                <a:off x="6828889" y="1983339"/>
                <a:ext cx="3000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0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79" name="Line 29">
                <a:extLst>
                  <a:ext uri="{FF2B5EF4-FFF2-40B4-BE49-F238E27FC236}">
                    <a16:creationId xmlns:a16="http://schemas.microsoft.com/office/drawing/2014/main" id="{DC7BAF8E-4A49-DD56-E8BE-1E46CA8B3A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27293" y="3232882"/>
                <a:ext cx="769704" cy="4168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ABBA6108-BD15-8BFB-4247-0FC2B2F45E98}"/>
                  </a:ext>
                </a:extLst>
              </p:cNvPr>
              <p:cNvSpPr/>
              <p:nvPr/>
            </p:nvSpPr>
            <p:spPr>
              <a:xfrm>
                <a:off x="7698099" y="2545249"/>
                <a:ext cx="3000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1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26EFA1F1-43F1-E18C-D14B-FB526D56BF91}"/>
                  </a:ext>
                </a:extLst>
              </p:cNvPr>
              <p:cNvSpPr/>
              <p:nvPr/>
            </p:nvSpPr>
            <p:spPr>
              <a:xfrm>
                <a:off x="4478505" y="1988900"/>
                <a:ext cx="1644970" cy="6138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altLang="zh-CN" sz="1600" dirty="0">
                    <a:latin typeface="Times New Roman" pitchFamily="18" charset="0"/>
                    <a:ea typeface="宋体" pitchFamily="2" charset="-122"/>
                  </a:rPr>
                  <a:t>MaxSize-1</a:t>
                </a:r>
                <a:endParaRPr lang="zh-CN" altLang="en-US" sz="1600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1BA4C1D5-A8F0-56CF-1C7F-F5F4E9429054}"/>
                  </a:ext>
                </a:extLst>
              </p:cNvPr>
              <p:cNvSpPr/>
              <p:nvPr/>
            </p:nvSpPr>
            <p:spPr>
              <a:xfrm>
                <a:off x="4845858" y="4300551"/>
                <a:ext cx="6463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……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83" name="Line 29">
                <a:extLst>
                  <a:ext uri="{FF2B5EF4-FFF2-40B4-BE49-F238E27FC236}">
                    <a16:creationId xmlns:a16="http://schemas.microsoft.com/office/drawing/2014/main" id="{F52C9567-EBE8-AADD-27C2-98E586526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87476" y="4451808"/>
                <a:ext cx="802786" cy="43370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1264473F-6867-E1E2-C624-5D3EAECBC1B3}"/>
                  </a:ext>
                </a:extLst>
              </p:cNvPr>
              <p:cNvSpPr/>
              <p:nvPr/>
            </p:nvSpPr>
            <p:spPr>
              <a:xfrm>
                <a:off x="8159132" y="3353653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2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CC2D8EFE-0F63-1451-9CB6-FCB6C0E0AA00}"/>
                  </a:ext>
                </a:extLst>
              </p:cNvPr>
              <p:cNvSpPr/>
              <p:nvPr/>
            </p:nvSpPr>
            <p:spPr>
              <a:xfrm>
                <a:off x="8249409" y="4317749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3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86" name="Line 29">
                <a:extLst>
                  <a:ext uri="{FF2B5EF4-FFF2-40B4-BE49-F238E27FC236}">
                    <a16:creationId xmlns:a16="http://schemas.microsoft.com/office/drawing/2014/main" id="{370DFDF1-C4FF-13EF-65F8-8E12ACC354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0046" y="4192519"/>
                <a:ext cx="9023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87" name="Line 29">
                <a:extLst>
                  <a:ext uri="{FF2B5EF4-FFF2-40B4-BE49-F238E27FC236}">
                    <a16:creationId xmlns:a16="http://schemas.microsoft.com/office/drawing/2014/main" id="{10D86BA2-609D-F0A0-E00E-E94666E89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1634" y="3427294"/>
                <a:ext cx="818605" cy="36964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4958B132-960A-5F02-46B4-CF801ACB6EAD}"/>
                  </a:ext>
                </a:extLst>
              </p:cNvPr>
              <p:cNvSpPr/>
              <p:nvPr/>
            </p:nvSpPr>
            <p:spPr>
              <a:xfrm>
                <a:off x="5622401" y="5041255"/>
                <a:ext cx="6463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……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89" name="Line 29">
                <a:extLst>
                  <a:ext uri="{FF2B5EF4-FFF2-40B4-BE49-F238E27FC236}">
                    <a16:creationId xmlns:a16="http://schemas.microsoft.com/office/drawing/2014/main" id="{BF1F92F3-8AC3-EC0D-AADB-D06301E67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035915" y="4783088"/>
                <a:ext cx="476230" cy="80850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D62C19FD-AF8F-851E-8C3A-0BB0AC545E1D}"/>
                  </a:ext>
                </a:extLst>
              </p:cNvPr>
              <p:cNvSpPr/>
              <p:nvPr/>
            </p:nvSpPr>
            <p:spPr>
              <a:xfrm>
                <a:off x="7949327" y="5225921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4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2F3B1A9-CCE7-485E-D2A4-85D0DA551EFB}"/>
                  </a:ext>
                </a:extLst>
              </p:cNvPr>
              <p:cNvSpPr/>
              <p:nvPr/>
            </p:nvSpPr>
            <p:spPr>
              <a:xfrm>
                <a:off x="7128970" y="5891825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b="1" dirty="0">
                    <a:latin typeface="Times New Roman" pitchFamily="18" charset="0"/>
                    <a:ea typeface="宋体" pitchFamily="2" charset="-122"/>
                  </a:rPr>
                  <a:t>5</a:t>
                </a:r>
                <a:endParaRPr lang="zh-CN" altLang="en-US" b="1" dirty="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sp>
        <p:nvSpPr>
          <p:cNvPr id="96" name="矩形 95">
            <a:extLst>
              <a:ext uri="{FF2B5EF4-FFF2-40B4-BE49-F238E27FC236}">
                <a16:creationId xmlns:a16="http://schemas.microsoft.com/office/drawing/2014/main" id="{306C0CD7-CDF4-350E-DAAE-996BDAC10D81}"/>
              </a:ext>
            </a:extLst>
          </p:cNvPr>
          <p:cNvSpPr/>
          <p:nvPr/>
        </p:nvSpPr>
        <p:spPr>
          <a:xfrm>
            <a:off x="3189666" y="4691934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rear</a:t>
            </a:r>
            <a:endParaRPr lang="zh-CN" altLang="en-US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7" name="Line 29">
            <a:extLst>
              <a:ext uri="{FF2B5EF4-FFF2-40B4-BE49-F238E27FC236}">
                <a16:creationId xmlns:a16="http://schemas.microsoft.com/office/drawing/2014/main" id="{4BAD88C0-73B7-6D9B-6B26-11F8EC7AC3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58945" y="4720917"/>
            <a:ext cx="624332" cy="17704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Line 29">
            <a:extLst>
              <a:ext uri="{FF2B5EF4-FFF2-40B4-BE49-F238E27FC236}">
                <a16:creationId xmlns:a16="http://schemas.microsoft.com/office/drawing/2014/main" id="{98213913-B38B-F37A-FAF6-DE7D20E602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6978" y="4691935"/>
            <a:ext cx="237503" cy="13155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BCE8C61-53F0-FC99-9579-28E0231EF2FC}"/>
              </a:ext>
            </a:extLst>
          </p:cNvPr>
          <p:cNvSpPr/>
          <p:nvPr/>
        </p:nvSpPr>
        <p:spPr>
          <a:xfrm>
            <a:off x="6116190" y="4375719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latin typeface="Times New Roman" pitchFamily="18" charset="0"/>
              </a:rPr>
              <a:t>q-&gt;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front</a:t>
            </a:r>
            <a:endParaRPr lang="zh-CN" altLang="en-US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669C3D-01BE-B0D0-5F56-95DF4D8FA364}"/>
              </a:ext>
            </a:extLst>
          </p:cNvPr>
          <p:cNvSpPr txBox="1"/>
          <p:nvPr/>
        </p:nvSpPr>
        <p:spPr>
          <a:xfrm>
            <a:off x="2040680" y="3059740"/>
            <a:ext cx="61566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实际上内存地址一定是连续的，不可能是环形的，这里是通过逻辑方式实现环形队列，也就是将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rear++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front++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改为：</a:t>
            </a:r>
          </a:p>
        </p:txBody>
      </p:sp>
      <p:sp>
        <p:nvSpPr>
          <p:cNvPr id="8" name="Text Box 25">
            <a:extLst>
              <a:ext uri="{FF2B5EF4-FFF2-40B4-BE49-F238E27FC236}">
                <a16:creationId xmlns:a16="http://schemas.microsoft.com/office/drawing/2014/main" id="{6AE6F2BC-4B8F-1F1E-572D-863A6F3FE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56" y="5309321"/>
            <a:ext cx="3622300" cy="987551"/>
          </a:xfrm>
          <a:prstGeom prst="rect">
            <a:avLst/>
          </a:prstGeom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rear=(rear+1)%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MaxSize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front=(front+1)%</a:t>
            </a:r>
            <a:r>
              <a:rPr lang="en-US" altLang="zh-CN" sz="2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MaxSize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365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 animBg="1"/>
      <p:bldP spid="21" grpId="0"/>
      <p:bldP spid="24" grpId="0"/>
      <p:bldP spid="25" grpId="0"/>
      <p:bldP spid="26" grpId="0"/>
      <p:bldP spid="27" grpId="0"/>
      <p:bldP spid="29" grpId="0"/>
      <p:bldP spid="11" grpId="0"/>
      <p:bldP spid="12" grpId="0" animBg="1"/>
      <p:bldP spid="96" grpId="0"/>
      <p:bldP spid="97" grpId="0" animBg="1"/>
      <p:bldP spid="98" grpId="0" animBg="1"/>
      <p:bldP spid="9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534E0-6458-C918-BC20-78F6D539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3459AD-2CEE-41E0-AC8D-EACC4A54CE17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CFAE4E-F0E6-23A8-2241-61FF007ED82A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27AF81F-45AC-2846-78DE-A749EB70394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3F1A7DB-4492-E426-258D-A643E8B19FD4}"/>
              </a:ext>
            </a:extLst>
          </p:cNvPr>
          <p:cNvSpPr txBox="1"/>
          <p:nvPr/>
        </p:nvSpPr>
        <p:spPr>
          <a:xfrm>
            <a:off x="1559495" y="1983305"/>
            <a:ext cx="792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、环形队列（或循环队列）中实现队列的基本运算算法</a:t>
            </a:r>
          </a:p>
        </p:txBody>
      </p:sp>
      <p:grpSp>
        <p:nvGrpSpPr>
          <p:cNvPr id="5" name="组合 74">
            <a:extLst>
              <a:ext uri="{FF2B5EF4-FFF2-40B4-BE49-F238E27FC236}">
                <a16:creationId xmlns:a16="http://schemas.microsoft.com/office/drawing/2014/main" id="{EADB2620-22DA-C1E5-38A1-D77DDE843511}"/>
              </a:ext>
            </a:extLst>
          </p:cNvPr>
          <p:cNvGrpSpPr/>
          <p:nvPr/>
        </p:nvGrpSpPr>
        <p:grpSpPr>
          <a:xfrm>
            <a:off x="300958" y="3087618"/>
            <a:ext cx="2811009" cy="2672113"/>
            <a:chOff x="703263" y="122238"/>
            <a:chExt cx="3399695" cy="2976103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BAF9201D-C47D-DBD7-801E-26AC355FD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475" y="601663"/>
              <a:ext cx="1223963" cy="1152525"/>
            </a:xfrm>
            <a:prstGeom prst="ellipse">
              <a:avLst/>
            </a:prstGeom>
            <a:solidFill>
              <a:schemeClr val="accent1"/>
            </a:solidFill>
            <a:ln w="38100" algn="ctr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6281D9A7-7291-E621-A241-1A522FF16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263" y="122238"/>
              <a:ext cx="2303462" cy="2087562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38100" algn="ctr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D87837B7-40A6-C763-6DD3-F79F17D7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000" y="1466850"/>
              <a:ext cx="431800" cy="269875"/>
            </a:xfrm>
            <a:custGeom>
              <a:avLst/>
              <a:gdLst>
                <a:gd name="T0" fmla="*/ 0 w 272"/>
                <a:gd name="T1" fmla="*/ 0 h 170"/>
                <a:gd name="T2" fmla="*/ 272 w 272"/>
                <a:gd name="T3" fmla="*/ 170 h 170"/>
                <a:gd name="T4" fmla="*/ 0 60000 65536"/>
                <a:gd name="T5" fmla="*/ 0 60000 65536"/>
                <a:gd name="T6" fmla="*/ 0 w 272"/>
                <a:gd name="T7" fmla="*/ 0 h 170"/>
                <a:gd name="T8" fmla="*/ 272 w 272"/>
                <a:gd name="T9" fmla="*/ 170 h 1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70">
                  <a:moveTo>
                    <a:pt x="0" y="0"/>
                  </a:moveTo>
                  <a:lnTo>
                    <a:pt x="272" y="17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D460CB4B-301E-2540-FA09-70512054E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450" y="419100"/>
              <a:ext cx="330200" cy="358775"/>
            </a:xfrm>
            <a:custGeom>
              <a:avLst/>
              <a:gdLst>
                <a:gd name="T0" fmla="*/ 0 w 208"/>
                <a:gd name="T1" fmla="*/ 226 h 226"/>
                <a:gd name="T2" fmla="*/ 208 w 208"/>
                <a:gd name="T3" fmla="*/ 0 h 226"/>
                <a:gd name="T4" fmla="*/ 0 60000 65536"/>
                <a:gd name="T5" fmla="*/ 0 60000 65536"/>
                <a:gd name="T6" fmla="*/ 0 w 208"/>
                <a:gd name="T7" fmla="*/ 0 h 226"/>
                <a:gd name="T8" fmla="*/ 208 w 208"/>
                <a:gd name="T9" fmla="*/ 226 h 2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8" h="226">
                  <a:moveTo>
                    <a:pt x="0" y="226"/>
                  </a:moveTo>
                  <a:lnTo>
                    <a:pt x="208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DD896E16-06A3-43B9-D0BD-92CB02380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1913" y="242888"/>
              <a:ext cx="261937" cy="427037"/>
            </a:xfrm>
            <a:custGeom>
              <a:avLst/>
              <a:gdLst>
                <a:gd name="T0" fmla="*/ 0 w 165"/>
                <a:gd name="T1" fmla="*/ 0 h 269"/>
                <a:gd name="T2" fmla="*/ 165 w 165"/>
                <a:gd name="T3" fmla="*/ 269 h 269"/>
                <a:gd name="T4" fmla="*/ 0 60000 65536"/>
                <a:gd name="T5" fmla="*/ 0 60000 65536"/>
                <a:gd name="T6" fmla="*/ 0 w 165"/>
                <a:gd name="T7" fmla="*/ 0 h 269"/>
                <a:gd name="T8" fmla="*/ 165 w 165"/>
                <a:gd name="T9" fmla="*/ 269 h 2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5" h="269">
                  <a:moveTo>
                    <a:pt x="0" y="0"/>
                  </a:moveTo>
                  <a:lnTo>
                    <a:pt x="165" y="269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167AB56E-4FD3-1396-DDAE-EA8EF421A8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2275" y="1754188"/>
              <a:ext cx="73025" cy="4318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7A4719B-7728-65CE-DA47-A310F2835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200" y="1250950"/>
              <a:ext cx="549275" cy="155575"/>
            </a:xfrm>
            <a:custGeom>
              <a:avLst/>
              <a:gdLst>
                <a:gd name="T0" fmla="*/ 0 w 346"/>
                <a:gd name="T1" fmla="*/ 98 h 98"/>
                <a:gd name="T2" fmla="*/ 346 w 346"/>
                <a:gd name="T3" fmla="*/ 0 h 98"/>
                <a:gd name="T4" fmla="*/ 0 60000 65536"/>
                <a:gd name="T5" fmla="*/ 0 60000 65536"/>
                <a:gd name="T6" fmla="*/ 0 w 346"/>
                <a:gd name="T7" fmla="*/ 0 h 98"/>
                <a:gd name="T8" fmla="*/ 346 w 346"/>
                <a:gd name="T9" fmla="*/ 98 h 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6" h="98">
                  <a:moveTo>
                    <a:pt x="0" y="98"/>
                  </a:moveTo>
                  <a:lnTo>
                    <a:pt x="34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8" name="Text Box 11">
              <a:extLst>
                <a:ext uri="{FF2B5EF4-FFF2-40B4-BE49-F238E27FC236}">
                  <a16:creationId xmlns:a16="http://schemas.microsoft.com/office/drawing/2014/main" id="{7B4080CD-D294-2302-51C9-2EAFDDFF1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2150" y="1347788"/>
              <a:ext cx="287338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30" name="Text Box 12">
              <a:extLst>
                <a:ext uri="{FF2B5EF4-FFF2-40B4-BE49-F238E27FC236}">
                  <a16:creationId xmlns:a16="http://schemas.microsoft.com/office/drawing/2014/main" id="{B964AB0D-849E-5151-CFDB-D4771BBDE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9475" y="923925"/>
              <a:ext cx="287338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31" name="Text Box 13">
              <a:extLst>
                <a:ext uri="{FF2B5EF4-FFF2-40B4-BE49-F238E27FC236}">
                  <a16:creationId xmlns:a16="http://schemas.microsoft.com/office/drawing/2014/main" id="{FFE43447-2BCD-B311-CDE7-93A9F9D56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5300" y="601663"/>
              <a:ext cx="287338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32" name="Text Box 14">
              <a:extLst>
                <a:ext uri="{FF2B5EF4-FFF2-40B4-BE49-F238E27FC236}">
                  <a16:creationId xmlns:a16="http://schemas.microsoft.com/office/drawing/2014/main" id="{9DBEF5F4-7805-B675-4B75-37407F541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913" y="819150"/>
              <a:ext cx="287337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33" name="Text Box 15">
              <a:extLst>
                <a:ext uri="{FF2B5EF4-FFF2-40B4-BE49-F238E27FC236}">
                  <a16:creationId xmlns:a16="http://schemas.microsoft.com/office/drawing/2014/main" id="{CA3C7CAE-68FA-5EED-E1DE-BD22F7A6B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4938" y="1250950"/>
              <a:ext cx="287337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34" name="Line 16">
              <a:extLst>
                <a:ext uri="{FF2B5EF4-FFF2-40B4-BE49-F238E27FC236}">
                  <a16:creationId xmlns:a16="http://schemas.microsoft.com/office/drawing/2014/main" id="{45BB8BF8-F261-5C88-5A89-C8083CC01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57463" y="1970088"/>
              <a:ext cx="215900" cy="215900"/>
            </a:xfrm>
            <a:prstGeom prst="line">
              <a:avLst/>
            </a:pr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5" name="Text Box 17">
              <a:extLst>
                <a:ext uri="{FF2B5EF4-FFF2-40B4-BE49-F238E27FC236}">
                  <a16:creationId xmlns:a16="http://schemas.microsoft.com/office/drawing/2014/main" id="{28E251FA-787E-D37E-F835-D997E4CF1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1533" y="2043113"/>
              <a:ext cx="1241425" cy="30851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Consolas" pitchFamily="49" charset="0"/>
                  <a:cs typeface="Consolas" pitchFamily="49" charset="0"/>
                </a:rPr>
                <a:t>q-&gt;</a:t>
              </a:r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front</a:t>
              </a:r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45AE896B-3FB2-0E97-6C8C-CACB0F60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625" y="2106613"/>
              <a:ext cx="203200" cy="317500"/>
            </a:xfrm>
            <a:custGeom>
              <a:avLst/>
              <a:gdLst>
                <a:gd name="T0" fmla="*/ 128 w 128"/>
                <a:gd name="T1" fmla="*/ 200 h 200"/>
                <a:gd name="T2" fmla="*/ 0 w 128"/>
                <a:gd name="T3" fmla="*/ 0 h 200"/>
                <a:gd name="T4" fmla="*/ 0 60000 65536"/>
                <a:gd name="T5" fmla="*/ 0 60000 65536"/>
                <a:gd name="T6" fmla="*/ 0 w 128"/>
                <a:gd name="T7" fmla="*/ 0 h 200"/>
                <a:gd name="T8" fmla="*/ 128 w 128"/>
                <a:gd name="T9" fmla="*/ 200 h 2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8" h="200">
                  <a:moveTo>
                    <a:pt x="128" y="2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7" name="Text Box 23">
              <a:extLst>
                <a:ext uri="{FF2B5EF4-FFF2-40B4-BE49-F238E27FC236}">
                  <a16:creationId xmlns:a16="http://schemas.microsoft.com/office/drawing/2014/main" id="{F0FE98D3-9B9F-8987-5B55-49A8F60DE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5300" y="2347912"/>
              <a:ext cx="1152524" cy="30851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Consolas" pitchFamily="49" charset="0"/>
                  <a:cs typeface="Consolas" pitchFamily="49" charset="0"/>
                </a:rPr>
                <a:t>q-&gt;</a:t>
              </a:r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rear</a:t>
              </a:r>
            </a:p>
          </p:txBody>
        </p:sp>
        <p:sp>
          <p:nvSpPr>
            <p:cNvPr id="38" name="Text Box 44">
              <a:extLst>
                <a:ext uri="{FF2B5EF4-FFF2-40B4-BE49-F238E27FC236}">
                  <a16:creationId xmlns:a16="http://schemas.microsoft.com/office/drawing/2014/main" id="{5C014147-0438-9B5B-366D-922B74E44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3138" y="2652713"/>
              <a:ext cx="1727200" cy="44562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（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a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）空队</a:t>
              </a:r>
            </a:p>
          </p:txBody>
        </p:sp>
      </p:grpSp>
      <p:grpSp>
        <p:nvGrpSpPr>
          <p:cNvPr id="39" name="组合 75">
            <a:extLst>
              <a:ext uri="{FF2B5EF4-FFF2-40B4-BE49-F238E27FC236}">
                <a16:creationId xmlns:a16="http://schemas.microsoft.com/office/drawing/2014/main" id="{74CA167E-8ED4-3C0A-CB52-27344A8ED3D1}"/>
              </a:ext>
            </a:extLst>
          </p:cNvPr>
          <p:cNvGrpSpPr/>
          <p:nvPr/>
        </p:nvGrpSpPr>
        <p:grpSpPr>
          <a:xfrm>
            <a:off x="2688567" y="3136340"/>
            <a:ext cx="3331944" cy="2608442"/>
            <a:chOff x="3909972" y="115888"/>
            <a:chExt cx="3968214" cy="2996452"/>
          </a:xfrm>
        </p:grpSpPr>
        <p:sp>
          <p:nvSpPr>
            <p:cNvPr id="40" name="Oval 24">
              <a:extLst>
                <a:ext uri="{FF2B5EF4-FFF2-40B4-BE49-F238E27FC236}">
                  <a16:creationId xmlns:a16="http://schemas.microsoft.com/office/drawing/2014/main" id="{43CF27A9-0DA6-CFD9-A247-A2B8FBAFA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38" y="595313"/>
              <a:ext cx="1223962" cy="1152525"/>
            </a:xfrm>
            <a:prstGeom prst="ellipse">
              <a:avLst/>
            </a:prstGeom>
            <a:solidFill>
              <a:schemeClr val="accent1"/>
            </a:solidFill>
            <a:ln w="38100" algn="ctr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1" name="Oval 25">
              <a:extLst>
                <a:ext uri="{FF2B5EF4-FFF2-40B4-BE49-F238E27FC236}">
                  <a16:creationId xmlns:a16="http://schemas.microsoft.com/office/drawing/2014/main" id="{01447DAA-38A1-9FB0-4A9B-E556344BE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3925" y="115888"/>
              <a:ext cx="2303463" cy="2087562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38100" algn="ctr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4EC9AAC9-E465-658E-DE59-8D53EBB59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3663" y="1460500"/>
              <a:ext cx="431800" cy="269875"/>
            </a:xfrm>
            <a:custGeom>
              <a:avLst/>
              <a:gdLst>
                <a:gd name="T0" fmla="*/ 0 w 272"/>
                <a:gd name="T1" fmla="*/ 0 h 170"/>
                <a:gd name="T2" fmla="*/ 272 w 272"/>
                <a:gd name="T3" fmla="*/ 170 h 170"/>
                <a:gd name="T4" fmla="*/ 0 60000 65536"/>
                <a:gd name="T5" fmla="*/ 0 60000 65536"/>
                <a:gd name="T6" fmla="*/ 0 w 272"/>
                <a:gd name="T7" fmla="*/ 0 h 170"/>
                <a:gd name="T8" fmla="*/ 272 w 272"/>
                <a:gd name="T9" fmla="*/ 170 h 1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70">
                  <a:moveTo>
                    <a:pt x="0" y="0"/>
                  </a:moveTo>
                  <a:lnTo>
                    <a:pt x="272" y="17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DB7FC076-FC85-F500-9FCB-724C9A8FA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412750"/>
              <a:ext cx="330200" cy="358775"/>
            </a:xfrm>
            <a:custGeom>
              <a:avLst/>
              <a:gdLst>
                <a:gd name="T0" fmla="*/ 0 w 208"/>
                <a:gd name="T1" fmla="*/ 226 h 226"/>
                <a:gd name="T2" fmla="*/ 208 w 208"/>
                <a:gd name="T3" fmla="*/ 0 h 226"/>
                <a:gd name="T4" fmla="*/ 0 60000 65536"/>
                <a:gd name="T5" fmla="*/ 0 60000 65536"/>
                <a:gd name="T6" fmla="*/ 0 w 208"/>
                <a:gd name="T7" fmla="*/ 0 h 226"/>
                <a:gd name="T8" fmla="*/ 208 w 208"/>
                <a:gd name="T9" fmla="*/ 226 h 2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8" h="226">
                  <a:moveTo>
                    <a:pt x="0" y="226"/>
                  </a:moveTo>
                  <a:lnTo>
                    <a:pt x="208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D79B8B00-8F3A-DE4E-982E-766C21664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2575" y="236538"/>
              <a:ext cx="261938" cy="427037"/>
            </a:xfrm>
            <a:custGeom>
              <a:avLst/>
              <a:gdLst>
                <a:gd name="T0" fmla="*/ 0 w 165"/>
                <a:gd name="T1" fmla="*/ 0 h 269"/>
                <a:gd name="T2" fmla="*/ 165 w 165"/>
                <a:gd name="T3" fmla="*/ 269 h 269"/>
                <a:gd name="T4" fmla="*/ 0 60000 65536"/>
                <a:gd name="T5" fmla="*/ 0 60000 65536"/>
                <a:gd name="T6" fmla="*/ 0 w 165"/>
                <a:gd name="T7" fmla="*/ 0 h 269"/>
                <a:gd name="T8" fmla="*/ 165 w 165"/>
                <a:gd name="T9" fmla="*/ 269 h 2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5" h="269">
                  <a:moveTo>
                    <a:pt x="0" y="0"/>
                  </a:moveTo>
                  <a:lnTo>
                    <a:pt x="165" y="269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5" name="Line 29">
              <a:extLst>
                <a:ext uri="{FF2B5EF4-FFF2-40B4-BE49-F238E27FC236}">
                  <a16:creationId xmlns:a16="http://schemas.microsoft.com/office/drawing/2014/main" id="{81AC95F0-2F05-0C3E-7C78-0D07BE07CA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22938" y="1747838"/>
              <a:ext cx="73025" cy="4318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8B3362CF-E25A-A4EE-C2C0-802A96AB1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1863" y="1244600"/>
              <a:ext cx="549275" cy="155575"/>
            </a:xfrm>
            <a:custGeom>
              <a:avLst/>
              <a:gdLst>
                <a:gd name="T0" fmla="*/ 0 w 346"/>
                <a:gd name="T1" fmla="*/ 98 h 98"/>
                <a:gd name="T2" fmla="*/ 346 w 346"/>
                <a:gd name="T3" fmla="*/ 0 h 98"/>
                <a:gd name="T4" fmla="*/ 0 60000 65536"/>
                <a:gd name="T5" fmla="*/ 0 60000 65536"/>
                <a:gd name="T6" fmla="*/ 0 w 346"/>
                <a:gd name="T7" fmla="*/ 0 h 98"/>
                <a:gd name="T8" fmla="*/ 346 w 346"/>
                <a:gd name="T9" fmla="*/ 98 h 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6" h="98">
                  <a:moveTo>
                    <a:pt x="0" y="98"/>
                  </a:moveTo>
                  <a:lnTo>
                    <a:pt x="34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7" name="Text Box 31">
              <a:extLst>
                <a:ext uri="{FF2B5EF4-FFF2-40B4-BE49-F238E27FC236}">
                  <a16:creationId xmlns:a16="http://schemas.microsoft.com/office/drawing/2014/main" id="{0F11A077-DEB9-6EE1-BA39-A8F1220CC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2813" y="1341438"/>
              <a:ext cx="287337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48" name="Text Box 32">
              <a:extLst>
                <a:ext uri="{FF2B5EF4-FFF2-40B4-BE49-F238E27FC236}">
                  <a16:creationId xmlns:a16="http://schemas.microsoft.com/office/drawing/2014/main" id="{75B5FEB2-76AF-9F77-B1A6-53AA1906A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0138" y="917575"/>
              <a:ext cx="287337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49" name="Text Box 33">
              <a:extLst>
                <a:ext uri="{FF2B5EF4-FFF2-40B4-BE49-F238E27FC236}">
                  <a16:creationId xmlns:a16="http://schemas.microsoft.com/office/drawing/2014/main" id="{EA88C3E4-E3A1-FAE2-EE73-D9F5F0431F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5963" y="595313"/>
              <a:ext cx="287337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50" name="Text Box 34">
              <a:extLst>
                <a:ext uri="{FF2B5EF4-FFF2-40B4-BE49-F238E27FC236}">
                  <a16:creationId xmlns:a16="http://schemas.microsoft.com/office/drawing/2014/main" id="{0A0C8F4F-ABF0-EF31-348F-E484D2EE5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2575" y="812800"/>
              <a:ext cx="287338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51" name="Text Box 35">
              <a:extLst>
                <a:ext uri="{FF2B5EF4-FFF2-40B4-BE49-F238E27FC236}">
                  <a16:creationId xmlns:a16="http://schemas.microsoft.com/office/drawing/2014/main" id="{BC87A0E9-F502-5D58-B7C4-70C9ACB2B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5600" y="1282700"/>
              <a:ext cx="287338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52" name="Line 36">
              <a:extLst>
                <a:ext uri="{FF2B5EF4-FFF2-40B4-BE49-F238E27FC236}">
                  <a16:creationId xmlns:a16="http://schemas.microsoft.com/office/drawing/2014/main" id="{EECD941B-D90A-71FF-D7E2-208AC3AD97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1963738"/>
              <a:ext cx="215900" cy="215900"/>
            </a:xfrm>
            <a:prstGeom prst="line">
              <a:avLst/>
            </a:pr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3" name="Text Box 37">
              <a:extLst>
                <a:ext uri="{FF2B5EF4-FFF2-40B4-BE49-F238E27FC236}">
                  <a16:creationId xmlns:a16="http://schemas.microsoft.com/office/drawing/2014/main" id="{D6437276-6347-4ECC-4847-57B99C81B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6559" y="2188744"/>
              <a:ext cx="1231627" cy="31820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q-&gt;front</a:t>
              </a:r>
            </a:p>
          </p:txBody>
        </p:sp>
        <p:sp>
          <p:nvSpPr>
            <p:cNvPr id="54" name="Text Box 38">
              <a:extLst>
                <a:ext uri="{FF2B5EF4-FFF2-40B4-BE49-F238E27FC236}">
                  <a16:creationId xmlns:a16="http://schemas.microsoft.com/office/drawing/2014/main" id="{675C5A38-9E2C-90ED-0C1B-070551E23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25" y="884238"/>
              <a:ext cx="287338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a</a:t>
              </a:r>
            </a:p>
          </p:txBody>
        </p:sp>
        <p:sp>
          <p:nvSpPr>
            <p:cNvPr id="55" name="Text Box 39">
              <a:extLst>
                <a:ext uri="{FF2B5EF4-FFF2-40B4-BE49-F238E27FC236}">
                  <a16:creationId xmlns:a16="http://schemas.microsoft.com/office/drawing/2014/main" id="{1B7C9255-2DBF-38B1-5264-3E4888F86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1050" y="198438"/>
              <a:ext cx="287338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b</a:t>
              </a:r>
            </a:p>
          </p:txBody>
        </p:sp>
        <p:sp>
          <p:nvSpPr>
            <p:cNvPr id="56" name="Text Box 40">
              <a:extLst>
                <a:ext uri="{FF2B5EF4-FFF2-40B4-BE49-F238E27FC236}">
                  <a16:creationId xmlns:a16="http://schemas.microsoft.com/office/drawing/2014/main" id="{8634408E-0703-277A-5F6A-34D00F650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0775" y="739775"/>
              <a:ext cx="287338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c</a:t>
              </a:r>
            </a:p>
          </p:txBody>
        </p:sp>
        <p:sp>
          <p:nvSpPr>
            <p:cNvPr id="57" name="Text Box 43">
              <a:extLst>
                <a:ext uri="{FF2B5EF4-FFF2-40B4-BE49-F238E27FC236}">
                  <a16:creationId xmlns:a16="http://schemas.microsoft.com/office/drawing/2014/main" id="{3DA7E0EF-784B-D454-6E33-1676C34ED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9972" y="403225"/>
              <a:ext cx="1137935" cy="31820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Consolas" pitchFamily="49" charset="0"/>
                  <a:cs typeface="Consolas" pitchFamily="49" charset="0"/>
                </a:rPr>
                <a:t>q-&gt;</a:t>
              </a:r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rear</a:t>
              </a:r>
            </a:p>
          </p:txBody>
        </p:sp>
        <p:sp>
          <p:nvSpPr>
            <p:cNvPr id="58" name="Text Box 45">
              <a:extLst>
                <a:ext uri="{FF2B5EF4-FFF2-40B4-BE49-F238E27FC236}">
                  <a16:creationId xmlns:a16="http://schemas.microsoft.com/office/drawing/2014/main" id="{09D3B2D8-2D34-9FE2-757C-974632576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200" y="2652713"/>
              <a:ext cx="3168650" cy="45962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（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b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）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a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、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b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、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c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进队</a:t>
              </a: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568DDC1B-E888-D930-11C9-0B7AAE65C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200" y="836613"/>
              <a:ext cx="193675" cy="214312"/>
            </a:xfrm>
            <a:custGeom>
              <a:avLst/>
              <a:gdLst>
                <a:gd name="T0" fmla="*/ 0 w 122"/>
                <a:gd name="T1" fmla="*/ 0 h 135"/>
                <a:gd name="T2" fmla="*/ 122 w 122"/>
                <a:gd name="T3" fmla="*/ 135 h 135"/>
                <a:gd name="T4" fmla="*/ 0 60000 65536"/>
                <a:gd name="T5" fmla="*/ 0 60000 65536"/>
                <a:gd name="T6" fmla="*/ 0 w 122"/>
                <a:gd name="T7" fmla="*/ 0 h 135"/>
                <a:gd name="T8" fmla="*/ 122 w 122"/>
                <a:gd name="T9" fmla="*/ 135 h 1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2" h="135">
                  <a:moveTo>
                    <a:pt x="0" y="0"/>
                  </a:moveTo>
                  <a:lnTo>
                    <a:pt x="122" y="135"/>
                  </a:lnTo>
                </a:path>
              </a:pathLst>
            </a:cu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61" name="组合 76">
            <a:extLst>
              <a:ext uri="{FF2B5EF4-FFF2-40B4-BE49-F238E27FC236}">
                <a16:creationId xmlns:a16="http://schemas.microsoft.com/office/drawing/2014/main" id="{969BED01-F065-09A7-DCE0-CC9CB9DF09F7}"/>
              </a:ext>
            </a:extLst>
          </p:cNvPr>
          <p:cNvGrpSpPr/>
          <p:nvPr/>
        </p:nvGrpSpPr>
        <p:grpSpPr>
          <a:xfrm>
            <a:off x="5483562" y="3156932"/>
            <a:ext cx="4011125" cy="2515391"/>
            <a:chOff x="-111783" y="3429000"/>
            <a:chExt cx="4627310" cy="2826006"/>
          </a:xfrm>
        </p:grpSpPr>
        <p:sp>
          <p:nvSpPr>
            <p:cNvPr id="62" name="Oval 47">
              <a:extLst>
                <a:ext uri="{FF2B5EF4-FFF2-40B4-BE49-F238E27FC236}">
                  <a16:creationId xmlns:a16="http://schemas.microsoft.com/office/drawing/2014/main" id="{5FDF3A61-1EAE-827B-1B25-2C294B108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350" y="3908425"/>
              <a:ext cx="1223963" cy="1152525"/>
            </a:xfrm>
            <a:prstGeom prst="ellipse">
              <a:avLst/>
            </a:prstGeom>
            <a:solidFill>
              <a:schemeClr val="accent1"/>
            </a:solidFill>
            <a:ln w="38100" algn="ctr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3" name="Oval 48">
              <a:extLst>
                <a:ext uri="{FF2B5EF4-FFF2-40B4-BE49-F238E27FC236}">
                  <a16:creationId xmlns:a16="http://schemas.microsoft.com/office/drawing/2014/main" id="{81D94964-F0C9-D4FD-BA0B-6B1854EFE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138" y="3429000"/>
              <a:ext cx="2303462" cy="2087563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38100" algn="ctr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4" name="Freeform 49">
              <a:extLst>
                <a:ext uri="{FF2B5EF4-FFF2-40B4-BE49-F238E27FC236}">
                  <a16:creationId xmlns:a16="http://schemas.microsoft.com/office/drawing/2014/main" id="{761B46C0-9065-9057-BB5C-4A80F50F8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875" y="4773613"/>
              <a:ext cx="431800" cy="269875"/>
            </a:xfrm>
            <a:custGeom>
              <a:avLst/>
              <a:gdLst>
                <a:gd name="T0" fmla="*/ 0 w 272"/>
                <a:gd name="T1" fmla="*/ 0 h 170"/>
                <a:gd name="T2" fmla="*/ 272 w 272"/>
                <a:gd name="T3" fmla="*/ 170 h 170"/>
                <a:gd name="T4" fmla="*/ 0 60000 65536"/>
                <a:gd name="T5" fmla="*/ 0 60000 65536"/>
                <a:gd name="T6" fmla="*/ 0 w 272"/>
                <a:gd name="T7" fmla="*/ 0 h 170"/>
                <a:gd name="T8" fmla="*/ 272 w 272"/>
                <a:gd name="T9" fmla="*/ 170 h 1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70">
                  <a:moveTo>
                    <a:pt x="0" y="0"/>
                  </a:moveTo>
                  <a:lnTo>
                    <a:pt x="272" y="17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5" name="Freeform 50">
              <a:extLst>
                <a:ext uri="{FF2B5EF4-FFF2-40B4-BE49-F238E27FC236}">
                  <a16:creationId xmlns:a16="http://schemas.microsoft.com/office/drawing/2014/main" id="{D3A2F1F4-1B82-A923-2058-1A1C4EE71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325" y="3725863"/>
              <a:ext cx="330200" cy="358775"/>
            </a:xfrm>
            <a:custGeom>
              <a:avLst/>
              <a:gdLst>
                <a:gd name="T0" fmla="*/ 0 w 208"/>
                <a:gd name="T1" fmla="*/ 226 h 226"/>
                <a:gd name="T2" fmla="*/ 208 w 208"/>
                <a:gd name="T3" fmla="*/ 0 h 226"/>
                <a:gd name="T4" fmla="*/ 0 60000 65536"/>
                <a:gd name="T5" fmla="*/ 0 60000 65536"/>
                <a:gd name="T6" fmla="*/ 0 w 208"/>
                <a:gd name="T7" fmla="*/ 0 h 226"/>
                <a:gd name="T8" fmla="*/ 208 w 208"/>
                <a:gd name="T9" fmla="*/ 226 h 2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8" h="226">
                  <a:moveTo>
                    <a:pt x="0" y="226"/>
                  </a:moveTo>
                  <a:lnTo>
                    <a:pt x="208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6" name="Freeform 51">
              <a:extLst>
                <a:ext uri="{FF2B5EF4-FFF2-40B4-BE49-F238E27FC236}">
                  <a16:creationId xmlns:a16="http://schemas.microsoft.com/office/drawing/2014/main" id="{95513FF5-CC98-6727-15F5-96312A261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788" y="3549650"/>
              <a:ext cx="261937" cy="427038"/>
            </a:xfrm>
            <a:custGeom>
              <a:avLst/>
              <a:gdLst>
                <a:gd name="T0" fmla="*/ 0 w 165"/>
                <a:gd name="T1" fmla="*/ 0 h 269"/>
                <a:gd name="T2" fmla="*/ 165 w 165"/>
                <a:gd name="T3" fmla="*/ 269 h 269"/>
                <a:gd name="T4" fmla="*/ 0 60000 65536"/>
                <a:gd name="T5" fmla="*/ 0 60000 65536"/>
                <a:gd name="T6" fmla="*/ 0 w 165"/>
                <a:gd name="T7" fmla="*/ 0 h 269"/>
                <a:gd name="T8" fmla="*/ 165 w 165"/>
                <a:gd name="T9" fmla="*/ 269 h 2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5" h="269">
                  <a:moveTo>
                    <a:pt x="0" y="0"/>
                  </a:moveTo>
                  <a:lnTo>
                    <a:pt x="165" y="269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94" name="Line 52">
              <a:extLst>
                <a:ext uri="{FF2B5EF4-FFF2-40B4-BE49-F238E27FC236}">
                  <a16:creationId xmlns:a16="http://schemas.microsoft.com/office/drawing/2014/main" id="{F2601AE9-7055-60DB-DB8B-9EE8D77D26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5150" y="5060950"/>
              <a:ext cx="73025" cy="4318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95" name="Freeform 53">
              <a:extLst>
                <a:ext uri="{FF2B5EF4-FFF2-40B4-BE49-F238E27FC236}">
                  <a16:creationId xmlns:a16="http://schemas.microsoft.com/office/drawing/2014/main" id="{F6A52A07-F5E1-5EF2-A76D-F4C55648A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075" y="4557713"/>
              <a:ext cx="549275" cy="155575"/>
            </a:xfrm>
            <a:custGeom>
              <a:avLst/>
              <a:gdLst>
                <a:gd name="T0" fmla="*/ 0 w 346"/>
                <a:gd name="T1" fmla="*/ 98 h 98"/>
                <a:gd name="T2" fmla="*/ 346 w 346"/>
                <a:gd name="T3" fmla="*/ 0 h 98"/>
                <a:gd name="T4" fmla="*/ 0 60000 65536"/>
                <a:gd name="T5" fmla="*/ 0 60000 65536"/>
                <a:gd name="T6" fmla="*/ 0 w 346"/>
                <a:gd name="T7" fmla="*/ 0 h 98"/>
                <a:gd name="T8" fmla="*/ 346 w 346"/>
                <a:gd name="T9" fmla="*/ 98 h 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6" h="98">
                  <a:moveTo>
                    <a:pt x="0" y="98"/>
                  </a:moveTo>
                  <a:lnTo>
                    <a:pt x="34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0" name="Text Box 54">
              <a:extLst>
                <a:ext uri="{FF2B5EF4-FFF2-40B4-BE49-F238E27FC236}">
                  <a16:creationId xmlns:a16="http://schemas.microsoft.com/office/drawing/2014/main" id="{13F4DB97-D62B-126D-518D-BB387E1D2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5025" y="4654550"/>
              <a:ext cx="287338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101" name="Text Box 55">
              <a:extLst>
                <a:ext uri="{FF2B5EF4-FFF2-40B4-BE49-F238E27FC236}">
                  <a16:creationId xmlns:a16="http://schemas.microsoft.com/office/drawing/2014/main" id="{863EB710-971C-0AF7-ACE1-99F1771CC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2350" y="4230688"/>
              <a:ext cx="287338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102" name="Text Box 56">
              <a:extLst>
                <a:ext uri="{FF2B5EF4-FFF2-40B4-BE49-F238E27FC236}">
                  <a16:creationId xmlns:a16="http://schemas.microsoft.com/office/drawing/2014/main" id="{FCE5E470-432E-8BB4-E7AF-C6BC3AB23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8175" y="3908425"/>
              <a:ext cx="287338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103" name="Text Box 57">
              <a:extLst>
                <a:ext uri="{FF2B5EF4-FFF2-40B4-BE49-F238E27FC236}">
                  <a16:creationId xmlns:a16="http://schemas.microsoft.com/office/drawing/2014/main" id="{B5C70757-95D2-77B8-254C-57960338A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788" y="4125913"/>
              <a:ext cx="287337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04" name="Text Box 58">
              <a:extLst>
                <a:ext uri="{FF2B5EF4-FFF2-40B4-BE49-F238E27FC236}">
                  <a16:creationId xmlns:a16="http://schemas.microsoft.com/office/drawing/2014/main" id="{24A9E039-F35D-023D-9C17-77D1F4D2F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813" y="4595813"/>
              <a:ext cx="287337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05" name="Freeform 59">
              <a:extLst>
                <a:ext uri="{FF2B5EF4-FFF2-40B4-BE49-F238E27FC236}">
                  <a16:creationId xmlns:a16="http://schemas.microsoft.com/office/drawing/2014/main" id="{F836CAFA-152D-9C3D-971F-96DB2FD5A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138" y="4564063"/>
              <a:ext cx="322262" cy="58737"/>
            </a:xfrm>
            <a:custGeom>
              <a:avLst/>
              <a:gdLst>
                <a:gd name="T0" fmla="*/ 203 w 203"/>
                <a:gd name="T1" fmla="*/ 37 h 37"/>
                <a:gd name="T2" fmla="*/ 0 w 203"/>
                <a:gd name="T3" fmla="*/ 0 h 37"/>
                <a:gd name="T4" fmla="*/ 0 60000 65536"/>
                <a:gd name="T5" fmla="*/ 0 60000 65536"/>
                <a:gd name="T6" fmla="*/ 0 w 203"/>
                <a:gd name="T7" fmla="*/ 0 h 37"/>
                <a:gd name="T8" fmla="*/ 203 w 203"/>
                <a:gd name="T9" fmla="*/ 37 h 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3" h="37">
                  <a:moveTo>
                    <a:pt x="203" y="37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6" name="Text Box 60">
              <a:extLst>
                <a:ext uri="{FF2B5EF4-FFF2-40B4-BE49-F238E27FC236}">
                  <a16:creationId xmlns:a16="http://schemas.microsoft.com/office/drawing/2014/main" id="{06945778-6575-6520-ED77-B8B1ED236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4037" y="4652962"/>
              <a:ext cx="1281490" cy="31120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Consolas" pitchFamily="49" charset="0"/>
                  <a:cs typeface="Consolas" pitchFamily="49" charset="0"/>
                </a:rPr>
                <a:t>q</a:t>
              </a:r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-&gt;front</a:t>
              </a:r>
            </a:p>
          </p:txBody>
        </p:sp>
        <p:sp>
          <p:nvSpPr>
            <p:cNvPr id="107" name="Text Box 62">
              <a:extLst>
                <a:ext uri="{FF2B5EF4-FFF2-40B4-BE49-F238E27FC236}">
                  <a16:creationId xmlns:a16="http://schemas.microsoft.com/office/drawing/2014/main" id="{74605692-B6EC-BC30-E748-101F2F8C8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6288" y="3500438"/>
              <a:ext cx="287337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b</a:t>
              </a:r>
            </a:p>
          </p:txBody>
        </p:sp>
        <p:sp>
          <p:nvSpPr>
            <p:cNvPr id="108" name="Text Box 63">
              <a:extLst>
                <a:ext uri="{FF2B5EF4-FFF2-40B4-BE49-F238E27FC236}">
                  <a16:creationId xmlns:a16="http://schemas.microsoft.com/office/drawing/2014/main" id="{BCA1D8FD-30ED-01BF-5520-3C5F8246D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2988" y="4052888"/>
              <a:ext cx="287337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c</a:t>
              </a:r>
            </a:p>
          </p:txBody>
        </p:sp>
        <p:sp>
          <p:nvSpPr>
            <p:cNvPr id="109" name="Text Box 64">
              <a:extLst>
                <a:ext uri="{FF2B5EF4-FFF2-40B4-BE49-F238E27FC236}">
                  <a16:creationId xmlns:a16="http://schemas.microsoft.com/office/drawing/2014/main" id="{933F3CAE-F6D3-EF2B-1F50-20E7F76A3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1783" y="3716338"/>
              <a:ext cx="1154770" cy="31120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Consolas" pitchFamily="49" charset="0"/>
                  <a:cs typeface="Consolas" pitchFamily="49" charset="0"/>
                </a:rPr>
                <a:t>q</a:t>
              </a:r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-&gt;rear</a:t>
              </a:r>
            </a:p>
          </p:txBody>
        </p:sp>
        <p:sp>
          <p:nvSpPr>
            <p:cNvPr id="110" name="Text Box 65">
              <a:extLst>
                <a:ext uri="{FF2B5EF4-FFF2-40B4-BE49-F238E27FC236}">
                  <a16:creationId xmlns:a16="http://schemas.microsoft.com/office/drawing/2014/main" id="{C85A0DF6-31AF-0A96-C9DF-B6345953D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750" y="5805488"/>
              <a:ext cx="3168650" cy="44951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（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c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）出队一次</a:t>
              </a:r>
            </a:p>
          </p:txBody>
        </p:sp>
        <p:sp>
          <p:nvSpPr>
            <p:cNvPr id="111" name="Freeform 66">
              <a:extLst>
                <a:ext uri="{FF2B5EF4-FFF2-40B4-BE49-F238E27FC236}">
                  <a16:creationId xmlns:a16="http://schemas.microsoft.com/office/drawing/2014/main" id="{D274E8E4-D616-D25E-EC1B-2857E785B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4013200"/>
              <a:ext cx="203200" cy="127000"/>
            </a:xfrm>
            <a:custGeom>
              <a:avLst/>
              <a:gdLst>
                <a:gd name="T0" fmla="*/ 0 w 128"/>
                <a:gd name="T1" fmla="*/ 0 h 80"/>
                <a:gd name="T2" fmla="*/ 128 w 128"/>
                <a:gd name="T3" fmla="*/ 80 h 80"/>
                <a:gd name="T4" fmla="*/ 0 60000 65536"/>
                <a:gd name="T5" fmla="*/ 0 60000 65536"/>
                <a:gd name="T6" fmla="*/ 0 w 128"/>
                <a:gd name="T7" fmla="*/ 0 h 80"/>
                <a:gd name="T8" fmla="*/ 128 w 128"/>
                <a:gd name="T9" fmla="*/ 80 h 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8" h="80">
                  <a:moveTo>
                    <a:pt x="0" y="0"/>
                  </a:moveTo>
                  <a:lnTo>
                    <a:pt x="128" y="80"/>
                  </a:lnTo>
                </a:path>
              </a:pathLst>
            </a:cu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112" name="组合 77">
            <a:extLst>
              <a:ext uri="{FF2B5EF4-FFF2-40B4-BE49-F238E27FC236}">
                <a16:creationId xmlns:a16="http://schemas.microsoft.com/office/drawing/2014/main" id="{5F1B222B-C963-0131-7271-F6F1169C233C}"/>
              </a:ext>
            </a:extLst>
          </p:cNvPr>
          <p:cNvGrpSpPr/>
          <p:nvPr/>
        </p:nvGrpSpPr>
        <p:grpSpPr>
          <a:xfrm>
            <a:off x="8909683" y="3156932"/>
            <a:ext cx="3247753" cy="2552312"/>
            <a:chOff x="3685105" y="3304192"/>
            <a:chExt cx="3911083" cy="2966305"/>
          </a:xfrm>
        </p:grpSpPr>
        <p:sp>
          <p:nvSpPr>
            <p:cNvPr id="113" name="Oval 67">
              <a:extLst>
                <a:ext uri="{FF2B5EF4-FFF2-40B4-BE49-F238E27FC236}">
                  <a16:creationId xmlns:a16="http://schemas.microsoft.com/office/drawing/2014/main" id="{AE479C63-441D-AB1B-B951-F2A0857B0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4013" y="3908425"/>
              <a:ext cx="1223962" cy="1152525"/>
            </a:xfrm>
            <a:prstGeom prst="ellipse">
              <a:avLst/>
            </a:prstGeom>
            <a:solidFill>
              <a:schemeClr val="accent1"/>
            </a:solidFill>
            <a:ln w="38100" algn="ctr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4" name="Oval 68">
              <a:extLst>
                <a:ext uri="{FF2B5EF4-FFF2-40B4-BE49-F238E27FC236}">
                  <a16:creationId xmlns:a16="http://schemas.microsoft.com/office/drawing/2014/main" id="{9B9C71D1-6DA1-34C5-2D8A-5832E7E29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3429000"/>
              <a:ext cx="2303463" cy="2087563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38100" algn="ctr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solidFill>
                  <a:schemeClr val="bg1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5" name="Freeform 69">
              <a:extLst>
                <a:ext uri="{FF2B5EF4-FFF2-40B4-BE49-F238E27FC236}">
                  <a16:creationId xmlns:a16="http://schemas.microsoft.com/office/drawing/2014/main" id="{2D121F34-2E92-BE70-CF89-9A2C31F85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6538" y="4773613"/>
              <a:ext cx="431800" cy="269875"/>
            </a:xfrm>
            <a:custGeom>
              <a:avLst/>
              <a:gdLst>
                <a:gd name="T0" fmla="*/ 0 w 272"/>
                <a:gd name="T1" fmla="*/ 0 h 170"/>
                <a:gd name="T2" fmla="*/ 272 w 272"/>
                <a:gd name="T3" fmla="*/ 170 h 170"/>
                <a:gd name="T4" fmla="*/ 0 60000 65536"/>
                <a:gd name="T5" fmla="*/ 0 60000 65536"/>
                <a:gd name="T6" fmla="*/ 0 w 272"/>
                <a:gd name="T7" fmla="*/ 0 h 170"/>
                <a:gd name="T8" fmla="*/ 272 w 272"/>
                <a:gd name="T9" fmla="*/ 170 h 1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70">
                  <a:moveTo>
                    <a:pt x="0" y="0"/>
                  </a:moveTo>
                  <a:lnTo>
                    <a:pt x="272" y="17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6" name="Freeform 70">
              <a:extLst>
                <a:ext uri="{FF2B5EF4-FFF2-40B4-BE49-F238E27FC236}">
                  <a16:creationId xmlns:a16="http://schemas.microsoft.com/office/drawing/2014/main" id="{C30C33F4-97AB-A01A-0986-F2B88EE69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988" y="3725863"/>
              <a:ext cx="330200" cy="358775"/>
            </a:xfrm>
            <a:custGeom>
              <a:avLst/>
              <a:gdLst>
                <a:gd name="T0" fmla="*/ 0 w 208"/>
                <a:gd name="T1" fmla="*/ 226 h 226"/>
                <a:gd name="T2" fmla="*/ 208 w 208"/>
                <a:gd name="T3" fmla="*/ 0 h 226"/>
                <a:gd name="T4" fmla="*/ 0 60000 65536"/>
                <a:gd name="T5" fmla="*/ 0 60000 65536"/>
                <a:gd name="T6" fmla="*/ 0 w 208"/>
                <a:gd name="T7" fmla="*/ 0 h 226"/>
                <a:gd name="T8" fmla="*/ 208 w 208"/>
                <a:gd name="T9" fmla="*/ 226 h 2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8" h="226">
                  <a:moveTo>
                    <a:pt x="0" y="226"/>
                  </a:moveTo>
                  <a:lnTo>
                    <a:pt x="208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7" name="Freeform 71">
              <a:extLst>
                <a:ext uri="{FF2B5EF4-FFF2-40B4-BE49-F238E27FC236}">
                  <a16:creationId xmlns:a16="http://schemas.microsoft.com/office/drawing/2014/main" id="{FCDE3D9A-D6CA-4A1D-7A38-73875CAC8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450" y="3549650"/>
              <a:ext cx="261938" cy="427038"/>
            </a:xfrm>
            <a:custGeom>
              <a:avLst/>
              <a:gdLst>
                <a:gd name="T0" fmla="*/ 0 w 165"/>
                <a:gd name="T1" fmla="*/ 0 h 269"/>
                <a:gd name="T2" fmla="*/ 165 w 165"/>
                <a:gd name="T3" fmla="*/ 269 h 269"/>
                <a:gd name="T4" fmla="*/ 0 60000 65536"/>
                <a:gd name="T5" fmla="*/ 0 60000 65536"/>
                <a:gd name="T6" fmla="*/ 0 w 165"/>
                <a:gd name="T7" fmla="*/ 0 h 269"/>
                <a:gd name="T8" fmla="*/ 165 w 165"/>
                <a:gd name="T9" fmla="*/ 269 h 2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5" h="269">
                  <a:moveTo>
                    <a:pt x="0" y="0"/>
                  </a:moveTo>
                  <a:lnTo>
                    <a:pt x="165" y="269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8" name="Line 72">
              <a:extLst>
                <a:ext uri="{FF2B5EF4-FFF2-40B4-BE49-F238E27FC236}">
                  <a16:creationId xmlns:a16="http://schemas.microsoft.com/office/drawing/2014/main" id="{4195187A-D7FD-D0D0-2F38-F3C98D10C9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65813" y="5060950"/>
              <a:ext cx="73025" cy="4318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9" name="Freeform 73">
              <a:extLst>
                <a:ext uri="{FF2B5EF4-FFF2-40B4-BE49-F238E27FC236}">
                  <a16:creationId xmlns:a16="http://schemas.microsoft.com/office/drawing/2014/main" id="{591CCAF6-3754-EA15-1917-BCDBEAED3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738" y="4557713"/>
              <a:ext cx="549275" cy="155575"/>
            </a:xfrm>
            <a:custGeom>
              <a:avLst/>
              <a:gdLst>
                <a:gd name="T0" fmla="*/ 0 w 346"/>
                <a:gd name="T1" fmla="*/ 98 h 98"/>
                <a:gd name="T2" fmla="*/ 346 w 346"/>
                <a:gd name="T3" fmla="*/ 0 h 98"/>
                <a:gd name="T4" fmla="*/ 0 60000 65536"/>
                <a:gd name="T5" fmla="*/ 0 60000 65536"/>
                <a:gd name="T6" fmla="*/ 0 w 346"/>
                <a:gd name="T7" fmla="*/ 0 h 98"/>
                <a:gd name="T8" fmla="*/ 346 w 346"/>
                <a:gd name="T9" fmla="*/ 98 h 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6" h="98">
                  <a:moveTo>
                    <a:pt x="0" y="98"/>
                  </a:moveTo>
                  <a:lnTo>
                    <a:pt x="34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0" name="Text Box 74">
              <a:extLst>
                <a:ext uri="{FF2B5EF4-FFF2-40B4-BE49-F238E27FC236}">
                  <a16:creationId xmlns:a16="http://schemas.microsoft.com/office/drawing/2014/main" id="{2F15A706-1884-25FB-6D4C-198942B67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5688" y="4654550"/>
              <a:ext cx="287337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121" name="Text Box 75">
              <a:extLst>
                <a:ext uri="{FF2B5EF4-FFF2-40B4-BE49-F238E27FC236}">
                  <a16:creationId xmlns:a16="http://schemas.microsoft.com/office/drawing/2014/main" id="{F1B38831-2DD9-D5C9-13F6-3DEAAAA35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3013" y="4230688"/>
              <a:ext cx="287337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122" name="Text Box 76">
              <a:extLst>
                <a:ext uri="{FF2B5EF4-FFF2-40B4-BE49-F238E27FC236}">
                  <a16:creationId xmlns:a16="http://schemas.microsoft.com/office/drawing/2014/main" id="{9A0DADB2-F742-8C7E-12EA-8CD4B144D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8838" y="3908425"/>
              <a:ext cx="287337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123" name="Text Box 77">
              <a:extLst>
                <a:ext uri="{FF2B5EF4-FFF2-40B4-BE49-F238E27FC236}">
                  <a16:creationId xmlns:a16="http://schemas.microsoft.com/office/drawing/2014/main" id="{E816A670-84D7-187B-1664-FFA10AE20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5450" y="4125913"/>
              <a:ext cx="287338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24" name="Text Box 78">
              <a:extLst>
                <a:ext uri="{FF2B5EF4-FFF2-40B4-BE49-F238E27FC236}">
                  <a16:creationId xmlns:a16="http://schemas.microsoft.com/office/drawing/2014/main" id="{7C1144E5-B095-2DAE-40D5-1FDE953E5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1175" y="4583113"/>
              <a:ext cx="287338" cy="2462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25" name="Text Box 80">
              <a:extLst>
                <a:ext uri="{FF2B5EF4-FFF2-40B4-BE49-F238E27FC236}">
                  <a16:creationId xmlns:a16="http://schemas.microsoft.com/office/drawing/2014/main" id="{4C9E64D4-CAA2-77CB-C1AF-37E4B717E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863" y="3304192"/>
              <a:ext cx="1581149" cy="32192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Consolas" pitchFamily="49" charset="0"/>
                  <a:cs typeface="Consolas" pitchFamily="49" charset="0"/>
                </a:rPr>
                <a:t>q-&gt; </a:t>
              </a:r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front</a:t>
              </a:r>
            </a:p>
          </p:txBody>
        </p:sp>
        <p:sp>
          <p:nvSpPr>
            <p:cNvPr id="126" name="Freeform 83">
              <a:extLst>
                <a:ext uri="{FF2B5EF4-FFF2-40B4-BE49-F238E27FC236}">
                  <a16:creationId xmlns:a16="http://schemas.microsoft.com/office/drawing/2014/main" id="{B243E076-0E18-69F1-BF5A-90145525F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075" y="4149725"/>
              <a:ext cx="238125" cy="142875"/>
            </a:xfrm>
            <a:custGeom>
              <a:avLst/>
              <a:gdLst>
                <a:gd name="T0" fmla="*/ 0 w 150"/>
                <a:gd name="T1" fmla="*/ 0 h 90"/>
                <a:gd name="T2" fmla="*/ 150 w 150"/>
                <a:gd name="T3" fmla="*/ 90 h 90"/>
                <a:gd name="T4" fmla="*/ 0 60000 65536"/>
                <a:gd name="T5" fmla="*/ 0 60000 65536"/>
                <a:gd name="T6" fmla="*/ 0 w 150"/>
                <a:gd name="T7" fmla="*/ 0 h 90"/>
                <a:gd name="T8" fmla="*/ 150 w 150"/>
                <a:gd name="T9" fmla="*/ 90 h 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" h="90">
                  <a:moveTo>
                    <a:pt x="0" y="0"/>
                  </a:moveTo>
                  <a:lnTo>
                    <a:pt x="150" y="90"/>
                  </a:lnTo>
                </a:path>
              </a:pathLst>
            </a:cu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7" name="Freeform 84">
              <a:extLst>
                <a:ext uri="{FF2B5EF4-FFF2-40B4-BE49-F238E27FC236}">
                  <a16:creationId xmlns:a16="http://schemas.microsoft.com/office/drawing/2014/main" id="{DF6077D7-CC39-51E9-C3F8-18B6CB907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4900" y="3695700"/>
              <a:ext cx="161925" cy="165100"/>
            </a:xfrm>
            <a:custGeom>
              <a:avLst/>
              <a:gdLst>
                <a:gd name="T0" fmla="*/ 0 w 102"/>
                <a:gd name="T1" fmla="*/ 0 h 104"/>
                <a:gd name="T2" fmla="*/ 102 w 102"/>
                <a:gd name="T3" fmla="*/ 104 h 104"/>
                <a:gd name="T4" fmla="*/ 0 60000 65536"/>
                <a:gd name="T5" fmla="*/ 0 60000 65536"/>
                <a:gd name="T6" fmla="*/ 0 w 102"/>
                <a:gd name="T7" fmla="*/ 0 h 104"/>
                <a:gd name="T8" fmla="*/ 102 w 102"/>
                <a:gd name="T9" fmla="*/ 104 h 10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2" h="104">
                  <a:moveTo>
                    <a:pt x="0" y="0"/>
                  </a:moveTo>
                  <a:lnTo>
                    <a:pt x="102" y="104"/>
                  </a:lnTo>
                </a:path>
              </a:pathLst>
            </a:cu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8" name="Text Box 85">
              <a:extLst>
                <a:ext uri="{FF2B5EF4-FFF2-40B4-BE49-F238E27FC236}">
                  <a16:creationId xmlns:a16="http://schemas.microsoft.com/office/drawing/2014/main" id="{00C7F9C2-5551-238C-834F-9355ADDDE3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5105" y="3827796"/>
              <a:ext cx="1358033" cy="32192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Consolas" pitchFamily="49" charset="0"/>
                  <a:cs typeface="Consolas" pitchFamily="49" charset="0"/>
                </a:rPr>
                <a:t>q-&gt; </a:t>
              </a:r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rear</a:t>
              </a:r>
            </a:p>
          </p:txBody>
        </p:sp>
        <p:sp>
          <p:nvSpPr>
            <p:cNvPr id="129" name="Text Box 86">
              <a:extLst>
                <a:ext uri="{FF2B5EF4-FFF2-40B4-BE49-F238E27FC236}">
                  <a16:creationId xmlns:a16="http://schemas.microsoft.com/office/drawing/2014/main" id="{A9C69047-6CC1-53D5-3991-AA05DCE29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537" y="5805488"/>
              <a:ext cx="3168651" cy="46500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（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d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）出队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2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706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0A63B-5DA0-598A-1CB5-EC7EFCFBB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C02526B-EB8A-43BE-E82E-71B579E44384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297354-DD6F-A333-62B1-A6579E6A5D76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A214358-84A0-4FEE-E33D-CC8D242835F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37B4B85-34DC-8F41-C881-AF4E245D05A7}"/>
              </a:ext>
            </a:extLst>
          </p:cNvPr>
          <p:cNvSpPr txBox="1"/>
          <p:nvPr/>
        </p:nvSpPr>
        <p:spPr>
          <a:xfrm>
            <a:off x="1559495" y="1983305"/>
            <a:ext cx="792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、环形队列（或循环队列）中实现队列的基本运算算法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D03800D-B6AA-6AF6-4CF0-436A60694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330" y="2751188"/>
            <a:ext cx="7993063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现在约定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q-&gt;rear== q-&gt;front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队空，以下两种情况都满足该条件：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9EA874-9455-CE8F-22EA-45EA94FAD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6955" y="3878313"/>
            <a:ext cx="1223963" cy="1152525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28917C1B-71E3-C59F-B9E6-DA791CB9D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743" y="3398888"/>
            <a:ext cx="2303462" cy="2087563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23E492B7-0FC9-1004-7912-8095D154D47A}"/>
              </a:ext>
            </a:extLst>
          </p:cNvPr>
          <p:cNvSpPr>
            <a:spLocks/>
          </p:cNvSpPr>
          <p:nvPr/>
        </p:nvSpPr>
        <p:spPr bwMode="auto">
          <a:xfrm>
            <a:off x="3659480" y="4743501"/>
            <a:ext cx="431800" cy="269875"/>
          </a:xfrm>
          <a:custGeom>
            <a:avLst/>
            <a:gdLst>
              <a:gd name="T0" fmla="*/ 0 w 272"/>
              <a:gd name="T1" fmla="*/ 0 h 170"/>
              <a:gd name="T2" fmla="*/ 272 w 272"/>
              <a:gd name="T3" fmla="*/ 170 h 170"/>
              <a:gd name="T4" fmla="*/ 0 60000 65536"/>
              <a:gd name="T5" fmla="*/ 0 60000 65536"/>
              <a:gd name="T6" fmla="*/ 0 w 272"/>
              <a:gd name="T7" fmla="*/ 0 h 170"/>
              <a:gd name="T8" fmla="*/ 272 w 272"/>
              <a:gd name="T9" fmla="*/ 170 h 1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2" h="170">
                <a:moveTo>
                  <a:pt x="0" y="0"/>
                </a:moveTo>
                <a:lnTo>
                  <a:pt x="272" y="17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8DB9F583-D6C6-2D42-3056-516A13FFA18E}"/>
              </a:ext>
            </a:extLst>
          </p:cNvPr>
          <p:cNvSpPr>
            <a:spLocks/>
          </p:cNvSpPr>
          <p:nvPr/>
        </p:nvSpPr>
        <p:spPr bwMode="auto">
          <a:xfrm>
            <a:off x="3576930" y="3695751"/>
            <a:ext cx="330200" cy="358775"/>
          </a:xfrm>
          <a:custGeom>
            <a:avLst/>
            <a:gdLst>
              <a:gd name="T0" fmla="*/ 0 w 208"/>
              <a:gd name="T1" fmla="*/ 226 h 226"/>
              <a:gd name="T2" fmla="*/ 208 w 208"/>
              <a:gd name="T3" fmla="*/ 0 h 226"/>
              <a:gd name="T4" fmla="*/ 0 60000 65536"/>
              <a:gd name="T5" fmla="*/ 0 60000 65536"/>
              <a:gd name="T6" fmla="*/ 0 w 208"/>
              <a:gd name="T7" fmla="*/ 0 h 226"/>
              <a:gd name="T8" fmla="*/ 208 w 208"/>
              <a:gd name="T9" fmla="*/ 226 h 2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08" h="226">
                <a:moveTo>
                  <a:pt x="0" y="226"/>
                </a:moveTo>
                <a:lnTo>
                  <a:pt x="208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94A74DB8-078D-CD88-2B96-BFBBEB099114}"/>
              </a:ext>
            </a:extLst>
          </p:cNvPr>
          <p:cNvSpPr>
            <a:spLocks/>
          </p:cNvSpPr>
          <p:nvPr/>
        </p:nvSpPr>
        <p:spPr bwMode="auto">
          <a:xfrm>
            <a:off x="2578393" y="3519538"/>
            <a:ext cx="261937" cy="427038"/>
          </a:xfrm>
          <a:custGeom>
            <a:avLst/>
            <a:gdLst>
              <a:gd name="T0" fmla="*/ 0 w 165"/>
              <a:gd name="T1" fmla="*/ 0 h 269"/>
              <a:gd name="T2" fmla="*/ 165 w 165"/>
              <a:gd name="T3" fmla="*/ 269 h 269"/>
              <a:gd name="T4" fmla="*/ 0 60000 65536"/>
              <a:gd name="T5" fmla="*/ 0 60000 65536"/>
              <a:gd name="T6" fmla="*/ 0 w 165"/>
              <a:gd name="T7" fmla="*/ 0 h 269"/>
              <a:gd name="T8" fmla="*/ 165 w 165"/>
              <a:gd name="T9" fmla="*/ 269 h 2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5" h="269">
                <a:moveTo>
                  <a:pt x="0" y="0"/>
                </a:moveTo>
                <a:lnTo>
                  <a:pt x="165" y="269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Line 11">
            <a:extLst>
              <a:ext uri="{FF2B5EF4-FFF2-40B4-BE49-F238E27FC236}">
                <a16:creationId xmlns:a16="http://schemas.microsoft.com/office/drawing/2014/main" id="{5E3E62C6-E5EA-FDDF-4FF1-8B9807DC86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8755" y="5030838"/>
            <a:ext cx="73025" cy="431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3" name="Freeform 12">
            <a:extLst>
              <a:ext uri="{FF2B5EF4-FFF2-40B4-BE49-F238E27FC236}">
                <a16:creationId xmlns:a16="http://schemas.microsoft.com/office/drawing/2014/main" id="{9D203000-C8E4-AF79-EA9C-21F137180FAD}"/>
              </a:ext>
            </a:extLst>
          </p:cNvPr>
          <p:cNvSpPr>
            <a:spLocks/>
          </p:cNvSpPr>
          <p:nvPr/>
        </p:nvSpPr>
        <p:spPr bwMode="auto">
          <a:xfrm>
            <a:off x="1957680" y="4527601"/>
            <a:ext cx="549275" cy="155575"/>
          </a:xfrm>
          <a:custGeom>
            <a:avLst/>
            <a:gdLst>
              <a:gd name="T0" fmla="*/ 0 w 346"/>
              <a:gd name="T1" fmla="*/ 98 h 98"/>
              <a:gd name="T2" fmla="*/ 346 w 346"/>
              <a:gd name="T3" fmla="*/ 0 h 98"/>
              <a:gd name="T4" fmla="*/ 0 60000 65536"/>
              <a:gd name="T5" fmla="*/ 0 60000 65536"/>
              <a:gd name="T6" fmla="*/ 0 w 346"/>
              <a:gd name="T7" fmla="*/ 0 h 98"/>
              <a:gd name="T8" fmla="*/ 346 w 346"/>
              <a:gd name="T9" fmla="*/ 98 h 9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6" h="98">
                <a:moveTo>
                  <a:pt x="0" y="98"/>
                </a:moveTo>
                <a:lnTo>
                  <a:pt x="346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8" name="Text Box 13">
            <a:extLst>
              <a:ext uri="{FF2B5EF4-FFF2-40B4-BE49-F238E27FC236}">
                <a16:creationId xmlns:a16="http://schemas.microsoft.com/office/drawing/2014/main" id="{4E93380B-1ABB-6DA6-D95F-A79186A93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8630" y="4624438"/>
            <a:ext cx="287338" cy="2462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85835153-E175-A2F5-724F-69A65301F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5955" y="4200576"/>
            <a:ext cx="287338" cy="2462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31" name="Text Box 15">
            <a:extLst>
              <a:ext uri="{FF2B5EF4-FFF2-40B4-BE49-F238E27FC236}">
                <a16:creationId xmlns:a16="http://schemas.microsoft.com/office/drawing/2014/main" id="{06D8F209-78FC-D114-815C-8D4FF290A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780" y="3878313"/>
            <a:ext cx="287338" cy="2462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sp>
        <p:nvSpPr>
          <p:cNvPr id="32" name="Text Box 16">
            <a:extLst>
              <a:ext uri="{FF2B5EF4-FFF2-40B4-BE49-F238E27FC236}">
                <a16:creationId xmlns:a16="http://schemas.microsoft.com/office/drawing/2014/main" id="{0F6CCCCE-8BA7-6BEC-8DA3-FE5FBEA8E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393" y="4095801"/>
            <a:ext cx="287337" cy="2462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33" name="Text Box 17">
            <a:extLst>
              <a:ext uri="{FF2B5EF4-FFF2-40B4-BE49-F238E27FC236}">
                <a16:creationId xmlns:a16="http://schemas.microsoft.com/office/drawing/2014/main" id="{5D7C5815-00AA-6113-74AA-C26B53D18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418" y="4578401"/>
            <a:ext cx="287337" cy="2462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34" name="Line 18">
            <a:extLst>
              <a:ext uri="{FF2B5EF4-FFF2-40B4-BE49-F238E27FC236}">
                <a16:creationId xmlns:a16="http://schemas.microsoft.com/office/drawing/2014/main" id="{4AE854A7-FADB-A94E-A705-DAC6AE1341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03943" y="5246738"/>
            <a:ext cx="215900" cy="21590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5" name="Text Box 19">
            <a:extLst>
              <a:ext uri="{FF2B5EF4-FFF2-40B4-BE49-F238E27FC236}">
                <a16:creationId xmlns:a16="http://schemas.microsoft.com/office/drawing/2014/main" id="{120FC57F-07C1-1956-AF82-F736A7896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1280" y="5319763"/>
            <a:ext cx="1150937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Consolas" pitchFamily="49" charset="0"/>
                <a:cs typeface="Consolas" pitchFamily="49" charset="0"/>
              </a:rPr>
              <a:t>q-&gt;</a:t>
            </a: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36" name="Freeform 20">
            <a:extLst>
              <a:ext uri="{FF2B5EF4-FFF2-40B4-BE49-F238E27FC236}">
                <a16:creationId xmlns:a16="http://schemas.microsoft.com/office/drawing/2014/main" id="{0693403E-5E61-215A-3DBF-1529E33C299F}"/>
              </a:ext>
            </a:extLst>
          </p:cNvPr>
          <p:cNvSpPr>
            <a:spLocks/>
          </p:cNvSpPr>
          <p:nvPr/>
        </p:nvSpPr>
        <p:spPr bwMode="auto">
          <a:xfrm>
            <a:off x="3580105" y="5383263"/>
            <a:ext cx="203200" cy="317500"/>
          </a:xfrm>
          <a:custGeom>
            <a:avLst/>
            <a:gdLst>
              <a:gd name="T0" fmla="*/ 128 w 128"/>
              <a:gd name="T1" fmla="*/ 200 h 200"/>
              <a:gd name="T2" fmla="*/ 0 w 128"/>
              <a:gd name="T3" fmla="*/ 0 h 200"/>
              <a:gd name="T4" fmla="*/ 0 60000 65536"/>
              <a:gd name="T5" fmla="*/ 0 60000 65536"/>
              <a:gd name="T6" fmla="*/ 0 w 128"/>
              <a:gd name="T7" fmla="*/ 0 h 200"/>
              <a:gd name="T8" fmla="*/ 128 w 128"/>
              <a:gd name="T9" fmla="*/ 200 h 2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8" h="200">
                <a:moveTo>
                  <a:pt x="128" y="20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7" name="Text Box 21">
            <a:extLst>
              <a:ext uri="{FF2B5EF4-FFF2-40B4-BE49-F238E27FC236}">
                <a16:creationId xmlns:a16="http://schemas.microsoft.com/office/drawing/2014/main" id="{268D3F57-7B31-85FA-11E2-975F89CE0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3580" y="5624563"/>
            <a:ext cx="121226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Consolas" pitchFamily="49" charset="0"/>
                <a:cs typeface="Consolas" pitchFamily="49" charset="0"/>
              </a:rPr>
              <a:t>q-&gt;</a:t>
            </a: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38" name="Oval 22">
            <a:extLst>
              <a:ext uri="{FF2B5EF4-FFF2-40B4-BE49-F238E27FC236}">
                <a16:creationId xmlns:a16="http://schemas.microsoft.com/office/drawing/2014/main" id="{AEF98669-CE01-A637-8151-8EDB469FD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718" y="4024363"/>
            <a:ext cx="1223962" cy="1152525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9" name="Oval 23">
            <a:extLst>
              <a:ext uri="{FF2B5EF4-FFF2-40B4-BE49-F238E27FC236}">
                <a16:creationId xmlns:a16="http://schemas.microsoft.com/office/drawing/2014/main" id="{560532DE-0568-9F48-D474-1EFCD2D9D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505" y="3544938"/>
            <a:ext cx="2303463" cy="2087563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0" name="Freeform 24">
            <a:extLst>
              <a:ext uri="{FF2B5EF4-FFF2-40B4-BE49-F238E27FC236}">
                <a16:creationId xmlns:a16="http://schemas.microsoft.com/office/drawing/2014/main" id="{5ED8D85B-BD1B-3B72-7CFE-4C4A0070ECAE}"/>
              </a:ext>
            </a:extLst>
          </p:cNvPr>
          <p:cNvSpPr>
            <a:spLocks/>
          </p:cNvSpPr>
          <p:nvPr/>
        </p:nvSpPr>
        <p:spPr bwMode="auto">
          <a:xfrm>
            <a:off x="7728243" y="4889551"/>
            <a:ext cx="431800" cy="269875"/>
          </a:xfrm>
          <a:custGeom>
            <a:avLst/>
            <a:gdLst>
              <a:gd name="T0" fmla="*/ 0 w 272"/>
              <a:gd name="T1" fmla="*/ 0 h 170"/>
              <a:gd name="T2" fmla="*/ 272 w 272"/>
              <a:gd name="T3" fmla="*/ 170 h 170"/>
              <a:gd name="T4" fmla="*/ 0 60000 65536"/>
              <a:gd name="T5" fmla="*/ 0 60000 65536"/>
              <a:gd name="T6" fmla="*/ 0 w 272"/>
              <a:gd name="T7" fmla="*/ 0 h 170"/>
              <a:gd name="T8" fmla="*/ 272 w 272"/>
              <a:gd name="T9" fmla="*/ 170 h 1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2" h="170">
                <a:moveTo>
                  <a:pt x="0" y="0"/>
                </a:moveTo>
                <a:lnTo>
                  <a:pt x="272" y="17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1" name="Freeform 25">
            <a:extLst>
              <a:ext uri="{FF2B5EF4-FFF2-40B4-BE49-F238E27FC236}">
                <a16:creationId xmlns:a16="http://schemas.microsoft.com/office/drawing/2014/main" id="{A591807E-72A3-E524-FAD6-04CB30901DCE}"/>
              </a:ext>
            </a:extLst>
          </p:cNvPr>
          <p:cNvSpPr>
            <a:spLocks/>
          </p:cNvSpPr>
          <p:nvPr/>
        </p:nvSpPr>
        <p:spPr bwMode="auto">
          <a:xfrm>
            <a:off x="7645693" y="3841801"/>
            <a:ext cx="330200" cy="358775"/>
          </a:xfrm>
          <a:custGeom>
            <a:avLst/>
            <a:gdLst>
              <a:gd name="T0" fmla="*/ 0 w 208"/>
              <a:gd name="T1" fmla="*/ 226 h 226"/>
              <a:gd name="T2" fmla="*/ 208 w 208"/>
              <a:gd name="T3" fmla="*/ 0 h 226"/>
              <a:gd name="T4" fmla="*/ 0 60000 65536"/>
              <a:gd name="T5" fmla="*/ 0 60000 65536"/>
              <a:gd name="T6" fmla="*/ 0 w 208"/>
              <a:gd name="T7" fmla="*/ 0 h 226"/>
              <a:gd name="T8" fmla="*/ 208 w 208"/>
              <a:gd name="T9" fmla="*/ 226 h 2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08" h="226">
                <a:moveTo>
                  <a:pt x="0" y="226"/>
                </a:moveTo>
                <a:lnTo>
                  <a:pt x="208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2" name="Freeform 26">
            <a:extLst>
              <a:ext uri="{FF2B5EF4-FFF2-40B4-BE49-F238E27FC236}">
                <a16:creationId xmlns:a16="http://schemas.microsoft.com/office/drawing/2014/main" id="{10D9F5E3-8B09-9D1B-01F2-67846FE56036}"/>
              </a:ext>
            </a:extLst>
          </p:cNvPr>
          <p:cNvSpPr>
            <a:spLocks/>
          </p:cNvSpPr>
          <p:nvPr/>
        </p:nvSpPr>
        <p:spPr bwMode="auto">
          <a:xfrm>
            <a:off x="6647155" y="3665588"/>
            <a:ext cx="261938" cy="427038"/>
          </a:xfrm>
          <a:custGeom>
            <a:avLst/>
            <a:gdLst>
              <a:gd name="T0" fmla="*/ 0 w 165"/>
              <a:gd name="T1" fmla="*/ 0 h 269"/>
              <a:gd name="T2" fmla="*/ 165 w 165"/>
              <a:gd name="T3" fmla="*/ 269 h 269"/>
              <a:gd name="T4" fmla="*/ 0 60000 65536"/>
              <a:gd name="T5" fmla="*/ 0 60000 65536"/>
              <a:gd name="T6" fmla="*/ 0 w 165"/>
              <a:gd name="T7" fmla="*/ 0 h 269"/>
              <a:gd name="T8" fmla="*/ 165 w 165"/>
              <a:gd name="T9" fmla="*/ 269 h 2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5" h="269">
                <a:moveTo>
                  <a:pt x="0" y="0"/>
                </a:moveTo>
                <a:lnTo>
                  <a:pt x="165" y="269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3" name="Line 27">
            <a:extLst>
              <a:ext uri="{FF2B5EF4-FFF2-40B4-BE49-F238E27FC236}">
                <a16:creationId xmlns:a16="http://schemas.microsoft.com/office/drawing/2014/main" id="{DA26A58F-1458-F1E0-9D05-9DCED1BD0A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07518" y="5176888"/>
            <a:ext cx="73025" cy="431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4" name="Freeform 28">
            <a:extLst>
              <a:ext uri="{FF2B5EF4-FFF2-40B4-BE49-F238E27FC236}">
                <a16:creationId xmlns:a16="http://schemas.microsoft.com/office/drawing/2014/main" id="{40AA6662-A213-889D-BA29-5FF4B6494F56}"/>
              </a:ext>
            </a:extLst>
          </p:cNvPr>
          <p:cNvSpPr>
            <a:spLocks/>
          </p:cNvSpPr>
          <p:nvPr/>
        </p:nvSpPr>
        <p:spPr bwMode="auto">
          <a:xfrm>
            <a:off x="6026443" y="4673651"/>
            <a:ext cx="549275" cy="155575"/>
          </a:xfrm>
          <a:custGeom>
            <a:avLst/>
            <a:gdLst>
              <a:gd name="T0" fmla="*/ 0 w 346"/>
              <a:gd name="T1" fmla="*/ 98 h 98"/>
              <a:gd name="T2" fmla="*/ 346 w 346"/>
              <a:gd name="T3" fmla="*/ 0 h 98"/>
              <a:gd name="T4" fmla="*/ 0 60000 65536"/>
              <a:gd name="T5" fmla="*/ 0 60000 65536"/>
              <a:gd name="T6" fmla="*/ 0 w 346"/>
              <a:gd name="T7" fmla="*/ 0 h 98"/>
              <a:gd name="T8" fmla="*/ 346 w 346"/>
              <a:gd name="T9" fmla="*/ 98 h 9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6" h="98">
                <a:moveTo>
                  <a:pt x="0" y="98"/>
                </a:moveTo>
                <a:lnTo>
                  <a:pt x="346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5" name="Text Box 29">
            <a:extLst>
              <a:ext uri="{FF2B5EF4-FFF2-40B4-BE49-F238E27FC236}">
                <a16:creationId xmlns:a16="http://schemas.microsoft.com/office/drawing/2014/main" id="{1212F687-757A-F344-DBD8-F83AF25EB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7393" y="4770488"/>
            <a:ext cx="287337" cy="2462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46" name="Text Box 30">
            <a:extLst>
              <a:ext uri="{FF2B5EF4-FFF2-40B4-BE49-F238E27FC236}">
                <a16:creationId xmlns:a16="http://schemas.microsoft.com/office/drawing/2014/main" id="{546F55FD-7E9F-C737-122C-569FD25F5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718" y="4346626"/>
            <a:ext cx="287337" cy="2462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47" name="Text Box 31">
            <a:extLst>
              <a:ext uri="{FF2B5EF4-FFF2-40B4-BE49-F238E27FC236}">
                <a16:creationId xmlns:a16="http://schemas.microsoft.com/office/drawing/2014/main" id="{42A0936F-B247-E186-B8AF-D7D57BF9E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543" y="4024363"/>
            <a:ext cx="287337" cy="2462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sp>
        <p:nvSpPr>
          <p:cNvPr id="48" name="Text Box 32">
            <a:extLst>
              <a:ext uri="{FF2B5EF4-FFF2-40B4-BE49-F238E27FC236}">
                <a16:creationId xmlns:a16="http://schemas.microsoft.com/office/drawing/2014/main" id="{CBB43AB9-A02D-09BB-6BBB-5901C9C55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7155" y="4241851"/>
            <a:ext cx="287338" cy="2462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49" name="Text Box 33">
            <a:extLst>
              <a:ext uri="{FF2B5EF4-FFF2-40B4-BE49-F238E27FC236}">
                <a16:creationId xmlns:a16="http://schemas.microsoft.com/office/drawing/2014/main" id="{1ED30950-C558-7700-6BE5-E9E90C361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7480" y="4711751"/>
            <a:ext cx="287338" cy="2462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50" name="Text Box 34">
            <a:extLst>
              <a:ext uri="{FF2B5EF4-FFF2-40B4-BE49-F238E27FC236}">
                <a16:creationId xmlns:a16="http://schemas.microsoft.com/office/drawing/2014/main" id="{057FC3D6-B00F-A8A6-5899-0ACACBA9C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2205" y="3544938"/>
            <a:ext cx="1076325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Consolas" pitchFamily="49" charset="0"/>
                <a:cs typeface="Consolas" pitchFamily="49" charset="0"/>
              </a:rPr>
              <a:t>q-&gt;</a:t>
            </a: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51" name="Freeform 35">
            <a:extLst>
              <a:ext uri="{FF2B5EF4-FFF2-40B4-BE49-F238E27FC236}">
                <a16:creationId xmlns:a16="http://schemas.microsoft.com/office/drawing/2014/main" id="{8AF883E4-8B41-6AD8-B8A1-CA25133C475D}"/>
              </a:ext>
            </a:extLst>
          </p:cNvPr>
          <p:cNvSpPr>
            <a:spLocks/>
          </p:cNvSpPr>
          <p:nvPr/>
        </p:nvSpPr>
        <p:spPr bwMode="auto">
          <a:xfrm>
            <a:off x="5805780" y="4265663"/>
            <a:ext cx="238125" cy="142875"/>
          </a:xfrm>
          <a:custGeom>
            <a:avLst/>
            <a:gdLst>
              <a:gd name="T0" fmla="*/ 0 w 150"/>
              <a:gd name="T1" fmla="*/ 0 h 90"/>
              <a:gd name="T2" fmla="*/ 150 w 150"/>
              <a:gd name="T3" fmla="*/ 90 h 90"/>
              <a:gd name="T4" fmla="*/ 0 60000 65536"/>
              <a:gd name="T5" fmla="*/ 0 60000 65536"/>
              <a:gd name="T6" fmla="*/ 0 w 150"/>
              <a:gd name="T7" fmla="*/ 0 h 90"/>
              <a:gd name="T8" fmla="*/ 150 w 150"/>
              <a:gd name="T9" fmla="*/ 90 h 9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" h="90">
                <a:moveTo>
                  <a:pt x="0" y="0"/>
                </a:moveTo>
                <a:lnTo>
                  <a:pt x="150" y="90"/>
                </a:lnTo>
              </a:path>
            </a:pathLst>
          </a:cu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2" name="Freeform 36">
            <a:extLst>
              <a:ext uri="{FF2B5EF4-FFF2-40B4-BE49-F238E27FC236}">
                <a16:creationId xmlns:a16="http://schemas.microsoft.com/office/drawing/2014/main" id="{7A2CBC89-001D-B023-A55C-3F1196249956}"/>
              </a:ext>
            </a:extLst>
          </p:cNvPr>
          <p:cNvSpPr>
            <a:spLocks/>
          </p:cNvSpPr>
          <p:nvPr/>
        </p:nvSpPr>
        <p:spPr bwMode="auto">
          <a:xfrm>
            <a:off x="6056605" y="3811638"/>
            <a:ext cx="161925" cy="165100"/>
          </a:xfrm>
          <a:custGeom>
            <a:avLst/>
            <a:gdLst>
              <a:gd name="T0" fmla="*/ 0 w 102"/>
              <a:gd name="T1" fmla="*/ 0 h 104"/>
              <a:gd name="T2" fmla="*/ 102 w 102"/>
              <a:gd name="T3" fmla="*/ 104 h 104"/>
              <a:gd name="T4" fmla="*/ 0 60000 65536"/>
              <a:gd name="T5" fmla="*/ 0 60000 65536"/>
              <a:gd name="T6" fmla="*/ 0 w 102"/>
              <a:gd name="T7" fmla="*/ 0 h 104"/>
              <a:gd name="T8" fmla="*/ 102 w 102"/>
              <a:gd name="T9" fmla="*/ 104 h 10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2" h="104">
                <a:moveTo>
                  <a:pt x="0" y="0"/>
                </a:moveTo>
                <a:lnTo>
                  <a:pt x="102" y="104"/>
                </a:lnTo>
              </a:path>
            </a:pathLst>
          </a:cu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3" name="Text Box 37">
            <a:extLst>
              <a:ext uri="{FF2B5EF4-FFF2-40B4-BE49-F238E27FC236}">
                <a16:creationId xmlns:a16="http://schemas.microsoft.com/office/drawing/2014/main" id="{181A4B2C-F690-FBD2-CE5A-14D1A925E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0594" y="4108501"/>
            <a:ext cx="950912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Consolas" pitchFamily="49" charset="0"/>
                <a:cs typeface="Consolas" pitchFamily="49" charset="0"/>
              </a:rPr>
              <a:t>q-&gt;</a:t>
            </a: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54" name="Text Box 38">
            <a:extLst>
              <a:ext uri="{FF2B5EF4-FFF2-40B4-BE49-F238E27FC236}">
                <a16:creationId xmlns:a16="http://schemas.microsoft.com/office/drawing/2014/main" id="{A665108E-F0E1-DB77-DEFB-A6E7CE05B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568" y="5919838"/>
            <a:ext cx="1322387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初始状态</a:t>
            </a:r>
          </a:p>
        </p:txBody>
      </p:sp>
      <p:sp>
        <p:nvSpPr>
          <p:cNvPr id="55" name="Text Box 39">
            <a:extLst>
              <a:ext uri="{FF2B5EF4-FFF2-40B4-BE49-F238E27FC236}">
                <a16:creationId xmlns:a16="http://schemas.microsoft.com/office/drawing/2014/main" id="{638FD892-8FB9-3376-0A72-ADC18B090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4018" y="5919838"/>
            <a:ext cx="2726237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进队的所有元素均出队</a:t>
            </a:r>
          </a:p>
        </p:txBody>
      </p:sp>
      <p:sp>
        <p:nvSpPr>
          <p:cNvPr id="56" name="Text Box 40">
            <a:extLst>
              <a:ext uri="{FF2B5EF4-FFF2-40B4-BE49-F238E27FC236}">
                <a16:creationId xmlns:a16="http://schemas.microsoft.com/office/drawing/2014/main" id="{F14AC45D-76BB-9528-08AE-94F0DAA2B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4417" y="3761850"/>
            <a:ext cx="3092223" cy="707886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那么如何设置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队满的条件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呢？</a:t>
            </a:r>
          </a:p>
        </p:txBody>
      </p:sp>
    </p:spTree>
    <p:extLst>
      <p:ext uri="{BB962C8B-B14F-4D97-AF65-F5344CB8AC3E}">
        <p14:creationId xmlns:p14="http://schemas.microsoft.com/office/powerpoint/2010/main" val="513614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6F696-6638-A13B-ABCF-6CFD44373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FE0D62D-8195-8DE4-ED23-2F07DD7A4721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9280F-BFF9-37C3-D999-E7A0177CCD91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3BB70D3-621D-0FD2-8A23-524170AC340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12DFDE2-2D87-648E-6396-19006082F8F6}"/>
              </a:ext>
            </a:extLst>
          </p:cNvPr>
          <p:cNvSpPr txBox="1"/>
          <p:nvPr/>
        </p:nvSpPr>
        <p:spPr>
          <a:xfrm>
            <a:off x="1559495" y="1983305"/>
            <a:ext cx="792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、环形队列（或循环队列）中实现队列的基本运算算法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9D492504-72A7-ECBF-B7B8-7C283492A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5" y="3429000"/>
            <a:ext cx="6480721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约定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(q-&gt;rear+1)%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MaxSize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= q-&gt;front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为队满条件。</a:t>
            </a:r>
            <a:endParaRPr lang="en-US" altLang="zh-CN" sz="2000" dirty="0">
              <a:solidFill>
                <a:srgbClr val="008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0EF2C2-8854-05F4-5DE3-34FE096398AC}"/>
              </a:ext>
            </a:extLst>
          </p:cNvPr>
          <p:cNvSpPr txBox="1"/>
          <p:nvPr/>
        </p:nvSpPr>
        <p:spPr>
          <a:xfrm>
            <a:off x="1559495" y="4105254"/>
            <a:ext cx="61033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即再进队一个元素时到达队头时，我们就认为队满了。这样做队列容量会少一个元素，牺牲了一个元素的存储空间。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8C3BBD7B-EF5C-D82D-27BB-7DCBA337F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330" y="2751188"/>
            <a:ext cx="7993063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现在约定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q-&gt;rear== q-&gt;front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队空，以下两种情况都满足该条件：</a:t>
            </a:r>
          </a:p>
        </p:txBody>
      </p:sp>
    </p:spTree>
    <p:extLst>
      <p:ext uri="{BB962C8B-B14F-4D97-AF65-F5344CB8AC3E}">
        <p14:creationId xmlns:p14="http://schemas.microsoft.com/office/powerpoint/2010/main" val="19304490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3D3C6-B792-C453-A675-17DD150D6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DF1FB1-39F8-E028-14F7-FC956DAF2D28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A8BEE8-9E0B-33C6-09D4-B68EA83EC126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808941D-44B7-5340-65AD-8F736D1525C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EEBDDB-0199-C563-20B7-D7BE35A70CF3}"/>
              </a:ext>
            </a:extLst>
          </p:cNvPr>
          <p:cNvSpPr txBox="1"/>
          <p:nvPr/>
        </p:nvSpPr>
        <p:spPr>
          <a:xfrm>
            <a:off x="1559495" y="1983305"/>
            <a:ext cx="792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、环形队列（或循环队列）中实现队列的基本运算算法</a:t>
            </a:r>
          </a:p>
        </p:txBody>
      </p:sp>
      <p:sp>
        <p:nvSpPr>
          <p:cNvPr id="8" name="Text Box 1028">
            <a:extLst>
              <a:ext uri="{FF2B5EF4-FFF2-40B4-BE49-F238E27FC236}">
                <a16:creationId xmlns:a16="http://schemas.microsoft.com/office/drawing/2014/main" id="{D5F4EE1B-D6EC-CF2F-FED0-DC4D1FC4E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933" y="2549985"/>
            <a:ext cx="23878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环形队列的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要素：</a:t>
            </a: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EF792C56-A8DD-2701-47AF-D500B7274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08" y="5302541"/>
            <a:ext cx="10513168" cy="113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在环形队列中，实现队列的基本运算算法与非环形队列类似，只是改为上述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要素即可。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CF128C-3EBA-D6D8-70DD-7213A05AB8A1}"/>
              </a:ext>
            </a:extLst>
          </p:cNvPr>
          <p:cNvSpPr txBox="1"/>
          <p:nvPr/>
        </p:nvSpPr>
        <p:spPr>
          <a:xfrm>
            <a:off x="1979932" y="3138010"/>
            <a:ext cx="8523836" cy="2000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队空条件：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q-&gt;rear== q-&gt;front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队满条件：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(q-&gt;rear+1)%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MaxSize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= q-&gt;front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进队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操作：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q-&gt;rear=(q-&gt;rear+1)%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MaxSize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;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将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放在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处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出队操作：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q-&gt;front=(q-&gt;front+1)%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MaxSize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;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取出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front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处元素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e; </a:t>
            </a:r>
          </a:p>
        </p:txBody>
      </p:sp>
    </p:spTree>
    <p:extLst>
      <p:ext uri="{BB962C8B-B14F-4D97-AF65-F5344CB8AC3E}">
        <p14:creationId xmlns:p14="http://schemas.microsoft.com/office/powerpoint/2010/main" val="15520459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D708E-2BE5-6CD7-11D6-D37F635D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A945BF-7B27-C0C9-3F8B-C0EE3EF1DEDE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EAAE65-66D7-A10F-5AF0-BD388646DA2A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FC1FD75-7C1E-9976-E65A-CE66BC10B90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80E45AF-D23F-BA14-C9FA-E1299FFBEDF5}"/>
              </a:ext>
            </a:extLst>
          </p:cNvPr>
          <p:cNvSpPr txBox="1"/>
          <p:nvPr/>
        </p:nvSpPr>
        <p:spPr>
          <a:xfrm>
            <a:off x="1559495" y="1983305"/>
            <a:ext cx="792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、环形队列（或循环队列）中实现队列的基本运算算法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1E7382B2-A54E-35F5-BDBD-124207108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964" y="3091024"/>
            <a:ext cx="6259509" cy="12883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判断队列是否为空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QueueEmpty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(q)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若队列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满足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q-&gt;front==q-&gt;rear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条件，则返回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true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；否则返回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false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AE98240E-9581-F18A-E488-64C63968B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561" y="4725144"/>
            <a:ext cx="4786346" cy="1398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44000" rIns="180000" bIns="144000">
            <a:spAutoFit/>
          </a:bodyPr>
          <a:lstStyle/>
          <a:p>
            <a:pPr algn="l"/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bool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QueueEmpty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*q)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</a:t>
            </a:r>
          </a:p>
          <a:p>
            <a:pPr algn="l"/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return(q-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&gt;front==q-&gt;rear);</a:t>
            </a:r>
          </a:p>
          <a:p>
            <a:pPr algn="l"/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0632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4D09A-90E4-C6F8-E890-E898E31E1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BE4013-9342-0143-7B99-BF4BE580281E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AF64FE-C0C1-29A4-8DAA-A6EC7A06E23F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A7C777A-7628-4DC2-233C-CE08F2BB552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596B382-FDB3-2FD1-DB1B-EECBD318F110}"/>
              </a:ext>
            </a:extLst>
          </p:cNvPr>
          <p:cNvSpPr txBox="1"/>
          <p:nvPr/>
        </p:nvSpPr>
        <p:spPr>
          <a:xfrm>
            <a:off x="1559495" y="1983305"/>
            <a:ext cx="792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、环形队列（或循环队列）中实现队列的基本运算算法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88E84FDD-E6D2-D976-22EC-183BDE6FA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132" y="2602311"/>
            <a:ext cx="6505009" cy="12883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进队列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enQueue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(q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e)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在队列不满的条件下，先将队尾指针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循环增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，然后将元素添加到该位置。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4BA1126E-7BD1-1C6C-9B22-B2643B1C6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9039" y="3997522"/>
            <a:ext cx="5763586" cy="22684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>
              <a:lnSpc>
                <a:spcPts val="2300"/>
              </a:lnSpc>
            </a:pP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enQueue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(SqQueue *&amp;q</a:t>
            </a:r>
            <a:r>
              <a:rPr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e)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 if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 pitchFamily="2" charset="2"/>
              </a:rPr>
              <a:t>rear+1)%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 pitchFamily="2" charset="2"/>
              </a:rPr>
              <a:t>MaxSize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 pitchFamily="2" charset="2"/>
              </a:rPr>
              <a:t>=front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队满上溢出</a:t>
            </a:r>
          </a:p>
          <a:p>
            <a:pPr algn="l">
              <a:lnSpc>
                <a:spcPts val="23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false;</a:t>
            </a:r>
          </a:p>
          <a:p>
            <a:pPr>
              <a:lnSpc>
                <a:spcPts val="23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q-&gt;rear=(q-&gt;rear+1)%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>
              <a:lnSpc>
                <a:spcPts val="23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q-&gt;data[q-&gt;rear]=e;</a:t>
            </a:r>
          </a:p>
          <a:p>
            <a:pPr algn="l">
              <a:lnSpc>
                <a:spcPts val="23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return true;</a:t>
            </a:r>
          </a:p>
          <a:p>
            <a:pPr algn="l">
              <a:lnSpc>
                <a:spcPts val="23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27275F81-C0BB-53A3-3095-718995241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4047953"/>
            <a:ext cx="5256584" cy="22684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>
              <a:lnSpc>
                <a:spcPts val="2300"/>
              </a:lnSpc>
            </a:pP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enQueue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(SqQueue *&amp;q</a:t>
            </a:r>
            <a:r>
              <a:rPr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e)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>
              <a:lnSpc>
                <a:spcPts val="23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 if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q-&gt;rear==MaxSize-1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队满上溢出</a:t>
            </a:r>
          </a:p>
          <a:p>
            <a:pPr algn="l">
              <a:lnSpc>
                <a:spcPts val="23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false;</a:t>
            </a:r>
          </a:p>
          <a:p>
            <a:pPr algn="l">
              <a:lnSpc>
                <a:spcPts val="23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q-&gt;rear++;</a:t>
            </a:r>
          </a:p>
          <a:p>
            <a:pPr algn="l">
              <a:lnSpc>
                <a:spcPts val="23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q-&gt;data[q-&gt;rear]=e;</a:t>
            </a:r>
          </a:p>
          <a:p>
            <a:pPr algn="l">
              <a:lnSpc>
                <a:spcPts val="23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return true;</a:t>
            </a:r>
          </a:p>
          <a:p>
            <a:pPr algn="l">
              <a:lnSpc>
                <a:spcPts val="23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65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29ECD-204C-521B-E169-E77C9905D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117B2AC-8F28-C17E-EFA0-0F8D0B6018E6}"/>
              </a:ext>
            </a:extLst>
          </p:cNvPr>
          <p:cNvSpPr/>
          <p:nvPr/>
        </p:nvSpPr>
        <p:spPr>
          <a:xfrm>
            <a:off x="691302" y="1185677"/>
            <a:ext cx="7708953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队列的顺序存储结构及基本运算的实现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D02337-7D14-64D4-E651-54264F57E394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DA04BDD-0E30-1B56-31BD-7AD817F9D02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BB49C06-7909-07A4-61F2-2D061CCC15F5}"/>
              </a:ext>
            </a:extLst>
          </p:cNvPr>
          <p:cNvSpPr txBox="1"/>
          <p:nvPr/>
        </p:nvSpPr>
        <p:spPr>
          <a:xfrm>
            <a:off x="1559495" y="1983305"/>
            <a:ext cx="792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、环形队列（或循环队列）中实现队列的基本运算算法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09CE2618-DE05-2AE6-C2FA-D3BC2AC77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2739887"/>
            <a:ext cx="6567740" cy="12883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出队列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dnQueue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(q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e)</a:t>
            </a: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 在队列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不为空的条件下，将队首指针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front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循环增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，并将该位置的元素值赋给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CE701226-9A96-0C08-8CD7-045042014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302" y="4108447"/>
            <a:ext cx="5184576" cy="2372545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>
              <a:lnSpc>
                <a:spcPts val="2400"/>
              </a:lnSpc>
            </a:pP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(SqQueue *&amp;q</a:t>
            </a:r>
            <a:r>
              <a:rPr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 if (q-&gt;front==q-&gt;rear)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队空下溢出</a:t>
            </a:r>
          </a:p>
          <a:p>
            <a:pPr algn="l">
              <a:lnSpc>
                <a:spcPts val="24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false;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q-&gt;front++;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e=q-&gt;data[q-&gt;front];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return true;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F792D9CA-4D06-4D37-346A-4F8FA5F51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921" y="4108447"/>
            <a:ext cx="5184576" cy="2372545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>
              <a:lnSpc>
                <a:spcPts val="2400"/>
              </a:lnSpc>
            </a:pP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(SqQueue *&amp;q</a:t>
            </a:r>
            <a:r>
              <a:rPr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 if (q-&gt;front==q-&gt;rear)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队空下溢出</a:t>
            </a:r>
          </a:p>
          <a:p>
            <a:pPr algn="l">
              <a:lnSpc>
                <a:spcPts val="24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false;</a:t>
            </a:r>
          </a:p>
          <a:p>
            <a:pPr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q-&gt;front=(q-&gt;front+1)%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e=q-&gt;data[q-&gt;front];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return true;</a:t>
            </a:r>
          </a:p>
          <a:p>
            <a:pPr algn="l">
              <a:lnSpc>
                <a:spcPts val="24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087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610846" y="2182951"/>
            <a:ext cx="78107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链队列（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Link Queue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是指用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链式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存储结构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表示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队列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4751546" y="2861028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607680" y="2907053"/>
            <a:ext cx="4028667" cy="5016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ct val="10000"/>
              </a:spcBef>
              <a:buClr>
                <a:schemeClr val="tx1"/>
              </a:buClr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，a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，…， 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en-US" altLang="zh-CN" sz="2800" baseline="-25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…，a</a:t>
            </a:r>
            <a:r>
              <a:rPr lang="en-US" altLang="zh-CN" sz="2800" baseline="-25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endParaRPr lang="en-US" altLang="zh-CN" sz="28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4751546" y="3458572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428381" y="370477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队头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34412" y="370477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队尾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 flipV="1">
            <a:off x="4813249" y="3482197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 flipV="1">
            <a:off x="8296677" y="346339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431704" y="2968547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队列：</a:t>
            </a:r>
          </a:p>
        </p:txBody>
      </p:sp>
      <p:sp>
        <p:nvSpPr>
          <p:cNvPr id="50" name="矩形 49"/>
          <p:cNvSpPr/>
          <p:nvPr/>
        </p:nvSpPr>
        <p:spPr>
          <a:xfrm>
            <a:off x="5839142" y="3573017"/>
            <a:ext cx="1482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逻辑结构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7AF4A3-7767-04A1-E0A3-E10ACFA0333A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A9EC171-348D-4064-5E69-7B4393C44F4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1696A58-07A7-C135-459B-9BAD7E526618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BCCFA1B-453C-C5BC-77AF-607DC5AF4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0496" y="4911903"/>
            <a:ext cx="792163" cy="4333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itchFamily="18" charset="2"/>
              </a:rPr>
              <a:t>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4DE4A55-23F1-8481-DCF0-B6C00AAD3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0496" y="5345290"/>
            <a:ext cx="792163" cy="4333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itchFamily="18" charset="2"/>
              </a:rPr>
              <a:t></a:t>
            </a: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E41E7FD6-0D2E-A6D4-85E8-EDFEFDC9F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8696" y="5056365"/>
            <a:ext cx="4318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3947A661-9360-8286-B694-93601EE36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2271" y="4865842"/>
            <a:ext cx="433387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i="1" dirty="0">
                <a:latin typeface="Consolas" pitchFamily="49" charset="0"/>
                <a:cs typeface="Consolas" pitchFamily="49" charset="0"/>
              </a:rPr>
              <a:t>q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3A70508A-E0EC-5BC0-5F25-ADF47D146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3355" y="543899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4EF790E0-DD7E-5545-67D7-56C0488D2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2524" y="4950010"/>
            <a:ext cx="792163" cy="4333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sz="1800">
              <a:latin typeface="Consolas" pitchFamily="49" charset="0"/>
              <a:cs typeface="Consolas" pitchFamily="49" charset="0"/>
              <a:sym typeface="Symbol" pitchFamily="18" charset="2"/>
            </a:endParaRP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61BD4E98-F2FF-239B-77A5-57B9E08F2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2524" y="5383398"/>
            <a:ext cx="792163" cy="4333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sz="1800">
              <a:latin typeface="Consolas" pitchFamily="49" charset="0"/>
              <a:cs typeface="Consolas" pitchFamily="49" charset="0"/>
              <a:sym typeface="Symbol" pitchFamily="18" charset="2"/>
            </a:endParaRPr>
          </a:p>
        </p:txBody>
      </p:sp>
      <p:sp>
        <p:nvSpPr>
          <p:cNvPr id="29" name="Line 14">
            <a:extLst>
              <a:ext uri="{FF2B5EF4-FFF2-40B4-BE49-F238E27FC236}">
                <a16:creationId xmlns:a16="http://schemas.microsoft.com/office/drawing/2014/main" id="{DF953450-4648-0E74-5038-DFC1FCC42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0724" y="5094473"/>
            <a:ext cx="4318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0" name="Text Box 15">
            <a:extLst>
              <a:ext uri="{FF2B5EF4-FFF2-40B4-BE49-F238E27FC236}">
                <a16:creationId xmlns:a16="http://schemas.microsoft.com/office/drawing/2014/main" id="{5350BB79-AC7C-0EFA-E360-E388A95D4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337" y="4892849"/>
            <a:ext cx="433387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i="1" dirty="0">
                <a:latin typeface="Consolas" pitchFamily="49" charset="0"/>
                <a:cs typeface="Consolas" pitchFamily="49" charset="0"/>
              </a:rPr>
              <a:t>q</a:t>
            </a:r>
          </a:p>
        </p:txBody>
      </p:sp>
      <p:sp>
        <p:nvSpPr>
          <p:cNvPr id="35" name="Rectangle 16">
            <a:extLst>
              <a:ext uri="{FF2B5EF4-FFF2-40B4-BE49-F238E27FC236}">
                <a16:creationId xmlns:a16="http://schemas.microsoft.com/office/drawing/2014/main" id="{A3881F76-294D-22A6-DBE2-BA965A345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337" y="4951598"/>
            <a:ext cx="431800" cy="4333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1800" baseline="-25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</a:p>
        </p:txBody>
      </p:sp>
      <p:sp>
        <p:nvSpPr>
          <p:cNvPr id="36" name="Rectangle 17">
            <a:extLst>
              <a:ext uri="{FF2B5EF4-FFF2-40B4-BE49-F238E27FC236}">
                <a16:creationId xmlns:a16="http://schemas.microsoft.com/office/drawing/2014/main" id="{A0B3A51A-83A7-2355-0A42-5146E8AEF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724" y="4953185"/>
            <a:ext cx="431800" cy="4333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37" name="Line 18">
            <a:extLst>
              <a:ext uri="{FF2B5EF4-FFF2-40B4-BE49-F238E27FC236}">
                <a16:creationId xmlns:a16="http://schemas.microsoft.com/office/drawing/2014/main" id="{21EA9BBB-8FE5-6B39-6790-911A63557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174" y="5169085"/>
            <a:ext cx="7921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D0A5F263-2CEE-7D25-65B7-ACFFB2902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0887" y="4953185"/>
            <a:ext cx="431800" cy="4333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1800" i="1" baseline="-25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</a:p>
        </p:txBody>
      </p:sp>
      <p:sp>
        <p:nvSpPr>
          <p:cNvPr id="41" name="Rectangle 20">
            <a:extLst>
              <a:ext uri="{FF2B5EF4-FFF2-40B4-BE49-F238E27FC236}">
                <a16:creationId xmlns:a16="http://schemas.microsoft.com/office/drawing/2014/main" id="{1ECA9BB8-1895-3CAF-11C2-379533392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4274" y="4954773"/>
            <a:ext cx="431800" cy="4333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altLang="zh-CN" sz="1800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  <a:p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2" name="Line 21">
            <a:extLst>
              <a:ext uri="{FF2B5EF4-FFF2-40B4-BE49-F238E27FC236}">
                <a16:creationId xmlns:a16="http://schemas.microsoft.com/office/drawing/2014/main" id="{CF298B9A-60C5-6C9D-40BD-39BAF1B2FD2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8724" y="5170673"/>
            <a:ext cx="7921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2" name="Line 22">
            <a:extLst>
              <a:ext uri="{FF2B5EF4-FFF2-40B4-BE49-F238E27FC236}">
                <a16:creationId xmlns:a16="http://schemas.microsoft.com/office/drawing/2014/main" id="{BCCC60A6-A99E-2D68-FED0-0EE26CE8E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4037" y="5169085"/>
            <a:ext cx="79216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3" name="Line 23">
            <a:extLst>
              <a:ext uri="{FF2B5EF4-FFF2-40B4-BE49-F238E27FC236}">
                <a16:creationId xmlns:a16="http://schemas.microsoft.com/office/drawing/2014/main" id="{8347D5AE-045D-5AC0-3B23-60EAF3F03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174" y="5672323"/>
            <a:ext cx="45370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4" name="Line 24">
            <a:extLst>
              <a:ext uri="{FF2B5EF4-FFF2-40B4-BE49-F238E27FC236}">
                <a16:creationId xmlns:a16="http://schemas.microsoft.com/office/drawing/2014/main" id="{30FFEABA-2D5F-7699-A2AB-40D4A2D334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1249" y="5384985"/>
            <a:ext cx="0" cy="2873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5" name="Text Box 25">
            <a:extLst>
              <a:ext uri="{FF2B5EF4-FFF2-40B4-BE49-F238E27FC236}">
                <a16:creationId xmlns:a16="http://schemas.microsoft.com/office/drawing/2014/main" id="{4B8931E1-1471-87A4-F00F-7393E8F4C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5272" y="4975958"/>
            <a:ext cx="792162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宋体" pitchFamily="2" charset="-122"/>
                <a:ea typeface="宋体" pitchFamily="2" charset="-122"/>
                <a:cs typeface="Consolas" pitchFamily="49" charset="0"/>
              </a:rPr>
              <a:t>…</a:t>
            </a:r>
          </a:p>
        </p:txBody>
      </p:sp>
      <p:sp>
        <p:nvSpPr>
          <p:cNvPr id="66" name="Text Box 26">
            <a:extLst>
              <a:ext uri="{FF2B5EF4-FFF2-40B4-BE49-F238E27FC236}">
                <a16:creationId xmlns:a16="http://schemas.microsoft.com/office/drawing/2014/main" id="{41C7B206-B3FF-A97B-210B-FF9152CB3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6337" y="4376923"/>
            <a:ext cx="720725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队头</a:t>
            </a:r>
          </a:p>
        </p:txBody>
      </p:sp>
      <p:sp>
        <p:nvSpPr>
          <p:cNvPr id="67" name="Text Box 27">
            <a:extLst>
              <a:ext uri="{FF2B5EF4-FFF2-40B4-BE49-F238E27FC236}">
                <a16:creationId xmlns:a16="http://schemas.microsoft.com/office/drawing/2014/main" id="{76C4E6B8-705D-B802-5962-29DF4FFAC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324" y="4376923"/>
            <a:ext cx="720725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队尾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0230C5E-8908-793A-8EE8-60A19EA241CD}"/>
              </a:ext>
            </a:extLst>
          </p:cNvPr>
          <p:cNvSpPr txBox="1"/>
          <p:nvPr/>
        </p:nvSpPr>
        <p:spPr>
          <a:xfrm>
            <a:off x="10773355" y="500778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69" name="Text Box 10">
            <a:extLst>
              <a:ext uri="{FF2B5EF4-FFF2-40B4-BE49-F238E27FC236}">
                <a16:creationId xmlns:a16="http://schemas.microsoft.com/office/drawing/2014/main" id="{64F46163-58BA-6195-FE48-890954F58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5477" y="5523204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9CCF0A5-0076-506D-9375-0C869177D1FE}"/>
              </a:ext>
            </a:extLst>
          </p:cNvPr>
          <p:cNvSpPr txBox="1"/>
          <p:nvPr/>
        </p:nvSpPr>
        <p:spPr>
          <a:xfrm>
            <a:off x="3285477" y="5091993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71" name="Text Box 27">
            <a:extLst>
              <a:ext uri="{FF2B5EF4-FFF2-40B4-BE49-F238E27FC236}">
                <a16:creationId xmlns:a16="http://schemas.microsoft.com/office/drawing/2014/main" id="{1B14BCFF-5CCE-0FB6-0D4E-A87EA972C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0496" y="5949280"/>
            <a:ext cx="720725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空队</a:t>
            </a:r>
          </a:p>
        </p:txBody>
      </p:sp>
    </p:spTree>
    <p:extLst>
      <p:ext uri="{BB962C8B-B14F-4D97-AF65-F5344CB8AC3E}">
        <p14:creationId xmlns:p14="http://schemas.microsoft.com/office/powerpoint/2010/main" val="323373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3" grpId="0"/>
      <p:bldP spid="14" grpId="0" animBg="1"/>
      <p:bldP spid="15" grpId="0"/>
      <p:bldP spid="16" grpId="0"/>
      <p:bldP spid="17" grpId="0" animBg="1"/>
      <p:bldP spid="18" grpId="0" animBg="1"/>
      <p:bldP spid="19" grpId="0"/>
      <p:bldP spid="50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36"/>
          <p:cNvGrpSpPr>
            <a:grpSpLocks/>
          </p:cNvGrpSpPr>
          <p:nvPr/>
        </p:nvGrpSpPr>
        <p:grpSpPr bwMode="auto">
          <a:xfrm>
            <a:off x="6744072" y="3537339"/>
            <a:ext cx="4992947" cy="857250"/>
            <a:chOff x="884" y="2462"/>
            <a:chExt cx="3273" cy="540"/>
          </a:xfrm>
        </p:grpSpPr>
        <p:sp>
          <p:nvSpPr>
            <p:cNvPr id="67" name="Rectangle 8"/>
            <p:cNvSpPr>
              <a:spLocks noChangeArrowheads="1"/>
            </p:cNvSpPr>
            <p:nvPr/>
          </p:nvSpPr>
          <p:spPr bwMode="auto">
            <a:xfrm>
              <a:off x="2488" y="2462"/>
              <a:ext cx="7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sz="2000" dirty="0"/>
                <a:t>数据域</a:t>
              </a:r>
            </a:p>
          </p:txBody>
        </p:sp>
        <p:sp>
          <p:nvSpPr>
            <p:cNvPr id="68" name="Rectangle 10"/>
            <p:cNvSpPr>
              <a:spLocks noChangeArrowheads="1"/>
            </p:cNvSpPr>
            <p:nvPr/>
          </p:nvSpPr>
          <p:spPr bwMode="auto">
            <a:xfrm>
              <a:off x="2480" y="2750"/>
              <a:ext cx="7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sz="2000" dirty="0"/>
                <a:t>指针域</a:t>
              </a:r>
            </a:p>
          </p:txBody>
        </p:sp>
        <p:grpSp>
          <p:nvGrpSpPr>
            <p:cNvPr id="69" name="Group 20"/>
            <p:cNvGrpSpPr>
              <a:grpSpLocks/>
            </p:cNvGrpSpPr>
            <p:nvPr/>
          </p:nvGrpSpPr>
          <p:grpSpPr bwMode="auto">
            <a:xfrm>
              <a:off x="884" y="2704"/>
              <a:ext cx="1152" cy="240"/>
              <a:chOff x="1008" y="2784"/>
              <a:chExt cx="1392" cy="240"/>
            </a:xfrm>
          </p:grpSpPr>
          <p:sp>
            <p:nvSpPr>
              <p:cNvPr id="78" name="Rectangle 4"/>
              <p:cNvSpPr>
                <a:spLocks noChangeArrowheads="1"/>
              </p:cNvSpPr>
              <p:nvPr/>
            </p:nvSpPr>
            <p:spPr bwMode="auto">
              <a:xfrm>
                <a:off x="1008" y="2784"/>
                <a:ext cx="72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微软雅黑" pitchFamily="34" charset="-122"/>
                    <a:ea typeface="微软雅黑" pitchFamily="34" charset="-122"/>
                  </a:rPr>
                  <a:t>data</a:t>
                </a:r>
              </a:p>
            </p:txBody>
          </p:sp>
          <p:sp>
            <p:nvSpPr>
              <p:cNvPr id="79" name="Rectangle 5"/>
              <p:cNvSpPr>
                <a:spLocks noChangeArrowheads="1"/>
              </p:cNvSpPr>
              <p:nvPr/>
            </p:nvSpPr>
            <p:spPr bwMode="auto">
              <a:xfrm>
                <a:off x="1728" y="2784"/>
                <a:ext cx="672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微软雅黑" pitchFamily="34" charset="-122"/>
                    <a:ea typeface="微软雅黑" pitchFamily="34" charset="-122"/>
                  </a:rPr>
                  <a:t>next</a:t>
                </a:r>
              </a:p>
            </p:txBody>
          </p:sp>
        </p:grpSp>
        <p:grpSp>
          <p:nvGrpSpPr>
            <p:cNvPr id="70" name="Group 31"/>
            <p:cNvGrpSpPr>
              <a:grpSpLocks/>
            </p:cNvGrpSpPr>
            <p:nvPr/>
          </p:nvGrpSpPr>
          <p:grpSpPr bwMode="auto">
            <a:xfrm>
              <a:off x="3560" y="2523"/>
              <a:ext cx="597" cy="477"/>
              <a:chOff x="3560" y="2296"/>
              <a:chExt cx="597" cy="477"/>
            </a:xfrm>
          </p:grpSpPr>
          <p:sp>
            <p:nvSpPr>
              <p:cNvPr id="76" name="Rectangle 14"/>
              <p:cNvSpPr>
                <a:spLocks noChangeArrowheads="1"/>
              </p:cNvSpPr>
              <p:nvPr/>
            </p:nvSpPr>
            <p:spPr bwMode="auto">
              <a:xfrm>
                <a:off x="3560" y="2533"/>
                <a:ext cx="597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微软雅黑" pitchFamily="34" charset="-122"/>
                    <a:ea typeface="微软雅黑" pitchFamily="34" charset="-122"/>
                  </a:rPr>
                  <a:t>next</a:t>
                </a:r>
              </a:p>
            </p:txBody>
          </p:sp>
          <p:sp>
            <p:nvSpPr>
              <p:cNvPr id="77" name="Rectangle 15"/>
              <p:cNvSpPr>
                <a:spLocks noChangeArrowheads="1"/>
              </p:cNvSpPr>
              <p:nvPr/>
            </p:nvSpPr>
            <p:spPr bwMode="auto">
              <a:xfrm>
                <a:off x="3560" y="2296"/>
                <a:ext cx="597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微软雅黑" pitchFamily="34" charset="-122"/>
                    <a:ea typeface="微软雅黑" pitchFamily="34" charset="-122"/>
                  </a:rPr>
                  <a:t>data</a:t>
                </a:r>
              </a:p>
            </p:txBody>
          </p:sp>
        </p:grpSp>
        <p:sp>
          <p:nvSpPr>
            <p:cNvPr id="71" name="Line 30"/>
            <p:cNvSpPr>
              <a:spLocks noChangeShapeType="1"/>
            </p:cNvSpPr>
            <p:nvPr/>
          </p:nvSpPr>
          <p:spPr bwMode="auto">
            <a:xfrm>
              <a:off x="3152" y="2886"/>
              <a:ext cx="4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32"/>
            <p:cNvSpPr>
              <a:spLocks noChangeShapeType="1"/>
            </p:cNvSpPr>
            <p:nvPr/>
          </p:nvSpPr>
          <p:spPr bwMode="auto">
            <a:xfrm flipH="1">
              <a:off x="2064" y="2886"/>
              <a:ext cx="4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33"/>
            <p:cNvSpPr>
              <a:spLocks noChangeShapeType="1"/>
            </p:cNvSpPr>
            <p:nvPr/>
          </p:nvSpPr>
          <p:spPr bwMode="auto">
            <a:xfrm>
              <a:off x="3152" y="2614"/>
              <a:ext cx="4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34"/>
            <p:cNvSpPr>
              <a:spLocks noChangeShapeType="1"/>
            </p:cNvSpPr>
            <p:nvPr/>
          </p:nvSpPr>
          <p:spPr bwMode="auto">
            <a:xfrm>
              <a:off x="1383" y="2588"/>
              <a:ext cx="0" cy="1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35"/>
            <p:cNvSpPr>
              <a:spLocks noChangeShapeType="1"/>
            </p:cNvSpPr>
            <p:nvPr/>
          </p:nvSpPr>
          <p:spPr bwMode="auto">
            <a:xfrm>
              <a:off x="1383" y="2588"/>
              <a:ext cx="104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" name="矩形 82"/>
          <p:cNvSpPr/>
          <p:nvPr/>
        </p:nvSpPr>
        <p:spPr>
          <a:xfrm>
            <a:off x="1703512" y="6262407"/>
            <a:ext cx="1806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>
                <a:latin typeface="Times New Roman" pitchFamily="18" charset="0"/>
                <a:ea typeface="宋体" charset="-122"/>
              </a:rPr>
              <a:t>LinkQuNode</a:t>
            </a:r>
            <a:r>
              <a:rPr kumimoji="1" lang="en-US" altLang="zh-CN" dirty="0">
                <a:latin typeface="Times New Roman" pitchFamily="18" charset="0"/>
                <a:ea typeface="宋体" charset="-122"/>
              </a:rPr>
              <a:t> q</a:t>
            </a:r>
            <a:r>
              <a:rPr kumimoji="1" lang="zh-CN" altLang="en-US" dirty="0">
                <a:latin typeface="Times New Roman" pitchFamily="18" charset="0"/>
                <a:ea typeface="宋体" charset="-122"/>
              </a:rPr>
              <a:t>；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2A2BC15-689A-1D2F-0856-6EEDD92D38D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7595D4C-2EA2-016D-E803-67F4AC15F077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2">
            <a:extLst>
              <a:ext uri="{FF2B5EF4-FFF2-40B4-BE49-F238E27FC236}">
                <a16:creationId xmlns:a16="http://schemas.microsoft.com/office/drawing/2014/main" id="{0B241F1C-22B2-14FF-9705-1F0397174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939" y="2370411"/>
            <a:ext cx="4716615" cy="17416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typedef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qnode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ElemType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数据元素</a:t>
            </a:r>
          </a:p>
          <a:p>
            <a:pPr algn="just">
              <a:spcBef>
                <a:spcPct val="50000"/>
              </a:spcBef>
            </a:pP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*next;</a:t>
            </a:r>
          </a:p>
          <a:p>
            <a:pPr algn="just">
              <a:spcBef>
                <a:spcPct val="50000"/>
              </a:spcBef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 </a:t>
            </a:r>
            <a:r>
              <a:rPr kumimoji="1" lang="en-US" altLang="zh-CN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DataNode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 Box 1029">
            <a:extLst>
              <a:ext uri="{FF2B5EF4-FFF2-40B4-BE49-F238E27FC236}">
                <a16:creationId xmlns:a16="http://schemas.microsoft.com/office/drawing/2014/main" id="{F7435E3D-BE92-1D7D-102B-F97F551F8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932" y="1829331"/>
            <a:ext cx="6138125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单链表中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数据结点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类型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DataNode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声明如下：</a:t>
            </a:r>
          </a:p>
        </p:txBody>
      </p:sp>
      <p:sp>
        <p:nvSpPr>
          <p:cNvPr id="8" name="Text Box 1028">
            <a:extLst>
              <a:ext uri="{FF2B5EF4-FFF2-40B4-BE49-F238E27FC236}">
                <a16:creationId xmlns:a16="http://schemas.microsoft.com/office/drawing/2014/main" id="{65DC0F07-8ABF-CB29-92EE-ABB85971C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533" y="4302514"/>
            <a:ext cx="4423627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链队结点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类型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LinkQuNode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声明如下：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C8A283-463F-ACF7-874C-A5429DEF05C8}"/>
              </a:ext>
            </a:extLst>
          </p:cNvPr>
          <p:cNvSpPr txBox="1"/>
          <p:nvPr/>
        </p:nvSpPr>
        <p:spPr>
          <a:xfrm>
            <a:off x="1608830" y="4678398"/>
            <a:ext cx="6103398" cy="1502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typedef struct</a:t>
            </a:r>
          </a:p>
          <a:p>
            <a:pPr algn="l">
              <a:lnSpc>
                <a:spcPct val="130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 err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*front;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指向单链表队头结点</a:t>
            </a:r>
          </a:p>
          <a:p>
            <a:pPr algn="l">
              <a:lnSpc>
                <a:spcPct val="130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 err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*rear; 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指向单链表队尾结点</a:t>
            </a:r>
          </a:p>
          <a:p>
            <a:pPr algn="l">
              <a:lnSpc>
                <a:spcPct val="130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 </a:t>
            </a:r>
            <a:r>
              <a:rPr kumimoji="1" lang="en-US" altLang="zh-CN" sz="1800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LinkQuNode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 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7C5990-E297-A7A7-D3F0-EDE5436C5421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797464D-E999-C1D4-99EF-A73DB4970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1906" y="4860573"/>
            <a:ext cx="792163" cy="4333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altLang="zh-CN" sz="1800" dirty="0">
              <a:solidFill>
                <a:srgbClr val="0000FF"/>
              </a:solidFill>
              <a:latin typeface="Consolas" pitchFamily="49" charset="0"/>
              <a:cs typeface="Consolas" pitchFamily="49" charset="0"/>
              <a:sym typeface="Symbol" pitchFamily="18" charset="2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04B5442B-FBD2-7CE6-225F-998DFAB83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1906" y="5293960"/>
            <a:ext cx="792163" cy="4333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altLang="zh-CN" sz="1800" dirty="0">
              <a:solidFill>
                <a:srgbClr val="0000FF"/>
              </a:solidFill>
              <a:latin typeface="Consolas" pitchFamily="49" charset="0"/>
              <a:cs typeface="Consolas" pitchFamily="49" charset="0"/>
              <a:sym typeface="Symbol" pitchFamily="18" charset="2"/>
            </a:endParaRP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08DDE14E-D301-E00E-0A27-C3052CA62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50106" y="5005035"/>
            <a:ext cx="4318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F534C4C4-97BC-42E0-C881-E62035ECC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3681" y="4814512"/>
            <a:ext cx="433387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i="1" dirty="0">
                <a:latin typeface="Consolas" pitchFamily="49" charset="0"/>
                <a:cs typeface="Consolas" pitchFamily="49" charset="0"/>
              </a:rPr>
              <a:t>q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EBF41F90-91EF-ECA1-3064-F7E00C2E7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4765" y="538766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036875-01D9-CDD2-FD76-4D5C5286CEBE}"/>
              </a:ext>
            </a:extLst>
          </p:cNvPr>
          <p:cNvSpPr txBox="1"/>
          <p:nvPr/>
        </p:nvSpPr>
        <p:spPr>
          <a:xfrm>
            <a:off x="9694765" y="495645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86" name="Line 6"/>
          <p:cNvSpPr>
            <a:spLocks noChangeShapeType="1"/>
          </p:cNvSpPr>
          <p:nvPr/>
        </p:nvSpPr>
        <p:spPr bwMode="auto">
          <a:xfrm flipV="1">
            <a:off x="10236834" y="5080510"/>
            <a:ext cx="34633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Line 6"/>
          <p:cNvSpPr>
            <a:spLocks noChangeShapeType="1"/>
          </p:cNvSpPr>
          <p:nvPr/>
        </p:nvSpPr>
        <p:spPr bwMode="auto">
          <a:xfrm flipV="1">
            <a:off x="10236834" y="5470609"/>
            <a:ext cx="34633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76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6" grpId="0" animBg="1"/>
      <p:bldP spid="8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73F89-69C3-2AE2-1366-7A8D3794C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80828D1-3FE1-31F2-B680-454C8223E12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0CCBD8B-F210-0E5B-04F7-765F89D2B4D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6">
            <a:extLst>
              <a:ext uri="{FF2B5EF4-FFF2-40B4-BE49-F238E27FC236}">
                <a16:creationId xmlns:a16="http://schemas.microsoft.com/office/drawing/2014/main" id="{611E76AA-B51F-31A0-A578-E65C8A433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128" y="2061195"/>
            <a:ext cx="792163" cy="4333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itchFamily="18" charset="2"/>
              </a:rPr>
              <a:t>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E65A216-ABE6-7913-B3D4-96C3A5D15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128" y="2494582"/>
            <a:ext cx="792163" cy="4333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itchFamily="18" charset="2"/>
              </a:rPr>
              <a:t></a:t>
            </a: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4ADE907-E496-D942-59D8-419B9F3307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1328" y="2205657"/>
            <a:ext cx="4318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73C7456-1B3F-F17C-AC80-AA743C7AE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4903" y="2015134"/>
            <a:ext cx="433387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i="1" dirty="0">
                <a:latin typeface="Consolas" pitchFamily="49" charset="0"/>
                <a:cs typeface="Consolas" pitchFamily="49" charset="0"/>
              </a:rPr>
              <a:t>q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04A535D3-6991-B8BE-160B-037D639A8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5987" y="2588290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CB9B39B6-37FF-EEAE-8E45-CE66A6968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2880" y="3421202"/>
            <a:ext cx="792163" cy="4333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sz="1800">
              <a:latin typeface="Consolas" pitchFamily="49" charset="0"/>
              <a:cs typeface="Consolas" pitchFamily="49" charset="0"/>
              <a:sym typeface="Symbol" pitchFamily="18" charset="2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7BD23FBF-1C2A-10AB-55E1-CC8F2CE54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2880" y="3854590"/>
            <a:ext cx="792163" cy="4333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 sz="1800">
              <a:latin typeface="Consolas" pitchFamily="49" charset="0"/>
              <a:cs typeface="Consolas" pitchFamily="49" charset="0"/>
              <a:sym typeface="Symbol" pitchFamily="18" charset="2"/>
            </a:endParaRP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700494F8-6027-E86D-E70F-97640E649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80" y="3565665"/>
            <a:ext cx="4318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05E14E45-AAE7-F68E-8CA2-027BF4EFE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693" y="3364041"/>
            <a:ext cx="433387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i="1" dirty="0">
                <a:latin typeface="Consolas" pitchFamily="49" charset="0"/>
                <a:cs typeface="Consolas" pitchFamily="49" charset="0"/>
              </a:rPr>
              <a:t>q</a:t>
            </a: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CEEDD91B-8F94-2E93-09A8-97D2F9B8A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693" y="3422790"/>
            <a:ext cx="431800" cy="4333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1800" baseline="-25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9AF23AA1-A022-13CC-9D8A-0249B6D4D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080" y="3424377"/>
            <a:ext cx="431800" cy="4333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21763465-EC07-A597-3EC7-D7B93A094A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4530" y="3640277"/>
            <a:ext cx="7921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A7CADA97-45FB-2BDF-F30F-59E405C32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243" y="3424377"/>
            <a:ext cx="431800" cy="4333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1800" i="1" baseline="-25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C96BD9EB-697E-190D-93AA-A9EE1E448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630" y="3425965"/>
            <a:ext cx="431800" cy="4333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altLang="zh-CN" sz="1800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  <a:p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DCA76F2A-9D48-D21B-501F-7C75A8CD2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9080" y="3641865"/>
            <a:ext cx="7921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257F9E72-690E-9102-8AB1-1B18DF7E6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4393" y="3640277"/>
            <a:ext cx="79216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58325D6A-135A-79A7-E1DB-39C7FF6589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4530" y="4143515"/>
            <a:ext cx="45370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F2AE906B-0D70-9749-05E7-C87813313F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51605" y="3856177"/>
            <a:ext cx="0" cy="2873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1A7B1BC6-96FD-4D24-50A5-0DD92F3BB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628" y="3447150"/>
            <a:ext cx="792162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latin typeface="宋体" pitchFamily="2" charset="-122"/>
                <a:ea typeface="宋体" pitchFamily="2" charset="-122"/>
                <a:cs typeface="Consolas" pitchFamily="49" charset="0"/>
              </a:rPr>
              <a:t>…</a:t>
            </a:r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E0B89A19-2894-D045-A717-F04F6CFFF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6693" y="2848115"/>
            <a:ext cx="720725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队头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9C079C47-D57B-B1E8-856C-2C1605BAF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680" y="2848115"/>
            <a:ext cx="720725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队尾</a:t>
            </a:r>
          </a:p>
        </p:txBody>
      </p:sp>
      <p:sp>
        <p:nvSpPr>
          <p:cNvPr id="32" name="Text Box 5">
            <a:extLst>
              <a:ext uri="{FF2B5EF4-FFF2-40B4-BE49-F238E27FC236}">
                <a16:creationId xmlns:a16="http://schemas.microsoft.com/office/drawing/2014/main" id="{74F77A55-FAF3-52B0-B0A5-09232056E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630" y="4477880"/>
            <a:ext cx="30814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链队的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要素：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DC32FCF-6D13-406C-5110-CC9E675FA837}"/>
              </a:ext>
            </a:extLst>
          </p:cNvPr>
          <p:cNvSpPr txBox="1"/>
          <p:nvPr/>
        </p:nvSpPr>
        <p:spPr>
          <a:xfrm>
            <a:off x="1924903" y="5005939"/>
            <a:ext cx="610339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队空条件：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q-&gt;front==q-&gt;rear==NULL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队满条件：不考虑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进队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操作：将包含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的结点插入到单链表表尾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出队操作：删除单链表首数据结点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642FDD7-C549-A8F0-B2F8-78B649D2A2B2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26F29B-299B-191C-2BD2-A96E6D10AE62}"/>
              </a:ext>
            </a:extLst>
          </p:cNvPr>
          <p:cNvSpPr txBox="1"/>
          <p:nvPr/>
        </p:nvSpPr>
        <p:spPr>
          <a:xfrm>
            <a:off x="2975987" y="2157079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BC90C572-861C-519B-CF9D-7AE08B49C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5833" y="3994396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582002-3CE9-1903-5914-A7D977B3B904}"/>
              </a:ext>
            </a:extLst>
          </p:cNvPr>
          <p:cNvSpPr txBox="1"/>
          <p:nvPr/>
        </p:nvSpPr>
        <p:spPr>
          <a:xfrm>
            <a:off x="2885833" y="3563185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</p:spTree>
    <p:extLst>
      <p:ext uri="{BB962C8B-B14F-4D97-AF65-F5344CB8AC3E}">
        <p14:creationId xmlns:p14="http://schemas.microsoft.com/office/powerpoint/2010/main" val="24903533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2C736-D8FF-14EB-99B6-C15F66B15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3FA8B86-57D5-72A0-32DE-D8EB1578256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3B34AED-B80A-9E17-84B5-FB1ABCF4718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2">
            <a:extLst>
              <a:ext uri="{FF2B5EF4-FFF2-40B4-BE49-F238E27FC236}">
                <a16:creationId xmlns:a16="http://schemas.microsoft.com/office/drawing/2014/main" id="{C2D9A951-0FB0-B09E-3F23-CF87E008D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2288525"/>
            <a:ext cx="8143932" cy="1288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  <a:spcBef>
                <a:spcPts val="60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）初始化队列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InitQueue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(q)</a:t>
            </a:r>
          </a:p>
          <a:p>
            <a:pPr algn="just">
              <a:lnSpc>
                <a:spcPts val="3000"/>
              </a:lnSpc>
              <a:spcBef>
                <a:spcPts val="600"/>
              </a:spcBef>
            </a:pP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构造一个空队列，即只创建一个链队头结点，其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front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域均置为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NULL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，不创建数据元素结点。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F51EC369-FDD8-633C-F49F-A3A06B07C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581" y="3795331"/>
            <a:ext cx="6286544" cy="15278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void </a:t>
            </a:r>
            <a:r>
              <a:rPr lang="en-US" altLang="zh-CN" sz="18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InitQueue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(LinkQuNode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*&amp;q)</a:t>
            </a:r>
          </a:p>
          <a:p>
            <a:pPr algn="l">
              <a:lnSpc>
                <a:spcPts val="26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  q=(LinkQuNode *)malloc(sizeof(LinkQuNode));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q-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&gt;front=q-&gt;rear=NULL;</a:t>
            </a:r>
          </a:p>
          <a:p>
            <a:pPr algn="l">
              <a:lnSpc>
                <a:spcPts val="26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</a:p>
        </p:txBody>
      </p:sp>
      <p:grpSp>
        <p:nvGrpSpPr>
          <p:cNvPr id="8" name="组合 15">
            <a:extLst>
              <a:ext uri="{FF2B5EF4-FFF2-40B4-BE49-F238E27FC236}">
                <a16:creationId xmlns:a16="http://schemas.microsoft.com/office/drawing/2014/main" id="{6A716A0D-A34F-9ADB-F342-978DC212E367}"/>
              </a:ext>
            </a:extLst>
          </p:cNvPr>
          <p:cNvGrpSpPr/>
          <p:nvPr/>
        </p:nvGrpSpPr>
        <p:grpSpPr>
          <a:xfrm>
            <a:off x="8688288" y="3848302"/>
            <a:ext cx="2862281" cy="1474856"/>
            <a:chOff x="2501882" y="4730742"/>
            <a:chExt cx="2862281" cy="1474856"/>
          </a:xfrm>
        </p:grpSpPr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B2D2F885-0F00-BF8D-8D36-57D44C92C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5805488"/>
              <a:ext cx="2087563" cy="40011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链队结点</a:t>
              </a:r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6C91ED41-150D-D160-3833-5AB863C21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7" y="477680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  <a:sym typeface="Symbol" pitchFamily="18" charset="2"/>
                </a:rPr>
                <a:t></a:t>
              </a:r>
            </a:p>
          </p:txBody>
        </p:sp>
        <p:sp>
          <p:nvSpPr>
            <p:cNvPr id="35" name="Rectangle 7">
              <a:extLst>
                <a:ext uri="{FF2B5EF4-FFF2-40B4-BE49-F238E27FC236}">
                  <a16:creationId xmlns:a16="http://schemas.microsoft.com/office/drawing/2014/main" id="{26F4AD2B-796C-CB09-1F49-F15C1AC9E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7" y="5210190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20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  <a:sym typeface="Symbol" pitchFamily="18" charset="2"/>
                </a:rPr>
                <a:t></a:t>
              </a:r>
            </a:p>
          </p:txBody>
        </p:sp>
        <p:sp>
          <p:nvSpPr>
            <p:cNvPr id="36" name="Line 8">
              <a:extLst>
                <a:ext uri="{FF2B5EF4-FFF2-40B4-BE49-F238E27FC236}">
                  <a16:creationId xmlns:a16="http://schemas.microsoft.com/office/drawing/2014/main" id="{699BED2B-923A-E6DF-1F12-2B147E606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8307" y="4921265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7" name="Text Box 9">
              <a:extLst>
                <a:ext uri="{FF2B5EF4-FFF2-40B4-BE49-F238E27FC236}">
                  <a16:creationId xmlns:a16="http://schemas.microsoft.com/office/drawing/2014/main" id="{D3E0CB39-CA9A-8E30-682B-ABD9432D3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882" y="4730742"/>
              <a:ext cx="433387" cy="39687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C2A92B5C-1903-8968-02DB-CCFBBECB6325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142333CD-EBCD-2F81-FD10-2988171D0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8408" y="4458551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4C9C9F-367C-D464-D1E7-282440226F18}"/>
              </a:ext>
            </a:extLst>
          </p:cNvPr>
          <p:cNvSpPr txBox="1"/>
          <p:nvPr/>
        </p:nvSpPr>
        <p:spPr>
          <a:xfrm>
            <a:off x="9768408" y="4027340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</p:spTree>
    <p:extLst>
      <p:ext uri="{BB962C8B-B14F-4D97-AF65-F5344CB8AC3E}">
        <p14:creationId xmlns:p14="http://schemas.microsoft.com/office/powerpoint/2010/main" val="101477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FBAEE-FF0A-8EA2-EB3F-12432A606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A49D8EC-A029-DEC6-5FAF-5C9EC9C48CB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1F373F1-B512-6E46-71F0-8028C756200A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D21540A3-9472-6F2F-DF03-B5D35AD73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876010"/>
            <a:ext cx="8563036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）销毁队列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DestroyQueue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(q)</a:t>
            </a:r>
          </a:p>
          <a:p>
            <a:pPr algn="just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释放队列占用的存储空间，包括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链队头结点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所有数据结点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的存储空间。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D031292D-37AA-ACFB-A26F-B1DA52B90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59" y="2717959"/>
            <a:ext cx="7991475" cy="2757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216000" tIns="108000" bIns="10800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600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DestroyQueue</a:t>
            </a:r>
            <a:r>
              <a:rPr lang="en-US" altLang="zh-CN" sz="1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LinkQuNode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*&amp;q)</a:t>
            </a:r>
            <a:endParaRPr lang="pt-BR" altLang="zh-CN" sz="16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</a:pPr>
            <a:r>
              <a:rPr lang="pt-BR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DataNode *p=q-&gt;front</a:t>
            </a:r>
            <a:r>
              <a:rPr lang="zh-CN" altLang="pt-BR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*r;  	</a:t>
            </a:r>
            <a:r>
              <a:rPr lang="pt-BR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</a:t>
            </a:r>
            <a:r>
              <a:rPr lang="zh-CN" altLang="pt-BR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指向队头数据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</a:t>
            </a:r>
            <a:endParaRPr lang="zh-CN" altLang="pt-BR" sz="16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1800"/>
              </a:lnSpc>
            </a:pPr>
            <a:r>
              <a:rPr lang="pt-BR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 (p!=NULL)	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释放数据结点占用空间</a:t>
            </a:r>
          </a:p>
          <a:p>
            <a:pPr algn="l">
              <a:lnSpc>
                <a:spcPts val="1800"/>
              </a:lnSpc>
            </a:pP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r=p-&gt;next;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while (r!=NULL)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free(p);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p=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r;r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=p-&gt;next;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free(p);  free(q);		</a:t>
            </a: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	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释放链队结点占用空间</a:t>
            </a:r>
          </a:p>
          <a:p>
            <a:pPr algn="l">
              <a:lnSpc>
                <a:spcPts val="1800"/>
              </a:lnSpc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grpSp>
        <p:nvGrpSpPr>
          <p:cNvPr id="11" name="组合 24">
            <a:extLst>
              <a:ext uri="{FF2B5EF4-FFF2-40B4-BE49-F238E27FC236}">
                <a16:creationId xmlns:a16="http://schemas.microsoft.com/office/drawing/2014/main" id="{BC16A8CB-9125-872A-C567-9EF40FB9B2D7}"/>
              </a:ext>
            </a:extLst>
          </p:cNvPr>
          <p:cNvGrpSpPr/>
          <p:nvPr/>
        </p:nvGrpSpPr>
        <p:grpSpPr>
          <a:xfrm>
            <a:off x="1919536" y="5373216"/>
            <a:ext cx="6958037" cy="1368425"/>
            <a:chOff x="638151" y="5013325"/>
            <a:chExt cx="6958037" cy="1368425"/>
          </a:xfrm>
        </p:grpSpPr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1F2D5F54-3E26-DF32-0C74-7A86B51DA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ED133B82-424B-EB63-CAA9-ECE633576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7C6CD6DE-C01C-FA0C-4B15-B7555D16C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id="{B6E87B01-FBF7-578A-D600-573ECD5B1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8E08C168-BB68-18CF-E63E-F57F93CE4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358536F7-801E-9ACE-8C0B-E53DFF70A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5210AE80-D6C5-73B9-8B78-794A3051B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025" y="5734050"/>
              <a:ext cx="79216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D2D14579-1F70-69B5-3E7B-5188BB1EF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0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i="1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B17B4414-B4BB-8698-72F1-F4470B82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∧</a:t>
              </a:r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BFD2D38A-42DF-7856-B6BD-4F8C73714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5737225"/>
              <a:ext cx="406400" cy="0"/>
            </a:xfrm>
            <a:custGeom>
              <a:avLst/>
              <a:gdLst>
                <a:gd name="T0" fmla="*/ 0 w 256"/>
                <a:gd name="T1" fmla="*/ 10 h 10"/>
                <a:gd name="T2" fmla="*/ 256 w 256"/>
                <a:gd name="T3" fmla="*/ 0 h 10"/>
                <a:gd name="T4" fmla="*/ 0 60000 65536"/>
                <a:gd name="T5" fmla="*/ 0 60000 65536"/>
                <a:gd name="T6" fmla="*/ 0 w 256"/>
                <a:gd name="T7" fmla="*/ 0 h 10"/>
                <a:gd name="T8" fmla="*/ 256 w 256"/>
                <a:gd name="T9" fmla="*/ 10 h 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6" h="10">
                  <a:moveTo>
                    <a:pt x="0" y="10"/>
                  </a:moveTo>
                  <a:lnTo>
                    <a:pt x="25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CAE8CBD1-6E25-D91B-141D-D234C2506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888" y="5715000"/>
              <a:ext cx="506412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C9E60DA1-6D02-E251-1F22-11E40B48F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025" y="6223000"/>
              <a:ext cx="5057775" cy="14288"/>
            </a:xfrm>
            <a:custGeom>
              <a:avLst/>
              <a:gdLst>
                <a:gd name="T0" fmla="*/ 0 w 3186"/>
                <a:gd name="T1" fmla="*/ 9 h 9"/>
                <a:gd name="T2" fmla="*/ 3186 w 3186"/>
                <a:gd name="T3" fmla="*/ 0 h 9"/>
                <a:gd name="T4" fmla="*/ 0 60000 65536"/>
                <a:gd name="T5" fmla="*/ 0 60000 65536"/>
                <a:gd name="T6" fmla="*/ 0 w 3186"/>
                <a:gd name="T7" fmla="*/ 0 h 9"/>
                <a:gd name="T8" fmla="*/ 3186 w 318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6" h="9">
                  <a:moveTo>
                    <a:pt x="0" y="9"/>
                  </a:moveTo>
                  <a:lnTo>
                    <a:pt x="318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341F3293-EDC2-52DC-CADF-2AB316D57A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9925" y="5949950"/>
              <a:ext cx="0" cy="2873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5" name="Text Box 17">
              <a:extLst>
                <a:ext uri="{FF2B5EF4-FFF2-40B4-BE49-F238E27FC236}">
                  <a16:creationId xmlns:a16="http://schemas.microsoft.com/office/drawing/2014/main" id="{462F5C71-09D0-F926-6E3D-4AEFA8D41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18" y="5429264"/>
              <a:ext cx="7921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8A14B7AE-D0A6-416A-061E-58386F42E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7675" y="5157788"/>
              <a:ext cx="0" cy="36036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7" name="Rectangle 19">
              <a:extLst>
                <a:ext uri="{FF2B5EF4-FFF2-40B4-BE49-F238E27FC236}">
                  <a16:creationId xmlns:a16="http://schemas.microsoft.com/office/drawing/2014/main" id="{797D4CD6-5721-8B3A-C193-F8933A22D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150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28" name="Rectangle 20">
              <a:extLst>
                <a:ext uri="{FF2B5EF4-FFF2-40B4-BE49-F238E27FC236}">
                  <a16:creationId xmlns:a16="http://schemas.microsoft.com/office/drawing/2014/main" id="{E51624F2-8991-6F1F-6612-24E46345F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5F6A668F-06CB-6AFC-A9C1-B5CD883C2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850" y="5715000"/>
              <a:ext cx="506413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0" name="Line 22">
              <a:extLst>
                <a:ext uri="{FF2B5EF4-FFF2-40B4-BE49-F238E27FC236}">
                  <a16:creationId xmlns:a16="http://schemas.microsoft.com/office/drawing/2014/main" id="{07F2AC52-134B-5E62-FD43-A9DD88C36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1638" y="5157788"/>
              <a:ext cx="0" cy="36036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" name="Text Box 23">
              <a:extLst>
                <a:ext uri="{FF2B5EF4-FFF2-40B4-BE49-F238E27FC236}">
                  <a16:creationId xmlns:a16="http://schemas.microsoft.com/office/drawing/2014/main" id="{6342A6AE-AC1C-651D-76C2-FFBBB8A39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6238" y="5013325"/>
              <a:ext cx="504825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p</a:t>
              </a:r>
            </a:p>
          </p:txBody>
        </p:sp>
        <p:sp>
          <p:nvSpPr>
            <p:cNvPr id="32" name="Text Box 24">
              <a:extLst>
                <a:ext uri="{FF2B5EF4-FFF2-40B4-BE49-F238E27FC236}">
                  <a16:creationId xmlns:a16="http://schemas.microsoft.com/office/drawing/2014/main" id="{5FD62106-0CE9-EC00-430B-E16AF47F1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200" y="5013325"/>
              <a:ext cx="504825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r</a:t>
              </a:r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05F10BC2-E577-1028-D583-8D03A1E2050B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FA6C36B9-1469-D387-1E18-9C3A213EB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0715" y="6384179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49BA58-648B-348D-B5F2-D97CB4769D3B}"/>
              </a:ext>
            </a:extLst>
          </p:cNvPr>
          <p:cNvSpPr txBox="1"/>
          <p:nvPr/>
        </p:nvSpPr>
        <p:spPr>
          <a:xfrm>
            <a:off x="2750715" y="5952968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</p:spTree>
    <p:extLst>
      <p:ext uri="{BB962C8B-B14F-4D97-AF65-F5344CB8AC3E}">
        <p14:creationId xmlns:p14="http://schemas.microsoft.com/office/powerpoint/2010/main" val="187319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E3941-007F-DD5A-34CA-23B60DA5D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CF03008-67C9-2BFD-5279-A887EF91D528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36E8775-6C27-F351-285C-FF0238E7A19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2">
            <a:extLst>
              <a:ext uri="{FF2B5EF4-FFF2-40B4-BE49-F238E27FC236}">
                <a16:creationId xmlns:a16="http://schemas.microsoft.com/office/drawing/2014/main" id="{D3AF1946-5435-F818-451B-F7ACA0643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32" y="1935064"/>
            <a:ext cx="9649072" cy="81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   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3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）判断队列是否为空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QueueEmpty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(q)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若链队结点的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rear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域值为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NULL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，表示队列为空，返回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true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；否则返回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false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grpSp>
        <p:nvGrpSpPr>
          <p:cNvPr id="8" name="组合 9">
            <a:extLst>
              <a:ext uri="{FF2B5EF4-FFF2-40B4-BE49-F238E27FC236}">
                <a16:creationId xmlns:a16="http://schemas.microsoft.com/office/drawing/2014/main" id="{F5C0D4A1-F7DB-D6A3-06EE-3EF1D3107428}"/>
              </a:ext>
            </a:extLst>
          </p:cNvPr>
          <p:cNvGrpSpPr/>
          <p:nvPr/>
        </p:nvGrpSpPr>
        <p:grpSpPr>
          <a:xfrm>
            <a:off x="3791744" y="4817594"/>
            <a:ext cx="2079634" cy="1503433"/>
            <a:chOff x="2501882" y="4071942"/>
            <a:chExt cx="2079634" cy="1503433"/>
          </a:xfrm>
        </p:grpSpPr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43F13315-7893-7F12-C68B-EF46320097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3240" y="5175265"/>
              <a:ext cx="1438276" cy="40011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空链队</a:t>
              </a:r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EAC4875C-10CA-B388-642C-3ED4B553A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7" y="411800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  <a:sym typeface="Symbol" pitchFamily="18" charset="2"/>
                </a:rPr>
                <a:t></a:t>
              </a:r>
            </a:p>
          </p:txBody>
        </p:sp>
        <p:sp>
          <p:nvSpPr>
            <p:cNvPr id="34" name="Rectangle 7">
              <a:extLst>
                <a:ext uri="{FF2B5EF4-FFF2-40B4-BE49-F238E27FC236}">
                  <a16:creationId xmlns:a16="http://schemas.microsoft.com/office/drawing/2014/main" id="{39BB0C83-04FB-CAE3-C91A-1EB77CB17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7" y="4551390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  <a:sym typeface="Symbol" pitchFamily="18" charset="2"/>
                </a:rPr>
                <a:t></a:t>
              </a:r>
            </a:p>
          </p:txBody>
        </p:sp>
        <p:sp>
          <p:nvSpPr>
            <p:cNvPr id="35" name="Line 8">
              <a:extLst>
                <a:ext uri="{FF2B5EF4-FFF2-40B4-BE49-F238E27FC236}">
                  <a16:creationId xmlns:a16="http://schemas.microsoft.com/office/drawing/2014/main" id="{9E97661F-EF78-AAC4-1D84-F81271891A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8307" y="4262465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6" name="Text Box 9">
              <a:extLst>
                <a:ext uri="{FF2B5EF4-FFF2-40B4-BE49-F238E27FC236}">
                  <a16:creationId xmlns:a16="http://schemas.microsoft.com/office/drawing/2014/main" id="{1E492607-EB10-6B1E-9BEF-029283317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882" y="4071942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40C141A3-C003-795C-D26D-1CE5DADB7B1C}"/>
              </a:ext>
            </a:extLst>
          </p:cNvPr>
          <p:cNvSpPr txBox="1"/>
          <p:nvPr/>
        </p:nvSpPr>
        <p:spPr>
          <a:xfrm>
            <a:off x="1703512" y="3184653"/>
            <a:ext cx="48245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bool </a:t>
            </a:r>
            <a:r>
              <a:rPr lang="en-US" altLang="zh-CN" sz="1800" dirty="0" err="1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QueueEmpty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LinkQuNode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*q)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　　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return(q-&gt;rear==NULL);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831143A-E34A-AF53-E364-62C839CBE352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2AB3C789-1EE3-FF1C-6238-406132906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5632" y="5431153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6DB4C5-897A-AD8C-3E04-8C157BD6E0DE}"/>
              </a:ext>
            </a:extLst>
          </p:cNvPr>
          <p:cNvSpPr txBox="1"/>
          <p:nvPr/>
        </p:nvSpPr>
        <p:spPr>
          <a:xfrm>
            <a:off x="4825632" y="4999942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</p:spTree>
    <p:extLst>
      <p:ext uri="{BB962C8B-B14F-4D97-AF65-F5344CB8AC3E}">
        <p14:creationId xmlns:p14="http://schemas.microsoft.com/office/powerpoint/2010/main" val="5416750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E9713-83BE-EF79-07F6-516E5A9E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B980191-404C-A92C-D87E-BC972A5F309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69FB242-3795-3519-0029-588561998C1A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A2552C9F-2947-2733-ACF2-E2AC0CB14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844824"/>
            <a:ext cx="46783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4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）进队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enQueue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7" name="Text Box 1026">
            <a:extLst>
              <a:ext uri="{FF2B5EF4-FFF2-40B4-BE49-F238E27FC236}">
                <a16:creationId xmlns:a16="http://schemas.microsoft.com/office/drawing/2014/main" id="{FB216E65-DB47-BB1C-66CC-1C5EF6FBB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2315615"/>
            <a:ext cx="8415366" cy="34667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rIns="144000">
            <a:spAutoFit/>
          </a:bodyPr>
          <a:lstStyle/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kumimoji="1" lang="en-US" altLang="zh-CN" sz="18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enQueue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e)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DataNode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p=(DataNode *)malloc(sizeof(DataNode));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&gt;data=e;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&gt;next=NULL;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q-&gt;rear==</a:t>
            </a:r>
            <a:r>
              <a:rPr kumimoji="1" lang="en-US" altLang="zh-CN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NULL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若链队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为空，新结点是队首结点又是队尾结点</a:t>
            </a:r>
            <a:endParaRPr kumimoji="1" lang="zh-CN" altLang="en-US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q-&gt;front=q-&gt;rear=p;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 q-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&gt;rear-&gt;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next=p; 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结点链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队尾，并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指向它</a:t>
            </a:r>
          </a:p>
          <a:p>
            <a:pPr algn="l">
              <a:lnSpc>
                <a:spcPts val="2200"/>
              </a:lnSpc>
            </a:pP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&gt;rear=p;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D8FAF7B7-00B9-C082-92EE-F906244D0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9750" y="5778117"/>
            <a:ext cx="914400" cy="5756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zh-CN" altLang="en-US" sz="2400" dirty="0"/>
              <a:t>       </a:t>
            </a:r>
            <a:r>
              <a:rPr lang="en-US" altLang="zh-CN" sz="2400" dirty="0"/>
              <a:t>  </a:t>
            </a:r>
          </a:p>
        </p:txBody>
      </p:sp>
      <p:sp>
        <p:nvSpPr>
          <p:cNvPr id="32" name="Line 6">
            <a:extLst>
              <a:ext uri="{FF2B5EF4-FFF2-40B4-BE49-F238E27FC236}">
                <a16:creationId xmlns:a16="http://schemas.microsoft.com/office/drawing/2014/main" id="{DE5F7CE0-1687-42FC-6735-988F52B6F7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09277" y="5778117"/>
            <a:ext cx="0" cy="5756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29">
            <a:extLst>
              <a:ext uri="{FF2B5EF4-FFF2-40B4-BE49-F238E27FC236}">
                <a16:creationId xmlns:a16="http://schemas.microsoft.com/office/drawing/2014/main" id="{D2EAB6D3-4040-3B71-EEFF-BDEEA479BB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52664" y="5934125"/>
            <a:ext cx="697087" cy="41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C9379B4-1924-F37A-FB42-EF33E0FA47E6}"/>
              </a:ext>
            </a:extLst>
          </p:cNvPr>
          <p:cNvSpPr/>
          <p:nvPr/>
        </p:nvSpPr>
        <p:spPr>
          <a:xfrm>
            <a:off x="9130618" y="5720816"/>
            <a:ext cx="348172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p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36963FB-0DB0-367D-6BD6-F652F10242CD}"/>
              </a:ext>
            </a:extLst>
          </p:cNvPr>
          <p:cNvSpPr/>
          <p:nvPr/>
        </p:nvSpPr>
        <p:spPr>
          <a:xfrm>
            <a:off x="10276410" y="5865899"/>
            <a:ext cx="330540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DF82713-8EFA-F597-D73D-144BFC9DEEA6}"/>
              </a:ext>
            </a:extLst>
          </p:cNvPr>
          <p:cNvSpPr/>
          <p:nvPr/>
        </p:nvSpPr>
        <p:spPr>
          <a:xfrm>
            <a:off x="10769912" y="5871469"/>
            <a:ext cx="31290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zh-CN" altLang="en-US" sz="2000" dirty="0"/>
              <a:t>^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TextBox 3">
            <a:extLst>
              <a:ext uri="{FF2B5EF4-FFF2-40B4-BE49-F238E27FC236}">
                <a16:creationId xmlns:a16="http://schemas.microsoft.com/office/drawing/2014/main" id="{78C345D6-FBCF-2DC4-27E5-B2FB4424B4AB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原队列为空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8CF6C4E-3B5B-FF01-D70D-71442A43B659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3" name="组合 9">
            <a:extLst>
              <a:ext uri="{FF2B5EF4-FFF2-40B4-BE49-F238E27FC236}">
                <a16:creationId xmlns:a16="http://schemas.microsoft.com/office/drawing/2014/main" id="{D0D128E1-49FE-799E-33BB-E54BFF973CA5}"/>
              </a:ext>
            </a:extLst>
          </p:cNvPr>
          <p:cNvGrpSpPr/>
          <p:nvPr/>
        </p:nvGrpSpPr>
        <p:grpSpPr>
          <a:xfrm>
            <a:off x="1919536" y="5791459"/>
            <a:ext cx="1630388" cy="912836"/>
            <a:chOff x="2501882" y="4071942"/>
            <a:chExt cx="1630388" cy="912836"/>
          </a:xfrm>
        </p:grpSpPr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FA79574A-4EAF-E96D-072F-6DDC98B23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7" y="411800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  <a:sym typeface="Symbol" pitchFamily="18" charset="2"/>
                </a:rPr>
                <a:t></a:t>
              </a: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342DEE80-FEB3-2894-AD2B-58859B9D9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7" y="4551390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  <a:sym typeface="Symbol" pitchFamily="18" charset="2"/>
                </a:rPr>
                <a:t></a:t>
              </a: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91D22C36-22BF-236F-F521-6A49F16A6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8307" y="4262465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E3B7528B-22BA-17C0-A805-15A20FA54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882" y="4071942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</p:grpSp>
      <p:sp>
        <p:nvSpPr>
          <p:cNvPr id="13" name="Text Box 10">
            <a:extLst>
              <a:ext uri="{FF2B5EF4-FFF2-40B4-BE49-F238E27FC236}">
                <a16:creationId xmlns:a16="http://schemas.microsoft.com/office/drawing/2014/main" id="{97E4A379-61D6-3763-BC54-A3D8E9EDD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3424" y="640501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9751E5-12EC-2F63-94F0-0C0FB16E3DB2}"/>
              </a:ext>
            </a:extLst>
          </p:cNvPr>
          <p:cNvSpPr txBox="1"/>
          <p:nvPr/>
        </p:nvSpPr>
        <p:spPr>
          <a:xfrm>
            <a:off x="2953424" y="597380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</p:spTree>
    <p:extLst>
      <p:ext uri="{BB962C8B-B14F-4D97-AF65-F5344CB8AC3E}">
        <p14:creationId xmlns:p14="http://schemas.microsoft.com/office/powerpoint/2010/main" val="64414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8" grpId="0" animBg="1"/>
      <p:bldP spid="39" grpId="0"/>
      <p:bldP spid="40" grpId="0"/>
      <p:bldP spid="4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8480B-807D-C1AE-375D-EBD209656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5423C7E-AC7A-4CB6-6BFF-167182F1B074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B720F33-CAB4-2F77-0795-2AA46745FAF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AF49765E-1A7C-7725-00D0-996392155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844824"/>
            <a:ext cx="46783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4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）进队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enQueue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7" name="Text Box 1026">
            <a:extLst>
              <a:ext uri="{FF2B5EF4-FFF2-40B4-BE49-F238E27FC236}">
                <a16:creationId xmlns:a16="http://schemas.microsoft.com/office/drawing/2014/main" id="{5A2ACBE1-518A-3210-9108-2B9D044F1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2315615"/>
            <a:ext cx="8415366" cy="34667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rIns="144000">
            <a:spAutoFit/>
          </a:bodyPr>
          <a:lstStyle/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kumimoji="1" lang="en-US" altLang="zh-CN" sz="18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enQueue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e)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DataNode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p=(DataNode *)malloc(sizeof(DataNode));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&gt;data=e;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&gt;next=NULL;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q-&gt;rear==</a:t>
            </a:r>
            <a:r>
              <a:rPr kumimoji="1" lang="en-US" altLang="zh-CN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NULL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若链队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为空，新结点是队首结点又是队尾结点</a:t>
            </a:r>
            <a:endParaRPr kumimoji="1" lang="zh-CN" altLang="en-US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q-&gt;front=q-&gt;rear=p;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 q-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&gt;rear-&gt;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next=p; 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结点链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队尾，并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指向它</a:t>
            </a:r>
          </a:p>
          <a:p>
            <a:pPr algn="l">
              <a:lnSpc>
                <a:spcPts val="2200"/>
              </a:lnSpc>
            </a:pP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&gt;rear=p;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29F89953-01D8-7A1F-29B5-4609215B1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9750" y="5778117"/>
            <a:ext cx="914400" cy="5756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zh-CN" altLang="en-US" sz="2400" dirty="0"/>
              <a:t>       </a:t>
            </a:r>
            <a:r>
              <a:rPr lang="en-US" altLang="zh-CN" sz="2400" dirty="0"/>
              <a:t>  </a:t>
            </a:r>
          </a:p>
        </p:txBody>
      </p:sp>
      <p:sp>
        <p:nvSpPr>
          <p:cNvPr id="32" name="Line 6">
            <a:extLst>
              <a:ext uri="{FF2B5EF4-FFF2-40B4-BE49-F238E27FC236}">
                <a16:creationId xmlns:a16="http://schemas.microsoft.com/office/drawing/2014/main" id="{0664F2F7-9ECC-2923-A692-9BF008EA4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09277" y="5778117"/>
            <a:ext cx="0" cy="5756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29">
            <a:extLst>
              <a:ext uri="{FF2B5EF4-FFF2-40B4-BE49-F238E27FC236}">
                <a16:creationId xmlns:a16="http://schemas.microsoft.com/office/drawing/2014/main" id="{3C73B76E-A298-2F42-E603-2CE1E6243C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52664" y="5934125"/>
            <a:ext cx="697087" cy="41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1D67F0B-D98A-0EC3-EA40-E0CA30EB3E04}"/>
              </a:ext>
            </a:extLst>
          </p:cNvPr>
          <p:cNvSpPr/>
          <p:nvPr/>
        </p:nvSpPr>
        <p:spPr>
          <a:xfrm>
            <a:off x="9130618" y="5720816"/>
            <a:ext cx="348172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p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4EF6BDF-BA99-0A41-E183-97B4633E0742}"/>
              </a:ext>
            </a:extLst>
          </p:cNvPr>
          <p:cNvSpPr/>
          <p:nvPr/>
        </p:nvSpPr>
        <p:spPr>
          <a:xfrm>
            <a:off x="10276410" y="5865899"/>
            <a:ext cx="330540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2E09B5B-BE7B-CD10-C9E8-D59CB537BFB6}"/>
              </a:ext>
            </a:extLst>
          </p:cNvPr>
          <p:cNvSpPr/>
          <p:nvPr/>
        </p:nvSpPr>
        <p:spPr>
          <a:xfrm>
            <a:off x="10769912" y="5871469"/>
            <a:ext cx="31290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zh-CN" altLang="en-US" sz="2000" dirty="0"/>
              <a:t>^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Line 29">
            <a:extLst>
              <a:ext uri="{FF2B5EF4-FFF2-40B4-BE49-F238E27FC236}">
                <a16:creationId xmlns:a16="http://schemas.microsoft.com/office/drawing/2014/main" id="{07529B31-03BA-0BF8-CAE2-FBDF499265C6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7879" y="6318413"/>
            <a:ext cx="380999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6">
            <a:extLst>
              <a:ext uri="{FF2B5EF4-FFF2-40B4-BE49-F238E27FC236}">
                <a16:creationId xmlns:a16="http://schemas.microsoft.com/office/drawing/2014/main" id="{4415217F-6F2C-C2F6-B4AD-E8B1E74B5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7879" y="6333810"/>
            <a:ext cx="0" cy="19153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5F4269CB-5973-4AA1-FB8E-BCBE81C91CA1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原队列为空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E6225C-5C01-9CDA-EA5F-E064CE27F4A9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3" name="组合 9">
            <a:extLst>
              <a:ext uri="{FF2B5EF4-FFF2-40B4-BE49-F238E27FC236}">
                <a16:creationId xmlns:a16="http://schemas.microsoft.com/office/drawing/2014/main" id="{83445DB2-BDB0-AEDB-6A8B-9230FE1F2C93}"/>
              </a:ext>
            </a:extLst>
          </p:cNvPr>
          <p:cNvGrpSpPr/>
          <p:nvPr/>
        </p:nvGrpSpPr>
        <p:grpSpPr>
          <a:xfrm>
            <a:off x="1919536" y="5791459"/>
            <a:ext cx="1630388" cy="912836"/>
            <a:chOff x="2501882" y="4071942"/>
            <a:chExt cx="1630388" cy="912836"/>
          </a:xfrm>
        </p:grpSpPr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80BBFF9D-CCD2-E5D1-CC07-244EE0F9E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7" y="411800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9E071E0A-3310-E63D-CD61-E9771E343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7" y="4551390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8A599E4D-E81B-EC7F-ECB8-5BEE82FB8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8307" y="4262465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5" name="Text Box 9">
              <a:extLst>
                <a:ext uri="{FF2B5EF4-FFF2-40B4-BE49-F238E27FC236}">
                  <a16:creationId xmlns:a16="http://schemas.microsoft.com/office/drawing/2014/main" id="{71FFA4F4-D86C-5F3E-6101-7798ACBB2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882" y="4071942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</p:grpSp>
      <p:sp>
        <p:nvSpPr>
          <p:cNvPr id="16" name="Text Box 10">
            <a:extLst>
              <a:ext uri="{FF2B5EF4-FFF2-40B4-BE49-F238E27FC236}">
                <a16:creationId xmlns:a16="http://schemas.microsoft.com/office/drawing/2014/main" id="{6A2D9172-1443-DCE5-DD57-16E16E06E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640" y="640501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37D9D19-431E-850E-B657-33B8C00F4944}"/>
              </a:ext>
            </a:extLst>
          </p:cNvPr>
          <p:cNvSpPr txBox="1"/>
          <p:nvPr/>
        </p:nvSpPr>
        <p:spPr>
          <a:xfrm>
            <a:off x="2855640" y="597380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28A8653E-7CB7-56DE-C155-40E242FD3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1704" y="6525344"/>
            <a:ext cx="630617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02FBE31C-1AD2-BBD9-4563-43114C90DC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1704" y="6120926"/>
            <a:ext cx="671804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8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3E62C-F93F-11AC-A702-F48D0D83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ECBDA64-EDDA-BB2F-BD95-758630E718E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1F789B5-5E96-029E-9694-BFF048829EB3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166D258B-C629-EFA9-BD17-7DA3E0AB7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844824"/>
            <a:ext cx="46783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4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）进队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enQueue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7" name="Text Box 1026">
            <a:extLst>
              <a:ext uri="{FF2B5EF4-FFF2-40B4-BE49-F238E27FC236}">
                <a16:creationId xmlns:a16="http://schemas.microsoft.com/office/drawing/2014/main" id="{10BC3054-CA8A-E894-11DD-8C272D69D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2315615"/>
            <a:ext cx="8415366" cy="34667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rIns="144000">
            <a:spAutoFit/>
          </a:bodyPr>
          <a:lstStyle/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kumimoji="1" lang="en-US" altLang="zh-CN" sz="18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enQueue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e)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DataNode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p=(DataNode *)malloc(sizeof(DataNode));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&gt;data=e;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&gt;next=NULL;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q-&gt;rear==</a:t>
            </a:r>
            <a:r>
              <a:rPr kumimoji="1" lang="en-US" altLang="zh-CN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NULL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若链队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为空，新结点是队首结点又是队尾结点</a:t>
            </a:r>
            <a:endParaRPr kumimoji="1" lang="zh-CN" altLang="en-US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q-&gt;front=q-&gt;rear=p;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 q-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&gt;rear-&gt;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next=p; 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结点链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队尾，并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指向它</a:t>
            </a:r>
          </a:p>
          <a:p>
            <a:pPr algn="l">
              <a:lnSpc>
                <a:spcPts val="2200"/>
              </a:lnSpc>
            </a:pP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&gt;rear=p;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7E99366E-1E1C-C851-206F-B9C6105C4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9750" y="5778117"/>
            <a:ext cx="914400" cy="5756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zh-CN" altLang="en-US" sz="2400" dirty="0"/>
              <a:t>       </a:t>
            </a:r>
            <a:r>
              <a:rPr lang="en-US" altLang="zh-CN" sz="2400" dirty="0"/>
              <a:t>  </a:t>
            </a:r>
          </a:p>
        </p:txBody>
      </p:sp>
      <p:sp>
        <p:nvSpPr>
          <p:cNvPr id="32" name="Line 6">
            <a:extLst>
              <a:ext uri="{FF2B5EF4-FFF2-40B4-BE49-F238E27FC236}">
                <a16:creationId xmlns:a16="http://schemas.microsoft.com/office/drawing/2014/main" id="{FABE8F49-32D3-47E2-D2E9-CDCBFCE067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09277" y="5778117"/>
            <a:ext cx="0" cy="5756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29">
            <a:extLst>
              <a:ext uri="{FF2B5EF4-FFF2-40B4-BE49-F238E27FC236}">
                <a16:creationId xmlns:a16="http://schemas.microsoft.com/office/drawing/2014/main" id="{FFC6B696-2875-27A9-60C0-D4365324F2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52664" y="5934125"/>
            <a:ext cx="697087" cy="41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29CAA04-19B4-D784-0D0A-34CA88325C3A}"/>
              </a:ext>
            </a:extLst>
          </p:cNvPr>
          <p:cNvSpPr/>
          <p:nvPr/>
        </p:nvSpPr>
        <p:spPr>
          <a:xfrm>
            <a:off x="9130618" y="5720816"/>
            <a:ext cx="348172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p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A32D6AF-998D-A0C6-29B7-3C2E759C44A8}"/>
              </a:ext>
            </a:extLst>
          </p:cNvPr>
          <p:cNvSpPr/>
          <p:nvPr/>
        </p:nvSpPr>
        <p:spPr>
          <a:xfrm>
            <a:off x="10276410" y="5865899"/>
            <a:ext cx="330540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EB74D29-2DB5-1381-B3F8-3D105A917C0A}"/>
              </a:ext>
            </a:extLst>
          </p:cNvPr>
          <p:cNvSpPr/>
          <p:nvPr/>
        </p:nvSpPr>
        <p:spPr>
          <a:xfrm>
            <a:off x="10769912" y="5871469"/>
            <a:ext cx="31290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zh-CN" altLang="en-US" sz="2000" dirty="0"/>
              <a:t>^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152B78F5-A15A-F3B2-6A3A-3662D7BF9F84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原队列非空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EA0C1B0-1921-A5DA-0AFE-C1D16BD8DDFB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3" name="组合 24">
            <a:extLst>
              <a:ext uri="{FF2B5EF4-FFF2-40B4-BE49-F238E27FC236}">
                <a16:creationId xmlns:a16="http://schemas.microsoft.com/office/drawing/2014/main" id="{737A70B5-D852-3E16-2B7C-7B62F78FCA3C}"/>
              </a:ext>
            </a:extLst>
          </p:cNvPr>
          <p:cNvGrpSpPr/>
          <p:nvPr/>
        </p:nvGrpSpPr>
        <p:grpSpPr>
          <a:xfrm>
            <a:off x="1319725" y="5852652"/>
            <a:ext cx="6958037" cy="952486"/>
            <a:chOff x="638151" y="5429264"/>
            <a:chExt cx="6958037" cy="952486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F2FDFC36-9FE9-F858-6135-9FEDA88D3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7A2F5C69-F515-337D-C3EC-1381A93F6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4BA106D9-5E87-6854-2839-F07D08C78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3" name="Text Box 7">
              <a:extLst>
                <a:ext uri="{FF2B5EF4-FFF2-40B4-BE49-F238E27FC236}">
                  <a16:creationId xmlns:a16="http://schemas.microsoft.com/office/drawing/2014/main" id="{3CDBDF0F-0FDB-B5B7-628F-6C4EB0E6E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09E15F83-3737-B549-5EE3-13999765E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82015CD3-3323-29B8-D863-8A45C7D9D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6" name="Line 10">
              <a:extLst>
                <a:ext uri="{FF2B5EF4-FFF2-40B4-BE49-F238E27FC236}">
                  <a16:creationId xmlns:a16="http://schemas.microsoft.com/office/drawing/2014/main" id="{F43531D6-9DDC-51E5-3CA9-D583BDA1D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025" y="5734050"/>
              <a:ext cx="79216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7" name="Rectangle 11">
              <a:extLst>
                <a:ext uri="{FF2B5EF4-FFF2-40B4-BE49-F238E27FC236}">
                  <a16:creationId xmlns:a16="http://schemas.microsoft.com/office/drawing/2014/main" id="{2D5138CE-D97E-E812-88C4-364D12F04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0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i="1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</a:p>
          </p:txBody>
        </p:sp>
        <p:sp>
          <p:nvSpPr>
            <p:cNvPr id="44" name="Rectangle 12">
              <a:extLst>
                <a:ext uri="{FF2B5EF4-FFF2-40B4-BE49-F238E27FC236}">
                  <a16:creationId xmlns:a16="http://schemas.microsoft.com/office/drawing/2014/main" id="{8993B5B4-9256-93B2-AB36-FECB54CBB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∧</a:t>
              </a:r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4728D024-8B3A-5F89-F5C8-932AECA3D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5737225"/>
              <a:ext cx="406400" cy="0"/>
            </a:xfrm>
            <a:custGeom>
              <a:avLst/>
              <a:gdLst>
                <a:gd name="T0" fmla="*/ 0 w 256"/>
                <a:gd name="T1" fmla="*/ 10 h 10"/>
                <a:gd name="T2" fmla="*/ 256 w 256"/>
                <a:gd name="T3" fmla="*/ 0 h 10"/>
                <a:gd name="T4" fmla="*/ 0 60000 65536"/>
                <a:gd name="T5" fmla="*/ 0 60000 65536"/>
                <a:gd name="T6" fmla="*/ 0 w 256"/>
                <a:gd name="T7" fmla="*/ 0 h 10"/>
                <a:gd name="T8" fmla="*/ 256 w 256"/>
                <a:gd name="T9" fmla="*/ 10 h 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6" h="10">
                  <a:moveTo>
                    <a:pt x="0" y="10"/>
                  </a:moveTo>
                  <a:lnTo>
                    <a:pt x="25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E1244CD3-160A-7006-7B64-FCD5BBDEF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888" y="5715000"/>
              <a:ext cx="506412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A81B1229-2DA5-0F67-E31C-7F9B5A837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025" y="6223000"/>
              <a:ext cx="5057775" cy="14288"/>
            </a:xfrm>
            <a:custGeom>
              <a:avLst/>
              <a:gdLst>
                <a:gd name="T0" fmla="*/ 0 w 3186"/>
                <a:gd name="T1" fmla="*/ 9 h 9"/>
                <a:gd name="T2" fmla="*/ 3186 w 3186"/>
                <a:gd name="T3" fmla="*/ 0 h 9"/>
                <a:gd name="T4" fmla="*/ 0 60000 65536"/>
                <a:gd name="T5" fmla="*/ 0 60000 65536"/>
                <a:gd name="T6" fmla="*/ 0 w 3186"/>
                <a:gd name="T7" fmla="*/ 0 h 9"/>
                <a:gd name="T8" fmla="*/ 3186 w 318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6" h="9">
                  <a:moveTo>
                    <a:pt x="0" y="9"/>
                  </a:moveTo>
                  <a:lnTo>
                    <a:pt x="318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8" name="Line 16">
              <a:extLst>
                <a:ext uri="{FF2B5EF4-FFF2-40B4-BE49-F238E27FC236}">
                  <a16:creationId xmlns:a16="http://schemas.microsoft.com/office/drawing/2014/main" id="{0AF5D5E1-914F-E954-8772-7B23C8EDA9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9925" y="5949950"/>
              <a:ext cx="0" cy="2873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9" name="Text Box 17">
              <a:extLst>
                <a:ext uri="{FF2B5EF4-FFF2-40B4-BE49-F238E27FC236}">
                  <a16:creationId xmlns:a16="http://schemas.microsoft.com/office/drawing/2014/main" id="{14FB3248-90A2-37AC-2AD6-ADB781B58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18" y="5429264"/>
              <a:ext cx="7921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51" name="Rectangle 19">
              <a:extLst>
                <a:ext uri="{FF2B5EF4-FFF2-40B4-BE49-F238E27FC236}">
                  <a16:creationId xmlns:a16="http://schemas.microsoft.com/office/drawing/2014/main" id="{1AC0D63E-D546-2170-E549-8643B764D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150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52" name="Rectangle 20">
              <a:extLst>
                <a:ext uri="{FF2B5EF4-FFF2-40B4-BE49-F238E27FC236}">
                  <a16:creationId xmlns:a16="http://schemas.microsoft.com/office/drawing/2014/main" id="{AADBEB29-D51B-CF8F-C615-B39C3A5BC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11F1C0E5-AF10-1B1F-677C-511718D88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850" y="5715000"/>
              <a:ext cx="506413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57" name="Text Box 10">
            <a:extLst>
              <a:ext uri="{FF2B5EF4-FFF2-40B4-BE49-F238E27FC236}">
                <a16:creationId xmlns:a16="http://schemas.microsoft.com/office/drawing/2014/main" id="{E2736396-5963-7D4D-7335-C04515832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651244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97A5AD8-67F5-9E4E-B63C-B85F7D1E9FB0}"/>
              </a:ext>
            </a:extLst>
          </p:cNvPr>
          <p:cNvSpPr txBox="1"/>
          <p:nvPr/>
        </p:nvSpPr>
        <p:spPr>
          <a:xfrm>
            <a:off x="2135560" y="608123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</p:spTree>
    <p:extLst>
      <p:ext uri="{BB962C8B-B14F-4D97-AF65-F5344CB8AC3E}">
        <p14:creationId xmlns:p14="http://schemas.microsoft.com/office/powerpoint/2010/main" val="413254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8" grpId="0" animBg="1"/>
      <p:bldP spid="39" grpId="0"/>
      <p:bldP spid="40" grpId="0"/>
      <p:bldP spid="4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3C55A-0361-C467-9423-6499AC129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34FCD99-9783-66EA-3F00-8FA2A389DF72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A26E758-5EA1-0CBC-B2B7-3D7F4E31E4EA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4A3A1B01-E17D-F0C7-E24A-EF4E297CF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844824"/>
            <a:ext cx="46783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4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）进队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enQueue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7" name="Text Box 1026">
            <a:extLst>
              <a:ext uri="{FF2B5EF4-FFF2-40B4-BE49-F238E27FC236}">
                <a16:creationId xmlns:a16="http://schemas.microsoft.com/office/drawing/2014/main" id="{3454FB8A-C749-DD0B-3AB0-DFCADE47E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2315615"/>
            <a:ext cx="8415366" cy="34667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rIns="144000">
            <a:spAutoFit/>
          </a:bodyPr>
          <a:lstStyle/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kumimoji="1" lang="en-US" altLang="zh-CN" sz="18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enQueue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e)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DataNode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p=(DataNode *)malloc(sizeof(DataNode));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&gt;data=e;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&gt;next=NULL;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q-&gt;rear==</a:t>
            </a:r>
            <a:r>
              <a:rPr kumimoji="1" lang="en-US" altLang="zh-CN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NULL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若链队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为空，新结点是队首结点又是队尾结点</a:t>
            </a:r>
            <a:endParaRPr kumimoji="1" lang="zh-CN" altLang="en-US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q-&gt;front=q-&gt;rear=p;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 q-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&gt;rear-&gt;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next=p; 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结点链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队尾，并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指向它</a:t>
            </a:r>
          </a:p>
          <a:p>
            <a:pPr algn="l">
              <a:lnSpc>
                <a:spcPts val="2200"/>
              </a:lnSpc>
            </a:pP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&gt;rear=p;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FF7066F4-FDD1-1534-9BD4-3631D57F6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9750" y="5778117"/>
            <a:ext cx="914400" cy="5756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zh-CN" altLang="en-US" sz="2400" dirty="0"/>
              <a:t>       </a:t>
            </a:r>
            <a:r>
              <a:rPr lang="en-US" altLang="zh-CN" sz="2400" dirty="0"/>
              <a:t>  </a:t>
            </a:r>
          </a:p>
        </p:txBody>
      </p:sp>
      <p:sp>
        <p:nvSpPr>
          <p:cNvPr id="32" name="Line 6">
            <a:extLst>
              <a:ext uri="{FF2B5EF4-FFF2-40B4-BE49-F238E27FC236}">
                <a16:creationId xmlns:a16="http://schemas.microsoft.com/office/drawing/2014/main" id="{6CC1B0C2-B1E9-B306-E789-97641C388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09277" y="5778117"/>
            <a:ext cx="0" cy="5756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29">
            <a:extLst>
              <a:ext uri="{FF2B5EF4-FFF2-40B4-BE49-F238E27FC236}">
                <a16:creationId xmlns:a16="http://schemas.microsoft.com/office/drawing/2014/main" id="{3A4B8489-742B-1DA9-D867-9B9AE06DE3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52664" y="5934125"/>
            <a:ext cx="697087" cy="41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BCBE92B-4DE7-6272-3AFD-767573B8A573}"/>
              </a:ext>
            </a:extLst>
          </p:cNvPr>
          <p:cNvSpPr/>
          <p:nvPr/>
        </p:nvSpPr>
        <p:spPr>
          <a:xfrm>
            <a:off x="9130618" y="5720816"/>
            <a:ext cx="348172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p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B35736-5595-9BF9-05F1-40BC7EEC541B}"/>
              </a:ext>
            </a:extLst>
          </p:cNvPr>
          <p:cNvSpPr/>
          <p:nvPr/>
        </p:nvSpPr>
        <p:spPr>
          <a:xfrm>
            <a:off x="10276410" y="5865899"/>
            <a:ext cx="330540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E009980-C763-4645-905C-BCE16B16A80C}"/>
              </a:ext>
            </a:extLst>
          </p:cNvPr>
          <p:cNvSpPr/>
          <p:nvPr/>
        </p:nvSpPr>
        <p:spPr>
          <a:xfrm>
            <a:off x="10769912" y="5871469"/>
            <a:ext cx="31290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zh-CN" altLang="en-US" sz="2000" dirty="0"/>
              <a:t>^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4CD681CC-F33F-B068-3652-336712D19C87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原队列非空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AF62030-1A47-AE0B-8DE3-9019E72CAA21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3" name="组合 24">
            <a:extLst>
              <a:ext uri="{FF2B5EF4-FFF2-40B4-BE49-F238E27FC236}">
                <a16:creationId xmlns:a16="http://schemas.microsoft.com/office/drawing/2014/main" id="{73913F0C-E797-647E-AF3D-BBF48290068B}"/>
              </a:ext>
            </a:extLst>
          </p:cNvPr>
          <p:cNvGrpSpPr/>
          <p:nvPr/>
        </p:nvGrpSpPr>
        <p:grpSpPr>
          <a:xfrm>
            <a:off x="1319725" y="5852652"/>
            <a:ext cx="6958037" cy="952486"/>
            <a:chOff x="638151" y="5429264"/>
            <a:chExt cx="6958037" cy="952486"/>
          </a:xfrm>
        </p:grpSpPr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739FD8D4-9AA7-1D62-7F73-8FC0CE6B6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C85DA2F9-8FDC-2346-50E6-C9A80AA08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35" name="Line 6">
              <a:extLst>
                <a:ext uri="{FF2B5EF4-FFF2-40B4-BE49-F238E27FC236}">
                  <a16:creationId xmlns:a16="http://schemas.microsoft.com/office/drawing/2014/main" id="{E35FC2E9-8347-E611-BB9D-808CDD69E9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6" name="Text Box 7">
              <a:extLst>
                <a:ext uri="{FF2B5EF4-FFF2-40B4-BE49-F238E27FC236}">
                  <a16:creationId xmlns:a16="http://schemas.microsoft.com/office/drawing/2014/main" id="{B4551843-18B9-CB80-066D-E005FE0E5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7BAABCE8-E526-3B36-34CA-564348798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2" name="Rectangle 9">
              <a:extLst>
                <a:ext uri="{FF2B5EF4-FFF2-40B4-BE49-F238E27FC236}">
                  <a16:creationId xmlns:a16="http://schemas.microsoft.com/office/drawing/2014/main" id="{387A60B7-50DB-AA70-26DE-FD49DF8CC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3" name="Line 10">
              <a:extLst>
                <a:ext uri="{FF2B5EF4-FFF2-40B4-BE49-F238E27FC236}">
                  <a16:creationId xmlns:a16="http://schemas.microsoft.com/office/drawing/2014/main" id="{9E79938C-7483-27FC-6A80-9D745FC9F1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025" y="5734050"/>
              <a:ext cx="79216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4" name="Rectangle 11">
              <a:extLst>
                <a:ext uri="{FF2B5EF4-FFF2-40B4-BE49-F238E27FC236}">
                  <a16:creationId xmlns:a16="http://schemas.microsoft.com/office/drawing/2014/main" id="{81145826-11F1-1BA2-ED36-59A5CA012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0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i="1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</a:p>
          </p:txBody>
        </p:sp>
        <p:sp>
          <p:nvSpPr>
            <p:cNvPr id="45" name="Rectangle 12">
              <a:extLst>
                <a:ext uri="{FF2B5EF4-FFF2-40B4-BE49-F238E27FC236}">
                  <a16:creationId xmlns:a16="http://schemas.microsoft.com/office/drawing/2014/main" id="{9E44F096-511F-30CF-5662-A1F13A503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F6B0A225-6204-4D83-4D5B-E76D92323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5737225"/>
              <a:ext cx="406400" cy="0"/>
            </a:xfrm>
            <a:custGeom>
              <a:avLst/>
              <a:gdLst>
                <a:gd name="T0" fmla="*/ 0 w 256"/>
                <a:gd name="T1" fmla="*/ 10 h 10"/>
                <a:gd name="T2" fmla="*/ 256 w 256"/>
                <a:gd name="T3" fmla="*/ 0 h 10"/>
                <a:gd name="T4" fmla="*/ 0 60000 65536"/>
                <a:gd name="T5" fmla="*/ 0 60000 65536"/>
                <a:gd name="T6" fmla="*/ 0 w 256"/>
                <a:gd name="T7" fmla="*/ 0 h 10"/>
                <a:gd name="T8" fmla="*/ 256 w 256"/>
                <a:gd name="T9" fmla="*/ 10 h 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6" h="10">
                  <a:moveTo>
                    <a:pt x="0" y="10"/>
                  </a:moveTo>
                  <a:lnTo>
                    <a:pt x="25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CDADDACF-E4F6-FA90-5FAC-6228541CB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888" y="5715000"/>
              <a:ext cx="506412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8FE99A40-6297-1F5A-3D75-B704020D4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025" y="6223000"/>
              <a:ext cx="5057775" cy="14288"/>
            </a:xfrm>
            <a:custGeom>
              <a:avLst/>
              <a:gdLst>
                <a:gd name="T0" fmla="*/ 0 w 3186"/>
                <a:gd name="T1" fmla="*/ 9 h 9"/>
                <a:gd name="T2" fmla="*/ 3186 w 3186"/>
                <a:gd name="T3" fmla="*/ 0 h 9"/>
                <a:gd name="T4" fmla="*/ 0 60000 65536"/>
                <a:gd name="T5" fmla="*/ 0 60000 65536"/>
                <a:gd name="T6" fmla="*/ 0 w 3186"/>
                <a:gd name="T7" fmla="*/ 0 h 9"/>
                <a:gd name="T8" fmla="*/ 3186 w 318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6" h="9">
                  <a:moveTo>
                    <a:pt x="0" y="9"/>
                  </a:moveTo>
                  <a:lnTo>
                    <a:pt x="318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9" name="Line 16">
              <a:extLst>
                <a:ext uri="{FF2B5EF4-FFF2-40B4-BE49-F238E27FC236}">
                  <a16:creationId xmlns:a16="http://schemas.microsoft.com/office/drawing/2014/main" id="{5B9BD16C-6999-4836-9048-E9EB87B74E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9925" y="5949950"/>
              <a:ext cx="0" cy="2873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0" name="Text Box 17">
              <a:extLst>
                <a:ext uri="{FF2B5EF4-FFF2-40B4-BE49-F238E27FC236}">
                  <a16:creationId xmlns:a16="http://schemas.microsoft.com/office/drawing/2014/main" id="{1D2F6675-37AE-FAE2-C763-F8AE7DA2A7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18" y="5429264"/>
              <a:ext cx="7921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51" name="Rectangle 19">
              <a:extLst>
                <a:ext uri="{FF2B5EF4-FFF2-40B4-BE49-F238E27FC236}">
                  <a16:creationId xmlns:a16="http://schemas.microsoft.com/office/drawing/2014/main" id="{4A306098-AFD5-8A64-133E-855DCCA81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150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52" name="Rectangle 20">
              <a:extLst>
                <a:ext uri="{FF2B5EF4-FFF2-40B4-BE49-F238E27FC236}">
                  <a16:creationId xmlns:a16="http://schemas.microsoft.com/office/drawing/2014/main" id="{E69C1BC6-D070-D868-D894-4ED8655D3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55D159CC-1508-ECCD-35D5-22B8EE188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850" y="5715000"/>
              <a:ext cx="506413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54" name="Text Box 10">
            <a:extLst>
              <a:ext uri="{FF2B5EF4-FFF2-40B4-BE49-F238E27FC236}">
                <a16:creationId xmlns:a16="http://schemas.microsoft.com/office/drawing/2014/main" id="{588DAF6B-E951-5499-4CB4-FE94BE1C8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651244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6BCD4A9-D0CB-A59C-5F2D-4C91D9F89287}"/>
              </a:ext>
            </a:extLst>
          </p:cNvPr>
          <p:cNvSpPr txBox="1"/>
          <p:nvPr/>
        </p:nvSpPr>
        <p:spPr>
          <a:xfrm>
            <a:off x="2135560" y="608123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6" name="Line 29">
            <a:extLst>
              <a:ext uri="{FF2B5EF4-FFF2-40B4-BE49-F238E27FC236}">
                <a16:creationId xmlns:a16="http://schemas.microsoft.com/office/drawing/2014/main" id="{0CA84CAF-23C1-31C3-C8D4-8655425456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69842" y="6187578"/>
            <a:ext cx="1979909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6179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A0BA3-6192-E994-47B3-9499233AE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05C045C-58BC-E112-F13A-7A0D29E4BE8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EE888F1-15E0-FD23-9CCF-C9EC3ED8E4D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E8E97324-2452-EC41-9D7F-79A9CF974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844824"/>
            <a:ext cx="46783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 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4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）进队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enQueue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7" name="Text Box 1026">
            <a:extLst>
              <a:ext uri="{FF2B5EF4-FFF2-40B4-BE49-F238E27FC236}">
                <a16:creationId xmlns:a16="http://schemas.microsoft.com/office/drawing/2014/main" id="{F692A8D3-966A-314B-3EA8-68F1CDD0A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2315615"/>
            <a:ext cx="8415366" cy="34667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rIns="144000">
            <a:spAutoFit/>
          </a:bodyPr>
          <a:lstStyle/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kumimoji="1" lang="en-US" altLang="zh-CN" sz="18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enQueue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e)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DataNode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*p;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p=(DataNode *)malloc(sizeof(DataNode));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&gt;data=e;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&gt;next=NULL;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q-&gt;rear==</a:t>
            </a:r>
            <a:r>
              <a:rPr kumimoji="1" lang="en-US" altLang="zh-CN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NULL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若链队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为空，新结点是队首结点又是队尾结点</a:t>
            </a:r>
            <a:endParaRPr kumimoji="1" lang="zh-CN" altLang="en-US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q-&gt;front=q-&gt;rear=p;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 q-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&gt;rear-&gt;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next=p; 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kumimoji="1"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结点链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队尾，并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指向它</a:t>
            </a:r>
          </a:p>
          <a:p>
            <a:pPr algn="l">
              <a:lnSpc>
                <a:spcPts val="2200"/>
              </a:lnSpc>
            </a:pP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&gt;rear=p;</a:t>
            </a:r>
          </a:p>
          <a:p>
            <a:pPr algn="l">
              <a:lnSpc>
                <a:spcPts val="22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26" name="Line 29">
            <a:extLst>
              <a:ext uri="{FF2B5EF4-FFF2-40B4-BE49-F238E27FC236}">
                <a16:creationId xmlns:a16="http://schemas.microsoft.com/office/drawing/2014/main" id="{0E499E71-D170-09F5-518A-6F4A352152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7879" y="6318413"/>
            <a:ext cx="380999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6">
            <a:extLst>
              <a:ext uri="{FF2B5EF4-FFF2-40B4-BE49-F238E27FC236}">
                <a16:creationId xmlns:a16="http://schemas.microsoft.com/office/drawing/2014/main" id="{47623AC0-0295-F22B-6021-C14EF672D24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7879" y="6333810"/>
            <a:ext cx="0" cy="31257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F8CF6CD6-B843-F513-F528-B0AD33EE3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9750" y="5778117"/>
            <a:ext cx="914400" cy="5756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zh-CN" altLang="en-US" sz="2400" dirty="0"/>
              <a:t>       </a:t>
            </a:r>
            <a:r>
              <a:rPr lang="en-US" altLang="zh-CN" sz="2400" dirty="0"/>
              <a:t>  </a:t>
            </a:r>
          </a:p>
        </p:txBody>
      </p:sp>
      <p:sp>
        <p:nvSpPr>
          <p:cNvPr id="32" name="Line 6">
            <a:extLst>
              <a:ext uri="{FF2B5EF4-FFF2-40B4-BE49-F238E27FC236}">
                <a16:creationId xmlns:a16="http://schemas.microsoft.com/office/drawing/2014/main" id="{A07470C9-B670-3E47-1BC9-6A210F14BC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09277" y="5778117"/>
            <a:ext cx="0" cy="5756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29">
            <a:extLst>
              <a:ext uri="{FF2B5EF4-FFF2-40B4-BE49-F238E27FC236}">
                <a16:creationId xmlns:a16="http://schemas.microsoft.com/office/drawing/2014/main" id="{31E5580E-7AE2-E323-507A-B636EA6D4D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52664" y="5934125"/>
            <a:ext cx="697087" cy="41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19769DA-3EE8-62BA-2D98-7243A258CD3C}"/>
              </a:ext>
            </a:extLst>
          </p:cNvPr>
          <p:cNvSpPr/>
          <p:nvPr/>
        </p:nvSpPr>
        <p:spPr>
          <a:xfrm>
            <a:off x="9130618" y="5720816"/>
            <a:ext cx="348172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p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BED183F-90BE-1375-E1CB-D6EB568C7341}"/>
              </a:ext>
            </a:extLst>
          </p:cNvPr>
          <p:cNvSpPr/>
          <p:nvPr/>
        </p:nvSpPr>
        <p:spPr>
          <a:xfrm>
            <a:off x="10276410" y="5865899"/>
            <a:ext cx="330540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DE7C4D1-48D4-DBD3-458E-4EFC39AF24F0}"/>
              </a:ext>
            </a:extLst>
          </p:cNvPr>
          <p:cNvSpPr/>
          <p:nvPr/>
        </p:nvSpPr>
        <p:spPr>
          <a:xfrm>
            <a:off x="10769912" y="5871469"/>
            <a:ext cx="31290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zh-CN" altLang="en-US" sz="2000" dirty="0"/>
              <a:t>^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C5A76D90-054E-E6D6-83D8-64DF29478935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原队列非空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584FFD0-97A3-3F03-A341-7DABC2979977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3" name="组合 24">
            <a:extLst>
              <a:ext uri="{FF2B5EF4-FFF2-40B4-BE49-F238E27FC236}">
                <a16:creationId xmlns:a16="http://schemas.microsoft.com/office/drawing/2014/main" id="{41CB9327-E7FB-34A5-EEF1-34904DA7E42C}"/>
              </a:ext>
            </a:extLst>
          </p:cNvPr>
          <p:cNvGrpSpPr/>
          <p:nvPr/>
        </p:nvGrpSpPr>
        <p:grpSpPr>
          <a:xfrm>
            <a:off x="1319725" y="5852652"/>
            <a:ext cx="6958037" cy="952486"/>
            <a:chOff x="638151" y="5429264"/>
            <a:chExt cx="6958037" cy="952486"/>
          </a:xfrm>
        </p:grpSpPr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73DC42CA-429A-9BD7-1769-F4D788F38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A98C35BE-DBDF-6391-5D20-8B2A1060F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35" name="Line 6">
              <a:extLst>
                <a:ext uri="{FF2B5EF4-FFF2-40B4-BE49-F238E27FC236}">
                  <a16:creationId xmlns:a16="http://schemas.microsoft.com/office/drawing/2014/main" id="{60BBC7EE-4C2D-23F7-AACF-BFA898C3A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6" name="Text Box 7">
              <a:extLst>
                <a:ext uri="{FF2B5EF4-FFF2-40B4-BE49-F238E27FC236}">
                  <a16:creationId xmlns:a16="http://schemas.microsoft.com/office/drawing/2014/main" id="{491F3ED0-21B1-B1A8-1F67-11BC8561C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63E078AD-F4D8-DE4E-9575-B0B9B82C8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2" name="Rectangle 9">
              <a:extLst>
                <a:ext uri="{FF2B5EF4-FFF2-40B4-BE49-F238E27FC236}">
                  <a16:creationId xmlns:a16="http://schemas.microsoft.com/office/drawing/2014/main" id="{A68A84EF-5738-0C09-5FAE-176093524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3" name="Line 10">
              <a:extLst>
                <a:ext uri="{FF2B5EF4-FFF2-40B4-BE49-F238E27FC236}">
                  <a16:creationId xmlns:a16="http://schemas.microsoft.com/office/drawing/2014/main" id="{5AB2EB10-34AC-199A-47B5-8F80C1A3F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025" y="5734050"/>
              <a:ext cx="79216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4" name="Rectangle 11">
              <a:extLst>
                <a:ext uri="{FF2B5EF4-FFF2-40B4-BE49-F238E27FC236}">
                  <a16:creationId xmlns:a16="http://schemas.microsoft.com/office/drawing/2014/main" id="{C7F778F0-DCA1-BC22-4E64-F996875F2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0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i="1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</a:p>
          </p:txBody>
        </p:sp>
        <p:sp>
          <p:nvSpPr>
            <p:cNvPr id="45" name="Rectangle 12">
              <a:extLst>
                <a:ext uri="{FF2B5EF4-FFF2-40B4-BE49-F238E27FC236}">
                  <a16:creationId xmlns:a16="http://schemas.microsoft.com/office/drawing/2014/main" id="{0964008D-4E43-BA9E-A789-D90CCCF6C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4FA49DB5-3E05-F68B-1EF2-9CBA1CFF5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5737225"/>
              <a:ext cx="406400" cy="0"/>
            </a:xfrm>
            <a:custGeom>
              <a:avLst/>
              <a:gdLst>
                <a:gd name="T0" fmla="*/ 0 w 256"/>
                <a:gd name="T1" fmla="*/ 10 h 10"/>
                <a:gd name="T2" fmla="*/ 256 w 256"/>
                <a:gd name="T3" fmla="*/ 0 h 10"/>
                <a:gd name="T4" fmla="*/ 0 60000 65536"/>
                <a:gd name="T5" fmla="*/ 0 60000 65536"/>
                <a:gd name="T6" fmla="*/ 0 w 256"/>
                <a:gd name="T7" fmla="*/ 0 h 10"/>
                <a:gd name="T8" fmla="*/ 256 w 256"/>
                <a:gd name="T9" fmla="*/ 10 h 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6" h="10">
                  <a:moveTo>
                    <a:pt x="0" y="10"/>
                  </a:moveTo>
                  <a:lnTo>
                    <a:pt x="25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E9AFF3A0-5F58-9811-937A-0162570BC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888" y="5715000"/>
              <a:ext cx="506412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0" name="Text Box 17">
              <a:extLst>
                <a:ext uri="{FF2B5EF4-FFF2-40B4-BE49-F238E27FC236}">
                  <a16:creationId xmlns:a16="http://schemas.microsoft.com/office/drawing/2014/main" id="{1F940DD1-9DA1-B131-F9A1-EBDD70DBA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18" y="5429264"/>
              <a:ext cx="7921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51" name="Rectangle 19">
              <a:extLst>
                <a:ext uri="{FF2B5EF4-FFF2-40B4-BE49-F238E27FC236}">
                  <a16:creationId xmlns:a16="http://schemas.microsoft.com/office/drawing/2014/main" id="{0A79F53E-286C-44E4-FAB4-035C49912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150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52" name="Rectangle 20">
              <a:extLst>
                <a:ext uri="{FF2B5EF4-FFF2-40B4-BE49-F238E27FC236}">
                  <a16:creationId xmlns:a16="http://schemas.microsoft.com/office/drawing/2014/main" id="{450A4759-1071-206A-58E5-1DE4725B9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17CC01A1-4744-0314-C378-4D8C10CB0B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850" y="5715000"/>
              <a:ext cx="506413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54" name="Text Box 10">
            <a:extLst>
              <a:ext uri="{FF2B5EF4-FFF2-40B4-BE49-F238E27FC236}">
                <a16:creationId xmlns:a16="http://schemas.microsoft.com/office/drawing/2014/main" id="{105A8504-EB86-E555-3550-9919CEB0E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651244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51882C9-B0FA-004F-2158-1AB1FA6B69B3}"/>
              </a:ext>
            </a:extLst>
          </p:cNvPr>
          <p:cNvSpPr txBox="1"/>
          <p:nvPr/>
        </p:nvSpPr>
        <p:spPr>
          <a:xfrm>
            <a:off x="2135560" y="608123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56" name="Line 29">
            <a:extLst>
              <a:ext uri="{FF2B5EF4-FFF2-40B4-BE49-F238E27FC236}">
                <a16:creationId xmlns:a16="http://schemas.microsoft.com/office/drawing/2014/main" id="{9A68A0B4-FEDA-461F-34ED-BF0EFCDC3C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69842" y="6187578"/>
            <a:ext cx="1979909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9" name="Freeform 15">
            <a:extLst>
              <a:ext uri="{FF2B5EF4-FFF2-40B4-BE49-F238E27FC236}">
                <a16:creationId xmlns:a16="http://schemas.microsoft.com/office/drawing/2014/main" id="{BB957037-B65A-F911-F3FE-1D37153B2F0E}"/>
              </a:ext>
            </a:extLst>
          </p:cNvPr>
          <p:cNvSpPr>
            <a:spLocks/>
          </p:cNvSpPr>
          <p:nvPr/>
        </p:nvSpPr>
        <p:spPr bwMode="auto">
          <a:xfrm>
            <a:off x="2659599" y="6646387"/>
            <a:ext cx="7078280" cy="45719"/>
          </a:xfrm>
          <a:custGeom>
            <a:avLst/>
            <a:gdLst>
              <a:gd name="T0" fmla="*/ 0 w 3186"/>
              <a:gd name="T1" fmla="*/ 9 h 9"/>
              <a:gd name="T2" fmla="*/ 3186 w 3186"/>
              <a:gd name="T3" fmla="*/ 0 h 9"/>
              <a:gd name="T4" fmla="*/ 0 60000 65536"/>
              <a:gd name="T5" fmla="*/ 0 60000 65536"/>
              <a:gd name="T6" fmla="*/ 0 w 3186"/>
              <a:gd name="T7" fmla="*/ 0 h 9"/>
              <a:gd name="T8" fmla="*/ 3186 w 3186"/>
              <a:gd name="T9" fmla="*/ 9 h 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6" h="9">
                <a:moveTo>
                  <a:pt x="0" y="9"/>
                </a:moveTo>
                <a:lnTo>
                  <a:pt x="3186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 sz="180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4227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C0367-C9A7-B6E3-3108-8C06D71E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FADA0F7-9904-7123-D046-9927700D753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75965CD-8D02-3728-C889-1988B90ABCEE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>
            <a:extLst>
              <a:ext uri="{FF2B5EF4-FFF2-40B4-BE49-F238E27FC236}">
                <a16:creationId xmlns:a16="http://schemas.microsoft.com/office/drawing/2014/main" id="{0DCC6F3E-0C93-EE02-36A3-CBC7FBBC9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490" y="1868135"/>
            <a:ext cx="3147214" cy="4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5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）出队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deQueue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DD144634-175A-2DC4-47D9-76771958E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879" y="2326394"/>
            <a:ext cx="8001000" cy="3441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bIns="180000">
            <a:spAutoFit/>
          </a:bodyPr>
          <a:lstStyle/>
          <a:p>
            <a:pPr algn="l">
              <a:lnSpc>
                <a:spcPts val="2000"/>
              </a:lnSpc>
            </a:pP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kumimoji="1"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(q-&gt;rear==NULL) return false;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队列为空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t=q-&gt;front;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//t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指向第一个数据结点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q-&gt;front==q-&gt;rear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队列中只有一个结点时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q-&gt;front=q-&gt;rear=NULL;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队列中有多个结点时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q-&gt;front=q-&gt;front-&gt;next;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e=t-&gt;data;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free(t);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4C923F0A-329E-C156-965B-7CA10EB7E015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原队列只有一个结点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47003E6-D09D-A40D-6743-51A7F8FFADD5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2" name="组合 24">
            <a:extLst>
              <a:ext uri="{FF2B5EF4-FFF2-40B4-BE49-F238E27FC236}">
                <a16:creationId xmlns:a16="http://schemas.microsoft.com/office/drawing/2014/main" id="{80AD42C9-2E44-7C51-B4FB-B3DFD92EE427}"/>
              </a:ext>
            </a:extLst>
          </p:cNvPr>
          <p:cNvGrpSpPr/>
          <p:nvPr/>
        </p:nvGrpSpPr>
        <p:grpSpPr>
          <a:xfrm>
            <a:off x="1319725" y="5852652"/>
            <a:ext cx="2997224" cy="952486"/>
            <a:chOff x="638151" y="5429264"/>
            <a:chExt cx="2997224" cy="952486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7F2D5443-C842-062E-F58F-430F2420B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521E04-AEB3-BED5-25FA-09814A0D8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0FEFE872-C00B-581F-B947-BA0EC8674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EF2626B1-C1A3-E0A2-0102-90932F40F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91C2E1CF-CDA3-A39C-10CD-C347A7BA3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A795B809-96C3-D1F5-444A-A44890A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5E6E4B7B-2C94-36D6-7E91-ED1600DCE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025" y="5734050"/>
              <a:ext cx="79216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0C8AFDDC-F660-55F6-0FBD-014936C7AA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9095" y="5949950"/>
              <a:ext cx="0" cy="2873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32" name="Text Box 10">
            <a:extLst>
              <a:ext uri="{FF2B5EF4-FFF2-40B4-BE49-F238E27FC236}">
                <a16:creationId xmlns:a16="http://schemas.microsoft.com/office/drawing/2014/main" id="{96AE92E4-C7B7-97C3-E3E4-D79AF2216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651244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F520A5-9EF1-85F6-0494-582CD167B1F8}"/>
              </a:ext>
            </a:extLst>
          </p:cNvPr>
          <p:cNvSpPr txBox="1"/>
          <p:nvPr/>
        </p:nvSpPr>
        <p:spPr>
          <a:xfrm>
            <a:off x="2135560" y="608123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41AF2AA-65B8-1C16-101A-57992837C845}"/>
              </a:ext>
            </a:extLst>
          </p:cNvPr>
          <p:cNvCxnSpPr>
            <a:cxnSpLocks/>
          </p:cNvCxnSpPr>
          <p:nvPr/>
        </p:nvCxnSpPr>
        <p:spPr>
          <a:xfrm>
            <a:off x="2659599" y="6660676"/>
            <a:ext cx="89107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12">
            <a:extLst>
              <a:ext uri="{FF2B5EF4-FFF2-40B4-BE49-F238E27FC236}">
                <a16:creationId xmlns:a16="http://schemas.microsoft.com/office/drawing/2014/main" id="{132DE64C-AE0C-7DD9-87D6-AFBBAFA21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403" y="5951786"/>
            <a:ext cx="430545" cy="41996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48" name="Line 29">
            <a:extLst>
              <a:ext uri="{FF2B5EF4-FFF2-40B4-BE49-F238E27FC236}">
                <a16:creationId xmlns:a16="http://schemas.microsoft.com/office/drawing/2014/main" id="{EF6C5905-936B-E338-6814-0CC527B37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1414" y="5583480"/>
            <a:ext cx="0" cy="35488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01CA8C5-F31B-DD7E-CB9A-D255790AD24C}"/>
              </a:ext>
            </a:extLst>
          </p:cNvPr>
          <p:cNvSpPr/>
          <p:nvPr/>
        </p:nvSpPr>
        <p:spPr>
          <a:xfrm>
            <a:off x="3494007" y="5307469"/>
            <a:ext cx="28084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52513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DFB7-5616-D01D-4656-79A118D12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54366FC-40C7-1794-B2F8-B0C84124266A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38700D4-A33D-C09F-15B3-112EEA64D60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>
            <a:extLst>
              <a:ext uri="{FF2B5EF4-FFF2-40B4-BE49-F238E27FC236}">
                <a16:creationId xmlns:a16="http://schemas.microsoft.com/office/drawing/2014/main" id="{E4BD0BB8-1C88-0DB2-AE16-1BFF20FAF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490" y="1868135"/>
            <a:ext cx="3147214" cy="4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5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）出队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deQueue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3ED8BBD8-CBB7-13A5-20A6-4B74D7963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879" y="2326394"/>
            <a:ext cx="8001000" cy="3441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bIns="180000">
            <a:spAutoFit/>
          </a:bodyPr>
          <a:lstStyle/>
          <a:p>
            <a:pPr algn="l">
              <a:lnSpc>
                <a:spcPts val="2000"/>
              </a:lnSpc>
            </a:pP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kumimoji="1"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(q-&gt;rear==NULL) return false;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队列为空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t=q-&gt;front;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//t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指向第一个数据结点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q-&gt;front==q-&gt;rear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队列中只有一个结点时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q-&gt;front=q-&gt;rear=NULL;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队列中有多个结点时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q-&gt;front=q-&gt;front-&gt;next;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e=t-&gt;data;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free(t);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266A153F-00FB-DB8A-4B09-FD0FBACEF6FC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原队列只有一个结点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A7B623-4E28-7BD0-3EDC-8E1A12F57466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3" name="组合 24">
            <a:extLst>
              <a:ext uri="{FF2B5EF4-FFF2-40B4-BE49-F238E27FC236}">
                <a16:creationId xmlns:a16="http://schemas.microsoft.com/office/drawing/2014/main" id="{FCF295F0-2ADE-3C1E-6A78-8A5AF7473942}"/>
              </a:ext>
            </a:extLst>
          </p:cNvPr>
          <p:cNvGrpSpPr/>
          <p:nvPr/>
        </p:nvGrpSpPr>
        <p:grpSpPr>
          <a:xfrm>
            <a:off x="1319725" y="5852652"/>
            <a:ext cx="2997224" cy="952486"/>
            <a:chOff x="638151" y="5429264"/>
            <a:chExt cx="2997224" cy="952486"/>
          </a:xfrm>
        </p:grpSpPr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20080F42-FB05-57AA-E4DC-28C586F7A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864814B0-7F37-02D8-ADD6-628532BFA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D27BE8E3-142D-0C70-7B9F-F996EE36A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id="{F2FD9153-805F-67CA-8230-441068B38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1A7CB8A8-FB8A-E3B0-7EDF-4A977E1A5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A7705F61-2BE4-4C51-9851-81DAE8565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20" name="Text Box 10">
            <a:extLst>
              <a:ext uri="{FF2B5EF4-FFF2-40B4-BE49-F238E27FC236}">
                <a16:creationId xmlns:a16="http://schemas.microsoft.com/office/drawing/2014/main" id="{1316D49F-B42E-B8FB-BAC1-8D30CD465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651244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35A48C-E22F-1778-3FE3-20164CAC22AD}"/>
              </a:ext>
            </a:extLst>
          </p:cNvPr>
          <p:cNvSpPr txBox="1"/>
          <p:nvPr/>
        </p:nvSpPr>
        <p:spPr>
          <a:xfrm>
            <a:off x="2135560" y="608123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7AE7023F-DCD1-9421-75AC-7FD1AFF7F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403" y="5951786"/>
            <a:ext cx="430545" cy="41996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3E7D99FA-3085-25B1-E2A7-EC0996E04B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1414" y="5583480"/>
            <a:ext cx="0" cy="35488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7342D91-1B46-601F-E5C8-283197AB9D05}"/>
              </a:ext>
            </a:extLst>
          </p:cNvPr>
          <p:cNvSpPr/>
          <p:nvPr/>
        </p:nvSpPr>
        <p:spPr>
          <a:xfrm>
            <a:off x="3494007" y="5307469"/>
            <a:ext cx="28084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28AA838-A7B9-93F3-0E55-05B56B14974C}"/>
              </a:ext>
            </a:extLst>
          </p:cNvPr>
          <p:cNvSpPr txBox="1"/>
          <p:nvPr/>
        </p:nvSpPr>
        <p:spPr>
          <a:xfrm>
            <a:off x="2659599" y="6014346"/>
            <a:ext cx="430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itchFamily="18" charset="2"/>
              </a:rPr>
              <a:t>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1EA9A74-52B0-7CF5-BA0D-EE844A1F2EAA}"/>
              </a:ext>
            </a:extLst>
          </p:cNvPr>
          <p:cNvSpPr txBox="1"/>
          <p:nvPr/>
        </p:nvSpPr>
        <p:spPr>
          <a:xfrm>
            <a:off x="2604583" y="6443494"/>
            <a:ext cx="430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itchFamily="18" charset="2"/>
              </a:rPr>
              <a:t></a:t>
            </a:r>
          </a:p>
        </p:txBody>
      </p:sp>
    </p:spTree>
    <p:extLst>
      <p:ext uri="{BB962C8B-B14F-4D97-AF65-F5344CB8AC3E}">
        <p14:creationId xmlns:p14="http://schemas.microsoft.com/office/powerpoint/2010/main" val="227062752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BA9D9-F840-51FA-D86B-85B078D2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25AE052-0CE6-A39C-A847-C97DDC7ED408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51D8BDF-A7CB-6C40-3CEA-6595105CE38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>
            <a:extLst>
              <a:ext uri="{FF2B5EF4-FFF2-40B4-BE49-F238E27FC236}">
                <a16:creationId xmlns:a16="http://schemas.microsoft.com/office/drawing/2014/main" id="{B679BC4F-7A3C-8279-D991-AF78963A5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490" y="1868135"/>
            <a:ext cx="3147214" cy="4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5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）出队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deQueue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BF2CCF19-04D2-A797-0D09-0FE37C6A0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879" y="2326394"/>
            <a:ext cx="8001000" cy="3441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bIns="180000">
            <a:spAutoFit/>
          </a:bodyPr>
          <a:lstStyle/>
          <a:p>
            <a:pPr algn="l">
              <a:lnSpc>
                <a:spcPts val="2000"/>
              </a:lnSpc>
            </a:pP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kumimoji="1"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(q-&gt;rear==NULL) return false;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队列为空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t=q-&gt;front;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//t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指向第一个数据结点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q-&gt;front==q-&gt;rear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队列中只有一个结点时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q-&gt;front=q-&gt;rear=NULL;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队列中有多个结点时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q-&gt;front=q-&gt;front-&gt;next;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e=t-&gt;data;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free(t);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AA01B85A-ECDF-0E65-FDDC-776777D4B6B2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原队列只有一个结点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89893A-0774-7745-B7F5-70A37174F69E}"/>
              </a:ext>
            </a:extLst>
          </p:cNvPr>
          <p:cNvSpPr/>
          <p:nvPr/>
        </p:nvSpPr>
        <p:spPr>
          <a:xfrm>
            <a:off x="3127817" y="5327795"/>
            <a:ext cx="330540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630AB6-2878-A267-E568-EEB6C302E93F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3" name="组合 24">
            <a:extLst>
              <a:ext uri="{FF2B5EF4-FFF2-40B4-BE49-F238E27FC236}">
                <a16:creationId xmlns:a16="http://schemas.microsoft.com/office/drawing/2014/main" id="{96FB7CFC-0449-3065-604B-AA6DEE7B591B}"/>
              </a:ext>
            </a:extLst>
          </p:cNvPr>
          <p:cNvGrpSpPr/>
          <p:nvPr/>
        </p:nvGrpSpPr>
        <p:grpSpPr>
          <a:xfrm>
            <a:off x="1319725" y="5852652"/>
            <a:ext cx="2997224" cy="952486"/>
            <a:chOff x="638151" y="5429264"/>
            <a:chExt cx="2997224" cy="952486"/>
          </a:xfrm>
        </p:grpSpPr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80A057DD-90B0-797D-D7AF-02D29294D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143B0775-EBBE-8C29-BF84-D766B737A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79B789F3-3E92-CF21-FC9A-775BEDE95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" name="Text Box 7">
              <a:extLst>
                <a:ext uri="{FF2B5EF4-FFF2-40B4-BE49-F238E27FC236}">
                  <a16:creationId xmlns:a16="http://schemas.microsoft.com/office/drawing/2014/main" id="{CC4ACC53-CAA8-74B3-8B1A-D5587B293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42F7D82C-32EF-AD25-A10F-A5B0683F0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C7BCB963-716E-DDDA-BB6F-2E4DE7CD4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20" name="Text Box 10">
            <a:extLst>
              <a:ext uri="{FF2B5EF4-FFF2-40B4-BE49-F238E27FC236}">
                <a16:creationId xmlns:a16="http://schemas.microsoft.com/office/drawing/2014/main" id="{B237EB65-8225-8BCF-3667-1C86D541C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651244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0772C-39EC-6A48-DE43-F509A7578C03}"/>
              </a:ext>
            </a:extLst>
          </p:cNvPr>
          <p:cNvSpPr txBox="1"/>
          <p:nvPr/>
        </p:nvSpPr>
        <p:spPr>
          <a:xfrm>
            <a:off x="2135560" y="608123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E3604F5C-76CD-DE1E-8CCE-6CA63BDE8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403" y="5951786"/>
            <a:ext cx="430545" cy="41996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26" name="Line 29">
            <a:extLst>
              <a:ext uri="{FF2B5EF4-FFF2-40B4-BE49-F238E27FC236}">
                <a16:creationId xmlns:a16="http://schemas.microsoft.com/office/drawing/2014/main" id="{1F87A806-6CBD-FB95-3DC6-7372136396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1414" y="5583480"/>
            <a:ext cx="0" cy="35488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F1A9CB6-286E-4F8E-480D-6910421190F5}"/>
              </a:ext>
            </a:extLst>
          </p:cNvPr>
          <p:cNvSpPr/>
          <p:nvPr/>
        </p:nvSpPr>
        <p:spPr>
          <a:xfrm>
            <a:off x="3494007" y="5307469"/>
            <a:ext cx="28084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7713E15-EA47-7FD3-1268-E5B04C252B6E}"/>
              </a:ext>
            </a:extLst>
          </p:cNvPr>
          <p:cNvSpPr txBox="1"/>
          <p:nvPr/>
        </p:nvSpPr>
        <p:spPr>
          <a:xfrm>
            <a:off x="2659599" y="6014346"/>
            <a:ext cx="430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itchFamily="18" charset="2"/>
              </a:rPr>
              <a:t>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87907C8-A77F-3CE0-9F75-0887E73D4D94}"/>
              </a:ext>
            </a:extLst>
          </p:cNvPr>
          <p:cNvSpPr txBox="1"/>
          <p:nvPr/>
        </p:nvSpPr>
        <p:spPr>
          <a:xfrm>
            <a:off x="2604583" y="6443494"/>
            <a:ext cx="430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itchFamily="18" charset="2"/>
              </a:rPr>
              <a:t></a:t>
            </a:r>
          </a:p>
        </p:txBody>
      </p:sp>
      <p:cxnSp>
        <p:nvCxnSpPr>
          <p:cNvPr id="14" name="曲线连接符 45">
            <a:extLst>
              <a:ext uri="{FF2B5EF4-FFF2-40B4-BE49-F238E27FC236}">
                <a16:creationId xmlns:a16="http://schemas.microsoft.com/office/drawing/2014/main" id="{F6C71729-9B87-2A11-515F-33F4B1FBD640}"/>
              </a:ext>
            </a:extLst>
          </p:cNvPr>
          <p:cNvCxnSpPr>
            <a:cxnSpLocks/>
          </p:cNvCxnSpPr>
          <p:nvPr/>
        </p:nvCxnSpPr>
        <p:spPr>
          <a:xfrm rot="16200000" flipV="1">
            <a:off x="3238205" y="5788751"/>
            <a:ext cx="507560" cy="97018"/>
          </a:xfrm>
          <a:prstGeom prst="curvedConnector3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41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4E75C-7234-91FD-4C72-FE89EF88B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D05AE42-93DB-CE49-7BEC-DFC989B36E0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4D3B972-8D11-A896-7ECF-F3BCA8A3FC7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>
            <a:extLst>
              <a:ext uri="{FF2B5EF4-FFF2-40B4-BE49-F238E27FC236}">
                <a16:creationId xmlns:a16="http://schemas.microsoft.com/office/drawing/2014/main" id="{B2038FA2-40F8-F48E-B8A9-77BAB635A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490" y="1868135"/>
            <a:ext cx="3147214" cy="4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5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）出队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deQueue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422791AD-FA4F-636E-3666-74F249772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879" y="2326394"/>
            <a:ext cx="8001000" cy="3441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bIns="180000">
            <a:spAutoFit/>
          </a:bodyPr>
          <a:lstStyle/>
          <a:p>
            <a:pPr algn="l">
              <a:lnSpc>
                <a:spcPts val="2000"/>
              </a:lnSpc>
            </a:pP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kumimoji="1"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(q-&gt;rear==NULL) return false;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队列为空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t=q-&gt;front;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//t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指向第一个数据结点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q-&gt;front==q-&gt;rear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队列中只有一个结点时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q-&gt;front=q-&gt;rear=NULL;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队列中有多个结点时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q-&gt;front=q-&gt;front-&gt;next;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e=t-&gt;data;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free(t);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7D80D7EF-005B-EBDD-7427-301FFF5BB357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原队列只有一个结点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A2711A-2E71-068D-FD97-EBD7DA6B95B1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85D371-0CD2-5450-97E8-47C767DCD800}"/>
              </a:ext>
            </a:extLst>
          </p:cNvPr>
          <p:cNvSpPr/>
          <p:nvPr/>
        </p:nvSpPr>
        <p:spPr>
          <a:xfrm>
            <a:off x="3127817" y="5327795"/>
            <a:ext cx="330540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e</a:t>
            </a:r>
          </a:p>
        </p:txBody>
      </p:sp>
      <p:grpSp>
        <p:nvGrpSpPr>
          <p:cNvPr id="33" name="组合 24">
            <a:extLst>
              <a:ext uri="{FF2B5EF4-FFF2-40B4-BE49-F238E27FC236}">
                <a16:creationId xmlns:a16="http://schemas.microsoft.com/office/drawing/2014/main" id="{21CDE169-0487-1D1E-5C7E-9C04BB94C0BE}"/>
              </a:ext>
            </a:extLst>
          </p:cNvPr>
          <p:cNvGrpSpPr/>
          <p:nvPr/>
        </p:nvGrpSpPr>
        <p:grpSpPr>
          <a:xfrm>
            <a:off x="1319725" y="5852652"/>
            <a:ext cx="2997224" cy="952486"/>
            <a:chOff x="638151" y="5429264"/>
            <a:chExt cx="2997224" cy="952486"/>
          </a:xfrm>
        </p:grpSpPr>
        <p:sp>
          <p:nvSpPr>
            <p:cNvPr id="34" name="Rectangle 4">
              <a:extLst>
                <a:ext uri="{FF2B5EF4-FFF2-40B4-BE49-F238E27FC236}">
                  <a16:creationId xmlns:a16="http://schemas.microsoft.com/office/drawing/2014/main" id="{A5637942-0ED1-E58C-FFCB-5593EC35B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35" name="Rectangle 5">
              <a:extLst>
                <a:ext uri="{FF2B5EF4-FFF2-40B4-BE49-F238E27FC236}">
                  <a16:creationId xmlns:a16="http://schemas.microsoft.com/office/drawing/2014/main" id="{FB900775-3247-E1AA-0001-D0432B8A0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36" name="Line 6">
              <a:extLst>
                <a:ext uri="{FF2B5EF4-FFF2-40B4-BE49-F238E27FC236}">
                  <a16:creationId xmlns:a16="http://schemas.microsoft.com/office/drawing/2014/main" id="{DC015A54-8C18-BE5E-5F6E-8ADB2CE38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8" name="Text Box 7">
              <a:extLst>
                <a:ext uri="{FF2B5EF4-FFF2-40B4-BE49-F238E27FC236}">
                  <a16:creationId xmlns:a16="http://schemas.microsoft.com/office/drawing/2014/main" id="{5E0DF873-692A-19B7-E84A-D496BD30F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39" name="Rectangle 8">
              <a:extLst>
                <a:ext uri="{FF2B5EF4-FFF2-40B4-BE49-F238E27FC236}">
                  <a16:creationId xmlns:a16="http://schemas.microsoft.com/office/drawing/2014/main" id="{A9907F03-CDCC-A5D3-8405-659D9438A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8" y="5516563"/>
              <a:ext cx="431800" cy="433387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0" name="Rectangle 9">
              <a:extLst>
                <a:ext uri="{FF2B5EF4-FFF2-40B4-BE49-F238E27FC236}">
                  <a16:creationId xmlns:a16="http://schemas.microsoft.com/office/drawing/2014/main" id="{0736D699-AE31-9FC7-52CA-0C15C64D5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41" name="Text Box 10">
            <a:extLst>
              <a:ext uri="{FF2B5EF4-FFF2-40B4-BE49-F238E27FC236}">
                <a16:creationId xmlns:a16="http://schemas.microsoft.com/office/drawing/2014/main" id="{B932989F-F330-0FF3-800E-A86B44626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651244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DC6E11A-ED35-4C5E-736E-368C16AB97F1}"/>
              </a:ext>
            </a:extLst>
          </p:cNvPr>
          <p:cNvSpPr txBox="1"/>
          <p:nvPr/>
        </p:nvSpPr>
        <p:spPr>
          <a:xfrm>
            <a:off x="2135560" y="608123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46" name="Rectangle 12">
            <a:extLst>
              <a:ext uri="{FF2B5EF4-FFF2-40B4-BE49-F238E27FC236}">
                <a16:creationId xmlns:a16="http://schemas.microsoft.com/office/drawing/2014/main" id="{51E2A126-8059-9B94-3BAD-8404D0E68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403" y="5951786"/>
            <a:ext cx="430545" cy="419966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∧</a:t>
            </a:r>
          </a:p>
        </p:txBody>
      </p:sp>
      <p:sp>
        <p:nvSpPr>
          <p:cNvPr id="47" name="Line 29">
            <a:extLst>
              <a:ext uri="{FF2B5EF4-FFF2-40B4-BE49-F238E27FC236}">
                <a16:creationId xmlns:a16="http://schemas.microsoft.com/office/drawing/2014/main" id="{1C22DE05-DD0B-1029-3C5C-C61AA3EE98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1414" y="5583480"/>
            <a:ext cx="0" cy="35488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8C8B0A1-8C99-3A67-DF1B-25F26C110DFF}"/>
              </a:ext>
            </a:extLst>
          </p:cNvPr>
          <p:cNvSpPr/>
          <p:nvPr/>
        </p:nvSpPr>
        <p:spPr>
          <a:xfrm>
            <a:off x="3494007" y="5307469"/>
            <a:ext cx="28084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B58E975-80B2-9DC9-F71E-0C95C36E4744}"/>
              </a:ext>
            </a:extLst>
          </p:cNvPr>
          <p:cNvSpPr txBox="1"/>
          <p:nvPr/>
        </p:nvSpPr>
        <p:spPr>
          <a:xfrm>
            <a:off x="2659599" y="6014346"/>
            <a:ext cx="430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itchFamily="18" charset="2"/>
              </a:rPr>
              <a:t>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CEC3BB9-5959-7F8C-7CD5-ECC7E0371E07}"/>
              </a:ext>
            </a:extLst>
          </p:cNvPr>
          <p:cNvSpPr txBox="1"/>
          <p:nvPr/>
        </p:nvSpPr>
        <p:spPr>
          <a:xfrm>
            <a:off x="2604583" y="6443494"/>
            <a:ext cx="430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itchFamily="18" charset="2"/>
              </a:rPr>
              <a:t></a:t>
            </a:r>
          </a:p>
        </p:txBody>
      </p:sp>
      <p:cxnSp>
        <p:nvCxnSpPr>
          <p:cNvPr id="51" name="曲线连接符 45">
            <a:extLst>
              <a:ext uri="{FF2B5EF4-FFF2-40B4-BE49-F238E27FC236}">
                <a16:creationId xmlns:a16="http://schemas.microsoft.com/office/drawing/2014/main" id="{3EE71D6D-A448-8BF0-0F61-78CC7BF34191}"/>
              </a:ext>
            </a:extLst>
          </p:cNvPr>
          <p:cNvCxnSpPr>
            <a:cxnSpLocks/>
          </p:cNvCxnSpPr>
          <p:nvPr/>
        </p:nvCxnSpPr>
        <p:spPr>
          <a:xfrm rot="16200000" flipV="1">
            <a:off x="3238205" y="5788751"/>
            <a:ext cx="507560" cy="97018"/>
          </a:xfrm>
          <a:prstGeom prst="curvedConnector3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3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D734-E12C-8A53-0AD8-DB331B2F6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9D74EF0-9E79-DCFE-494D-AD74C527461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9800D8C-03F4-AF4E-C32D-7678709E5CC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>
            <a:extLst>
              <a:ext uri="{FF2B5EF4-FFF2-40B4-BE49-F238E27FC236}">
                <a16:creationId xmlns:a16="http://schemas.microsoft.com/office/drawing/2014/main" id="{2F1DD56D-B3A8-7EC6-7EE3-0C540952E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490" y="1868135"/>
            <a:ext cx="3147214" cy="4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5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）出队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deQueue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340E385D-8E89-9E16-735C-48B477DEC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879" y="2326394"/>
            <a:ext cx="8001000" cy="3441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bIns="180000">
            <a:spAutoFit/>
          </a:bodyPr>
          <a:lstStyle/>
          <a:p>
            <a:pPr algn="l">
              <a:lnSpc>
                <a:spcPts val="2000"/>
              </a:lnSpc>
            </a:pP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kumimoji="1"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(q-&gt;rear==NULL) return false;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队列为空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t=q-&gt;front;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//t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指向第一个数据结点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q-&gt;front==q-&gt;rear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队列中只有一个结点时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q-&gt;front=q-&gt;rear=NULL;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队列中有多个结点时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q-&gt;front=q-&gt;front-&gt;next;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e=t-&gt;data;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free(t);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3336083A-CE74-10C4-861C-3816FE5D654F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原队列有多个结点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A0D4944-6127-B878-5E13-F12C5A153EF7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2" name="组合 24">
            <a:extLst>
              <a:ext uri="{FF2B5EF4-FFF2-40B4-BE49-F238E27FC236}">
                <a16:creationId xmlns:a16="http://schemas.microsoft.com/office/drawing/2014/main" id="{02052928-AA02-D1F5-87A0-B530AE9C9E7A}"/>
              </a:ext>
            </a:extLst>
          </p:cNvPr>
          <p:cNvGrpSpPr/>
          <p:nvPr/>
        </p:nvGrpSpPr>
        <p:grpSpPr>
          <a:xfrm>
            <a:off x="1319725" y="5852652"/>
            <a:ext cx="6958037" cy="952486"/>
            <a:chOff x="638151" y="5429264"/>
            <a:chExt cx="6958037" cy="952486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437376C9-5E70-3B03-4D9F-C0DF1A491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889BE2A-4A83-CAF6-DC50-753F78F76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E6522441-3FD6-5C19-F546-9458FE467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400DE228-BD49-A745-6B29-F9B353136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8B4CEA6-2D72-823C-57A1-D853A73B5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1CA505-8E59-9B40-B9E3-5A86BAC8B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BC059D03-A537-3CE9-92B4-41B9C97A1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025" y="5734050"/>
              <a:ext cx="79216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1BB2A61E-C3F7-0B75-45AD-6479AA20D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0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i="1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3CCAB509-4E39-10C0-A5AC-820A72D2B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∧</a:t>
              </a: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5703007E-7EFC-AC33-5977-7022D8B27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5737225"/>
              <a:ext cx="406400" cy="0"/>
            </a:xfrm>
            <a:custGeom>
              <a:avLst/>
              <a:gdLst>
                <a:gd name="T0" fmla="*/ 0 w 256"/>
                <a:gd name="T1" fmla="*/ 10 h 10"/>
                <a:gd name="T2" fmla="*/ 256 w 256"/>
                <a:gd name="T3" fmla="*/ 0 h 10"/>
                <a:gd name="T4" fmla="*/ 0 60000 65536"/>
                <a:gd name="T5" fmla="*/ 0 60000 65536"/>
                <a:gd name="T6" fmla="*/ 0 w 256"/>
                <a:gd name="T7" fmla="*/ 0 h 10"/>
                <a:gd name="T8" fmla="*/ 256 w 256"/>
                <a:gd name="T9" fmla="*/ 10 h 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6" h="10">
                  <a:moveTo>
                    <a:pt x="0" y="10"/>
                  </a:moveTo>
                  <a:lnTo>
                    <a:pt x="25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06786151-D0B5-67B8-667F-38B73B794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888" y="5715000"/>
              <a:ext cx="506412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DF66A771-E831-F8D2-6748-6F9A0E9AD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025" y="6223000"/>
              <a:ext cx="5057775" cy="14288"/>
            </a:xfrm>
            <a:custGeom>
              <a:avLst/>
              <a:gdLst>
                <a:gd name="T0" fmla="*/ 0 w 3186"/>
                <a:gd name="T1" fmla="*/ 9 h 9"/>
                <a:gd name="T2" fmla="*/ 3186 w 3186"/>
                <a:gd name="T3" fmla="*/ 0 h 9"/>
                <a:gd name="T4" fmla="*/ 0 60000 65536"/>
                <a:gd name="T5" fmla="*/ 0 60000 65536"/>
                <a:gd name="T6" fmla="*/ 0 w 3186"/>
                <a:gd name="T7" fmla="*/ 0 h 9"/>
                <a:gd name="T8" fmla="*/ 3186 w 318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6" h="9">
                  <a:moveTo>
                    <a:pt x="0" y="9"/>
                  </a:moveTo>
                  <a:lnTo>
                    <a:pt x="318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3" name="Line 16">
              <a:extLst>
                <a:ext uri="{FF2B5EF4-FFF2-40B4-BE49-F238E27FC236}">
                  <a16:creationId xmlns:a16="http://schemas.microsoft.com/office/drawing/2014/main" id="{3E6E6FE6-C697-C96F-5D46-88D29813FF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9925" y="5949950"/>
              <a:ext cx="0" cy="2873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4" name="Text Box 17">
              <a:extLst>
                <a:ext uri="{FF2B5EF4-FFF2-40B4-BE49-F238E27FC236}">
                  <a16:creationId xmlns:a16="http://schemas.microsoft.com/office/drawing/2014/main" id="{CF8416D8-49B2-20C5-6946-737B59D2D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18" y="5429264"/>
              <a:ext cx="7921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46" name="Rectangle 19">
              <a:extLst>
                <a:ext uri="{FF2B5EF4-FFF2-40B4-BE49-F238E27FC236}">
                  <a16:creationId xmlns:a16="http://schemas.microsoft.com/office/drawing/2014/main" id="{ABEB5BF8-D078-43EF-A754-5BC1CFA6C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150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47" name="Rectangle 20">
              <a:extLst>
                <a:ext uri="{FF2B5EF4-FFF2-40B4-BE49-F238E27FC236}">
                  <a16:creationId xmlns:a16="http://schemas.microsoft.com/office/drawing/2014/main" id="{939DAD05-FA41-D5EB-A685-84AE4578B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5533703D-A4FA-E520-8295-1F20D1535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850" y="5715000"/>
              <a:ext cx="506413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49" name="Text Box 10">
            <a:extLst>
              <a:ext uri="{FF2B5EF4-FFF2-40B4-BE49-F238E27FC236}">
                <a16:creationId xmlns:a16="http://schemas.microsoft.com/office/drawing/2014/main" id="{11826375-D790-5770-4EC2-434924878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651244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D178874-C0EF-BD34-D737-5971EE5E34E9}"/>
              </a:ext>
            </a:extLst>
          </p:cNvPr>
          <p:cNvSpPr txBox="1"/>
          <p:nvPr/>
        </p:nvSpPr>
        <p:spPr>
          <a:xfrm>
            <a:off x="2135560" y="608123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E9B42E1-70CA-1BF8-40F8-E6DF036F3DF0}"/>
              </a:ext>
            </a:extLst>
          </p:cNvPr>
          <p:cNvSpPr/>
          <p:nvPr/>
        </p:nvSpPr>
        <p:spPr>
          <a:xfrm>
            <a:off x="3451762" y="5302705"/>
            <a:ext cx="28084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53" name="Line 29">
            <a:extLst>
              <a:ext uri="{FF2B5EF4-FFF2-40B4-BE49-F238E27FC236}">
                <a16:creationId xmlns:a16="http://schemas.microsoft.com/office/drawing/2014/main" id="{1414595E-AE4D-5EB5-4110-E5083092B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3712" y="5578716"/>
            <a:ext cx="0" cy="35488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44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EF6EE-7237-6209-00B5-1A6C90CE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8AB8AD8-9AA2-CC04-1DDE-6003576D068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A2F0FA-8A9E-AB7C-C37A-94406356F1C3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>
            <a:extLst>
              <a:ext uri="{FF2B5EF4-FFF2-40B4-BE49-F238E27FC236}">
                <a16:creationId xmlns:a16="http://schemas.microsoft.com/office/drawing/2014/main" id="{EBE8324B-0004-B192-E93A-A41532DB2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490" y="1868135"/>
            <a:ext cx="3147214" cy="4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5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）出队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deQueue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8125084C-51AD-02B8-98C9-883954A4A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879" y="2326394"/>
            <a:ext cx="8001000" cy="3441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bIns="180000">
            <a:spAutoFit/>
          </a:bodyPr>
          <a:lstStyle/>
          <a:p>
            <a:pPr algn="l">
              <a:lnSpc>
                <a:spcPts val="2000"/>
              </a:lnSpc>
            </a:pP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kumimoji="1"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(q-&gt;rear==NULL) return false;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队列为空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t=q-&gt;front;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//t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指向第一个数据结点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q-&gt;front==q-&gt;rear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队列中只有一个结点时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q-&gt;front=q-&gt;rear=NULL;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队列中有多个结点时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q-&gt;front=q-&gt;front-&gt;next;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e=t-&gt;data;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free(t);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F790723E-6ED0-61C3-CCE8-A392F54A39A1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原队列有多个结点</a:t>
            </a:r>
          </a:p>
        </p:txBody>
      </p:sp>
      <p:sp>
        <p:nvSpPr>
          <p:cNvPr id="2" name="Line 6">
            <a:extLst>
              <a:ext uri="{FF2B5EF4-FFF2-40B4-BE49-F238E27FC236}">
                <a16:creationId xmlns:a16="http://schemas.microsoft.com/office/drawing/2014/main" id="{C0F43C7E-1DE4-8DD7-F81A-E46D93A88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6551" y="5517232"/>
            <a:ext cx="205330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29">
            <a:extLst>
              <a:ext uri="{FF2B5EF4-FFF2-40B4-BE49-F238E27FC236}">
                <a16:creationId xmlns:a16="http://schemas.microsoft.com/office/drawing/2014/main" id="{233E73FC-71D2-5DF7-3D94-C4D022901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9856" y="5517231"/>
            <a:ext cx="0" cy="43103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0DDC09-70F6-DE41-0886-3A8D242571F9}"/>
              </a:ext>
            </a:extLst>
          </p:cNvPr>
          <p:cNvSpPr/>
          <p:nvPr/>
        </p:nvSpPr>
        <p:spPr>
          <a:xfrm>
            <a:off x="3027634" y="5982202"/>
            <a:ext cx="34977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X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A67F0F-1DF3-9304-B528-300682120607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grpSp>
        <p:nvGrpSpPr>
          <p:cNvPr id="3" name="组合 24">
            <a:extLst>
              <a:ext uri="{FF2B5EF4-FFF2-40B4-BE49-F238E27FC236}">
                <a16:creationId xmlns:a16="http://schemas.microsoft.com/office/drawing/2014/main" id="{2FDDA0F8-39F5-CBAE-06DA-85BEA94B78FE}"/>
              </a:ext>
            </a:extLst>
          </p:cNvPr>
          <p:cNvGrpSpPr/>
          <p:nvPr/>
        </p:nvGrpSpPr>
        <p:grpSpPr>
          <a:xfrm>
            <a:off x="1319725" y="5852652"/>
            <a:ext cx="6958037" cy="952486"/>
            <a:chOff x="638151" y="5429264"/>
            <a:chExt cx="6958037" cy="952486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7AD9FE95-F430-8922-2828-FE4A60582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FB90FFCF-6E48-D742-9633-E993D6F98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357BCD2E-9AD8-14B2-66A7-1CF75A2B3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id="{25291605-D8A6-DC16-3F0B-856CD661B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26614381-8FEB-2463-8666-52CC0AFAC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8927A399-3DE5-49FE-49AE-0CB3C6544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7" name="Line 10">
              <a:extLst>
                <a:ext uri="{FF2B5EF4-FFF2-40B4-BE49-F238E27FC236}">
                  <a16:creationId xmlns:a16="http://schemas.microsoft.com/office/drawing/2014/main" id="{2B6EBBCC-8876-DD7D-12BA-349C0CC83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025" y="5734050"/>
              <a:ext cx="79216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9" name="Rectangle 11">
              <a:extLst>
                <a:ext uri="{FF2B5EF4-FFF2-40B4-BE49-F238E27FC236}">
                  <a16:creationId xmlns:a16="http://schemas.microsoft.com/office/drawing/2014/main" id="{1045E67B-CBC9-211A-5C7B-4AD37878D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0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i="1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</a:p>
          </p:txBody>
        </p:sp>
        <p:sp>
          <p:nvSpPr>
            <p:cNvPr id="37" name="Rectangle 12">
              <a:extLst>
                <a:ext uri="{FF2B5EF4-FFF2-40B4-BE49-F238E27FC236}">
                  <a16:creationId xmlns:a16="http://schemas.microsoft.com/office/drawing/2014/main" id="{2D2C6619-1E0B-E022-67E3-CE86950F6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∧</a:t>
              </a:r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04074F87-ACC0-8CE8-C3B6-A2913326A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5737225"/>
              <a:ext cx="406400" cy="0"/>
            </a:xfrm>
            <a:custGeom>
              <a:avLst/>
              <a:gdLst>
                <a:gd name="T0" fmla="*/ 0 w 256"/>
                <a:gd name="T1" fmla="*/ 10 h 10"/>
                <a:gd name="T2" fmla="*/ 256 w 256"/>
                <a:gd name="T3" fmla="*/ 0 h 10"/>
                <a:gd name="T4" fmla="*/ 0 60000 65536"/>
                <a:gd name="T5" fmla="*/ 0 60000 65536"/>
                <a:gd name="T6" fmla="*/ 0 w 256"/>
                <a:gd name="T7" fmla="*/ 0 h 10"/>
                <a:gd name="T8" fmla="*/ 256 w 256"/>
                <a:gd name="T9" fmla="*/ 10 h 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6" h="10">
                  <a:moveTo>
                    <a:pt x="0" y="10"/>
                  </a:moveTo>
                  <a:lnTo>
                    <a:pt x="25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E1F0CD4A-F29F-FB6F-0354-0DB7AC434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888" y="5715000"/>
              <a:ext cx="506412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54C9D0CE-73EC-094D-5AF4-CE72D19E6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025" y="6223000"/>
              <a:ext cx="5057775" cy="14288"/>
            </a:xfrm>
            <a:custGeom>
              <a:avLst/>
              <a:gdLst>
                <a:gd name="T0" fmla="*/ 0 w 3186"/>
                <a:gd name="T1" fmla="*/ 9 h 9"/>
                <a:gd name="T2" fmla="*/ 3186 w 3186"/>
                <a:gd name="T3" fmla="*/ 0 h 9"/>
                <a:gd name="T4" fmla="*/ 0 60000 65536"/>
                <a:gd name="T5" fmla="*/ 0 60000 65536"/>
                <a:gd name="T6" fmla="*/ 0 w 3186"/>
                <a:gd name="T7" fmla="*/ 0 h 9"/>
                <a:gd name="T8" fmla="*/ 3186 w 318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6" h="9">
                  <a:moveTo>
                    <a:pt x="0" y="9"/>
                  </a:moveTo>
                  <a:lnTo>
                    <a:pt x="318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6" name="Line 16">
              <a:extLst>
                <a:ext uri="{FF2B5EF4-FFF2-40B4-BE49-F238E27FC236}">
                  <a16:creationId xmlns:a16="http://schemas.microsoft.com/office/drawing/2014/main" id="{E6DF84B0-B188-1C63-E38F-D24F7A5753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9925" y="5949950"/>
              <a:ext cx="0" cy="2873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7" name="Text Box 17">
              <a:extLst>
                <a:ext uri="{FF2B5EF4-FFF2-40B4-BE49-F238E27FC236}">
                  <a16:creationId xmlns:a16="http://schemas.microsoft.com/office/drawing/2014/main" id="{DC1E03FB-1B63-2E78-7EAA-BADBBB839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18" y="5429264"/>
              <a:ext cx="7921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48" name="Rectangle 19">
              <a:extLst>
                <a:ext uri="{FF2B5EF4-FFF2-40B4-BE49-F238E27FC236}">
                  <a16:creationId xmlns:a16="http://schemas.microsoft.com/office/drawing/2014/main" id="{8116CEEC-7748-B6E4-0B69-E7CA54347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150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49" name="Rectangle 20">
              <a:extLst>
                <a:ext uri="{FF2B5EF4-FFF2-40B4-BE49-F238E27FC236}">
                  <a16:creationId xmlns:a16="http://schemas.microsoft.com/office/drawing/2014/main" id="{96F1B872-6343-01C4-A3A6-196D8929A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8B362E15-C09E-A9A2-68F7-B415B5656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850" y="5715000"/>
              <a:ext cx="506413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51" name="Text Box 10">
            <a:extLst>
              <a:ext uri="{FF2B5EF4-FFF2-40B4-BE49-F238E27FC236}">
                <a16:creationId xmlns:a16="http://schemas.microsoft.com/office/drawing/2014/main" id="{CE87C04D-193E-CE20-4D9D-24DBAB274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651244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E77971A-3C53-2170-C6E6-BB47A9D2EC14}"/>
              </a:ext>
            </a:extLst>
          </p:cNvPr>
          <p:cNvSpPr txBox="1"/>
          <p:nvPr/>
        </p:nvSpPr>
        <p:spPr>
          <a:xfrm>
            <a:off x="2135560" y="608123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53" name="Line 29">
            <a:extLst>
              <a:ext uri="{FF2B5EF4-FFF2-40B4-BE49-F238E27FC236}">
                <a16:creationId xmlns:a16="http://schemas.microsoft.com/office/drawing/2014/main" id="{5CE3BBAA-D986-7956-6026-B70B7F6E57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3712" y="5578716"/>
            <a:ext cx="0" cy="35488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C23FDE6-089A-CFE9-2C11-CA9630220904}"/>
              </a:ext>
            </a:extLst>
          </p:cNvPr>
          <p:cNvSpPr/>
          <p:nvPr/>
        </p:nvSpPr>
        <p:spPr>
          <a:xfrm>
            <a:off x="3451762" y="5302705"/>
            <a:ext cx="28084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A124C483-FF23-D69A-8CDD-0FAEB502F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6550" y="5517232"/>
            <a:ext cx="0" cy="56400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11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/>
      <p:bldP spid="53" grpId="0" animBg="1"/>
      <p:bldP spid="54" grpId="0"/>
      <p:bldP spid="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05EA-4328-919D-90E2-DD0D7523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8ABC2FB-B2C7-6BC7-0484-C63DCF6D3B1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E03FFBF-E034-538B-0F36-622D79DEA92A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>
            <a:extLst>
              <a:ext uri="{FF2B5EF4-FFF2-40B4-BE49-F238E27FC236}">
                <a16:creationId xmlns:a16="http://schemas.microsoft.com/office/drawing/2014/main" id="{CEA4E3CD-47DA-4654-C1C6-3E18DB23C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490" y="1868135"/>
            <a:ext cx="3147214" cy="4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5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）出队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deQueue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5E5C3A9A-D173-5B97-DEA9-0D98132BE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879" y="2326394"/>
            <a:ext cx="8001000" cy="3441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bIns="180000">
            <a:spAutoFit/>
          </a:bodyPr>
          <a:lstStyle/>
          <a:p>
            <a:pPr algn="l">
              <a:lnSpc>
                <a:spcPts val="2000"/>
              </a:lnSpc>
            </a:pP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kumimoji="1"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(q-&gt;rear==NULL) return false;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队列为空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t=q-&gt;front;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//t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指向第一个数据结点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q-&gt;front==q-&gt;rear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队列中只有一个结点时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q-&gt;front=q-&gt;rear=NULL;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队列中有多个结点时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q-&gt;front=q-&gt;front-&gt;next;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e=t-&gt;data;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free(t);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22640CBD-84E9-3200-6F3C-93D9F6E0BDB7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原队列有多个结点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69861C-7E8E-418A-7216-8D4A5625D7C1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AEF2AA3A-82D3-DC40-50BE-55A016A29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6551" y="5517232"/>
            <a:ext cx="205330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29">
            <a:extLst>
              <a:ext uri="{FF2B5EF4-FFF2-40B4-BE49-F238E27FC236}">
                <a16:creationId xmlns:a16="http://schemas.microsoft.com/office/drawing/2014/main" id="{CBF9C1EF-56DC-AE05-27DB-A42EB8246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9856" y="5517231"/>
            <a:ext cx="0" cy="43103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组合 24">
            <a:extLst>
              <a:ext uri="{FF2B5EF4-FFF2-40B4-BE49-F238E27FC236}">
                <a16:creationId xmlns:a16="http://schemas.microsoft.com/office/drawing/2014/main" id="{572C202D-B595-E456-0D5E-B9F16749A3BD}"/>
              </a:ext>
            </a:extLst>
          </p:cNvPr>
          <p:cNvGrpSpPr/>
          <p:nvPr/>
        </p:nvGrpSpPr>
        <p:grpSpPr>
          <a:xfrm>
            <a:off x="1319725" y="5852652"/>
            <a:ext cx="6958037" cy="952486"/>
            <a:chOff x="638151" y="5429264"/>
            <a:chExt cx="6958037" cy="952486"/>
          </a:xfrm>
        </p:grpSpPr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428FCEDB-22C4-157F-E710-EB382A04A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25" name="Rectangle 5">
              <a:extLst>
                <a:ext uri="{FF2B5EF4-FFF2-40B4-BE49-F238E27FC236}">
                  <a16:creationId xmlns:a16="http://schemas.microsoft.com/office/drawing/2014/main" id="{8791B1C8-53D4-5F57-ECE6-43A773186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27" name="Line 6">
              <a:extLst>
                <a:ext uri="{FF2B5EF4-FFF2-40B4-BE49-F238E27FC236}">
                  <a16:creationId xmlns:a16="http://schemas.microsoft.com/office/drawing/2014/main" id="{E3485041-9500-2B75-4AB8-ACA655845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9" name="Text Box 7">
              <a:extLst>
                <a:ext uri="{FF2B5EF4-FFF2-40B4-BE49-F238E27FC236}">
                  <a16:creationId xmlns:a16="http://schemas.microsoft.com/office/drawing/2014/main" id="{FCBFB979-64F0-664A-77DC-E31055748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45BB86D6-0D45-1E0F-83D8-14E4333D9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C7962483-8CED-70C1-A81B-3DA65E2FB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4" name="Rectangle 11">
              <a:extLst>
                <a:ext uri="{FF2B5EF4-FFF2-40B4-BE49-F238E27FC236}">
                  <a16:creationId xmlns:a16="http://schemas.microsoft.com/office/drawing/2014/main" id="{B61D474D-9A05-8EAA-C29F-CD80B6AF4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0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i="1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</a:p>
          </p:txBody>
        </p:sp>
        <p:sp>
          <p:nvSpPr>
            <p:cNvPr id="45" name="Rectangle 12">
              <a:extLst>
                <a:ext uri="{FF2B5EF4-FFF2-40B4-BE49-F238E27FC236}">
                  <a16:creationId xmlns:a16="http://schemas.microsoft.com/office/drawing/2014/main" id="{EEEAD41B-8FD3-E578-76B7-D56A498B3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∧</a:t>
              </a:r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EF60A39B-7D46-DAA9-B7BC-E766089B0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5737225"/>
              <a:ext cx="406400" cy="0"/>
            </a:xfrm>
            <a:custGeom>
              <a:avLst/>
              <a:gdLst>
                <a:gd name="T0" fmla="*/ 0 w 256"/>
                <a:gd name="T1" fmla="*/ 10 h 10"/>
                <a:gd name="T2" fmla="*/ 256 w 256"/>
                <a:gd name="T3" fmla="*/ 0 h 10"/>
                <a:gd name="T4" fmla="*/ 0 60000 65536"/>
                <a:gd name="T5" fmla="*/ 0 60000 65536"/>
                <a:gd name="T6" fmla="*/ 0 w 256"/>
                <a:gd name="T7" fmla="*/ 0 h 10"/>
                <a:gd name="T8" fmla="*/ 256 w 256"/>
                <a:gd name="T9" fmla="*/ 10 h 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6" h="10">
                  <a:moveTo>
                    <a:pt x="0" y="10"/>
                  </a:moveTo>
                  <a:lnTo>
                    <a:pt x="25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77F39CA3-267B-ADA3-37EF-12158A46C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888" y="5715000"/>
              <a:ext cx="506412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AC1F9EC6-11F7-DC10-9219-1717EC0D8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025" y="6223000"/>
              <a:ext cx="5057775" cy="14288"/>
            </a:xfrm>
            <a:custGeom>
              <a:avLst/>
              <a:gdLst>
                <a:gd name="T0" fmla="*/ 0 w 3186"/>
                <a:gd name="T1" fmla="*/ 9 h 9"/>
                <a:gd name="T2" fmla="*/ 3186 w 3186"/>
                <a:gd name="T3" fmla="*/ 0 h 9"/>
                <a:gd name="T4" fmla="*/ 0 60000 65536"/>
                <a:gd name="T5" fmla="*/ 0 60000 65536"/>
                <a:gd name="T6" fmla="*/ 0 w 3186"/>
                <a:gd name="T7" fmla="*/ 0 h 9"/>
                <a:gd name="T8" fmla="*/ 3186 w 318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6" h="9">
                  <a:moveTo>
                    <a:pt x="0" y="9"/>
                  </a:moveTo>
                  <a:lnTo>
                    <a:pt x="318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9" name="Line 16">
              <a:extLst>
                <a:ext uri="{FF2B5EF4-FFF2-40B4-BE49-F238E27FC236}">
                  <a16:creationId xmlns:a16="http://schemas.microsoft.com/office/drawing/2014/main" id="{11838379-78DF-216A-6E7F-14D920372B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9925" y="5949950"/>
              <a:ext cx="0" cy="2873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0" name="Text Box 17">
              <a:extLst>
                <a:ext uri="{FF2B5EF4-FFF2-40B4-BE49-F238E27FC236}">
                  <a16:creationId xmlns:a16="http://schemas.microsoft.com/office/drawing/2014/main" id="{40AD5EC7-E10B-DD91-0E79-470724B89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18" y="5429264"/>
              <a:ext cx="7921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51" name="Rectangle 19">
              <a:extLst>
                <a:ext uri="{FF2B5EF4-FFF2-40B4-BE49-F238E27FC236}">
                  <a16:creationId xmlns:a16="http://schemas.microsoft.com/office/drawing/2014/main" id="{320390D1-0E60-1611-D095-491C05719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150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52" name="Rectangle 20">
              <a:extLst>
                <a:ext uri="{FF2B5EF4-FFF2-40B4-BE49-F238E27FC236}">
                  <a16:creationId xmlns:a16="http://schemas.microsoft.com/office/drawing/2014/main" id="{01900142-C82B-8810-362C-6EFFB5BE8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E3DE22F3-720D-13FE-98C1-9055A2634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850" y="5715000"/>
              <a:ext cx="506413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54" name="Text Box 10">
            <a:extLst>
              <a:ext uri="{FF2B5EF4-FFF2-40B4-BE49-F238E27FC236}">
                <a16:creationId xmlns:a16="http://schemas.microsoft.com/office/drawing/2014/main" id="{AEE0AD4C-2ACA-0EA4-33ED-417B99A14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651244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BBA348C-16E6-C844-EE61-F1DEAAE8F790}"/>
              </a:ext>
            </a:extLst>
          </p:cNvPr>
          <p:cNvSpPr txBox="1"/>
          <p:nvPr/>
        </p:nvSpPr>
        <p:spPr>
          <a:xfrm>
            <a:off x="2135560" y="608123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56" name="Line 29">
            <a:extLst>
              <a:ext uri="{FF2B5EF4-FFF2-40B4-BE49-F238E27FC236}">
                <a16:creationId xmlns:a16="http://schemas.microsoft.com/office/drawing/2014/main" id="{34C83585-427D-4134-E93A-8ED165B04B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3712" y="5578716"/>
            <a:ext cx="0" cy="35488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BDEB30C-A99E-97F9-B98C-152E76BDD0B5}"/>
              </a:ext>
            </a:extLst>
          </p:cNvPr>
          <p:cNvSpPr/>
          <p:nvPr/>
        </p:nvSpPr>
        <p:spPr>
          <a:xfrm>
            <a:off x="3451762" y="5302705"/>
            <a:ext cx="28084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58" name="Line 6">
            <a:extLst>
              <a:ext uri="{FF2B5EF4-FFF2-40B4-BE49-F238E27FC236}">
                <a16:creationId xmlns:a16="http://schemas.microsoft.com/office/drawing/2014/main" id="{1510E678-0ECE-FBE0-2905-6CD007D5A4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6550" y="5517232"/>
            <a:ext cx="0" cy="56400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421C494-774A-AB38-4DC2-ACEB604353A7}"/>
              </a:ext>
            </a:extLst>
          </p:cNvPr>
          <p:cNvSpPr/>
          <p:nvPr/>
        </p:nvSpPr>
        <p:spPr>
          <a:xfrm>
            <a:off x="2855640" y="5445224"/>
            <a:ext cx="330540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e</a:t>
            </a:r>
          </a:p>
        </p:txBody>
      </p:sp>
      <p:cxnSp>
        <p:nvCxnSpPr>
          <p:cNvPr id="60" name="曲线连接符 45">
            <a:extLst>
              <a:ext uri="{FF2B5EF4-FFF2-40B4-BE49-F238E27FC236}">
                <a16:creationId xmlns:a16="http://schemas.microsoft.com/office/drawing/2014/main" id="{156E83AC-2294-0B5C-B5C9-5B806BC8F782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13484" y="5729447"/>
            <a:ext cx="471474" cy="332728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6338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55E3-E165-6B25-67DE-EEDA3475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2065E24-C08B-CFDB-A420-BEA669E6A7A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4A1BC59-9286-F05D-D423-4EFD33369603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>
            <a:extLst>
              <a:ext uri="{FF2B5EF4-FFF2-40B4-BE49-F238E27FC236}">
                <a16:creationId xmlns:a16="http://schemas.microsoft.com/office/drawing/2014/main" id="{17A04FBB-336E-4865-9C02-B97606E2F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490" y="1868135"/>
            <a:ext cx="3147214" cy="4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5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）出队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deQueue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B7ADCB98-37DF-3E23-05A0-B1E9896F9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879" y="2326394"/>
            <a:ext cx="8001000" cy="3441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bIns="180000">
            <a:spAutoFit/>
          </a:bodyPr>
          <a:lstStyle/>
          <a:p>
            <a:pPr algn="l">
              <a:lnSpc>
                <a:spcPts val="2000"/>
              </a:lnSpc>
            </a:pP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kumimoji="1"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(q-&gt;rear==NULL) return false;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队列为空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t=q-&gt;front;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//t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指向第一个数据结点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q-&gt;front==q-&gt;rear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队列中只有一个结点时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q-&gt;front=q-&gt;rear=NULL;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队列中有多个结点时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q-&gt;front=q-&gt;front-&gt;next;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e=t-&gt;data;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free(t);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9121FF10-8DDA-2E3E-2900-1A1A39EB8D90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原队列有多个结点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91DA9-3D62-D624-33C6-0FEABC54AE8F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722CE6EA-CF3B-750C-C5FF-EEABD01DF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6551" y="5517232"/>
            <a:ext cx="205330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29">
            <a:extLst>
              <a:ext uri="{FF2B5EF4-FFF2-40B4-BE49-F238E27FC236}">
                <a16:creationId xmlns:a16="http://schemas.microsoft.com/office/drawing/2014/main" id="{BEA0C8F8-2705-74B9-6F8D-5B57E59E9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9856" y="5517231"/>
            <a:ext cx="0" cy="43103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组合 24">
            <a:extLst>
              <a:ext uri="{FF2B5EF4-FFF2-40B4-BE49-F238E27FC236}">
                <a16:creationId xmlns:a16="http://schemas.microsoft.com/office/drawing/2014/main" id="{1770710F-72B7-849C-7E22-99DB93970CF9}"/>
              </a:ext>
            </a:extLst>
          </p:cNvPr>
          <p:cNvGrpSpPr/>
          <p:nvPr/>
        </p:nvGrpSpPr>
        <p:grpSpPr>
          <a:xfrm>
            <a:off x="1319725" y="5852652"/>
            <a:ext cx="6958037" cy="952486"/>
            <a:chOff x="638151" y="5429264"/>
            <a:chExt cx="6958037" cy="952486"/>
          </a:xfrm>
        </p:grpSpPr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DD601923-590B-7790-0667-BD70AD0E0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E9DB6B0C-8D57-A576-6EDD-753D2A99C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25" name="Line 6">
              <a:extLst>
                <a:ext uri="{FF2B5EF4-FFF2-40B4-BE49-F238E27FC236}">
                  <a16:creationId xmlns:a16="http://schemas.microsoft.com/office/drawing/2014/main" id="{82527263-EBC8-2D45-F57A-ADC6C8D03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7" name="Text Box 7">
              <a:extLst>
                <a:ext uri="{FF2B5EF4-FFF2-40B4-BE49-F238E27FC236}">
                  <a16:creationId xmlns:a16="http://schemas.microsoft.com/office/drawing/2014/main" id="{0F726B22-3F4D-2601-798E-7F0DDE17E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29" name="Rectangle 8">
              <a:extLst>
                <a:ext uri="{FF2B5EF4-FFF2-40B4-BE49-F238E27FC236}">
                  <a16:creationId xmlns:a16="http://schemas.microsoft.com/office/drawing/2014/main" id="{A1E0738B-973B-561A-9E43-D475C601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8" y="5516563"/>
              <a:ext cx="431800" cy="433387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en-US" altLang="zh-CN" sz="1800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4" name="Rectangle 9">
              <a:extLst>
                <a:ext uri="{FF2B5EF4-FFF2-40B4-BE49-F238E27FC236}">
                  <a16:creationId xmlns:a16="http://schemas.microsoft.com/office/drawing/2014/main" id="{E1769F11-2197-C7FD-F447-62DECD45D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5516563"/>
              <a:ext cx="431800" cy="433388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7" name="Rectangle 11">
              <a:extLst>
                <a:ext uri="{FF2B5EF4-FFF2-40B4-BE49-F238E27FC236}">
                  <a16:creationId xmlns:a16="http://schemas.microsoft.com/office/drawing/2014/main" id="{6954584C-E221-FD96-C0CD-95E1A29BC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0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i="1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</a:p>
          </p:txBody>
        </p:sp>
        <p:sp>
          <p:nvSpPr>
            <p:cNvPr id="43" name="Rectangle 12">
              <a:extLst>
                <a:ext uri="{FF2B5EF4-FFF2-40B4-BE49-F238E27FC236}">
                  <a16:creationId xmlns:a16="http://schemas.microsoft.com/office/drawing/2014/main" id="{114AABBD-F533-9B1F-40BD-29A19693B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∧</a:t>
              </a:r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D26E81AC-8A96-E481-0D82-BC8A9DA9F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5737225"/>
              <a:ext cx="406400" cy="0"/>
            </a:xfrm>
            <a:custGeom>
              <a:avLst/>
              <a:gdLst>
                <a:gd name="T0" fmla="*/ 0 w 256"/>
                <a:gd name="T1" fmla="*/ 10 h 10"/>
                <a:gd name="T2" fmla="*/ 256 w 256"/>
                <a:gd name="T3" fmla="*/ 0 h 10"/>
                <a:gd name="T4" fmla="*/ 0 60000 65536"/>
                <a:gd name="T5" fmla="*/ 0 60000 65536"/>
                <a:gd name="T6" fmla="*/ 0 w 256"/>
                <a:gd name="T7" fmla="*/ 0 h 10"/>
                <a:gd name="T8" fmla="*/ 256 w 256"/>
                <a:gd name="T9" fmla="*/ 10 h 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6" h="10">
                  <a:moveTo>
                    <a:pt x="0" y="10"/>
                  </a:moveTo>
                  <a:lnTo>
                    <a:pt x="25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B28DF795-F438-832D-482A-85FAD3488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888" y="5715000"/>
              <a:ext cx="506412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2B14DB21-B7B4-A43F-4D91-165009AC1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025" y="6223000"/>
              <a:ext cx="5057775" cy="14288"/>
            </a:xfrm>
            <a:custGeom>
              <a:avLst/>
              <a:gdLst>
                <a:gd name="T0" fmla="*/ 0 w 3186"/>
                <a:gd name="T1" fmla="*/ 9 h 9"/>
                <a:gd name="T2" fmla="*/ 3186 w 3186"/>
                <a:gd name="T3" fmla="*/ 0 h 9"/>
                <a:gd name="T4" fmla="*/ 0 60000 65536"/>
                <a:gd name="T5" fmla="*/ 0 60000 65536"/>
                <a:gd name="T6" fmla="*/ 0 w 3186"/>
                <a:gd name="T7" fmla="*/ 0 h 9"/>
                <a:gd name="T8" fmla="*/ 3186 w 318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6" h="9">
                  <a:moveTo>
                    <a:pt x="0" y="9"/>
                  </a:moveTo>
                  <a:lnTo>
                    <a:pt x="318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7" name="Line 16">
              <a:extLst>
                <a:ext uri="{FF2B5EF4-FFF2-40B4-BE49-F238E27FC236}">
                  <a16:creationId xmlns:a16="http://schemas.microsoft.com/office/drawing/2014/main" id="{554451D1-720A-E0C0-9276-CDD0656493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9925" y="5949950"/>
              <a:ext cx="0" cy="2873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8" name="Text Box 17">
              <a:extLst>
                <a:ext uri="{FF2B5EF4-FFF2-40B4-BE49-F238E27FC236}">
                  <a16:creationId xmlns:a16="http://schemas.microsoft.com/office/drawing/2014/main" id="{EA0FEAA1-FE8C-6C18-A4A3-6B1EA20181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18" y="5429264"/>
              <a:ext cx="7921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49" name="Rectangle 19">
              <a:extLst>
                <a:ext uri="{FF2B5EF4-FFF2-40B4-BE49-F238E27FC236}">
                  <a16:creationId xmlns:a16="http://schemas.microsoft.com/office/drawing/2014/main" id="{1C05BA5C-5A7D-2FA0-D5DB-D4FBFFC9B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150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50" name="Rectangle 20">
              <a:extLst>
                <a:ext uri="{FF2B5EF4-FFF2-40B4-BE49-F238E27FC236}">
                  <a16:creationId xmlns:a16="http://schemas.microsoft.com/office/drawing/2014/main" id="{C3987007-52FA-2C18-FA96-43D590B91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90D010B8-6332-97DA-D52A-76DABA95A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850" y="5715000"/>
              <a:ext cx="506413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52" name="Text Box 10">
            <a:extLst>
              <a:ext uri="{FF2B5EF4-FFF2-40B4-BE49-F238E27FC236}">
                <a16:creationId xmlns:a16="http://schemas.microsoft.com/office/drawing/2014/main" id="{3A5400F1-62C5-BEC3-0722-520F5E6DB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651244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D14995C-F963-7833-A3A1-E1C03FEBBF4F}"/>
              </a:ext>
            </a:extLst>
          </p:cNvPr>
          <p:cNvSpPr txBox="1"/>
          <p:nvPr/>
        </p:nvSpPr>
        <p:spPr>
          <a:xfrm>
            <a:off x="2135560" y="608123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54" name="Line 29">
            <a:extLst>
              <a:ext uri="{FF2B5EF4-FFF2-40B4-BE49-F238E27FC236}">
                <a16:creationId xmlns:a16="http://schemas.microsoft.com/office/drawing/2014/main" id="{AE612BA1-5074-1654-F99F-45BE5BD74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3712" y="5578716"/>
            <a:ext cx="0" cy="35488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F166839-B482-9E13-AD18-4C296FF7F339}"/>
              </a:ext>
            </a:extLst>
          </p:cNvPr>
          <p:cNvSpPr/>
          <p:nvPr/>
        </p:nvSpPr>
        <p:spPr>
          <a:xfrm>
            <a:off x="3451762" y="5302705"/>
            <a:ext cx="280846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56" name="Line 6">
            <a:extLst>
              <a:ext uri="{FF2B5EF4-FFF2-40B4-BE49-F238E27FC236}">
                <a16:creationId xmlns:a16="http://schemas.microsoft.com/office/drawing/2014/main" id="{01D3D2BF-7825-D12C-861B-0B4CEADA3A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6550" y="5517232"/>
            <a:ext cx="0" cy="56400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149EDF4-3055-52AD-97C0-1FB7EB4CE86A}"/>
              </a:ext>
            </a:extLst>
          </p:cNvPr>
          <p:cNvSpPr/>
          <p:nvPr/>
        </p:nvSpPr>
        <p:spPr>
          <a:xfrm>
            <a:off x="2855640" y="5445224"/>
            <a:ext cx="330540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e</a:t>
            </a:r>
          </a:p>
        </p:txBody>
      </p:sp>
      <p:cxnSp>
        <p:nvCxnSpPr>
          <p:cNvPr id="58" name="曲线连接符 45">
            <a:extLst>
              <a:ext uri="{FF2B5EF4-FFF2-40B4-BE49-F238E27FC236}">
                <a16:creationId xmlns:a16="http://schemas.microsoft.com/office/drawing/2014/main" id="{86877BC3-7155-9C31-35E1-D87CD8A6E408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13484" y="5729447"/>
            <a:ext cx="471474" cy="332728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8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780FD-2B25-A76D-DAC4-130B77B60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2612F68-B9CC-E4CE-37B7-A954D182D4B4}"/>
              </a:ext>
            </a:extLst>
          </p:cNvPr>
          <p:cNvSpPr/>
          <p:nvPr/>
        </p:nvSpPr>
        <p:spPr>
          <a:xfrm>
            <a:off x="691302" y="1185677"/>
            <a:ext cx="7672589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F9B0079-C8FA-B59B-2DFE-F031837BAB8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A5121EB-AE76-1D2E-1682-EA83F4CC0302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">
            <a:extLst>
              <a:ext uri="{FF2B5EF4-FFF2-40B4-BE49-F238E27FC236}">
                <a16:creationId xmlns:a16="http://schemas.microsoft.com/office/drawing/2014/main" id="{ED7E9D3E-6E65-82A1-7A74-7A6C5BBF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490" y="1868135"/>
            <a:ext cx="3147214" cy="4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（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5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）出队</a:t>
            </a:r>
            <a:r>
              <a:rPr kumimoji="1" lang="en-US" altLang="zh-CN" sz="2000" dirty="0" err="1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deQueue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(q</a:t>
            </a: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，</a:t>
            </a:r>
            <a:r>
              <a:rPr kumimoji="1" lang="en-US" altLang="zh-CN" sz="2000" dirty="0">
                <a:solidFill>
                  <a:srgbClr val="FF33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e)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AFC429F1-BBC9-89EA-A1CE-9BA4CBCFD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879" y="2326394"/>
            <a:ext cx="8001000" cy="3441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0000" tIns="180000" bIns="180000">
            <a:spAutoFit/>
          </a:bodyPr>
          <a:lstStyle/>
          <a:p>
            <a:pPr algn="l">
              <a:lnSpc>
                <a:spcPts val="2000"/>
              </a:lnSpc>
            </a:pP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kumimoji="1" lang="pt-BR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(LinkQuNode *&amp;q</a:t>
            </a:r>
            <a:r>
              <a:rPr kumimoji="1" lang="zh-CN" altLang="pt-BR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1" lang="pt-BR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 &amp;e)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(q-&gt;rear==NULL) return false;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队列为空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t=q-&gt;front;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//t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指向第一个数据结点</a:t>
            </a:r>
          </a:p>
          <a:p>
            <a:pPr algn="l">
              <a:lnSpc>
                <a:spcPts val="2000"/>
              </a:lnSpc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q-&gt;front==q-&gt;rear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队列中只有一个结点时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q-&gt;front=q-&gt;rear=NULL;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   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队列中有多个结点时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q-&gt;front=q-&gt;front-&gt;next;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e=t-&gt;data;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free(t);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</a:p>
          <a:p>
            <a:pPr algn="l">
              <a:lnSpc>
                <a:spcPts val="2000"/>
              </a:lnSpc>
            </a:pP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2883DB5C-FC3C-103A-A06A-18DFF48BD6F7}"/>
              </a:ext>
            </a:extLst>
          </p:cNvPr>
          <p:cNvSpPr txBox="1"/>
          <p:nvPr/>
        </p:nvSpPr>
        <p:spPr>
          <a:xfrm>
            <a:off x="7677992" y="2039115"/>
            <a:ext cx="2928958" cy="7869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原队列有多个结点</a:t>
            </a:r>
          </a:p>
        </p:txBody>
      </p:sp>
      <p:sp>
        <p:nvSpPr>
          <p:cNvPr id="2" name="Line 6">
            <a:extLst>
              <a:ext uri="{FF2B5EF4-FFF2-40B4-BE49-F238E27FC236}">
                <a16:creationId xmlns:a16="http://schemas.microsoft.com/office/drawing/2014/main" id="{8728C613-545A-C069-6B8E-FAA0C9AC3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6551" y="5517232"/>
            <a:ext cx="205330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29">
            <a:extLst>
              <a:ext uri="{FF2B5EF4-FFF2-40B4-BE49-F238E27FC236}">
                <a16:creationId xmlns:a16="http://schemas.microsoft.com/office/drawing/2014/main" id="{1579FC42-16CF-01EC-B1A1-2402DAB5E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9856" y="5517231"/>
            <a:ext cx="0" cy="43103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组合 24">
            <a:extLst>
              <a:ext uri="{FF2B5EF4-FFF2-40B4-BE49-F238E27FC236}">
                <a16:creationId xmlns:a16="http://schemas.microsoft.com/office/drawing/2014/main" id="{944FE76A-BF21-540E-2C00-86264D2509D1}"/>
              </a:ext>
            </a:extLst>
          </p:cNvPr>
          <p:cNvGrpSpPr/>
          <p:nvPr/>
        </p:nvGrpSpPr>
        <p:grpSpPr>
          <a:xfrm>
            <a:off x="1319725" y="5852652"/>
            <a:ext cx="6958037" cy="952486"/>
            <a:chOff x="638151" y="5429264"/>
            <a:chExt cx="6958037" cy="952486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3A5CFA6C-C35E-A44D-CD08-EA267D69D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514975"/>
              <a:ext cx="792163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4145CDD7-DDDD-66CE-E6B3-A2EFBF373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5948363"/>
              <a:ext cx="792163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 sz="1800">
                <a:latin typeface="Consolas" pitchFamily="49" charset="0"/>
                <a:cs typeface="Consolas" pitchFamily="49" charset="0"/>
                <a:sym typeface="Symbol" pitchFamily="18" charset="2"/>
              </a:endParaRPr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97E46489-1C55-8927-87C9-5AB9BDF41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5659438"/>
              <a:ext cx="4318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9AD4AA83-2832-2419-F5FA-292D58637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51" y="5429264"/>
              <a:ext cx="433387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q</a:t>
              </a: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6FB866E2-6AF8-DFF6-16E8-B12746DCD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0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i="1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41A55551-E438-989C-FC7C-D8EEE82D1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∧</a:t>
              </a:r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CD497E6F-B352-4886-3BB2-3145B72C4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5737225"/>
              <a:ext cx="406400" cy="0"/>
            </a:xfrm>
            <a:custGeom>
              <a:avLst/>
              <a:gdLst>
                <a:gd name="T0" fmla="*/ 0 w 256"/>
                <a:gd name="T1" fmla="*/ 10 h 10"/>
                <a:gd name="T2" fmla="*/ 256 w 256"/>
                <a:gd name="T3" fmla="*/ 0 h 10"/>
                <a:gd name="T4" fmla="*/ 0 60000 65536"/>
                <a:gd name="T5" fmla="*/ 0 60000 65536"/>
                <a:gd name="T6" fmla="*/ 0 w 256"/>
                <a:gd name="T7" fmla="*/ 0 h 10"/>
                <a:gd name="T8" fmla="*/ 256 w 256"/>
                <a:gd name="T9" fmla="*/ 10 h 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6" h="10">
                  <a:moveTo>
                    <a:pt x="0" y="10"/>
                  </a:moveTo>
                  <a:lnTo>
                    <a:pt x="25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F3F98F68-C6C8-F8F6-A966-6CB9E77C6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025" y="6223000"/>
              <a:ext cx="5057775" cy="14288"/>
            </a:xfrm>
            <a:custGeom>
              <a:avLst/>
              <a:gdLst>
                <a:gd name="T0" fmla="*/ 0 w 3186"/>
                <a:gd name="T1" fmla="*/ 9 h 9"/>
                <a:gd name="T2" fmla="*/ 3186 w 3186"/>
                <a:gd name="T3" fmla="*/ 0 h 9"/>
                <a:gd name="T4" fmla="*/ 0 60000 65536"/>
                <a:gd name="T5" fmla="*/ 0 60000 65536"/>
                <a:gd name="T6" fmla="*/ 0 w 3186"/>
                <a:gd name="T7" fmla="*/ 0 h 9"/>
                <a:gd name="T8" fmla="*/ 3186 w 318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6" h="9">
                  <a:moveTo>
                    <a:pt x="0" y="9"/>
                  </a:moveTo>
                  <a:lnTo>
                    <a:pt x="3186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708191E3-26F2-5FFC-A5EF-050E6D319D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9925" y="5949950"/>
              <a:ext cx="0" cy="2873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4" name="Text Box 17">
              <a:extLst>
                <a:ext uri="{FF2B5EF4-FFF2-40B4-BE49-F238E27FC236}">
                  <a16:creationId xmlns:a16="http://schemas.microsoft.com/office/drawing/2014/main" id="{87006D69-53E7-96F9-DE06-5DCE59CC3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18" y="5429264"/>
              <a:ext cx="7921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j-ea"/>
                  <a:ea typeface="+mj-ea"/>
                  <a:cs typeface="Consolas" pitchFamily="49" charset="0"/>
                </a:rPr>
                <a:t>…</a:t>
              </a:r>
            </a:p>
          </p:txBody>
        </p:sp>
        <p:sp>
          <p:nvSpPr>
            <p:cNvPr id="37" name="Rectangle 19">
              <a:extLst>
                <a:ext uri="{FF2B5EF4-FFF2-40B4-BE49-F238E27FC236}">
                  <a16:creationId xmlns:a16="http://schemas.microsoft.com/office/drawing/2014/main" id="{D2D8F1E3-9593-1642-8D39-609E6CAAF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150" y="5516563"/>
              <a:ext cx="431800" cy="43338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40" name="Rectangle 20">
              <a:extLst>
                <a:ext uri="{FF2B5EF4-FFF2-40B4-BE49-F238E27FC236}">
                  <a16:creationId xmlns:a16="http://schemas.microsoft.com/office/drawing/2014/main" id="{1B55B86E-6610-E8DF-2DB5-78AC6F1C0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5516563"/>
              <a:ext cx="431800" cy="4333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1" name="Freeform 21">
              <a:extLst>
                <a:ext uri="{FF2B5EF4-FFF2-40B4-BE49-F238E27FC236}">
                  <a16:creationId xmlns:a16="http://schemas.microsoft.com/office/drawing/2014/main" id="{69316987-D208-EF9A-A8D6-4EABD80C6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850" y="5715000"/>
              <a:ext cx="506413" cy="1588"/>
            </a:xfrm>
            <a:custGeom>
              <a:avLst/>
              <a:gdLst>
                <a:gd name="T0" fmla="*/ 0 w 319"/>
                <a:gd name="T1" fmla="*/ 12 h 12"/>
                <a:gd name="T2" fmla="*/ 319 w 319"/>
                <a:gd name="T3" fmla="*/ 0 h 12"/>
                <a:gd name="T4" fmla="*/ 0 60000 65536"/>
                <a:gd name="T5" fmla="*/ 0 60000 65536"/>
                <a:gd name="T6" fmla="*/ 0 w 319"/>
                <a:gd name="T7" fmla="*/ 0 h 12"/>
                <a:gd name="T8" fmla="*/ 319 w 319"/>
                <a:gd name="T9" fmla="*/ 12 h 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9" h="12">
                  <a:moveTo>
                    <a:pt x="0" y="12"/>
                  </a:moveTo>
                  <a:lnTo>
                    <a:pt x="319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43" name="Text Box 10">
            <a:extLst>
              <a:ext uri="{FF2B5EF4-FFF2-40B4-BE49-F238E27FC236}">
                <a16:creationId xmlns:a16="http://schemas.microsoft.com/office/drawing/2014/main" id="{F3DC343B-88E8-01B8-AC83-95C4D7E8C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6512448"/>
            <a:ext cx="5965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rear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E49B486-68A1-60DC-4FD9-E73616B27ACB}"/>
              </a:ext>
            </a:extLst>
          </p:cNvPr>
          <p:cNvSpPr txBox="1"/>
          <p:nvPr/>
        </p:nvSpPr>
        <p:spPr>
          <a:xfrm>
            <a:off x="2135560" y="6081237"/>
            <a:ext cx="61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200" dirty="0">
                <a:latin typeface="Consolas" pitchFamily="49" charset="0"/>
                <a:cs typeface="Consolas" pitchFamily="49" charset="0"/>
              </a:rPr>
              <a:t>front</a:t>
            </a:r>
          </a:p>
        </p:txBody>
      </p:sp>
      <p:sp>
        <p:nvSpPr>
          <p:cNvPr id="47" name="Line 6">
            <a:extLst>
              <a:ext uri="{FF2B5EF4-FFF2-40B4-BE49-F238E27FC236}">
                <a16:creationId xmlns:a16="http://schemas.microsoft.com/office/drawing/2014/main" id="{8EBB3C50-25A5-CD1C-9F4D-4A3467CB2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6550" y="5517232"/>
            <a:ext cx="0" cy="56400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23875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6B38E-0158-51DE-B97E-334B16D2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5740BC9-626F-F6AF-BDAD-8DB36E88F28B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A69EEB3-E40C-9EE5-6EAC-6F6B6B4E5D4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652168-F015-635C-6EA4-FEB3E2C61F32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>
            <a:extLst>
              <a:ext uri="{FF2B5EF4-FFF2-40B4-BE49-F238E27FC236}">
                <a16:creationId xmlns:a16="http://schemas.microsoft.com/office/drawing/2014/main" id="{B53B3AC1-7D01-0555-81FB-57585727DB47}"/>
              </a:ext>
            </a:extLst>
          </p:cNvPr>
          <p:cNvSpPr txBox="1"/>
          <p:nvPr/>
        </p:nvSpPr>
        <p:spPr>
          <a:xfrm>
            <a:off x="2135560" y="2622896"/>
            <a:ext cx="8568952" cy="3015606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设有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个人站成一排，从左向右的编号分别为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～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，现在从左往右报数“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，…”，数到“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”的人出列，数到“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”的立即站到队伍的最右端。报数过程反复进行，直到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个人都出列为止。要求给出他们的出列顺序。</a:t>
            </a: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zh-CN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例如，当</a:t>
            </a:r>
            <a:r>
              <a:rPr lang="en-US" altLang="zh-CN" sz="2000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=8</a:t>
            </a:r>
            <a:r>
              <a:rPr lang="zh-CN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时，初始序列为</a:t>
            </a: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    1  2  3  4  5  6  7  8</a:t>
            </a:r>
            <a:endParaRPr lang="zh-CN" altLang="zh-CN" sz="2000" dirty="0">
              <a:solidFill>
                <a:srgbClr val="C0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zh-CN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则出列顺序为</a:t>
            </a: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    1  3  5  7  2  6  4  8</a:t>
            </a:r>
            <a:endParaRPr lang="zh-CN" altLang="zh-CN" sz="20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F481DB-B75C-F7F7-3604-BE9C3DCA131A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求解报数问题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199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A0D78-BB04-F83A-8DBD-D205EE8B3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3556488-405F-2BAA-BADF-7481D70F6792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BC1BB52-7526-5796-8BD8-EF851A33426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942D3FE-ABFE-0BD6-A668-7A46D82E6C0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79BD014-5A37-6BB2-1ADA-D9FE1F473347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求解报数问题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D98890B-B89D-0817-9278-B5ED2D24C39C}"/>
              </a:ext>
            </a:extLst>
          </p:cNvPr>
          <p:cNvSpPr txBox="1"/>
          <p:nvPr/>
        </p:nvSpPr>
        <p:spPr>
          <a:xfrm>
            <a:off x="1633214" y="2788908"/>
            <a:ext cx="827921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用一个队列解决出列问题，由于这里不需要使用已经出队后的元素，所以采用环形队列。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8" name="上箭头 5">
            <a:extLst>
              <a:ext uri="{FF2B5EF4-FFF2-40B4-BE49-F238E27FC236}">
                <a16:creationId xmlns:a16="http://schemas.microsoft.com/office/drawing/2014/main" id="{DCF6B0D0-248C-5003-2368-9B465655D00A}"/>
              </a:ext>
            </a:extLst>
          </p:cNvPr>
          <p:cNvSpPr/>
          <p:nvPr/>
        </p:nvSpPr>
        <p:spPr>
          <a:xfrm>
            <a:off x="4855904" y="3500621"/>
            <a:ext cx="214314" cy="357190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4252CCB-4AF9-75C7-68BF-E980FD7F04F6}"/>
              </a:ext>
            </a:extLst>
          </p:cNvPr>
          <p:cNvSpPr txBox="1"/>
          <p:nvPr/>
        </p:nvSpPr>
        <p:spPr>
          <a:xfrm>
            <a:off x="2855640" y="3930818"/>
            <a:ext cx="5286412" cy="108706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ct val="150000"/>
              </a:lnSpc>
              <a:buBlip>
                <a:blip r:embed="rId2"/>
              </a:buBlip>
            </a:pP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环形队列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中出队的元素可能被覆盖。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marL="342900" indent="-342900" algn="l">
              <a:lnSpc>
                <a:spcPct val="150000"/>
              </a:lnSpc>
              <a:buBlip>
                <a:blip r:embed="rId2"/>
              </a:buBlip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非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环形队列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中出队的元素不可能被覆盖。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6344A81-FF3E-7141-B5F5-1BC70678D989}"/>
              </a:ext>
            </a:extLst>
          </p:cNvPr>
          <p:cNvGrpSpPr/>
          <p:nvPr/>
        </p:nvGrpSpPr>
        <p:grpSpPr>
          <a:xfrm>
            <a:off x="2313531" y="5030069"/>
            <a:ext cx="6929486" cy="1706148"/>
            <a:chOff x="1033485" y="3950279"/>
            <a:chExt cx="6929486" cy="1706148"/>
          </a:xfrm>
        </p:grpSpPr>
        <p:sp>
          <p:nvSpPr>
            <p:cNvPr id="11" name="上箭头 7">
              <a:extLst>
                <a:ext uri="{FF2B5EF4-FFF2-40B4-BE49-F238E27FC236}">
                  <a16:creationId xmlns:a16="http://schemas.microsoft.com/office/drawing/2014/main" id="{F463A298-436F-D2F6-36BC-65AF1B60A54C}"/>
                </a:ext>
              </a:extLst>
            </p:cNvPr>
            <p:cNvSpPr/>
            <p:nvPr/>
          </p:nvSpPr>
          <p:spPr>
            <a:xfrm>
              <a:off x="3575858" y="3950279"/>
              <a:ext cx="214314" cy="357190"/>
            </a:xfrm>
            <a:prstGeom prst="up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9A4B03E2-24CE-69AE-012D-7136E6BC0729}"/>
                </a:ext>
              </a:extLst>
            </p:cNvPr>
            <p:cNvSpPr txBox="1"/>
            <p:nvPr/>
          </p:nvSpPr>
          <p:spPr>
            <a:xfrm>
              <a:off x="1033485" y="4179099"/>
              <a:ext cx="692948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l">
                <a:lnSpc>
                  <a:spcPct val="150000"/>
                </a:lnSpc>
                <a:buBlip>
                  <a:blip r:embed="rId2"/>
                </a:buBlip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如果利用队列求解时，希望结束后再利用所有出队的元素进一步查找结果，使用非</a:t>
              </a:r>
              <a:r>
                <a:rPr lang="zh-CN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环形队列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，如迷宫问题。</a:t>
              </a:r>
              <a:endPara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endParaRPr>
            </a:p>
            <a:p>
              <a:pPr marL="342900" indent="-342900" algn="l">
                <a:lnSpc>
                  <a:spcPct val="150000"/>
                </a:lnSpc>
                <a:buBlip>
                  <a:blip r:embed="rId2"/>
                </a:buBlip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否则，使用</a:t>
              </a:r>
              <a:r>
                <a:rPr lang="zh-CN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环形队列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。</a:t>
              </a: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026108CE-37D3-F98F-4063-B94EB91EA827}"/>
              </a:ext>
            </a:extLst>
          </p:cNvPr>
          <p:cNvSpPr txBox="1"/>
          <p:nvPr/>
        </p:nvSpPr>
        <p:spPr>
          <a:xfrm>
            <a:off x="1567868" y="2469736"/>
            <a:ext cx="128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数据组织</a:t>
            </a:r>
          </a:p>
        </p:txBody>
      </p:sp>
    </p:spTree>
    <p:extLst>
      <p:ext uri="{BB962C8B-B14F-4D97-AF65-F5344CB8AC3E}">
        <p14:creationId xmlns:p14="http://schemas.microsoft.com/office/powerpoint/2010/main" val="61051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D5BF5-40C2-6CBF-18B8-1E349369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8B8ABC8-3BD2-2529-4C6F-5FAB25794754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2239E4D-0519-9DFD-6FF7-4CE5D9F16088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69DB8C3-2665-16DB-DCDF-E9FACD166F57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2E0378B-17BB-1B0E-DAD1-B4F0EDFF0EE5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求解报数问题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4F607B74-14E4-DF81-1F64-FF0A8549576A}"/>
              </a:ext>
            </a:extLst>
          </p:cNvPr>
          <p:cNvSpPr txBox="1"/>
          <p:nvPr/>
        </p:nvSpPr>
        <p:spPr>
          <a:xfrm>
            <a:off x="1703512" y="2715489"/>
            <a:ext cx="8856984" cy="25451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144000" tIns="144000" rIns="144000" bIns="14400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000"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zh-CN" altLang="zh-CN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算法思想</a:t>
            </a:r>
            <a:r>
              <a:rPr lang="zh-CN" altLang="zh-CN" sz="2000">
                <a:latin typeface="Consolas" pitchFamily="49" charset="0"/>
                <a:ea typeface="楷体" pitchFamily="49" charset="-122"/>
                <a:cs typeface="Consolas" pitchFamily="49" charset="0"/>
              </a:rPr>
              <a:t>：先将</a:t>
            </a:r>
            <a:r>
              <a:rPr lang="en-US" altLang="zh-CN" sz="2000" i="1"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zh-CN" sz="2000">
                <a:latin typeface="Consolas" pitchFamily="49" charset="0"/>
                <a:ea typeface="楷体" pitchFamily="49" charset="-122"/>
                <a:cs typeface="Consolas" pitchFamily="49" charset="0"/>
              </a:rPr>
              <a:t>个人的编号进队，然后反复执行如下操作，直到队列为空：</a:t>
            </a:r>
          </a:p>
          <a:p>
            <a:pPr marL="914400" lvl="1" indent="-457200" algn="l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出队一个的元素，输出其编号</a:t>
            </a:r>
            <a:r>
              <a:rPr lang="en-US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—</a:t>
            </a:r>
            <a:r>
              <a:rPr lang="zh-CN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报数为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的人出列</a:t>
            </a:r>
            <a:r>
              <a: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zh-CN" altLang="zh-CN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914400" lvl="1" indent="-457200" algn="l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若队列不空，则再出队一个元素，并将刚出列的元素进队</a:t>
            </a:r>
            <a:r>
              <a:rPr lang="en-US" altLang="zh-CN" sz="2000">
                <a:latin typeface="Consolas" pitchFamily="49" charset="0"/>
                <a:ea typeface="仿宋" pitchFamily="49" charset="-122"/>
                <a:cs typeface="Consolas" pitchFamily="49" charset="0"/>
              </a:rPr>
              <a:t>—</a:t>
            </a:r>
            <a:r>
              <a:rPr lang="zh-CN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报数为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的人站到队伍的最右端即队尾</a:t>
            </a:r>
            <a:r>
              <a: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0059977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DEA7D-E4CF-F97D-4384-3E7CD2F61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D6B966E-66FE-B5E9-1834-467EF6885063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6B8CA0-21CA-5A49-2B92-782796B1238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5C14CD1-CB70-9EA7-26E3-C4E44D10D23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975D1AF-3E8E-527D-4902-0B175F804334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求解报数问题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A8D8509A-F125-B311-1680-C6BDFA12C601}"/>
              </a:ext>
            </a:extLst>
          </p:cNvPr>
          <p:cNvSpPr txBox="1"/>
          <p:nvPr/>
        </p:nvSpPr>
        <p:spPr>
          <a:xfrm>
            <a:off x="4511824" y="1336529"/>
            <a:ext cx="7276905" cy="513829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number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n)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ElemType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e;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*q;		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环形队列指针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endParaRPr lang="zh-CN" altLang="zh-CN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InitQueue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(q);	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初始化队列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endParaRPr lang="zh-CN" altLang="zh-CN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=1;i&lt;=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n;i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++)	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构建初始序列</a:t>
            </a: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enQueue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q,i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printf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("</a:t>
            </a:r>
            <a:r>
              <a:rPr lang="zh-CN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报数出列顺序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:");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(!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QueueEmpty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(q))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队列不空循环</a:t>
            </a: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q,e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	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出队一个元素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zh-CN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printf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("%d ",e);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输出元素编号</a:t>
            </a: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if (!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QueueEmpty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(q))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队列不空</a:t>
            </a: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q,e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出队一个元素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zh-CN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enQueue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q,e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将刚出列的元素进队</a:t>
            </a: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printf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("\n");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DestroyQueue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(q);			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销毁队列</a:t>
            </a: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endParaRPr lang="zh-CN" altLang="zh-CN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9F43CCBA-60DB-BB47-4876-8F4F8F216C1D}"/>
              </a:ext>
            </a:extLst>
          </p:cNvPr>
          <p:cNvSpPr txBox="1"/>
          <p:nvPr/>
        </p:nvSpPr>
        <p:spPr>
          <a:xfrm>
            <a:off x="669872" y="2465596"/>
            <a:ext cx="3287317" cy="25991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i,n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=8;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printf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("</a:t>
            </a:r>
            <a:r>
              <a:rPr lang="zh-CN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初始序列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:");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=1;i&lt;=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n;i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++)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printf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("%d ",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printf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("\n");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number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(n);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1;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F3A0A3DE-FC17-2BA4-EB75-8899E68A214A}"/>
              </a:ext>
            </a:extLst>
          </p:cNvPr>
          <p:cNvSpPr txBox="1"/>
          <p:nvPr/>
        </p:nvSpPr>
        <p:spPr>
          <a:xfrm>
            <a:off x="270491" y="5176910"/>
            <a:ext cx="3953301" cy="12890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bIns="216000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初始序列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   1 2 3 4 5 6 7 8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200000"/>
              </a:lnSpc>
            </a:pPr>
            <a:r>
              <a:rPr lang="zh-CN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报数出列顺序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:1 3 5 7 2 6 4 8</a:t>
            </a:r>
            <a:endParaRPr lang="zh-CN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82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44748-83AE-ACC7-55EF-B8C5AEFF7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D0C9275-F1A5-8146-5DF0-B289640FCE74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39BC166-A9D9-4D68-C880-B5BC6E62B5F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535F16F-95A1-5E15-D679-A2983CE66AB1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2207241-D135-21E3-FCFE-8C8229470C0E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9C0A4A19-AC37-B392-DCDB-99F17B3CD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9572" y="2971094"/>
            <a:ext cx="6643734" cy="45384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使用一个队列</a:t>
            </a:r>
            <a:r>
              <a:rPr kumimoji="1" lang="en-US" altLang="zh-CN" sz="2000" dirty="0" err="1">
                <a:latin typeface="Consolas" pitchFamily="49" charset="0"/>
                <a:ea typeface="楷体" pitchFamily="49" charset="-122"/>
                <a:cs typeface="Consolas" pitchFamily="49" charset="0"/>
              </a:rPr>
              <a:t>qu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记录试探的方块，该队列的结构如下</a:t>
            </a:r>
            <a:r>
              <a:rPr kumimoji="1"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:     </a:t>
            </a:r>
            <a:endParaRPr lang="en-US" altLang="zh-CN" sz="2000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F43352C-4B44-7F7B-0F40-785EEA8FF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3433065"/>
            <a:ext cx="7286676" cy="16691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 algn="l">
              <a:lnSpc>
                <a:spcPts val="2600"/>
              </a:lnSpc>
            </a:pP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typedef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</a:p>
          <a:p>
            <a:pPr algn="l">
              <a:lnSpc>
                <a:spcPts val="26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i,j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方块的位置</a:t>
            </a:r>
          </a:p>
          <a:p>
            <a:pPr algn="l">
              <a:lnSpc>
                <a:spcPts val="2600"/>
              </a:lnSpc>
            </a:pP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pre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本路径中上一方块在队列中的下标</a:t>
            </a:r>
          </a:p>
          <a:p>
            <a:pPr algn="l">
              <a:lnSpc>
                <a:spcPts val="26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</a:t>
            </a:r>
            <a:r>
              <a:rPr kumimoji="1" lang="en-US" altLang="zh-CN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Box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类型</a:t>
            </a:r>
            <a:endParaRPr kumimoji="1" lang="zh-CN" altLang="en-US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1B77ECAB-7436-4160-2769-E734421AE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2469007"/>
            <a:ext cx="257176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Blip>
                <a:blip r:embed="rId2"/>
              </a:buBlip>
            </a:pPr>
            <a:r>
              <a:rPr kumimoji="1" lang="zh-CN" altLang="en-US" sz="2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细珊瑚简体" pitchFamily="65" charset="-122"/>
                <a:ea typeface="方正细珊瑚简体" pitchFamily="65" charset="-122"/>
                <a:cs typeface="Consolas" pitchFamily="49" charset="0"/>
              </a:rPr>
              <a:t>　数据组织       </a:t>
            </a:r>
          </a:p>
        </p:txBody>
      </p:sp>
      <p:sp>
        <p:nvSpPr>
          <p:cNvPr id="10" name="Rectangle 36">
            <a:extLst>
              <a:ext uri="{FF2B5EF4-FFF2-40B4-BE49-F238E27FC236}">
                <a16:creationId xmlns:a16="http://schemas.microsoft.com/office/drawing/2014/main" id="{5DCC8414-CF73-50B0-91F2-8CB033A48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669" y="5611547"/>
            <a:ext cx="791438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endParaRPr lang="en-US" altLang="zh-CN" sz="1800" i="1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FFCAEC69-6F4F-D8A5-8579-997933BFE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7569" y="5602022"/>
            <a:ext cx="804868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+1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D02B25C-119A-686D-7779-35488CF0799C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4342107" y="5872022"/>
            <a:ext cx="975462" cy="95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3E51A93-CEA4-2358-2110-25C5B0387DBD}"/>
              </a:ext>
            </a:extLst>
          </p:cNvPr>
          <p:cNvSpPr txBox="1"/>
          <p:nvPr/>
        </p:nvSpPr>
        <p:spPr>
          <a:xfrm>
            <a:off x="2550537" y="5744898"/>
            <a:ext cx="1000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front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04D482-A43F-A08A-03B2-E45FD4CC284C}"/>
              </a:ext>
            </a:extLst>
          </p:cNvPr>
          <p:cNvSpPr txBox="1"/>
          <p:nvPr/>
        </p:nvSpPr>
        <p:spPr>
          <a:xfrm>
            <a:off x="4979429" y="6335038"/>
            <a:ext cx="150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pre=front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45242DD1-D55E-676E-6D5D-2D94574BCD1E}"/>
              </a:ext>
            </a:extLst>
          </p:cNvPr>
          <p:cNvSpPr txBox="1"/>
          <p:nvPr/>
        </p:nvSpPr>
        <p:spPr>
          <a:xfrm>
            <a:off x="3550669" y="517339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BB25D26B-D3CF-F554-010F-216FE4764324}"/>
              </a:ext>
            </a:extLst>
          </p:cNvPr>
          <p:cNvSpPr txBox="1"/>
          <p:nvPr/>
        </p:nvSpPr>
        <p:spPr>
          <a:xfrm>
            <a:off x="5265181" y="517339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rPr>
              <a:t>方块</a:t>
            </a:r>
          </a:p>
        </p:txBody>
      </p:sp>
    </p:spTree>
    <p:extLst>
      <p:ext uri="{BB962C8B-B14F-4D97-AF65-F5344CB8AC3E}">
        <p14:creationId xmlns:p14="http://schemas.microsoft.com/office/powerpoint/2010/main" val="15017924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7050-74E6-F395-16C6-218218096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91E2B86-3CE2-5E56-FFFC-E29DD169C92B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9E630B0-76A1-F9F4-D8F7-E53DA1F53F32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156CB09-C849-47DD-029B-DA08D2049327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72A1D54-A21E-1A5B-6C03-2DBAA596B3A0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C0846FE4-DF12-4807-AA04-74BA78AC2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2554745"/>
            <a:ext cx="7286676" cy="1748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 algn="l">
              <a:lnSpc>
                <a:spcPts val="28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typedef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Box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data[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];</a:t>
            </a:r>
          </a:p>
          <a:p>
            <a:pPr algn="l">
              <a:lnSpc>
                <a:spcPts val="28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front,rear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队头指针和队尾指针</a:t>
            </a:r>
          </a:p>
          <a:p>
            <a:pPr algn="l">
              <a:lnSpc>
                <a:spcPts val="28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</a:t>
            </a:r>
            <a:r>
              <a:rPr kumimoji="1" lang="en-US" altLang="zh-CN" sz="18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QuType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定义顺序队类型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F518BAA-6339-80BA-ED46-D7E0AE2F1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808" y="4840761"/>
            <a:ext cx="8569325" cy="8270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ts val="3000"/>
              </a:lnSpc>
            </a:pPr>
            <a:r>
              <a:rPr kumimoji="1" lang="en-US" altLang="zh-CN" sz="200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    </a:t>
            </a:r>
            <a:r>
              <a:rPr kumimoji="1" lang="zh-CN" altLang="en-US" sz="200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使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用的队列</a:t>
            </a:r>
            <a:r>
              <a:rPr kumimoji="1" lang="en-US" altLang="zh-CN" sz="2000" dirty="0" err="1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qu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不是环形队列（因为要利用出队的元素找路径），因此在出队时，不会将出队元素真正从队列中删除，因为要利用它输出路径。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4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A223F-0E07-461D-4F46-B12CE13B2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76D88A9-2417-AF85-824A-DABFD7BEC71E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11AB92B-D7AF-983F-D892-C9A555EFF527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9568586-322F-03B8-9373-467C89FF4D7E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00C2300-09E0-E59E-0A76-4F224DAB90CA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DE9C2E9-A2BE-7074-5609-3492DA049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293" y="2945887"/>
            <a:ext cx="136525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Consolas" pitchFamily="49" charset="0"/>
              </a:rPr>
              <a:t>当前方块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082C17A4-7B54-1996-585F-F1629BDE4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282" y="3085567"/>
            <a:ext cx="43926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：当前方块在队列中的下标</a:t>
            </a:r>
            <a:endParaRPr lang="en-US" altLang="zh-CN" sz="20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8" name="组合 19">
            <a:extLst>
              <a:ext uri="{FF2B5EF4-FFF2-40B4-BE49-F238E27FC236}">
                <a16:creationId xmlns:a16="http://schemas.microsoft.com/office/drawing/2014/main" id="{BD835EC7-2C5A-B684-C9A3-F25E867DC184}"/>
              </a:ext>
            </a:extLst>
          </p:cNvPr>
          <p:cNvGrpSpPr/>
          <p:nvPr/>
        </p:nvGrpSpPr>
        <p:grpSpPr>
          <a:xfrm>
            <a:off x="5401696" y="3582474"/>
            <a:ext cx="1709735" cy="1739900"/>
            <a:chOff x="1284266" y="2647961"/>
            <a:chExt cx="1709735" cy="1739900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8F355B4-0A20-641C-3641-3D55F5008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001" y="2647961"/>
              <a:ext cx="635000" cy="1104900"/>
            </a:xfrm>
            <a:custGeom>
              <a:avLst/>
              <a:gdLst/>
              <a:ahLst/>
              <a:cxnLst>
                <a:cxn ang="0">
                  <a:pos x="400" y="0"/>
                </a:cxn>
                <a:cxn ang="0">
                  <a:pos x="0" y="696"/>
                </a:cxn>
              </a:cxnLst>
              <a:rect l="0" t="0" r="r" b="b"/>
              <a:pathLst>
                <a:path w="400" h="696">
                  <a:moveTo>
                    <a:pt x="400" y="0"/>
                  </a:moveTo>
                  <a:lnTo>
                    <a:pt x="0" y="696"/>
                  </a:ln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8D9CBEC0-5FBD-FA59-9195-1C3D3FA9E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776" y="3740161"/>
              <a:ext cx="1368425" cy="6477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zh-CN" altLang="en-US" sz="1800" dirty="0">
                  <a:latin typeface="华文中宋" pitchFamily="2" charset="-122"/>
                  <a:ea typeface="华文中宋" pitchFamily="2" charset="-122"/>
                  <a:cs typeface="Consolas" pitchFamily="49" charset="0"/>
                </a:rPr>
                <a:t>相邻方块</a:t>
              </a:r>
              <a:r>
                <a:rPr lang="en-US" altLang="zh-CN" sz="1800" dirty="0">
                  <a:latin typeface="华文中宋" pitchFamily="2" charset="-122"/>
                  <a:ea typeface="华文中宋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709DD8EF-23B1-BF05-8809-052081BED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266" y="3883036"/>
              <a:ext cx="28733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800" i="1" dirty="0" err="1">
                  <a:solidFill>
                    <a:srgbClr val="FF0000"/>
                  </a:solidFill>
                  <a:latin typeface="Consolas" pitchFamily="49" charset="0"/>
                  <a:cs typeface="Consolas" pitchFamily="49" charset="0"/>
                </a:rPr>
                <a:t>i</a:t>
              </a:r>
              <a:endParaRPr lang="en-US" altLang="zh-CN" sz="1800" i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14" name="组合 20">
            <a:extLst>
              <a:ext uri="{FF2B5EF4-FFF2-40B4-BE49-F238E27FC236}">
                <a16:creationId xmlns:a16="http://schemas.microsoft.com/office/drawing/2014/main" id="{4E9EDEF9-5759-5303-73C4-0FBEB447A446}"/>
              </a:ext>
            </a:extLst>
          </p:cNvPr>
          <p:cNvGrpSpPr/>
          <p:nvPr/>
        </p:nvGrpSpPr>
        <p:grpSpPr>
          <a:xfrm>
            <a:off x="7419406" y="3582474"/>
            <a:ext cx="1944688" cy="1739900"/>
            <a:chOff x="3301976" y="2647961"/>
            <a:chExt cx="1944688" cy="1739900"/>
          </a:xfrm>
        </p:grpSpPr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9C70045D-B29F-3261-9B1C-B2515D07C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239" y="3740161"/>
              <a:ext cx="1368425" cy="6477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zh-CN" altLang="en-US" sz="1800">
                  <a:latin typeface="华文中宋" pitchFamily="2" charset="-122"/>
                  <a:ea typeface="华文中宋" pitchFamily="2" charset="-122"/>
                  <a:cs typeface="Consolas" pitchFamily="49" charset="0"/>
                </a:rPr>
                <a:t>相邻方块</a:t>
              </a:r>
              <a:r>
                <a:rPr lang="en-US" altLang="zh-CN" sz="1800">
                  <a:latin typeface="华文中宋" pitchFamily="2" charset="-122"/>
                  <a:ea typeface="华文中宋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9A31D77-93EA-1754-6D56-CC4ED4F27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501" y="2647961"/>
              <a:ext cx="622300" cy="1104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92" y="696"/>
                </a:cxn>
              </a:cxnLst>
              <a:rect l="0" t="0" r="r" b="b"/>
              <a:pathLst>
                <a:path w="392" h="696">
                  <a:moveTo>
                    <a:pt x="0" y="0"/>
                  </a:moveTo>
                  <a:lnTo>
                    <a:pt x="392" y="696"/>
                  </a:ln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B8F14FAA-E7D9-5CB6-A101-6C9CF5FB1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1976" y="3883036"/>
              <a:ext cx="576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800" i="1" dirty="0" err="1">
                  <a:solidFill>
                    <a:srgbClr val="FF0000"/>
                  </a:solidFill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1800" dirty="0" err="1">
                  <a:solidFill>
                    <a:srgbClr val="FF0000"/>
                  </a:solidFill>
                  <a:latin typeface="Consolas" pitchFamily="49" charset="0"/>
                  <a:cs typeface="Consolas" pitchFamily="49" charset="0"/>
                </a:rPr>
                <a:t>+1</a:t>
              </a:r>
              <a:endParaRPr lang="en-US" altLang="zh-CN" sz="18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18" name="组合 21">
            <a:extLst>
              <a:ext uri="{FF2B5EF4-FFF2-40B4-BE49-F238E27FC236}">
                <a16:creationId xmlns:a16="http://schemas.microsoft.com/office/drawing/2014/main" id="{BEB45469-76CC-4AC8-31B6-F7F63F709B4F}"/>
              </a:ext>
            </a:extLst>
          </p:cNvPr>
          <p:cNvGrpSpPr/>
          <p:nvPr/>
        </p:nvGrpSpPr>
        <p:grpSpPr>
          <a:xfrm>
            <a:off x="5046092" y="3582474"/>
            <a:ext cx="2301877" cy="2321957"/>
            <a:chOff x="928662" y="2647961"/>
            <a:chExt cx="2301877" cy="2321957"/>
          </a:xfrm>
        </p:grpSpPr>
        <p:sp>
          <p:nvSpPr>
            <p:cNvPr id="19" name="Text Box 13">
              <a:extLst>
                <a:ext uri="{FF2B5EF4-FFF2-40B4-BE49-F238E27FC236}">
                  <a16:creationId xmlns:a16="http://schemas.microsoft.com/office/drawing/2014/main" id="{028E3224-BECA-C6EC-7D53-71B0A9E1D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662" y="4600586"/>
              <a:ext cx="230187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8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Qu</a:t>
              </a:r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18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].pre=front</a:t>
              </a: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2B60E2C8-E4C0-E901-BCF4-55234EF98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602" y="2647961"/>
              <a:ext cx="571500" cy="1066800"/>
            </a:xfrm>
            <a:custGeom>
              <a:avLst/>
              <a:gdLst/>
              <a:ahLst/>
              <a:cxnLst>
                <a:cxn ang="0">
                  <a:pos x="0" y="672"/>
                </a:cxn>
                <a:cxn ang="0">
                  <a:pos x="360" y="0"/>
                </a:cxn>
              </a:cxnLst>
              <a:rect l="0" t="0" r="r" b="b"/>
              <a:pathLst>
                <a:path w="360" h="672">
                  <a:moveTo>
                    <a:pt x="0" y="672"/>
                  </a:moveTo>
                  <a:lnTo>
                    <a:pt x="360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1" name="组合 22">
            <a:extLst>
              <a:ext uri="{FF2B5EF4-FFF2-40B4-BE49-F238E27FC236}">
                <a16:creationId xmlns:a16="http://schemas.microsoft.com/office/drawing/2014/main" id="{40237AF9-118E-BF0E-FEE3-FE1B4F628566}"/>
              </a:ext>
            </a:extLst>
          </p:cNvPr>
          <p:cNvGrpSpPr/>
          <p:nvPr/>
        </p:nvGrpSpPr>
        <p:grpSpPr>
          <a:xfrm>
            <a:off x="7563868" y="3593587"/>
            <a:ext cx="2697197" cy="2314019"/>
            <a:chOff x="3446438" y="2659074"/>
            <a:chExt cx="2697197" cy="2314019"/>
          </a:xfrm>
        </p:grpSpPr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id="{10C6B759-4044-2AA4-19E0-AC18CF867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6438" y="4603761"/>
              <a:ext cx="269719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Qu[i+1].pre=front</a:t>
              </a:r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6B3F88A2-7FB7-7351-F8A0-84369346B0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19464" y="2659074"/>
              <a:ext cx="574675" cy="10810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24" name="Text Box 2">
            <a:extLst>
              <a:ext uri="{FF2B5EF4-FFF2-40B4-BE49-F238E27FC236}">
                <a16:creationId xmlns:a16="http://schemas.microsoft.com/office/drawing/2014/main" id="{FA375E80-79D5-4B0E-0433-B1674C7E6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150" y="1220241"/>
            <a:ext cx="2557450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>
              <a:lnSpc>
                <a:spcPct val="90000"/>
              </a:lnSpc>
              <a:spcBef>
                <a:spcPct val="50000"/>
              </a:spcBef>
              <a:buFont typeface="Wingdings" pitchFamily="2" charset="2"/>
              <a:buBlip>
                <a:blip r:embed="rId2"/>
              </a:buBlip>
            </a:pPr>
            <a:r>
              <a:rPr kumimoji="1" lang="en-US" altLang="zh-CN" sz="2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细珊瑚简体" pitchFamily="65" charset="-122"/>
                <a:ea typeface="方正细珊瑚简体" pitchFamily="65" charset="-122"/>
                <a:cs typeface="Consolas" pitchFamily="49" charset="0"/>
              </a:rPr>
              <a:t>  </a:t>
            </a:r>
            <a:r>
              <a:rPr kumimoji="1" lang="zh-CN" altLang="en-US" sz="2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细珊瑚简体" pitchFamily="65" charset="-122"/>
                <a:ea typeface="方正细珊瑚简体" pitchFamily="65" charset="-122"/>
                <a:cs typeface="Consolas" pitchFamily="49" charset="0"/>
              </a:rPr>
              <a:t>算法设计      </a:t>
            </a: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7C74F64D-82F7-043E-C1CF-835BC3B559F5}"/>
              </a:ext>
            </a:extLst>
          </p:cNvPr>
          <p:cNvSpPr txBox="1"/>
          <p:nvPr/>
        </p:nvSpPr>
        <p:spPr>
          <a:xfrm>
            <a:off x="5117530" y="1934621"/>
            <a:ext cx="6429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首先将入口进队。出队一个方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块，一次性考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察如下：</a:t>
            </a:r>
          </a:p>
        </p:txBody>
      </p:sp>
      <p:grpSp>
        <p:nvGrpSpPr>
          <p:cNvPr id="26" name="组合 18">
            <a:extLst>
              <a:ext uri="{FF2B5EF4-FFF2-40B4-BE49-F238E27FC236}">
                <a16:creationId xmlns:a16="http://schemas.microsoft.com/office/drawing/2014/main" id="{C5D4188C-0F74-5B09-F28E-BCCB640AF143}"/>
              </a:ext>
            </a:extLst>
          </p:cNvPr>
          <p:cNvGrpSpPr/>
          <p:nvPr/>
        </p:nvGrpSpPr>
        <p:grpSpPr>
          <a:xfrm>
            <a:off x="5939829" y="3749089"/>
            <a:ext cx="5857916" cy="614424"/>
            <a:chOff x="1822399" y="2814576"/>
            <a:chExt cx="5857916" cy="614424"/>
          </a:xfrm>
        </p:grpSpPr>
        <p:sp>
          <p:nvSpPr>
            <p:cNvPr id="27" name="下弧形箭头 16">
              <a:extLst>
                <a:ext uri="{FF2B5EF4-FFF2-40B4-BE49-F238E27FC236}">
                  <a16:creationId xmlns:a16="http://schemas.microsoft.com/office/drawing/2014/main" id="{BB2DE431-EC84-4BEE-D47C-93816F224401}"/>
                </a:ext>
              </a:extLst>
            </p:cNvPr>
            <p:cNvSpPr/>
            <p:nvPr/>
          </p:nvSpPr>
          <p:spPr bwMode="auto">
            <a:xfrm>
              <a:off x="1822399" y="2928934"/>
              <a:ext cx="3000396" cy="500066"/>
            </a:xfrm>
            <a:prstGeom prst="curvedUpArrow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8" name="TextBox 17">
              <a:extLst>
                <a:ext uri="{FF2B5EF4-FFF2-40B4-BE49-F238E27FC236}">
                  <a16:creationId xmlns:a16="http://schemas.microsoft.com/office/drawing/2014/main" id="{CD628DFB-1EF6-A485-B4AC-9E15F29526BC}"/>
                </a:ext>
              </a:extLst>
            </p:cNvPr>
            <p:cNvSpPr txBox="1"/>
            <p:nvPr/>
          </p:nvSpPr>
          <p:spPr>
            <a:xfrm>
              <a:off x="4822795" y="2814576"/>
              <a:ext cx="2857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考察所有相邻可走方块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258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C668-8C16-549E-F1F8-A746BB2F8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AC7941B-454F-30D6-5653-652360ABE745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E978346-D33F-946E-6077-FD36D3455516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D6F087F-2378-FBC5-58B6-E06E5025F923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74FBEEA-4595-1271-91B5-EE6B5241C0D3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F68BA7B-501D-8B35-B166-BED9B6D46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2129" y="1110519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入口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AE519DC0-0EA8-626F-3160-E6D9DE6B6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0498" y="1110519"/>
            <a:ext cx="3603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6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895EBACB-874C-E367-7C39-C60B64709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967" y="1937606"/>
            <a:ext cx="755650" cy="4683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47694084-8013-FB78-6FA5-B1851691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4017" y="1974119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60CF8A31-A2FC-E8BB-13DA-84632D593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1267" y="2945669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DCC9F7C5-167F-C9F3-F422-8A32B8324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692" y="2945669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BF3AB754-52A0-0B96-F0BE-836008693E10}"/>
              </a:ext>
            </a:extLst>
          </p:cNvPr>
          <p:cNvSpPr>
            <a:spLocks/>
          </p:cNvSpPr>
          <p:nvPr/>
        </p:nvSpPr>
        <p:spPr bwMode="auto">
          <a:xfrm>
            <a:off x="6969692" y="1575656"/>
            <a:ext cx="512762" cy="398463"/>
          </a:xfrm>
          <a:custGeom>
            <a:avLst/>
            <a:gdLst/>
            <a:ahLst/>
            <a:cxnLst>
              <a:cxn ang="0">
                <a:pos x="0" y="251"/>
              </a:cxn>
              <a:cxn ang="0">
                <a:pos x="323" y="0"/>
              </a:cxn>
            </a:cxnLst>
            <a:rect l="0" t="0" r="r" b="b"/>
            <a:pathLst>
              <a:path w="323" h="251">
                <a:moveTo>
                  <a:pt x="0" y="251"/>
                </a:moveTo>
                <a:lnTo>
                  <a:pt x="323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4" name="Freeform 12">
            <a:extLst>
              <a:ext uri="{FF2B5EF4-FFF2-40B4-BE49-F238E27FC236}">
                <a16:creationId xmlns:a16="http://schemas.microsoft.com/office/drawing/2014/main" id="{2EE9D7F1-739F-E62C-00E4-38C7F29AA288}"/>
              </a:ext>
            </a:extLst>
          </p:cNvPr>
          <p:cNvSpPr>
            <a:spLocks/>
          </p:cNvSpPr>
          <p:nvPr/>
        </p:nvSpPr>
        <p:spPr bwMode="auto">
          <a:xfrm>
            <a:off x="6021954" y="2405919"/>
            <a:ext cx="371475" cy="528637"/>
          </a:xfrm>
          <a:custGeom>
            <a:avLst/>
            <a:gdLst/>
            <a:ahLst/>
            <a:cxnLst>
              <a:cxn ang="0">
                <a:pos x="0" y="333"/>
              </a:cxn>
              <a:cxn ang="0">
                <a:pos x="234" y="0"/>
              </a:cxn>
            </a:cxnLst>
            <a:rect l="0" t="0" r="r" b="b"/>
            <a:pathLst>
              <a:path w="234" h="333">
                <a:moveTo>
                  <a:pt x="0" y="333"/>
                </a:moveTo>
                <a:lnTo>
                  <a:pt x="234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8A49B7F2-D216-83ED-7470-01226CFF7EA9}"/>
              </a:ext>
            </a:extLst>
          </p:cNvPr>
          <p:cNvSpPr>
            <a:spLocks/>
          </p:cNvSpPr>
          <p:nvPr/>
        </p:nvSpPr>
        <p:spPr bwMode="auto">
          <a:xfrm>
            <a:off x="6825229" y="2405919"/>
            <a:ext cx="434975" cy="541337"/>
          </a:xfrm>
          <a:custGeom>
            <a:avLst/>
            <a:gdLst/>
            <a:ahLst/>
            <a:cxnLst>
              <a:cxn ang="0">
                <a:pos x="274" y="341"/>
              </a:cxn>
              <a:cxn ang="0">
                <a:pos x="0" y="0"/>
              </a:cxn>
            </a:cxnLst>
            <a:rect l="0" t="0" r="r" b="b"/>
            <a:pathLst>
              <a:path w="274" h="341">
                <a:moveTo>
                  <a:pt x="274" y="341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6" name="Text Box 14">
            <a:extLst>
              <a:ext uri="{FF2B5EF4-FFF2-40B4-BE49-F238E27FC236}">
                <a16:creationId xmlns:a16="http://schemas.microsoft.com/office/drawing/2014/main" id="{FCFDFB8B-8A28-3748-9446-09E111632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904" y="3774344"/>
            <a:ext cx="11525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nsolas" pitchFamily="49" charset="0"/>
                <a:ea typeface="宋体" charset="-122"/>
                <a:cs typeface="Consolas" pitchFamily="49" charset="0"/>
              </a:rPr>
              <a:t>……</a:t>
            </a:r>
          </a:p>
        </p:txBody>
      </p:sp>
      <p:sp>
        <p:nvSpPr>
          <p:cNvPr id="37" name="Rectangle 15">
            <a:extLst>
              <a:ext uri="{FF2B5EF4-FFF2-40B4-BE49-F238E27FC236}">
                <a16:creationId xmlns:a16="http://schemas.microsoft.com/office/drawing/2014/main" id="{C7CE728E-F485-33DB-9E83-5466BEED9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4729" y="2945669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C0BC4265-1664-E67A-40BE-2B12C0F95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3154" y="2945669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39" name="Rectangle 17">
            <a:extLst>
              <a:ext uri="{FF2B5EF4-FFF2-40B4-BE49-F238E27FC236}">
                <a16:creationId xmlns:a16="http://schemas.microsoft.com/office/drawing/2014/main" id="{52EE7F43-E635-AE35-5014-F6A1573A8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4154" y="4098194"/>
            <a:ext cx="719138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40" name="Rectangle 18">
            <a:extLst>
              <a:ext uri="{FF2B5EF4-FFF2-40B4-BE49-F238E27FC236}">
                <a16:creationId xmlns:a16="http://schemas.microsoft.com/office/drawing/2014/main" id="{E5023070-4CF9-9C1E-6678-74D1AB079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2579" y="4098194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出口</a:t>
            </a:r>
          </a:p>
        </p:txBody>
      </p:sp>
      <p:sp>
        <p:nvSpPr>
          <p:cNvPr id="41" name="Freeform 19">
            <a:extLst>
              <a:ext uri="{FF2B5EF4-FFF2-40B4-BE49-F238E27FC236}">
                <a16:creationId xmlns:a16="http://schemas.microsoft.com/office/drawing/2014/main" id="{BC3991F0-633E-CEEE-9F82-067484C7DD83}"/>
              </a:ext>
            </a:extLst>
          </p:cNvPr>
          <p:cNvSpPr>
            <a:spLocks/>
          </p:cNvSpPr>
          <p:nvPr/>
        </p:nvSpPr>
        <p:spPr bwMode="auto">
          <a:xfrm>
            <a:off x="7577704" y="3413981"/>
            <a:ext cx="544513" cy="676275"/>
          </a:xfrm>
          <a:custGeom>
            <a:avLst/>
            <a:gdLst/>
            <a:ahLst/>
            <a:cxnLst>
              <a:cxn ang="0">
                <a:pos x="0" y="426"/>
              </a:cxn>
              <a:cxn ang="0">
                <a:pos x="343" y="0"/>
              </a:cxn>
            </a:cxnLst>
            <a:rect l="0" t="0" r="r" b="b"/>
            <a:pathLst>
              <a:path w="343" h="426">
                <a:moveTo>
                  <a:pt x="0" y="426"/>
                </a:moveTo>
                <a:lnTo>
                  <a:pt x="343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42" name="组合 21">
            <a:extLst>
              <a:ext uri="{FF2B5EF4-FFF2-40B4-BE49-F238E27FC236}">
                <a16:creationId xmlns:a16="http://schemas.microsoft.com/office/drawing/2014/main" id="{67BE3827-3BC4-B025-4258-8FE281F13064}"/>
              </a:ext>
            </a:extLst>
          </p:cNvPr>
          <p:cNvGrpSpPr/>
          <p:nvPr/>
        </p:nvGrpSpPr>
        <p:grpSpPr>
          <a:xfrm>
            <a:off x="8104754" y="1588356"/>
            <a:ext cx="736600" cy="2501900"/>
            <a:chOff x="4267200" y="1098550"/>
            <a:chExt cx="736600" cy="2501900"/>
          </a:xfrm>
        </p:grpSpPr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8119D174-45E6-A90D-6666-63F4BBD3B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200" y="1098550"/>
              <a:ext cx="450850" cy="387350"/>
            </a:xfrm>
            <a:custGeom>
              <a:avLst/>
              <a:gdLst/>
              <a:ahLst/>
              <a:cxnLst>
                <a:cxn ang="0">
                  <a:pos x="284" y="244"/>
                </a:cxn>
                <a:cxn ang="0">
                  <a:pos x="0" y="0"/>
                </a:cxn>
              </a:cxnLst>
              <a:rect l="0" t="0" r="r" b="b"/>
              <a:pathLst>
                <a:path w="284" h="244">
                  <a:moveTo>
                    <a:pt x="284" y="244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4" name="Freeform 20">
              <a:extLst>
                <a:ext uri="{FF2B5EF4-FFF2-40B4-BE49-F238E27FC236}">
                  <a16:creationId xmlns:a16="http://schemas.microsoft.com/office/drawing/2014/main" id="{5E0F0F53-4B5A-24FD-E8F9-560CD4D2C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150" y="2924175"/>
              <a:ext cx="501650" cy="676275"/>
            </a:xfrm>
            <a:custGeom>
              <a:avLst/>
              <a:gdLst/>
              <a:ahLst/>
              <a:cxnLst>
                <a:cxn ang="0">
                  <a:pos x="316" y="426"/>
                </a:cxn>
                <a:cxn ang="0">
                  <a:pos x="0" y="0"/>
                </a:cxn>
              </a:cxnLst>
              <a:rect l="0" t="0" r="r" b="b"/>
              <a:pathLst>
                <a:path w="316" h="426">
                  <a:moveTo>
                    <a:pt x="316" y="42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5" name="Freeform 21">
              <a:extLst>
                <a:ext uri="{FF2B5EF4-FFF2-40B4-BE49-F238E27FC236}">
                  <a16:creationId xmlns:a16="http://schemas.microsoft.com/office/drawing/2014/main" id="{3A0BCB3D-F3DC-7BDD-C3C5-AE9D522F9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700" y="1949450"/>
              <a:ext cx="419100" cy="501650"/>
            </a:xfrm>
            <a:custGeom>
              <a:avLst/>
              <a:gdLst/>
              <a:ahLst/>
              <a:cxnLst>
                <a:cxn ang="0">
                  <a:pos x="0" y="316"/>
                </a:cxn>
                <a:cxn ang="0">
                  <a:pos x="264" y="0"/>
                </a:cxn>
              </a:cxnLst>
              <a:rect l="0" t="0" r="r" b="b"/>
              <a:pathLst>
                <a:path w="264" h="316">
                  <a:moveTo>
                    <a:pt x="0" y="316"/>
                  </a:moveTo>
                  <a:lnTo>
                    <a:pt x="264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46" name="Freeform 22">
            <a:extLst>
              <a:ext uri="{FF2B5EF4-FFF2-40B4-BE49-F238E27FC236}">
                <a16:creationId xmlns:a16="http://schemas.microsoft.com/office/drawing/2014/main" id="{D8F12B3C-5DA3-D656-B47B-6AA8BBDDE9D9}"/>
              </a:ext>
            </a:extLst>
          </p:cNvPr>
          <p:cNvSpPr>
            <a:spLocks/>
          </p:cNvSpPr>
          <p:nvPr/>
        </p:nvSpPr>
        <p:spPr bwMode="auto">
          <a:xfrm>
            <a:off x="9133454" y="2445606"/>
            <a:ext cx="482600" cy="495300"/>
          </a:xfrm>
          <a:custGeom>
            <a:avLst/>
            <a:gdLst/>
            <a:ahLst/>
            <a:cxnLst>
              <a:cxn ang="0">
                <a:pos x="304" y="312"/>
              </a:cxn>
              <a:cxn ang="0">
                <a:pos x="0" y="0"/>
              </a:cxn>
            </a:cxnLst>
            <a:rect l="0" t="0" r="r" b="b"/>
            <a:pathLst>
              <a:path w="304" h="312">
                <a:moveTo>
                  <a:pt x="304" y="312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7" name="Text Box 23">
            <a:extLst>
              <a:ext uri="{FF2B5EF4-FFF2-40B4-BE49-F238E27FC236}">
                <a16:creationId xmlns:a16="http://schemas.microsoft.com/office/drawing/2014/main" id="{2A2A2328-7537-C6F1-73DE-347A60EE9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642" y="5142769"/>
            <a:ext cx="7416800" cy="861774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Blip>
                <a:blip r:embed="rId2"/>
              </a:buBlip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所有搜索过的方块都在队列中。</a:t>
            </a:r>
          </a:p>
          <a:p>
            <a:pPr marL="457200" indent="-457200" algn="l">
              <a:spcBef>
                <a:spcPct val="50000"/>
              </a:spcBef>
              <a:buBlip>
                <a:blip r:embed="rId2"/>
              </a:buBlip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最后通过队列找出从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出口 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 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入口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的一条迷宫路径。</a:t>
            </a:r>
            <a:endParaRPr lang="en-US" altLang="zh-CN" sz="20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8" name="右箭头 22">
            <a:extLst>
              <a:ext uri="{FF2B5EF4-FFF2-40B4-BE49-F238E27FC236}">
                <a16:creationId xmlns:a16="http://schemas.microsoft.com/office/drawing/2014/main" id="{7E0266C1-B27E-EB09-5A5D-6E2B7EE025B2}"/>
              </a:ext>
            </a:extLst>
          </p:cNvPr>
          <p:cNvSpPr/>
          <p:nvPr/>
        </p:nvSpPr>
        <p:spPr bwMode="auto">
          <a:xfrm>
            <a:off x="5266282" y="2132856"/>
            <a:ext cx="5357850" cy="142876"/>
          </a:xfrm>
          <a:prstGeom prst="rightArrow">
            <a:avLst/>
          </a:prstGeom>
          <a:ln>
            <a:headEnd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9" name="右箭头 23">
            <a:extLst>
              <a:ext uri="{FF2B5EF4-FFF2-40B4-BE49-F238E27FC236}">
                <a16:creationId xmlns:a16="http://schemas.microsoft.com/office/drawing/2014/main" id="{2706D004-E3F9-8AF8-BD14-E537CC3C9704}"/>
              </a:ext>
            </a:extLst>
          </p:cNvPr>
          <p:cNvSpPr/>
          <p:nvPr/>
        </p:nvSpPr>
        <p:spPr bwMode="auto">
          <a:xfrm>
            <a:off x="5266282" y="3132988"/>
            <a:ext cx="5357850" cy="142876"/>
          </a:xfrm>
          <a:prstGeom prst="rightArrow">
            <a:avLst/>
          </a:prstGeom>
          <a:ln>
            <a:headEnd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右箭头 24">
            <a:extLst>
              <a:ext uri="{FF2B5EF4-FFF2-40B4-BE49-F238E27FC236}">
                <a16:creationId xmlns:a16="http://schemas.microsoft.com/office/drawing/2014/main" id="{E04B2E6E-C293-A3E5-0970-5009C7577E62}"/>
              </a:ext>
            </a:extLst>
          </p:cNvPr>
          <p:cNvSpPr/>
          <p:nvPr/>
        </p:nvSpPr>
        <p:spPr bwMode="auto">
          <a:xfrm>
            <a:off x="5337720" y="4275996"/>
            <a:ext cx="5357850" cy="142876"/>
          </a:xfrm>
          <a:prstGeom prst="rightArrow">
            <a:avLst/>
          </a:prstGeom>
          <a:ln>
            <a:headEnd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01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7" grpId="0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97E68-22D3-A367-1433-80E732304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Box 10">
            <a:extLst>
              <a:ext uri="{FF2B5EF4-FFF2-40B4-BE49-F238E27FC236}">
                <a16:creationId xmlns:a16="http://schemas.microsoft.com/office/drawing/2014/main" id="{42E44FF6-9707-D476-6A2E-623D304C6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147" y="570458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129" name="Text Box 11">
            <a:extLst>
              <a:ext uri="{FF2B5EF4-FFF2-40B4-BE49-F238E27FC236}">
                <a16:creationId xmlns:a16="http://schemas.microsoft.com/office/drawing/2014/main" id="{A7EC56EF-0F30-870D-FB86-9CE8A70B5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922" y="570458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30" name="Text Box 12">
            <a:extLst>
              <a:ext uri="{FF2B5EF4-FFF2-40B4-BE49-F238E27FC236}">
                <a16:creationId xmlns:a16="http://schemas.microsoft.com/office/drawing/2014/main" id="{A3DF0C6B-B1A4-3E2C-F509-7B65D3C4E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285" y="570458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sp>
        <p:nvSpPr>
          <p:cNvPr id="131" name="Text Box 13">
            <a:extLst>
              <a:ext uri="{FF2B5EF4-FFF2-40B4-BE49-F238E27FC236}">
                <a16:creationId xmlns:a16="http://schemas.microsoft.com/office/drawing/2014/main" id="{14780363-09BC-07DC-318C-32B3DFCA7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747" y="570458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132" name="Text Box 14">
            <a:extLst>
              <a:ext uri="{FF2B5EF4-FFF2-40B4-BE49-F238E27FC236}">
                <a16:creationId xmlns:a16="http://schemas.microsoft.com/office/drawing/2014/main" id="{E2ED750C-B246-E2E5-850C-5C47C67E0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0522" y="570458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33" name="Text Box 15">
            <a:extLst>
              <a:ext uri="{FF2B5EF4-FFF2-40B4-BE49-F238E27FC236}">
                <a16:creationId xmlns:a16="http://schemas.microsoft.com/office/drawing/2014/main" id="{BF666CE1-795C-9F96-3220-E8A1464DD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885" y="570458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134" name="Rectangle 4">
            <a:extLst>
              <a:ext uri="{FF2B5EF4-FFF2-40B4-BE49-F238E27FC236}">
                <a16:creationId xmlns:a16="http://schemas.microsoft.com/office/drawing/2014/main" id="{5DBEFF20-F990-807D-A07C-10D06F72D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85" y="8371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35" name="Rectangle 5">
            <a:extLst>
              <a:ext uri="{FF2B5EF4-FFF2-40B4-BE49-F238E27FC236}">
                <a16:creationId xmlns:a16="http://schemas.microsoft.com/office/drawing/2014/main" id="{1CB57DA0-E1F3-68E8-A39F-4CE89099E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948" y="8371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6" name="Rectangle 6">
            <a:extLst>
              <a:ext uri="{FF2B5EF4-FFF2-40B4-BE49-F238E27FC236}">
                <a16:creationId xmlns:a16="http://schemas.microsoft.com/office/drawing/2014/main" id="{07AE5A7B-2B7F-DBE9-5628-167769DBE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310" y="8371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7" name="Rectangle 7">
            <a:extLst>
              <a:ext uri="{FF2B5EF4-FFF2-40B4-BE49-F238E27FC236}">
                <a16:creationId xmlns:a16="http://schemas.microsoft.com/office/drawing/2014/main" id="{881115D2-5A81-7A85-6459-B52019CDF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73" y="8371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8" name="Rectangle 8">
            <a:extLst>
              <a:ext uri="{FF2B5EF4-FFF2-40B4-BE49-F238E27FC236}">
                <a16:creationId xmlns:a16="http://schemas.microsoft.com/office/drawing/2014/main" id="{F6BA2582-3758-3156-D9C1-32DD28AC8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48" y="8371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9" name="Rectangle 9">
            <a:extLst>
              <a:ext uri="{FF2B5EF4-FFF2-40B4-BE49-F238E27FC236}">
                <a16:creationId xmlns:a16="http://schemas.microsoft.com/office/drawing/2014/main" id="{42C42C6A-4E92-F59D-CC1F-B13AA00BF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810" y="8371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0" name="Text Box 16">
            <a:extLst>
              <a:ext uri="{FF2B5EF4-FFF2-40B4-BE49-F238E27FC236}">
                <a16:creationId xmlns:a16="http://schemas.microsoft.com/office/drawing/2014/main" id="{6397B80F-7FDF-D7BE-E564-C0901EA9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60" y="860971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141" name="Rectangle 17">
            <a:extLst>
              <a:ext uri="{FF2B5EF4-FFF2-40B4-BE49-F238E27FC236}">
                <a16:creationId xmlns:a16="http://schemas.microsoft.com/office/drawing/2014/main" id="{D8AC4345-471E-C451-3A6D-398D7F2BB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85" y="11975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2" name="Rectangle 18">
            <a:extLst>
              <a:ext uri="{FF2B5EF4-FFF2-40B4-BE49-F238E27FC236}">
                <a16:creationId xmlns:a16="http://schemas.microsoft.com/office/drawing/2014/main" id="{FB053DE1-44BA-4991-496D-8230C31B6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948" y="11975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dirty="0">
                <a:solidFill>
                  <a:srgbClr val="008000"/>
                </a:solidFill>
                <a:latin typeface="Consolas" pitchFamily="49" charset="0"/>
                <a:cs typeface="Consolas" pitchFamily="49" charset="0"/>
                <a:sym typeface="Wingdings"/>
              </a:rPr>
              <a:t></a:t>
            </a:r>
            <a:endParaRPr lang="zh-CN" altLang="zh-CN" dirty="0">
              <a:solidFill>
                <a:srgbClr val="008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3" name="Rectangle 19">
            <a:extLst>
              <a:ext uri="{FF2B5EF4-FFF2-40B4-BE49-F238E27FC236}">
                <a16:creationId xmlns:a16="http://schemas.microsoft.com/office/drawing/2014/main" id="{E74C1D48-D6D1-D3BC-73DC-EE9E3F4DE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310" y="11975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4" name="Rectangle 20">
            <a:extLst>
              <a:ext uri="{FF2B5EF4-FFF2-40B4-BE49-F238E27FC236}">
                <a16:creationId xmlns:a16="http://schemas.microsoft.com/office/drawing/2014/main" id="{93163E95-B631-B438-D1E8-91C176A10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73" y="11975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5" name="Rectangle 21">
            <a:extLst>
              <a:ext uri="{FF2B5EF4-FFF2-40B4-BE49-F238E27FC236}">
                <a16:creationId xmlns:a16="http://schemas.microsoft.com/office/drawing/2014/main" id="{2ADCAC58-E4A9-2A66-0BCD-034F8D109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48" y="11975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6" name="Rectangle 22">
            <a:extLst>
              <a:ext uri="{FF2B5EF4-FFF2-40B4-BE49-F238E27FC236}">
                <a16:creationId xmlns:a16="http://schemas.microsoft.com/office/drawing/2014/main" id="{2DA2F4FF-28B6-45DA-1F0D-5B4C69E90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810" y="11975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7" name="Text Box 23">
            <a:extLst>
              <a:ext uri="{FF2B5EF4-FFF2-40B4-BE49-F238E27FC236}">
                <a16:creationId xmlns:a16="http://schemas.microsoft.com/office/drawing/2014/main" id="{098FE636-9723-A9DE-464F-CB1C52CF8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60" y="1221334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48" name="Rectangle 24">
            <a:extLst>
              <a:ext uri="{FF2B5EF4-FFF2-40B4-BE49-F238E27FC236}">
                <a16:creationId xmlns:a16="http://schemas.microsoft.com/office/drawing/2014/main" id="{91FE020A-078F-0D34-5CD2-7E781EDEF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85" y="15578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9" name="Rectangle 25">
            <a:extLst>
              <a:ext uri="{FF2B5EF4-FFF2-40B4-BE49-F238E27FC236}">
                <a16:creationId xmlns:a16="http://schemas.microsoft.com/office/drawing/2014/main" id="{1E4C3BEF-6C4C-B5BF-5017-2B0EA84DF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948" y="15578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0" name="Rectangle 26">
            <a:extLst>
              <a:ext uri="{FF2B5EF4-FFF2-40B4-BE49-F238E27FC236}">
                <a16:creationId xmlns:a16="http://schemas.microsoft.com/office/drawing/2014/main" id="{CC3332B4-C774-EB22-A3E3-975278CFD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310" y="15578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1" name="Rectangle 27">
            <a:extLst>
              <a:ext uri="{FF2B5EF4-FFF2-40B4-BE49-F238E27FC236}">
                <a16:creationId xmlns:a16="http://schemas.microsoft.com/office/drawing/2014/main" id="{11ABACC6-16C8-D196-2CDA-CE64C8E5C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73" y="15578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2" name="Rectangle 28">
            <a:extLst>
              <a:ext uri="{FF2B5EF4-FFF2-40B4-BE49-F238E27FC236}">
                <a16:creationId xmlns:a16="http://schemas.microsoft.com/office/drawing/2014/main" id="{85F78C51-CFC1-9CD7-D965-E036D9959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48" y="15578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3" name="Rectangle 29">
            <a:extLst>
              <a:ext uri="{FF2B5EF4-FFF2-40B4-BE49-F238E27FC236}">
                <a16:creationId xmlns:a16="http://schemas.microsoft.com/office/drawing/2014/main" id="{F889360F-A10E-AF38-4AA3-0CB8421D1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810" y="15578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4" name="Text Box 30">
            <a:extLst>
              <a:ext uri="{FF2B5EF4-FFF2-40B4-BE49-F238E27FC236}">
                <a16:creationId xmlns:a16="http://schemas.microsoft.com/office/drawing/2014/main" id="{EB0A3C95-A3D9-9314-F2B6-FFA7E5153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60" y="1581696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sp>
        <p:nvSpPr>
          <p:cNvPr id="155" name="Rectangle 31">
            <a:extLst>
              <a:ext uri="{FF2B5EF4-FFF2-40B4-BE49-F238E27FC236}">
                <a16:creationId xmlns:a16="http://schemas.microsoft.com/office/drawing/2014/main" id="{E4D8A474-9B85-5422-A240-E7046EEFD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85" y="19166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6" name="Rectangle 32">
            <a:extLst>
              <a:ext uri="{FF2B5EF4-FFF2-40B4-BE49-F238E27FC236}">
                <a16:creationId xmlns:a16="http://schemas.microsoft.com/office/drawing/2014/main" id="{25C8FAE3-9B60-B0E6-D97E-F300962C6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948" y="19166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7" name="Rectangle 33">
            <a:extLst>
              <a:ext uri="{FF2B5EF4-FFF2-40B4-BE49-F238E27FC236}">
                <a16:creationId xmlns:a16="http://schemas.microsoft.com/office/drawing/2014/main" id="{E76A95CD-6F31-4034-BADA-3AF1FF3BE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310" y="19166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8" name="Rectangle 34">
            <a:extLst>
              <a:ext uri="{FF2B5EF4-FFF2-40B4-BE49-F238E27FC236}">
                <a16:creationId xmlns:a16="http://schemas.microsoft.com/office/drawing/2014/main" id="{0F47D623-F6E5-2DE8-704B-4D2EE4D05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73" y="19166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9" name="Rectangle 35">
            <a:extLst>
              <a:ext uri="{FF2B5EF4-FFF2-40B4-BE49-F238E27FC236}">
                <a16:creationId xmlns:a16="http://schemas.microsoft.com/office/drawing/2014/main" id="{F8FD2867-EC83-C5BA-1BD7-A7E6BCD2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48" y="19166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0" name="Rectangle 36">
            <a:extLst>
              <a:ext uri="{FF2B5EF4-FFF2-40B4-BE49-F238E27FC236}">
                <a16:creationId xmlns:a16="http://schemas.microsoft.com/office/drawing/2014/main" id="{773237D0-9DC5-99C6-B4E6-FBA2CC76A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810" y="19166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1" name="Text Box 37">
            <a:extLst>
              <a:ext uri="{FF2B5EF4-FFF2-40B4-BE49-F238E27FC236}">
                <a16:creationId xmlns:a16="http://schemas.microsoft.com/office/drawing/2014/main" id="{78C7C526-BE07-6AD4-B9C6-EF0B7216A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60" y="1940471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162" name="Rectangle 38">
            <a:extLst>
              <a:ext uri="{FF2B5EF4-FFF2-40B4-BE49-F238E27FC236}">
                <a16:creationId xmlns:a16="http://schemas.microsoft.com/office/drawing/2014/main" id="{2C6B4849-ADDA-0DB8-EAAA-7B593CB2A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85" y="22770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3" name="Rectangle 39">
            <a:extLst>
              <a:ext uri="{FF2B5EF4-FFF2-40B4-BE49-F238E27FC236}">
                <a16:creationId xmlns:a16="http://schemas.microsoft.com/office/drawing/2014/main" id="{83A1579A-5713-3043-A9F2-A8E598F31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948" y="22770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4" name="Rectangle 40">
            <a:extLst>
              <a:ext uri="{FF2B5EF4-FFF2-40B4-BE49-F238E27FC236}">
                <a16:creationId xmlns:a16="http://schemas.microsoft.com/office/drawing/2014/main" id="{D1090F46-E0FB-2B07-ACD2-6D6EE44C8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310" y="22770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5" name="Rectangle 41">
            <a:extLst>
              <a:ext uri="{FF2B5EF4-FFF2-40B4-BE49-F238E27FC236}">
                <a16:creationId xmlns:a16="http://schemas.microsoft.com/office/drawing/2014/main" id="{17EC24AC-0C70-0209-28BC-430EA9D95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73" y="22770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6" name="Rectangle 42">
            <a:extLst>
              <a:ext uri="{FF2B5EF4-FFF2-40B4-BE49-F238E27FC236}">
                <a16:creationId xmlns:a16="http://schemas.microsoft.com/office/drawing/2014/main" id="{BE95F8C3-F0C5-E677-84CF-F25E7F791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48" y="2277021"/>
            <a:ext cx="369878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  <a:sym typeface="Wingdings"/>
              </a:rPr>
              <a:t></a:t>
            </a:r>
            <a:endParaRPr lang="zh-CN" altLang="zh-CN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7" name="Rectangle 43">
            <a:extLst>
              <a:ext uri="{FF2B5EF4-FFF2-40B4-BE49-F238E27FC236}">
                <a16:creationId xmlns:a16="http://schemas.microsoft.com/office/drawing/2014/main" id="{289D6232-B3E2-182E-2620-EB7DC1DB1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810" y="22770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8" name="Text Box 44">
            <a:extLst>
              <a:ext uri="{FF2B5EF4-FFF2-40B4-BE49-F238E27FC236}">
                <a16:creationId xmlns:a16="http://schemas.microsoft.com/office/drawing/2014/main" id="{2C4AEDD5-060B-D3A3-2529-8D077B895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60" y="2300834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69" name="Rectangle 45">
            <a:extLst>
              <a:ext uri="{FF2B5EF4-FFF2-40B4-BE49-F238E27FC236}">
                <a16:creationId xmlns:a16="http://schemas.microsoft.com/office/drawing/2014/main" id="{2D4159DC-95D9-9877-AED1-FFEDC7AB4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85" y="26373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0" name="Rectangle 46">
            <a:extLst>
              <a:ext uri="{FF2B5EF4-FFF2-40B4-BE49-F238E27FC236}">
                <a16:creationId xmlns:a16="http://schemas.microsoft.com/office/drawing/2014/main" id="{F29AF694-29FC-C258-B79E-764E64EF3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948" y="26373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1" name="Rectangle 47">
            <a:extLst>
              <a:ext uri="{FF2B5EF4-FFF2-40B4-BE49-F238E27FC236}">
                <a16:creationId xmlns:a16="http://schemas.microsoft.com/office/drawing/2014/main" id="{791BE897-2FDB-42AD-5726-828A3B3E8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310" y="26373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2" name="Rectangle 48">
            <a:extLst>
              <a:ext uri="{FF2B5EF4-FFF2-40B4-BE49-F238E27FC236}">
                <a16:creationId xmlns:a16="http://schemas.microsoft.com/office/drawing/2014/main" id="{06D21430-F935-B3EB-FB0C-BA179B95A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73" y="26373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3" name="Rectangle 49">
            <a:extLst>
              <a:ext uri="{FF2B5EF4-FFF2-40B4-BE49-F238E27FC236}">
                <a16:creationId xmlns:a16="http://schemas.microsoft.com/office/drawing/2014/main" id="{9E9A1554-F7C3-6673-7EA9-334DFDA09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48" y="26373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4" name="Rectangle 50">
            <a:extLst>
              <a:ext uri="{FF2B5EF4-FFF2-40B4-BE49-F238E27FC236}">
                <a16:creationId xmlns:a16="http://schemas.microsoft.com/office/drawing/2014/main" id="{5CCD6378-0805-CE38-6B2B-0CF83C639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810" y="26373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5" name="Text Box 51">
            <a:extLst>
              <a:ext uri="{FF2B5EF4-FFF2-40B4-BE49-F238E27FC236}">
                <a16:creationId xmlns:a16="http://schemas.microsoft.com/office/drawing/2014/main" id="{02E6B1A8-162C-9868-69E3-A50AFA526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60" y="2661196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176" name="Text Box 52">
            <a:extLst>
              <a:ext uri="{FF2B5EF4-FFF2-40B4-BE49-F238E27FC236}">
                <a16:creationId xmlns:a16="http://schemas.microsoft.com/office/drawing/2014/main" id="{0B67E749-AD31-9C89-8787-4B73F6C5C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872" y="692696"/>
            <a:ext cx="4573617" cy="203132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mg[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M+2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][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N+2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]=     //M=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4,N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=4</a:t>
            </a:r>
          </a:p>
          <a:p>
            <a:pPr algn="l"/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{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{1, 1, 1, 1, 1, 1},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{1, 0, 0, 0, 1, 1},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{1, 0, 1, 0, 0, 1},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{1, 0, 0, 0, 1, 1},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{1, 1, 0, 0, 0, 1},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{1, 1, 1, 1, 1, 1}  };</a:t>
            </a:r>
          </a:p>
        </p:txBody>
      </p:sp>
      <p:sp>
        <p:nvSpPr>
          <p:cNvPr id="177" name="Line 54">
            <a:extLst>
              <a:ext uri="{FF2B5EF4-FFF2-40B4-BE49-F238E27FC236}">
                <a16:creationId xmlns:a16="http://schemas.microsoft.com/office/drawing/2014/main" id="{6CA38681-10A8-96FF-F22B-EF29AAB396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8730" y="3340646"/>
            <a:ext cx="647700" cy="0"/>
          </a:xfrm>
          <a:prstGeom prst="line">
            <a:avLst/>
          </a:prstGeom>
          <a:noFill/>
          <a:ln w="28575">
            <a:solidFill>
              <a:srgbClr val="00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8" name="Text Box 53">
            <a:extLst>
              <a:ext uri="{FF2B5EF4-FFF2-40B4-BE49-F238E27FC236}">
                <a16:creationId xmlns:a16="http://schemas.microsoft.com/office/drawing/2014/main" id="{CF495A55-C559-9892-C918-83DD369DD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5004" y="3151733"/>
            <a:ext cx="148751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008000"/>
                </a:solidFill>
                <a:latin typeface="Consolas" pitchFamily="49" charset="0"/>
                <a:cs typeface="Consolas" pitchFamily="49" charset="0"/>
              </a:rPr>
              <a:t>0:(1,1) -1</a:t>
            </a:r>
          </a:p>
        </p:txBody>
      </p:sp>
      <p:sp>
        <p:nvSpPr>
          <p:cNvPr id="179" name="Text Box 56">
            <a:extLst>
              <a:ext uri="{FF2B5EF4-FFF2-40B4-BE49-F238E27FC236}">
                <a16:creationId xmlns:a16="http://schemas.microsoft.com/office/drawing/2014/main" id="{5F0B2A16-076A-3CA2-1B7D-118F6AA68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830" y="3129508"/>
            <a:ext cx="115252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仿宋" pitchFamily="49" charset="-122"/>
                <a:ea typeface="仿宋" pitchFamily="49" charset="-122"/>
                <a:cs typeface="Consolas" pitchFamily="49" charset="0"/>
              </a:rPr>
              <a:t>入口</a:t>
            </a:r>
          </a:p>
        </p:txBody>
      </p:sp>
      <p:sp>
        <p:nvSpPr>
          <p:cNvPr id="180" name="Text Box 58">
            <a:extLst>
              <a:ext uri="{FF2B5EF4-FFF2-40B4-BE49-F238E27FC236}">
                <a16:creationId xmlns:a16="http://schemas.microsoft.com/office/drawing/2014/main" id="{C5C71D50-0A53-902D-35DF-D4B6C39B1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136" y="3799433"/>
            <a:ext cx="1409729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2:(2,1) 0</a:t>
            </a:r>
          </a:p>
        </p:txBody>
      </p:sp>
      <p:sp>
        <p:nvSpPr>
          <p:cNvPr id="181" name="Text Box 57">
            <a:extLst>
              <a:ext uri="{FF2B5EF4-FFF2-40B4-BE49-F238E27FC236}">
                <a16:creationId xmlns:a16="http://schemas.microsoft.com/office/drawing/2014/main" id="{162CDA3E-90A1-CF51-C29F-27279FE72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191" y="3799433"/>
            <a:ext cx="1424003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1:(1,2) 0</a:t>
            </a:r>
          </a:p>
        </p:txBody>
      </p:sp>
      <p:sp>
        <p:nvSpPr>
          <p:cNvPr id="182" name="Line 59">
            <a:extLst>
              <a:ext uri="{FF2B5EF4-FFF2-40B4-BE49-F238E27FC236}">
                <a16:creationId xmlns:a16="http://schemas.microsoft.com/office/drawing/2014/main" id="{72A92170-A625-EB31-B9ED-7813E6C4DA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9105" y="3512096"/>
            <a:ext cx="360362" cy="360363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3" name="Line 60">
            <a:extLst>
              <a:ext uri="{FF2B5EF4-FFF2-40B4-BE49-F238E27FC236}">
                <a16:creationId xmlns:a16="http://schemas.microsoft.com/office/drawing/2014/main" id="{A972B26D-DBB7-CAED-4CD0-ECB8E351D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5730" y="3512096"/>
            <a:ext cx="287337" cy="360363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4" name="Text Box 61">
            <a:extLst>
              <a:ext uri="{FF2B5EF4-FFF2-40B4-BE49-F238E27FC236}">
                <a16:creationId xmlns:a16="http://schemas.microsoft.com/office/drawing/2014/main" id="{FC3C1C3A-1025-B2B1-7F71-41A388177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603" y="4375696"/>
            <a:ext cx="142559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3:(1,3) 1</a:t>
            </a:r>
          </a:p>
        </p:txBody>
      </p:sp>
      <p:sp>
        <p:nvSpPr>
          <p:cNvPr id="185" name="Line 62">
            <a:extLst>
              <a:ext uri="{FF2B5EF4-FFF2-40B4-BE49-F238E27FC236}">
                <a16:creationId xmlns:a16="http://schemas.microsoft.com/office/drawing/2014/main" id="{3B6EFA43-5AE4-4918-43C7-FF7C575AE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7305" y="4159796"/>
            <a:ext cx="0" cy="288925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6" name="Text Box 64">
            <a:extLst>
              <a:ext uri="{FF2B5EF4-FFF2-40B4-BE49-F238E27FC236}">
                <a16:creationId xmlns:a16="http://schemas.microsoft.com/office/drawing/2014/main" id="{E0735C5E-FDC5-2579-C249-957ACB4AA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191" y="4947196"/>
            <a:ext cx="149544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5:(2,3) 3</a:t>
            </a:r>
          </a:p>
        </p:txBody>
      </p:sp>
      <p:sp>
        <p:nvSpPr>
          <p:cNvPr id="187" name="Line 67">
            <a:extLst>
              <a:ext uri="{FF2B5EF4-FFF2-40B4-BE49-F238E27FC236}">
                <a16:creationId xmlns:a16="http://schemas.microsoft.com/office/drawing/2014/main" id="{4AD3EF5B-AA8F-4975-98C2-04B9CA4BB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7305" y="4731296"/>
            <a:ext cx="0" cy="288925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8" name="Text Box 63">
            <a:extLst>
              <a:ext uri="{FF2B5EF4-FFF2-40B4-BE49-F238E27FC236}">
                <a16:creationId xmlns:a16="http://schemas.microsoft.com/office/drawing/2014/main" id="{59790A96-4163-0C0B-AC6C-D14AAA643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136" y="4375696"/>
            <a:ext cx="1409729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4:(3,1) 2</a:t>
            </a:r>
          </a:p>
        </p:txBody>
      </p:sp>
      <p:sp>
        <p:nvSpPr>
          <p:cNvPr id="189" name="Line 68">
            <a:extLst>
              <a:ext uri="{FF2B5EF4-FFF2-40B4-BE49-F238E27FC236}">
                <a16:creationId xmlns:a16="http://schemas.microsoft.com/office/drawing/2014/main" id="{BD1030E1-1945-70BB-2240-5D525093C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1992" y="4159796"/>
            <a:ext cx="0" cy="288925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0" name="Text Box 65">
            <a:extLst>
              <a:ext uri="{FF2B5EF4-FFF2-40B4-BE49-F238E27FC236}">
                <a16:creationId xmlns:a16="http://schemas.microsoft.com/office/drawing/2014/main" id="{B6474E92-1386-02E9-1087-5D360C4E2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136" y="4940846"/>
            <a:ext cx="1409729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6:(3,2) 4</a:t>
            </a:r>
          </a:p>
        </p:txBody>
      </p:sp>
      <p:sp>
        <p:nvSpPr>
          <p:cNvPr id="191" name="Line 69">
            <a:extLst>
              <a:ext uri="{FF2B5EF4-FFF2-40B4-BE49-F238E27FC236}">
                <a16:creationId xmlns:a16="http://schemas.microsoft.com/office/drawing/2014/main" id="{3985B688-E692-5EFA-B7FD-E8420205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1992" y="4736058"/>
            <a:ext cx="0" cy="288925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2" name="Text Box 66">
            <a:extLst>
              <a:ext uri="{FF2B5EF4-FFF2-40B4-BE49-F238E27FC236}">
                <a16:creationId xmlns:a16="http://schemas.microsoft.com/office/drawing/2014/main" id="{6D0F4F0F-32B3-C131-CB04-ABB2D82BB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780" y="5521871"/>
            <a:ext cx="1358910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>
                <a:latin typeface="Consolas" pitchFamily="49" charset="0"/>
                <a:cs typeface="Consolas" pitchFamily="49" charset="0"/>
              </a:rPr>
              <a:t>7:(2,4) 5</a:t>
            </a:r>
          </a:p>
        </p:txBody>
      </p:sp>
      <p:sp>
        <p:nvSpPr>
          <p:cNvPr id="193" name="Text Box 70">
            <a:extLst>
              <a:ext uri="{FF2B5EF4-FFF2-40B4-BE49-F238E27FC236}">
                <a16:creationId xmlns:a16="http://schemas.microsoft.com/office/drawing/2014/main" id="{4F03850B-DA75-1FE2-D61A-A5E96B3BA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252" y="5502821"/>
            <a:ext cx="1347808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8:(3,3) 5</a:t>
            </a:r>
          </a:p>
        </p:txBody>
      </p:sp>
      <p:sp>
        <p:nvSpPr>
          <p:cNvPr id="194" name="Line 71">
            <a:extLst>
              <a:ext uri="{FF2B5EF4-FFF2-40B4-BE49-F238E27FC236}">
                <a16:creationId xmlns:a16="http://schemas.microsoft.com/office/drawing/2014/main" id="{DA75884E-8123-E277-971A-483CCD0828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5505" y="5312321"/>
            <a:ext cx="288925" cy="287338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5" name="Freeform 72">
            <a:extLst>
              <a:ext uri="{FF2B5EF4-FFF2-40B4-BE49-F238E27FC236}">
                <a16:creationId xmlns:a16="http://schemas.microsoft.com/office/drawing/2014/main" id="{69A46151-9271-E8B0-8797-C35D5EA568CA}"/>
              </a:ext>
            </a:extLst>
          </p:cNvPr>
          <p:cNvSpPr>
            <a:spLocks/>
          </p:cNvSpPr>
          <p:nvPr/>
        </p:nvSpPr>
        <p:spPr bwMode="auto">
          <a:xfrm>
            <a:off x="2383205" y="5312321"/>
            <a:ext cx="268287" cy="2444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69" y="154"/>
              </a:cxn>
            </a:cxnLst>
            <a:rect l="0" t="0" r="r" b="b"/>
            <a:pathLst>
              <a:path w="169" h="154">
                <a:moveTo>
                  <a:pt x="0" y="0"/>
                </a:moveTo>
                <a:lnTo>
                  <a:pt x="169" y="154"/>
                </a:lnTo>
              </a:path>
            </a:pathLst>
          </a:custGeom>
          <a:noFill/>
          <a:ln w="28575" cap="flat" cmpd="sng">
            <a:solidFill>
              <a:srgbClr val="CC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6" name="Text Box 73">
            <a:extLst>
              <a:ext uri="{FF2B5EF4-FFF2-40B4-BE49-F238E27FC236}">
                <a16:creationId xmlns:a16="http://schemas.microsoft.com/office/drawing/2014/main" id="{5309BAA7-9A17-1559-14D7-E49B18528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136" y="5477421"/>
            <a:ext cx="1481167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>
                <a:latin typeface="Consolas" pitchFamily="49" charset="0"/>
                <a:cs typeface="Consolas" pitchFamily="49" charset="0"/>
              </a:rPr>
              <a:t>9:(4,2) 6</a:t>
            </a:r>
          </a:p>
        </p:txBody>
      </p:sp>
      <p:sp>
        <p:nvSpPr>
          <p:cNvPr id="197" name="Line 74">
            <a:extLst>
              <a:ext uri="{FF2B5EF4-FFF2-40B4-BE49-F238E27FC236}">
                <a16:creationId xmlns:a16="http://schemas.microsoft.com/office/drawing/2014/main" id="{EF0204DE-8E96-2263-6E90-80534060D8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9455" y="5286921"/>
            <a:ext cx="0" cy="287338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8" name="Line 75">
            <a:extLst>
              <a:ext uri="{FF2B5EF4-FFF2-40B4-BE49-F238E27FC236}">
                <a16:creationId xmlns:a16="http://schemas.microsoft.com/office/drawing/2014/main" id="{C9C686C3-97C6-F354-8CA4-B4A13A4BF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8030" y="5842546"/>
            <a:ext cx="0" cy="287338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9" name="Text Box 76">
            <a:extLst>
              <a:ext uri="{FF2B5EF4-FFF2-40B4-BE49-F238E27FC236}">
                <a16:creationId xmlns:a16="http://schemas.microsoft.com/office/drawing/2014/main" id="{46BE946D-C2CF-142B-7354-70076B5AA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6230" y="6058446"/>
            <a:ext cx="1560534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10:(4,3) 8</a:t>
            </a:r>
          </a:p>
        </p:txBody>
      </p:sp>
      <p:sp>
        <p:nvSpPr>
          <p:cNvPr id="200" name="Line 77">
            <a:extLst>
              <a:ext uri="{FF2B5EF4-FFF2-40B4-BE49-F238E27FC236}">
                <a16:creationId xmlns:a16="http://schemas.microsoft.com/office/drawing/2014/main" id="{E8A2DDA0-D687-9D32-2F40-F86A2D9964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8030" y="6372771"/>
            <a:ext cx="0" cy="287338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1" name="Text Box 78">
            <a:extLst>
              <a:ext uri="{FF2B5EF4-FFF2-40B4-BE49-F238E27FC236}">
                <a16:creationId xmlns:a16="http://schemas.microsoft.com/office/drawing/2014/main" id="{F9D40526-90FC-66BA-5C6D-724765DA7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9230" y="6588671"/>
            <a:ext cx="1616096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11:(4,4) 10</a:t>
            </a:r>
          </a:p>
        </p:txBody>
      </p:sp>
      <p:sp>
        <p:nvSpPr>
          <p:cNvPr id="202" name="Text Box 81">
            <a:extLst>
              <a:ext uri="{FF2B5EF4-FFF2-40B4-BE49-F238E27FC236}">
                <a16:creationId xmlns:a16="http://schemas.microsoft.com/office/drawing/2014/main" id="{4000192D-20A4-FEF0-F6DC-7A60F849A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930" y="6587083"/>
            <a:ext cx="115252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出口</a:t>
            </a:r>
          </a:p>
        </p:txBody>
      </p:sp>
      <p:sp>
        <p:nvSpPr>
          <p:cNvPr id="203" name="Line 82">
            <a:extLst>
              <a:ext uri="{FF2B5EF4-FFF2-40B4-BE49-F238E27FC236}">
                <a16:creationId xmlns:a16="http://schemas.microsoft.com/office/drawing/2014/main" id="{226BBBE2-9E59-1E3E-3CD0-039ACD710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7592" y="6790283"/>
            <a:ext cx="431800" cy="0"/>
          </a:xfrm>
          <a:prstGeom prst="line">
            <a:avLst/>
          </a:prstGeom>
          <a:noFill/>
          <a:ln w="28575">
            <a:solidFill>
              <a:srgbClr val="00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4" name="Text Box 83">
            <a:extLst>
              <a:ext uri="{FF2B5EF4-FFF2-40B4-BE49-F238E27FC236}">
                <a16:creationId xmlns:a16="http://schemas.microsoft.com/office/drawing/2014/main" id="{B085E03C-3AB8-56C0-F28C-2B40E4790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834" y="3383508"/>
            <a:ext cx="1441450" cy="35972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仿宋" pitchFamily="49" charset="-122"/>
                <a:ea typeface="仿宋" pitchFamily="49" charset="-122"/>
                <a:cs typeface="Consolas" pitchFamily="49" charset="0"/>
              </a:rPr>
              <a:t>迷宫路径</a:t>
            </a:r>
            <a:r>
              <a:rPr lang="en-US" altLang="zh-CN" sz="2000" dirty="0">
                <a:latin typeface="仿宋" pitchFamily="49" charset="-122"/>
                <a:ea typeface="仿宋" pitchFamily="49" charset="-122"/>
                <a:cs typeface="Consolas" pitchFamily="49" charset="0"/>
              </a:rPr>
              <a:t>: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(4,4)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(4,3)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(3,3)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(2,3)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(1,3)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(1,2)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(1,1)</a:t>
            </a:r>
          </a:p>
        </p:txBody>
      </p:sp>
      <p:grpSp>
        <p:nvGrpSpPr>
          <p:cNvPr id="205" name="组合 140">
            <a:extLst>
              <a:ext uri="{FF2B5EF4-FFF2-40B4-BE49-F238E27FC236}">
                <a16:creationId xmlns:a16="http://schemas.microsoft.com/office/drawing/2014/main" id="{316D964A-62EF-37C7-84F7-BCB1596182EB}"/>
              </a:ext>
            </a:extLst>
          </p:cNvPr>
          <p:cNvGrpSpPr/>
          <p:nvPr/>
        </p:nvGrpSpPr>
        <p:grpSpPr>
          <a:xfrm>
            <a:off x="6656799" y="4175671"/>
            <a:ext cx="2503502" cy="1998677"/>
            <a:chOff x="6069026" y="3573463"/>
            <a:chExt cx="2681275" cy="2160587"/>
          </a:xfrm>
        </p:grpSpPr>
        <p:sp>
          <p:nvSpPr>
            <p:cNvPr id="206" name="Rectangle 108">
              <a:extLst>
                <a:ext uri="{FF2B5EF4-FFF2-40B4-BE49-F238E27FC236}">
                  <a16:creationId xmlns:a16="http://schemas.microsoft.com/office/drawing/2014/main" id="{C3F581D6-CB96-BB65-F56E-3F02804B7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4652962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07" name="Rectangle 96">
              <a:extLst>
                <a:ext uri="{FF2B5EF4-FFF2-40B4-BE49-F238E27FC236}">
                  <a16:creationId xmlns:a16="http://schemas.microsoft.com/office/drawing/2014/main" id="{C1397A9A-B11E-7CD2-7F50-F6970B18A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39338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08" name="Rectangle 110">
              <a:extLst>
                <a:ext uri="{FF2B5EF4-FFF2-40B4-BE49-F238E27FC236}">
                  <a16:creationId xmlns:a16="http://schemas.microsoft.com/office/drawing/2014/main" id="{5AC4FF93-FE34-5160-B3BB-D45B38194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46529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09" name="Rectangle 103">
              <a:extLst>
                <a:ext uri="{FF2B5EF4-FFF2-40B4-BE49-F238E27FC236}">
                  <a16:creationId xmlns:a16="http://schemas.microsoft.com/office/drawing/2014/main" id="{E822B10A-6463-2414-BBBE-CA7B7FA09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42941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0" name="AutoShape 84">
              <a:extLst>
                <a:ext uri="{FF2B5EF4-FFF2-40B4-BE49-F238E27FC236}">
                  <a16:creationId xmlns:a16="http://schemas.microsoft.com/office/drawing/2014/main" id="{7AE56D56-16F0-56CF-8B2A-27744C48B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9026" y="4437063"/>
              <a:ext cx="431800" cy="360362"/>
            </a:xfrm>
            <a:prstGeom prst="rightArrow">
              <a:avLst>
                <a:gd name="adj1" fmla="val 50000"/>
                <a:gd name="adj2" fmla="val 29956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" name="Rectangle 85">
              <a:extLst>
                <a:ext uri="{FF2B5EF4-FFF2-40B4-BE49-F238E27FC236}">
                  <a16:creationId xmlns:a16="http://schemas.microsoft.com/office/drawing/2014/main" id="{289F8378-253C-99A6-F35E-93DD980DC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9713" y="35734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2" name="Rectangle 86">
              <a:extLst>
                <a:ext uri="{FF2B5EF4-FFF2-40B4-BE49-F238E27FC236}">
                  <a16:creationId xmlns:a16="http://schemas.microsoft.com/office/drawing/2014/main" id="{1E8DC1C5-891E-6B66-8120-A47E448E4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0075" y="35734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3" name="Rectangle 87">
              <a:extLst>
                <a:ext uri="{FF2B5EF4-FFF2-40B4-BE49-F238E27FC236}">
                  <a16:creationId xmlns:a16="http://schemas.microsoft.com/office/drawing/2014/main" id="{3B1EC2EE-28A5-0B38-7617-6FFE4C621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35734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4" name="Rectangle 88">
              <a:extLst>
                <a:ext uri="{FF2B5EF4-FFF2-40B4-BE49-F238E27FC236}">
                  <a16:creationId xmlns:a16="http://schemas.microsoft.com/office/drawing/2014/main" id="{00370834-ADFF-3CCA-3A5B-8B7491E7F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35734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5" name="Rectangle 89">
              <a:extLst>
                <a:ext uri="{FF2B5EF4-FFF2-40B4-BE49-F238E27FC236}">
                  <a16:creationId xmlns:a16="http://schemas.microsoft.com/office/drawing/2014/main" id="{3FF78AE1-5866-0B81-D077-9666E268C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35734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6" name="Rectangle 90">
              <a:extLst>
                <a:ext uri="{FF2B5EF4-FFF2-40B4-BE49-F238E27FC236}">
                  <a16:creationId xmlns:a16="http://schemas.microsoft.com/office/drawing/2014/main" id="{244A76A7-9E06-13D0-C391-D99F63DB9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9938" y="35734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7" name="Rectangle 92">
              <a:extLst>
                <a:ext uri="{FF2B5EF4-FFF2-40B4-BE49-F238E27FC236}">
                  <a16:creationId xmlns:a16="http://schemas.microsoft.com/office/drawing/2014/main" id="{CE144B63-79E8-89A5-E229-B43B8C4D7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9713" y="39338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8" name="Rectangle 97">
              <a:extLst>
                <a:ext uri="{FF2B5EF4-FFF2-40B4-BE49-F238E27FC236}">
                  <a16:creationId xmlns:a16="http://schemas.microsoft.com/office/drawing/2014/main" id="{16E04A04-1D15-6691-D0E9-1BB5AFFFF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9938" y="39338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9" name="Rectangle 99">
              <a:extLst>
                <a:ext uri="{FF2B5EF4-FFF2-40B4-BE49-F238E27FC236}">
                  <a16:creationId xmlns:a16="http://schemas.microsoft.com/office/drawing/2014/main" id="{BE59EBDE-87DE-0A3E-7CBF-93748AF8A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9713" y="42941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0" name="Rectangle 100">
              <a:extLst>
                <a:ext uri="{FF2B5EF4-FFF2-40B4-BE49-F238E27FC236}">
                  <a16:creationId xmlns:a16="http://schemas.microsoft.com/office/drawing/2014/main" id="{C8114267-90E3-9445-0D28-5555A9CAD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0075" y="42941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1" name="Rectangle 104">
              <a:extLst>
                <a:ext uri="{FF2B5EF4-FFF2-40B4-BE49-F238E27FC236}">
                  <a16:creationId xmlns:a16="http://schemas.microsoft.com/office/drawing/2014/main" id="{FF85AF51-C53C-1F74-2CAA-43F86C8FD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9938" y="42941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2" name="Rectangle 106">
              <a:extLst>
                <a:ext uri="{FF2B5EF4-FFF2-40B4-BE49-F238E27FC236}">
                  <a16:creationId xmlns:a16="http://schemas.microsoft.com/office/drawing/2014/main" id="{242A4969-310C-77C0-100E-66708F400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9713" y="46529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3" name="Rectangle 107">
              <a:extLst>
                <a:ext uri="{FF2B5EF4-FFF2-40B4-BE49-F238E27FC236}">
                  <a16:creationId xmlns:a16="http://schemas.microsoft.com/office/drawing/2014/main" id="{46E16619-0259-9A91-BE57-2DAADBF7C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0075" y="46529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4" name="Rectangle 111">
              <a:extLst>
                <a:ext uri="{FF2B5EF4-FFF2-40B4-BE49-F238E27FC236}">
                  <a16:creationId xmlns:a16="http://schemas.microsoft.com/office/drawing/2014/main" id="{2F6FE111-E7D3-0BEB-865B-09CDA1402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9938" y="46529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5" name="Rectangle 113">
              <a:extLst>
                <a:ext uri="{FF2B5EF4-FFF2-40B4-BE49-F238E27FC236}">
                  <a16:creationId xmlns:a16="http://schemas.microsoft.com/office/drawing/2014/main" id="{70FBA5E3-81FC-1077-41CD-C6893CB8F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9713" y="50133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6" name="Rectangle 114">
              <a:extLst>
                <a:ext uri="{FF2B5EF4-FFF2-40B4-BE49-F238E27FC236}">
                  <a16:creationId xmlns:a16="http://schemas.microsoft.com/office/drawing/2014/main" id="{98CC9990-0C25-5B27-64EA-EE4B5DF34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0075" y="50133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7" name="Rectangle 115">
              <a:extLst>
                <a:ext uri="{FF2B5EF4-FFF2-40B4-BE49-F238E27FC236}">
                  <a16:creationId xmlns:a16="http://schemas.microsoft.com/office/drawing/2014/main" id="{98A0981D-8FEC-F373-8E15-95ACD5602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50133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8" name="Rectangle 118">
              <a:extLst>
                <a:ext uri="{FF2B5EF4-FFF2-40B4-BE49-F238E27FC236}">
                  <a16:creationId xmlns:a16="http://schemas.microsoft.com/office/drawing/2014/main" id="{9976BD82-60D8-3C7A-C380-8B8195C0E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9938" y="50133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9" name="Rectangle 120">
              <a:extLst>
                <a:ext uri="{FF2B5EF4-FFF2-40B4-BE49-F238E27FC236}">
                  <a16:creationId xmlns:a16="http://schemas.microsoft.com/office/drawing/2014/main" id="{EF18A359-A5C4-3ABF-5394-157875F07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9713" y="53736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0" name="Rectangle 121">
              <a:extLst>
                <a:ext uri="{FF2B5EF4-FFF2-40B4-BE49-F238E27FC236}">
                  <a16:creationId xmlns:a16="http://schemas.microsoft.com/office/drawing/2014/main" id="{DE9F09DB-3973-2C88-9389-44F148A9A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0075" y="53736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1" name="Rectangle 122">
              <a:extLst>
                <a:ext uri="{FF2B5EF4-FFF2-40B4-BE49-F238E27FC236}">
                  <a16:creationId xmlns:a16="http://schemas.microsoft.com/office/drawing/2014/main" id="{4E330FCF-28BF-9363-C270-E12F7F036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53736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2" name="Rectangle 123">
              <a:extLst>
                <a:ext uri="{FF2B5EF4-FFF2-40B4-BE49-F238E27FC236}">
                  <a16:creationId xmlns:a16="http://schemas.microsoft.com/office/drawing/2014/main" id="{7C37F806-2173-5665-AF2A-751668B05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53736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3" name="Rectangle 124">
              <a:extLst>
                <a:ext uri="{FF2B5EF4-FFF2-40B4-BE49-F238E27FC236}">
                  <a16:creationId xmlns:a16="http://schemas.microsoft.com/office/drawing/2014/main" id="{CFD7CA6F-2ACF-ED6B-B6E3-BC9A9C277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53736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4" name="Rectangle 125">
              <a:extLst>
                <a:ext uri="{FF2B5EF4-FFF2-40B4-BE49-F238E27FC236}">
                  <a16:creationId xmlns:a16="http://schemas.microsoft.com/office/drawing/2014/main" id="{67136072-3C96-432E-D580-2DB72DB43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9938" y="53736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5" name="Rectangle 101">
              <a:extLst>
                <a:ext uri="{FF2B5EF4-FFF2-40B4-BE49-F238E27FC236}">
                  <a16:creationId xmlns:a16="http://schemas.microsoft.com/office/drawing/2014/main" id="{C9D806E1-EE69-E587-83C8-F09B24B68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42941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6" name="Rectangle 93">
              <a:extLst>
                <a:ext uri="{FF2B5EF4-FFF2-40B4-BE49-F238E27FC236}">
                  <a16:creationId xmlns:a16="http://schemas.microsoft.com/office/drawing/2014/main" id="{6097A156-C8AF-06B1-02AF-20FAFF17F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0075" y="39338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7" name="Rectangle 94">
              <a:extLst>
                <a:ext uri="{FF2B5EF4-FFF2-40B4-BE49-F238E27FC236}">
                  <a16:creationId xmlns:a16="http://schemas.microsoft.com/office/drawing/2014/main" id="{0564AB8C-599A-F87D-E9A2-836AD1094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39338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8" name="Rectangle 95">
              <a:extLst>
                <a:ext uri="{FF2B5EF4-FFF2-40B4-BE49-F238E27FC236}">
                  <a16:creationId xmlns:a16="http://schemas.microsoft.com/office/drawing/2014/main" id="{17F47BDB-A94D-1139-922E-6E19E18BF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39338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9" name="Rectangle 109">
              <a:extLst>
                <a:ext uri="{FF2B5EF4-FFF2-40B4-BE49-F238E27FC236}">
                  <a16:creationId xmlns:a16="http://schemas.microsoft.com/office/drawing/2014/main" id="{B8666E81-E35B-81C9-7481-220E7ED63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4652962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40" name="Rectangle 116">
              <a:extLst>
                <a:ext uri="{FF2B5EF4-FFF2-40B4-BE49-F238E27FC236}">
                  <a16:creationId xmlns:a16="http://schemas.microsoft.com/office/drawing/2014/main" id="{9F229E6C-8F74-A095-B4AB-1732DADDF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50133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41" name="Rectangle 117">
              <a:extLst>
                <a:ext uri="{FF2B5EF4-FFF2-40B4-BE49-F238E27FC236}">
                  <a16:creationId xmlns:a16="http://schemas.microsoft.com/office/drawing/2014/main" id="{7A5577B2-246A-60B7-3E3B-48F39C753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50133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42" name="Rectangle 102">
              <a:extLst>
                <a:ext uri="{FF2B5EF4-FFF2-40B4-BE49-F238E27FC236}">
                  <a16:creationId xmlns:a16="http://schemas.microsoft.com/office/drawing/2014/main" id="{ED34223D-B544-7869-34E5-17BEC6803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42941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</p:grp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7440DAD4-20C2-E4B2-A650-1DFD17BE0031}"/>
              </a:ext>
            </a:extLst>
          </p:cNvPr>
          <p:cNvCxnSpPr/>
          <p:nvPr/>
        </p:nvCxnSpPr>
        <p:spPr>
          <a:xfrm rot="5400000" flipH="1" flipV="1">
            <a:off x="2962070" y="6514662"/>
            <a:ext cx="252000" cy="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77E87B84-87F6-4E79-668F-313E109962F1}"/>
              </a:ext>
            </a:extLst>
          </p:cNvPr>
          <p:cNvCxnSpPr/>
          <p:nvPr/>
        </p:nvCxnSpPr>
        <p:spPr>
          <a:xfrm rot="16200000" flipV="1">
            <a:off x="2954670" y="5969510"/>
            <a:ext cx="216000" cy="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4B65FC1C-FF62-4544-0FF0-758A454B262B}"/>
              </a:ext>
            </a:extLst>
          </p:cNvPr>
          <p:cNvCxnSpPr/>
          <p:nvPr/>
        </p:nvCxnSpPr>
        <p:spPr>
          <a:xfrm rot="16200000" flipV="1">
            <a:off x="2214890" y="4853588"/>
            <a:ext cx="216000" cy="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D5206CEC-B2CD-8D6F-6801-D6F5F97A37E8}"/>
              </a:ext>
            </a:extLst>
          </p:cNvPr>
          <p:cNvCxnSpPr/>
          <p:nvPr/>
        </p:nvCxnSpPr>
        <p:spPr>
          <a:xfrm rot="16200000" flipV="1">
            <a:off x="2206952" y="4282084"/>
            <a:ext cx="216000" cy="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C2256DA0-ADD3-E2AE-CFE3-0C07CC880390}"/>
              </a:ext>
            </a:extLst>
          </p:cNvPr>
          <p:cNvCxnSpPr/>
          <p:nvPr/>
        </p:nvCxnSpPr>
        <p:spPr>
          <a:xfrm rot="5400000" flipH="1" flipV="1">
            <a:off x="2692632" y="3531142"/>
            <a:ext cx="395438" cy="395438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445BE32B-B859-4060-44EA-6EFE9BB8FB66}"/>
              </a:ext>
            </a:extLst>
          </p:cNvPr>
          <p:cNvCxnSpPr/>
          <p:nvPr/>
        </p:nvCxnSpPr>
        <p:spPr>
          <a:xfrm rot="10800000">
            <a:off x="2516566" y="5317092"/>
            <a:ext cx="428628" cy="285752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灯片编号占位符 126">
            <a:extLst>
              <a:ext uri="{FF2B5EF4-FFF2-40B4-BE49-F238E27FC236}">
                <a16:creationId xmlns:a16="http://schemas.microsoft.com/office/drawing/2014/main" id="{8370DCC8-8BF3-AA73-9566-32A02AC20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40972" y="6958558"/>
            <a:ext cx="2133600" cy="365125"/>
          </a:xfrm>
        </p:spPr>
        <p:txBody>
          <a:bodyPr/>
          <a:lstStyle/>
          <a:p>
            <a:pPr>
              <a:defRPr/>
            </a:pPr>
            <a:fld id="{979DB8C9-1C00-45CA-8DC3-D51EEA42EBD5}" type="slidenum">
              <a:rPr lang="en-US" altLang="zh-CN" smtClean="0"/>
              <a:pPr>
                <a:defRPr/>
              </a:pPr>
              <a:t>97</a:t>
            </a:fld>
            <a:r>
              <a:rPr lang="en-US" altLang="zh-CN"/>
              <a:t>/68</a:t>
            </a:r>
          </a:p>
        </p:txBody>
      </p:sp>
    </p:spTree>
    <p:extLst>
      <p:ext uri="{BB962C8B-B14F-4D97-AF65-F5344CB8AC3E}">
        <p14:creationId xmlns:p14="http://schemas.microsoft.com/office/powerpoint/2010/main" val="326695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2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 tmFilter="0, 0; .2, .5; .8, .5; 1, 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250" autoRev="1" fill="hold"/>
                                        <p:tgtEl>
                                          <p:spTgt spid="1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1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 tmFilter="0, 0; .2, .5; .8, .5; 1, 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4" dur="250" autoRev="1" fill="hold"/>
                                        <p:tgtEl>
                                          <p:spTgt spid="1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1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 tmFilter="0, 0; .2, .5; .8, .5; 1, 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250" autoRev="1" fill="hold"/>
                                        <p:tgtEl>
                                          <p:spTgt spid="1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1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/>
      <p:bldP spid="178" grpId="1"/>
      <p:bldP spid="179" grpId="0"/>
      <p:bldP spid="180" grpId="0"/>
      <p:bldP spid="181" grpId="0"/>
      <p:bldP spid="181" grpId="1"/>
      <p:bldP spid="182" grpId="0" animBg="1"/>
      <p:bldP spid="183" grpId="0" animBg="1"/>
      <p:bldP spid="184" grpId="0"/>
      <p:bldP spid="184" grpId="1"/>
      <p:bldP spid="185" grpId="0" animBg="1"/>
      <p:bldP spid="186" grpId="0"/>
      <p:bldP spid="186" grpId="1"/>
      <p:bldP spid="187" grpId="0" animBg="1"/>
      <p:bldP spid="188" grpId="0"/>
      <p:bldP spid="189" grpId="0" animBg="1"/>
      <p:bldP spid="190" grpId="0"/>
      <p:bldP spid="191" grpId="0" animBg="1"/>
      <p:bldP spid="192" grpId="0"/>
      <p:bldP spid="193" grpId="0"/>
      <p:bldP spid="193" grpId="1"/>
      <p:bldP spid="194" grpId="0" animBg="1"/>
      <p:bldP spid="195" grpId="0" animBg="1"/>
      <p:bldP spid="196" grpId="0"/>
      <p:bldP spid="197" grpId="0" animBg="1"/>
      <p:bldP spid="198" grpId="0" animBg="1"/>
      <p:bldP spid="199" grpId="0"/>
      <p:bldP spid="199" grpId="1"/>
      <p:bldP spid="200" grpId="0" animBg="1"/>
      <p:bldP spid="201" grpId="0"/>
      <p:bldP spid="201" grpId="1"/>
      <p:bldP spid="202" grpId="0"/>
      <p:bldP spid="20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7A7D-7CEA-D0A9-73EE-E55AEF93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6D18B3E-DFA5-F693-A26B-707A057C27B7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F469571-E5EE-65A8-8C14-11B831561389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B30ACC9-5724-C310-62CD-98051CA46E66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C3116EA-CB03-3EA5-11EC-00BAA03E2D6B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Text Box 1026">
            <a:extLst>
              <a:ext uri="{FF2B5EF4-FFF2-40B4-BE49-F238E27FC236}">
                <a16:creationId xmlns:a16="http://schemas.microsoft.com/office/drawing/2014/main" id="{0346C4F5-0B96-5DF5-4ADD-A8BB123D7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8510" y="1935064"/>
            <a:ext cx="8120090" cy="3521166"/>
          </a:xfrm>
          <a:prstGeom prst="rect">
            <a:avLst/>
          </a:prstGeom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216000" bIns="21600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sz="18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mgpath1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xi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yi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xe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ye)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搜索路径为</a:t>
            </a: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:(xi</a:t>
            </a:r>
            <a:r>
              <a:rPr lang="zh-CN" alt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yi) </a:t>
            </a: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 </a:t>
            </a: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(xe</a:t>
            </a:r>
            <a:r>
              <a:rPr lang="zh-CN" alt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ye)</a:t>
            </a:r>
            <a:endParaRPr lang="zh-CN" altLang="en-US" sz="1800">
              <a:solidFill>
                <a:srgbClr val="008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Box e;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i1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j1;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QuType *qu;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定义顺序队指针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InitQueue(qu);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初始化队列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e.i=xi; e.j=yi; e.pre=-1;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enQueue(qu,e);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//(xi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yi)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mg[xi][yi]=-1;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将其赋值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-1,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以避免回过来重复搜索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702C882E-0E1C-9B98-339B-8E2017146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230" y="1292122"/>
            <a:ext cx="7072362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用队列求一条迷宫路径的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算法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：（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xi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，</a:t>
            </a:r>
            <a:r>
              <a:rPr lang="en-US" altLang="zh-CN" sz="20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yi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）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</a:t>
            </a: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（</a:t>
            </a:r>
            <a:r>
              <a:rPr lang="en-US" altLang="zh-CN" sz="20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xe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ye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 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14079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1DD4-EFA4-0685-0642-7BC14677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8F412B5-9F3D-A0E1-017E-2F623BA82DF2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55A0018-B391-38AD-ACD5-654A149940F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225CF63-499F-A6C4-589A-F70AEE3739F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AE3E201-DBF4-D688-97C4-63059C06D76C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E70FA388-89A5-5ACB-6199-8F010FCDA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7868" y="2622896"/>
            <a:ext cx="8215370" cy="3542096"/>
          </a:xfrm>
          <a:prstGeom prst="rect">
            <a:avLst/>
          </a:prstGeom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108000" bIns="10800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while (!QueueEmpty(qu))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队不空循环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	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deQueue(qu,e);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出队方块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i=e.i;   j=e.j;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if (i==xe &amp;&amp; j==ye)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找到了出口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输出路径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{  dispapath(qu,qu-&gt;front);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调用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dispapath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函数输出路径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DestroyQueue(qu);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销毁队列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return true;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找到一条路径时返回真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97091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84A9A-12A1-AD0D-C505-957A811C9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384E9E8-B03D-011B-39B0-256F486CA98D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4E06EE8-5C88-3834-70A0-6EF87B05030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A3EA401-8344-F28A-32BD-2888981688E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8DFE1F6-D4CD-3DBB-9346-BE5B1CEC88D3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881AAE58-3E12-2F70-C720-D7D6821B6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712" y="1125917"/>
            <a:ext cx="6429420" cy="5728643"/>
          </a:xfrm>
          <a:prstGeom prst="rect">
            <a:avLst/>
          </a:prstGeom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80000" bIns="144000">
            <a:spAutoFit/>
          </a:bodyPr>
          <a:lstStyle/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(di=0;di&lt;4;di++)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循环扫描每个方位</a:t>
            </a:r>
            <a:endParaRPr lang="en-US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	switch(di)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{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case 0:i1=i-1; j1=j;   break;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case 1:i1=i;   j1=j+1; break;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case 2:i1=i+1; j1=j;   break;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case 3:i1=i;   j1=j-1; break;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if (mg[i1][j1]==0)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{     e.i=i1;  e.j=j1; 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   e.pre=qu-&gt;front;	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enQueue(qu,e);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//(i1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j1)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方块进队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   mg[i1][j1]=-1;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将其赋值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DestroyQueue(qu);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销毁队列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return false;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" name="组合 6">
            <a:extLst>
              <a:ext uri="{FF2B5EF4-FFF2-40B4-BE49-F238E27FC236}">
                <a16:creationId xmlns:a16="http://schemas.microsoft.com/office/drawing/2014/main" id="{F4EAE3B0-0BCE-DB4C-2AA1-5CB1A0AF27EB}"/>
              </a:ext>
            </a:extLst>
          </p:cNvPr>
          <p:cNvGrpSpPr/>
          <p:nvPr/>
        </p:nvGrpSpPr>
        <p:grpSpPr>
          <a:xfrm>
            <a:off x="10774627" y="960738"/>
            <a:ext cx="1021582" cy="4214842"/>
            <a:chOff x="7572396" y="500042"/>
            <a:chExt cx="778198" cy="4214842"/>
          </a:xfrm>
        </p:grpSpPr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86875403-9E71-9D01-2CEF-1E343DBBC7BA}"/>
                </a:ext>
              </a:extLst>
            </p:cNvPr>
            <p:cNvSpPr txBox="1"/>
            <p:nvPr/>
          </p:nvSpPr>
          <p:spPr>
            <a:xfrm>
              <a:off x="7858148" y="500042"/>
              <a:ext cx="492446" cy="4214842"/>
            </a:xfrm>
            <a:prstGeom prst="rect">
              <a:avLst/>
            </a:prstGeom>
            <a:noFill/>
            <a:scene3d>
              <a:camera prst="perspectiveRight"/>
              <a:lightRig rig="threePt" dir="t"/>
            </a:scene3d>
          </p:spPr>
          <p:txBody>
            <a:bodyPr vert="eaVert" wrap="square" rtlCol="0">
              <a:noAutofit/>
            </a:bodyPr>
            <a:lstStyle/>
            <a:p>
              <a:pPr algn="l"/>
              <a:r>
                <a:rPr kumimoji="1" lang="zh-CN" altLang="en-US" sz="1800" spc="60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把每个可走的</a:t>
              </a:r>
              <a:r>
                <a:rPr kumimoji="1" lang="zh-CN" altLang="en-US" sz="1800" spc="60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方块插入队列</a:t>
              </a:r>
              <a:r>
                <a:rPr kumimoji="1" lang="zh-CN" altLang="en-US" sz="1800" spc="60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中</a:t>
              </a:r>
              <a:endParaRPr lang="zh-CN" altLang="en-US" sz="1800" spc="6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右大括号 7">
              <a:extLst>
                <a:ext uri="{FF2B5EF4-FFF2-40B4-BE49-F238E27FC236}">
                  <a16:creationId xmlns:a16="http://schemas.microsoft.com/office/drawing/2014/main" id="{77E5FF0E-861B-862F-4748-F05262028233}"/>
                </a:ext>
              </a:extLst>
            </p:cNvPr>
            <p:cNvSpPr/>
            <p:nvPr/>
          </p:nvSpPr>
          <p:spPr>
            <a:xfrm>
              <a:off x="7572396" y="750950"/>
              <a:ext cx="214314" cy="3678182"/>
            </a:xfrm>
            <a:prstGeom prst="rightBrace">
              <a:avLst/>
            </a:prstGeom>
            <a:ln w="28575">
              <a:solidFill>
                <a:srgbClr val="FF0000"/>
              </a:solidFill>
              <a:tailEnd type="none"/>
            </a:ln>
            <a:scene3d>
              <a:camera prst="perspectiveRigh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815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4"/>
          <p:cNvSpPr txBox="1">
            <a:spLocks noChangeArrowheads="1"/>
          </p:cNvSpPr>
          <p:nvPr/>
        </p:nvSpPr>
        <p:spPr bwMode="auto">
          <a:xfrm>
            <a:off x="1919289" y="260350"/>
            <a:ext cx="8497887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对于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图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3.11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迷宫，求解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(1,1)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 pitchFamily="18" charset="2"/>
              </a:rPr>
              <a:t>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(8,8)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时队列</a:t>
            </a:r>
            <a:r>
              <a:rPr lang="en-US" altLang="zh-CN" sz="20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qu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中结果如下：</a:t>
            </a:r>
          </a:p>
        </p:txBody>
      </p:sp>
      <p:graphicFrame>
        <p:nvGraphicFramePr>
          <p:cNvPr id="190498" name="Group 1058"/>
          <p:cNvGraphicFramePr>
            <a:graphicFrameLocks noGrp="1"/>
          </p:cNvGraphicFramePr>
          <p:nvPr/>
        </p:nvGraphicFramePr>
        <p:xfrm>
          <a:off x="1897056" y="908050"/>
          <a:ext cx="2484432" cy="5364480"/>
        </p:xfrm>
        <a:graphic>
          <a:graphicData uri="http://schemas.openxmlformats.org/drawingml/2006/table">
            <a:tbl>
              <a:tblPr/>
              <a:tblGrid>
                <a:gridCol w="621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下标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i</a:t>
                      </a:r>
                      <a:endParaRPr kumimoji="1" lang="en-US" altLang="zh-CN" sz="1600" b="1" i="1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pre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Group 546"/>
          <p:cNvGraphicFramePr>
            <a:graphicFrameLocks noGrp="1"/>
          </p:cNvGraphicFramePr>
          <p:nvPr/>
        </p:nvGraphicFramePr>
        <p:xfrm>
          <a:off x="4667240" y="922040"/>
          <a:ext cx="2522536" cy="5364480"/>
        </p:xfrm>
        <a:graphic>
          <a:graphicData uri="http://schemas.openxmlformats.org/drawingml/2006/table">
            <a:tbl>
              <a:tblPr/>
              <a:tblGrid>
                <a:gridCol w="630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下标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i</a:t>
                      </a:r>
                      <a:endParaRPr kumimoji="1" lang="en-US" altLang="zh-CN" sz="1600" b="1" i="1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pre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5" name="Group 304"/>
          <p:cNvGraphicFramePr>
            <a:graphicFrameLocks noGrp="1"/>
          </p:cNvGraphicFramePr>
          <p:nvPr/>
        </p:nvGraphicFramePr>
        <p:xfrm>
          <a:off x="7524760" y="928670"/>
          <a:ext cx="2643208" cy="4023360"/>
        </p:xfrm>
        <a:graphic>
          <a:graphicData uri="http://schemas.openxmlformats.org/drawingml/2006/table">
            <a:tbl>
              <a:tblPr/>
              <a:tblGrid>
                <a:gridCol w="660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下标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i</a:t>
                      </a:r>
                      <a:endParaRPr kumimoji="1" lang="en-US" altLang="zh-CN" sz="1600" b="1" i="1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pre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570798" y="4584708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570798" y="2928934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570798" y="1259510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633902" y="5272738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860520" y="1915152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633902" y="4286256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633902" y="3571876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633902" y="2889884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4633902" y="1903402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860520" y="5559440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860520" y="4571058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860520" y="3902716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1860520" y="3247074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1860520" y="2571744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1860520" y="1214422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直接箭头连接符 22"/>
          <p:cNvCxnSpPr/>
          <p:nvPr/>
        </p:nvCxnSpPr>
        <p:spPr>
          <a:xfrm rot="10800000">
            <a:off x="8096264" y="3143248"/>
            <a:ext cx="1928826" cy="164307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rot="10800000">
            <a:off x="8121664" y="1474774"/>
            <a:ext cx="1857388" cy="164307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rot="10800000" flipV="1">
            <a:off x="5167306" y="1500174"/>
            <a:ext cx="4429156" cy="400052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rot="10800000">
            <a:off x="5095868" y="4500570"/>
            <a:ext cx="2000264" cy="100013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rot="10800000">
            <a:off x="5121268" y="3773490"/>
            <a:ext cx="1928826" cy="7143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rot="10800000">
            <a:off x="5095868" y="3071810"/>
            <a:ext cx="1928826" cy="64294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rot="10800000">
            <a:off x="5095868" y="2143116"/>
            <a:ext cx="2000264" cy="92869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rot="10800000" flipV="1">
            <a:off x="2381224" y="2143116"/>
            <a:ext cx="4643470" cy="364333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rot="10800000">
            <a:off x="2381224" y="4786322"/>
            <a:ext cx="1928826" cy="92869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rot="10800000">
            <a:off x="2309786" y="4071942"/>
            <a:ext cx="2000264" cy="7143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rot="10800000">
            <a:off x="2309786" y="3500438"/>
            <a:ext cx="2000264" cy="64294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rot="10800000">
            <a:off x="2309786" y="2786058"/>
            <a:ext cx="2000264" cy="7143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rot="10800000">
            <a:off x="2309786" y="2143116"/>
            <a:ext cx="2000264" cy="7143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rot="10800000">
            <a:off x="2381224" y="1428736"/>
            <a:ext cx="1857388" cy="7143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灯片编号占位符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9DB8C9-1C00-45CA-8DC3-D51EEA42EBD5}" type="slidenum">
              <a:rPr lang="en-US" altLang="zh-CN" smtClean="0"/>
              <a:pPr>
                <a:defRPr/>
              </a:pPr>
              <a:t>101</a:t>
            </a:fld>
            <a:r>
              <a:rPr lang="en-US" altLang="zh-CN"/>
              <a:t>/68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000"/>
                            </p:stCondLst>
                            <p:childTnLst>
                              <p:par>
                                <p:cTn id="14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8" name="Text Box 279"/>
          <p:cNvSpPr txBox="1">
            <a:spLocks noChangeArrowheads="1"/>
          </p:cNvSpPr>
          <p:nvPr/>
        </p:nvSpPr>
        <p:spPr bwMode="auto">
          <a:xfrm>
            <a:off x="2238348" y="1571613"/>
            <a:ext cx="4857784" cy="1323439"/>
          </a:xfrm>
          <a:prstGeom prst="rect">
            <a:avLst/>
          </a:prstGeom>
          <a:ln>
            <a:headEnd/>
            <a:tailEnd/>
          </a:ln>
          <a:scene3d>
            <a:camera prst="perspectiveRigh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迷宫路径如下</a:t>
            </a:r>
            <a:r>
              <a:rPr lang="en-US" altLang="zh-CN" sz="2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: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  </a:t>
            </a:r>
            <a:r>
              <a:rPr lang="en-US" altLang="zh-CN" sz="2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(1,1) (2,1) (3,1) (4,1) (5,1)</a:t>
            </a:r>
          </a:p>
          <a:p>
            <a:pPr algn="l"/>
            <a:r>
              <a:rPr lang="en-US" altLang="zh-CN" sz="2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(5,2) (5,3) (6,3) (6,4) (6,5)</a:t>
            </a:r>
          </a:p>
          <a:p>
            <a:pPr algn="l"/>
            <a:r>
              <a:rPr lang="en-US" altLang="zh-CN" sz="2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(7,5) (8,5) (8,6) (8,7) (8,8)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919289" y="285729"/>
            <a:ext cx="2747952" cy="43088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buFontTx/>
              <a:buBlip>
                <a:blip r:embed="rId2"/>
              </a:buBlip>
            </a:pPr>
            <a:r>
              <a:rPr lang="en-US" altLang="zh-CN" sz="2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细珊瑚简体" pitchFamily="65" charset="-122"/>
                <a:ea typeface="方正细珊瑚简体" pitchFamily="65" charset="-122"/>
              </a:rPr>
              <a:t>  </a:t>
            </a:r>
            <a:r>
              <a:rPr lang="zh-CN" altLang="en-US" sz="2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细珊瑚简体" pitchFamily="65" charset="-122"/>
                <a:ea typeface="方正细珊瑚简体" pitchFamily="65" charset="-122"/>
              </a:rPr>
              <a:t>运行结果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128844" y="928670"/>
            <a:ext cx="4895850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对于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图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3.11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迷宫，求解结果如下：</a:t>
            </a:r>
          </a:p>
        </p:txBody>
      </p:sp>
      <p:grpSp>
        <p:nvGrpSpPr>
          <p:cNvPr id="2" name="组合 8"/>
          <p:cNvGrpSpPr>
            <a:grpSpLocks noChangeAspect="1"/>
          </p:cNvGrpSpPr>
          <p:nvPr/>
        </p:nvGrpSpPr>
        <p:grpSpPr>
          <a:xfrm>
            <a:off x="2880040" y="3631904"/>
            <a:ext cx="2858770" cy="2868930"/>
            <a:chOff x="1212851" y="1430063"/>
            <a:chExt cx="3573463" cy="3586163"/>
          </a:xfrm>
        </p:grpSpPr>
        <p:sp>
          <p:nvSpPr>
            <p:cNvPr id="10" name="Rectangle 2"/>
            <p:cNvSpPr>
              <a:spLocks noChangeArrowheads="1"/>
            </p:cNvSpPr>
            <p:nvPr/>
          </p:nvSpPr>
          <p:spPr bwMode="auto">
            <a:xfrm>
              <a:off x="1212851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1571626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1919289" y="1430063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2281239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2640014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2987676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3346451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4068764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3706814" y="1430063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4427539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1212851" y="178883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1571626" y="178883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1919289" y="1788838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3" name="Rectangle 15"/>
            <p:cNvSpPr>
              <a:spLocks noChangeArrowheads="1"/>
            </p:cNvSpPr>
            <p:nvPr/>
          </p:nvSpPr>
          <p:spPr bwMode="auto">
            <a:xfrm>
              <a:off x="2281239" y="178883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4" name="Rectangle 16"/>
            <p:cNvSpPr>
              <a:spLocks noChangeArrowheads="1"/>
            </p:cNvSpPr>
            <p:nvPr/>
          </p:nvSpPr>
          <p:spPr bwMode="auto">
            <a:xfrm>
              <a:off x="2640014" y="178883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5" name="Rectangle 17"/>
            <p:cNvSpPr>
              <a:spLocks noChangeArrowheads="1"/>
            </p:cNvSpPr>
            <p:nvPr/>
          </p:nvSpPr>
          <p:spPr bwMode="auto">
            <a:xfrm>
              <a:off x="2987676" y="178883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6" name="Rectangle 18"/>
            <p:cNvSpPr>
              <a:spLocks noChangeArrowheads="1"/>
            </p:cNvSpPr>
            <p:nvPr/>
          </p:nvSpPr>
          <p:spPr bwMode="auto">
            <a:xfrm>
              <a:off x="3346451" y="178883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7" name="Rectangle 19"/>
            <p:cNvSpPr>
              <a:spLocks noChangeArrowheads="1"/>
            </p:cNvSpPr>
            <p:nvPr/>
          </p:nvSpPr>
          <p:spPr bwMode="auto">
            <a:xfrm>
              <a:off x="4068764" y="178883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8" name="Rectangle 20"/>
            <p:cNvSpPr>
              <a:spLocks noChangeArrowheads="1"/>
            </p:cNvSpPr>
            <p:nvPr/>
          </p:nvSpPr>
          <p:spPr bwMode="auto">
            <a:xfrm>
              <a:off x="3706814" y="1788838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4427539" y="178883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0" name="Rectangle 22"/>
            <p:cNvSpPr>
              <a:spLocks noChangeArrowheads="1"/>
            </p:cNvSpPr>
            <p:nvPr/>
          </p:nvSpPr>
          <p:spPr bwMode="auto">
            <a:xfrm>
              <a:off x="1212851" y="214920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1" name="Rectangle 23"/>
            <p:cNvSpPr>
              <a:spLocks noChangeArrowheads="1"/>
            </p:cNvSpPr>
            <p:nvPr/>
          </p:nvSpPr>
          <p:spPr bwMode="auto">
            <a:xfrm>
              <a:off x="1571626" y="214920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2" name="Rectangle 24"/>
            <p:cNvSpPr>
              <a:spLocks noChangeArrowheads="1"/>
            </p:cNvSpPr>
            <p:nvPr/>
          </p:nvSpPr>
          <p:spPr bwMode="auto">
            <a:xfrm>
              <a:off x="1919289" y="214920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3" name="Rectangle 25"/>
            <p:cNvSpPr>
              <a:spLocks noChangeArrowheads="1"/>
            </p:cNvSpPr>
            <p:nvPr/>
          </p:nvSpPr>
          <p:spPr bwMode="auto">
            <a:xfrm>
              <a:off x="2281239" y="214920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4" name="Rectangle 26"/>
            <p:cNvSpPr>
              <a:spLocks noChangeArrowheads="1"/>
            </p:cNvSpPr>
            <p:nvPr/>
          </p:nvSpPr>
          <p:spPr bwMode="auto">
            <a:xfrm>
              <a:off x="2640014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5" name="Rectangle 27"/>
            <p:cNvSpPr>
              <a:spLocks noChangeArrowheads="1"/>
            </p:cNvSpPr>
            <p:nvPr/>
          </p:nvSpPr>
          <p:spPr bwMode="auto">
            <a:xfrm>
              <a:off x="2987676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6" name="Rectangle 28"/>
            <p:cNvSpPr>
              <a:spLocks noChangeArrowheads="1"/>
            </p:cNvSpPr>
            <p:nvPr/>
          </p:nvSpPr>
          <p:spPr bwMode="auto">
            <a:xfrm>
              <a:off x="3346451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7" name="Rectangle 29"/>
            <p:cNvSpPr>
              <a:spLocks noChangeArrowheads="1"/>
            </p:cNvSpPr>
            <p:nvPr/>
          </p:nvSpPr>
          <p:spPr bwMode="auto">
            <a:xfrm>
              <a:off x="4068764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8" name="Rectangle 30"/>
            <p:cNvSpPr>
              <a:spLocks noChangeArrowheads="1"/>
            </p:cNvSpPr>
            <p:nvPr/>
          </p:nvSpPr>
          <p:spPr bwMode="auto">
            <a:xfrm>
              <a:off x="3706814" y="214920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9" name="Rectangle 31"/>
            <p:cNvSpPr>
              <a:spLocks noChangeArrowheads="1"/>
            </p:cNvSpPr>
            <p:nvPr/>
          </p:nvSpPr>
          <p:spPr bwMode="auto">
            <a:xfrm>
              <a:off x="4427539" y="214920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1212851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1571626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1919289" y="2509563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3" name="Rectangle 35"/>
            <p:cNvSpPr>
              <a:spLocks noChangeArrowheads="1"/>
            </p:cNvSpPr>
            <p:nvPr/>
          </p:nvSpPr>
          <p:spPr bwMode="auto">
            <a:xfrm>
              <a:off x="2281239" y="2509563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4" name="Rectangle 36"/>
            <p:cNvSpPr>
              <a:spLocks noChangeArrowheads="1"/>
            </p:cNvSpPr>
            <p:nvPr/>
          </p:nvSpPr>
          <p:spPr bwMode="auto">
            <a:xfrm>
              <a:off x="2640014" y="2509563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2987676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3346451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7" name="Rectangle 39"/>
            <p:cNvSpPr>
              <a:spLocks noChangeArrowheads="1"/>
            </p:cNvSpPr>
            <p:nvPr/>
          </p:nvSpPr>
          <p:spPr bwMode="auto">
            <a:xfrm>
              <a:off x="4068764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8" name="Rectangle 40"/>
            <p:cNvSpPr>
              <a:spLocks noChangeArrowheads="1"/>
            </p:cNvSpPr>
            <p:nvPr/>
          </p:nvSpPr>
          <p:spPr bwMode="auto">
            <a:xfrm>
              <a:off x="3706814" y="2509563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9" name="Rectangle 41"/>
            <p:cNvSpPr>
              <a:spLocks noChangeArrowheads="1"/>
            </p:cNvSpPr>
            <p:nvPr/>
          </p:nvSpPr>
          <p:spPr bwMode="auto">
            <a:xfrm>
              <a:off x="4427539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0" name="Rectangle 42"/>
            <p:cNvSpPr>
              <a:spLocks noChangeArrowheads="1"/>
            </p:cNvSpPr>
            <p:nvPr/>
          </p:nvSpPr>
          <p:spPr bwMode="auto">
            <a:xfrm>
              <a:off x="1212851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1" name="Rectangle 43"/>
            <p:cNvSpPr>
              <a:spLocks noChangeArrowheads="1"/>
            </p:cNvSpPr>
            <p:nvPr/>
          </p:nvSpPr>
          <p:spPr bwMode="auto">
            <a:xfrm>
              <a:off x="1571626" y="2862560"/>
              <a:ext cx="358775" cy="391542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2" name="Rectangle 44"/>
            <p:cNvSpPr>
              <a:spLocks noChangeArrowheads="1"/>
            </p:cNvSpPr>
            <p:nvPr/>
          </p:nvSpPr>
          <p:spPr bwMode="auto">
            <a:xfrm>
              <a:off x="1919289" y="2857226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3" name="Rectangle 45"/>
            <p:cNvSpPr>
              <a:spLocks noChangeArrowheads="1"/>
            </p:cNvSpPr>
            <p:nvPr/>
          </p:nvSpPr>
          <p:spPr bwMode="auto">
            <a:xfrm>
              <a:off x="2281239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40014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5" name="Rectangle 47"/>
            <p:cNvSpPr>
              <a:spLocks noChangeArrowheads="1"/>
            </p:cNvSpPr>
            <p:nvPr/>
          </p:nvSpPr>
          <p:spPr bwMode="auto">
            <a:xfrm>
              <a:off x="2987676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6" name="Rectangle 48"/>
            <p:cNvSpPr>
              <a:spLocks noChangeArrowheads="1"/>
            </p:cNvSpPr>
            <p:nvPr/>
          </p:nvSpPr>
          <p:spPr bwMode="auto">
            <a:xfrm>
              <a:off x="3346451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7" name="Rectangle 49"/>
            <p:cNvSpPr>
              <a:spLocks noChangeArrowheads="1"/>
            </p:cNvSpPr>
            <p:nvPr/>
          </p:nvSpPr>
          <p:spPr bwMode="auto">
            <a:xfrm>
              <a:off x="4068764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8" name="Rectangle 50"/>
            <p:cNvSpPr>
              <a:spLocks noChangeArrowheads="1"/>
            </p:cNvSpPr>
            <p:nvPr/>
          </p:nvSpPr>
          <p:spPr bwMode="auto">
            <a:xfrm>
              <a:off x="3706814" y="2857226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9" name="Rectangle 51"/>
            <p:cNvSpPr>
              <a:spLocks noChangeArrowheads="1"/>
            </p:cNvSpPr>
            <p:nvPr/>
          </p:nvSpPr>
          <p:spPr bwMode="auto">
            <a:xfrm>
              <a:off x="4427539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0" name="Rectangle 52"/>
            <p:cNvSpPr>
              <a:spLocks noChangeArrowheads="1"/>
            </p:cNvSpPr>
            <p:nvPr/>
          </p:nvSpPr>
          <p:spPr bwMode="auto">
            <a:xfrm>
              <a:off x="1212851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" name="Rectangle 53"/>
            <p:cNvSpPr>
              <a:spLocks noChangeArrowheads="1"/>
            </p:cNvSpPr>
            <p:nvPr/>
          </p:nvSpPr>
          <p:spPr bwMode="auto">
            <a:xfrm>
              <a:off x="1571626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2" name="Rectangle 54"/>
            <p:cNvSpPr>
              <a:spLocks noChangeArrowheads="1"/>
            </p:cNvSpPr>
            <p:nvPr/>
          </p:nvSpPr>
          <p:spPr bwMode="auto">
            <a:xfrm>
              <a:off x="1919289" y="3217588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3" name="Rectangle 55"/>
            <p:cNvSpPr>
              <a:spLocks noChangeArrowheads="1"/>
            </p:cNvSpPr>
            <p:nvPr/>
          </p:nvSpPr>
          <p:spPr bwMode="auto">
            <a:xfrm>
              <a:off x="2281239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4" name="Rectangle 56"/>
            <p:cNvSpPr>
              <a:spLocks noChangeArrowheads="1"/>
            </p:cNvSpPr>
            <p:nvPr/>
          </p:nvSpPr>
          <p:spPr bwMode="auto">
            <a:xfrm>
              <a:off x="2640014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5" name="Rectangle 57"/>
            <p:cNvSpPr>
              <a:spLocks noChangeArrowheads="1"/>
            </p:cNvSpPr>
            <p:nvPr/>
          </p:nvSpPr>
          <p:spPr bwMode="auto">
            <a:xfrm>
              <a:off x="2987676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6" name="Rectangle 58"/>
            <p:cNvSpPr>
              <a:spLocks noChangeArrowheads="1"/>
            </p:cNvSpPr>
            <p:nvPr/>
          </p:nvSpPr>
          <p:spPr bwMode="auto">
            <a:xfrm>
              <a:off x="3346451" y="321758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7" name="Rectangle 59"/>
            <p:cNvSpPr>
              <a:spLocks noChangeArrowheads="1"/>
            </p:cNvSpPr>
            <p:nvPr/>
          </p:nvSpPr>
          <p:spPr bwMode="auto">
            <a:xfrm>
              <a:off x="4068764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8" name="Rectangle 60"/>
            <p:cNvSpPr>
              <a:spLocks noChangeArrowheads="1"/>
            </p:cNvSpPr>
            <p:nvPr/>
          </p:nvSpPr>
          <p:spPr bwMode="auto">
            <a:xfrm>
              <a:off x="3706814" y="3217588"/>
              <a:ext cx="361950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9" name="Rectangle 61"/>
            <p:cNvSpPr>
              <a:spLocks noChangeArrowheads="1"/>
            </p:cNvSpPr>
            <p:nvPr/>
          </p:nvSpPr>
          <p:spPr bwMode="auto">
            <a:xfrm>
              <a:off x="4427539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0" name="Rectangle 62"/>
            <p:cNvSpPr>
              <a:spLocks noChangeArrowheads="1"/>
            </p:cNvSpPr>
            <p:nvPr/>
          </p:nvSpPr>
          <p:spPr bwMode="auto">
            <a:xfrm>
              <a:off x="1212851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1" name="Rectangle 63"/>
            <p:cNvSpPr>
              <a:spLocks noChangeArrowheads="1"/>
            </p:cNvSpPr>
            <p:nvPr/>
          </p:nvSpPr>
          <p:spPr bwMode="auto">
            <a:xfrm>
              <a:off x="1571626" y="357795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" name="Rectangle 64"/>
            <p:cNvSpPr>
              <a:spLocks noChangeArrowheads="1"/>
            </p:cNvSpPr>
            <p:nvPr/>
          </p:nvSpPr>
          <p:spPr bwMode="auto">
            <a:xfrm>
              <a:off x="1919289" y="357795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3" name="Rectangle 65"/>
            <p:cNvSpPr>
              <a:spLocks noChangeArrowheads="1"/>
            </p:cNvSpPr>
            <p:nvPr/>
          </p:nvSpPr>
          <p:spPr bwMode="auto">
            <a:xfrm>
              <a:off x="2281239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4" name="Rectangle 66"/>
            <p:cNvSpPr>
              <a:spLocks noChangeArrowheads="1"/>
            </p:cNvSpPr>
            <p:nvPr/>
          </p:nvSpPr>
          <p:spPr bwMode="auto">
            <a:xfrm>
              <a:off x="2640014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5" name="Rectangle 67"/>
            <p:cNvSpPr>
              <a:spLocks noChangeArrowheads="1"/>
            </p:cNvSpPr>
            <p:nvPr/>
          </p:nvSpPr>
          <p:spPr bwMode="auto">
            <a:xfrm>
              <a:off x="2987676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6" name="Rectangle 68"/>
            <p:cNvSpPr>
              <a:spLocks noChangeArrowheads="1"/>
            </p:cNvSpPr>
            <p:nvPr/>
          </p:nvSpPr>
          <p:spPr bwMode="auto">
            <a:xfrm>
              <a:off x="3346451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7" name="Rectangle 69"/>
            <p:cNvSpPr>
              <a:spLocks noChangeArrowheads="1"/>
            </p:cNvSpPr>
            <p:nvPr/>
          </p:nvSpPr>
          <p:spPr bwMode="auto">
            <a:xfrm>
              <a:off x="4068764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8" name="Rectangle 70"/>
            <p:cNvSpPr>
              <a:spLocks noChangeArrowheads="1"/>
            </p:cNvSpPr>
            <p:nvPr/>
          </p:nvSpPr>
          <p:spPr bwMode="auto">
            <a:xfrm>
              <a:off x="3706814" y="3577951"/>
              <a:ext cx="361950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9" name="Rectangle 71"/>
            <p:cNvSpPr>
              <a:spLocks noChangeArrowheads="1"/>
            </p:cNvSpPr>
            <p:nvPr/>
          </p:nvSpPr>
          <p:spPr bwMode="auto">
            <a:xfrm>
              <a:off x="4427539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0" name="Rectangle 72"/>
            <p:cNvSpPr>
              <a:spLocks noChangeArrowheads="1"/>
            </p:cNvSpPr>
            <p:nvPr/>
          </p:nvSpPr>
          <p:spPr bwMode="auto">
            <a:xfrm>
              <a:off x="1212851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1" name="Rectangle 73"/>
            <p:cNvSpPr>
              <a:spLocks noChangeArrowheads="1"/>
            </p:cNvSpPr>
            <p:nvPr/>
          </p:nvSpPr>
          <p:spPr bwMode="auto">
            <a:xfrm>
              <a:off x="1571626" y="3936726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2" name="Rectangle 74"/>
            <p:cNvSpPr>
              <a:spLocks noChangeArrowheads="1"/>
            </p:cNvSpPr>
            <p:nvPr/>
          </p:nvSpPr>
          <p:spPr bwMode="auto">
            <a:xfrm>
              <a:off x="1919289" y="3936726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3" name="Rectangle 75"/>
            <p:cNvSpPr>
              <a:spLocks noChangeArrowheads="1"/>
            </p:cNvSpPr>
            <p:nvPr/>
          </p:nvSpPr>
          <p:spPr bwMode="auto">
            <a:xfrm>
              <a:off x="2281239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4" name="Rectangle 76"/>
            <p:cNvSpPr>
              <a:spLocks noChangeArrowheads="1"/>
            </p:cNvSpPr>
            <p:nvPr/>
          </p:nvSpPr>
          <p:spPr bwMode="auto">
            <a:xfrm>
              <a:off x="2640014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5" name="Rectangle 77"/>
            <p:cNvSpPr>
              <a:spLocks noChangeArrowheads="1"/>
            </p:cNvSpPr>
            <p:nvPr/>
          </p:nvSpPr>
          <p:spPr bwMode="auto">
            <a:xfrm>
              <a:off x="2987676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6" name="Rectangle 78"/>
            <p:cNvSpPr>
              <a:spLocks noChangeArrowheads="1"/>
            </p:cNvSpPr>
            <p:nvPr/>
          </p:nvSpPr>
          <p:spPr bwMode="auto">
            <a:xfrm>
              <a:off x="3346451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7" name="Rectangle 79"/>
            <p:cNvSpPr>
              <a:spLocks noChangeArrowheads="1"/>
            </p:cNvSpPr>
            <p:nvPr/>
          </p:nvSpPr>
          <p:spPr bwMode="auto">
            <a:xfrm>
              <a:off x="4068764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8" name="Rectangle 80"/>
            <p:cNvSpPr>
              <a:spLocks noChangeArrowheads="1"/>
            </p:cNvSpPr>
            <p:nvPr/>
          </p:nvSpPr>
          <p:spPr bwMode="auto">
            <a:xfrm>
              <a:off x="3706814" y="3936726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9" name="Rectangle 81"/>
            <p:cNvSpPr>
              <a:spLocks noChangeArrowheads="1"/>
            </p:cNvSpPr>
            <p:nvPr/>
          </p:nvSpPr>
          <p:spPr bwMode="auto">
            <a:xfrm>
              <a:off x="4427539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0" name="Rectangle 82"/>
            <p:cNvSpPr>
              <a:spLocks noChangeArrowheads="1"/>
            </p:cNvSpPr>
            <p:nvPr/>
          </p:nvSpPr>
          <p:spPr bwMode="auto">
            <a:xfrm>
              <a:off x="1212851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1" name="Rectangle 83"/>
            <p:cNvSpPr>
              <a:spLocks noChangeArrowheads="1"/>
            </p:cNvSpPr>
            <p:nvPr/>
          </p:nvSpPr>
          <p:spPr bwMode="auto">
            <a:xfrm>
              <a:off x="1571626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2" name="Rectangle 84"/>
            <p:cNvSpPr>
              <a:spLocks noChangeArrowheads="1"/>
            </p:cNvSpPr>
            <p:nvPr/>
          </p:nvSpPr>
          <p:spPr bwMode="auto">
            <a:xfrm>
              <a:off x="1919289" y="4297088"/>
              <a:ext cx="361950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3" name="Rectangle 85"/>
            <p:cNvSpPr>
              <a:spLocks noChangeArrowheads="1"/>
            </p:cNvSpPr>
            <p:nvPr/>
          </p:nvSpPr>
          <p:spPr bwMode="auto">
            <a:xfrm>
              <a:off x="2281239" y="429708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4" name="Rectangle 86"/>
            <p:cNvSpPr>
              <a:spLocks noChangeArrowheads="1"/>
            </p:cNvSpPr>
            <p:nvPr/>
          </p:nvSpPr>
          <p:spPr bwMode="auto">
            <a:xfrm>
              <a:off x="2640014" y="429708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5" name="Rectangle 87"/>
            <p:cNvSpPr>
              <a:spLocks noChangeArrowheads="1"/>
            </p:cNvSpPr>
            <p:nvPr/>
          </p:nvSpPr>
          <p:spPr bwMode="auto">
            <a:xfrm>
              <a:off x="2987676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6" name="Rectangle 88"/>
            <p:cNvSpPr>
              <a:spLocks noChangeArrowheads="1"/>
            </p:cNvSpPr>
            <p:nvPr/>
          </p:nvSpPr>
          <p:spPr bwMode="auto">
            <a:xfrm>
              <a:off x="3346451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7" name="Rectangle 89"/>
            <p:cNvSpPr>
              <a:spLocks noChangeArrowheads="1"/>
            </p:cNvSpPr>
            <p:nvPr/>
          </p:nvSpPr>
          <p:spPr bwMode="auto">
            <a:xfrm>
              <a:off x="4068764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8" name="Rectangle 90"/>
            <p:cNvSpPr>
              <a:spLocks noChangeArrowheads="1"/>
            </p:cNvSpPr>
            <p:nvPr/>
          </p:nvSpPr>
          <p:spPr bwMode="auto">
            <a:xfrm>
              <a:off x="3706814" y="4297088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9" name="Rectangle 91"/>
            <p:cNvSpPr>
              <a:spLocks noChangeArrowheads="1"/>
            </p:cNvSpPr>
            <p:nvPr/>
          </p:nvSpPr>
          <p:spPr bwMode="auto">
            <a:xfrm>
              <a:off x="4427539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0" name="Rectangle 92"/>
            <p:cNvSpPr>
              <a:spLocks noChangeArrowheads="1"/>
            </p:cNvSpPr>
            <p:nvPr/>
          </p:nvSpPr>
          <p:spPr bwMode="auto">
            <a:xfrm>
              <a:off x="1212851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1" name="Rectangle 93"/>
            <p:cNvSpPr>
              <a:spLocks noChangeArrowheads="1"/>
            </p:cNvSpPr>
            <p:nvPr/>
          </p:nvSpPr>
          <p:spPr bwMode="auto">
            <a:xfrm>
              <a:off x="1571626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2" name="Rectangle 94"/>
            <p:cNvSpPr>
              <a:spLocks noChangeArrowheads="1"/>
            </p:cNvSpPr>
            <p:nvPr/>
          </p:nvSpPr>
          <p:spPr bwMode="auto">
            <a:xfrm>
              <a:off x="1919289" y="465745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3" name="Rectangle 95"/>
            <p:cNvSpPr>
              <a:spLocks noChangeArrowheads="1"/>
            </p:cNvSpPr>
            <p:nvPr/>
          </p:nvSpPr>
          <p:spPr bwMode="auto">
            <a:xfrm>
              <a:off x="2281239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4" name="Rectangle 96"/>
            <p:cNvSpPr>
              <a:spLocks noChangeArrowheads="1"/>
            </p:cNvSpPr>
            <p:nvPr/>
          </p:nvSpPr>
          <p:spPr bwMode="auto">
            <a:xfrm>
              <a:off x="2640014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5" name="Rectangle 97"/>
            <p:cNvSpPr>
              <a:spLocks noChangeArrowheads="1"/>
            </p:cNvSpPr>
            <p:nvPr/>
          </p:nvSpPr>
          <p:spPr bwMode="auto">
            <a:xfrm>
              <a:off x="2987676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6" name="Rectangle 98"/>
            <p:cNvSpPr>
              <a:spLocks noChangeArrowheads="1"/>
            </p:cNvSpPr>
            <p:nvPr/>
          </p:nvSpPr>
          <p:spPr bwMode="auto">
            <a:xfrm>
              <a:off x="3346451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7" name="Rectangle 99"/>
            <p:cNvSpPr>
              <a:spLocks noChangeArrowheads="1"/>
            </p:cNvSpPr>
            <p:nvPr/>
          </p:nvSpPr>
          <p:spPr bwMode="auto">
            <a:xfrm>
              <a:off x="4068764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8" name="Rectangle 100"/>
            <p:cNvSpPr>
              <a:spLocks noChangeArrowheads="1"/>
            </p:cNvSpPr>
            <p:nvPr/>
          </p:nvSpPr>
          <p:spPr bwMode="auto">
            <a:xfrm>
              <a:off x="3706814" y="465745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Rectangle 101"/>
            <p:cNvSpPr>
              <a:spLocks noChangeArrowheads="1"/>
            </p:cNvSpPr>
            <p:nvPr/>
          </p:nvSpPr>
          <p:spPr bwMode="auto">
            <a:xfrm>
              <a:off x="4427539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10" name="直接连接符 109"/>
            <p:cNvCxnSpPr/>
            <p:nvPr/>
          </p:nvCxnSpPr>
          <p:spPr>
            <a:xfrm rot="5400000">
              <a:off x="986710" y="2658372"/>
              <a:ext cx="1541256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1757338" y="3429000"/>
              <a:ext cx="714380" cy="1588"/>
            </a:xfrm>
            <a:prstGeom prst="line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rot="5400000">
              <a:off x="2291718" y="3609000"/>
              <a:ext cx="360000" cy="1588"/>
            </a:xfrm>
            <a:prstGeom prst="line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2471718" y="3786190"/>
              <a:ext cx="714380" cy="1588"/>
            </a:xfrm>
            <a:prstGeom prst="line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rot="5400000">
              <a:off x="2828908" y="4143380"/>
              <a:ext cx="714380" cy="1588"/>
            </a:xfrm>
            <a:prstGeom prst="line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>
              <a:off x="3186098" y="4500570"/>
              <a:ext cx="1071570" cy="1588"/>
            </a:xfrm>
            <a:prstGeom prst="line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Text Box 117"/>
          <p:cNvSpPr txBox="1">
            <a:spLocks noChangeArrowheads="1"/>
          </p:cNvSpPr>
          <p:nvPr/>
        </p:nvSpPr>
        <p:spPr bwMode="auto">
          <a:xfrm>
            <a:off x="6024562" y="4500570"/>
            <a:ext cx="3714776" cy="707886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显然，这个解是最优解，即是最短</a:t>
            </a:r>
            <a:r>
              <a:rPr lang="zh-CN" altLang="en-US" sz="20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路径。为什么？</a:t>
            </a:r>
            <a:endParaRPr lang="zh-CN" altLang="en-US" sz="2000" dirty="0">
              <a:solidFill>
                <a:srgbClr val="FF0000"/>
              </a:solidFill>
              <a:latin typeface="华文中宋" pitchFamily="2" charset="-122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7" name="下箭头 116"/>
          <p:cNvSpPr/>
          <p:nvPr/>
        </p:nvSpPr>
        <p:spPr bwMode="auto">
          <a:xfrm>
            <a:off x="4024298" y="3000372"/>
            <a:ext cx="214314" cy="357190"/>
          </a:xfrm>
          <a:prstGeom prst="downArrow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endParaRPr lang="zh-CN" altLang="en-US" sz="2000"/>
          </a:p>
        </p:txBody>
      </p:sp>
      <p:sp>
        <p:nvSpPr>
          <p:cNvPr id="121" name="灯片编号占位符 1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9DB8C9-1C00-45CA-8DC3-D51EEA42EBD5}" type="slidenum">
              <a:rPr lang="en-US" altLang="zh-CN" smtClean="0"/>
              <a:pPr>
                <a:defRPr/>
              </a:pPr>
              <a:t>102</a:t>
            </a:fld>
            <a:r>
              <a:rPr lang="en-US" altLang="zh-CN"/>
              <a:t>/68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2074682" y="2448267"/>
            <a:ext cx="8125774" cy="1301931"/>
            <a:chOff x="1407672" y="1858037"/>
            <a:chExt cx="8125774" cy="1301931"/>
          </a:xfrm>
        </p:grpSpPr>
        <p:sp>
          <p:nvSpPr>
            <p:cNvPr id="19" name="矩形 18"/>
            <p:cNvSpPr/>
            <p:nvPr/>
          </p:nvSpPr>
          <p:spPr>
            <a:xfrm>
              <a:off x="1407672" y="1858037"/>
              <a:ext cx="15240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双端队列</a:t>
              </a:r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4407936" y="1968367"/>
              <a:ext cx="3657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4264069" y="2014392"/>
              <a:ext cx="4028667" cy="5016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>
                <a:lnSpc>
                  <a:spcPct val="95000"/>
                </a:lnSpc>
                <a:spcBef>
                  <a:spcPct val="10000"/>
                </a:spcBef>
                <a:buClr>
                  <a:schemeClr val="tx1"/>
                </a:buClr>
              </a:pPr>
              <a:r>
                <a:rPr lang="en-US" altLang="zh-CN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a</a:t>
              </a:r>
              <a:r>
                <a:rPr lang="en-US" altLang="zh-CN" sz="2800" baseline="-25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1</a:t>
              </a:r>
              <a:r>
                <a:rPr lang="en-US" altLang="zh-CN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，a</a:t>
              </a:r>
              <a:r>
                <a:rPr lang="en-US" altLang="zh-CN" sz="2800" baseline="-25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2</a:t>
              </a:r>
              <a:r>
                <a:rPr lang="en-US" altLang="zh-CN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，…， </a:t>
              </a:r>
              <a:r>
                <a:rPr lang="en-US" altLang="zh-CN" sz="2800" dirty="0" err="1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a</a:t>
              </a:r>
              <a:r>
                <a:rPr lang="en-US" altLang="zh-CN" sz="2800" baseline="-25000" dirty="0" err="1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i</a:t>
              </a:r>
              <a:r>
                <a:rPr lang="zh-CN" altLang="en-US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</a:t>
              </a:r>
              <a:r>
                <a:rPr lang="en-US" altLang="zh-CN" sz="2800" baseline="-25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 </a:t>
              </a:r>
              <a:r>
                <a:rPr lang="en-US" altLang="zh-CN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…，a</a:t>
              </a:r>
              <a:r>
                <a:rPr lang="en-US" altLang="zh-CN" sz="2800" baseline="-25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n</a:t>
              </a:r>
              <a:endPara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4407936" y="2565911"/>
              <a:ext cx="3657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128315" y="2742440"/>
              <a:ext cx="5918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端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1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7634346" y="2759858"/>
              <a:ext cx="5918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端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2</a:t>
              </a:r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 flipV="1">
              <a:off x="4469639" y="2589536"/>
              <a:ext cx="0" cy="222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9"/>
            <p:cNvSpPr>
              <a:spLocks noChangeShapeType="1"/>
            </p:cNvSpPr>
            <p:nvPr/>
          </p:nvSpPr>
          <p:spPr bwMode="auto">
            <a:xfrm flipV="1">
              <a:off x="7953067" y="2570735"/>
              <a:ext cx="0" cy="241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3084338" y="2321907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出队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3069789" y="1977237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入队</a:t>
              </a:r>
            </a:p>
          </p:txBody>
        </p:sp>
        <p:sp>
          <p:nvSpPr>
            <p:cNvPr id="41" name="AutoShape 11"/>
            <p:cNvSpPr>
              <a:spLocks noChangeArrowheads="1"/>
            </p:cNvSpPr>
            <p:nvPr/>
          </p:nvSpPr>
          <p:spPr bwMode="auto">
            <a:xfrm>
              <a:off x="3730669" y="2348635"/>
              <a:ext cx="533400" cy="228600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2" name="AutoShape 17"/>
            <p:cNvSpPr>
              <a:spLocks noChangeArrowheads="1"/>
            </p:cNvSpPr>
            <p:nvPr/>
          </p:nvSpPr>
          <p:spPr bwMode="auto">
            <a:xfrm rot="10800000">
              <a:off x="3730669" y="2017975"/>
              <a:ext cx="533400" cy="228600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3" name="AutoShape 12"/>
            <p:cNvSpPr>
              <a:spLocks noChangeArrowheads="1"/>
            </p:cNvSpPr>
            <p:nvPr/>
          </p:nvSpPr>
          <p:spPr bwMode="auto">
            <a:xfrm>
              <a:off x="8212898" y="2350955"/>
              <a:ext cx="533400" cy="228600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4" name="AutoShape 15"/>
            <p:cNvSpPr>
              <a:spLocks noChangeArrowheads="1"/>
            </p:cNvSpPr>
            <p:nvPr/>
          </p:nvSpPr>
          <p:spPr bwMode="auto">
            <a:xfrm rot="10800000">
              <a:off x="8212898" y="2035265"/>
              <a:ext cx="533400" cy="228600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8887115" y="2280589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入队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8887114" y="1928318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出队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2074682" y="3676434"/>
            <a:ext cx="8125774" cy="1618416"/>
            <a:chOff x="1462064" y="3142550"/>
            <a:chExt cx="8125774" cy="1618416"/>
          </a:xfrm>
        </p:grpSpPr>
        <p:sp>
          <p:nvSpPr>
            <p:cNvPr id="48" name="矩形 47"/>
            <p:cNvSpPr/>
            <p:nvPr/>
          </p:nvSpPr>
          <p:spPr>
            <a:xfrm>
              <a:off x="1462064" y="3142550"/>
              <a:ext cx="249299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输出受限的双端队列</a:t>
              </a:r>
            </a:p>
          </p:txBody>
        </p:sp>
        <p:sp>
          <p:nvSpPr>
            <p:cNvPr id="49" name="Line 14"/>
            <p:cNvSpPr>
              <a:spLocks noChangeShapeType="1"/>
            </p:cNvSpPr>
            <p:nvPr/>
          </p:nvSpPr>
          <p:spPr bwMode="auto">
            <a:xfrm>
              <a:off x="4462328" y="3569365"/>
              <a:ext cx="3657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4318461" y="3615390"/>
              <a:ext cx="4028667" cy="5016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>
                <a:lnSpc>
                  <a:spcPct val="95000"/>
                </a:lnSpc>
                <a:spcBef>
                  <a:spcPct val="10000"/>
                </a:spcBef>
                <a:buClr>
                  <a:schemeClr val="tx1"/>
                </a:buClr>
              </a:pPr>
              <a:r>
                <a:rPr lang="en-US" altLang="zh-CN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a</a:t>
              </a:r>
              <a:r>
                <a:rPr lang="en-US" altLang="zh-CN" sz="2800" baseline="-25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1</a:t>
              </a:r>
              <a:r>
                <a:rPr lang="en-US" altLang="zh-CN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，a</a:t>
              </a:r>
              <a:r>
                <a:rPr lang="en-US" altLang="zh-CN" sz="2800" baseline="-25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2</a:t>
              </a:r>
              <a:r>
                <a:rPr lang="en-US" altLang="zh-CN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，…， </a:t>
              </a:r>
              <a:r>
                <a:rPr lang="en-US" altLang="zh-CN" sz="2800" dirty="0" err="1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a</a:t>
              </a:r>
              <a:r>
                <a:rPr lang="en-US" altLang="zh-CN" sz="2800" baseline="-25000" dirty="0" err="1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i</a:t>
              </a:r>
              <a:r>
                <a:rPr lang="zh-CN" altLang="en-US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</a:t>
              </a:r>
              <a:r>
                <a:rPr lang="en-US" altLang="zh-CN" sz="2800" baseline="-25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 </a:t>
              </a:r>
              <a:r>
                <a:rPr lang="en-US" altLang="zh-CN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…，a</a:t>
              </a:r>
              <a:r>
                <a:rPr lang="en-US" altLang="zh-CN" sz="2800" baseline="-25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n</a:t>
              </a:r>
              <a:endPara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endParaRPr>
            </a:p>
          </p:txBody>
        </p:sp>
        <p:sp>
          <p:nvSpPr>
            <p:cNvPr id="51" name="Line 15"/>
            <p:cNvSpPr>
              <a:spLocks noChangeShapeType="1"/>
            </p:cNvSpPr>
            <p:nvPr/>
          </p:nvSpPr>
          <p:spPr bwMode="auto">
            <a:xfrm>
              <a:off x="4462328" y="4166909"/>
              <a:ext cx="3657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82707" y="4343438"/>
              <a:ext cx="5918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端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1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7688738" y="4360856"/>
              <a:ext cx="5918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端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2</a:t>
              </a:r>
            </a:p>
          </p:txBody>
        </p:sp>
        <p:sp>
          <p:nvSpPr>
            <p:cNvPr id="54" name="Line 9"/>
            <p:cNvSpPr>
              <a:spLocks noChangeShapeType="1"/>
            </p:cNvSpPr>
            <p:nvPr/>
          </p:nvSpPr>
          <p:spPr bwMode="auto">
            <a:xfrm flipV="1">
              <a:off x="4524031" y="4190534"/>
              <a:ext cx="0" cy="222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9"/>
            <p:cNvSpPr>
              <a:spLocks noChangeShapeType="1"/>
            </p:cNvSpPr>
            <p:nvPr/>
          </p:nvSpPr>
          <p:spPr bwMode="auto">
            <a:xfrm flipV="1">
              <a:off x="8007459" y="4171732"/>
              <a:ext cx="0" cy="241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3138730" y="3922905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出队</a:t>
              </a:r>
            </a:p>
          </p:txBody>
        </p:sp>
        <p:sp>
          <p:nvSpPr>
            <p:cNvPr id="58" name="矩形 57"/>
            <p:cNvSpPr/>
            <p:nvPr/>
          </p:nvSpPr>
          <p:spPr>
            <a:xfrm>
              <a:off x="3124181" y="3578235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入队</a:t>
              </a:r>
            </a:p>
          </p:txBody>
        </p:sp>
        <p:sp>
          <p:nvSpPr>
            <p:cNvPr id="59" name="AutoShape 11"/>
            <p:cNvSpPr>
              <a:spLocks noChangeArrowheads="1"/>
            </p:cNvSpPr>
            <p:nvPr/>
          </p:nvSpPr>
          <p:spPr bwMode="auto">
            <a:xfrm>
              <a:off x="3785061" y="3949633"/>
              <a:ext cx="533400" cy="228600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0" name="AutoShape 17"/>
            <p:cNvSpPr>
              <a:spLocks noChangeArrowheads="1"/>
            </p:cNvSpPr>
            <p:nvPr/>
          </p:nvSpPr>
          <p:spPr bwMode="auto">
            <a:xfrm rot="10800000">
              <a:off x="3785061" y="3618973"/>
              <a:ext cx="533400" cy="228600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1" name="AutoShape 12"/>
            <p:cNvSpPr>
              <a:spLocks noChangeArrowheads="1"/>
            </p:cNvSpPr>
            <p:nvPr/>
          </p:nvSpPr>
          <p:spPr bwMode="auto">
            <a:xfrm>
              <a:off x="8267290" y="3786482"/>
              <a:ext cx="533400" cy="228600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8941507" y="3716116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入队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2074682" y="5212378"/>
            <a:ext cx="8071382" cy="1605304"/>
            <a:chOff x="1462064" y="4879244"/>
            <a:chExt cx="8071382" cy="1622769"/>
          </a:xfrm>
        </p:grpSpPr>
        <p:sp>
          <p:nvSpPr>
            <p:cNvPr id="64" name="矩形 63"/>
            <p:cNvSpPr/>
            <p:nvPr/>
          </p:nvSpPr>
          <p:spPr>
            <a:xfrm>
              <a:off x="1462064" y="4879244"/>
              <a:ext cx="2492990" cy="4044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输入受限的双端队列</a:t>
              </a:r>
            </a:p>
          </p:txBody>
        </p:sp>
        <p:sp>
          <p:nvSpPr>
            <p:cNvPr id="65" name="Line 14"/>
            <p:cNvSpPr>
              <a:spLocks noChangeShapeType="1"/>
            </p:cNvSpPr>
            <p:nvPr/>
          </p:nvSpPr>
          <p:spPr bwMode="auto">
            <a:xfrm>
              <a:off x="4462328" y="5306059"/>
              <a:ext cx="3657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4318461" y="5352084"/>
              <a:ext cx="4028667" cy="50713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>
                <a:lnSpc>
                  <a:spcPct val="95000"/>
                </a:lnSpc>
                <a:spcBef>
                  <a:spcPct val="10000"/>
                </a:spcBef>
                <a:buClr>
                  <a:schemeClr val="tx1"/>
                </a:buClr>
              </a:pPr>
              <a:r>
                <a:rPr lang="en-US" altLang="zh-CN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a</a:t>
              </a:r>
              <a:r>
                <a:rPr lang="en-US" altLang="zh-CN" sz="2800" baseline="-25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1</a:t>
              </a:r>
              <a:r>
                <a:rPr lang="en-US" altLang="zh-CN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，a</a:t>
              </a:r>
              <a:r>
                <a:rPr lang="en-US" altLang="zh-CN" sz="2800" baseline="-25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2</a:t>
              </a:r>
              <a:r>
                <a:rPr lang="en-US" altLang="zh-CN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，…， </a:t>
              </a:r>
              <a:r>
                <a:rPr lang="en-US" altLang="zh-CN" sz="2800" dirty="0" err="1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a</a:t>
              </a:r>
              <a:r>
                <a:rPr lang="en-US" altLang="zh-CN" sz="2800" baseline="-25000" dirty="0" err="1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i</a:t>
              </a:r>
              <a:r>
                <a:rPr lang="zh-CN" altLang="en-US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</a:t>
              </a:r>
              <a:r>
                <a:rPr lang="en-US" altLang="zh-CN" sz="2800" baseline="-25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 </a:t>
              </a:r>
              <a:r>
                <a:rPr lang="en-US" altLang="zh-CN" sz="28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…，a</a:t>
              </a:r>
              <a:r>
                <a:rPr lang="en-US" altLang="zh-CN" sz="2800" baseline="-25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n</a:t>
              </a:r>
              <a:endParaRPr lang="en-US" altLang="zh-CN" sz="2800" dirty="0">
                <a:latin typeface="微软雅黑" pitchFamily="34" charset="-122"/>
                <a:ea typeface="微软雅黑" pitchFamily="34" charset="-122"/>
                <a:cs typeface="经典粗黑简" pitchFamily="49" charset="-122"/>
              </a:endParaRPr>
            </a:p>
          </p:txBody>
        </p:sp>
        <p:sp>
          <p:nvSpPr>
            <p:cNvPr id="67" name="Line 15"/>
            <p:cNvSpPr>
              <a:spLocks noChangeShapeType="1"/>
            </p:cNvSpPr>
            <p:nvPr/>
          </p:nvSpPr>
          <p:spPr bwMode="auto">
            <a:xfrm>
              <a:off x="4462328" y="5903603"/>
              <a:ext cx="3657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4182707" y="6080132"/>
              <a:ext cx="591829" cy="4044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端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1</a:t>
              </a:r>
            </a:p>
          </p:txBody>
        </p:sp>
        <p:sp>
          <p:nvSpPr>
            <p:cNvPr id="69" name="矩形 68"/>
            <p:cNvSpPr/>
            <p:nvPr/>
          </p:nvSpPr>
          <p:spPr>
            <a:xfrm>
              <a:off x="7688738" y="6097550"/>
              <a:ext cx="591829" cy="4044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端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2</a:t>
              </a:r>
            </a:p>
          </p:txBody>
        </p:sp>
        <p:sp>
          <p:nvSpPr>
            <p:cNvPr id="70" name="Line 9"/>
            <p:cNvSpPr>
              <a:spLocks noChangeShapeType="1"/>
            </p:cNvSpPr>
            <p:nvPr/>
          </p:nvSpPr>
          <p:spPr bwMode="auto">
            <a:xfrm flipV="1">
              <a:off x="4524031" y="5927228"/>
              <a:ext cx="0" cy="222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9"/>
            <p:cNvSpPr>
              <a:spLocks noChangeShapeType="1"/>
            </p:cNvSpPr>
            <p:nvPr/>
          </p:nvSpPr>
          <p:spPr bwMode="auto">
            <a:xfrm flipV="1">
              <a:off x="8007459" y="5908427"/>
              <a:ext cx="0" cy="241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3138730" y="5511546"/>
              <a:ext cx="646331" cy="3733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出队</a:t>
              </a:r>
            </a:p>
          </p:txBody>
        </p:sp>
        <p:sp>
          <p:nvSpPr>
            <p:cNvPr id="73" name="AutoShape 11"/>
            <p:cNvSpPr>
              <a:spLocks noChangeArrowheads="1"/>
            </p:cNvSpPr>
            <p:nvPr/>
          </p:nvSpPr>
          <p:spPr bwMode="auto">
            <a:xfrm>
              <a:off x="3785061" y="5538274"/>
              <a:ext cx="533400" cy="228600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4" name="AutoShape 12"/>
            <p:cNvSpPr>
              <a:spLocks noChangeArrowheads="1"/>
            </p:cNvSpPr>
            <p:nvPr/>
          </p:nvSpPr>
          <p:spPr bwMode="auto">
            <a:xfrm>
              <a:off x="8212898" y="5696212"/>
              <a:ext cx="533400" cy="228600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5" name="AutoShape 15"/>
            <p:cNvSpPr>
              <a:spLocks noChangeArrowheads="1"/>
            </p:cNvSpPr>
            <p:nvPr/>
          </p:nvSpPr>
          <p:spPr bwMode="auto">
            <a:xfrm rot="10800000">
              <a:off x="8212898" y="5380522"/>
              <a:ext cx="533400" cy="228600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8887115" y="5625846"/>
              <a:ext cx="646331" cy="3733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入队</a:t>
              </a:r>
            </a:p>
          </p:txBody>
        </p:sp>
        <p:sp>
          <p:nvSpPr>
            <p:cNvPr id="77" name="矩形 76"/>
            <p:cNvSpPr/>
            <p:nvPr/>
          </p:nvSpPr>
          <p:spPr>
            <a:xfrm>
              <a:off x="8887114" y="5273575"/>
              <a:ext cx="646331" cy="3733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出队</a:t>
              </a:r>
            </a:p>
          </p:txBody>
        </p:sp>
      </p:grpSp>
      <p:sp>
        <p:nvSpPr>
          <p:cNvPr id="78" name="矩形 77"/>
          <p:cNvSpPr/>
          <p:nvPr/>
        </p:nvSpPr>
        <p:spPr>
          <a:xfrm>
            <a:off x="2561590" y="1766624"/>
            <a:ext cx="78548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双端队列（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Double ended queue, </a:t>
            </a:r>
            <a:r>
              <a:rPr lang="en-US" altLang="zh-CN" sz="16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Deque</a:t>
            </a:r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是限定插入和删除操作在表的两端进行的线性表。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84C16D-2754-5013-8157-066436559F1B}"/>
              </a:ext>
            </a:extLst>
          </p:cNvPr>
          <p:cNvSpPr/>
          <p:nvPr/>
        </p:nvSpPr>
        <p:spPr>
          <a:xfrm>
            <a:off x="691303" y="1185677"/>
            <a:ext cx="7110550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栈的链式存储结构及基本运算的实现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616ABC-21BC-FF56-0CB7-CB68AC6276E4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D8ACB3F-5B3D-83FE-6E52-926FF5CAD49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39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12074</Words>
  <Application>Microsoft Office PowerPoint</Application>
  <PresentationFormat>宽屏</PresentationFormat>
  <Paragraphs>2127</Paragraphs>
  <Slides>103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17" baseType="lpstr">
      <vt:lpstr>方正细珊瑚简体</vt:lpstr>
      <vt:lpstr>仿宋</vt:lpstr>
      <vt:lpstr>黑体</vt:lpstr>
      <vt:lpstr>华文中宋</vt:lpstr>
      <vt:lpstr>经典粗黑简</vt:lpstr>
      <vt:lpstr>楷体</vt:lpstr>
      <vt:lpstr>宋体</vt:lpstr>
      <vt:lpstr>微软雅黑</vt:lpstr>
      <vt:lpstr>Arial</vt:lpstr>
      <vt:lpstr>Calibri</vt:lpstr>
      <vt:lpstr>Consolas</vt:lpstr>
      <vt:lpstr>Times New Roman</vt:lpstr>
      <vt:lpstr>Wingdings</vt:lpstr>
      <vt:lpstr>Office 主题​​</vt:lpstr>
      <vt:lpstr>第3章 栈和队列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 Data Structure</dc:title>
  <dc:creator>Fenghc</dc:creator>
  <cp:lastModifiedBy>丽娟 徐</cp:lastModifiedBy>
  <cp:revision>198</cp:revision>
  <dcterms:created xsi:type="dcterms:W3CDTF">2021-02-25T03:49:55Z</dcterms:created>
  <dcterms:modified xsi:type="dcterms:W3CDTF">2025-09-28T06:51:44Z</dcterms:modified>
</cp:coreProperties>
</file>